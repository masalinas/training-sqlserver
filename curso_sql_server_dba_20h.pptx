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notesSlide56.xml" ContentType="application/vnd.openxmlformats-officedocument.presentationml.notesSlide+xml"/>
  <Override PartName="/ppt/notesSlides/notesSlide55.xml" ContentType="application/vnd.openxmlformats-officedocument.presentationml.notesSlide+xml"/>
  <Override PartName="/ppt/notesSlides/notesSlide54.xml" ContentType="application/vnd.openxmlformats-officedocument.presentationml.notesSlide+xml"/>
  <Override PartName="/ppt/notesSlides/notesSlide53.xml" ContentType="application/vnd.openxmlformats-officedocument.presentationml.notesSlide+xml"/>
  <Override PartName="/ppt/notesSlides/notesSlide52.xml" ContentType="application/vnd.openxmlformats-officedocument.presentationml.notesSlide+xml"/>
  <Override PartName="/ppt/notesSlides/notesSlide51.xml" ContentType="application/vnd.openxmlformats-officedocument.presentationml.notesSlide+xml"/>
  <Override PartName="/ppt/notesSlides/notesSlide50.xml" ContentType="application/vnd.openxmlformats-officedocument.presentationml.notesSlide+xml"/>
  <Override PartName="/ppt/notesSlides/notesSlide46.xml" ContentType="application/vnd.openxmlformats-officedocument.presentationml.notesSlide+xml"/>
  <Override PartName="/ppt/notesSlides/notesSlide45.xml" ContentType="application/vnd.openxmlformats-officedocument.presentationml.notesSlide+xml"/>
  <Override PartName="/ppt/notesSlides/notesSlide44.xml" ContentType="application/vnd.openxmlformats-officedocument.presentationml.notesSlide+xml"/>
  <Override PartName="/ppt/notesSlides/notesSlide43.xml" ContentType="application/vnd.openxmlformats-officedocument.presentationml.notesSlide+xml"/>
  <Override PartName="/ppt/notesSlides/notesSlide42.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39.xml" ContentType="application/vnd.openxmlformats-officedocument.presentationml.notesSlide+xml"/>
  <Override PartName="/ppt/notesSlides/notesSlide62.xml" ContentType="application/vnd.openxmlformats-officedocument.presentationml.notesSlide+xml"/>
  <Override PartName="/ppt/notesSlides/notesSlide38.xml" ContentType="application/vnd.openxmlformats-officedocument.presentationml.notesSlide+xml"/>
  <Override PartName="/ppt/notesSlides/notesSlide61.xml" ContentType="application/vnd.openxmlformats-officedocument.presentationml.notesSlide+xml"/>
  <Override PartName="/ppt/notesSlides/notesSlide37.xml" ContentType="application/vnd.openxmlformats-officedocument.presentationml.notesSlide+xml"/>
  <Override PartName="/ppt/notesSlides/notesSlide60.xml" ContentType="application/vnd.openxmlformats-officedocument.presentationml.notesSlide+xml"/>
  <Override PartName="/ppt/notesSlides/notesSlide36.xml" ContentType="application/vnd.openxmlformats-officedocument.presentationml.notesSlide+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5.xml" ContentType="application/vnd.openxmlformats-officedocument.presentationml.notesSlide+xml"/>
  <Override PartName="/ppt/notesSlides/notesSlide32.xml" ContentType="application/vnd.openxmlformats-officedocument.presentationml.notesSlide+xml"/>
  <Override PartName="/ppt/notesSlides/notesSlide19.xml" ContentType="application/vnd.openxmlformats-officedocument.presentationml.notesSlide+xml"/>
  <Override PartName="/ppt/notesSlides/notesSlide68.xml" ContentType="application/vnd.openxmlformats-officedocument.presentationml.notesSlide+xml"/>
  <Override PartName="/ppt/notesSlides/notesSlide21.xml" ContentType="application/vnd.openxmlformats-officedocument.presentationml.notesSlide+xml"/>
  <Override PartName="/ppt/notesSlides/notesSlide81.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33.xml" ContentType="application/vnd.openxmlformats-officedocument.presentationml.notesSlide+xml"/>
  <Override PartName="/ppt/notesSlides/notesSlide22.xml" ContentType="application/vnd.openxmlformats-officedocument.presentationml.notesSlide+xml"/>
  <Override PartName="/ppt/notesSlides/notesSlide82.xml" ContentType="application/vnd.openxmlformats-officedocument.presentationml.notesSlide+xml"/>
  <Override PartName="/ppt/notesSlides/notesSlide59.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73.xml" ContentType="application/vnd.openxmlformats-officedocument.presentationml.notesSlide+xml"/>
  <Override PartName="/ppt/notesSlides/notesSlide25.xml" ContentType="application/vnd.openxmlformats-officedocument.presentationml.notesSlide+xml"/>
  <Override PartName="/ppt/notesSlides/notesSlide74.xml" ContentType="application/vnd.openxmlformats-officedocument.presentationml.notesSlide+xml"/>
  <Override PartName="/ppt/notesSlides/notesSlide26.xml" ContentType="application/vnd.openxmlformats-officedocument.presentationml.notesSlide+xml"/>
  <Override PartName="/ppt/notesSlides/notesSlide75.xml" ContentType="application/vnd.openxmlformats-officedocument.presentationml.notesSlide+xml"/>
  <Override PartName="/ppt/notesSlides/notesSlide27.xml" ContentType="application/vnd.openxmlformats-officedocument.presentationml.notesSlide+xml"/>
  <Override PartName="/ppt/notesSlides/notesSlide76.xml" ContentType="application/vnd.openxmlformats-officedocument.presentationml.notesSlide+xml"/>
  <Override PartName="/ppt/notesSlides/notesSlide28.xml" ContentType="application/vnd.openxmlformats-officedocument.presentationml.notesSlide+xml"/>
  <Override PartName="/ppt/notesSlides/notesSlide77.xml" ContentType="application/vnd.openxmlformats-officedocument.presentationml.notesSlide+xml"/>
  <Override PartName="/ppt/notesSlides/notesSlide29.xml" ContentType="application/vnd.openxmlformats-officedocument.presentationml.notesSlide+xml"/>
  <Override PartName="/ppt/notesSlides/notesSlide78.xml" ContentType="application/vnd.openxmlformats-officedocument.presentationml.notesSlide+xml"/>
  <Override PartName="/ppt/notesSlides/notesSlide66.xml" ContentType="application/vnd.openxmlformats-officedocument.presentationml.notesSlide+xml"/>
  <Override PartName="/ppt/notesSlides/notesSlide17.xml" ContentType="application/vnd.openxmlformats-officedocument.presentationml.notesSlide+xml"/>
  <Override PartName="/ppt/notesSlides/notesSlide65.xml" ContentType="application/vnd.openxmlformats-officedocument.presentationml.notesSlide+xml"/>
  <Override PartName="/ppt/notesSlides/notesSlide16.xml" ContentType="application/vnd.openxmlformats-officedocument.presentationml.notesSlide+xml"/>
  <Override PartName="/ppt/notesSlides/_rels/notesSlide8.xml.rels" ContentType="application/vnd.openxmlformats-package.relationships+xml"/>
  <Override PartName="/ppt/notesSlides/_rels/notesSlide51.xml.rels" ContentType="application/vnd.openxmlformats-package.relationships+xml"/>
  <Override PartName="/ppt/notesSlides/_rels/notesSlide13.xml.rels" ContentType="application/vnd.openxmlformats-package.relationships+xml"/>
  <Override PartName="/ppt/notesSlides/_rels/notesSlide66.xml.rels" ContentType="application/vnd.openxmlformats-package.relationships+xml"/>
  <Override PartName="/ppt/notesSlides/_rels/notesSlide4.xml.rels" ContentType="application/vnd.openxmlformats-package.relationships+xml"/>
  <Override PartName="/ppt/notesSlides/_rels/notesSlide7.xml.rels" ContentType="application/vnd.openxmlformats-package.relationships+xml"/>
  <Override PartName="/ppt/notesSlides/_rels/notesSlide50.xml.rels" ContentType="application/vnd.openxmlformats-package.relationships+xml"/>
  <Override PartName="/ppt/notesSlides/_rels/notesSlide12.xml.rels" ContentType="application/vnd.openxmlformats-package.relationships+xml"/>
  <Override PartName="/ppt/notesSlides/_rels/notesSlide65.xml.rels" ContentType="application/vnd.openxmlformats-package.relationships+xml"/>
  <Override PartName="/ppt/notesSlides/_rels/notesSlide3.xml.rels" ContentType="application/vnd.openxmlformats-package.relationships+xml"/>
  <Override PartName="/ppt/notesSlides/_rels/notesSlide6.xml.rels" ContentType="application/vnd.openxmlformats-package.relationships+xml"/>
  <Override PartName="/ppt/notesSlides/_rels/notesSlide2.xml.rels" ContentType="application/vnd.openxmlformats-package.relationships+xml"/>
  <Override PartName="/ppt/notesSlides/_rels/notesSlide5.xml.rels" ContentType="application/vnd.openxmlformats-package.relationships+xml"/>
  <Override PartName="/ppt/notesSlides/_rels/notesSlide14.xml.rels" ContentType="application/vnd.openxmlformats-package.relationships+xml"/>
  <Override PartName="/ppt/notesSlides/_rels/notesSlide67.xml.rels" ContentType="application/vnd.openxmlformats-package.relationships+xml"/>
  <Override PartName="/ppt/notesSlides/_rels/notesSlide82.xml.rels" ContentType="application/vnd.openxmlformats-package.relationships+xml"/>
  <Override PartName="/ppt/notesSlides/_rels/notesSlide73.xml.rels" ContentType="application/vnd.openxmlformats-package.relationships+xml"/>
  <Override PartName="/ppt/notesSlides/_rels/notesSlide74.xml.rels" ContentType="application/vnd.openxmlformats-package.relationships+xml"/>
  <Override PartName="/ppt/notesSlides/_rels/notesSlide68.xml.rels" ContentType="application/vnd.openxmlformats-package.relationships+xml"/>
  <Override PartName="/ppt/notesSlides/_rels/notesSlide75.xml.rels" ContentType="application/vnd.openxmlformats-package.relationships+xml"/>
  <Override PartName="/ppt/notesSlides/_rels/notesSlide59.xml.rels" ContentType="application/vnd.openxmlformats-package.relationships+xml"/>
  <Override PartName="/ppt/notesSlides/_rels/notesSlide10.xml.rels" ContentType="application/vnd.openxmlformats-package.relationships+xml"/>
  <Override PartName="/ppt/notesSlides/_rels/notesSlide47.xml.rels" ContentType="application/vnd.openxmlformats-package.relationships+xml"/>
  <Override PartName="/ppt/notesSlides/_rels/notesSlide1.xml.rels" ContentType="application/vnd.openxmlformats-package.relationships+xml"/>
  <Override PartName="/ppt/notesSlides/_rels/notesSlide71.xml.rels" ContentType="application/vnd.openxmlformats-package.relationships+xml"/>
  <Override PartName="/ppt/notesSlides/_rels/notesSlide16.xml.rels" ContentType="application/vnd.openxmlformats-package.relationships+xml"/>
  <Override PartName="/ppt/notesSlides/_rels/notesSlide32.xml.rels" ContentType="application/vnd.openxmlformats-package.relationships+xml"/>
  <Override PartName="/ppt/notesSlides/_rels/notesSlide23.xml.rels" ContentType="application/vnd.openxmlformats-package.relationships+xml"/>
  <Override PartName="/ppt/notesSlides/_rels/notesSlide31.xml.rels" ContentType="application/vnd.openxmlformats-package.relationships+xml"/>
  <Override PartName="/ppt/notesSlides/_rels/notesSlide15.xml.rels" ContentType="application/vnd.openxmlformats-package.relationships+xml"/>
  <Override PartName="/ppt/notesSlides/_rels/notesSlide22.xml.rels" ContentType="application/vnd.openxmlformats-package.relationships+xml"/>
  <Override PartName="/ppt/notesSlides/_rels/notesSlide18.xml.rels" ContentType="application/vnd.openxmlformats-package.relationships+xml"/>
  <Override PartName="/ppt/notesSlides/_rels/notesSlide9.xml.rels" ContentType="application/vnd.openxmlformats-package.relationships+xml"/>
  <Override PartName="/ppt/notesSlides/_rels/notesSlide21.xml.rels" ContentType="application/vnd.openxmlformats-package.relationships+xml"/>
  <Override PartName="/ppt/notesSlides/_rels/notesSlide29.xml.rels" ContentType="application/vnd.openxmlformats-package.relationships+xml"/>
  <Override PartName="/ppt/notesSlides/_rels/notesSlide45.xml.rels" ContentType="application/vnd.openxmlformats-package.relationships+xml"/>
  <Override PartName="/ppt/notesSlides/_rels/notesSlide60.xml.rels" ContentType="application/vnd.openxmlformats-package.relationships+xml"/>
  <Override PartName="/ppt/notesSlides/_rels/notesSlide58.xml.rels" ContentType="application/vnd.openxmlformats-package.relationships+xml"/>
  <Override PartName="/ppt/notesSlides/_rels/notesSlide27.xml.rels" ContentType="application/vnd.openxmlformats-package.relationships+xml"/>
  <Override PartName="/ppt/notesSlides/_rels/notesSlide53.xml.rels" ContentType="application/vnd.openxmlformats-package.relationships+xml"/>
  <Override PartName="/ppt/notesSlides/_rels/notesSlide49.xml.rels" ContentType="application/vnd.openxmlformats-package.relationships+xml"/>
  <Override PartName="/ppt/notesSlides/_rels/notesSlide34.xml.rels" ContentType="application/vnd.openxmlformats-package.relationships+xml"/>
  <Override PartName="/ppt/notesSlides/_rels/notesSlide36.xml.rels" ContentType="application/vnd.openxmlformats-package.relationships+xml"/>
  <Override PartName="/ppt/notesSlides/_rels/notesSlide40.xml.rels" ContentType="application/vnd.openxmlformats-package.relationships+xml"/>
  <Override PartName="/ppt/notesSlides/_rels/notesSlide55.xml.rels" ContentType="application/vnd.openxmlformats-package.relationships+xml"/>
  <Override PartName="/ppt/notesSlides/_rels/notesSlide46.xml.rels" ContentType="application/vnd.openxmlformats-package.relationships+xml"/>
  <Override PartName="/ppt/notesSlides/_rels/notesSlide62.xml.rels" ContentType="application/vnd.openxmlformats-package.relationships+xml"/>
  <Override PartName="/ppt/notesSlides/_rels/notesSlide38.xml.rels" ContentType="application/vnd.openxmlformats-package.relationships+xml"/>
  <Override PartName="/ppt/notesSlides/_rels/notesSlide42.xml.rels" ContentType="application/vnd.openxmlformats-package.relationships+xml"/>
  <Override PartName="/ppt/notesSlides/_rels/notesSlide64.xml.rels" ContentType="application/vnd.openxmlformats-package.relationships+xml"/>
  <Override PartName="/ppt/notesSlides/_rels/notesSlide33.xml.rels" ContentType="application/vnd.openxmlformats-package.relationships+xml"/>
  <Override PartName="/ppt/notesSlides/_rels/notesSlide57.xml.rels" ContentType="application/vnd.openxmlformats-package.relationships+xml"/>
  <Override PartName="/ppt/notesSlides/_rels/notesSlide54.xml.rels" ContentType="application/vnd.openxmlformats-package.relationships+xml"/>
  <Override PartName="/ppt/notesSlides/_rels/notesSlide61.xml.rels" ContentType="application/vnd.openxmlformats-package.relationships+xml"/>
  <Override PartName="/ppt/notesSlides/_rels/notesSlide80.xml.rels" ContentType="application/vnd.openxmlformats-package.relationships+xml"/>
  <Override PartName="/ppt/notesSlides/_rels/notesSlide76.xml.rels" ContentType="application/vnd.openxmlformats-package.relationships+xml"/>
  <Override PartName="/ppt/notesSlides/_rels/notesSlide70.xml.rels" ContentType="application/vnd.openxmlformats-package.relationships+xml"/>
  <Override PartName="/ppt/notesSlides/_rels/notesSlide56.xml.rels" ContentType="application/vnd.openxmlformats-package.relationships+xml"/>
  <Override PartName="/ppt/notesSlides/_rels/notesSlide37.xml.rels" ContentType="application/vnd.openxmlformats-package.relationships+xml"/>
  <Override PartName="/ppt/notesSlides/_rels/notesSlide41.xml.rels" ContentType="application/vnd.openxmlformats-package.relationships+xml"/>
  <Override PartName="/ppt/notesSlides/_rels/notesSlide63.xml.rels" ContentType="application/vnd.openxmlformats-package.relationships+xml"/>
  <Override PartName="/ppt/notesSlides/_rels/notesSlide44.xml.rels" ContentType="application/vnd.openxmlformats-package.relationships+xml"/>
  <Override PartName="/ppt/notesSlides/_rels/notesSlide28.xml.rels" ContentType="application/vnd.openxmlformats-package.relationships+xml"/>
  <Override PartName="/ppt/notesSlides/_rels/notesSlide35.xml.rels" ContentType="application/vnd.openxmlformats-package.relationships+xml"/>
  <Override PartName="/ppt/notesSlides/_rels/notesSlide43.xml.rels" ContentType="application/vnd.openxmlformats-package.relationships+xml"/>
  <Override PartName="/ppt/notesSlides/_rels/notesSlide39.xml.rels" ContentType="application/vnd.openxmlformats-package.relationships+xml"/>
  <Override PartName="/ppt/notesSlides/_rels/notesSlide24.xml.rels" ContentType="application/vnd.openxmlformats-package.relationships+xml"/>
  <Override PartName="/ppt/notesSlides/_rels/notesSlide17.xml.rels" ContentType="application/vnd.openxmlformats-package.relationships+xml"/>
  <Override PartName="/ppt/notesSlides/_rels/notesSlide25.xml.rels" ContentType="application/vnd.openxmlformats-package.relationships+xml"/>
  <Override PartName="/ppt/notesSlides/_rels/notesSlide78.xml.rels" ContentType="application/vnd.openxmlformats-package.relationships+xml"/>
  <Override PartName="/ppt/notesSlides/_rels/notesSlide72.xml.rels" ContentType="application/vnd.openxmlformats-package.relationships+xml"/>
  <Override PartName="/ppt/notesSlides/_rels/notesSlide77.xml.rels" ContentType="application/vnd.openxmlformats-package.relationships+xml"/>
  <Override PartName="/ppt/notesSlides/_rels/notesSlide81.xml.rels" ContentType="application/vnd.openxmlformats-package.relationships+xml"/>
  <Override PartName="/ppt/notesSlides/_rels/notesSlide79.xml.rels" ContentType="application/vnd.openxmlformats-package.relationships+xml"/>
  <Override PartName="/ppt/notesSlides/_rels/notesSlide30.xml.rels" ContentType="application/vnd.openxmlformats-package.relationships+xml"/>
  <Override PartName="/ppt/notesSlides/_rels/notesSlide26.xml.rels" ContentType="application/vnd.openxmlformats-package.relationships+xml"/>
  <Override PartName="/ppt/notesSlides/_rels/notesSlide19.xml.rels" ContentType="application/vnd.openxmlformats-package.relationships+xml"/>
  <Override PartName="/ppt/notesSlides/_rels/notesSlide11.xml.rels" ContentType="application/vnd.openxmlformats-package.relationships+xml"/>
  <Override PartName="/ppt/notesSlides/_rels/notesSlide69.xml.rels" ContentType="application/vnd.openxmlformats-package.relationships+xml"/>
  <Override PartName="/ppt/notesSlides/_rels/notesSlide20.xml.rels" ContentType="application/vnd.openxmlformats-package.relationships+xml"/>
  <Override PartName="/ppt/notesSlides/_rels/notesSlide48.xml.rels" ContentType="application/vnd.openxmlformats-package.relationships+xml"/>
  <Override PartName="/ppt/notesSlides/_rels/notesSlide52.xml.rels" ContentType="application/vnd.openxmlformats-package.relationships+xml"/>
  <Override PartName="/ppt/notesSlides/notesSlide64.xml" ContentType="application/vnd.openxmlformats-officedocument.presentationml.notesSlide+xml"/>
  <Override PartName="/ppt/notesSlides/notesSlide15.xml" ContentType="application/vnd.openxmlformats-officedocument.presentationml.notesSlide+xml"/>
  <Override PartName="/ppt/notesSlides/notesSlide63.xml" ContentType="application/vnd.openxmlformats-officedocument.presentationml.notesSlide+xml"/>
  <Override PartName="/ppt/notesSlides/notesSlide14.xml" ContentType="application/vnd.openxmlformats-officedocument.presentationml.notesSlide+xml"/>
  <Override PartName="/ppt/notesSlides/notesSlide1.xml" ContentType="application/vnd.openxmlformats-officedocument.presentationml.notesSlide+xml"/>
  <Override PartName="/ppt/notesSlides/notesSlide69.xml" ContentType="application/vnd.openxmlformats-officedocument.presentationml.notesSlide+xml"/>
  <Override PartName="/ppt/notesSlides/notesSlide67.xml" ContentType="application/vnd.openxmlformats-officedocument.presentationml.notesSlide+xml"/>
  <Override PartName="/ppt/notesSlides/notesSlide79.xml" ContentType="application/vnd.openxmlformats-officedocument.presentationml.notesSlide+xml"/>
  <Override PartName="/ppt/notesSlides/notesSlide10.xml" ContentType="application/vnd.openxmlformats-officedocument.presentationml.notesSlide+xml"/>
  <Override PartName="/ppt/notesSlides/notesSlide70.xml" ContentType="application/vnd.openxmlformats-officedocument.presentationml.notesSlide+xml"/>
  <Override PartName="/ppt/notesSlides/notesSlide47.xml" ContentType="application/vnd.openxmlformats-officedocument.presentationml.notesSlide+xml"/>
  <Override PartName="/ppt/notesSlides/notesSlide2.xml" ContentType="application/vnd.openxmlformats-officedocument.presentationml.notesSlide+xml"/>
  <Override PartName="/ppt/notesSlides/notesSlide11.xml" ContentType="application/vnd.openxmlformats-officedocument.presentationml.notesSlide+xml"/>
  <Override PartName="/ppt/notesSlides/notesSlide71.xml" ContentType="application/vnd.openxmlformats-officedocument.presentationml.notesSlide+xml"/>
  <Override PartName="/ppt/notesSlides/notesSlide48.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12.xml" ContentType="application/vnd.openxmlformats-officedocument.presentationml.notesSlide+xml"/>
  <Override PartName="/ppt/notesSlides/notesSlide72.xml" ContentType="application/vnd.openxmlformats-officedocument.presentationml.notesSlide+xml"/>
  <Override PartName="/ppt/notesSlides/notesSlide49.xml" ContentType="application/vnd.openxmlformats-officedocument.presentationml.notesSlide+xml"/>
  <Override PartName="/ppt/notesSlides/notesSlide7.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31.xml" ContentType="application/vnd.openxmlformats-officedocument.presentationml.notesSlide+xml"/>
  <Override PartName="/ppt/notesSlides/notesSlide13.xml" ContentType="application/vnd.openxmlformats-officedocument.presentationml.notesSlide+xml"/>
  <Override PartName="/ppt/notesSlides/notesSlide8.xml" ContentType="application/vnd.openxmlformats-officedocument.presentationml.notesSlide+xml"/>
  <Override PartName="/ppt/notesSlides/notesSlide35.xml" ContentType="application/vnd.openxmlformats-officedocument.presentationml.notesSlide+xml"/>
  <Override PartName="/ppt/notesSlides/notesSlide20.xml" ContentType="application/vnd.openxmlformats-officedocument.presentationml.notesSlide+xml"/>
  <Override PartName="/ppt/notesSlides/notesSlide80.xml" ContentType="application/vnd.openxmlformats-officedocument.presentationml.notesSlide+xml"/>
  <Override PartName="/ppt/notesSlides/notesSlide57.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26.png" ContentType="image/png"/>
  <Override PartName="/ppt/media/image194.png" ContentType="image/png"/>
  <Override PartName="/ppt/media/image125.png" ContentType="image/png"/>
  <Override PartName="/ppt/media/image193.png" ContentType="image/png"/>
  <Override PartName="/ppt/media/image124.png" ContentType="image/png"/>
  <Override PartName="/ppt/media/image192.png" ContentType="image/png"/>
  <Override PartName="/ppt/media/image123.png" ContentType="image/png"/>
  <Override PartName="/ppt/media/image191.png" ContentType="image/png"/>
  <Override PartName="/ppt/media/image122.png" ContentType="image/png"/>
  <Override PartName="/ppt/media/image190.png" ContentType="image/png"/>
  <Override PartName="/ppt/media/image121.png" ContentType="image/png"/>
  <Override PartName="/ppt/media/image116.png" ContentType="image/png"/>
  <Override PartName="/ppt/media/image184.png" ContentType="image/png"/>
  <Override PartName="/ppt/media/image115.png" ContentType="image/png"/>
  <Override PartName="/ppt/media/image183.png" ContentType="image/png"/>
  <Override PartName="/ppt/media/image114.png" ContentType="image/png"/>
  <Override PartName="/ppt/media/image182.png" ContentType="image/png"/>
  <Override PartName="/ppt/media/image113.png" ContentType="image/png"/>
  <Override PartName="/ppt/media/image181.png" ContentType="image/png"/>
  <Override PartName="/ppt/media/image112.png" ContentType="image/png"/>
  <Override PartName="/ppt/media/image180.png" ContentType="image/png"/>
  <Override PartName="/ppt/media/image111.png" ContentType="image/png"/>
  <Override PartName="/ppt/media/image106.png" ContentType="image/png"/>
  <Override PartName="/ppt/media/image174.png" ContentType="image/png"/>
  <Override PartName="/ppt/media/image105.png" ContentType="image/png"/>
  <Override PartName="/ppt/media/image173.png" ContentType="image/png"/>
  <Override PartName="/ppt/media/image104.png" ContentType="image/png"/>
  <Override PartName="/ppt/media/image172.png" ContentType="image/png"/>
  <Override PartName="/ppt/media/image103.png" ContentType="image/png"/>
  <Override PartName="/ppt/media/image171.png" ContentType="image/png"/>
  <Override PartName="/ppt/media/image102.png" ContentType="image/png"/>
  <Override PartName="/ppt/media/image170.png" ContentType="image/png"/>
  <Override PartName="/ppt/media/image101.png" ContentType="image/png"/>
  <Override PartName="/ppt/media/image99.png" ContentType="image/png"/>
  <Override PartName="/ppt/media/image98.png" ContentType="image/png"/>
  <Override PartName="/ppt/media/image97.png" ContentType="image/png"/>
  <Override PartName="/ppt/media/image29.png" ContentType="image/png"/>
  <Override PartName="/ppt/media/image96.png" ContentType="image/png"/>
  <Override PartName="/ppt/media/image28.png" ContentType="image/png"/>
  <Override PartName="/ppt/media/image95.png" ContentType="image/png"/>
  <Override PartName="/ppt/media/image27.png" ContentType="image/png"/>
  <Override PartName="/ppt/media/image89.png" ContentType="image/png"/>
  <Override PartName="/ppt/media/image88.png" ContentType="image/png"/>
  <Override PartName="/ppt/media/image87.png" ContentType="image/png"/>
  <Override PartName="/ppt/media/image19.png" ContentType="image/png"/>
  <Override PartName="/ppt/media/image79.png" ContentType="image/png"/>
  <Override PartName="/ppt/media/image78.png" ContentType="image/png"/>
  <Override PartName="/ppt/media/image77.png" ContentType="image/png"/>
  <Override PartName="/ppt/media/image76.png" ContentType="image/png"/>
  <Override PartName="/ppt/media/image75.png" ContentType="image/png"/>
  <Override PartName="/ppt/media/image74.png" ContentType="image/png"/>
  <Override PartName="/ppt/media/image73.png" ContentType="image/png"/>
  <Override PartName="/ppt/media/image72.png" ContentType="image/png"/>
  <Override PartName="/ppt/media/image71.png" ContentType="image/png"/>
  <Override PartName="/ppt/media/image70.png" ContentType="image/png"/>
  <Override PartName="/ppt/media/image120.png" ContentType="image/png"/>
  <Override PartName="/ppt/media/image69.png" ContentType="image/png"/>
  <Override PartName="/ppt/media/image68.png" ContentType="image/png"/>
  <Override PartName="/ppt/media/image67.png" ContentType="image/png"/>
  <Override PartName="/ppt/media/image66.png" ContentType="image/png"/>
  <Override PartName="/ppt/media/image65.png" ContentType="image/png"/>
  <Override PartName="/ppt/media/image64.png" ContentType="image/png"/>
  <Override PartName="/ppt/media/image63.png" ContentType="image/png"/>
  <Override PartName="/ppt/media/image62.png" ContentType="image/png"/>
  <Override PartName="/ppt/media/image61.png" ContentType="image/png"/>
  <Override PartName="/ppt/media/image60.png" ContentType="image/png"/>
  <Override PartName="/ppt/media/image23.png" ContentType="image/png"/>
  <Override PartName="/ppt/media/image91.png" ContentType="image/png"/>
  <Override PartName="/ppt/media/image1.png" ContentType="image/png"/>
  <Override PartName="/ppt/media/image153.png" ContentType="image/png"/>
  <Override PartName="/ppt/media/image39.png" ContentType="image/png"/>
  <Override PartName="/ppt/media/image127.png" ContentType="image/png"/>
  <Override PartName="/ppt/media/image195.png" ContentType="image/png"/>
  <Override PartName="/ppt/media/image33.png" ContentType="image/png"/>
  <Override PartName="/ppt/media/image50.png" ContentType="image/png"/>
  <Override PartName="/ppt/media/image147.png" ContentType="image/png"/>
  <Override PartName="/ppt/media/image51.png" ContentType="image/png"/>
  <Override PartName="/ppt/media/image148.png" ContentType="image/png"/>
  <Override PartName="/ppt/media/image52.png" ContentType="image/png"/>
  <Override PartName="/ppt/media/image149.png" ContentType="image/png"/>
  <Override PartName="/ppt/media/image53.png" ContentType="image/png"/>
  <Override PartName="/ppt/media/image128.png" ContentType="image/png"/>
  <Override PartName="/ppt/media/image196.png" ContentType="image/png"/>
  <Override PartName="/ppt/media/image34.png" ContentType="image/png"/>
  <Override PartName="/ppt/media/image129.png" ContentType="image/png"/>
  <Override PartName="/ppt/media/image32.png" ContentType="image/png"/>
  <Override PartName="/ppt/media/image133.png" ContentType="image/png"/>
  <Override PartName="/ppt/media/image134.png" ContentType="image/png"/>
  <Override PartName="/ppt/media/image135.png" ContentType="image/png"/>
  <Override PartName="/ppt/media/image136.png" ContentType="image/png"/>
  <Override PartName="/ppt/media/image137.png" ContentType="image/png"/>
  <Override PartName="/ppt/media/image40.png" ContentType="image/png"/>
  <Override PartName="/ppt/media/image161.png" ContentType="image/png"/>
  <Override PartName="/ppt/media/image162.png" ContentType="image/png"/>
  <Override PartName="/ppt/media/image163.png" ContentType="image/png"/>
  <Override PartName="/ppt/media/image45.png" ContentType="image/png"/>
  <Override PartName="/ppt/media/image131.png" ContentType="image/png"/>
  <Override PartName="/ppt/media/image168.png" ContentType="image/png"/>
  <Override PartName="/ppt/media/image46.png" ContentType="image/png"/>
  <Override PartName="/ppt/media/image132.png" ContentType="image/png"/>
  <Override PartName="/ppt/media/image169.png" ContentType="image/png"/>
  <Override PartName="/ppt/media/image43.png" ContentType="image/png"/>
  <Override PartName="/ppt/media/image166.png" ContentType="image/png"/>
  <Override PartName="/ppt/media/image143.png" ContentType="image/png"/>
  <Override PartName="/ppt/media/image44.png" ContentType="image/png"/>
  <Override PartName="/ppt/media/image130.png" ContentType="image/png"/>
  <Override PartName="/ppt/media/image167.png" ContentType="image/png"/>
  <Override PartName="/ppt/media/image144.png" ContentType="image/png"/>
  <Override PartName="/ppt/media/image41.png" ContentType="image/png"/>
  <Override PartName="/ppt/media/image138.png" ContentType="image/png"/>
  <Override PartName="/ppt/media/image164.png" ContentType="image/png"/>
  <Override PartName="/ppt/media/image42.png" ContentType="image/png"/>
  <Override PartName="/ppt/media/image139.png" ContentType="image/png"/>
  <Override PartName="/ppt/media/image165.png" ContentType="image/png"/>
  <Override PartName="/ppt/media/image160.png" ContentType="image/png"/>
  <Override PartName="/ppt/media/image189.png" ContentType="image/png"/>
  <Override PartName="/ppt/media/image152.png" ContentType="image/png"/>
  <Override PartName="/ppt/media/image188.png" ContentType="image/png"/>
  <Override PartName="/ppt/media/image151.png" ContentType="image/png"/>
  <Override PartName="/ppt/media/image150.png" ContentType="image/png"/>
  <Override PartName="/ppt/media/image146.png" ContentType="image/png"/>
  <Override PartName="/ppt/media/image145.png" ContentType="image/png"/>
  <Override PartName="/ppt/media/image56.png" ContentType="image/png"/>
  <Override PartName="/ppt/media/image179.png" ContentType="image/png"/>
  <Override PartName="/ppt/media/image142.png" ContentType="image/png"/>
  <Override PartName="/ppt/media/image55.png" ContentType="image/png"/>
  <Override PartName="/ppt/media/image178.png" ContentType="image/png"/>
  <Override PartName="/ppt/media/image13.png" ContentType="image/png"/>
  <Override PartName="/ppt/media/image81.png" ContentType="image/png"/>
  <Override PartName="/ppt/media/image141.png" ContentType="image/png"/>
  <Override PartName="/ppt/media/image54.png" ContentType="image/png"/>
  <Override PartName="/ppt/media/image140.png" ContentType="image/png"/>
  <Override PartName="/ppt/media/image38.png" ContentType="image/png"/>
  <Override PartName="/ppt/media/image30.png" ContentType="image/png"/>
  <Override PartName="/ppt/media/image8.png" ContentType="image/png"/>
  <Override PartName="/ppt/media/image17.png" ContentType="image/png"/>
  <Override PartName="/ppt/media/image85.png" ContentType="image/png"/>
  <Override PartName="/ppt/media/image49.png" ContentType="image/png"/>
  <Override PartName="/ppt/media/image100.png" ContentType="image/png"/>
  <Override PartName="/ppt/media/image177.png" ContentType="image/png"/>
  <Override PartName="/ppt/media/image109.png" ContentType="image/png"/>
  <Override PartName="/ppt/media/image80.png" ContentType="image/png"/>
  <Override PartName="/ppt/media/image12.png" ContentType="image/png"/>
  <Override PartName="/ppt/media/image37.png" ContentType="image/png"/>
  <Override PartName="/ppt/media/image159.png" ContentType="image/png"/>
  <Override PartName="/ppt/media/image7.png" ContentType="image/png"/>
  <Override PartName="/ppt/media/image16.png" ContentType="image/png"/>
  <Override PartName="/ppt/media/image84.png" ContentType="image/png"/>
  <Override PartName="/ppt/media/image48.png" ContentType="image/png"/>
  <Override PartName="/ppt/media/image11.png" ContentType="image/png"/>
  <Override PartName="/ppt/media/image108.png" ContentType="image/png"/>
  <Override PartName="/ppt/media/image176.png" ContentType="image/png"/>
  <Override PartName="/ppt/media/image82.png" ContentType="image/png"/>
  <Override PartName="/ppt/media/image14.png" ContentType="image/png"/>
  <Override PartName="/ppt/media/image36.png" ContentType="image/png"/>
  <Override PartName="/ppt/media/image158.png" ContentType="image/png"/>
  <Override PartName="/ppt/media/image6.png" ContentType="image/png"/>
  <Override PartName="/ppt/media/image15.png" ContentType="image/png"/>
  <Override PartName="/ppt/media/image83.png" ContentType="image/png"/>
  <Override PartName="/ppt/media/image18.png" ContentType="image/png"/>
  <Override PartName="/ppt/media/image86.png" ContentType="image/png"/>
  <Override PartName="/ppt/media/image31.png" ContentType="image/png"/>
  <Override PartName="/ppt/media/image9.png" ContentType="image/png"/>
  <Override PartName="/ppt/media/image47.png" ContentType="image/png"/>
  <Override PartName="/ppt/media/image10.png" ContentType="image/png"/>
  <Override PartName="/ppt/media/image175.png" ContentType="image/png"/>
  <Override PartName="/ppt/media/image107.png" ContentType="image/png"/>
  <Override PartName="/ppt/media/image35.png" ContentType="image/png"/>
  <Override PartName="/ppt/media/image5.png" ContentType="image/png"/>
  <Override PartName="/ppt/media/image157.png" ContentType="image/png"/>
  <Override PartName="/ppt/media/image4.png" ContentType="image/png"/>
  <Override PartName="/ppt/media/image156.png" ContentType="image/png"/>
  <Override PartName="/ppt/media/image3.png" ContentType="image/png"/>
  <Override PartName="/ppt/media/image155.png" ContentType="image/png"/>
  <Override PartName="/ppt/media/image26.png" ContentType="image/png"/>
  <Override PartName="/ppt/media/image94.png" ContentType="image/png"/>
  <Override PartName="/ppt/media/image2.png" ContentType="image/png"/>
  <Override PartName="/ppt/media/image154.png" ContentType="image/png"/>
  <Override PartName="/ppt/media/image93.png" ContentType="image/png"/>
  <Override PartName="/ppt/media/image25.png" ContentType="image/png"/>
  <Override PartName="/ppt/media/image119.png" ContentType="image/png"/>
  <Override PartName="/ppt/media/image187.png" ContentType="image/png"/>
  <Override PartName="/ppt/media/image92.png" ContentType="image/png"/>
  <Override PartName="/ppt/media/image24.png" ContentType="image/png"/>
  <Override PartName="/ppt/media/image57.png" ContentType="image/png"/>
  <Override PartName="/ppt/media/image20.png" ContentType="image/png"/>
  <Override PartName="/ppt/media/image117.png" ContentType="image/png"/>
  <Override PartName="/ppt/media/image185.png" ContentType="image/png"/>
  <Override PartName="/ppt/media/image58.png" ContentType="image/png"/>
  <Override PartName="/ppt/media/image21.png" ContentType="image/png"/>
  <Override PartName="/ppt/media/image186.png" ContentType="image/png"/>
  <Override PartName="/ppt/media/image118.png" ContentType="image/png"/>
  <Override PartName="/ppt/media/image59.png" ContentType="image/png"/>
  <Override PartName="/ppt/media/image110.png" ContentType="image/png"/>
  <Override PartName="/ppt/media/image90.png" ContentType="image/png"/>
  <Override PartName="/ppt/media/image22.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_rels/slide41.xml.rels" ContentType="application/vnd.openxmlformats-package.relationships+xml"/>
  <Override PartName="/ppt/slides/_rels/slide6.xml.rels" ContentType="application/vnd.openxmlformats-package.relationships+xml"/>
  <Override PartName="/ppt/slides/_rels/slide18.xml.rels" ContentType="application/vnd.openxmlformats-package.relationships+xml"/>
  <Override PartName="/ppt/slides/_rels/slide22.xml.rels" ContentType="application/vnd.openxmlformats-package.relationships+xml"/>
  <Override PartName="/ppt/slides/_rels/slide42.xml.rels" ContentType="application/vnd.openxmlformats-package.relationships+xml"/>
  <Override PartName="/ppt/slides/_rels/slide7.xml.rels" ContentType="application/vnd.openxmlformats-package.relationships+xml"/>
  <Override PartName="/ppt/slides/_rels/slide1.xml.rels" ContentType="application/vnd.openxmlformats-package.relationships+xml"/>
  <Override PartName="/ppt/slides/_rels/slide32.xml.rels" ContentType="application/vnd.openxmlformats-package.relationships+xml"/>
  <Override PartName="/ppt/slides/_rels/slide57.xml.rels" ContentType="application/vnd.openxmlformats-package.relationships+xml"/>
  <Override PartName="/ppt/slides/_rels/slide61.xml.rels" ContentType="application/vnd.openxmlformats-package.relationships+xml"/>
  <Override PartName="/ppt/slides/_rels/slide20.xml.rels" ContentType="application/vnd.openxmlformats-package.relationships+xml"/>
  <Override PartName="/ppt/slides/_rels/slide16.xml.rels" ContentType="application/vnd.openxmlformats-package.relationships+xml"/>
  <Override PartName="/ppt/slides/_rels/slide19.xml.rels" ContentType="application/vnd.openxmlformats-package.relationships+xml"/>
  <Override PartName="/ppt/slides/_rels/slide23.xml.rels" ContentType="application/vnd.openxmlformats-package.relationships+xml"/>
  <Override PartName="/ppt/slides/_rels/slide71.xml.rels" ContentType="application/vnd.openxmlformats-package.relationships+xml"/>
  <Override PartName="/ppt/slides/_rels/slide67.xml.rels" ContentType="application/vnd.openxmlformats-package.relationships+xml"/>
  <Override PartName="/ppt/slides/_rels/slide77.xml.rels" ContentType="application/vnd.openxmlformats-package.relationships+xml"/>
  <Override PartName="/ppt/slides/_rels/slide15.xml.rels" ContentType="application/vnd.openxmlformats-package.relationships+xml"/>
  <Override PartName="/ppt/slides/_rels/slide24.xml.rels" ContentType="application/vnd.openxmlformats-package.relationships+xml"/>
  <Override PartName="/ppt/slides/_rels/slide72.xml.rels" ContentType="application/vnd.openxmlformats-package.relationships+xml"/>
  <Override PartName="/ppt/slides/_rels/slide68.xml.rels" ContentType="application/vnd.openxmlformats-package.relationships+xml"/>
  <Override PartName="/ppt/slides/_rels/slide78.xml.rels" ContentType="application/vnd.openxmlformats-package.relationships+xml"/>
  <Override PartName="/ppt/slides/_rels/slide8.xml.rels" ContentType="application/vnd.openxmlformats-package.relationships+xml"/>
  <Override PartName="/ppt/slides/_rels/slide43.xml.rels" ContentType="application/vnd.openxmlformats-package.relationships+xml"/>
  <Override PartName="/ppt/slides/_rels/slide27.xml.rels" ContentType="application/vnd.openxmlformats-package.relationships+xml"/>
  <Override PartName="/ppt/slides/_rels/slide2.xml.rels" ContentType="application/vnd.openxmlformats-package.relationships+xml"/>
  <Override PartName="/ppt/slides/_rels/slide36.xml.rels" ContentType="application/vnd.openxmlformats-package.relationships+xml"/>
  <Override PartName="/ppt/slides/_rels/slide55.xml.rels" ContentType="application/vnd.openxmlformats-package.relationships+xml"/>
  <Override PartName="/ppt/slides/_rels/slide64.xml.rels" ContentType="application/vnd.openxmlformats-package.relationships+xml"/>
  <Override PartName="/ppt/slides/_rels/slide48.xml.rels" ContentType="application/vnd.openxmlformats-package.relationships+xml"/>
  <Override PartName="/ppt/slides/_rels/slide40.xml.rels" ContentType="application/vnd.openxmlformats-package.relationships+xml"/>
  <Override PartName="/ppt/slides/_rels/slide5.xml.rels" ContentType="application/vnd.openxmlformats-package.relationships+xml"/>
  <Override PartName="/ppt/slides/_rels/slide9.xml.rels" ContentType="application/vnd.openxmlformats-package.relationships+xml"/>
  <Override PartName="/ppt/slides/_rels/slide44.xml.rels" ContentType="application/vnd.openxmlformats-package.relationships+xml"/>
  <Override PartName="/ppt/slides/_rels/slide28.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31.xml.rels" ContentType="application/vnd.openxmlformats-package.relationships+xml"/>
  <Override PartName="/ppt/slides/_rels/slide39.xml.rels" ContentType="application/vnd.openxmlformats-package.relationships+xml"/>
  <Override PartName="/ppt/slides/_rels/slide54.xml.rels" ContentType="application/vnd.openxmlformats-package.relationships+xml"/>
  <Override PartName="/ppt/slides/_rels/slide63.xml.rels" ContentType="application/vnd.openxmlformats-package.relationships+xml"/>
  <Override PartName="/ppt/slides/_rels/slide70.xml.rels" ContentType="application/vnd.openxmlformats-package.relationships+xml"/>
  <Override PartName="/ppt/slides/_rels/slide47.xml.rels" ContentType="application/vnd.openxmlformats-package.relationships+xml"/>
  <Override PartName="/ppt/slides/_rels/slide4.xml.rels" ContentType="application/vnd.openxmlformats-package.relationships+xml"/>
  <Override PartName="/ppt/slides/_rels/slide35.xml.rels" ContentType="application/vnd.openxmlformats-package.relationships+xml"/>
  <Override PartName="/ppt/slides/_rels/slide51.xml.rels" ContentType="application/vnd.openxmlformats-package.relationships+xml"/>
  <Override PartName="/ppt/slides/_rels/slide53.xml.rels" ContentType="application/vnd.openxmlformats-package.relationships+xml"/>
  <Override PartName="/ppt/slides/_rels/slide46.xml.rels" ContentType="application/vnd.openxmlformats-package.relationships+xml"/>
  <Override PartName="/ppt/slides/_rels/slide62.xml.rels" ContentType="application/vnd.openxmlformats-package.relationships+xml"/>
  <Override PartName="/ppt/slides/_rels/slide49.xml.rels" ContentType="application/vnd.openxmlformats-package.relationships+xml"/>
  <Override PartName="/ppt/slides/_rels/slide34.xml.rels" ContentType="application/vnd.openxmlformats-package.relationships+xml"/>
  <Override PartName="/ppt/slides/_rels/slide50.xml.rels" ContentType="application/vnd.openxmlformats-package.relationships+xml"/>
  <Override PartName="/ppt/slides/_rels/slide52.xml.rels" ContentType="application/vnd.openxmlformats-package.relationships+xml"/>
  <Override PartName="/ppt/slides/_rels/slide76.xml.rels" ContentType="application/vnd.openxmlformats-package.relationships+xml"/>
  <Override PartName="/ppt/slides/_rels/slide14.xml.rels" ContentType="application/vnd.openxmlformats-package.relationships+xml"/>
  <Override PartName="/ppt/slides/_rels/slide33.xml.rels" ContentType="application/vnd.openxmlformats-package.relationships+xml"/>
  <Override PartName="/ppt/slides/_rels/slide29.xml.rels" ContentType="application/vnd.openxmlformats-package.relationships+xml"/>
  <Override PartName="/ppt/slides/_rels/slide45.xml.rels" ContentType="application/vnd.openxmlformats-package.relationships+xml"/>
  <Override PartName="/ppt/slides/_rels/slide38.xml.rels" ContentType="application/vnd.openxmlformats-package.relationships+xml"/>
  <Override PartName="/ppt/slides/_rels/slide65.xml.rels" ContentType="application/vnd.openxmlformats-package.relationships+xml"/>
  <Override PartName="/ppt/slides/_rels/slide74.xml.rels" ContentType="application/vnd.openxmlformats-package.relationships+xml"/>
  <Override PartName="/ppt/slides/_rels/slide58.xml.rels" ContentType="application/vnd.openxmlformats-package.relationships+xml"/>
  <Override PartName="/ppt/slides/_rels/slide81.xml.rels" ContentType="application/vnd.openxmlformats-package.relationships+xml"/>
  <Override PartName="/ppt/slides/_rels/slide66.xml.rels" ContentType="application/vnd.openxmlformats-package.relationships+xml"/>
  <Override PartName="/ppt/slides/_rels/slide56.xml.rels" ContentType="application/vnd.openxmlformats-package.relationships+xml"/>
  <Override PartName="/ppt/slides/_rels/slide60.xml.rels" ContentType="application/vnd.openxmlformats-package.relationships+xml"/>
  <Override PartName="/ppt/slides/_rels/slide75.xml.rels" ContentType="application/vnd.openxmlformats-package.relationships+xml"/>
  <Override PartName="/ppt/slides/_rels/slide82.xml.rels" ContentType="application/vnd.openxmlformats-package.relationships+xml"/>
  <Override PartName="/ppt/slides/_rels/slide10.xml.rels" ContentType="application/vnd.openxmlformats-package.relationships+xml"/>
  <Override PartName="/ppt/slides/_rels/slide59.xml.rels" ContentType="application/vnd.openxmlformats-package.relationships+xml"/>
  <Override PartName="/ppt/slides/_rels/slide26.xml.rels" ContentType="application/vnd.openxmlformats-package.relationships+xml"/>
  <Override PartName="/ppt/slides/_rels/slide21.xml.rels" ContentType="application/vnd.openxmlformats-package.relationships+xml"/>
  <Override PartName="/ppt/slides/_rels/slide17.xml.rels" ContentType="application/vnd.openxmlformats-package.relationships+xml"/>
  <Override PartName="/ppt/slides/_rels/slide11.xml.rels" ContentType="application/vnd.openxmlformats-package.relationships+xml"/>
  <Override PartName="/ppt/slides/_rels/slide30.xml.rels" ContentType="application/vnd.openxmlformats-package.relationships+xml"/>
  <Override PartName="/ppt/slides/_rels/slide79.xml.rels" ContentType="application/vnd.openxmlformats-package.relationships+xml"/>
  <Override PartName="/ppt/slides/_rels/slide69.xml.rels" ContentType="application/vnd.openxmlformats-package.relationships+xml"/>
  <Override PartName="/ppt/slides/_rels/slide73.xml.rels" ContentType="application/vnd.openxmlformats-package.relationships+xml"/>
  <Override PartName="/ppt/slides/_rels/slide80.xml.rels" ContentType="application/vnd.openxmlformats-package.relationships+xml"/>
  <Override PartName="/ppt/slides/_rels/slide25.xml.rels" ContentType="application/vnd.openxmlformats-package.relationships+xml"/>
  <Override PartName="/ppt/slides/slide13.xml" ContentType="application/vnd.openxmlformats-officedocument.presentationml.slide+xml"/>
  <Override PartName="/ppt/slides/slide6.xml" ContentType="application/vnd.openxmlformats-officedocument.presentationml.slide+xml"/>
  <Override PartName="/ppt/slides/slide49.xml" ContentType="application/vnd.openxmlformats-officedocument.presentationml.slide+xml"/>
  <Override PartName="/ppt/slides/slide22.xml" ContentType="application/vnd.openxmlformats-officedocument.presentationml.slide+xml"/>
  <Override PartName="/ppt/slides/slide59.xml" ContentType="application/vnd.openxmlformats-officedocument.presentationml.slide+xml"/>
  <Override PartName="/ppt/slides/slide23.xml" ContentType="application/vnd.openxmlformats-officedocument.presentationml.slide+xml"/>
  <Override PartName="/ppt/slides/slide60.xml" ContentType="application/vnd.openxmlformats-officedocument.presentationml.slide+xml"/>
  <Override PartName="/ppt/slides/slide18.xml" ContentType="application/vnd.openxmlformats-officedocument.presentationml.slide+xml"/>
  <Override PartName="/ppt/slides/slide24.xml" ContentType="application/vnd.openxmlformats-officedocument.presentationml.slide+xml"/>
  <Override PartName="/ppt/slides/slide61.xml" ContentType="application/vnd.openxmlformats-officedocument.presentationml.slide+xml"/>
  <Override PartName="/ppt/slides/slide19.xml" ContentType="application/vnd.openxmlformats-officedocument.presentationml.slide+xml"/>
  <Override PartName="/ppt/slides/slide25.xml" ContentType="application/vnd.openxmlformats-officedocument.presentationml.slide+xml"/>
  <Override PartName="/ppt/slides/slide62.xml" ContentType="application/vnd.openxmlformats-officedocument.presentationml.slide+xml"/>
  <Override PartName="/ppt/slides/slide26.xml" ContentType="application/vnd.openxmlformats-officedocument.presentationml.slide+xml"/>
  <Override PartName="/ppt/slides/slide63.xml" ContentType="application/vnd.openxmlformats-officedocument.presentationml.slide+xml"/>
  <Override PartName="/ppt/slides/slide27.xml" ContentType="application/vnd.openxmlformats-officedocument.presentationml.slide+xml"/>
  <Override PartName="/ppt/slides/slide64.xml" ContentType="application/vnd.openxmlformats-officedocument.presentationml.slide+xml"/>
  <Override PartName="/ppt/slides/slide28.xml" ContentType="application/vnd.openxmlformats-officedocument.presentationml.slide+xml"/>
  <Override PartName="/ppt/slides/slide70.xml" ContentType="application/vnd.openxmlformats-officedocument.presentationml.slide+xml"/>
  <Override PartName="/ppt/slides/slide65.xml" ContentType="application/vnd.openxmlformats-officedocument.presentationml.slide+xml"/>
  <Override PartName="/ppt/slides/slide29.xml" ContentType="application/vnd.openxmlformats-officedocument.presentationml.slide+xml"/>
  <Override PartName="/ppt/slides/slide71.xml" ContentType="application/vnd.openxmlformats-officedocument.presentationml.slide+xml"/>
  <Override PartName="/ppt/slides/slide66.xml" ContentType="application/vnd.openxmlformats-officedocument.presentationml.slide+xml"/>
  <Override PartName="/ppt/slides/slide79.xml" ContentType="application/vnd.openxmlformats-officedocument.presentationml.slide+xml"/>
  <Override PartName="/ppt/slides/slide42.xml" ContentType="application/vnd.openxmlformats-officedocument.presentationml.slide+xml"/>
  <Override PartName="/ppt/slides/slide67.xml" ContentType="application/vnd.openxmlformats-officedocument.presentationml.slide+xml"/>
  <Override PartName="/ppt/slides/slide78.xml" ContentType="application/vnd.openxmlformats-officedocument.presentationml.slide+xml"/>
  <Override PartName="/ppt/slides/slide41.xml" ContentType="application/vnd.openxmlformats-officedocument.presentationml.slide+xml"/>
  <Override PartName="/ppt/slides/slide77.xml" ContentType="application/vnd.openxmlformats-officedocument.presentationml.slide+xml"/>
  <Override PartName="/ppt/slides/slide40.xml" ContentType="application/vnd.openxmlformats-officedocument.presentationml.slide+xml"/>
  <Override PartName="/ppt/slides/slide12.xml" ContentType="application/vnd.openxmlformats-officedocument.presentationml.slide+xml"/>
  <Override PartName="/ppt/slides/slide5.xml" ContentType="application/vnd.openxmlformats-officedocument.presentationml.slide+xml"/>
  <Override PartName="/ppt/slides/slide76.xml" ContentType="application/vnd.openxmlformats-officedocument.presentationml.slide+xml"/>
  <Override PartName="/ppt/slides/slide75.xml" ContentType="application/vnd.openxmlformats-officedocument.presentationml.slide+xml"/>
  <Override PartName="/ppt/slides/slide74.xml" ContentType="application/vnd.openxmlformats-officedocument.presentationml.slide+xml"/>
  <Override PartName="/ppt/slides/slide2.xml" ContentType="application/vnd.openxmlformats-officedocument.presentationml.slide+xml"/>
  <Override PartName="/ppt/slides/slide73.xml" ContentType="application/vnd.openxmlformats-officedocument.presentationml.slide+xml"/>
  <Override PartName="/ppt/slides/slide1.xml" ContentType="application/vnd.openxmlformats-officedocument.presentationml.slide+xml"/>
  <Override PartName="/ppt/slides/slide72.xml" ContentType="application/vnd.openxmlformats-officedocument.presentationml.slide+xml"/>
  <Override PartName="/ppt/slides/slide69.xml" ContentType="application/vnd.openxmlformats-officedocument.presentationml.slide+xml"/>
  <Override PartName="/ppt/slides/slide68.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82.xml" ContentType="application/vnd.openxmlformats-officedocument.presentationml.slide+xml"/>
  <Override PartName="/ppt/slides/slide17.xml" ContentType="application/vnd.openxmlformats-officedocument.presentationml.slide+xml"/>
  <Override PartName="/ppt/slides/slide7.xml" ContentType="application/vnd.openxmlformats-officedocument.presentationml.slide+xml"/>
  <Override PartName="/ppt/slides/slide14.xml" ContentType="application/vnd.openxmlformats-officedocument.presentationml.slide+xml"/>
  <Override PartName="/ppt/slides/slide3.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80.xml" ContentType="application/vnd.openxmlformats-officedocument.presentationml.slide+xml"/>
  <Override PartName="/ppt/slides/slide15.xml" ContentType="application/vnd.openxmlformats-officedocument.presentationml.slide+xml"/>
  <Override PartName="/ppt/slides/slide8.xml" ContentType="application/vnd.openxmlformats-officedocument.presentationml.slide+xml"/>
  <Override PartName="/ppt/slides/slide43.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81.xml" ContentType="application/vnd.openxmlformats-officedocument.presentationml.slide+xml"/>
  <Override PartName="/ppt/slides/slide16.xml" ContentType="application/vnd.openxmlformats-officedocument.presentationml.slide+xml"/>
  <Override PartName="/ppt/slides/slide9.xml" ContentType="application/vnd.openxmlformats-officedocument.presentationml.slide+xml"/>
  <Override PartName="/ppt/slides/slide4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Lst>
  <p:sldSz cx="12192000" cy="6858000"/>
  <p:notesSz cx="6858000" cy="12192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slide" Target="slides/slide81.xml"/><Relationship Id="rId85" Type="http://schemas.openxmlformats.org/officeDocument/2006/relationships/slide" Target="slides/slide82.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p:spPr>
        <p:txBody>
          <a:bodyPr lIns="0" rIns="0" tIns="0" bIns="0" anchor="ctr">
            <a:noAutofit/>
          </a:bodyPr>
          <a:p>
            <a:pPr algn="ctr"/>
            <a:r>
              <a:rPr b="0" lang="es-ES" sz="4400" spc="-1" strike="noStrike">
                <a:latin typeface="Arial"/>
              </a:rPr>
              <a:t>Pulse para desplazar la diapositiva</a:t>
            </a:r>
            <a:endParaRPr b="0" lang="es-ES" sz="4400" spc="-1" strike="noStrike">
              <a:latin typeface="Arial"/>
            </a:endParaRPr>
          </a:p>
        </p:txBody>
      </p:sp>
      <p:sp>
        <p:nvSpPr>
          <p:cNvPr id="39" name="PlaceHolder 2"/>
          <p:cNvSpPr>
            <a:spLocks noGrp="1"/>
          </p:cNvSpPr>
          <p:nvPr>
            <p:ph type="body"/>
          </p:nvPr>
        </p:nvSpPr>
        <p:spPr>
          <a:xfrm>
            <a:off x="756000" y="5078520"/>
            <a:ext cx="6047640" cy="4811040"/>
          </a:xfrm>
          <a:prstGeom prst="rect">
            <a:avLst/>
          </a:prstGeom>
        </p:spPr>
        <p:txBody>
          <a:bodyPr lIns="0" rIns="0" tIns="0" bIns="0">
            <a:noAutofit/>
          </a:bodyPr>
          <a:p>
            <a:r>
              <a:rPr b="0" lang="es-ES" sz="2000" spc="-1" strike="noStrike">
                <a:latin typeface="Arial"/>
              </a:rPr>
              <a:t>Pulse para editar el formato de las notas</a:t>
            </a:r>
            <a:endParaRPr b="0" lang="es-ES" sz="2000" spc="-1" strike="noStrike">
              <a:latin typeface="Arial"/>
            </a:endParaRPr>
          </a:p>
        </p:txBody>
      </p:sp>
      <p:sp>
        <p:nvSpPr>
          <p:cNvPr id="40" name="PlaceHolder 3"/>
          <p:cNvSpPr>
            <a:spLocks noGrp="1"/>
          </p:cNvSpPr>
          <p:nvPr>
            <p:ph type="hdr"/>
          </p:nvPr>
        </p:nvSpPr>
        <p:spPr>
          <a:xfrm>
            <a:off x="0" y="0"/>
            <a:ext cx="3280680" cy="534240"/>
          </a:xfrm>
          <a:prstGeom prst="rect">
            <a:avLst/>
          </a:prstGeom>
        </p:spPr>
        <p:txBody>
          <a:bodyPr lIns="0" rIns="0" tIns="0" bIns="0">
            <a:noAutofit/>
          </a:bodyPr>
          <a:p>
            <a:r>
              <a:rPr b="0" lang="es-ES" sz="1400" spc="-1" strike="noStrike">
                <a:latin typeface="Times New Roman"/>
              </a:rPr>
              <a:t>&lt;cabecera&gt;</a:t>
            </a:r>
            <a:endParaRPr b="0" lang="es-ES" sz="1400" spc="-1" strike="noStrike">
              <a:latin typeface="Times New Roman"/>
            </a:endParaRPr>
          </a:p>
        </p:txBody>
      </p:sp>
      <p:sp>
        <p:nvSpPr>
          <p:cNvPr id="41" name="PlaceHolder 4"/>
          <p:cNvSpPr>
            <a:spLocks noGrp="1"/>
          </p:cNvSpPr>
          <p:nvPr>
            <p:ph type="dt"/>
          </p:nvPr>
        </p:nvSpPr>
        <p:spPr>
          <a:xfrm>
            <a:off x="4278960" y="0"/>
            <a:ext cx="3280680" cy="534240"/>
          </a:xfrm>
          <a:prstGeom prst="rect">
            <a:avLst/>
          </a:prstGeom>
        </p:spPr>
        <p:txBody>
          <a:bodyPr lIns="0" rIns="0" tIns="0" bIns="0">
            <a:noAutofit/>
          </a:bodyPr>
          <a:p>
            <a:pPr algn="r"/>
            <a:r>
              <a:rPr b="0" lang="es-ES" sz="1400" spc="-1" strike="noStrike">
                <a:latin typeface="Times New Roman"/>
              </a:rPr>
              <a:t>&lt;fecha/hora&gt;</a:t>
            </a:r>
            <a:endParaRPr b="0" lang="es-ES" sz="1400" spc="-1" strike="noStrike">
              <a:latin typeface="Times New Roman"/>
            </a:endParaRPr>
          </a:p>
        </p:txBody>
      </p:sp>
      <p:sp>
        <p:nvSpPr>
          <p:cNvPr id="42" name="PlaceHolder 5"/>
          <p:cNvSpPr>
            <a:spLocks noGrp="1"/>
          </p:cNvSpPr>
          <p:nvPr>
            <p:ph type="ftr"/>
          </p:nvPr>
        </p:nvSpPr>
        <p:spPr>
          <a:xfrm>
            <a:off x="0" y="10157400"/>
            <a:ext cx="3280680" cy="534240"/>
          </a:xfrm>
          <a:prstGeom prst="rect">
            <a:avLst/>
          </a:prstGeom>
        </p:spPr>
        <p:txBody>
          <a:bodyPr lIns="0" rIns="0" tIns="0" bIns="0" anchor="b">
            <a:noAutofit/>
          </a:bodyPr>
          <a:p>
            <a:r>
              <a:rPr b="0" lang="es-ES" sz="1400" spc="-1" strike="noStrike">
                <a:latin typeface="Times New Roman"/>
              </a:rPr>
              <a:t>&lt;pie de página&gt;</a:t>
            </a:r>
            <a:endParaRPr b="0" lang="es-ES" sz="1400" spc="-1" strike="noStrike">
              <a:latin typeface="Times New Roman"/>
            </a:endParaRPr>
          </a:p>
        </p:txBody>
      </p:sp>
      <p:sp>
        <p:nvSpPr>
          <p:cNvPr id="43" name="PlaceHolder 6"/>
          <p:cNvSpPr>
            <a:spLocks noGrp="1"/>
          </p:cNvSpPr>
          <p:nvPr>
            <p:ph type="sldNum"/>
          </p:nvPr>
        </p:nvSpPr>
        <p:spPr>
          <a:xfrm>
            <a:off x="4278960" y="10157400"/>
            <a:ext cx="3280680" cy="534240"/>
          </a:xfrm>
          <a:prstGeom prst="rect">
            <a:avLst/>
          </a:prstGeom>
        </p:spPr>
        <p:txBody>
          <a:bodyPr lIns="0" rIns="0" tIns="0" bIns="0" anchor="b">
            <a:noAutofit/>
          </a:bodyPr>
          <a:p>
            <a:pPr algn="r"/>
            <a:fld id="{0D3B8E8A-2F5C-477D-B045-E5799B39D2CE}" type="slidenum">
              <a:rPr b="0" lang="es-ES" sz="1400" spc="-1" strike="noStrike">
                <a:latin typeface="Times New Roman"/>
              </a:rPr>
              <a:t>&lt;número&gt;</a:t>
            </a:fld>
            <a:endParaRPr b="0" lang="es-E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_rels/notesSlide7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
</Relationships>
</file>

<file path=ppt/notesSlides/_rels/notesSlide78.xml.rels><?xml version="1.0" encoding="UTF-8"?>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
</Relationships>
</file>

<file path=ppt/notesSlides/_rels/notesSlide79.xml.rels><?xml version="1.0" encoding="UTF-8"?>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
</Relationships>
</file>

<file path=ppt/notesSlides/_rels/notesSlide80.xml.rels><?xml version="1.0" encoding="UTF-8"?>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
</Relationships>
</file>

<file path=ppt/notesSlides/_rels/notesSlide81.xml.rels><?xml version="1.0" encoding="UTF-8"?>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
</Relationships>
</file>

<file path=ppt/notesSlides/_rels/notesSlide82.xml.rels><?xml version="1.0" encoding="UTF-8"?>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3" name="PlaceHolder 1"/>
          <p:cNvSpPr>
            <a:spLocks noGrp="1"/>
          </p:cNvSpPr>
          <p:nvPr>
            <p:ph type="sldImg"/>
          </p:nvPr>
        </p:nvSpPr>
        <p:spPr>
          <a:xfrm>
            <a:off x="685800" y="1143000"/>
            <a:ext cx="5483880" cy="3083760"/>
          </a:xfrm>
          <a:prstGeom prst="rect">
            <a:avLst/>
          </a:prstGeom>
        </p:spPr>
      </p:sp>
      <p:sp>
        <p:nvSpPr>
          <p:cNvPr id="2024"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Dar la bienvenida, situar el curso en el rol real de un DBA y fijar expectativas sobre lo que el alumno sabrá hacer al terminar.</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Presentación del instructor y de los alumnos: ronda rápida (rol, experiencia previa con T-SQL, qué versión de SQL Server usan hoy en su empresa).</a:t>
            </a:r>
            <a:endParaRPr b="0" lang="es-ES" sz="2000" spc="-1" strike="noStrike">
              <a:latin typeface="Arial"/>
            </a:endParaRPr>
          </a:p>
          <a:p>
            <a:pPr marL="216000" indent="-214200">
              <a:lnSpc>
                <a:spcPct val="100000"/>
              </a:lnSpc>
              <a:tabLst>
                <a:tab algn="l" pos="0"/>
              </a:tabLst>
            </a:pPr>
            <a:r>
              <a:rPr b="0" lang="en-US" sz="2000" spc="-1" strike="noStrike">
                <a:latin typeface="Arial"/>
              </a:rPr>
              <a:t>- Mensaje clave: un DBA no "administra tablas", garantiza que los datos estén disponibles, íntegros, seguros y rápidos. Los cuatro adjetivos estructuran el curso.</a:t>
            </a:r>
            <a:endParaRPr b="0" lang="es-ES" sz="2000" spc="-1" strike="noStrike">
              <a:latin typeface="Arial"/>
            </a:endParaRPr>
          </a:p>
          <a:p>
            <a:pPr marL="216000" indent="-214200">
              <a:lnSpc>
                <a:spcPct val="100000"/>
              </a:lnSpc>
              <a:tabLst>
                <a:tab algn="l" pos="0"/>
              </a:tabLst>
            </a:pPr>
            <a:r>
              <a:rPr b="0" lang="en-US" sz="2000" spc="-1" strike="noStrike">
                <a:latin typeface="Arial"/>
              </a:rPr>
              <a:t>- El curso son 20 horas repartidas en 4 módulos: Fundamentos y arquitectura (4 h), Gestión y seguridad (5,5 h), Optimización y alta disponibilidad (5 h) y Mantenimiento y buenas prácticas (5 h), más 0,5 h de bienvenida y entorno.</a:t>
            </a:r>
            <a:endParaRPr b="0" lang="es-ES" sz="2000" spc="-1" strike="noStrike">
              <a:latin typeface="Arial"/>
            </a:endParaRPr>
          </a:p>
          <a:p>
            <a:pPr marL="216000" indent="-214200">
              <a:lnSpc>
                <a:spcPct val="100000"/>
              </a:lnSpc>
              <a:tabLst>
                <a:tab algn="l" pos="0"/>
              </a:tabLst>
            </a:pPr>
            <a:r>
              <a:rPr b="0" lang="en-US" sz="2000" spc="-1" strike="noStrike">
                <a:latin typeface="Arial"/>
              </a:rPr>
              <a:t>- Cada módulo termina con un laboratorio guiado y el curso cierra con un caso práctico integrador que obliga a combinar todo: diseño, seguridad, índices y backups.</a:t>
            </a:r>
            <a:endParaRPr b="0" lang="es-ES" sz="2000" spc="-1" strike="noStrike">
              <a:latin typeface="Arial"/>
            </a:endParaRPr>
          </a:p>
          <a:p>
            <a:pPr marL="216000" indent="-214200">
              <a:lnSpc>
                <a:spcPct val="100000"/>
              </a:lnSpc>
              <a:tabLst>
                <a:tab algn="l" pos="0"/>
              </a:tabLst>
            </a:pPr>
            <a:r>
              <a:rPr b="0" lang="en-US" sz="2000" spc="-1" strike="noStrike">
                <a:latin typeface="Arial"/>
              </a:rPr>
              <a:t>- Versión de referencia: SQL Server 2025 (compatible con 2022 y 2019). Las diferencias relevantes con 2016/2017 se señalan cuando importan.</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¿Quién ha sufrido alguna vez una caída de producción por falta de espacio, de backups o de índices? (Sirve de gancho para todo el curso.)</a:t>
            </a:r>
            <a:endParaRPr b="0" lang="es-ES" sz="2000" spc="-1" strike="noStrike">
              <a:latin typeface="Arial"/>
            </a:endParaRPr>
          </a:p>
          <a:p>
            <a:pPr marL="216000" indent="-213840">
              <a:lnSpc>
                <a:spcPct val="100000"/>
              </a:lnSpc>
              <a:tabLst>
                <a:tab algn="l" pos="0"/>
              </a:tabLst>
            </a:pPr>
            <a:r>
              <a:rPr b="0" lang="en-US" sz="2000" spc="-1" strike="noStrike">
                <a:latin typeface="Arial"/>
              </a:rPr>
              <a:t>- ¿Qué esperáis poder hacer el último día que hoy no sabéis hacer?</a:t>
            </a:r>
            <a:endParaRPr b="0" lang="es-ES" sz="2000" spc="-1" strike="noStrike">
              <a:latin typeface="Arial"/>
            </a:endParaRPr>
          </a:p>
        </p:txBody>
      </p:sp>
      <p:sp>
        <p:nvSpPr>
          <p:cNvPr id="2025"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F31278ED-AF9A-4791-A5EE-0F8E5B68CCFB}"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6" name="PlaceHolder 1"/>
          <p:cNvSpPr>
            <a:spLocks noGrp="1"/>
          </p:cNvSpPr>
          <p:nvPr>
            <p:ph type="sldImg"/>
          </p:nvPr>
        </p:nvSpPr>
        <p:spPr>
          <a:xfrm>
            <a:off x="685800" y="1143000"/>
            <a:ext cx="5483880" cy="3083760"/>
          </a:xfrm>
          <a:prstGeom prst="rect">
            <a:avLst/>
          </a:prstGeom>
        </p:spPr>
      </p:sp>
      <p:sp>
        <p:nvSpPr>
          <p:cNvPr id="2027"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Que el alumno visualice el mapa completo del curso, el reparto horario y las competencias que adquirirá.</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Módulo 1 (4 h): cómo es SQL Server por dentro. Sin entender Buffer Pool, páginas, ficheros y log no se puede diagnosticar nada después. Incluye ediciones y licenciamiento, que es donde más dinero se gasta o se pierde.</a:t>
            </a:r>
            <a:endParaRPr b="0" lang="es-ES" sz="2000" spc="-1" strike="noStrike">
              <a:latin typeface="Arial"/>
            </a:endParaRPr>
          </a:p>
          <a:p>
            <a:pPr marL="216000" indent="-214200">
              <a:lnSpc>
                <a:spcPct val="100000"/>
              </a:lnSpc>
              <a:tabLst>
                <a:tab algn="l" pos="0"/>
              </a:tabLst>
            </a:pPr>
            <a:r>
              <a:rPr b="0" lang="en-US" sz="2000" spc="-1" strike="noStrike">
                <a:latin typeface="Arial"/>
              </a:rPr>
              <a:t>- Módulo 2 (5,5 h): crear objetos (tablas, restricciones, vistas, procedimientos), consultar con soltura (JOINs, window functions) y asegurar el acceso con el principio de mínimo privilegio.</a:t>
            </a:r>
            <a:endParaRPr b="0" lang="es-ES" sz="2000" spc="-1" strike="noStrike">
              <a:latin typeface="Arial"/>
            </a:endParaRPr>
          </a:p>
          <a:p>
            <a:pPr marL="216000" indent="-214200">
              <a:lnSpc>
                <a:spcPct val="100000"/>
              </a:lnSpc>
              <a:tabLst>
                <a:tab algn="l" pos="0"/>
              </a:tabLst>
            </a:pPr>
            <a:r>
              <a:rPr b="0" lang="en-US" sz="2000" spc="-1" strike="noStrike">
                <a:latin typeface="Arial"/>
              </a:rPr>
              <a:t>- Módulo 3 (5 h): rendimiento (índices, estadísticas, planes de ejecución, DMVs) y alta disponibilidad / recuperación ante desastres (RTO, RPO, Log Shipping, FCI, Always On AG).</a:t>
            </a:r>
            <a:endParaRPr b="0" lang="es-ES" sz="2000" spc="-1" strike="noStrike">
              <a:latin typeface="Arial"/>
            </a:endParaRPr>
          </a:p>
          <a:p>
            <a:pPr marL="216000" indent="-214200">
              <a:lnSpc>
                <a:spcPct val="100000"/>
              </a:lnSpc>
              <a:tabLst>
                <a:tab algn="l" pos="0"/>
              </a:tabLst>
            </a:pPr>
            <a:r>
              <a:rPr b="0" lang="en-US" sz="2000" spc="-1" strike="noStrike">
                <a:latin typeface="Arial"/>
              </a:rPr>
              <a:t>- Módulo 4 (5 h): lo que separa a un aficionado de un DBA: modelos de recuperación, backups, restauración point-in-time, DBCC CHECKDB, automatización con Agent y resolución de incidencias.</a:t>
            </a:r>
            <a:endParaRPr b="0" lang="es-ES" sz="2000" spc="-1" strike="noStrike">
              <a:latin typeface="Arial"/>
            </a:endParaRPr>
          </a:p>
          <a:p>
            <a:pPr marL="216000" indent="-214200">
              <a:lnSpc>
                <a:spcPct val="100000"/>
              </a:lnSpc>
              <a:tabLst>
                <a:tab algn="l" pos="0"/>
              </a:tabLst>
            </a:pPr>
            <a:r>
              <a:rPr b="0" lang="en-US" sz="2000" spc="-1" strike="noStrike">
                <a:latin typeface="Arial"/>
              </a:rPr>
              <a:t>- Los números no son rígidos: si un laboratorio genera debate, se recorta teoría. El tiempo de laboratorio es el más valioso.</a:t>
            </a:r>
            <a:endParaRPr b="0" lang="es-ES" sz="2000" spc="-1" strike="noStrike">
              <a:latin typeface="Arial"/>
            </a:endParaRPr>
          </a:p>
          <a:p>
            <a:pPr marL="216000" indent="-214200">
              <a:lnSpc>
                <a:spcPct val="100000"/>
              </a:lnSpc>
              <a:tabLst>
                <a:tab algn="l" pos="0"/>
              </a:tabLst>
            </a:pPr>
            <a:r>
              <a:rPr b="0" lang="en-US" sz="2000" spc="-1" strike="noStrike">
                <a:latin typeface="Arial"/>
              </a:rPr>
              <a:t>- Al final del curso el alumno podrá diseñar una estrategia de backup que cumpla un RPO dado, interpretar un plan de ejecución, y montar un esquema de permisos segregado.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De los cuatro bloques, ¿cuál creéis que os va a costar más y por qué?</a:t>
            </a:r>
            <a:endParaRPr b="0" lang="es-ES" sz="2000" spc="-1" strike="noStrike">
              <a:latin typeface="Arial"/>
            </a:endParaRPr>
          </a:p>
          <a:p>
            <a:pPr marL="216000" indent="-213840">
              <a:lnSpc>
                <a:spcPct val="100000"/>
              </a:lnSpc>
              <a:tabLst>
                <a:tab algn="l" pos="0"/>
              </a:tabLst>
            </a:pPr>
            <a:r>
              <a:rPr b="0" lang="en-US" sz="2000" spc="-1" strike="noStrike">
                <a:latin typeface="Arial"/>
              </a:rPr>
              <a:t>- ¿Qué tema que no aparece aquí os gustaría ver? (Anotarlo para el cierre del curso.)</a:t>
            </a:r>
            <a:endParaRPr b="0" lang="es-ES" sz="2000" spc="-1" strike="noStrike">
              <a:latin typeface="Arial"/>
            </a:endParaRPr>
          </a:p>
        </p:txBody>
      </p:sp>
      <p:sp>
        <p:nvSpPr>
          <p:cNvPr id="2028"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9BC0257C-5C58-4D94-A0D7-49494F4EAEB1}"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9" name="PlaceHolder 1"/>
          <p:cNvSpPr>
            <a:spLocks noGrp="1"/>
          </p:cNvSpPr>
          <p:nvPr>
            <p:ph type="sldImg"/>
          </p:nvPr>
        </p:nvSpPr>
        <p:spPr>
          <a:xfrm>
            <a:off x="685800" y="1143000"/>
            <a:ext cx="5483880" cy="3083760"/>
          </a:xfrm>
          <a:prstGeom prst="rect">
            <a:avLst/>
          </a:prstGeom>
        </p:spPr>
      </p:sp>
      <p:sp>
        <p:nvSpPr>
          <p:cNvPr id="2030"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Acordar la dinámica: teoría breve, laboratorio inmediato y participación constante; fijar reglas de seguridad del entorno de práctica.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Formato: bloques de teoría de 20-30 minutos, siempre seguidos de una demostración o ejercicio. Un curso de administración se aprende con las manos en el teclado.</a:t>
            </a:r>
            <a:endParaRPr b="0" lang="es-ES" sz="2000" spc="-1" strike="noStrike">
              <a:latin typeface="Arial"/>
            </a:endParaRPr>
          </a:p>
          <a:p>
            <a:pPr marL="216000" indent="-214200">
              <a:lnSpc>
                <a:spcPct val="100000"/>
              </a:lnSpc>
              <a:tabLst>
                <a:tab algn="l" pos="0"/>
              </a:tabLst>
            </a:pPr>
            <a:r>
              <a:rPr b="0" lang="en-US" sz="2000" spc="-1" strike="noStrike">
                <a:latin typeface="Arial"/>
              </a:rPr>
              <a:t>- Los laboratorios se hacen sobre un contenedor Docker o una instancia local propia: cada alumno puede romper su servidor sin afectar a nadie. Romper cosas a propósito (llenar el log, corromper una página) es parte del plan.</a:t>
            </a:r>
            <a:endParaRPr b="0" lang="es-ES" sz="2000" spc="-1" strike="noStrike">
              <a:latin typeface="Arial"/>
            </a:endParaRPr>
          </a:p>
          <a:p>
            <a:pPr marL="216000" indent="-214200">
              <a:lnSpc>
                <a:spcPct val="100000"/>
              </a:lnSpc>
              <a:tabLst>
                <a:tab algn="l" pos="0"/>
              </a:tabLst>
            </a:pPr>
            <a:r>
              <a:rPr b="0" lang="en-US" sz="2000" spc="-1" strike="noStrike">
                <a:latin typeface="Arial"/>
              </a:rPr>
              <a:t>- Regla de oro: nunca ejecutar los scripts del curso contra un servidor de producción. Se pide confirmar el nombre del servidor (SELECT @@SERVERNAME) antes de cualquier script destructivo; es un hábito profesional.</a:t>
            </a:r>
            <a:endParaRPr b="0" lang="es-ES" sz="2000" spc="-1" strike="noStrike">
              <a:latin typeface="Arial"/>
            </a:endParaRPr>
          </a:p>
          <a:p>
            <a:pPr marL="216000" indent="-214200">
              <a:lnSpc>
                <a:spcPct val="100000"/>
              </a:lnSpc>
              <a:tabLst>
                <a:tab algn="l" pos="0"/>
              </a:tabLst>
            </a:pPr>
            <a:r>
              <a:rPr b="0" lang="en-US" sz="2000" spc="-1" strike="noStrike">
                <a:latin typeface="Arial"/>
              </a:rPr>
              <a:t>- Material: diapositivas, scripts T-SQL del curso y la Guía del Docente en Markdown con todo el guion. Cada diapositiva de laboratorio incluye una guía de resolución en las notas.</a:t>
            </a:r>
            <a:endParaRPr b="0" lang="es-ES" sz="2000" spc="-1" strike="noStrike">
              <a:latin typeface="Arial"/>
            </a:endParaRPr>
          </a:p>
          <a:p>
            <a:pPr marL="216000" indent="-214200">
              <a:lnSpc>
                <a:spcPct val="100000"/>
              </a:lnSpc>
              <a:tabLst>
                <a:tab algn="l" pos="0"/>
              </a:tabLst>
            </a:pPr>
            <a:r>
              <a:rPr b="0" lang="en-US" sz="2000" spc="-1" strike="noStrike">
                <a:latin typeface="Arial"/>
              </a:rPr>
              <a:t>- Evaluación: participación, entrega del Laboratorio 4 y resolución del caso práctico integrador final (con criterios explícitos que se verán al comienzo del caso).</a:t>
            </a:r>
            <a:endParaRPr b="0" lang="es-ES" sz="2000" spc="-1" strike="noStrike">
              <a:latin typeface="Arial"/>
            </a:endParaRPr>
          </a:p>
          <a:p>
            <a:pPr marL="216000" indent="-214200">
              <a:lnSpc>
                <a:spcPct val="100000"/>
              </a:lnSpc>
              <a:tabLst>
                <a:tab algn="l" pos="0"/>
              </a:tabLst>
            </a:pPr>
            <a:r>
              <a:rPr b="0" lang="en-US" sz="2000" spc="-1" strike="noStrike">
                <a:latin typeface="Arial"/>
              </a:rPr>
              <a:t>- Se anima a interrumpir con preguntas: es más barato resolver una duda ahora que durante un incidente real.</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entorno tiene cada uno disponible: Windows con SSMS, macOS/Linux con Docker, ambos?</a:t>
            </a:r>
            <a:endParaRPr b="0" lang="es-ES" sz="2000" spc="-1" strike="noStrike">
              <a:latin typeface="Arial"/>
            </a:endParaRPr>
          </a:p>
          <a:p>
            <a:pPr marL="216000" indent="-213840">
              <a:lnSpc>
                <a:spcPct val="100000"/>
              </a:lnSpc>
              <a:tabLst>
                <a:tab algn="l" pos="0"/>
              </a:tabLst>
            </a:pPr>
            <a:r>
              <a:rPr b="0" lang="en-US" sz="2000" spc="-1" strike="noStrike">
                <a:latin typeface="Arial"/>
              </a:rPr>
              <a:t>- ¿Qué os frena más al aprender administración: no tener un servidor donde practicar o miedo a romperlo?</a:t>
            </a:r>
            <a:endParaRPr b="0" lang="es-ES" sz="2000" spc="-1" strike="noStrike">
              <a:latin typeface="Arial"/>
            </a:endParaRPr>
          </a:p>
        </p:txBody>
      </p:sp>
      <p:sp>
        <p:nvSpPr>
          <p:cNvPr id="2031"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1AC7D8EB-B740-4219-B699-43712CA9FC01}"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2" name="PlaceHolder 1"/>
          <p:cNvSpPr>
            <a:spLocks noGrp="1"/>
          </p:cNvSpPr>
          <p:nvPr>
            <p:ph type="sldImg"/>
          </p:nvPr>
        </p:nvSpPr>
        <p:spPr>
          <a:xfrm>
            <a:off x="685800" y="1143000"/>
            <a:ext cx="5483880" cy="3083760"/>
          </a:xfrm>
          <a:prstGeom prst="rect">
            <a:avLst/>
          </a:prstGeom>
        </p:spPr>
      </p:sp>
      <p:sp>
        <p:nvSpPr>
          <p:cNvPr id="2033"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Dejar el entorno preparado: instancia SQL Server accesible y herramienta cliente conectada antes de empezar el Módulo 1.</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Tres piezas: una instancia SQL Server (Docker o local), una herramienta cliente (SSMS en Windows; extensión MSSQL de VS Code en macOS/Linux) y un editor de scripts.</a:t>
            </a:r>
            <a:endParaRPr b="0" lang="es-ES" sz="2000" spc="-1" strike="noStrike">
              <a:latin typeface="Arial"/>
            </a:endParaRPr>
          </a:p>
          <a:p>
            <a:pPr marL="216000" indent="-214200">
              <a:lnSpc>
                <a:spcPct val="100000"/>
              </a:lnSpc>
              <a:tabLst>
                <a:tab algn="l" pos="0"/>
              </a:tabLst>
            </a:pPr>
            <a:r>
              <a:rPr b="0" lang="en-US" sz="2000" spc="-1" strike="noStrike">
                <a:latin typeface="Arial"/>
              </a:rPr>
              <a:t>- Azure Data Studio ha llegado al final de su soporte (28 de febrero de 2026): Microsoft recomienda la extensión MSSQL de Visual Studio Code. Si algún alumno lo tiene instalado, funciona pero ya no recibe actualizaciones.</a:t>
            </a:r>
            <a:endParaRPr b="0" lang="es-ES" sz="2000" spc="-1" strike="noStrike">
              <a:latin typeface="Arial"/>
            </a:endParaRPr>
          </a:p>
          <a:p>
            <a:pPr marL="216000" indent="-214200">
              <a:lnSpc>
                <a:spcPct val="100000"/>
              </a:lnSpc>
              <a:tabLst>
                <a:tab algn="l" pos="0"/>
              </a:tabLst>
            </a:pPr>
            <a:r>
              <a:rPr b="0" lang="en-US" sz="2000" spc="-1" strike="noStrike">
                <a:latin typeface="Arial"/>
              </a:rPr>
              <a:t>- Docker: la imagen oficial mcr.microsoft.com/mssql/server:2025-latest es multiplataforma. En Mac con Apple Silicon hay que ejecutar Docker Desktop con emulación x86_64 (--platform linux/amd64) y activar Rosetta en los ajustes; el arranque es más lento pero funciona.</a:t>
            </a:r>
            <a:endParaRPr b="0" lang="es-ES" sz="2000" spc="-1" strike="noStrike">
              <a:latin typeface="Arial"/>
            </a:endParaRPr>
          </a:p>
          <a:p>
            <a:pPr marL="216000" indent="-214200">
              <a:lnSpc>
                <a:spcPct val="100000"/>
              </a:lnSpc>
              <a:tabLst>
                <a:tab algn="l" pos="0"/>
              </a:tabLst>
            </a:pPr>
            <a:r>
              <a:rPr b="0" lang="en-US" sz="2000" spc="-1" strike="noStrike">
                <a:latin typeface="Arial"/>
              </a:rPr>
              <a:t>- Variables imprescindibles: ACCEPT_EULA=Y y MSSQL_SA_PASSWORD con una contraseña que cumpla la política de complejidad (8+ caracteres, tres de cuatro categorías); si no, el contenedor arranca y se detiene sin avisar: se diagnostica con docker logs sql2025.</a:t>
            </a:r>
            <a:endParaRPr b="0" lang="es-ES" sz="2000" spc="-1" strike="noStrike">
              <a:latin typeface="Arial"/>
            </a:endParaRPr>
          </a:p>
          <a:p>
            <a:pPr marL="216000" indent="-214200">
              <a:lnSpc>
                <a:spcPct val="100000"/>
              </a:lnSpc>
              <a:tabLst>
                <a:tab algn="l" pos="0"/>
              </a:tabLst>
            </a:pPr>
            <a:r>
              <a:rPr b="0" lang="en-US" sz="2000" spc="-1" strike="noStrike">
                <a:latin typeface="Arial"/>
              </a:rPr>
              <a:t>- El volumen -v sqldata:/var/opt/mssql persiste los ficheros .mdf/.ldf si se elimina el contenedor. Se usará en el laboratorio de restauración del Módulo 4.</a:t>
            </a:r>
            <a:endParaRPr b="0" lang="es-ES" sz="2000" spc="-1" strike="noStrike">
              <a:latin typeface="Arial"/>
            </a:endParaRPr>
          </a:p>
          <a:p>
            <a:pPr marL="216000" indent="-214200">
              <a:lnSpc>
                <a:spcPct val="100000"/>
              </a:lnSpc>
              <a:tabLst>
                <a:tab algn="l" pos="0"/>
              </a:tabLst>
            </a:pPr>
            <a:r>
              <a:rPr b="0" lang="en-US" sz="2000" spc="-1" strike="noStrike">
                <a:latin typeface="Arial"/>
              </a:rPr>
              <a:t>- Opción local (Windows): SQL Server 2025 Developer Edition (gratuita, con todas las funciones de Enterprise y sólo para desarrollo y pruebas) + SSMS 20/21.</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diferencia hay entre conectarse con la cuenta sa y con autenticación de Windows? (Anticipa el Módulo 2.)</a:t>
            </a:r>
            <a:endParaRPr b="0" lang="es-ES" sz="2000" spc="-1" strike="noStrike">
              <a:latin typeface="Arial"/>
            </a:endParaRPr>
          </a:p>
          <a:p>
            <a:pPr marL="216000" indent="-214200">
              <a:lnSpc>
                <a:spcPct val="100000"/>
              </a:lnSpc>
              <a:tabLst>
                <a:tab algn="l" pos="0"/>
              </a:tabLst>
            </a:pPr>
            <a:r>
              <a:rPr b="0" lang="en-US" sz="2000" spc="-1" strike="noStrike">
                <a:latin typeface="Arial"/>
              </a:rPr>
              <a:t>- ¿Por qué crees que el contenedor se detiene si la contraseña de sa no cumple la política?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Instrucciones de Laboratorio:</a:t>
            </a:r>
            <a:endParaRPr b="0" lang="es-ES" sz="2000" spc="-1" strike="noStrike">
              <a:latin typeface="Arial"/>
            </a:endParaRPr>
          </a:p>
          <a:p>
            <a:pPr marL="216000" indent="-214200">
              <a:lnSpc>
                <a:spcPct val="100000"/>
              </a:lnSpc>
              <a:tabLst>
                <a:tab algn="l" pos="0"/>
              </a:tabLst>
            </a:pPr>
            <a:r>
              <a:rPr b="0" lang="en-US" sz="2000" spc="-1" strike="noStrike">
                <a:latin typeface="Arial"/>
              </a:rPr>
              <a:t>- Arrancar el contenedor con el comando de la diapositiva y comprobar con docker ps que el estado es Up.</a:t>
            </a:r>
            <a:endParaRPr b="0" lang="es-ES" sz="2000" spc="-1" strike="noStrike">
              <a:latin typeface="Arial"/>
            </a:endParaRPr>
          </a:p>
          <a:p>
            <a:pPr marL="216000" indent="-214200">
              <a:lnSpc>
                <a:spcPct val="100000"/>
              </a:lnSpc>
              <a:tabLst>
                <a:tab algn="l" pos="0"/>
              </a:tabLst>
            </a:pPr>
            <a:r>
              <a:rPr b="0" lang="en-US" sz="2000" spc="-1" strike="noStrike">
                <a:latin typeface="Arial"/>
              </a:rPr>
              <a:t>- Conectar desde SSMS o VS Code: servidor localhost,1433, usuario sa, marcar "Trust server certificate".</a:t>
            </a:r>
            <a:endParaRPr b="0" lang="es-ES" sz="2000" spc="-1" strike="noStrike">
              <a:latin typeface="Arial"/>
            </a:endParaRPr>
          </a:p>
          <a:p>
            <a:pPr marL="216000" indent="-214200">
              <a:lnSpc>
                <a:spcPct val="100000"/>
              </a:lnSpc>
              <a:tabLst>
                <a:tab algn="l" pos="0"/>
              </a:tabLst>
            </a:pPr>
            <a:r>
              <a:rPr b="0" lang="en-US" sz="2000" spc="-1" strike="noStrike">
                <a:latin typeface="Arial"/>
              </a:rPr>
              <a:t>- Ejecutar SELECT @@VERSION, @@SERVERNAME; y guardar el resultado como evidencia.</a:t>
            </a:r>
            <a:endParaRPr b="0" lang="es-ES" sz="2000" spc="-1" strike="noStrike">
              <a:latin typeface="Arial"/>
            </a:endParaRPr>
          </a:p>
          <a:p>
            <a:pPr marL="216000" indent="-213840">
              <a:lnSpc>
                <a:spcPct val="100000"/>
              </a:lnSpc>
              <a:tabLst>
                <a:tab algn="l" pos="0"/>
              </a:tabLst>
            </a:pPr>
            <a:r>
              <a:rPr b="0" lang="en-US" sz="2000" spc="-1" strike="noStrike">
                <a:latin typeface="Arial"/>
              </a:rPr>
              <a:t>- Trampas: puerto 1433 ocupado por otra instancia local (usar -p 14333:1433 y conectar a localhost,14333); contraseña con caracteres especiales mal escapados en el shell (usar comillas simples en zsh/bash).</a:t>
            </a:r>
            <a:endParaRPr b="0" lang="es-ES" sz="2000" spc="-1" strike="noStrike">
              <a:latin typeface="Arial"/>
            </a:endParaRPr>
          </a:p>
        </p:txBody>
      </p:sp>
      <p:sp>
        <p:nvSpPr>
          <p:cNvPr id="2034"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92E18C59-7163-4C20-BCD4-16A7DF1ADD25}"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5" name="PlaceHolder 1"/>
          <p:cNvSpPr>
            <a:spLocks noGrp="1"/>
          </p:cNvSpPr>
          <p:nvPr>
            <p:ph type="sldImg"/>
          </p:nvPr>
        </p:nvSpPr>
        <p:spPr>
          <a:xfrm>
            <a:off x="685800" y="1143000"/>
            <a:ext cx="5483880" cy="3083760"/>
          </a:xfrm>
          <a:prstGeom prst="rect">
            <a:avLst/>
          </a:prstGeom>
        </p:spPr>
      </p:sp>
      <p:sp>
        <p:nvSpPr>
          <p:cNvPr id="2036"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Introducir el Módulo 1 y justificar por qué empezamos por la arquitectura interna antes que por la sintaxis.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Idea fuerza: casi todos los problemas que veremos más adelante (bloqueos, rendimiento, log lleno, restauraciones) se explican con cuatro conceptos: Buffer Pool, páginas, Transaction Log y tempdb. Este módulo los instala en la cabeza del alumno.</a:t>
            </a:r>
            <a:endParaRPr b="0" lang="es-ES" sz="2000" spc="-1" strike="noStrike">
              <a:latin typeface="Arial"/>
            </a:endParaRPr>
          </a:p>
          <a:p>
            <a:pPr marL="216000" indent="-214200">
              <a:lnSpc>
                <a:spcPct val="100000"/>
              </a:lnSpc>
              <a:tabLst>
                <a:tab algn="l" pos="0"/>
              </a:tabLst>
            </a:pPr>
            <a:r>
              <a:rPr b="0" lang="en-US" sz="2000" spc="-1" strike="noStrike">
                <a:latin typeface="Arial"/>
              </a:rPr>
              <a:t>- Recorrido: historia y versiones → arquitectura → estructura física (páginas, extensiones, MDF/NDF/LDF, WAL y VLFs) → instancias y bases del sistema → ediciones y licenciamiento → herramientas → tablas vectoriales (IA) → Laboratorio 1.</a:t>
            </a:r>
            <a:endParaRPr b="0" lang="es-ES" sz="2000" spc="-1" strike="noStrike">
              <a:latin typeface="Arial"/>
            </a:endParaRPr>
          </a:p>
          <a:p>
            <a:pPr marL="216000" indent="-214200">
              <a:lnSpc>
                <a:spcPct val="100000"/>
              </a:lnSpc>
              <a:tabLst>
                <a:tab algn="l" pos="0"/>
              </a:tabLst>
            </a:pPr>
            <a:r>
              <a:rPr b="0" lang="en-US" sz="2000" spc="-1" strike="noStrike">
                <a:latin typeface="Arial"/>
              </a:rPr>
              <a:t>- Duración estimada 4,0 horas: ~2,75 de teoría con demostraciones (incluyendo tipo VECTOR) y ~1,25 de laboratorio.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3840">
              <a:lnSpc>
                <a:spcPct val="100000"/>
              </a:lnSpc>
              <a:tabLst>
                <a:tab algn="l" pos="0"/>
              </a:tabLst>
            </a:pPr>
            <a:r>
              <a:rPr b="0" lang="en-US" sz="2000" spc="-1" strike="noStrike">
                <a:latin typeface="Arial"/>
              </a:rPr>
              <a:t>- ¿Qué creéis que ocurre exactamente entre que escribís un INSERT y que el dato está "guardado"? Anotad las respuestas, las revisaremos al explicar el WAL.</a:t>
            </a:r>
            <a:endParaRPr b="0" lang="es-ES" sz="2000" spc="-1" strike="noStrike">
              <a:latin typeface="Arial"/>
            </a:endParaRPr>
          </a:p>
        </p:txBody>
      </p:sp>
      <p:sp>
        <p:nvSpPr>
          <p:cNvPr id="2037"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6261D4B3-8737-4060-9B06-B886242C7C16}"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8" name="PlaceHolder 1"/>
          <p:cNvSpPr>
            <a:spLocks noGrp="1"/>
          </p:cNvSpPr>
          <p:nvPr>
            <p:ph type="sldImg"/>
          </p:nvPr>
        </p:nvSpPr>
        <p:spPr>
          <a:xfrm>
            <a:off x="685800" y="1143000"/>
            <a:ext cx="5483880" cy="3083760"/>
          </a:xfrm>
          <a:prstGeom prst="rect">
            <a:avLst/>
          </a:prstGeom>
        </p:spPr>
      </p:sp>
      <p:sp>
        <p:nvSpPr>
          <p:cNvPr id="2039"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Situar las versiones actuales, sus hitos y su ciclo de vida para decidir cuál instalar o a cuál migrar.</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SQL Server nace en 1989 (Sybase/Microsoft/Ashton-Tate). Los hitos modernos empiezan con 2005 (DMVs, TRY/CATCH, CLR), 2008 (compresión, Policy-Based Management) y 2012 (Always On AG y columnstore).</a:t>
            </a:r>
            <a:endParaRPr b="0" lang="es-ES" sz="2000" spc="-1" strike="noStrike">
              <a:latin typeface="Arial"/>
            </a:endParaRPr>
          </a:p>
          <a:p>
            <a:pPr marL="216000" indent="-214200">
              <a:lnSpc>
                <a:spcPct val="100000"/>
              </a:lnSpc>
              <a:tabLst>
                <a:tab algn="l" pos="0"/>
              </a:tabLst>
            </a:pPr>
            <a:r>
              <a:rPr b="0" lang="en-US" sz="2000" spc="-1" strike="noStrike">
                <a:latin typeface="Arial"/>
              </a:rPr>
              <a:t>- 2014: In-Memory OLTP (Hekaton) y Buffer Pool Extension. 2016: Query Store, Always Encrypted, Row-Level Security, temporal tables. 2017: primera versión en Linux y Docker; adaptive query processing.</a:t>
            </a:r>
            <a:endParaRPr b="0" lang="es-ES" sz="2000" spc="-1" strike="noStrike">
              <a:latin typeface="Arial"/>
            </a:endParaRPr>
          </a:p>
          <a:p>
            <a:pPr marL="216000" indent="-214200">
              <a:lnSpc>
                <a:spcPct val="100000"/>
              </a:lnSpc>
              <a:tabLst>
                <a:tab algn="l" pos="0"/>
              </a:tabLst>
            </a:pPr>
            <a:r>
              <a:rPr b="0" lang="en-US" sz="2000" spc="-1" strike="noStrike">
                <a:latin typeface="Arial"/>
              </a:rPr>
              <a:t>- 2019: Intelligent Query Processing (memory grant feedback, batch mode en rowstore), Accelerated Database Recovery (ADR) y UTF-8. 2022: Ledger, Parameter Sensitive Plan optimization, Contained Availability Groups y copia a S3.</a:t>
            </a:r>
            <a:endParaRPr b="0" lang="es-ES" sz="2000" spc="-1" strike="noStrike">
              <a:latin typeface="Arial"/>
            </a:endParaRPr>
          </a:p>
          <a:p>
            <a:pPr marL="216000" indent="-214200">
              <a:lnSpc>
                <a:spcPct val="100000"/>
              </a:lnSpc>
              <a:tabLst>
                <a:tab algn="l" pos="0"/>
              </a:tabLst>
            </a:pPr>
            <a:r>
              <a:rPr b="0" lang="en-US" sz="2000" spc="-1" strike="noStrike">
                <a:latin typeface="Arial"/>
              </a:rPr>
              <a:t>- 2025: incorpora el tipo vector y funciones de IA (VECTOR, VECTOR_DISTANCE), el tipo json nativo y expresiones regulares en T-SQL. Es la versión de referencia del curso.</a:t>
            </a:r>
            <a:endParaRPr b="0" lang="es-ES" sz="2000" spc="-1" strike="noStrike">
              <a:latin typeface="Arial"/>
            </a:endParaRPr>
          </a:p>
          <a:p>
            <a:pPr marL="216000" indent="-214200">
              <a:lnSpc>
                <a:spcPct val="100000"/>
              </a:lnSpc>
              <a:tabLst>
                <a:tab algn="l" pos="0"/>
              </a:tabLst>
            </a:pPr>
            <a:r>
              <a:rPr b="0" lang="en-US" sz="2000" spc="-1" strike="noStrike">
                <a:latin typeface="Arial"/>
              </a:rPr>
              <a:t>- Ciclo de vida: 5 años de soporte principal + 5 de soporte extendido (parches de seguridad). SQL Server 2016 terminó su soporte extendido en julio de 2026; 2017 termina en octubre de 2027, 2019 en enero de 2030 y 2022 en enero de 2033.</a:t>
            </a:r>
            <a:endParaRPr b="0" lang="es-ES" sz="2000" spc="-1" strike="noStrike">
              <a:latin typeface="Arial"/>
            </a:endParaRPr>
          </a:p>
          <a:p>
            <a:pPr marL="216000" indent="-214200">
              <a:lnSpc>
                <a:spcPct val="100000"/>
              </a:lnSpc>
              <a:tabLst>
                <a:tab algn="l" pos="0"/>
              </a:tabLst>
            </a:pPr>
            <a:r>
              <a:rPr b="0" lang="en-US" sz="2000" spc="-1" strike="noStrike">
                <a:latin typeface="Arial"/>
              </a:rPr>
              <a:t>- Nivel de compatibilidad (COMPATIBILITY_LEVEL): 130=2016, 140=2017, 150=2019, 160=2022, 170=2025. Una BD restaurada en una versión nueva mantiene su nivel de compatibilidad hasta que se cambie; es clave en migraciones.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versión tenéis en producción y en qué fecha termina su soporte extendido?</a:t>
            </a:r>
            <a:endParaRPr b="0" lang="es-ES" sz="2000" spc="-1" strike="noStrike">
              <a:latin typeface="Arial"/>
            </a:endParaRPr>
          </a:p>
          <a:p>
            <a:pPr marL="216000" indent="-213840">
              <a:lnSpc>
                <a:spcPct val="100000"/>
              </a:lnSpc>
              <a:tabLst>
                <a:tab algn="l" pos="0"/>
              </a:tabLst>
            </a:pPr>
            <a:r>
              <a:rPr b="0" lang="en-US" sz="2000" spc="-1" strike="noStrike">
                <a:latin typeface="Arial"/>
              </a:rPr>
              <a:t>- ¿Qué riesgo tiene subir el nivel de compatibilidad de una base de datos sin probarla? (Cambios en el optimizador/CE, regresiones de planes.)</a:t>
            </a:r>
            <a:endParaRPr b="0" lang="es-ES" sz="2000" spc="-1" strike="noStrike">
              <a:latin typeface="Arial"/>
            </a:endParaRPr>
          </a:p>
        </p:txBody>
      </p:sp>
      <p:sp>
        <p:nvSpPr>
          <p:cNvPr id="2040"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73393200-0973-454E-9F8A-5F11E7A1CFEB}"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1" name="PlaceHolder 1"/>
          <p:cNvSpPr>
            <a:spLocks noGrp="1"/>
          </p:cNvSpPr>
          <p:nvPr>
            <p:ph type="sldImg"/>
          </p:nvPr>
        </p:nvSpPr>
        <p:spPr>
          <a:xfrm>
            <a:off x="685800" y="1143000"/>
            <a:ext cx="5483880" cy="3083760"/>
          </a:xfrm>
          <a:prstGeom prst="rect">
            <a:avLst/>
          </a:prstGeom>
        </p:spPr>
      </p:sp>
      <p:sp>
        <p:nvSpPr>
          <p:cNvPr id="2042"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Que el alumno identifique las capas del motor (SNI, Relational Engine, Storage Engine, SQLOS) y sepa qué responsabilidad tiene cada una.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Seguir el recorrido de arriba abajo con el puntero. El cliente se comunica mediante el protocolo TDS (Tabular Data Stream) sobre un protocolo de red: Shared Memory (local), TCP/IP (el habitual, puerto 1433 por defecto) o Named Pipes. La capa SNI (SQL Network Interface) los abstrae.</a:t>
            </a:r>
            <a:endParaRPr b="0" lang="es-ES" sz="2000" spc="-1" strike="noStrike">
              <a:latin typeface="Arial"/>
            </a:endParaRPr>
          </a:p>
          <a:p>
            <a:pPr marL="216000" indent="-214200">
              <a:lnSpc>
                <a:spcPct val="100000"/>
              </a:lnSpc>
              <a:tabLst>
                <a:tab algn="l" pos="0"/>
              </a:tabLst>
            </a:pPr>
            <a:r>
              <a:rPr b="0" lang="en-US" sz="2000" spc="-1" strike="noStrike">
                <a:latin typeface="Arial"/>
              </a:rPr>
              <a:t>- Relational Engine (query processor): el Parser comprueba la sintaxis; el Algebrizer resuelve nombres de objetos/tipos y produce un árbol de consulta; el Optimizer, basado en costes, elige un plan a partir de estadísticas; el Query Executor lo ejecuta operador a operador.</a:t>
            </a:r>
            <a:endParaRPr b="0" lang="es-ES" sz="2000" spc="-1" strike="noStrike">
              <a:latin typeface="Arial"/>
            </a:endParaRPr>
          </a:p>
          <a:p>
            <a:pPr marL="216000" indent="-214200">
              <a:lnSpc>
                <a:spcPct val="100000"/>
              </a:lnSpc>
              <a:tabLst>
                <a:tab algn="l" pos="0"/>
              </a:tabLst>
            </a:pPr>
            <a:r>
              <a:rPr b="0" lang="en-US" sz="2000" spc="-1" strike="noStrike">
                <a:latin typeface="Arial"/>
              </a:rPr>
              <a:t>- Storage Engine: Access Methods (cómo leer/escribir filas, índices, heaps), Buffer Manager (gestiona el Buffer Pool: caché de páginas de datos en memoria) y Transaction Manager (log, bloqueos, aislamiento: ACID).</a:t>
            </a:r>
            <a:endParaRPr b="0" lang="es-ES" sz="2000" spc="-1" strike="noStrike">
              <a:latin typeface="Arial"/>
            </a:endParaRPr>
          </a:p>
          <a:p>
            <a:pPr marL="216000" indent="-214200">
              <a:lnSpc>
                <a:spcPct val="100000"/>
              </a:lnSpc>
              <a:tabLst>
                <a:tab algn="l" pos="0"/>
              </a:tabLst>
            </a:pPr>
            <a:r>
              <a:rPr b="0" lang="en-US" sz="2000" spc="-1" strike="noStrike">
                <a:latin typeface="Arial"/>
              </a:rPr>
              <a:t>- SQLOS es una capa propia de SQL Server (no es el sistema operativo): planificación cooperativa con schedulers (uno por CPU lógica), gestión de memoria, I/O, sincronización y bloqueos. Explica los wait types (PAGEIOLATCH, CXPACKET, LCK_M_*).</a:t>
            </a:r>
            <a:endParaRPr b="0" lang="es-ES" sz="2000" spc="-1" strike="noStrike">
              <a:latin typeface="Arial"/>
            </a:endParaRPr>
          </a:p>
          <a:p>
            <a:pPr marL="216000" indent="-214200">
              <a:lnSpc>
                <a:spcPct val="100000"/>
              </a:lnSpc>
              <a:tabLst>
                <a:tab algn="l" pos="0"/>
              </a:tabLst>
            </a:pPr>
            <a:r>
              <a:rPr b="0" lang="en-US" sz="2000" spc="-1" strike="noStrike">
                <a:latin typeface="Arial"/>
              </a:rPr>
              <a:t>- A la derecha, el disco: ficheros de datos (.mdf/.ndf) y de log (.ldf). El motor nunca escribe directamente en el disco de datos al hacer COMMIT: primero escribe en el log (WAL). Lo veremos en la diapositiva del Transaction Log.</a:t>
            </a:r>
            <a:endParaRPr b="0" lang="es-ES" sz="2000" spc="-1" strike="noStrike">
              <a:latin typeface="Arial"/>
            </a:endParaRPr>
          </a:p>
          <a:p>
            <a:pPr marL="216000" indent="-214200">
              <a:lnSpc>
                <a:spcPct val="100000"/>
              </a:lnSpc>
              <a:tabLst>
                <a:tab algn="l" pos="0"/>
              </a:tabLst>
            </a:pPr>
            <a:r>
              <a:rPr b="0" lang="en-US" sz="2000" spc="-1" strike="noStrike">
                <a:latin typeface="Arial"/>
              </a:rPr>
              <a:t>- Punto de vista del DBA: cada capa suele ser origen de un tipo de problema: red (latencias, fallos de conexión), optimizador (planes malos), almacenamiento (E/S lenta, log), SQLOS (esperas de CPU/memoria).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¿En qué capa se decide si una consulta usa un Index Seek o un Index Scan? ¿Y quién lo ejecuta?</a:t>
            </a:r>
            <a:endParaRPr b="0" lang="es-ES" sz="2000" spc="-1" strike="noStrike">
              <a:latin typeface="Arial"/>
            </a:endParaRPr>
          </a:p>
          <a:p>
            <a:pPr marL="216000" indent="-213840">
              <a:lnSpc>
                <a:spcPct val="100000"/>
              </a:lnSpc>
              <a:tabLst>
                <a:tab algn="l" pos="0"/>
              </a:tabLst>
            </a:pPr>
            <a:r>
              <a:rPr b="0" lang="en-US" sz="2000" spc="-1" strike="noStrike">
                <a:latin typeface="Arial"/>
              </a:rPr>
              <a:t>- Si el servidor sufre esperas PAGEIOLATCH_SH, ¿qué capas están implicadas?</a:t>
            </a:r>
            <a:endParaRPr b="0" lang="es-ES" sz="2000" spc="-1" strike="noStrike">
              <a:latin typeface="Arial"/>
            </a:endParaRPr>
          </a:p>
        </p:txBody>
      </p:sp>
      <p:sp>
        <p:nvSpPr>
          <p:cNvPr id="2043"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6C79F9B3-E3F0-4C0D-BDAB-AED091B2992D}"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4" name="PlaceHolder 1"/>
          <p:cNvSpPr>
            <a:spLocks noGrp="1"/>
          </p:cNvSpPr>
          <p:nvPr>
            <p:ph type="sldImg"/>
          </p:nvPr>
        </p:nvSpPr>
        <p:spPr>
          <a:xfrm>
            <a:off x="685800" y="1143000"/>
            <a:ext cx="5483880" cy="3083760"/>
          </a:xfrm>
          <a:prstGeom prst="rect">
            <a:avLst/>
          </a:prstGeom>
        </p:spPr>
      </p:sp>
      <p:sp>
        <p:nvSpPr>
          <p:cNvPr id="2045"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Comprender el recorrido completo de una sentencia, qué se cachea (plan cache) y por qué la segunda ejecución es más barata.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Paso 1 – Parse: validación sintáctica; si hay error aquí nunca llega al optimizador. Paso 2 – Bind/Algebrize: resuelve tablas, columnas y tipos; comprueba permisos sobre los objetos.</a:t>
            </a:r>
            <a:endParaRPr b="0" lang="es-ES" sz="2000" spc="-1" strike="noStrike">
              <a:latin typeface="Arial"/>
            </a:endParaRPr>
          </a:p>
          <a:p>
            <a:pPr marL="216000" indent="-214200">
              <a:lnSpc>
                <a:spcPct val="100000"/>
              </a:lnSpc>
              <a:tabLst>
                <a:tab algn="l" pos="0"/>
              </a:tabLst>
            </a:pPr>
            <a:r>
              <a:rPr b="0" lang="en-US" sz="2000" spc="-1" strike="noStrike">
                <a:latin typeface="Arial"/>
              </a:rPr>
              <a:t>- Paso 3 – Optimize: antes de optimizar, el motor busca en el plan cache un plan reutilizable con hash de la consulta. Si no existe, el optimizador explora alternativas (join order, tipos de join, acceso por índice) y elige el de menor coste estimado; no busca el óptimo absoluto, sino uno "suficientemente bueno" en tiempo limitado (Good Enough Plan Found).</a:t>
            </a:r>
            <a:endParaRPr b="0" lang="es-ES" sz="2000" spc="-1" strike="noStrike">
              <a:latin typeface="Arial"/>
            </a:endParaRPr>
          </a:p>
          <a:p>
            <a:pPr marL="216000" indent="-214200">
              <a:lnSpc>
                <a:spcPct val="100000"/>
              </a:lnSpc>
              <a:tabLst>
                <a:tab algn="l" pos="0"/>
              </a:tabLst>
            </a:pPr>
            <a:r>
              <a:rPr b="0" lang="en-US" sz="2000" spc="-1" strike="noStrike">
                <a:latin typeface="Arial"/>
              </a:rPr>
              <a:t>- Paso 4 – Execute: el Query Executor es un modelo de iteradores (cada operador pide filas al siguiente). Pide a Access Methods las filas y estos al Buffer Manager las páginas.</a:t>
            </a:r>
            <a:endParaRPr b="0" lang="es-ES" sz="2000" spc="-1" strike="noStrike">
              <a:latin typeface="Arial"/>
            </a:endParaRPr>
          </a:p>
          <a:p>
            <a:pPr marL="216000" indent="-214200">
              <a:lnSpc>
                <a:spcPct val="100000"/>
              </a:lnSpc>
              <a:tabLst>
                <a:tab algn="l" pos="0"/>
              </a:tabLst>
            </a:pPr>
            <a:r>
              <a:rPr b="0" lang="en-US" sz="2000" spc="-1" strike="noStrike">
                <a:latin typeface="Arial"/>
              </a:rPr>
              <a:t>- Paso 5 – Lectura de páginas: si la página está en el Buffer Pool es una lectura lógica; si no, se lee del disco (lectura física) y se sube al Buffer Pool. SET STATISTICS IO muestra ambas.</a:t>
            </a:r>
            <a:endParaRPr b="0" lang="es-ES" sz="2000" spc="-1" strike="noStrike">
              <a:latin typeface="Arial"/>
            </a:endParaRPr>
          </a:p>
          <a:p>
            <a:pPr marL="216000" indent="-214200">
              <a:lnSpc>
                <a:spcPct val="100000"/>
              </a:lnSpc>
              <a:tabLst>
                <a:tab algn="l" pos="0"/>
              </a:tabLst>
            </a:pPr>
            <a:r>
              <a:rPr b="0" lang="en-US" sz="2000" spc="-1" strike="noStrike">
                <a:latin typeface="Arial"/>
              </a:rPr>
              <a:t>- Resultado: se envían filas al cliente por TDS en paquetes (4096 bytes por defecto). Un cliente lento consumiendo resultados provoca la espera ASYNC_NETWORK_IO, que no es un problema del servidor.</a:t>
            </a:r>
            <a:endParaRPr b="0" lang="es-ES" sz="2000" spc="-1" strike="noStrike">
              <a:latin typeface="Arial"/>
            </a:endParaRPr>
          </a:p>
          <a:p>
            <a:pPr marL="216000" indent="-214200">
              <a:lnSpc>
                <a:spcPct val="100000"/>
              </a:lnSpc>
              <a:tabLst>
                <a:tab algn="l" pos="0"/>
              </a:tabLst>
            </a:pPr>
            <a:r>
              <a:rPr b="0" lang="en-US" sz="2000" spc="-1" strike="noStrike">
                <a:latin typeface="Arial"/>
              </a:rPr>
              <a:t>- El plan cache se vacía al reiniciar, con DBCC FREEPROCCACHE o por presión de memoria. Consultas ad hoc con literales distintos generan un plan por cada variante (plan cache bloat); la parametrización lo evita.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¿Por qué la primera ejecución de una consulta suele ser más lenta que las siguientes? (Compilación + lecturas físicas.)</a:t>
            </a:r>
            <a:endParaRPr b="0" lang="es-ES" sz="2000" spc="-1" strike="noStrike">
              <a:latin typeface="Arial"/>
            </a:endParaRPr>
          </a:p>
          <a:p>
            <a:pPr marL="216000" indent="-213840">
              <a:lnSpc>
                <a:spcPct val="100000"/>
              </a:lnSpc>
              <a:tabLst>
                <a:tab algn="l" pos="0"/>
              </a:tabLst>
            </a:pPr>
            <a:r>
              <a:rPr b="0" lang="en-US" sz="2000" spc="-1" strike="noStrike">
                <a:latin typeface="Arial"/>
              </a:rPr>
              <a:t>- ¿Qué ventaja tiene que el plan quede cacheado y qué riesgo introduce? (Parameter sniffing, se verá en el Módulo 2.)</a:t>
            </a:r>
            <a:endParaRPr b="0" lang="es-ES" sz="2000" spc="-1" strike="noStrike">
              <a:latin typeface="Arial"/>
            </a:endParaRPr>
          </a:p>
        </p:txBody>
      </p:sp>
      <p:sp>
        <p:nvSpPr>
          <p:cNvPr id="2046"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00AD3EA6-E1E0-468C-BB17-97083D270E30}"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7" name="PlaceHolder 1"/>
          <p:cNvSpPr>
            <a:spLocks noGrp="1"/>
          </p:cNvSpPr>
          <p:nvPr>
            <p:ph type="sldImg"/>
          </p:nvPr>
        </p:nvSpPr>
        <p:spPr>
          <a:xfrm>
            <a:off x="685800" y="1143000"/>
            <a:ext cx="5483880" cy="3083760"/>
          </a:xfrm>
          <a:prstGeom prst="rect">
            <a:avLst/>
          </a:prstGeom>
        </p:spPr>
      </p:sp>
      <p:sp>
        <p:nvSpPr>
          <p:cNvPr id="2048"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Entender que SQL Server usa casi toda la memoria disponible por diseño, qué se guarda en ella y cómo limitarla correctamente.</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El Buffer Pool es la mayor parte de la memoria de la instancia: caché de páginas de datos (8 KB). Leer de memoria cuesta microsegundos, de disco milisegundos. Por eso SQL Server "se come" la RAM: es su comportamiento normal, no una fuga.</a:t>
            </a:r>
            <a:endParaRPr b="0" lang="es-ES" sz="2000" spc="-1" strike="noStrike">
              <a:latin typeface="Arial"/>
            </a:endParaRPr>
          </a:p>
          <a:p>
            <a:pPr marL="216000" indent="-214200">
              <a:lnSpc>
                <a:spcPct val="100000"/>
              </a:lnSpc>
              <a:tabLst>
                <a:tab algn="l" pos="0"/>
              </a:tabLst>
            </a:pPr>
            <a:r>
              <a:rPr b="0" lang="en-US" sz="2000" spc="-1" strike="noStrike">
                <a:latin typeface="Arial"/>
              </a:rPr>
              <a:t>- El Plan Cache guarda planes compilados. Otras cachés: Memory Grants (workspace para sorts y hashes), caché de metadatos y de bloqueos.</a:t>
            </a:r>
            <a:endParaRPr b="0" lang="es-ES" sz="2000" spc="-1" strike="noStrike">
              <a:latin typeface="Arial"/>
            </a:endParaRPr>
          </a:p>
          <a:p>
            <a:pPr marL="216000" indent="-214200">
              <a:lnSpc>
                <a:spcPct val="100000"/>
              </a:lnSpc>
              <a:tabLst>
                <a:tab algn="l" pos="0"/>
              </a:tabLst>
            </a:pPr>
            <a:r>
              <a:rPr b="0" lang="en-US" sz="2000" spc="-1" strike="noStrike">
                <a:latin typeface="Arial"/>
              </a:rPr>
              <a:t>- Página sucia (dirty page): modificada en memoria y aún no escrita en el .mdf. Dos procesos las escriben: Checkpoint (periódico, controla el tiempo de recuperación; objetivo por defecto 60 s en BD nuevas) y Lazy Writer (libera páginas cuando hay presión de memoria).</a:t>
            </a:r>
            <a:endParaRPr b="0" lang="es-ES" sz="2000" spc="-1" strike="noStrike">
              <a:latin typeface="Arial"/>
            </a:endParaRPr>
          </a:p>
          <a:p>
            <a:pPr marL="216000" indent="-214200">
              <a:lnSpc>
                <a:spcPct val="100000"/>
              </a:lnSpc>
              <a:tabLst>
                <a:tab algn="l" pos="0"/>
              </a:tabLst>
            </a:pPr>
            <a:r>
              <a:rPr b="0" lang="en-US" sz="2000" spc="-1" strike="noStrike">
                <a:latin typeface="Arial"/>
              </a:rPr>
              <a:t>- max server memory: por defecto 2.147.483.647 MB (sin límite). En producción hay que fijarlo dejando memoria al SO y otros procesos (regla de partida: 10-20% o al menos 4 GB, más si hay otras instancias o servicios). Sin límite, el SO puede paginar y el rendimiento se degrada.</a:t>
            </a:r>
            <a:endParaRPr b="0" lang="es-ES" sz="2000" spc="-1" strike="noStrike">
              <a:latin typeface="Arial"/>
            </a:endParaRPr>
          </a:p>
          <a:p>
            <a:pPr marL="216000" indent="-214200">
              <a:lnSpc>
                <a:spcPct val="100000"/>
              </a:lnSpc>
              <a:tabLst>
                <a:tab algn="l" pos="0"/>
              </a:tabLst>
            </a:pPr>
            <a:r>
              <a:rPr b="0" lang="en-US" sz="2000" spc="-1" strike="noStrike">
                <a:latin typeface="Arial"/>
              </a:rPr>
              <a:t>- Indicadores: Page Life Expectancy (PLE) y Buffer Cache Hit Ratio; el segundo es engañoso. Lo más fiable: esperas PAGEIOLATCH y tasa de lecturas físicas.</a:t>
            </a:r>
            <a:endParaRPr b="0" lang="es-ES" sz="2000" spc="-1" strike="noStrike">
              <a:latin typeface="Arial"/>
            </a:endParaRPr>
          </a:p>
          <a:p>
            <a:pPr marL="216000" indent="-214200">
              <a:lnSpc>
                <a:spcPct val="100000"/>
              </a:lnSpc>
              <a:tabLst>
                <a:tab algn="l" pos="0"/>
              </a:tabLst>
            </a:pPr>
            <a:r>
              <a:rPr b="0" lang="en-US" sz="2000" spc="-1" strike="noStrike">
                <a:latin typeface="Arial"/>
              </a:rPr>
              <a:t>- En virtualización, recomendar reservar la memoria (memory reservation) para evitar ballooning, que quita memoria al Buffer Pool sin que SQL Server lo sepa.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El administrador del sistema dice "SQL Server usa el 95% de la RAM, hay una fuga". ¿Qué respondéis?</a:t>
            </a:r>
            <a:endParaRPr b="0" lang="es-ES" sz="2000" spc="-1" strike="noStrike">
              <a:latin typeface="Arial"/>
            </a:endParaRPr>
          </a:p>
          <a:p>
            <a:pPr marL="216000" indent="-214200">
              <a:lnSpc>
                <a:spcPct val="100000"/>
              </a:lnSpc>
              <a:tabLst>
                <a:tab algn="l" pos="0"/>
              </a:tabLst>
            </a:pPr>
            <a:r>
              <a:rPr b="0" lang="en-US" sz="2000" spc="-1" strike="noStrike">
                <a:latin typeface="Arial"/>
              </a:rPr>
              <a:t>- ¿Qué diferencia hay entre Checkpoint y Lazy Writer?</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Instrucciones de Laboratorio:</a:t>
            </a:r>
            <a:endParaRPr b="0" lang="es-ES" sz="2000" spc="-1" strike="noStrike">
              <a:latin typeface="Arial"/>
            </a:endParaRPr>
          </a:p>
          <a:p>
            <a:pPr marL="216000" indent="-213840">
              <a:lnSpc>
                <a:spcPct val="100000"/>
              </a:lnSpc>
              <a:tabLst>
                <a:tab algn="l" pos="0"/>
              </a:tabLst>
            </a:pPr>
            <a:r>
              <a:rPr b="0" lang="en-US" sz="2000" spc="-1" strike="noStrike">
                <a:latin typeface="Arial"/>
              </a:rPr>
              <a:t>- Opcional (demo): consultar sys.dm_os_sys_memory y sys.dm_os_process_memory; cambiar max server memory y observar cómo cambia el valor de Target Server Memory en sys.dm_os_performance_counters.</a:t>
            </a:r>
            <a:endParaRPr b="0" lang="es-ES" sz="2000" spc="-1" strike="noStrike">
              <a:latin typeface="Arial"/>
            </a:endParaRPr>
          </a:p>
        </p:txBody>
      </p:sp>
      <p:sp>
        <p:nvSpPr>
          <p:cNvPr id="2049"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FD6A4E18-B6DC-404E-9779-41380BB3182C}"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0" name="PlaceHolder 1"/>
          <p:cNvSpPr>
            <a:spLocks noGrp="1"/>
          </p:cNvSpPr>
          <p:nvPr>
            <p:ph type="sldImg"/>
          </p:nvPr>
        </p:nvSpPr>
        <p:spPr>
          <a:xfrm>
            <a:off x="685800" y="1143000"/>
            <a:ext cx="5483880" cy="3083760"/>
          </a:xfrm>
          <a:prstGeom prst="rect">
            <a:avLst/>
          </a:prstGeom>
        </p:spPr>
      </p:sp>
      <p:sp>
        <p:nvSpPr>
          <p:cNvPr id="2051"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Conocer la unidad básica de almacenamiento (página de 8 KB) y su agrupación en extensiones, y relacionarlas con ficheros y log.</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Página = 8 KB (8192 bytes), unidad mínima de E/S. Estructura: cabecera de 96 bytes (tipo de página, ids, LSN, contadores), área de filas, y un array de desplazamientos de fila al final (2 bytes por fila) que crece hacia arriba.</a:t>
            </a:r>
            <a:endParaRPr b="0" lang="es-ES" sz="2000" spc="-1" strike="noStrike">
              <a:latin typeface="Arial"/>
            </a:endParaRPr>
          </a:p>
          <a:p>
            <a:pPr marL="216000" indent="-214200">
              <a:lnSpc>
                <a:spcPct val="100000"/>
              </a:lnSpc>
              <a:tabLst>
                <a:tab algn="l" pos="0"/>
              </a:tabLst>
            </a:pPr>
            <a:r>
              <a:rPr b="0" lang="en-US" sz="2000" spc="-1" strike="noStrike">
                <a:latin typeface="Arial"/>
              </a:rPr>
              <a:t>- Máximo 8060 bytes de datos de fila en página (no LOB). Si las columnas variables exceden, se mueven a páginas ROW_OVERFLOW; los LOB (varchar(max), xml, etc.) van a páginas LOB_DATA.</a:t>
            </a:r>
            <a:endParaRPr b="0" lang="es-ES" sz="2000" spc="-1" strike="noStrike">
              <a:latin typeface="Arial"/>
            </a:endParaRPr>
          </a:p>
          <a:p>
            <a:pPr marL="216000" indent="-214200">
              <a:lnSpc>
                <a:spcPct val="100000"/>
              </a:lnSpc>
              <a:tabLst>
                <a:tab algn="l" pos="0"/>
              </a:tabLst>
            </a:pPr>
            <a:r>
              <a:rPr b="0" lang="en-US" sz="2000" spc="-1" strike="noStrike">
                <a:latin typeface="Arial"/>
              </a:rPr>
              <a:t>- Extensión = 8 páginas contiguas = 64 KB, unidad de asignación. Mixtas (comparten objetos distintos; las primeras 8 páginas de un objeto en versiones antiguas) y uniformes (un solo objeto). Desde SQL Server 2016, la opción por defecto en BD de usuario es asignar extensiones uniformes (MIXED_PAGE_ALLOCATION OFF).</a:t>
            </a:r>
            <a:endParaRPr b="0" lang="es-ES" sz="2000" spc="-1" strike="noStrike">
              <a:latin typeface="Arial"/>
            </a:endParaRPr>
          </a:p>
          <a:p>
            <a:pPr marL="216000" indent="-214200">
              <a:lnSpc>
                <a:spcPct val="100000"/>
              </a:lnSpc>
              <a:tabLst>
                <a:tab algn="l" pos="0"/>
              </a:tabLst>
            </a:pPr>
            <a:r>
              <a:rPr b="0" lang="en-US" sz="2000" spc="-1" strike="noStrike">
                <a:latin typeface="Arial"/>
              </a:rPr>
              <a:t>- Tipos de página de asignación: PFS (espacio libre), GAM/SGAM (qué extensiones están libres/mixtas), IAM (qué extensiones pertenecen a un objeto). Importante en tempdb: contención en PFS/GAM/SGAM.</a:t>
            </a:r>
            <a:endParaRPr b="0" lang="es-ES" sz="2000" spc="-1" strike="noStrike">
              <a:latin typeface="Arial"/>
            </a:endParaRPr>
          </a:p>
          <a:p>
            <a:pPr marL="216000" indent="-214200">
              <a:lnSpc>
                <a:spcPct val="100000"/>
              </a:lnSpc>
              <a:tabLst>
                <a:tab algn="l" pos="0"/>
              </a:tabLst>
            </a:pPr>
            <a:r>
              <a:rPr b="0" lang="en-US" sz="2000" spc="-1" strike="noStrike">
                <a:latin typeface="Arial"/>
              </a:rPr>
              <a:t>- Demostración: DBCC IND / sys.dm_db_database_page_allocations y DBCC PAGE (con TRACE FLAG 3604) para ver una página real; muy ilustrativo en el laboratorio avanzado.</a:t>
            </a:r>
            <a:endParaRPr b="0" lang="es-ES" sz="2000" spc="-1" strike="noStrike">
              <a:latin typeface="Arial"/>
            </a:endParaRPr>
          </a:p>
          <a:p>
            <a:pPr marL="216000" indent="-214200">
              <a:lnSpc>
                <a:spcPct val="100000"/>
              </a:lnSpc>
              <a:tabLst>
                <a:tab algn="l" pos="0"/>
              </a:tabLst>
            </a:pPr>
            <a:r>
              <a:rPr b="0" lang="en-US" sz="2000" spc="-1" strike="noStrike">
                <a:latin typeface="Arial"/>
              </a:rPr>
              <a:t>- Consecuencia práctica: leer una fila implica leer una página entera. Filas anchas = menos filas por página = más E/S. El diseño de tablas importa.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¿Cuántas filas de 200 bytes caben aproximadamente en una página? (≈ 40.)</a:t>
            </a:r>
            <a:endParaRPr b="0" lang="es-ES" sz="2000" spc="-1" strike="noStrike">
              <a:latin typeface="Arial"/>
            </a:endParaRPr>
          </a:p>
          <a:p>
            <a:pPr marL="216000" indent="-213840">
              <a:lnSpc>
                <a:spcPct val="100000"/>
              </a:lnSpc>
              <a:tabLst>
                <a:tab algn="l" pos="0"/>
              </a:tabLst>
            </a:pPr>
            <a:r>
              <a:rPr b="0" lang="en-US" sz="2000" spc="-1" strike="noStrike">
                <a:latin typeface="Arial"/>
              </a:rPr>
              <a:t>- ¿Por qué un SELECT de una sola fila puede acabar leyendo 8 KB o más?</a:t>
            </a:r>
            <a:endParaRPr b="0" lang="es-ES" sz="2000" spc="-1" strike="noStrike">
              <a:latin typeface="Arial"/>
            </a:endParaRPr>
          </a:p>
        </p:txBody>
      </p:sp>
      <p:sp>
        <p:nvSpPr>
          <p:cNvPr id="2052"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D5D7BC84-CD3D-4654-A0E7-C888608E215D}"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3" name="PlaceHolder 1"/>
          <p:cNvSpPr>
            <a:spLocks noGrp="1"/>
          </p:cNvSpPr>
          <p:nvPr>
            <p:ph type="sldImg"/>
          </p:nvPr>
        </p:nvSpPr>
        <p:spPr>
          <a:xfrm>
            <a:off x="685800" y="1143000"/>
            <a:ext cx="5483880" cy="3083760"/>
          </a:xfrm>
          <a:prstGeom prst="rect">
            <a:avLst/>
          </a:prstGeom>
        </p:spPr>
      </p:sp>
      <p:sp>
        <p:nvSpPr>
          <p:cNvPr id="2054"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Distinguir los tres tipos de fichero, el concepto de filegroup y las prácticas correctas de tamaño y crecimiento.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Toda base de datos tiene al menos un fichero de datos primario (.mdf, con el catálogo de la BD) y un fichero de log (.ldf). Los secundarios (.ndf) son opcionales y se agrupan en filegroups.</a:t>
            </a:r>
            <a:endParaRPr b="0" lang="es-ES" sz="2000" spc="-1" strike="noStrike">
              <a:latin typeface="Arial"/>
            </a:endParaRPr>
          </a:p>
          <a:p>
            <a:pPr marL="216000" indent="-214200">
              <a:lnSpc>
                <a:spcPct val="100000"/>
              </a:lnSpc>
              <a:tabLst>
                <a:tab algn="l" pos="0"/>
              </a:tabLst>
            </a:pPr>
            <a:r>
              <a:rPr b="0" lang="en-US" sz="2000" spc="-1" strike="noStrike">
                <a:latin typeface="Arial"/>
              </a:rPr>
              <a:t>- Filegroup: unidad lógica de administración. PRIMARY es el predeterminado. Sirven para repartir E/S entre discos, restaurar parcialmente (piecemeal restore), colocar tablas calientes en almacenamiento rápido o particionar tablas.</a:t>
            </a:r>
            <a:endParaRPr b="0" lang="es-ES" sz="2000" spc="-1" strike="noStrike">
              <a:latin typeface="Arial"/>
            </a:endParaRPr>
          </a:p>
          <a:p>
            <a:pPr marL="216000" indent="-214200">
              <a:lnSpc>
                <a:spcPct val="100000"/>
              </a:lnSpc>
              <a:tabLst>
                <a:tab algn="l" pos="0"/>
              </a:tabLst>
            </a:pPr>
            <a:r>
              <a:rPr b="0" lang="en-US" sz="2000" spc="-1" strike="noStrike">
                <a:latin typeface="Arial"/>
              </a:rPr>
              <a:t>- Los ficheros de un mismo filegroup se llenan por el algoritmo proportional fill: más espacio libre = más escrituras. Por eso conviene que tengan el mismo tamaño y el mismo crecimiento.</a:t>
            </a:r>
            <a:endParaRPr b="0" lang="es-ES" sz="2000" spc="-1" strike="noStrike">
              <a:latin typeface="Arial"/>
            </a:endParaRPr>
          </a:p>
          <a:p>
            <a:pPr marL="216000" indent="-214200">
              <a:lnSpc>
                <a:spcPct val="100000"/>
              </a:lnSpc>
              <a:tabLst>
                <a:tab algn="l" pos="0"/>
              </a:tabLst>
            </a:pPr>
            <a:r>
              <a:rPr b="0" lang="en-US" sz="2000" spc="-1" strike="noStrike">
                <a:latin typeface="Arial"/>
              </a:rPr>
              <a:t>- Autogrowth: configúralo siempre en MB fijos (p. ej. 256-512 MB para datos grandes) y no en porcentaje, porque crecer un 10% de un fichero de 500 GB son 50 GB bloqueando operaciones. El tamaño inicial debe estimarse para evitar crecimientos frecuentes.</a:t>
            </a:r>
            <a:endParaRPr b="0" lang="es-ES" sz="2000" spc="-1" strike="noStrike">
              <a:latin typeface="Arial"/>
            </a:endParaRPr>
          </a:p>
          <a:p>
            <a:pPr marL="216000" indent="-214200">
              <a:lnSpc>
                <a:spcPct val="100000"/>
              </a:lnSpc>
              <a:tabLst>
                <a:tab algn="l" pos="0"/>
              </a:tabLst>
            </a:pPr>
            <a:r>
              <a:rPr b="0" lang="en-US" sz="2000" spc="-1" strike="noStrike">
                <a:latin typeface="Arial"/>
              </a:rPr>
              <a:t>- Instant File Initialization (IFI): el privilegio "Perform volume maintenance tasks" evita poner a cero los ficheros de datos al crecer o restaurar (el log siempre se pone a cero, salvo mejoras recientes de 2022 para crecimientos pequeños). Reduce drásticamente el tiempo de restauración.</a:t>
            </a:r>
            <a:endParaRPr b="0" lang="es-ES" sz="2000" spc="-1" strike="noStrike">
              <a:latin typeface="Arial"/>
            </a:endParaRPr>
          </a:p>
          <a:p>
            <a:pPr marL="216000" indent="-214200">
              <a:lnSpc>
                <a:spcPct val="100000"/>
              </a:lnSpc>
              <a:tabLst>
                <a:tab algn="l" pos="0"/>
              </a:tabLst>
            </a:pPr>
            <a:r>
              <a:rPr b="0" lang="en-US" sz="2000" spc="-1" strike="noStrike">
                <a:latin typeface="Arial"/>
              </a:rPr>
              <a:t>- Un solo fichero de log por BD es suficiente: se escribe de forma secuencial; añadir más ficheros no mejora el rendimiento, sólo complica la gestión.</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¿Por qué un autogrowth del 10% es una mala práctica en un fichero grande?</a:t>
            </a:r>
            <a:endParaRPr b="0" lang="es-ES" sz="2000" spc="-1" strike="noStrike">
              <a:latin typeface="Arial"/>
            </a:endParaRPr>
          </a:p>
          <a:p>
            <a:pPr marL="216000" indent="-213840">
              <a:lnSpc>
                <a:spcPct val="100000"/>
              </a:lnSpc>
              <a:tabLst>
                <a:tab algn="l" pos="0"/>
              </a:tabLst>
            </a:pPr>
            <a:r>
              <a:rPr b="0" lang="en-US" sz="2000" spc="-1" strike="noStrike">
                <a:latin typeface="Arial"/>
              </a:rPr>
              <a:t>- ¿Qué ventaja tiene separar tablas en distintos filegroups si todos los discos son el mismo array?</a:t>
            </a:r>
            <a:endParaRPr b="0" lang="es-ES" sz="2000" spc="-1" strike="noStrike">
              <a:latin typeface="Arial"/>
            </a:endParaRPr>
          </a:p>
        </p:txBody>
      </p:sp>
      <p:sp>
        <p:nvSpPr>
          <p:cNvPr id="2055"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B0E00A92-8254-41BE-9C84-47A9C62F3D31}"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6" name="PlaceHolder 1"/>
          <p:cNvSpPr>
            <a:spLocks noGrp="1"/>
          </p:cNvSpPr>
          <p:nvPr>
            <p:ph type="sldImg"/>
          </p:nvPr>
        </p:nvSpPr>
        <p:spPr>
          <a:xfrm>
            <a:off x="685800" y="1143000"/>
            <a:ext cx="5483880" cy="3083760"/>
          </a:xfrm>
          <a:prstGeom prst="rect">
            <a:avLst/>
          </a:prstGeom>
        </p:spPr>
      </p:sp>
      <p:sp>
        <p:nvSpPr>
          <p:cNvPr id="2057"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Entender el protocolo Write-Ahead Logging, por qué COMMIT sólo espera al log, y cómo el log se divide en VLFs que se reutilizan.</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WAL (Write-Ahead Logging): antes de modificar una página de datos en disco, el registro de log que describe el cambio debe estar en disco. Al hacer COMMIT, SQL Server sólo espera a que el log esté persistido (flush); las páginas de datos modificadas se escriben después por Checkpoint/Lazy Writer.</a:t>
            </a:r>
            <a:endParaRPr b="0" lang="es-ES" sz="2000" spc="-1" strike="noStrike">
              <a:latin typeface="Arial"/>
            </a:endParaRPr>
          </a:p>
          <a:p>
            <a:pPr marL="216000" indent="-214200">
              <a:lnSpc>
                <a:spcPct val="100000"/>
              </a:lnSpc>
              <a:tabLst>
                <a:tab algn="l" pos="0"/>
              </a:tabLst>
            </a:pPr>
            <a:r>
              <a:rPr b="0" lang="en-US" sz="2000" spc="-1" strike="noStrike">
                <a:latin typeface="Arial"/>
              </a:rPr>
              <a:t>- Por eso, ante un fallo, la recuperación (crash recovery) rehace (REDO) transacciones confirmadas cuyas páginas no llegaron al disco y deshace (UNDO) las no confirmadas. Es la base de la durabilidad (D de ACID).</a:t>
            </a:r>
            <a:endParaRPr b="0" lang="es-ES" sz="2000" spc="-1" strike="noStrike">
              <a:latin typeface="Arial"/>
            </a:endParaRPr>
          </a:p>
          <a:p>
            <a:pPr marL="216000" indent="-214200">
              <a:lnSpc>
                <a:spcPct val="100000"/>
              </a:lnSpc>
              <a:tabLst>
                <a:tab algn="l" pos="0"/>
              </a:tabLst>
            </a:pPr>
            <a:r>
              <a:rPr b="0" lang="en-US" sz="2000" spc="-1" strike="noStrike">
                <a:latin typeface="Arial"/>
              </a:rPr>
              <a:t>- El log es una secuencia lógica de registros identificados por un LSN. Internamente se divide en Virtual Log Files (VLFs). El motor reutiliza los VLFs ya no necesarios; un VLF no se puede reutilizar mientras contenga log activo (transacciones abiertas, replicación pendiente, backup de log pendiente, AG…).</a:t>
            </a:r>
            <a:endParaRPr b="0" lang="es-ES" sz="2000" spc="-1" strike="noStrike">
              <a:latin typeface="Arial"/>
            </a:endParaRPr>
          </a:p>
          <a:p>
            <a:pPr marL="216000" indent="-214200">
              <a:lnSpc>
                <a:spcPct val="100000"/>
              </a:lnSpc>
              <a:tabLst>
                <a:tab algn="l" pos="0"/>
              </a:tabLst>
            </a:pPr>
            <a:r>
              <a:rPr b="0" lang="en-US" sz="2000" spc="-1" strike="noStrike">
                <a:latin typeface="Arial"/>
              </a:rPr>
              <a:t>- Qué libera log: en modelo SIMPLE, un checkpoint; en FULL/BULK_LOGGED, un backup de log. Si el log crece sin parar en FULL y no hay backups de log, la causa es esa (se verá con log_reuse_wait_desc en Módulo 4).</a:t>
            </a:r>
            <a:endParaRPr b="0" lang="es-ES" sz="2000" spc="-1" strike="noStrike">
              <a:latin typeface="Arial"/>
            </a:endParaRPr>
          </a:p>
          <a:p>
            <a:pPr marL="216000" indent="-214200">
              <a:lnSpc>
                <a:spcPct val="100000"/>
              </a:lnSpc>
              <a:tabLst>
                <a:tab algn="l" pos="0"/>
              </a:tabLst>
            </a:pPr>
            <a:r>
              <a:rPr b="0" lang="en-US" sz="2000" spc="-1" strike="noStrike">
                <a:latin typeface="Arial"/>
              </a:rPr>
              <a:t>- Demasiados VLFs (miles) por autogrowths pequeños ralentizan el arranque, la recuperación y los backups de log. Se mide con sys.dm_db_log_info (SQL Server 2016 SP2 en adelante).</a:t>
            </a:r>
            <a:endParaRPr b="0" lang="es-ES" sz="2000" spc="-1" strike="noStrike">
              <a:latin typeface="Arial"/>
            </a:endParaRPr>
          </a:p>
          <a:p>
            <a:pPr marL="216000" indent="-214200">
              <a:lnSpc>
                <a:spcPct val="100000"/>
              </a:lnSpc>
              <a:tabLst>
                <a:tab algn="l" pos="0"/>
              </a:tabLst>
            </a:pPr>
            <a:r>
              <a:rPr b="0" lang="en-US" sz="2000" spc="-1" strike="noStrike">
                <a:latin typeface="Arial"/>
              </a:rPr>
              <a:t>- ADR (Accelerated Database Recovery, 2019): mantiene un version store persistente para que la recuperación y el rollback sean casi instantáneos, independientemente del tamaño de la transacción.</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Si el servidor se apaga justo después de un COMMIT, ¿cómo es posible que el dato no se pierda aunque la página de datos no se haya escrito?</a:t>
            </a:r>
            <a:endParaRPr b="0" lang="es-ES" sz="2000" spc="-1" strike="noStrike">
              <a:latin typeface="Arial"/>
            </a:endParaRPr>
          </a:p>
          <a:p>
            <a:pPr marL="216000" indent="-213840">
              <a:lnSpc>
                <a:spcPct val="100000"/>
              </a:lnSpc>
              <a:tabLst>
                <a:tab algn="l" pos="0"/>
              </a:tabLst>
            </a:pPr>
            <a:r>
              <a:rPr b="0" lang="en-US" sz="2000" spc="-1" strike="noStrike">
                <a:latin typeface="Arial"/>
              </a:rPr>
              <a:t>- ¿Por qué un SELECT grande no genera log pero un UPDATE grande sí?</a:t>
            </a:r>
            <a:endParaRPr b="0" lang="es-ES" sz="2000" spc="-1" strike="noStrike">
              <a:latin typeface="Arial"/>
            </a:endParaRPr>
          </a:p>
        </p:txBody>
      </p:sp>
      <p:sp>
        <p:nvSpPr>
          <p:cNvPr id="2058"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00FACCD9-1AD6-46E7-A5C0-FB7B8837D873}"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9" name="PlaceHolder 1"/>
          <p:cNvSpPr>
            <a:spLocks noGrp="1"/>
          </p:cNvSpPr>
          <p:nvPr>
            <p:ph type="sldImg"/>
          </p:nvPr>
        </p:nvSpPr>
        <p:spPr>
          <a:xfrm>
            <a:off x="685800" y="1143000"/>
            <a:ext cx="5483880" cy="3083760"/>
          </a:xfrm>
          <a:prstGeom prst="rect">
            <a:avLst/>
          </a:prstGeom>
        </p:spPr>
      </p:sp>
      <p:sp>
        <p:nvSpPr>
          <p:cNvPr id="2060"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Entender qué es una instancia, cómo se identifican y conectan, y por qué se usan varias en un mismo servidor.</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Una instancia es una copia independiente del motor (procesos, memoria, bases del sistema, cuentas, configuración). Un servidor puede alojar una instancia predeterminada (MSSQLSERVER) y hasta 50 con nombre.</a:t>
            </a:r>
            <a:endParaRPr b="0" lang="es-ES" sz="2000" spc="-1" strike="noStrike">
              <a:latin typeface="Arial"/>
            </a:endParaRPr>
          </a:p>
          <a:p>
            <a:pPr marL="216000" indent="-214200">
              <a:lnSpc>
                <a:spcPct val="100000"/>
              </a:lnSpc>
              <a:tabLst>
                <a:tab algn="l" pos="0"/>
              </a:tabLst>
            </a:pPr>
            <a:r>
              <a:rPr b="0" lang="en-US" sz="2000" spc="-1" strike="noStrike">
                <a:latin typeface="Arial"/>
              </a:rPr>
              <a:t>- Conexión: la predeterminada se accede por nombre de servidor (puerto TCP 1433 por defecto); las nombradas como SERVIDOR\INSTANCIA, normalmente con puerto dinámico que resuelve el servicio SQL Server Browser (UDP 1434). En entornos con cortafuegos se recomienda fijar puerto estático.</a:t>
            </a:r>
            <a:endParaRPr b="0" lang="es-ES" sz="2000" spc="-1" strike="noStrike">
              <a:latin typeface="Arial"/>
            </a:endParaRPr>
          </a:p>
          <a:p>
            <a:pPr marL="216000" indent="-214200">
              <a:lnSpc>
                <a:spcPct val="100000"/>
              </a:lnSpc>
              <a:tabLst>
                <a:tab algn="l" pos="0"/>
              </a:tabLst>
            </a:pPr>
            <a:r>
              <a:rPr b="0" lang="en-US" sz="2000" spc="-1" strike="noStrike">
                <a:latin typeface="Arial"/>
              </a:rPr>
              <a:t>- Casos de uso: aislar versiones o parches, separar entornos (desarrollo/preproducción), aislar cargas, separar administración y seguridad. Contrapartida: más memoria y CPU repartidas manualmente; hay que fijar max server memory por instancia.</a:t>
            </a:r>
            <a:endParaRPr b="0" lang="es-ES" sz="2000" spc="-1" strike="noStrike">
              <a:latin typeface="Arial"/>
            </a:endParaRPr>
          </a:p>
          <a:p>
            <a:pPr marL="216000" indent="-214200">
              <a:lnSpc>
                <a:spcPct val="100000"/>
              </a:lnSpc>
              <a:tabLst>
                <a:tab algn="l" pos="0"/>
              </a:tabLst>
            </a:pPr>
            <a:r>
              <a:rPr b="0" lang="en-US" sz="2000" spc="-1" strike="noStrike">
                <a:latin typeface="Arial"/>
              </a:rPr>
              <a:t>- SERVERPROPERTY devuelve metadatos: InstanceName, Edition, ProductVersion, ProductLevel, IsClustered, etc. Es la forma estándar de inventariar instancias con T-SQL.</a:t>
            </a:r>
            <a:endParaRPr b="0" lang="es-ES" sz="2000" spc="-1" strike="noStrike">
              <a:latin typeface="Arial"/>
            </a:endParaRPr>
          </a:p>
          <a:p>
            <a:pPr marL="216000" indent="-214200">
              <a:lnSpc>
                <a:spcPct val="100000"/>
              </a:lnSpc>
              <a:tabLst>
                <a:tab algn="l" pos="0"/>
              </a:tabLst>
            </a:pPr>
            <a:r>
              <a:rPr b="0" lang="en-US" sz="2000" spc="-1" strike="noStrike">
                <a:latin typeface="Arial"/>
              </a:rPr>
              <a:t>- Cada instancia tiene su cuenta de servicio. Recomendación: cuentas de dominio dedicadas o gMSA (Group Managed Service Accounts), nunca LocalSystem.</a:t>
            </a:r>
            <a:endParaRPr b="0" lang="es-ES" sz="2000" spc="-1" strike="noStrike">
              <a:latin typeface="Arial"/>
            </a:endParaRPr>
          </a:p>
          <a:p>
            <a:pPr marL="216000" indent="-214200">
              <a:lnSpc>
                <a:spcPct val="100000"/>
              </a:lnSpc>
              <a:tabLst>
                <a:tab algn="l" pos="0"/>
              </a:tabLst>
            </a:pPr>
            <a:r>
              <a:rPr b="0" lang="en-US" sz="2000" spc="-1" strike="noStrike">
                <a:latin typeface="Arial"/>
              </a:rPr>
              <a:t>- En contenedores Docker, cada contenedor es de hecho una instancia aislada: es la forma más cómoda de tener varias versiones para pruebas.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¿En qué caso elegirías dos instancias en el mismo servidor frente a dos servidores?</a:t>
            </a:r>
            <a:endParaRPr b="0" lang="es-ES" sz="2000" spc="-1" strike="noStrike">
              <a:latin typeface="Arial"/>
            </a:endParaRPr>
          </a:p>
          <a:p>
            <a:pPr marL="216000" indent="-213840">
              <a:lnSpc>
                <a:spcPct val="100000"/>
              </a:lnSpc>
              <a:tabLst>
                <a:tab algn="l" pos="0"/>
              </a:tabLst>
            </a:pPr>
            <a:r>
              <a:rPr b="0" lang="en-US" sz="2000" spc="-1" strike="noStrike">
                <a:latin typeface="Arial"/>
              </a:rPr>
              <a:t>- ¿Qué ocurre si el servicio SQL Server Browser está parado y te conectas a una instancia con nombre sin indicar puerto?</a:t>
            </a:r>
            <a:endParaRPr b="0" lang="es-ES" sz="2000" spc="-1" strike="noStrike">
              <a:latin typeface="Arial"/>
            </a:endParaRPr>
          </a:p>
        </p:txBody>
      </p:sp>
      <p:sp>
        <p:nvSpPr>
          <p:cNvPr id="2061"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E51467D0-A96F-4098-9A76-139278D64480}"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2" name="PlaceHolder 1"/>
          <p:cNvSpPr>
            <a:spLocks noGrp="1"/>
          </p:cNvSpPr>
          <p:nvPr>
            <p:ph type="sldImg"/>
          </p:nvPr>
        </p:nvSpPr>
        <p:spPr>
          <a:xfrm>
            <a:off x="685800" y="1143000"/>
            <a:ext cx="5483880" cy="3083760"/>
          </a:xfrm>
          <a:prstGeom prst="rect">
            <a:avLst/>
          </a:prstGeom>
        </p:spPr>
      </p:sp>
      <p:sp>
        <p:nvSpPr>
          <p:cNvPr id="2063"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Conocer la función de cada base de datos del sistema, su criticidad y qué incluir en la política de backups.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master: catálogo de la instancia (logins, configuración, endpoints, ubicación de ficheros de todas las BD). Si se pierde, la instancia no arranca. Backup obligatorio tras cualquier cambio de logins o configuración.</a:t>
            </a:r>
            <a:endParaRPr b="0" lang="es-ES" sz="2000" spc="-1" strike="noStrike">
              <a:latin typeface="Arial"/>
            </a:endParaRPr>
          </a:p>
          <a:p>
            <a:pPr marL="216000" indent="-214200">
              <a:lnSpc>
                <a:spcPct val="100000"/>
              </a:lnSpc>
              <a:tabLst>
                <a:tab algn="l" pos="0"/>
              </a:tabLst>
            </a:pPr>
            <a:r>
              <a:rPr b="0" lang="en-US" sz="2000" spc="-1" strike="noStrike">
                <a:latin typeface="Arial"/>
              </a:rPr>
              <a:t>- model: plantilla para CREATE DATABASE; sus propiedades (modelo de recuperación, tamaño, autogrowth) se heredan. También lo es para tempdb en cada reinicio.</a:t>
            </a:r>
            <a:endParaRPr b="0" lang="es-ES" sz="2000" spc="-1" strike="noStrike">
              <a:latin typeface="Arial"/>
            </a:endParaRPr>
          </a:p>
          <a:p>
            <a:pPr marL="216000" indent="-214200">
              <a:lnSpc>
                <a:spcPct val="100000"/>
              </a:lnSpc>
              <a:tabLst>
                <a:tab algn="l" pos="0"/>
              </a:tabLst>
            </a:pPr>
            <a:r>
              <a:rPr b="0" lang="en-US" sz="2000" spc="-1" strike="noStrike">
                <a:latin typeface="Arial"/>
              </a:rPr>
              <a:t>- msdb: SQL Server Agent (jobs, alertas, operadores), historial de backups y restauraciones, Database Mail, planes de mantenimiento. Backup obligatorio.</a:t>
            </a:r>
            <a:endParaRPr b="0" lang="es-ES" sz="2000" spc="-1" strike="noStrike">
              <a:latin typeface="Arial"/>
            </a:endParaRPr>
          </a:p>
          <a:p>
            <a:pPr marL="216000" indent="-214200">
              <a:lnSpc>
                <a:spcPct val="100000"/>
              </a:lnSpc>
              <a:tabLst>
                <a:tab algn="l" pos="0"/>
              </a:tabLst>
            </a:pPr>
            <a:r>
              <a:rPr b="0" lang="en-US" sz="2000" spc="-1" strike="noStrike">
                <a:latin typeface="Arial"/>
              </a:rPr>
              <a:t>- tempdb: espacio de trabajo temporal (tablas #temp, variables de tabla, spills de sort/hash, version store, cursores). Se recrea en cada arranque, no se hace backup, y es compartida por toda la instancia: un consumidor puede afectar a todos. Buenas prácticas: varios ficheros de datos iguales (hasta 8 inicialmente), en almacenamiento rápido.</a:t>
            </a:r>
            <a:endParaRPr b="0" lang="es-ES" sz="2000" spc="-1" strike="noStrike">
              <a:latin typeface="Arial"/>
            </a:endParaRPr>
          </a:p>
          <a:p>
            <a:pPr marL="216000" indent="-214200">
              <a:lnSpc>
                <a:spcPct val="100000"/>
              </a:lnSpc>
              <a:tabLst>
                <a:tab algn="l" pos="0"/>
              </a:tabLst>
            </a:pPr>
            <a:r>
              <a:rPr b="0" lang="en-US" sz="2000" spc="-1" strike="noStrike">
                <a:latin typeface="Arial"/>
              </a:rPr>
              <a:t>- mssqlsystemresource (Resource database): sólo lectura, oculta, contiene los objetos del sistema (sys.*). Se actualiza al parchear. No se ve en SSMS, pero existe en el disco.</a:t>
            </a:r>
            <a:endParaRPr b="0" lang="es-ES" sz="2000" spc="-1" strike="noStrike">
              <a:latin typeface="Arial"/>
            </a:endParaRPr>
          </a:p>
          <a:p>
            <a:pPr marL="216000" indent="-214200">
              <a:lnSpc>
                <a:spcPct val="100000"/>
              </a:lnSpc>
              <a:tabLst>
                <a:tab algn="l" pos="0"/>
              </a:tabLst>
            </a:pPr>
            <a:r>
              <a:rPr b="0" lang="en-US" sz="2000" spc="-1" strike="noStrike">
                <a:latin typeface="Arial"/>
              </a:rPr>
              <a:t>- Otras BD del sistema según configuración: distribution (replicación), BD de SSISDB, etc. Importante no confundir "BD del sistema" con "objetos del sistema": no se crean tablas de usuario en master.</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ocurre con los jobs de mantenimiento si se pierde msdb y no hay backup?</a:t>
            </a:r>
            <a:endParaRPr b="0" lang="es-ES" sz="2000" spc="-1" strike="noStrike">
              <a:latin typeface="Arial"/>
            </a:endParaRPr>
          </a:p>
          <a:p>
            <a:pPr marL="216000" indent="-213840">
              <a:lnSpc>
                <a:spcPct val="100000"/>
              </a:lnSpc>
              <a:tabLst>
                <a:tab algn="l" pos="0"/>
              </a:tabLst>
            </a:pPr>
            <a:r>
              <a:rPr b="0" lang="en-US" sz="2000" spc="-1" strike="noStrike">
                <a:latin typeface="Arial"/>
              </a:rPr>
              <a:t>- ¿Por qué tempdb no necesita backup, pero sí necesita planificación de capacidad?</a:t>
            </a:r>
            <a:endParaRPr b="0" lang="es-ES" sz="2000" spc="-1" strike="noStrike">
              <a:latin typeface="Arial"/>
            </a:endParaRPr>
          </a:p>
        </p:txBody>
      </p:sp>
      <p:sp>
        <p:nvSpPr>
          <p:cNvPr id="2064"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D929B6B3-3E99-440D-A800-617C763FC53A}"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5" name="PlaceHolder 1"/>
          <p:cNvSpPr>
            <a:spLocks noGrp="1"/>
          </p:cNvSpPr>
          <p:nvPr>
            <p:ph type="sldImg"/>
          </p:nvPr>
        </p:nvSpPr>
        <p:spPr>
          <a:xfrm>
            <a:off x="685800" y="1143000"/>
            <a:ext cx="5483880" cy="3083760"/>
          </a:xfrm>
          <a:prstGeom prst="rect">
            <a:avLst/>
          </a:prstGeom>
        </p:spPr>
      </p:sp>
      <p:sp>
        <p:nvSpPr>
          <p:cNvPr id="2066"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Elegir la edición adecuada según límites de cómputo, memoria y funcionalidades, y entender las restricciones de cada una.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Express: gratuita, para aplicaciones pequeñas y aprendizaje. Límites: 1 socket o 4 cores (el menor), 1.410 MB para el Buffer Pool, 10 GB por base de datos; sin SQL Server Agent.</a:t>
            </a:r>
            <a:endParaRPr b="0" lang="es-ES" sz="2000" spc="-1" strike="noStrike">
              <a:latin typeface="Arial"/>
            </a:endParaRPr>
          </a:p>
          <a:p>
            <a:pPr marL="216000" indent="-214200">
              <a:lnSpc>
                <a:spcPct val="100000"/>
              </a:lnSpc>
              <a:tabLst>
                <a:tab algn="l" pos="0"/>
              </a:tabLst>
            </a:pPr>
            <a:r>
              <a:rPr b="0" lang="en-US" sz="2000" spc="-1" strike="noStrike">
                <a:latin typeface="Arial"/>
              </a:rPr>
              <a:t>- Standard: para cargas departamentales. Hasta 4 sockets o 24 cores, 128 GB de Buffer Pool. Incluye Basic Availability Groups (una BD por AG, una réplica secundaria), compresión de backup, TDE (desde 2019) y soporte nativo de tipo VECTOR.</a:t>
            </a:r>
            <a:endParaRPr b="0" lang="es-ES" sz="2000" spc="-1" strike="noStrike">
              <a:latin typeface="Arial"/>
            </a:endParaRPr>
          </a:p>
          <a:p>
            <a:pPr marL="216000" indent="-214200">
              <a:lnSpc>
                <a:spcPct val="100000"/>
              </a:lnSpc>
              <a:tabLst>
                <a:tab algn="l" pos="0"/>
              </a:tabLst>
            </a:pPr>
            <a:r>
              <a:rPr b="0" lang="en-US" sz="2000" spc="-1" strike="noStrike">
                <a:latin typeface="Arial"/>
              </a:rPr>
              <a:t>- Enterprise: sin límites de cómputo (el máximo que permita el SO) y todas las funciones: particionado online, compresión de datos, Always On AG avanzados, rebuild online de índices, in-memory ampliado, Resource Governor, etc.</a:t>
            </a:r>
            <a:endParaRPr b="0" lang="es-ES" sz="2000" spc="-1" strike="noStrike">
              <a:latin typeface="Arial"/>
            </a:endParaRPr>
          </a:p>
          <a:p>
            <a:pPr marL="216000" indent="-214200">
              <a:lnSpc>
                <a:spcPct val="100000"/>
              </a:lnSpc>
              <a:tabLst>
                <a:tab algn="l" pos="0"/>
              </a:tabLst>
            </a:pPr>
            <a:r>
              <a:rPr b="0" lang="en-US" sz="2000" spc="-1" strike="noStrike">
                <a:latin typeface="Arial"/>
              </a:rPr>
              <a:t>- Developer: mismas funciones que Enterprise, gratis pero sin derecho a producción. Es la edición ideal para el laboratorio y desarrollo. La edición Evaluation dura 180 días.</a:t>
            </a:r>
            <a:endParaRPr b="0" lang="es-ES" sz="2000" spc="-1" strike="noStrike">
              <a:latin typeface="Arial"/>
            </a:endParaRPr>
          </a:p>
          <a:p>
            <a:pPr marL="216000" indent="-214200">
              <a:lnSpc>
                <a:spcPct val="100000"/>
              </a:lnSpc>
              <a:tabLst>
                <a:tab algn="l" pos="0"/>
              </a:tabLst>
            </a:pPr>
            <a:r>
              <a:rPr b="0" lang="en-US" sz="2000" spc="-1" strike="noStrike">
                <a:latin typeface="Arial"/>
              </a:rPr>
              <a:t>- Web existe sólo para proveedores de hosting. Las cifras de límites pueden variar entre versiones: validar siempre con la documentación oficial "Editions and supported features of SQL Server 2025".</a:t>
            </a:r>
            <a:endParaRPr b="0" lang="es-ES" sz="2000" spc="-1" strike="noStrike">
              <a:latin typeface="Arial"/>
            </a:endParaRPr>
          </a:p>
          <a:p>
            <a:pPr marL="216000" indent="-214200">
              <a:lnSpc>
                <a:spcPct val="100000"/>
              </a:lnSpc>
              <a:tabLst>
                <a:tab algn="l" pos="0"/>
              </a:tabLst>
            </a:pPr>
            <a:r>
              <a:rPr b="0" lang="en-US" sz="2000" spc="-1" strike="noStrike">
                <a:latin typeface="Arial"/>
              </a:rPr>
              <a:t>- Criterios de elección: necesidad de HA avanzada, volumen de memoria/CPU, funciones de seguridad y cumplimiento, y coste. Standard cubre mucho más de lo que se cree; Enterprise se justifica por funciones concretas, no por prestigio.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funcionalidad concreta justificaría pagar Enterprise en vuestra organización?</a:t>
            </a:r>
            <a:endParaRPr b="0" lang="es-ES" sz="2000" spc="-1" strike="noStrike">
              <a:latin typeface="Arial"/>
            </a:endParaRPr>
          </a:p>
          <a:p>
            <a:pPr marL="216000" indent="-213840">
              <a:lnSpc>
                <a:spcPct val="100000"/>
              </a:lnSpc>
              <a:tabLst>
                <a:tab algn="l" pos="0"/>
              </a:tabLst>
            </a:pPr>
            <a:r>
              <a:rPr b="0" lang="en-US" sz="2000" spc="-1" strike="noStrike">
                <a:latin typeface="Arial"/>
              </a:rPr>
              <a:t>- ¿Por qué una base de datos de 40 GB no puede alojarse en Express aunque la aplicación sea pequeña?</a:t>
            </a:r>
            <a:endParaRPr b="0" lang="es-ES" sz="2000" spc="-1" strike="noStrike">
              <a:latin typeface="Arial"/>
            </a:endParaRPr>
          </a:p>
        </p:txBody>
      </p:sp>
      <p:sp>
        <p:nvSpPr>
          <p:cNvPr id="2067"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F820B863-2805-4C88-94C0-4B1D51283716}"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8" name="PlaceHolder 1"/>
          <p:cNvSpPr>
            <a:spLocks noGrp="1"/>
          </p:cNvSpPr>
          <p:nvPr>
            <p:ph type="sldImg"/>
          </p:nvPr>
        </p:nvSpPr>
        <p:spPr>
          <a:xfrm>
            <a:off x="685800" y="1143000"/>
            <a:ext cx="5483880" cy="3083760"/>
          </a:xfrm>
          <a:prstGeom prst="rect">
            <a:avLst/>
          </a:prstGeom>
        </p:spPr>
      </p:sp>
      <p:sp>
        <p:nvSpPr>
          <p:cNvPr id="2069"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Comprender los dos modelos de licenciamiento, sus reglas mínimas y cuándo conviene cada uno.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Licenciamiento por núcleo (Per Core): se licencian todos los núcleos físicos de cada procesador del servidor, con un mínimo de 4 licencias de núcleo por procesador; se venden en paquetes de 2 núcleos. No requiere CAL: usuarios y dispositivos ilimitados. Es el único modelo para Enterprise.</a:t>
            </a:r>
            <a:endParaRPr b="0" lang="es-ES" sz="2000" spc="-1" strike="noStrike">
              <a:latin typeface="Arial"/>
            </a:endParaRPr>
          </a:p>
          <a:p>
            <a:pPr marL="216000" indent="-214200">
              <a:lnSpc>
                <a:spcPct val="100000"/>
              </a:lnSpc>
              <a:tabLst>
                <a:tab algn="l" pos="0"/>
              </a:tabLst>
            </a:pPr>
            <a:r>
              <a:rPr b="0" lang="en-US" sz="2000" spc="-1" strike="noStrike">
                <a:latin typeface="Arial"/>
              </a:rPr>
              <a:t>- Servidor + CAL (Server + Client Access License): sólo para Standard. Una licencia de servidor por instancia/servidor más una CAL por usuario o por dispositivo que accede. Conviene con pocos usuarios identificables y estables; con acceso por web/internet o muchos usuarios, suele salir peor.</a:t>
            </a:r>
            <a:endParaRPr b="0" lang="es-ES" sz="2000" spc="-1" strike="noStrike">
              <a:latin typeface="Arial"/>
            </a:endParaRPr>
          </a:p>
          <a:p>
            <a:pPr marL="216000" indent="-214200">
              <a:lnSpc>
                <a:spcPct val="100000"/>
              </a:lnSpc>
              <a:tabLst>
                <a:tab algn="l" pos="0"/>
              </a:tabLst>
            </a:pPr>
            <a:r>
              <a:rPr b="0" lang="en-US" sz="2000" spc="-1" strike="noStrike">
                <a:latin typeface="Arial"/>
              </a:rPr>
              <a:t>- En máquinas virtuales se licencian los núcleos virtuales asignados (mínimo 4 por VM); con Enterprise y Software Assurance se puede licenciar todo el host y ejecutar un número ilimitado de VMs.</a:t>
            </a:r>
            <a:endParaRPr b="0" lang="es-ES" sz="2000" spc="-1" strike="noStrike">
              <a:latin typeface="Arial"/>
            </a:endParaRPr>
          </a:p>
          <a:p>
            <a:pPr marL="216000" indent="-214200">
              <a:lnSpc>
                <a:spcPct val="100000"/>
              </a:lnSpc>
              <a:tabLst>
                <a:tab algn="l" pos="0"/>
              </a:tabLst>
            </a:pPr>
            <a:r>
              <a:rPr b="0" lang="en-US" sz="2000" spc="-1" strike="noStrike">
                <a:latin typeface="Arial"/>
              </a:rPr>
              <a:t>- Software Assurance (SA): da derecho a nuevas versiones, y para HA, el derecho a tener una réplica secundaria pasiva de failover sin licencia adicional (con ciertas condiciones: no atender consultas ni backups).</a:t>
            </a:r>
            <a:endParaRPr b="0" lang="es-ES" sz="2000" spc="-1" strike="noStrike">
              <a:latin typeface="Arial"/>
            </a:endParaRPr>
          </a:p>
          <a:p>
            <a:pPr marL="216000" indent="-214200">
              <a:lnSpc>
                <a:spcPct val="100000"/>
              </a:lnSpc>
              <a:tabLst>
                <a:tab algn="l" pos="0"/>
              </a:tabLst>
            </a:pPr>
            <a:r>
              <a:rPr b="0" lang="en-US" sz="2000" spc="-1" strike="noStrike">
                <a:latin typeface="Arial"/>
              </a:rPr>
              <a:t>- Los precios y condiciones cambian: no se citan cifras en el curso; recomendar validar con un partner de licenciamiento (LAR) antes de comprar y documentar el inventario de licencias.</a:t>
            </a:r>
            <a:endParaRPr b="0" lang="es-ES" sz="2000" spc="-1" strike="noStrike">
              <a:latin typeface="Arial"/>
            </a:endParaRPr>
          </a:p>
          <a:p>
            <a:pPr marL="216000" indent="-214200">
              <a:lnSpc>
                <a:spcPct val="100000"/>
              </a:lnSpc>
              <a:tabLst>
                <a:tab algn="l" pos="0"/>
              </a:tabLst>
            </a:pPr>
            <a:r>
              <a:rPr b="0" lang="en-US" sz="2000" spc="-1" strike="noStrike">
                <a:latin typeface="Arial"/>
              </a:rPr>
              <a:t>- Error típico de auditoría: instancias de Developer usadas en producción, o más núcleos licenciados de los que realmente corresponden. Un DBA debe poder demostrar el inventario.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Un servidor con 1 procesador de 2 núcleos físicos, ¿cuántas licencias de núcleo hay que comprar con Per Core? (4, por el mínimo.)</a:t>
            </a:r>
            <a:endParaRPr b="0" lang="es-ES" sz="2000" spc="-1" strike="noStrike">
              <a:latin typeface="Arial"/>
            </a:endParaRPr>
          </a:p>
          <a:p>
            <a:pPr marL="216000" indent="-213840">
              <a:lnSpc>
                <a:spcPct val="100000"/>
              </a:lnSpc>
              <a:tabLst>
                <a:tab algn="l" pos="0"/>
              </a:tabLst>
            </a:pPr>
            <a:r>
              <a:rPr b="0" lang="en-US" sz="2000" spc="-1" strike="noStrike">
                <a:latin typeface="Arial"/>
              </a:rPr>
              <a:t>- ¿Qué modelo elegirías para una aplicación pública accesible por Internet? ¿Por qué?</a:t>
            </a:r>
            <a:endParaRPr b="0" lang="es-ES" sz="2000" spc="-1" strike="noStrike">
              <a:latin typeface="Arial"/>
            </a:endParaRPr>
          </a:p>
        </p:txBody>
      </p:sp>
      <p:sp>
        <p:nvSpPr>
          <p:cNvPr id="2070"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EC747D5A-3DF8-48A0-9040-DD0736A626F0}"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1" name="PlaceHolder 1"/>
          <p:cNvSpPr>
            <a:spLocks noGrp="1"/>
          </p:cNvSpPr>
          <p:nvPr>
            <p:ph type="sldImg"/>
          </p:nvPr>
        </p:nvSpPr>
        <p:spPr>
          <a:xfrm>
            <a:off x="685800" y="1143000"/>
            <a:ext cx="5483880" cy="3083760"/>
          </a:xfrm>
          <a:prstGeom prst="rect">
            <a:avLst/>
          </a:prstGeom>
        </p:spPr>
      </p:sp>
      <p:sp>
        <p:nvSpPr>
          <p:cNvPr id="2072"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Conocer las herramientas principales de trabajo del DBA y cuándo usar cada una.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SSMS (SQL Server Management Studio): herramienta de referencia en Windows. Explorador de objetos, editor T-SQL, planes de ejecución gráficos, Agent, Activity Monitor, asistentes de backup/restore, XEvents Profiler. Se actualiza independientemente del motor (versión 20/21); administra desde 2008 hasta 2022 y Azure SQL.</a:t>
            </a:r>
            <a:endParaRPr b="0" lang="es-ES" sz="2000" spc="-1" strike="noStrike">
              <a:latin typeface="Arial"/>
            </a:endParaRPr>
          </a:p>
          <a:p>
            <a:pPr marL="216000" indent="-214200">
              <a:lnSpc>
                <a:spcPct val="100000"/>
              </a:lnSpc>
              <a:tabLst>
                <a:tab algn="l" pos="0"/>
              </a:tabLst>
            </a:pPr>
            <a:r>
              <a:rPr b="0" lang="en-US" sz="2000" spc="-1" strike="noStrike">
                <a:latin typeface="Arial"/>
              </a:rPr>
              <a:t>- Extensión MSSQL de VS Code (y Azure Data Studio, hasta su fin de soporte el 28/02/2026): multiplataforma, notebooks, extensiones, integración con Git. Menos funciones de administración que SSMS, pero suficiente para consultas y scripts.</a:t>
            </a:r>
            <a:endParaRPr b="0" lang="es-ES" sz="2000" spc="-1" strike="noStrike">
              <a:latin typeface="Arial"/>
            </a:endParaRPr>
          </a:p>
          <a:p>
            <a:pPr marL="216000" indent="-214200">
              <a:lnSpc>
                <a:spcPct val="100000"/>
              </a:lnSpc>
              <a:tabLst>
                <a:tab algn="l" pos="0"/>
              </a:tabLst>
            </a:pPr>
            <a:r>
              <a:rPr b="0" lang="en-US" sz="2000" spc="-1" strike="noStrike">
                <a:latin typeface="Arial"/>
              </a:rPr>
              <a:t>- sqlcmd: utilidad de línea de comandos para ejecutar T-SQL o scripts en lotes, automatizable en shell o CI. Variante moderna go-sqlcmd (multiplataforma, instalable con winget/brew).</a:t>
            </a:r>
            <a:endParaRPr b="0" lang="es-ES" sz="2000" spc="-1" strike="noStrike">
              <a:latin typeface="Arial"/>
            </a:endParaRPr>
          </a:p>
          <a:p>
            <a:pPr marL="216000" indent="-214200">
              <a:lnSpc>
                <a:spcPct val="100000"/>
              </a:lnSpc>
              <a:tabLst>
                <a:tab algn="l" pos="0"/>
              </a:tabLst>
            </a:pPr>
            <a:r>
              <a:rPr b="0" lang="en-US" sz="2000" spc="-1" strike="noStrike">
                <a:latin typeface="Arial"/>
              </a:rPr>
              <a:t>- SQL Server Profiler y Extended Events: Profiler (traza) está obsoleto para el motor y consume más recursos; Extended Events (XEvents) es su sustitución ligera. SSMS incluye XEvent Profiler y el visor de eventos en vivo.</a:t>
            </a:r>
            <a:endParaRPr b="0" lang="es-ES" sz="2000" spc="-1" strike="noStrike">
              <a:latin typeface="Arial"/>
            </a:endParaRPr>
          </a:p>
          <a:p>
            <a:pPr marL="216000" indent="-214200">
              <a:lnSpc>
                <a:spcPct val="100000"/>
              </a:lnSpc>
              <a:tabLst>
                <a:tab algn="l" pos="0"/>
              </a:tabLst>
            </a:pPr>
            <a:r>
              <a:rPr b="0" lang="en-US" sz="2000" spc="-1" strike="noStrike">
                <a:latin typeface="Arial"/>
              </a:rPr>
              <a:t>- Otras: SQL Server Configuration Manager (servicios, protocolos, puertos), PowerShell con dbatools (módulo comunitario imprescindible), Database Engine Tuning Advisor, Query Store GUI y Azure Arc / portal para entornos híbridos.</a:t>
            </a:r>
            <a:endParaRPr b="0" lang="es-ES" sz="2000" spc="-1" strike="noStrike">
              <a:latin typeface="Arial"/>
            </a:endParaRPr>
          </a:p>
          <a:p>
            <a:pPr marL="216000" indent="-214200">
              <a:lnSpc>
                <a:spcPct val="100000"/>
              </a:lnSpc>
              <a:tabLst>
                <a:tab algn="l" pos="0"/>
              </a:tabLst>
            </a:pPr>
            <a:r>
              <a:rPr b="0" lang="en-US" sz="2000" spc="-1" strike="noStrike">
                <a:latin typeface="Arial"/>
              </a:rPr>
              <a:t>- Buena práctica: administrar con scripts (T-SQL/PowerShell) versionados en lugar de sólo con asistentes gráficos: son repetibles, auditables y reducen errores humanos.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ventaja tiene lanzar una tarea con sqlcmd frente a hacerla con el asistente de SSMS?</a:t>
            </a:r>
            <a:endParaRPr b="0" lang="es-ES" sz="2000" spc="-1" strike="noStrike">
              <a:latin typeface="Arial"/>
            </a:endParaRPr>
          </a:p>
          <a:p>
            <a:pPr marL="216000" indent="-213840">
              <a:lnSpc>
                <a:spcPct val="100000"/>
              </a:lnSpc>
              <a:tabLst>
                <a:tab algn="l" pos="0"/>
              </a:tabLst>
            </a:pPr>
            <a:r>
              <a:rPr b="0" lang="en-US" sz="2000" spc="-1" strike="noStrike">
                <a:latin typeface="Arial"/>
              </a:rPr>
              <a:t>- ¿Por qué se desaconseja dejar una traza de Profiler contra un servidor en producción?</a:t>
            </a:r>
            <a:endParaRPr b="0" lang="es-ES" sz="2000" spc="-1" strike="noStrike">
              <a:latin typeface="Arial"/>
            </a:endParaRPr>
          </a:p>
        </p:txBody>
      </p:sp>
      <p:sp>
        <p:nvSpPr>
          <p:cNvPr id="2073"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D3D4576B-CB1C-4A2E-BD18-5CAD22FE1434}"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4" name="PlaceHolder 1"/>
          <p:cNvSpPr>
            <a:spLocks noGrp="1"/>
          </p:cNvSpPr>
          <p:nvPr>
            <p:ph type="sldImg"/>
          </p:nvPr>
        </p:nvSpPr>
        <p:spPr>
          <a:xfrm>
            <a:off x="685800" y="1143000"/>
            <a:ext cx="5483880" cy="3083760"/>
          </a:xfrm>
          <a:prstGeom prst="rect">
            <a:avLst/>
          </a:prstGeom>
        </p:spPr>
      </p:sp>
      <p:sp>
        <p:nvSpPr>
          <p:cNvPr id="2075"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Saber lanzar consultas con sqlcmd y crear una sesión básica de Extended Events para capturar sentencias lentas.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sqlcmd -S servidor -U usuario -P clave -Q "consulta" ejecuta una sentencia y sale. -E usa autenticación de Windows; -i ejecuta un fichero; -o redirige a salida; -b hace que falle con código de error si hay error (útil en scripts). -C confía en el certificado del servidor (necesario con ODBC 18 cuando el certificado es autofirmado).</a:t>
            </a:r>
            <a:endParaRPr b="0" lang="es-ES" sz="2000" spc="-1" strike="noStrike">
              <a:latin typeface="Arial"/>
            </a:endParaRPr>
          </a:p>
          <a:p>
            <a:pPr marL="216000" indent="-214200">
              <a:lnSpc>
                <a:spcPct val="100000"/>
              </a:lnSpc>
              <a:tabLst>
                <a:tab algn="l" pos="0"/>
              </a:tabLst>
            </a:pPr>
            <a:r>
              <a:rPr b="0" lang="en-US" sz="2000" spc="-1" strike="noStrike">
                <a:latin typeface="Arial"/>
              </a:rPr>
              <a:t>- Nunca dejar contraseñas en texto claro en scripts o en el historial de shell: usar variables de entorno (SQLCMDPASSWORD) o autenticación integrada.</a:t>
            </a:r>
            <a:endParaRPr b="0" lang="es-ES" sz="2000" spc="-1" strike="noStrike">
              <a:latin typeface="Arial"/>
            </a:endParaRPr>
          </a:p>
          <a:p>
            <a:pPr marL="216000" indent="-214200">
              <a:lnSpc>
                <a:spcPct val="100000"/>
              </a:lnSpc>
              <a:tabLst>
                <a:tab algn="l" pos="0"/>
              </a:tabLst>
            </a:pPr>
            <a:r>
              <a:rPr b="0" lang="en-US" sz="2000" spc="-1" strike="noStrike">
                <a:latin typeface="Arial"/>
              </a:rPr>
              <a:t>- Extended Events: arquitectura event-driven ligera. Una sesión tiene eventos (qué ocurre), acciones (datos adicionales), predicados (filtros) y targets (dónde se escribe: event_file, ring_buffer).</a:t>
            </a:r>
            <a:endParaRPr b="0" lang="es-ES" sz="2000" spc="-1" strike="noStrike">
              <a:latin typeface="Arial"/>
            </a:endParaRPr>
          </a:p>
          <a:p>
            <a:pPr marL="216000" indent="-214200">
              <a:lnSpc>
                <a:spcPct val="100000"/>
              </a:lnSpc>
              <a:tabLst>
                <a:tab algn="l" pos="0"/>
              </a:tabLst>
            </a:pPr>
            <a:r>
              <a:rPr b="0" lang="en-US" sz="2000" spc="-1" strike="noStrike">
                <a:latin typeface="Arial"/>
              </a:rPr>
              <a:t>- En el ejemplo, sql_statement_completed con duration &gt; 1.000.000 µs (1 segundo) y destino fichero .xel. Siempre filtrar con predicados para limitar sobrecarga. Se lee con sys.fn_xe_file_target_read_file o con el visor de SSMS.</a:t>
            </a:r>
            <a:endParaRPr b="0" lang="es-ES" sz="2000" spc="-1" strike="noStrike">
              <a:latin typeface="Arial"/>
            </a:endParaRPr>
          </a:p>
          <a:p>
            <a:pPr marL="216000" indent="-214200">
              <a:lnSpc>
                <a:spcPct val="100000"/>
              </a:lnSpc>
              <a:tabLst>
                <a:tab algn="l" pos="0"/>
              </a:tabLst>
            </a:pPr>
            <a:r>
              <a:rPr b="0" lang="en-US" sz="2000" spc="-1" strike="noStrike">
                <a:latin typeface="Arial"/>
              </a:rPr>
              <a:t>- La sesión system_health viene activa por defecto: captura deadlocks, errores graves, esperas largas. Es el primer sitio donde mirar tras un incidente.</a:t>
            </a:r>
            <a:endParaRPr b="0" lang="es-ES" sz="2000" spc="-1" strike="noStrike">
              <a:latin typeface="Arial"/>
            </a:endParaRPr>
          </a:p>
          <a:p>
            <a:pPr marL="216000" indent="-214200">
              <a:lnSpc>
                <a:spcPct val="100000"/>
              </a:lnSpc>
              <a:tabLst>
                <a:tab algn="l" pos="0"/>
              </a:tabLst>
            </a:pPr>
            <a:r>
              <a:rPr b="0" lang="en-US" sz="2000" spc="-1" strike="noStrike">
                <a:latin typeface="Arial"/>
              </a:rPr>
              <a:t>- Para eliminar: DROP EVENT SESSION [lentas] ON SERVER; Para ver las sesiones activas: sys.dm_xe_sessions.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riesgo tiene capturar todos los eventos sin predicados en un servidor muy cargado?</a:t>
            </a:r>
            <a:endParaRPr b="0" lang="es-ES" sz="2000" spc="-1" strike="noStrike">
              <a:latin typeface="Arial"/>
            </a:endParaRPr>
          </a:p>
          <a:p>
            <a:pPr marL="216000" indent="-214200">
              <a:lnSpc>
                <a:spcPct val="100000"/>
              </a:lnSpc>
              <a:tabLst>
                <a:tab algn="l" pos="0"/>
              </a:tabLst>
            </a:pPr>
            <a:r>
              <a:rPr b="0" lang="en-US" sz="2000" spc="-1" strike="noStrike">
                <a:latin typeface="Arial"/>
              </a:rPr>
              <a:t>- ¿Qué información útil esperaríais encontrar en system_health tras una caída de rendimiento?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Instrucciones de Laboratorio:</a:t>
            </a:r>
            <a:endParaRPr b="0" lang="es-ES" sz="2000" spc="-1" strike="noStrike">
              <a:latin typeface="Arial"/>
            </a:endParaRPr>
          </a:p>
          <a:p>
            <a:pPr marL="216000" indent="-214200">
              <a:lnSpc>
                <a:spcPct val="100000"/>
              </a:lnSpc>
              <a:tabLst>
                <a:tab algn="l" pos="0"/>
              </a:tabLst>
            </a:pPr>
            <a:r>
              <a:rPr b="0" lang="en-US" sz="2000" spc="-1" strike="noStrike">
                <a:latin typeface="Arial"/>
              </a:rPr>
              <a:t>- Conectar con sqlcmd al contenedor y ejecutar SELECT @@VERSION; verificar el código de salida con echo $?.</a:t>
            </a:r>
            <a:endParaRPr b="0" lang="es-ES" sz="2000" spc="-1" strike="noStrike">
              <a:latin typeface="Arial"/>
            </a:endParaRPr>
          </a:p>
          <a:p>
            <a:pPr marL="216000" indent="-214200">
              <a:lnSpc>
                <a:spcPct val="100000"/>
              </a:lnSpc>
              <a:tabLst>
                <a:tab algn="l" pos="0"/>
              </a:tabLst>
            </a:pPr>
            <a:r>
              <a:rPr b="0" lang="en-US" sz="2000" spc="-1" strike="noStrike">
                <a:latin typeface="Arial"/>
              </a:rPr>
              <a:t>- Crear la sesión "lentas", ejecutar WAITFOR DELAY '00:00:02' desde otra conexión y abrir el visor de datos en vivo en SSMS.</a:t>
            </a:r>
            <a:endParaRPr b="0" lang="es-ES" sz="2000" spc="-1" strike="noStrike">
              <a:latin typeface="Arial"/>
            </a:endParaRPr>
          </a:p>
          <a:p>
            <a:pPr marL="216000" indent="-213840">
              <a:lnSpc>
                <a:spcPct val="100000"/>
              </a:lnSpc>
              <a:tabLst>
                <a:tab algn="l" pos="0"/>
              </a:tabLst>
            </a:pPr>
            <a:r>
              <a:rPr b="0" lang="en-US" sz="2000" spc="-1" strike="noStrike">
                <a:latin typeface="Arial"/>
              </a:rPr>
              <a:t>- Trampa: el nombre del fichero .xel es relativo al directorio de log de la instancia; en Linux, ruta /var/opt/mssql/log/.</a:t>
            </a:r>
            <a:endParaRPr b="0" lang="es-ES" sz="2000" spc="-1" strike="noStrike">
              <a:latin typeface="Arial"/>
            </a:endParaRPr>
          </a:p>
        </p:txBody>
      </p:sp>
      <p:sp>
        <p:nvSpPr>
          <p:cNvPr id="2076"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8E4368DE-814A-4F6E-8F56-E87402D3AE7A}"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7" name="PlaceHolder 1"/>
          <p:cNvSpPr>
            <a:spLocks noGrp="1"/>
          </p:cNvSpPr>
          <p:nvPr>
            <p:ph type="sldImg"/>
          </p:nvPr>
        </p:nvSpPr>
        <p:spPr>
          <a:xfrm>
            <a:off x="685800" y="1143000"/>
            <a:ext cx="5483880" cy="3083760"/>
          </a:xfrm>
          <a:prstGeom prst="rect">
            <a:avLst/>
          </a:prstGeom>
        </p:spPr>
      </p:sp>
      <p:sp>
        <p:nvSpPr>
          <p:cNvPr id="2078"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Aplicar lo aprendido: crear una base de datos con filegroup propio, varios ficheros de datos y log dimensionado, usando T-SQL.</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Resumen de lo que debe lograr el alumno: crear Ventas con filegroup PRIMARY (catálogo), filegroup FG_DATOS con dos ficheros de igual tamaño (proportional fill) y un fichero de log.</a:t>
            </a:r>
            <a:endParaRPr b="0" lang="es-ES" sz="2000" spc="-1" strike="noStrike">
              <a:latin typeface="Arial"/>
            </a:endParaRPr>
          </a:p>
          <a:p>
            <a:pPr marL="216000" indent="-214200">
              <a:lnSpc>
                <a:spcPct val="100000"/>
              </a:lnSpc>
              <a:tabLst>
                <a:tab algn="l" pos="0"/>
              </a:tabLst>
            </a:pPr>
            <a:r>
              <a:rPr b="0" lang="en-US" sz="2000" spc="-1" strike="noStrike">
                <a:latin typeface="Arial"/>
              </a:rPr>
              <a:t>- Insistir en la elección de tamaños: inicial razonable y FILEGROWTH en MB. Es habitual que los alumnos pongan porcentajes o 1 MB por costumbre.</a:t>
            </a:r>
            <a:endParaRPr b="0" lang="es-ES" sz="2000" spc="-1" strike="noStrike">
              <a:latin typeface="Arial"/>
            </a:endParaRPr>
          </a:p>
          <a:p>
            <a:pPr marL="216000" indent="-214200">
              <a:lnSpc>
                <a:spcPct val="100000"/>
              </a:lnSpc>
              <a:tabLst>
                <a:tab algn="l" pos="0"/>
              </a:tabLst>
            </a:pPr>
            <a:r>
              <a:rPr b="0" lang="en-US" sz="2000" spc="-1" strike="noStrike">
                <a:latin typeface="Arial"/>
              </a:rPr>
              <a:t>- Las rutas de ejemplo corresponden al contenedor Linux (/var/opt/mssql/data y /log). En Windows serían p. ej. C:\SQLData\.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pasaría si los dos ficheros de FG_DATOS tuvieran tamaños distintos? (Proportional fill: el más grande recibe más escrituras.)</a:t>
            </a:r>
            <a:endParaRPr b="0" lang="es-ES" sz="2000" spc="-1" strike="noStrike">
              <a:latin typeface="Arial"/>
            </a:endParaRPr>
          </a:p>
          <a:p>
            <a:pPr marL="216000" indent="-214200">
              <a:lnSpc>
                <a:spcPct val="100000"/>
              </a:lnSpc>
              <a:tabLst>
                <a:tab algn="l" pos="0"/>
              </a:tabLst>
            </a:pPr>
            <a:r>
              <a:rPr b="0" lang="en-US" sz="2000" spc="-1" strike="noStrike">
                <a:latin typeface="Arial"/>
              </a:rPr>
              <a:t>- ¿Por qué conviene que PRIMARY contenga sólo el catálogo y los datos del usuario vayan a otro filegroup?</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Instrucciones de Laboratorio:</a:t>
            </a:r>
            <a:endParaRPr b="0" lang="es-ES" sz="2000" spc="-1" strike="noStrike">
              <a:latin typeface="Arial"/>
            </a:endParaRPr>
          </a:p>
          <a:p>
            <a:pPr marL="216000" indent="-214200">
              <a:lnSpc>
                <a:spcPct val="100000"/>
              </a:lnSpc>
              <a:tabLst>
                <a:tab algn="l" pos="0"/>
              </a:tabLst>
            </a:pPr>
            <a:r>
              <a:rPr b="0" lang="en-US" sz="2000" spc="-1" strike="noStrike">
                <a:latin typeface="Arial"/>
              </a:rPr>
              <a:t>- Paso 1: conectar a la instancia y comprobar SELECT @@SERVERNAME (hábito de seguridad).</a:t>
            </a:r>
            <a:endParaRPr b="0" lang="es-ES" sz="2000" spc="-1" strike="noStrike">
              <a:latin typeface="Arial"/>
            </a:endParaRPr>
          </a:p>
          <a:p>
            <a:pPr marL="216000" indent="-214200">
              <a:lnSpc>
                <a:spcPct val="100000"/>
              </a:lnSpc>
              <a:tabLst>
                <a:tab algn="l" pos="0"/>
              </a:tabLst>
            </a:pPr>
            <a:r>
              <a:rPr b="0" lang="en-US" sz="2000" spc="-1" strike="noStrike">
                <a:latin typeface="Arial"/>
              </a:rPr>
              <a:t>- Paso 2: ejecutar el CREATE DATABASE Ventas de la diapositiva. Si da error de ruta, comprobar que el directorio existe y que el usuario mssql tiene permisos.</a:t>
            </a:r>
            <a:endParaRPr b="0" lang="es-ES" sz="2000" spc="-1" strike="noStrike">
              <a:latin typeface="Arial"/>
            </a:endParaRPr>
          </a:p>
          <a:p>
            <a:pPr marL="216000" indent="-214200">
              <a:lnSpc>
                <a:spcPct val="100000"/>
              </a:lnSpc>
              <a:tabLst>
                <a:tab algn="l" pos="0"/>
              </a:tabLst>
            </a:pPr>
            <a:r>
              <a:rPr b="0" lang="en-US" sz="2000" spc="-1" strike="noStrike">
                <a:latin typeface="Arial"/>
              </a:rPr>
              <a:t>- Paso 3: verificar en SSMS (Propiedades de la BD → Archivos) que aparecen 4 ficheros y 2 filegroups.</a:t>
            </a:r>
            <a:endParaRPr b="0" lang="es-ES" sz="2000" spc="-1" strike="noStrike">
              <a:latin typeface="Arial"/>
            </a:endParaRPr>
          </a:p>
          <a:p>
            <a:pPr marL="216000" indent="-214200">
              <a:lnSpc>
                <a:spcPct val="100000"/>
              </a:lnSpc>
              <a:tabLst>
                <a:tab algn="l" pos="0"/>
              </a:tabLst>
            </a:pPr>
            <a:r>
              <a:rPr b="0" lang="en-US" sz="2000" spc="-1" strike="noStrike">
                <a:latin typeface="Arial"/>
              </a:rPr>
              <a:t>- Trampas habituales: comillas simples tipográficas copiadas de Word; olvidar la coma entre ficheros del mismo filegroup; usar rutas de Windows en el contenedor Linux.</a:t>
            </a:r>
            <a:endParaRPr b="0" lang="es-ES" sz="2000" spc="-1" strike="noStrike">
              <a:latin typeface="Arial"/>
            </a:endParaRPr>
          </a:p>
          <a:p>
            <a:pPr marL="216000" indent="-213840">
              <a:lnSpc>
                <a:spcPct val="100000"/>
              </a:lnSpc>
              <a:tabLst>
                <a:tab algn="l" pos="0"/>
              </a:tabLst>
            </a:pPr>
            <a:r>
              <a:rPr b="0" lang="en-US" sz="2000" spc="-1" strike="noStrike">
                <a:latin typeface="Arial"/>
              </a:rPr>
              <a:t>- Solución: ver el script completo de la diapositiva; si el alumno ya tiene una BD Ventas, hacer DROP DATABASE Ventas primero (con USE master).</a:t>
            </a:r>
            <a:endParaRPr b="0" lang="es-ES" sz="2000" spc="-1" strike="noStrike">
              <a:latin typeface="Arial"/>
            </a:endParaRPr>
          </a:p>
        </p:txBody>
      </p:sp>
      <p:sp>
        <p:nvSpPr>
          <p:cNvPr id="2079"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085CF992-E3C6-445F-B455-30FD954A0997}"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0" name="PlaceHolder 1"/>
          <p:cNvSpPr>
            <a:spLocks noGrp="1"/>
          </p:cNvSpPr>
          <p:nvPr>
            <p:ph type="sldImg"/>
          </p:nvPr>
        </p:nvSpPr>
        <p:spPr>
          <a:xfrm>
            <a:off x="685800" y="1143000"/>
            <a:ext cx="5483880" cy="3083760"/>
          </a:xfrm>
          <a:prstGeom prst="rect">
            <a:avLst/>
          </a:prstGeom>
        </p:spPr>
      </p:sp>
      <p:sp>
        <p:nvSpPr>
          <p:cNvPr id="2081"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Verificar la estructura creada con las vistas de catálogo, establecer el filegroup predeterminado y comprobar el comportamiento del crecimiento.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Tras crear la BD, fijar FG_DATOS como filegroup predeterminado: las tablas nuevas irán allí por defecto y PRIMARY queda reservado para el catálogo. Es una práctica muy extendida.</a:t>
            </a:r>
            <a:endParaRPr b="0" lang="es-ES" sz="2000" spc="-1" strike="noStrike">
              <a:latin typeface="Arial"/>
            </a:endParaRPr>
          </a:p>
          <a:p>
            <a:pPr marL="216000" indent="-214200">
              <a:lnSpc>
                <a:spcPct val="100000"/>
              </a:lnSpc>
              <a:tabLst>
                <a:tab algn="l" pos="0"/>
              </a:tabLst>
            </a:pPr>
            <a:r>
              <a:rPr b="0" lang="en-US" sz="2000" spc="-1" strike="noStrike">
                <a:latin typeface="Arial"/>
              </a:rPr>
              <a:t>- sys.database_files muestra tamaño en páginas de 8 KB (de ahí size*8/1024 para MB) y las propiedades de crecimiento; is_percent_growth debe ser 0 en todos.</a:t>
            </a:r>
            <a:endParaRPr b="0" lang="es-ES" sz="2000" spc="-1" strike="noStrike">
              <a:latin typeface="Arial"/>
            </a:endParaRPr>
          </a:p>
          <a:p>
            <a:pPr marL="216000" indent="-214200">
              <a:lnSpc>
                <a:spcPct val="100000"/>
              </a:lnSpc>
              <a:tabLst>
                <a:tab algn="l" pos="0"/>
              </a:tabLst>
            </a:pPr>
            <a:r>
              <a:rPr b="0" lang="en-US" sz="2000" spc="-1" strike="noStrike">
                <a:latin typeface="Arial"/>
              </a:rPr>
              <a:t>- Para ver el efecto del crecimiento: crear una tabla ancha en FG_DATOS e insertar más datos que los 512 MB iniciales; los ficheros crecerán en bloques de 128 MB y se puede consultar en sys.database_files o en el reporte de eventos de SSMS.</a:t>
            </a:r>
            <a:endParaRPr b="0" lang="es-ES" sz="2000" spc="-1" strike="noStrike">
              <a:latin typeface="Arial"/>
            </a:endParaRPr>
          </a:p>
          <a:p>
            <a:pPr marL="216000" indent="-214200">
              <a:lnSpc>
                <a:spcPct val="100000"/>
              </a:lnSpc>
              <a:tabLst>
                <a:tab algn="l" pos="0"/>
              </a:tabLst>
            </a:pPr>
            <a:r>
              <a:rPr b="0" lang="en-US" sz="2000" spc="-1" strike="noStrike">
                <a:latin typeface="Arial"/>
              </a:rPr>
              <a:t>- Cierre del Módulo 1: repasar los cuatro conceptos que han aparecido hoy (Buffer Pool, páginas/extensiones, Transaction Log/WAL, tempdb) y conectarlos con los módulos siguientes.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diferencia observáis entre el tamaño reservado y el espacio realmente usado? (FILEPROPERTY(name,'SpaceUsed').)</a:t>
            </a:r>
            <a:endParaRPr b="0" lang="es-ES" sz="2000" spc="-1" strike="noStrike">
              <a:latin typeface="Arial"/>
            </a:endParaRPr>
          </a:p>
          <a:p>
            <a:pPr marL="216000" indent="-214200">
              <a:lnSpc>
                <a:spcPct val="100000"/>
              </a:lnSpc>
              <a:tabLst>
                <a:tab algn="l" pos="0"/>
              </a:tabLst>
            </a:pPr>
            <a:r>
              <a:rPr b="0" lang="en-US" sz="2000" spc="-1" strike="noStrike">
                <a:latin typeface="Arial"/>
              </a:rPr>
              <a:t>- ¿Qué haríais si un fichero de datos alcanza el límite de disco? (Añadir fichero en otra unidad, no shrink indiscriminado.)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Instrucciones de Laboratorio:</a:t>
            </a:r>
            <a:endParaRPr b="0" lang="es-ES" sz="2000" spc="-1" strike="noStrike">
              <a:latin typeface="Arial"/>
            </a:endParaRPr>
          </a:p>
          <a:p>
            <a:pPr marL="216000" indent="-214200">
              <a:lnSpc>
                <a:spcPct val="100000"/>
              </a:lnSpc>
              <a:tabLst>
                <a:tab algn="l" pos="0"/>
              </a:tabLst>
            </a:pPr>
            <a:r>
              <a:rPr b="0" lang="en-US" sz="2000" spc="-1" strike="noStrike">
                <a:latin typeface="Arial"/>
              </a:rPr>
              <a:t>- Paso 1: ejecutar ALTER DATABASE Ventas MODIFY FILEGROUP FG_DATOS DEFAULT.</a:t>
            </a:r>
            <a:endParaRPr b="0" lang="es-ES" sz="2000" spc="-1" strike="noStrike">
              <a:latin typeface="Arial"/>
            </a:endParaRPr>
          </a:p>
          <a:p>
            <a:pPr marL="216000" indent="-214200">
              <a:lnSpc>
                <a:spcPct val="100000"/>
              </a:lnSpc>
              <a:tabLst>
                <a:tab algn="l" pos="0"/>
              </a:tabLst>
            </a:pPr>
            <a:r>
              <a:rPr b="0" lang="en-US" sz="2000" spc="-1" strike="noStrike">
                <a:latin typeface="Arial"/>
              </a:rPr>
              <a:t>- Paso 2: ejecutar las dos consultas de verificación y comprobar que size_mb es 64/256/256/128 y que growth está en MB.</a:t>
            </a:r>
            <a:endParaRPr b="0" lang="es-ES" sz="2000" spc="-1" strike="noStrike">
              <a:latin typeface="Arial"/>
            </a:endParaRPr>
          </a:p>
          <a:p>
            <a:pPr marL="216000" indent="-214200">
              <a:lnSpc>
                <a:spcPct val="100000"/>
              </a:lnSpc>
              <a:tabLst>
                <a:tab algn="l" pos="0"/>
              </a:tabLst>
            </a:pPr>
            <a:r>
              <a:rPr b="0" lang="en-US" sz="2000" spc="-1" strike="noStrike">
                <a:latin typeface="Arial"/>
              </a:rPr>
              <a:t>- Paso 3 (extra): crear una tabla dbo.Prueba(id INT IDENTITY, relleno CHAR(8000)) y insertar 100.000 filas con un WHILE; revisar si ha crecido algún fichero.</a:t>
            </a:r>
            <a:endParaRPr b="0" lang="es-ES" sz="2000" spc="-1" strike="noStrike">
              <a:latin typeface="Arial"/>
            </a:endParaRPr>
          </a:p>
          <a:p>
            <a:pPr marL="216000" indent="-214200">
              <a:lnSpc>
                <a:spcPct val="100000"/>
              </a:lnSpc>
              <a:tabLst>
                <a:tab algn="l" pos="0"/>
              </a:tabLst>
            </a:pPr>
            <a:r>
              <a:rPr b="0" lang="en-US" sz="2000" spc="-1" strike="noStrike">
                <a:latin typeface="Arial"/>
              </a:rPr>
              <a:t>- Trampas: querer cambiar el filegroup predeterminado a uno que no contiene ficheros (error); confundir size (páginas) con MB.</a:t>
            </a:r>
            <a:endParaRPr b="0" lang="es-ES" sz="2000" spc="-1" strike="noStrike">
              <a:latin typeface="Arial"/>
            </a:endParaRPr>
          </a:p>
          <a:p>
            <a:pPr marL="216000" indent="-213840">
              <a:lnSpc>
                <a:spcPct val="100000"/>
              </a:lnSpc>
              <a:tabLst>
                <a:tab algn="l" pos="0"/>
              </a:tabLst>
            </a:pPr>
            <a:r>
              <a:rPr b="0" lang="en-US" sz="2000" spc="-1" strike="noStrike">
                <a:latin typeface="Arial"/>
              </a:rPr>
              <a:t>- Resolución: las consultas de la diapositiva con size*8/1024 devuelven MB; si growth = 16384 y is_percent_growth = 0, equivale a 128 MB (16384 páginas × 8 KB).</a:t>
            </a:r>
            <a:endParaRPr b="0" lang="es-ES" sz="2000" spc="-1" strike="noStrike">
              <a:latin typeface="Arial"/>
            </a:endParaRPr>
          </a:p>
        </p:txBody>
      </p:sp>
      <p:sp>
        <p:nvSpPr>
          <p:cNvPr id="2082"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A1A5C116-2B7B-495E-8513-3C65D42D8BFD}"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3" name="PlaceHolder 1"/>
          <p:cNvSpPr>
            <a:spLocks noGrp="1"/>
          </p:cNvSpPr>
          <p:nvPr>
            <p:ph type="sldImg"/>
          </p:nvPr>
        </p:nvSpPr>
        <p:spPr>
          <a:xfrm>
            <a:off x="685800" y="1143000"/>
            <a:ext cx="5483880" cy="3083760"/>
          </a:xfrm>
          <a:prstGeom prst="rect">
            <a:avLst/>
          </a:prstGeom>
        </p:spPr>
      </p:sp>
      <p:sp>
        <p:nvSpPr>
          <p:cNvPr id="2084"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Situar al grupo en el recorrido del módulo: primero se construyen y consultan los datos (DDL y DML) y después se protegen (seguridad). Las dos mitades comparten la misma BD de ejemplo, Ventas.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Este módulo es el más práctico del curso (5,5 h): alterna teoría breve con T-SQL que los alumnos ejecutan en su instancia (Docker o local).</a:t>
            </a:r>
            <a:endParaRPr b="0" lang="es-ES" sz="2000" spc="-1" strike="noStrike">
              <a:latin typeface="Arial"/>
            </a:endParaRPr>
          </a:p>
          <a:p>
            <a:pPr marL="216000" indent="-214200">
              <a:lnSpc>
                <a:spcPct val="100000"/>
              </a:lnSpc>
              <a:tabLst>
                <a:tab algn="l" pos="0"/>
              </a:tabLst>
            </a:pPr>
            <a:r>
              <a:rPr b="0" lang="en-US" sz="2000" spc="-1" strike="noStrike">
                <a:latin typeface="Arial"/>
              </a:rPr>
              <a:t>- Hilo conductor: la base de datos Ventas con dbo.Cliente y dbo.Pedido. Todos los ejemplos, el Laboratorio 2A y el 2B reutilizan esas tablas, de modo que cada concepto se apoya en el anterior.</a:t>
            </a:r>
            <a:endParaRPr b="0" lang="es-ES" sz="2000" spc="-1" strike="noStrike">
              <a:latin typeface="Arial"/>
            </a:endParaRPr>
          </a:p>
          <a:p>
            <a:pPr marL="216000" indent="-214200">
              <a:lnSpc>
                <a:spcPct val="100000"/>
              </a:lnSpc>
              <a:tabLst>
                <a:tab algn="l" pos="0"/>
              </a:tabLst>
            </a:pPr>
            <a:r>
              <a:rPr b="0" lang="en-US" sz="2000" spc="-1" strike="noStrike">
                <a:latin typeface="Arial"/>
              </a:rPr>
              <a:t>- Bloque 1 (DDL): tablas con restricciones, vistas estándar e indexadas, procedimientos almacenados y cómo el motor cachea y recompila planes (Plan Cache).</a:t>
            </a:r>
            <a:endParaRPr b="0" lang="es-ES" sz="2000" spc="-1" strike="noStrike">
              <a:latin typeface="Arial"/>
            </a:endParaRPr>
          </a:p>
          <a:p>
            <a:pPr marL="216000" indent="-214200">
              <a:lnSpc>
                <a:spcPct val="100000"/>
              </a:lnSpc>
              <a:tabLst>
                <a:tab algn="l" pos="0"/>
              </a:tabLst>
            </a:pPr>
            <a:r>
              <a:rPr b="0" lang="en-US" sz="2000" spc="-1" strike="noStrike">
                <a:latin typeface="Arial"/>
              </a:rPr>
              <a:t>- Bloque 2 (DML avanzado): orden lógico del SELECT, JOINs lógicos y sus tres algoritmos físicos (Nested Loops, Merge, Hash), subconsultas, CTE, window functions y tablas vectoriales nativas (SQL Server 2025).</a:t>
            </a:r>
            <a:endParaRPr b="0" lang="es-ES" sz="2000" spc="-1" strike="noStrike">
              <a:latin typeface="Arial"/>
            </a:endParaRPr>
          </a:p>
          <a:p>
            <a:pPr marL="216000" indent="-214200">
              <a:lnSpc>
                <a:spcPct val="100000"/>
              </a:lnSpc>
              <a:tabLst>
                <a:tab algn="l" pos="0"/>
              </a:tabLst>
            </a:pPr>
            <a:r>
              <a:rPr b="0" lang="en-US" sz="2000" spc="-1" strike="noStrike">
                <a:latin typeface="Arial"/>
              </a:rPr>
              <a:t>- Bloque 3 (seguridad): autenticación, jerarquía Login → User → Rol → Permiso, GRANT/DENY/REVOKE, ownership chaining, mínimo privilegio y auditoría básica.</a:t>
            </a:r>
            <a:endParaRPr b="0" lang="es-ES" sz="2000" spc="-1" strike="noStrike">
              <a:latin typeface="Arial"/>
            </a:endParaRPr>
          </a:p>
          <a:p>
            <a:pPr marL="216000" indent="-214200">
              <a:lnSpc>
                <a:spcPct val="100000"/>
              </a:lnSpc>
              <a:tabLst>
                <a:tab algn="l" pos="0"/>
              </a:tabLst>
            </a:pPr>
            <a:r>
              <a:rPr b="0" lang="en-US" sz="2000" spc="-1" strike="noStrike">
                <a:latin typeface="Arial"/>
              </a:rPr>
              <a:t>- Aviso de planificación: Laboratorio 2A tras DML (~1 h) y Laboratorio 2B al final de seguridad (~1 h). Si el grupo va justo de tiempo, se recortan ejercicios opcionales, nunca los pasos de verificación.</a:t>
            </a:r>
            <a:endParaRPr b="0" lang="es-ES" sz="2000" spc="-1" strike="noStrike">
              <a:latin typeface="Arial"/>
            </a:endParaRPr>
          </a:p>
          <a:p>
            <a:pPr marL="216000" indent="-214200">
              <a:lnSpc>
                <a:spcPct val="100000"/>
              </a:lnSpc>
              <a:tabLst>
                <a:tab algn="l" pos="0"/>
              </a:tabLst>
            </a:pPr>
            <a:r>
              <a:rPr b="0" lang="en-US" sz="2000" spc="-1" strike="noStrike">
                <a:latin typeface="Arial"/>
              </a:rPr>
              <a:t>- Requisito previo: SSMS o VS Code MSSQL conectados a una instancia 2025 con permisos de sysadmin (para crear logins y bases de datos).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parte de vuestro trabajo actual depende más de que el modelo de datos esté bien definido (integridad) y cuál de que esté bien protegido?</a:t>
            </a:r>
            <a:endParaRPr b="0" lang="es-ES" sz="2000" spc="-1" strike="noStrike">
              <a:latin typeface="Arial"/>
            </a:endParaRPr>
          </a:p>
          <a:p>
            <a:pPr marL="216000" indent="-213840">
              <a:lnSpc>
                <a:spcPct val="100000"/>
              </a:lnSpc>
              <a:tabLst>
                <a:tab algn="l" pos="0"/>
              </a:tabLst>
            </a:pPr>
            <a:r>
              <a:rPr b="0" lang="en-US" sz="2000" spc="-1" strike="noStrike">
                <a:latin typeface="Arial"/>
              </a:rPr>
              <a:t>- ¿Alguna vez habéis visto una aplicación conectándose con sa o con un usuario db_owner? ¿Qué podría salir mal?</a:t>
            </a:r>
            <a:endParaRPr b="0" lang="es-ES" sz="2000" spc="-1" strike="noStrike">
              <a:latin typeface="Arial"/>
            </a:endParaRPr>
          </a:p>
        </p:txBody>
      </p:sp>
      <p:sp>
        <p:nvSpPr>
          <p:cNvPr id="2085"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58AB23E5-3CF7-4120-8069-EB1967BFEE54}"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6" name="PlaceHolder 1"/>
          <p:cNvSpPr>
            <a:spLocks noGrp="1"/>
          </p:cNvSpPr>
          <p:nvPr>
            <p:ph type="sldImg"/>
          </p:nvPr>
        </p:nvSpPr>
        <p:spPr>
          <a:xfrm>
            <a:off x="685800" y="1143000"/>
            <a:ext cx="5483880" cy="3083760"/>
          </a:xfrm>
          <a:prstGeom prst="rect">
            <a:avLst/>
          </a:prstGeom>
        </p:spPr>
      </p:sp>
      <p:sp>
        <p:nvSpPr>
          <p:cNvPr id="2087"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Que el alumno sepa declarar tablas con las cinco restricciones básicas (PK, FK, CHECK, UNIQUE, DEFAULT) y entienda qué hace el motor internamente con cada una.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Mostrar el script de dbo.Cliente y dbo.Pedido línea a línea. Se nombran explícitamente todas las restricciones (PK_, FK_, UQ_, CK_, DF_): si no, SQL Server genera nombres con sufijo aleatorio (p. ej. PK__Cliente__A1B2C3) que complican los scripts de despliegue y las comparaciones entre entornos.</a:t>
            </a:r>
            <a:endParaRPr b="0" lang="es-ES" sz="2000" spc="-1" strike="noStrike">
              <a:latin typeface="Arial"/>
            </a:endParaRPr>
          </a:p>
          <a:p>
            <a:pPr marL="216000" indent="-214200">
              <a:lnSpc>
                <a:spcPct val="100000"/>
              </a:lnSpc>
              <a:tabLst>
                <a:tab algn="l" pos="0"/>
              </a:tabLst>
            </a:pPr>
            <a:r>
              <a:rPr b="0" lang="en-US" sz="2000" spc="-1" strike="noStrike">
                <a:latin typeface="Arial"/>
              </a:rPr>
              <a:t>- PRIMARY KEY: identifica la fila, obliga a NOT NULL y crea un índice único; por defecto es CLUSTERED salvo que ya exista uno. Elegir una clave estrecha, estática y creciente (IDENTITY) reduce Page Splits y el tamaño de todos los índices non-clustered, que incluyen la clave del clustered.</a:t>
            </a:r>
            <a:endParaRPr b="0" lang="es-ES" sz="2000" spc="-1" strike="noStrike">
              <a:latin typeface="Arial"/>
            </a:endParaRPr>
          </a:p>
          <a:p>
            <a:pPr marL="216000" indent="-214200">
              <a:lnSpc>
                <a:spcPct val="100000"/>
              </a:lnSpc>
              <a:tabLst>
                <a:tab algn="l" pos="0"/>
              </a:tabLst>
            </a:pPr>
            <a:r>
              <a:rPr b="0" lang="en-US" sz="2000" spc="-1" strike="noStrike">
                <a:latin typeface="Arial"/>
              </a:rPr>
              <a:t>- UNIQUE: crea un índice único non-clustered. Admite un solo NULL por columna (a diferencia de la norma ANSI). Para «único salvo NULL» se usa un índice filtrado: CREATE UNIQUE INDEX ... WHERE Col IS NOT NULL.</a:t>
            </a:r>
            <a:endParaRPr b="0" lang="es-ES" sz="2000" spc="-1" strike="noStrike">
              <a:latin typeface="Arial"/>
            </a:endParaRPr>
          </a:p>
          <a:p>
            <a:pPr marL="216000" indent="-214200">
              <a:lnSpc>
                <a:spcPct val="100000"/>
              </a:lnSpc>
              <a:tabLst>
                <a:tab algn="l" pos="0"/>
              </a:tabLst>
            </a:pPr>
            <a:r>
              <a:rPr b="0" lang="en-US" sz="2000" spc="-1" strike="noStrike">
                <a:latin typeface="Arial"/>
              </a:rPr>
              <a:t>- FOREIGN KEY: garantiza integridad referencial, pero SQL Server NO crea el índice en la columna hija. Sin índice, un DELETE en el padre obliga a escanear la tabla hija. Es el error de diseño más frecuente.</a:t>
            </a:r>
            <a:endParaRPr b="0" lang="es-ES" sz="2000" spc="-1" strike="noStrike">
              <a:latin typeface="Arial"/>
            </a:endParaRPr>
          </a:p>
          <a:p>
            <a:pPr marL="216000" indent="-214200">
              <a:lnSpc>
                <a:spcPct val="100000"/>
              </a:lnSpc>
              <a:tabLst>
                <a:tab algn="l" pos="0"/>
              </a:tabLst>
            </a:pPr>
            <a:r>
              <a:rPr b="0" lang="en-US" sz="2000" spc="-1" strike="noStrike">
                <a:latin typeface="Arial"/>
              </a:rPr>
              <a:t>- CHECK: se evalúa en INSERT/UPDATE; si es «trusted», el optimizador la usa para eliminar ramas imposibles del plan. DEFAULT: se aplica cuando la columna se omite en el INSERT; es una restricción a nivel de columna.</a:t>
            </a:r>
            <a:endParaRPr b="0" lang="es-ES" sz="2000" spc="-1" strike="noStrike">
              <a:latin typeface="Arial"/>
            </a:endParaRPr>
          </a:p>
          <a:p>
            <a:pPr marL="216000" indent="-214200">
              <a:lnSpc>
                <a:spcPct val="100000"/>
              </a:lnSpc>
              <a:tabLst>
                <a:tab algn="l" pos="0"/>
              </a:tabLst>
            </a:pPr>
            <a:r>
              <a:rPr b="0" lang="en-US" sz="2000" spc="-1" strike="noStrike">
                <a:latin typeface="Arial"/>
              </a:rPr>
              <a:t>- Tipos de datos: DECIMAL(12,2) para importes (nunca FLOAT/MONEY por redondeos), DATETIME2(0) en lugar de DATETIME (más preciso y compacto), NVARCHAR sólo si se necesita Unicode.</a:t>
            </a:r>
            <a:endParaRPr b="0" lang="es-ES" sz="2000" spc="-1" strike="noStrike">
              <a:latin typeface="Arial"/>
            </a:endParaRPr>
          </a:p>
          <a:p>
            <a:pPr marL="216000" indent="-214200">
              <a:lnSpc>
                <a:spcPct val="100000"/>
              </a:lnSpc>
              <a:tabLst>
                <a:tab algn="l" pos="0"/>
              </a:tabLst>
            </a:pPr>
            <a:r>
              <a:rPr b="0" lang="en-US" sz="2000" spc="-1" strike="noStrike">
                <a:latin typeface="Arial"/>
              </a:rPr>
              <a:t>- Consultar el catálogo: sys.key_constraints, sys.foreign_keys, sys.check_constraints, sys.default_constraints; o EXEC sp_help N'dbo.Pedido'.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pasaría con un DELETE de un cliente que tiene 2 millones de pedidos si la FK no tiene índice de apoyo?</a:t>
            </a:r>
            <a:endParaRPr b="0" lang="es-ES" sz="2000" spc="-1" strike="noStrike">
              <a:latin typeface="Arial"/>
            </a:endParaRPr>
          </a:p>
          <a:p>
            <a:pPr marL="216000" indent="-213840">
              <a:lnSpc>
                <a:spcPct val="100000"/>
              </a:lnSpc>
              <a:tabLst>
                <a:tab algn="l" pos="0"/>
              </a:tabLst>
            </a:pPr>
            <a:r>
              <a:rPr b="0" lang="en-US" sz="2000" spc="-1" strike="noStrike">
                <a:latin typeface="Arial"/>
              </a:rPr>
              <a:t>- ¿Es mejor validar una regla de negocio en la aplicación, con un CHECK o con ambas? ¿Quién protege la BD de otra aplicación que escriba directamente?</a:t>
            </a:r>
            <a:endParaRPr b="0" lang="es-ES" sz="2000" spc="-1" strike="noStrike">
              <a:latin typeface="Arial"/>
            </a:endParaRPr>
          </a:p>
        </p:txBody>
      </p:sp>
      <p:sp>
        <p:nvSpPr>
          <p:cNvPr id="2088"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6DD59EB3-90F9-4FE7-AAD6-0029DD4FA050}"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9" name="PlaceHolder 1"/>
          <p:cNvSpPr>
            <a:spLocks noGrp="1"/>
          </p:cNvSpPr>
          <p:nvPr>
            <p:ph type="sldImg"/>
          </p:nvPr>
        </p:nvSpPr>
        <p:spPr>
          <a:xfrm>
            <a:off x="685800" y="1143000"/>
            <a:ext cx="5483880" cy="3083760"/>
          </a:xfrm>
          <a:prstGeom prst="rect">
            <a:avLst/>
          </a:prstGeom>
        </p:spPr>
      </p:sp>
      <p:sp>
        <p:nvSpPr>
          <p:cNvPr id="2090"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Interiorizar los seis errores de diseño más habituales en producción y su consecuencia medible en rendimiento o integridad.</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Tabla sin PK (heap): permite duplicados, complica replicación transaccional, CDC y los UPDATE/DELETE con forwarded records. Salvo staging, toda tabla debe tener PK.</a:t>
            </a:r>
            <a:endParaRPr b="0" lang="es-ES" sz="2000" spc="-1" strike="noStrike">
              <a:latin typeface="Arial"/>
            </a:endParaRPr>
          </a:p>
          <a:p>
            <a:pPr marL="216000" indent="-214200">
              <a:lnSpc>
                <a:spcPct val="100000"/>
              </a:lnSpc>
              <a:tabLst>
                <a:tab algn="l" pos="0"/>
              </a:tabLst>
            </a:pPr>
            <a:r>
              <a:rPr b="0" lang="en-US" sz="2000" spc="-1" strike="noStrike">
                <a:latin typeface="Arial"/>
              </a:rPr>
              <a:t>- FK sin índice en la columna hija: provoca scans y bloqueos largos al borrar o actualizar en el padre. Detectarlo con sys.foreign_keys cruzado con sys.index_columns.</a:t>
            </a:r>
            <a:endParaRPr b="0" lang="es-ES" sz="2000" spc="-1" strike="noStrike">
              <a:latin typeface="Arial"/>
            </a:endParaRPr>
          </a:p>
          <a:p>
            <a:pPr marL="216000" indent="-214200">
              <a:lnSpc>
                <a:spcPct val="100000"/>
              </a:lnSpc>
              <a:tabLst>
                <a:tab algn="l" pos="0"/>
              </a:tabLst>
            </a:pPr>
            <a:r>
              <a:rPr b="0" lang="en-US" sz="2000" spc="-1" strike="noStrike">
                <a:latin typeface="Arial"/>
              </a:rPr>
              <a:t>- WITH NOCHECK: añade la restricción sin validar los datos existentes y la marca como no confiable (sys.foreign_keys.is_not_trusted = 1). El optimizador no puede usarla y pierde optimizaciones como la eliminación de joins. Reparar con ALTER TABLE ... WITH CHECK CHECK CONSTRAINT.</a:t>
            </a:r>
            <a:endParaRPr b="0" lang="es-ES" sz="2000" spc="-1" strike="noStrike">
              <a:latin typeface="Arial"/>
            </a:endParaRPr>
          </a:p>
          <a:p>
            <a:pPr marL="216000" indent="-214200">
              <a:lnSpc>
                <a:spcPct val="100000"/>
              </a:lnSpc>
              <a:tabLst>
                <a:tab algn="l" pos="0"/>
              </a:tabLst>
            </a:pPr>
            <a:r>
              <a:rPr b="0" lang="en-US" sz="2000" spc="-1" strike="noStrike">
                <a:latin typeface="Arial"/>
              </a:rPr>
              <a:t>- VARCHAR vs NVARCHAR: NVARCHAR usa 2 bytes por carácter; mezclarlos en un JOIN o WHERE genera conversión implícita (CONVERT_IMPLICIT en el plan) y puede impedir un Index Seek por precedencia de tipos.</a:t>
            </a:r>
            <a:endParaRPr b="0" lang="es-ES" sz="2000" spc="-1" strike="noStrike">
              <a:latin typeface="Arial"/>
            </a:endParaRPr>
          </a:p>
          <a:p>
            <a:pPr marL="216000" indent="-214200">
              <a:lnSpc>
                <a:spcPct val="100000"/>
              </a:lnSpc>
              <a:tabLst>
                <a:tab algn="l" pos="0"/>
              </a:tabLst>
            </a:pPr>
            <a:r>
              <a:rPr b="0" lang="en-US" sz="2000" spc="-1" strike="noStrike">
                <a:latin typeface="Arial"/>
              </a:rPr>
              <a:t>- GUID aleatorio como clustered key (NEWID()): inserciones por toda la B-Tree, Page Splits, fragmentación y Buffer Pool ineficiente. Alternativas: IDENTITY, SEQUENCE o NEWSEQUENTIALID().</a:t>
            </a:r>
            <a:endParaRPr b="0" lang="es-ES" sz="2000" spc="-1" strike="noStrike">
              <a:latin typeface="Arial"/>
            </a:endParaRPr>
          </a:p>
          <a:p>
            <a:pPr marL="216000" indent="-214200">
              <a:lnSpc>
                <a:spcPct val="100000"/>
              </a:lnSpc>
              <a:tabLst>
                <a:tab algn="l" pos="0"/>
              </a:tabLst>
            </a:pPr>
            <a:r>
              <a:rPr b="0" lang="en-US" sz="2000" spc="-1" strike="noStrike">
                <a:latin typeface="Arial"/>
              </a:rPr>
              <a:t>- Tipos sobredimensionados (BIGINT, VARCHAR(MAX), CHAR(500)): más páginas de 8 KB, más I/O y más memoria de Buffer Pool para el mismo dato; y VARCHAR(MAX) no se puede indexar como clave.</a:t>
            </a:r>
            <a:endParaRPr b="0" lang="es-ES" sz="2000" spc="-1" strike="noStrike">
              <a:latin typeface="Arial"/>
            </a:endParaRPr>
          </a:p>
          <a:p>
            <a:pPr marL="216000" indent="-214200">
              <a:lnSpc>
                <a:spcPct val="100000"/>
              </a:lnSpc>
              <a:tabLst>
                <a:tab algn="l" pos="0"/>
              </a:tabLst>
            </a:pPr>
            <a:r>
              <a:rPr b="0" lang="en-US" sz="2000" spc="-1" strike="noStrike">
                <a:latin typeface="Arial"/>
              </a:rPr>
              <a:t>- Regla práctica: el diseño físico se revisa con la herramienta de los datos, no con intuición: sys.dm_db_index_usage_stats y los planes de ejecución.</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¿Cuál de estos errores creéis que existe hoy en alguna de vuestras bases de datos? ¿Cómo lo detectaríais con una consulta al catálogo?</a:t>
            </a:r>
            <a:endParaRPr b="0" lang="es-ES" sz="2000" spc="-1" strike="noStrike">
              <a:latin typeface="Arial"/>
            </a:endParaRPr>
          </a:p>
          <a:p>
            <a:pPr marL="216000" indent="-213840">
              <a:lnSpc>
                <a:spcPct val="100000"/>
              </a:lnSpc>
              <a:tabLst>
                <a:tab algn="l" pos="0"/>
              </a:tabLst>
            </a:pPr>
            <a:r>
              <a:rPr b="0" lang="en-US" sz="2000" spc="-1" strike="noStrike">
                <a:latin typeface="Arial"/>
              </a:rPr>
              <a:t>- ¿Por qué un GUID aleatorio es mala idea como clustered key, pero puede ser aceptable como clave no agrupada?</a:t>
            </a:r>
            <a:endParaRPr b="0" lang="es-ES" sz="2000" spc="-1" strike="noStrike">
              <a:latin typeface="Arial"/>
            </a:endParaRPr>
          </a:p>
        </p:txBody>
      </p:sp>
      <p:sp>
        <p:nvSpPr>
          <p:cNvPr id="2091"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871A39B1-D6F5-4F2A-960E-1E0BCE2EA7EB}"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2" name="PlaceHolder 1"/>
          <p:cNvSpPr>
            <a:spLocks noGrp="1"/>
          </p:cNvSpPr>
          <p:nvPr>
            <p:ph type="sldImg"/>
          </p:nvPr>
        </p:nvSpPr>
        <p:spPr>
          <a:xfrm>
            <a:off x="685800" y="1143000"/>
            <a:ext cx="5483880" cy="3083760"/>
          </a:xfrm>
          <a:prstGeom prst="rect">
            <a:avLst/>
          </a:prstGeom>
        </p:spPr>
      </p:sp>
      <p:sp>
        <p:nvSpPr>
          <p:cNvPr id="2093"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Distinguir una vista estándar (consulta almacenada, sin datos) de una vista indexada (resultado materializado) y saber cuándo conviene cada una.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Vista estándar: sólo se guarda la definición en sys.sql_modules. Al consultarla, el optimizador la expande (view expansion) dentro de la consulta externa y genera un único plan; no hay penalización ni ganancia de rendimiento por sí misma.</a:t>
            </a:r>
            <a:endParaRPr b="0" lang="es-ES" sz="2000" spc="-1" strike="noStrike">
              <a:latin typeface="Arial"/>
            </a:endParaRPr>
          </a:p>
          <a:p>
            <a:pPr marL="216000" indent="-214200">
              <a:lnSpc>
                <a:spcPct val="100000"/>
              </a:lnSpc>
              <a:tabLst>
                <a:tab algn="l" pos="0"/>
              </a:tabLst>
            </a:pPr>
            <a:r>
              <a:rPr b="0" lang="en-US" sz="2000" spc="-1" strike="noStrike">
                <a:latin typeface="Arial"/>
              </a:rPr>
              <a:t>- Usos: abstraer joins complejos, ocultar columnas sensibles y dar un punto de seguridad estable (GRANT SELECT sobre la vista sin dar acceso a la tabla; el ownership chaining lo hace posible).</a:t>
            </a:r>
            <a:endParaRPr b="0" lang="es-ES" sz="2000" spc="-1" strike="noStrike">
              <a:latin typeface="Arial"/>
            </a:endParaRPr>
          </a:p>
          <a:p>
            <a:pPr marL="216000" indent="-214200">
              <a:lnSpc>
                <a:spcPct val="100000"/>
              </a:lnSpc>
              <a:tabLst>
                <a:tab algn="l" pos="0"/>
              </a:tabLst>
            </a:pPr>
            <a:r>
              <a:rPr b="0" lang="en-US" sz="2000" spc="-1" strike="noStrike">
                <a:latin typeface="Arial"/>
              </a:rPr>
              <a:t>- Anidar vistas sobre vistas es un antipatrón: cada capa añade joins que el optimizador debe simplificar y los planes se vuelven difíciles de leer.</a:t>
            </a:r>
            <a:endParaRPr b="0" lang="es-ES" sz="2000" spc="-1" strike="noStrike">
              <a:latin typeface="Arial"/>
            </a:endParaRPr>
          </a:p>
          <a:p>
            <a:pPr marL="216000" indent="-214200">
              <a:lnSpc>
                <a:spcPct val="100000"/>
              </a:lnSpc>
              <a:tabLst>
                <a:tab algn="l" pos="0"/>
              </a:tabLst>
            </a:pPr>
            <a:r>
              <a:rPr b="0" lang="en-US" sz="2000" spc="-1" strike="noStrike">
                <a:latin typeface="Arial"/>
              </a:rPr>
              <a:t>- Vista indexada (materializada): al crear sobre ella un UNIQUE CLUSTERED INDEX, SQL Server almacena físicamente el resultado y lo mantiene sincronizado en cada INSERT/UPDATE/DELETE de las tablas base (coste en escrituras).</a:t>
            </a:r>
            <a:endParaRPr b="0" lang="es-ES" sz="2000" spc="-1" strike="noStrike">
              <a:latin typeface="Arial"/>
            </a:endParaRPr>
          </a:p>
          <a:p>
            <a:pPr marL="216000" indent="-214200">
              <a:lnSpc>
                <a:spcPct val="100000"/>
              </a:lnSpc>
              <a:tabLst>
                <a:tab algn="l" pos="0"/>
              </a:tabLst>
            </a:pPr>
            <a:r>
              <a:rPr b="0" lang="en-US" sz="2000" spc="-1" strike="noStrike">
                <a:latin typeface="Arial"/>
              </a:rPr>
              <a:t>- En ediciones Enterprise/Developer el optimizador puede usar la vista indexada aunque la consulta no la nombre (matching automático); en Standard hay que usar la pista WITH (NOEXPAND).</a:t>
            </a:r>
            <a:endParaRPr b="0" lang="es-ES" sz="2000" spc="-1" strike="noStrike">
              <a:latin typeface="Arial"/>
            </a:endParaRPr>
          </a:p>
          <a:p>
            <a:pPr marL="216000" indent="-214200">
              <a:lnSpc>
                <a:spcPct val="100000"/>
              </a:lnSpc>
              <a:tabLst>
                <a:tab algn="l" pos="0"/>
              </a:tabLst>
            </a:pPr>
            <a:r>
              <a:rPr b="0" lang="en-US" sz="2000" spc="-1" strike="noStrike">
                <a:latin typeface="Arial"/>
              </a:rPr>
              <a:t>- Cuándo usarla: agregaciones costosas y muy repetidas sobre tablas de lectura intensiva (informes, dashboards). Cuándo no: tablas con alta tasa de escritura, porque cada DML paga el mantenimiento.</a:t>
            </a:r>
            <a:endParaRPr b="0" lang="es-ES" sz="2000" spc="-1" strike="noStrike">
              <a:latin typeface="Arial"/>
            </a:endParaRPr>
          </a:p>
          <a:p>
            <a:pPr marL="216000" indent="-214200">
              <a:lnSpc>
                <a:spcPct val="100000"/>
              </a:lnSpc>
              <a:tabLst>
                <a:tab algn="l" pos="0"/>
              </a:tabLst>
            </a:pPr>
            <a:r>
              <a:rPr b="0" lang="en-US" sz="2000" spc="-1" strike="noStrike">
                <a:latin typeface="Arial"/>
              </a:rPr>
              <a:t>- Consulta útil: SELECT name, type_desc FROM sys.views; y sys.indexes WHERE object_id = OBJECT_ID('dbo.vVentasCliente').</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¿Una vista estándar mejora el rendimiento de una consulta? ¿Por qué sí o por qué no?</a:t>
            </a:r>
            <a:endParaRPr b="0" lang="es-ES" sz="2000" spc="-1" strike="noStrike">
              <a:latin typeface="Arial"/>
            </a:endParaRPr>
          </a:p>
          <a:p>
            <a:pPr marL="216000" indent="-213840">
              <a:lnSpc>
                <a:spcPct val="100000"/>
              </a:lnSpc>
              <a:tabLst>
                <a:tab algn="l" pos="0"/>
              </a:tabLst>
            </a:pPr>
            <a:r>
              <a:rPr b="0" lang="en-US" sz="2000" spc="-1" strike="noStrike">
                <a:latin typeface="Arial"/>
              </a:rPr>
              <a:t>- Si una tabla recibe 5 000 inserciones por segundo, ¿pondríais una vista indexada sobre ella? ¿Qué medirías antes de decidir?</a:t>
            </a:r>
            <a:endParaRPr b="0" lang="es-ES" sz="2000" spc="-1" strike="noStrike">
              <a:latin typeface="Arial"/>
            </a:endParaRPr>
          </a:p>
        </p:txBody>
      </p:sp>
      <p:sp>
        <p:nvSpPr>
          <p:cNvPr id="2094"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6DDADEB4-3412-4E21-917B-F92973A64412}"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5" name="PlaceHolder 1"/>
          <p:cNvSpPr>
            <a:spLocks noGrp="1"/>
          </p:cNvSpPr>
          <p:nvPr>
            <p:ph type="sldImg"/>
          </p:nvPr>
        </p:nvSpPr>
        <p:spPr>
          <a:xfrm>
            <a:off x="685800" y="1143000"/>
            <a:ext cx="5483880" cy="3083760"/>
          </a:xfrm>
          <a:prstGeom prst="rect">
            <a:avLst/>
          </a:prstGeom>
        </p:spPr>
      </p:sp>
      <p:sp>
        <p:nvSpPr>
          <p:cNvPr id="2096"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Crear correctamente una vista indexada conociendo sus restricciones y sus costes de mantenimiento.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WITH SCHEMABINDING enlaza la vista a las tablas base: impide ALTER/DROP de columnas usadas mientras la vista exista. Obliga a nombres de dos partes (dbo.Pedido) y prohíbe SELECT *.</a:t>
            </a:r>
            <a:endParaRPr b="0" lang="es-ES" sz="2000" spc="-1" strike="noStrike">
              <a:latin typeface="Arial"/>
            </a:endParaRPr>
          </a:p>
          <a:p>
            <a:pPr marL="216000" indent="-214200">
              <a:lnSpc>
                <a:spcPct val="100000"/>
              </a:lnSpc>
              <a:tabLst>
                <a:tab algn="l" pos="0"/>
              </a:tabLst>
            </a:pPr>
            <a:r>
              <a:rPr b="0" lang="en-US" sz="2000" spc="-1" strike="noStrike">
                <a:latin typeface="Arial"/>
              </a:rPr>
              <a:t>- Si la vista agrupa (GROUP BY), debe incluir COUNT_BIG(*): permite al motor mantener el resultado de forma incremental al borrar filas. SUM sólo sobre expresiones no nulables (aquí Total es NOT NULL).</a:t>
            </a:r>
            <a:endParaRPr b="0" lang="es-ES" sz="2000" spc="-1" strike="noStrike">
              <a:latin typeface="Arial"/>
            </a:endParaRPr>
          </a:p>
          <a:p>
            <a:pPr marL="216000" indent="-214200">
              <a:lnSpc>
                <a:spcPct val="100000"/>
              </a:lnSpc>
              <a:tabLst>
                <a:tab algn="l" pos="0"/>
              </a:tabLst>
            </a:pPr>
            <a:r>
              <a:rPr b="0" lang="en-US" sz="2000" spc="-1" strike="noStrike">
                <a:latin typeface="Arial"/>
              </a:rPr>
              <a:t>- Construcciones prohibidas: OUTER JOIN, subconsultas, DISTINCT, TOP, UNION, MIN/MAX/AVG, ORDER BY, CTE, tablas derivadas y auto-joins. Expresiones no deterministas (GETDATE) tampoco.</a:t>
            </a:r>
            <a:endParaRPr b="0" lang="es-ES" sz="2000" spc="-1" strike="noStrike">
              <a:latin typeface="Arial"/>
            </a:endParaRPr>
          </a:p>
          <a:p>
            <a:pPr marL="216000" indent="-214200">
              <a:lnSpc>
                <a:spcPct val="100000"/>
              </a:lnSpc>
              <a:tabLst>
                <a:tab algn="l" pos="0"/>
              </a:tabLst>
            </a:pPr>
            <a:r>
              <a:rPr b="0" lang="en-US" sz="2000" spc="-1" strike="noStrike">
                <a:latin typeface="Arial"/>
              </a:rPr>
              <a:t>- El primer índice debe ser UNIQUE CLUSTERED; después se pueden crear índices non-clustered adicionales sobre la vista.</a:t>
            </a:r>
            <a:endParaRPr b="0" lang="es-ES" sz="2000" spc="-1" strike="noStrike">
              <a:latin typeface="Arial"/>
            </a:endParaRPr>
          </a:p>
          <a:p>
            <a:pPr marL="216000" indent="-214200">
              <a:lnSpc>
                <a:spcPct val="100000"/>
              </a:lnSpc>
              <a:tabLst>
                <a:tab algn="l" pos="0"/>
              </a:tabLst>
            </a:pPr>
            <a:r>
              <a:rPr b="0" lang="en-US" sz="2000" spc="-1" strike="noStrike">
                <a:latin typeface="Arial"/>
              </a:rPr>
              <a:t>- Opciones SET requeridas al crearla y al modificar las tablas base: ANSI_NULLS, ANSI_PADDING, ANSI_WARNINGS, ARITHABORT, CONCAT_NULL_YIELDS_NULL y QUOTED_IDENTIFIER en ON; NUMERIC_ROUNDABORT en OFF. SSMS las trae bien por defecto; ciertos drivers antiguos no (error 1934).</a:t>
            </a:r>
            <a:endParaRPr b="0" lang="es-ES" sz="2000" spc="-1" strike="noStrike">
              <a:latin typeface="Arial"/>
            </a:endParaRPr>
          </a:p>
          <a:p>
            <a:pPr marL="216000" indent="-214200">
              <a:lnSpc>
                <a:spcPct val="100000"/>
              </a:lnSpc>
              <a:tabLst>
                <a:tab algn="l" pos="0"/>
              </a:tabLst>
            </a:pPr>
            <a:r>
              <a:rPr b="0" lang="en-US" sz="2000" spc="-1" strike="noStrike">
                <a:latin typeface="Arial"/>
              </a:rPr>
              <a:t>- Consumo: en Standard hay que escribir WITH (NOEXPAND); en Enterprise el optimizador puede usarla automáticamente. Verificar en el plan: ¿aparece un Clustered Index Scan sobre la vista o se expande a las tablas base?</a:t>
            </a:r>
            <a:endParaRPr b="0" lang="es-ES" sz="2000" spc="-1" strike="noStrike">
              <a:latin typeface="Arial"/>
            </a:endParaRPr>
          </a:p>
          <a:p>
            <a:pPr marL="216000" indent="-214200">
              <a:lnSpc>
                <a:spcPct val="100000"/>
              </a:lnSpc>
              <a:tabLst>
                <a:tab algn="l" pos="0"/>
              </a:tabLst>
            </a:pPr>
            <a:r>
              <a:rPr b="0" lang="en-US" sz="2000" spc="-1" strike="noStrike">
                <a:latin typeface="Arial"/>
              </a:rPr>
              <a:t>- Advertencia de rendimiento: cada INSERT sobre dbo.Pedido provoca también una modificación en el índice de la vista, con su bloqueo y su log. Medir con SET STATISTICS IO y sys.dm_db_index_operational_stats.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¿Por qué creéis que se exige COUNT_BIG(*) cuando hay GROUP BY?</a:t>
            </a:r>
            <a:endParaRPr b="0" lang="es-ES" sz="2000" spc="-1" strike="noStrike">
              <a:latin typeface="Arial"/>
            </a:endParaRPr>
          </a:p>
          <a:p>
            <a:pPr marL="216000" indent="-213840">
              <a:lnSpc>
                <a:spcPct val="100000"/>
              </a:lnSpc>
              <a:tabLst>
                <a:tab algn="l" pos="0"/>
              </a:tabLst>
            </a:pPr>
            <a:r>
              <a:rPr b="0" lang="en-US" sz="2000" spc="-1" strike="noStrike">
                <a:latin typeface="Arial"/>
              </a:rPr>
              <a:t>- Un desarrollador quiere borrar una columna de dbo.Pedido y recibe un error de dependencia. ¿Qué lo causa y cómo lo localizaríais?</a:t>
            </a:r>
            <a:endParaRPr b="0" lang="es-ES" sz="2000" spc="-1" strike="noStrike">
              <a:latin typeface="Arial"/>
            </a:endParaRPr>
          </a:p>
        </p:txBody>
      </p:sp>
      <p:sp>
        <p:nvSpPr>
          <p:cNvPr id="2097"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3AAB4905-8F38-43FE-8B14-60A6D2E6AE67}"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8" name="PlaceHolder 1"/>
          <p:cNvSpPr>
            <a:spLocks noGrp="1"/>
          </p:cNvSpPr>
          <p:nvPr>
            <p:ph type="sldImg"/>
          </p:nvPr>
        </p:nvSpPr>
        <p:spPr>
          <a:xfrm>
            <a:off x="685800" y="1143000"/>
            <a:ext cx="5483880" cy="3083760"/>
          </a:xfrm>
          <a:prstGeom prst="rect">
            <a:avLst/>
          </a:prstGeom>
        </p:spPr>
      </p:sp>
      <p:sp>
        <p:nvSpPr>
          <p:cNvPr id="2099"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Entender qué aporta un procedimiento almacenado (rendimiento, encapsulación y seguridad) y escribir uno con las buenas prácticas básicas.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Un procedimiento almacenado (stored procedure, SP) es código T-SQL con nombre guardado en la BD. Se compila en la primera ejecución y el plan queda en el Plan Cache para reutilizarse.</a:t>
            </a:r>
            <a:endParaRPr b="0" lang="es-ES" sz="2000" spc="-1" strike="noStrike">
              <a:latin typeface="Arial"/>
            </a:endParaRPr>
          </a:p>
          <a:p>
            <a:pPr marL="216000" indent="-214200">
              <a:lnSpc>
                <a:spcPct val="100000"/>
              </a:lnSpc>
              <a:tabLst>
                <a:tab algn="l" pos="0"/>
              </a:tabLst>
            </a:pPr>
            <a:r>
              <a:rPr b="0" lang="en-US" sz="2000" spc="-1" strike="noStrike">
                <a:latin typeface="Arial"/>
              </a:rPr>
              <a:t>- Parámetros tipados: evitan la concatenación de cadenas y, con ella, la inyección SQL. Un parámetro con DEFAULT lo hace opcional.</a:t>
            </a:r>
            <a:endParaRPr b="0" lang="es-ES" sz="2000" spc="-1" strike="noStrike">
              <a:latin typeface="Arial"/>
            </a:endParaRPr>
          </a:p>
          <a:p>
            <a:pPr marL="216000" indent="-214200">
              <a:lnSpc>
                <a:spcPct val="100000"/>
              </a:lnSpc>
              <a:tabLst>
                <a:tab algn="l" pos="0"/>
              </a:tabLst>
            </a:pPr>
            <a:r>
              <a:rPr b="0" lang="en-US" sz="2000" spc="-1" strike="noStrike">
                <a:latin typeface="Arial"/>
              </a:rPr>
              <a:t>- SET NOCOUNT ON suprime los mensajes «n filas afectadas»: reduce tráfico de red y evita que algunos drivers interpreten esos mensajes como resultados.</a:t>
            </a:r>
            <a:endParaRPr b="0" lang="es-ES" sz="2000" spc="-1" strike="noStrike">
              <a:latin typeface="Arial"/>
            </a:endParaRPr>
          </a:p>
          <a:p>
            <a:pPr marL="216000" indent="-214200">
              <a:lnSpc>
                <a:spcPct val="100000"/>
              </a:lnSpc>
              <a:tabLst>
                <a:tab algn="l" pos="0"/>
              </a:tabLst>
            </a:pPr>
            <a:r>
              <a:rPr b="0" lang="en-US" sz="2000" spc="-1" strike="noStrike">
                <a:latin typeface="Arial"/>
              </a:rPr>
              <a:t>- CREATE OR ALTER (desde SQL Server 2016 SP1) conserva permisos y metadatos al modificar, a diferencia de DROP + CREATE que obliga a reasignar GRANTs.</a:t>
            </a:r>
            <a:endParaRPr b="0" lang="es-ES" sz="2000" spc="-1" strike="noStrike">
              <a:latin typeface="Arial"/>
            </a:endParaRPr>
          </a:p>
          <a:p>
            <a:pPr marL="216000" indent="-214200">
              <a:lnSpc>
                <a:spcPct val="100000"/>
              </a:lnSpc>
              <a:tabLst>
                <a:tab algn="l" pos="0"/>
              </a:tabLst>
            </a:pPr>
            <a:r>
              <a:rPr b="0" lang="en-US" sz="2000" spc="-1" strike="noStrike">
                <a:latin typeface="Arial"/>
              </a:rPr>
              <a:t>- Seguridad: se puede dar EXECUTE sobre el procedimiento sin dar permisos sobre las tablas gracias al ownership chaining (se verá en la parte de seguridad). Es la «API» de la BD.</a:t>
            </a:r>
            <a:endParaRPr b="0" lang="es-ES" sz="2000" spc="-1" strike="noStrike">
              <a:latin typeface="Arial"/>
            </a:endParaRPr>
          </a:p>
          <a:p>
            <a:pPr marL="216000" indent="-214200">
              <a:lnSpc>
                <a:spcPct val="100000"/>
              </a:lnSpc>
              <a:tabLst>
                <a:tab algn="l" pos="0"/>
              </a:tabLst>
            </a:pPr>
            <a:r>
              <a:rPr b="0" lang="en-US" sz="2000" spc="-1" strike="noStrike">
                <a:latin typeface="Arial"/>
              </a:rPr>
              <a:t>- Gestión de errores y transacciones: TRY...CATCH, THROW y SET XACT_ABORT ON para que cualquier error aborte y revierta la transacción abierta.</a:t>
            </a:r>
            <a:endParaRPr b="0" lang="es-ES" sz="2000" spc="-1" strike="noStrike">
              <a:latin typeface="Arial"/>
            </a:endParaRPr>
          </a:p>
          <a:p>
            <a:pPr marL="216000" indent="-214200">
              <a:lnSpc>
                <a:spcPct val="100000"/>
              </a:lnSpc>
              <a:tabLst>
                <a:tab algn="l" pos="0"/>
              </a:tabLst>
            </a:pPr>
            <a:r>
              <a:rPr b="0" lang="en-US" sz="2000" spc="-1" strike="noStrike">
                <a:latin typeface="Arial"/>
              </a:rPr>
              <a:t>- Metadatos útiles: sys.procedures, sys.sql_modules (definición), sys.dm_exec_procedure_stats (veces ejecutado, tiempo, lecturas lógicas por procedimiento).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ventajas tiene dar EXECUTE sobre un procedimiento frente a dar SELECT/INSERT sobre las tablas?</a:t>
            </a:r>
            <a:endParaRPr b="0" lang="es-ES" sz="2000" spc="-1" strike="noStrike">
              <a:latin typeface="Arial"/>
            </a:endParaRPr>
          </a:p>
          <a:p>
            <a:pPr marL="216000" indent="-213840">
              <a:lnSpc>
                <a:spcPct val="100000"/>
              </a:lnSpc>
              <a:tabLst>
                <a:tab algn="l" pos="0"/>
              </a:tabLst>
            </a:pPr>
            <a:r>
              <a:rPr b="0" lang="en-US" sz="2000" spc="-1" strike="noStrike">
                <a:latin typeface="Arial"/>
              </a:rPr>
              <a:t>- ¿En qué se diferencia un procedimiento almacenado de una consulta enviada como cadena desde la aplicación (ad hoc)?</a:t>
            </a:r>
            <a:endParaRPr b="0" lang="es-ES" sz="2000" spc="-1" strike="noStrike">
              <a:latin typeface="Arial"/>
            </a:endParaRPr>
          </a:p>
        </p:txBody>
      </p:sp>
      <p:sp>
        <p:nvSpPr>
          <p:cNvPr id="2100"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30376295-3A32-4CB1-A169-45ED8A2410C0}"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1" name="PlaceHolder 1"/>
          <p:cNvSpPr>
            <a:spLocks noGrp="1"/>
          </p:cNvSpPr>
          <p:nvPr>
            <p:ph type="sldImg"/>
          </p:nvPr>
        </p:nvSpPr>
        <p:spPr>
          <a:xfrm>
            <a:off x="685800" y="1143000"/>
            <a:ext cx="5483880" cy="3083760"/>
          </a:xfrm>
          <a:prstGeom prst="rect">
            <a:avLst/>
          </a:prstGeom>
        </p:spPr>
      </p:sp>
      <p:sp>
        <p:nvSpPr>
          <p:cNvPr id="2102"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Comprender el ciclo compilar → cachear → reutilizar → recompilar y reconocer un problema de parameter sniffing con sus mitigaciones.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Compilar es caro (CPU): parse, binding (algebrizer), optimización basada en costes con estadísticas. El plan resultante se guarda en el Plan Cache, parte del Buffer Pool, y se localiza por un hash del texto de la consulta más atributos (SET options, esquema por defecto).</a:t>
            </a:r>
            <a:endParaRPr b="0" lang="es-ES" sz="2000" spc="-1" strike="noStrike">
              <a:latin typeface="Arial"/>
            </a:endParaRPr>
          </a:p>
          <a:p>
            <a:pPr marL="216000" indent="-214200">
              <a:lnSpc>
                <a:spcPct val="100000"/>
              </a:lnSpc>
              <a:tabLst>
                <a:tab algn="l" pos="0"/>
              </a:tabLst>
            </a:pPr>
            <a:r>
              <a:rPr b="0" lang="en-US" sz="2000" spc="-1" strike="noStrike">
                <a:latin typeface="Arial"/>
              </a:rPr>
              <a:t>- Reutilizar evita volver a compilar: es la gran ventaja de procedimientos y consultas parametrizadas. Las consultas ad hoc con literales distintos generan un plan cada una (cache bloat); mitigación: parametrizar, «optimize for ad hoc workloads» o PARAMETERIZATION FORCED.</a:t>
            </a:r>
            <a:endParaRPr b="0" lang="es-ES" sz="2000" spc="-1" strike="noStrike">
              <a:latin typeface="Arial"/>
            </a:endParaRPr>
          </a:p>
          <a:p>
            <a:pPr marL="216000" indent="-214200">
              <a:lnSpc>
                <a:spcPct val="100000"/>
              </a:lnSpc>
              <a:tabLst>
                <a:tab algn="l" pos="0"/>
              </a:tabLst>
            </a:pPr>
            <a:r>
              <a:rPr b="0" lang="en-US" sz="2000" spc="-1" strike="noStrike">
                <a:latin typeface="Arial"/>
              </a:rPr>
              <a:t>- Parameter sniffing: en la primera ejecución el optimizador «espía» el valor real del parámetro y construye un plan óptimo para ese valor. Si los datos están sesgados (un cliente con 60 % de los pedidos), ese plan (Index Seek + Key Lookup) puede ser desastroso para el valor frecuente (necesita Scan).</a:t>
            </a:r>
            <a:endParaRPr b="0" lang="es-ES" sz="2000" spc="-1" strike="noStrike">
              <a:latin typeface="Arial"/>
            </a:endParaRPr>
          </a:p>
          <a:p>
            <a:pPr marL="216000" indent="-214200">
              <a:lnSpc>
                <a:spcPct val="100000"/>
              </a:lnSpc>
              <a:tabLst>
                <a:tab algn="l" pos="0"/>
              </a:tabLst>
            </a:pPr>
            <a:r>
              <a:rPr b="0" lang="en-US" sz="2000" spc="-1" strike="noStrike">
                <a:latin typeface="Arial"/>
              </a:rPr>
              <a:t>- No es un bug, es un compromiso. Mitigaciones: OPTION (RECOMPILE) por consulta, OPTION (OPTIMIZE FOR UNKNOWN) o OPTIMIZE FOR (@p = valor), WITH RECOMPILE en el procedimiento, y Query Store con plan forcing (2016+). SQL Server 2022 añade Parameter Sensitive Plan (PSP) optimization con nivel de compatibilidad 160.</a:t>
            </a:r>
            <a:endParaRPr b="0" lang="es-ES" sz="2000" spc="-1" strike="noStrike">
              <a:latin typeface="Arial"/>
            </a:endParaRPr>
          </a:p>
          <a:p>
            <a:pPr marL="216000" indent="-214200">
              <a:lnSpc>
                <a:spcPct val="100000"/>
              </a:lnSpc>
              <a:tabLst>
                <a:tab algn="l" pos="0"/>
              </a:tabLst>
            </a:pPr>
            <a:r>
              <a:rPr b="0" lang="en-US" sz="2000" spc="-1" strike="noStrike">
                <a:latin typeface="Arial"/>
              </a:rPr>
              <a:t>- Recompilación: el plan se invalida por cambios de esquema, actualización de estadísticas (umbral dinámico en compat. 130+), cambios de SET options, sp_recompile o ALTER del objeto. Desde 2005 la recompilación es a nivel de sentencia, no de todo el procedimiento.</a:t>
            </a:r>
            <a:endParaRPr b="0" lang="es-ES" sz="2000" spc="-1" strike="noStrike">
              <a:latin typeface="Arial"/>
            </a:endParaRPr>
          </a:p>
          <a:p>
            <a:pPr marL="216000" indent="-214200">
              <a:lnSpc>
                <a:spcPct val="100000"/>
              </a:lnSpc>
              <a:tabLst>
                <a:tab algn="l" pos="0"/>
              </a:tabLst>
            </a:pPr>
            <a:r>
              <a:rPr b="0" lang="en-US" sz="2000" spc="-1" strike="noStrike">
                <a:latin typeface="Arial"/>
              </a:rPr>
              <a:t>- DMVs: sys.dm_exec_cached_plans (usecounts, size_in_bytes), sys.dm_exec_query_stats, sys.dm_exec_sql_text(plan_handle) y sys.dm_exec_query_plan(plan_handle). Contadores: «SQL Re-Compilations/sec» y «Batch Requests/sec».</a:t>
            </a:r>
            <a:endParaRPr b="0" lang="es-ES" sz="2000" spc="-1" strike="noStrike">
              <a:latin typeface="Arial"/>
            </a:endParaRPr>
          </a:p>
          <a:p>
            <a:pPr marL="216000" indent="-214200">
              <a:lnSpc>
                <a:spcPct val="100000"/>
              </a:lnSpc>
              <a:tabLst>
                <a:tab algn="l" pos="0"/>
              </a:tabLst>
            </a:pPr>
            <a:r>
              <a:rPr b="0" lang="en-US" sz="2000" spc="-1" strike="noStrike">
                <a:latin typeface="Arial"/>
              </a:rPr>
              <a:t>- DBCC FREEPROCCACHE vacía la caché: sólo en entornos de prueba o con un plan_handle concreto; en producción provoca una tormenta de compilaciones.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Un procedimiento va en 20 ms para unos clientes y en 40 s para otros. ¿Qué hipótesis plantearíais y qué mirarías primero en el plan?</a:t>
            </a:r>
            <a:endParaRPr b="0" lang="es-ES" sz="2000" spc="-1" strike="noStrike">
              <a:latin typeface="Arial"/>
            </a:endParaRPr>
          </a:p>
          <a:p>
            <a:pPr marL="216000" indent="-213840">
              <a:lnSpc>
                <a:spcPct val="100000"/>
              </a:lnSpc>
              <a:tabLst>
                <a:tab algn="l" pos="0"/>
              </a:tabLst>
            </a:pPr>
            <a:r>
              <a:rPr b="0" lang="en-US" sz="2000" spc="-1" strike="noStrike">
                <a:latin typeface="Arial"/>
              </a:rPr>
              <a:t>- ¿Por qué vaciar el Plan Cache «para arreglarlo» sólo oculta el problema durante un tiempo?</a:t>
            </a:r>
            <a:endParaRPr b="0" lang="es-ES" sz="2000" spc="-1" strike="noStrike">
              <a:latin typeface="Arial"/>
            </a:endParaRPr>
          </a:p>
        </p:txBody>
      </p:sp>
      <p:sp>
        <p:nvSpPr>
          <p:cNvPr id="2103"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A802F4FF-6D07-412A-849F-D6EFE5629B4D}"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4" name="PlaceHolder 1"/>
          <p:cNvSpPr>
            <a:spLocks noGrp="1"/>
          </p:cNvSpPr>
          <p:nvPr>
            <p:ph type="sldImg"/>
          </p:nvPr>
        </p:nvSpPr>
        <p:spPr>
          <a:xfrm>
            <a:off x="685800" y="1143000"/>
            <a:ext cx="5483880" cy="3083760"/>
          </a:xfrm>
          <a:prstGeom prst="rect">
            <a:avLst/>
          </a:prstGeom>
        </p:spPr>
      </p:sp>
      <p:sp>
        <p:nvSpPr>
          <p:cNvPr id="2105"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Aprender que el orden de escritura de un SELECT no es el orden en que se evalúa, y usarlo para razonar sobre alias, filtros y agregados.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El orden lógico (logical query processing) es: FROM/JOIN → WHERE → GROUP BY → HAVING → SELECT (incluidas window functions) → DISTINCT → ORDER BY → TOP/OFFSET. Es un modelo conceptual: el optimizador puede reordenar físicamente mientras el resultado sea equivalente.</a:t>
            </a:r>
            <a:endParaRPr b="0" lang="es-ES" sz="2000" spc="-1" strike="noStrike">
              <a:latin typeface="Arial"/>
            </a:endParaRPr>
          </a:p>
          <a:p>
            <a:pPr marL="216000" indent="-214200">
              <a:lnSpc>
                <a:spcPct val="100000"/>
              </a:lnSpc>
              <a:tabLst>
                <a:tab algn="l" pos="0"/>
              </a:tabLst>
            </a:pPr>
            <a:r>
              <a:rPr b="0" lang="en-US" sz="2000" spc="-1" strike="noStrike">
                <a:latin typeface="Arial"/>
              </a:rPr>
              <a:t>- Consecuencia 1: WHERE no puede usar alias definidos en SELECT (todavía no existen), pero ORDER BY sí. Consecuencia 2: WHERE filtra filas antes de agrupar; HAVING filtra grupos después de agregar.</a:t>
            </a:r>
            <a:endParaRPr b="0" lang="es-ES" sz="2000" spc="-1" strike="noStrike">
              <a:latin typeface="Arial"/>
            </a:endParaRPr>
          </a:p>
          <a:p>
            <a:pPr marL="216000" indent="-214200">
              <a:lnSpc>
                <a:spcPct val="100000"/>
              </a:lnSpc>
              <a:tabLst>
                <a:tab algn="l" pos="0"/>
              </a:tabLst>
            </a:pPr>
            <a:r>
              <a:rPr b="0" lang="en-US" sz="2000" spc="-1" strike="noStrike">
                <a:latin typeface="Arial"/>
              </a:rPr>
              <a:t>- Consecuencia 3: las window functions se evalúan en la fase SELECT, por eso no pueden aparecer en WHERE ni en GROUP BY; para filtrarlas hay que envolverlas en una CTE o subconsulta.</a:t>
            </a:r>
            <a:endParaRPr b="0" lang="es-ES" sz="2000" spc="-1" strike="noStrike">
              <a:latin typeface="Arial"/>
            </a:endParaRPr>
          </a:p>
          <a:p>
            <a:pPr marL="216000" indent="-214200">
              <a:lnSpc>
                <a:spcPct val="100000"/>
              </a:lnSpc>
              <a:tabLst>
                <a:tab algn="l" pos="0"/>
              </a:tabLst>
            </a:pPr>
            <a:r>
              <a:rPr b="0" lang="en-US" sz="2000" spc="-1" strike="noStrike">
                <a:latin typeface="Arial"/>
              </a:rPr>
              <a:t>- Rendimiento: filtrar pronto reduce filas. Predicados SARGable (Search ARGument ABLE) como Fecha &gt;= '20240101' permiten Index Seek; envolver la columna en una función (YEAR(Fecha) = 2024) obliga a escanear.</a:t>
            </a:r>
            <a:endParaRPr b="0" lang="es-ES" sz="2000" spc="-1" strike="noStrike">
              <a:latin typeface="Arial"/>
            </a:endParaRPr>
          </a:p>
          <a:p>
            <a:pPr marL="216000" indent="-214200">
              <a:lnSpc>
                <a:spcPct val="100000"/>
              </a:lnSpc>
              <a:tabLst>
                <a:tab algn="l" pos="0"/>
              </a:tabLst>
            </a:pPr>
            <a:r>
              <a:rPr b="0" lang="en-US" sz="2000" spc="-1" strike="noStrike">
                <a:latin typeface="Arial"/>
              </a:rPr>
              <a:t>- Evitar SELECT *: aumenta lecturas, rompe vistas y procedimientos al cambiar el esquema e impide usar índices cubrientes (covering).</a:t>
            </a:r>
            <a:endParaRPr b="0" lang="es-ES" sz="2000" spc="-1" strike="noStrike">
              <a:latin typeface="Arial"/>
            </a:endParaRPr>
          </a:p>
          <a:p>
            <a:pPr marL="216000" indent="-214200">
              <a:lnSpc>
                <a:spcPct val="100000"/>
              </a:lnSpc>
              <a:tabLst>
                <a:tab algn="l" pos="0"/>
              </a:tabLst>
            </a:pPr>
            <a:r>
              <a:rPr b="0" lang="en-US" sz="2000" spc="-1" strike="noStrike">
                <a:latin typeface="Arial"/>
              </a:rPr>
              <a:t>- El ejemplo agrupa por cliente y año. Pedir a los alumnos que predigan el número de columnas del resultado y qué ocurre si se mueve SUM(p.Total) &gt; 1000 del HAVING al WHERE (error: función de agregado no válida en WHERE).</a:t>
            </a:r>
            <a:endParaRPr b="0" lang="es-ES" sz="2000" spc="-1" strike="noStrike">
              <a:latin typeface="Arial"/>
            </a:endParaRPr>
          </a:p>
          <a:p>
            <a:pPr marL="216000" indent="-214200">
              <a:lnSpc>
                <a:spcPct val="100000"/>
              </a:lnSpc>
              <a:tabLst>
                <a:tab algn="l" pos="0"/>
              </a:tabLst>
            </a:pPr>
            <a:r>
              <a:rPr b="0" lang="en-US" sz="2000" spc="-1" strike="noStrike">
                <a:latin typeface="Arial"/>
              </a:rPr>
              <a:t>- Mostrar el plan (Ctrl+M) para ver cómo el Stream Aggregate o Hash Match Aggregate aparece antes del Sort.</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¿Por qué puedo escribir ORDER BY Ventas DESC usando el alias, pero no WHERE Ventas &gt; 1000?</a:t>
            </a:r>
            <a:endParaRPr b="0" lang="es-ES" sz="2000" spc="-1" strike="noStrike">
              <a:latin typeface="Arial"/>
            </a:endParaRPr>
          </a:p>
          <a:p>
            <a:pPr marL="216000" indent="-213840">
              <a:lnSpc>
                <a:spcPct val="100000"/>
              </a:lnSpc>
              <a:tabLst>
                <a:tab algn="l" pos="0"/>
              </a:tabLst>
            </a:pPr>
            <a:r>
              <a:rPr b="0" lang="en-US" sz="2000" spc="-1" strike="noStrike">
                <a:latin typeface="Arial"/>
              </a:rPr>
              <a:t>- ¿Qué diferencia práctica hay entre filtrar en WHERE y en HAVING cuando la condición no usa agregados?</a:t>
            </a:r>
            <a:endParaRPr b="0" lang="es-ES" sz="2000" spc="-1" strike="noStrike">
              <a:latin typeface="Arial"/>
            </a:endParaRPr>
          </a:p>
        </p:txBody>
      </p:sp>
      <p:sp>
        <p:nvSpPr>
          <p:cNvPr id="2106"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D71E6A4D-797C-4BE4-A639-EB34A9727C1A}"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7" name="PlaceHolder 1"/>
          <p:cNvSpPr>
            <a:spLocks noGrp="1"/>
          </p:cNvSpPr>
          <p:nvPr>
            <p:ph type="sldImg"/>
          </p:nvPr>
        </p:nvSpPr>
        <p:spPr>
          <a:xfrm>
            <a:off x="685800" y="1143000"/>
            <a:ext cx="5483880" cy="3083760"/>
          </a:xfrm>
          <a:prstGeom prst="rect">
            <a:avLst/>
          </a:prstGeom>
        </p:spPr>
      </p:sp>
      <p:sp>
        <p:nvSpPr>
          <p:cNvPr id="2108"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Elegir el tipo de JOIN lógico adecuado y evitar la trampa clásica de filtrar la tabla externa en el WHERE.</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INNER JOIN devuelve sólo filas con coincidencia. LEFT JOIN conserva todas las filas de la izquierda y rellena con NULL; es la base del anti-join (clientes sin pedidos con WHERE p.PedidoId IS NULL).</a:t>
            </a:r>
            <a:endParaRPr b="0" lang="es-ES" sz="2000" spc="-1" strike="noStrike">
              <a:latin typeface="Arial"/>
            </a:endParaRPr>
          </a:p>
          <a:p>
            <a:pPr marL="216000" indent="-214200">
              <a:lnSpc>
                <a:spcPct val="100000"/>
              </a:lnSpc>
              <a:tabLst>
                <a:tab algn="l" pos="0"/>
              </a:tabLst>
            </a:pPr>
            <a:r>
              <a:rPr b="0" lang="en-US" sz="2000" spc="-1" strike="noStrike">
                <a:latin typeface="Arial"/>
              </a:rPr>
              <a:t>- RIGHT JOIN es equivalente a un LEFT con las tablas invertidas; se evita por legibilidad. FULL JOIN se usa en conciliaciones entre dos fuentes. CROSS JOIN genera el producto cartesiano (n × m filas): útil para calendarios y combinaciones, peligroso si es accidental.</a:t>
            </a:r>
            <a:endParaRPr b="0" lang="es-ES" sz="2000" spc="-1" strike="noStrike">
              <a:latin typeface="Arial"/>
            </a:endParaRPr>
          </a:p>
          <a:p>
            <a:pPr marL="216000" indent="-214200">
              <a:lnSpc>
                <a:spcPct val="100000"/>
              </a:lnSpc>
              <a:tabLst>
                <a:tab algn="l" pos="0"/>
              </a:tabLst>
            </a:pPr>
            <a:r>
              <a:rPr b="0" lang="en-US" sz="2000" spc="-1" strike="noStrike">
                <a:latin typeface="Arial"/>
              </a:rPr>
              <a:t>- Trampa principal: un predicado sobre la tabla derecha en el WHERE (p.Fecha &gt;= ...) descarta las filas con NULL y convierte el LEFT JOIN en INNER JOIN. Si se quiere conservar los clientes sin pedidos en el rango, el filtro va en la cláusula ON.</a:t>
            </a:r>
            <a:endParaRPr b="0" lang="es-ES" sz="2000" spc="-1" strike="noStrike">
              <a:latin typeface="Arial"/>
            </a:endParaRPr>
          </a:p>
          <a:p>
            <a:pPr marL="216000" indent="-214200">
              <a:lnSpc>
                <a:spcPct val="100000"/>
              </a:lnSpc>
              <a:tabLst>
                <a:tab algn="l" pos="0"/>
              </a:tabLst>
            </a:pPr>
            <a:r>
              <a:rPr b="0" lang="en-US" sz="2000" spc="-1" strike="noStrike">
                <a:latin typeface="Arial"/>
              </a:rPr>
              <a:t>- Trampa 2: duplicación de filas por relaciones 1:N. Sumar un importe del lado «uno» después de un JOIN a «varios» multiplica el total; agregar antes del JOIN o usar APPLY.</a:t>
            </a:r>
            <a:endParaRPr b="0" lang="es-ES" sz="2000" spc="-1" strike="noStrike">
              <a:latin typeface="Arial"/>
            </a:endParaRPr>
          </a:p>
          <a:p>
            <a:pPr marL="216000" indent="-214200">
              <a:lnSpc>
                <a:spcPct val="100000"/>
              </a:lnSpc>
              <a:tabLst>
                <a:tab algn="l" pos="0"/>
              </a:tabLst>
            </a:pPr>
            <a:r>
              <a:rPr b="0" lang="en-US" sz="2000" spc="-1" strike="noStrike">
                <a:latin typeface="Arial"/>
              </a:rPr>
              <a:t>- Trampa 3: JOIN con columnas de tipos distintos (varchar vs nvarchar, int vs varchar) → conversión implícita y scans. Las claves de join deben tener el mismo tipo y collation.</a:t>
            </a:r>
            <a:endParaRPr b="0" lang="es-ES" sz="2000" spc="-1" strike="noStrike">
              <a:latin typeface="Arial"/>
            </a:endParaRPr>
          </a:p>
          <a:p>
            <a:pPr marL="216000" indent="-214200">
              <a:lnSpc>
                <a:spcPct val="100000"/>
              </a:lnSpc>
              <a:tabLst>
                <a:tab algn="l" pos="0"/>
              </a:tabLst>
            </a:pPr>
            <a:r>
              <a:rPr b="0" lang="en-US" sz="2000" spc="-1" strike="noStrike">
                <a:latin typeface="Arial"/>
              </a:rPr>
              <a:t>- Alternativas semánticas: EXISTS / NOT EXISTS para semi y anti-joins (no multiplican filas); NOT IN falla silenciosamente si la subconsulta devuelve algún NULL.</a:t>
            </a:r>
            <a:endParaRPr b="0" lang="es-ES" sz="2000" spc="-1" strike="noStrike">
              <a:latin typeface="Arial"/>
            </a:endParaRPr>
          </a:p>
          <a:p>
            <a:pPr marL="216000" indent="-214200">
              <a:lnSpc>
                <a:spcPct val="100000"/>
              </a:lnSpc>
              <a:tabLst>
                <a:tab algn="l" pos="0"/>
              </a:tabLst>
            </a:pPr>
            <a:r>
              <a:rPr b="0" lang="en-US" sz="2000" spc="-1" strike="noStrike">
                <a:latin typeface="Arial"/>
              </a:rPr>
              <a:t>- Pedir que ejecuten ambas consultas de la derecha y comparen el número de filas devuelto.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¿Cuántas filas devuelve un CROSS JOIN entre 1 000 clientes y 365 días? ¿Y entre dos tablas de 1 millón?</a:t>
            </a:r>
            <a:endParaRPr b="0" lang="es-ES" sz="2000" spc="-1" strike="noStrike">
              <a:latin typeface="Arial"/>
            </a:endParaRPr>
          </a:p>
          <a:p>
            <a:pPr marL="216000" indent="-213840">
              <a:lnSpc>
                <a:spcPct val="100000"/>
              </a:lnSpc>
              <a:tabLst>
                <a:tab algn="l" pos="0"/>
              </a:tabLst>
            </a:pPr>
            <a:r>
              <a:rPr b="0" lang="en-US" sz="2000" spc="-1" strike="noStrike">
                <a:latin typeface="Arial"/>
              </a:rPr>
              <a:t>- Si queréis clientes sin pedidos en 2024 (aunque tengan en otros años), ¿dónde pondríais el filtro de fecha y por qué?</a:t>
            </a:r>
            <a:endParaRPr b="0" lang="es-ES" sz="2000" spc="-1" strike="noStrike">
              <a:latin typeface="Arial"/>
            </a:endParaRPr>
          </a:p>
        </p:txBody>
      </p:sp>
      <p:sp>
        <p:nvSpPr>
          <p:cNvPr id="2109"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9717C0FA-60A5-40AD-A385-5C50DFE5F34C}"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0" name="PlaceHolder 1"/>
          <p:cNvSpPr>
            <a:spLocks noGrp="1"/>
          </p:cNvSpPr>
          <p:nvPr>
            <p:ph type="sldImg"/>
          </p:nvPr>
        </p:nvSpPr>
        <p:spPr>
          <a:xfrm>
            <a:off x="685800" y="1143000"/>
            <a:ext cx="5483880" cy="3083760"/>
          </a:xfrm>
          <a:prstGeom prst="rect">
            <a:avLst/>
          </a:prstGeom>
        </p:spPr>
      </p:sp>
      <p:sp>
        <p:nvSpPr>
          <p:cNvPr id="2111"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Reconocer en un plan de ejecución los tres operadores físicos de join, saber cuándo es adecuado cada uno y qué señales indican una mala elección.</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Un JOIN lógico se implementa con un operador físico que el optimizador elige por coste, según cardinalidad estimada, índices y orden disponible.</a:t>
            </a:r>
            <a:endParaRPr b="0" lang="es-ES" sz="2000" spc="-1" strike="noStrike">
              <a:latin typeface="Arial"/>
            </a:endParaRPr>
          </a:p>
          <a:p>
            <a:pPr marL="216000" indent="-214200">
              <a:lnSpc>
                <a:spcPct val="100000"/>
              </a:lnSpc>
              <a:tabLst>
                <a:tab algn="l" pos="0"/>
              </a:tabLst>
            </a:pPr>
            <a:r>
              <a:rPr b="0" lang="en-US" sz="2000" spc="-1" strike="noStrike">
                <a:latin typeface="Arial"/>
              </a:rPr>
              <a:t>- Nested Loops: por cada fila de la entrada externa (outer) busca coincidencias en la interna (inner). Brilla cuando la externa es pequeña y la interna tiene un índice para Index Seek. Coste ≈ filas externas × coste del seek. Es el típico de consultas OLTP.</a:t>
            </a:r>
            <a:endParaRPr b="0" lang="es-ES" sz="2000" spc="-1" strike="noStrike">
              <a:latin typeface="Arial"/>
            </a:endParaRPr>
          </a:p>
          <a:p>
            <a:pPr marL="216000" indent="-214200">
              <a:lnSpc>
                <a:spcPct val="100000"/>
              </a:lnSpc>
              <a:tabLst>
                <a:tab algn="l" pos="0"/>
              </a:tabLst>
            </a:pPr>
            <a:r>
              <a:rPr b="0" lang="en-US" sz="2000" spc="-1" strike="noStrike">
                <a:latin typeface="Arial"/>
              </a:rPr>
              <a:t>- Merge Join: recorre en paralelo dos entradas ordenadas por la clave de join, una sola pasada. Requiere condición de igualdad y orden (de un índice o de un operador Sort, caro). Muy eficiente con volúmenes grandes ya ordenados.</a:t>
            </a:r>
            <a:endParaRPr b="0" lang="es-ES" sz="2000" spc="-1" strike="noStrike">
              <a:latin typeface="Arial"/>
            </a:endParaRPr>
          </a:p>
          <a:p>
            <a:pPr marL="216000" indent="-214200">
              <a:lnSpc>
                <a:spcPct val="100000"/>
              </a:lnSpc>
              <a:tabLst>
                <a:tab algn="l" pos="0"/>
              </a:tabLst>
            </a:pPr>
            <a:r>
              <a:rPr b="0" lang="en-US" sz="2000" spc="-1" strike="noStrike">
                <a:latin typeface="Arial"/>
              </a:rPr>
              <a:t>- Hash Match: construye una tabla hash en memoria con la entrada más pequeña (build) y «sondea» con la grande (probe). No necesita índices ni orden; es el caballo de batalla de cargas analíticas. Consume memory grant: si se subestima, se derrama a tempdb (Hash Spill, aviso en el plan).</a:t>
            </a:r>
            <a:endParaRPr b="0" lang="es-ES" sz="2000" spc="-1" strike="noStrike">
              <a:latin typeface="Arial"/>
            </a:endParaRPr>
          </a:p>
          <a:p>
            <a:pPr marL="216000" indent="-214200">
              <a:lnSpc>
                <a:spcPct val="100000"/>
              </a:lnSpc>
              <a:tabLst>
                <a:tab algn="l" pos="0"/>
              </a:tabLst>
            </a:pPr>
            <a:r>
              <a:rPr b="0" lang="en-US" sz="2000" spc="-1" strike="noStrike">
                <a:latin typeface="Arial"/>
              </a:rPr>
              <a:t>- Señales de problema: Nested Loops con millones de iteraciones (estimación de filas muy baja), warnings de spill en Hash/Sort, diferencias grandes entre Estimated y Actual Rows (estadísticas obsoletas o parameter sniffing).</a:t>
            </a:r>
            <a:endParaRPr b="0" lang="es-ES" sz="2000" spc="-1" strike="noStrike">
              <a:latin typeface="Arial"/>
            </a:endParaRPr>
          </a:p>
          <a:p>
            <a:pPr marL="216000" indent="-214200">
              <a:lnSpc>
                <a:spcPct val="100000"/>
              </a:lnSpc>
              <a:tabLst>
                <a:tab algn="l" pos="0"/>
              </a:tabLst>
            </a:pPr>
            <a:r>
              <a:rPr b="0" lang="en-US" sz="2000" spc="-1" strike="noStrike">
                <a:latin typeface="Arial"/>
              </a:rPr>
              <a:t>- Pistas de join (OPTION (HASH JOIN), LOOP JOIN, MERGE JOIN) existen pero se usan sólo como último recurso diagnóstico: fijan el algoritmo y ocultan el problema de fondo.</a:t>
            </a:r>
            <a:endParaRPr b="0" lang="es-ES" sz="2000" spc="-1" strike="noStrike">
              <a:latin typeface="Arial"/>
            </a:endParaRPr>
          </a:p>
          <a:p>
            <a:pPr marL="216000" indent="-214200">
              <a:lnSpc>
                <a:spcPct val="100000"/>
              </a:lnSpc>
              <a:tabLst>
                <a:tab algn="l" pos="0"/>
              </a:tabLst>
            </a:pPr>
            <a:r>
              <a:rPr b="0" lang="en-US" sz="2000" spc="-1" strike="noStrike">
                <a:latin typeface="Arial"/>
              </a:rPr>
              <a:t>- Novedades: Adaptive Joins (2017+, batch mode) deciden entre Hash y Nested Loops en tiempo de ejecución; en 2019+ el batch mode también funciona sobre tablas rowstore. DMVs: sys.dm_exec_query_memory_grants y sys.dm_exec_query_stats.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¿Por qué un Hash Match suele aparecer en consultas analíticas y un Nested Loops en consultas OLTP?</a:t>
            </a:r>
            <a:endParaRPr b="0" lang="es-ES" sz="2000" spc="-1" strike="noStrike">
              <a:latin typeface="Arial"/>
            </a:endParaRPr>
          </a:p>
          <a:p>
            <a:pPr marL="216000" indent="-213840">
              <a:lnSpc>
                <a:spcPct val="100000"/>
              </a:lnSpc>
              <a:tabLst>
                <a:tab algn="l" pos="0"/>
              </a:tabLst>
            </a:pPr>
            <a:r>
              <a:rPr b="0" lang="en-US" sz="2000" spc="-1" strike="noStrike">
                <a:latin typeface="Arial"/>
              </a:rPr>
              <a:t>- Si veis un Nested Loops con 5 millones de ejecuciones en la entrada interna, ¿qué sospecharíais sobre las estimaciones?</a:t>
            </a:r>
            <a:endParaRPr b="0" lang="es-ES" sz="2000" spc="-1" strike="noStrike">
              <a:latin typeface="Arial"/>
            </a:endParaRPr>
          </a:p>
        </p:txBody>
      </p:sp>
      <p:sp>
        <p:nvSpPr>
          <p:cNvPr id="2112"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67C5F0E4-5881-485D-B60D-36AB0B0AD100}"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3" name="PlaceHolder 1"/>
          <p:cNvSpPr>
            <a:spLocks noGrp="1"/>
          </p:cNvSpPr>
          <p:nvPr>
            <p:ph type="sldImg"/>
          </p:nvPr>
        </p:nvSpPr>
        <p:spPr>
          <a:xfrm>
            <a:off x="685800" y="1143000"/>
            <a:ext cx="5483880" cy="3083760"/>
          </a:xfrm>
          <a:prstGeom prst="rect">
            <a:avLst/>
          </a:prstGeom>
        </p:spPr>
      </p:sp>
      <p:sp>
        <p:nvSpPr>
          <p:cNvPr id="2114"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Usar subconsultas escalares y correlacionadas, EXISTS y CTE de forma legible sin penalizar el rendimiento.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Subconsulta escalar: devuelve un único valor y se usa como expresión (Total &gt; (SELECT AVG(Total) ...)). Si devolviera más de una fila, error 512. No correlacionada: se evalúa una vez.</a:t>
            </a:r>
            <a:endParaRPr b="0" lang="es-ES" sz="2000" spc="-1" strike="noStrike">
              <a:latin typeface="Arial"/>
            </a:endParaRPr>
          </a:p>
          <a:p>
            <a:pPr marL="216000" indent="-214200">
              <a:lnSpc>
                <a:spcPct val="100000"/>
              </a:lnSpc>
              <a:tabLst>
                <a:tab algn="l" pos="0"/>
              </a:tabLst>
            </a:pPr>
            <a:r>
              <a:rPr b="0" lang="en-US" sz="2000" spc="-1" strike="noStrike">
                <a:latin typeface="Arial"/>
              </a:rPr>
              <a:t>- Subconsulta correlacionada: referencia columnas de la consulta externa (p.ClienteId = c.ClienteId). Lógicamente se evalúa por cada fila, pero el optimizador la transforma casi siempre en un semi-join (Left Semi Join) con un coste mucho menor.</a:t>
            </a:r>
            <a:endParaRPr b="0" lang="es-ES" sz="2000" spc="-1" strike="noStrike">
              <a:latin typeface="Arial"/>
            </a:endParaRPr>
          </a:p>
          <a:p>
            <a:pPr marL="216000" indent="-214200">
              <a:lnSpc>
                <a:spcPct val="100000"/>
              </a:lnSpc>
              <a:tabLst>
                <a:tab algn="l" pos="0"/>
              </a:tabLst>
            </a:pPr>
            <a:r>
              <a:rPr b="0" lang="en-US" sz="2000" spc="-1" strike="noStrike">
                <a:latin typeface="Arial"/>
              </a:rPr>
              <a:t>- EXISTS se detiene en la primera coincidencia y devuelve verdadero/falso; es ideal para «existe algún pedido». IN sobre una lista es equivalente en la mayoría de los casos, pero NOT IN devuelve cero filas si la subconsulta contiene un NULL: preferir NOT EXISTS.</a:t>
            </a:r>
            <a:endParaRPr b="0" lang="es-ES" sz="2000" spc="-1" strike="noStrike">
              <a:latin typeface="Arial"/>
            </a:endParaRPr>
          </a:p>
          <a:p>
            <a:pPr marL="216000" indent="-214200">
              <a:lnSpc>
                <a:spcPct val="100000"/>
              </a:lnSpc>
              <a:tabLst>
                <a:tab algn="l" pos="0"/>
              </a:tabLst>
            </a:pPr>
            <a:r>
              <a:rPr b="0" lang="en-US" sz="2000" spc="-1" strike="noStrike">
                <a:latin typeface="Arial"/>
              </a:rPr>
              <a:t>- CTE (Common Table Expression, WITH ... AS): mejora la legibilidad y permite recursividad (jerarquías). En SQL Server NO se materializa: se expande como una vista en línea cada vez que se referencia; si se usa 3 veces, se ejecuta 3 veces. Para reutilizar un resultado costoso, usar una tabla temporal #tabla.</a:t>
            </a:r>
            <a:endParaRPr b="0" lang="es-ES" sz="2000" spc="-1" strike="noStrike">
              <a:latin typeface="Arial"/>
            </a:endParaRPr>
          </a:p>
          <a:p>
            <a:pPr marL="216000" indent="-214200">
              <a:lnSpc>
                <a:spcPct val="100000"/>
              </a:lnSpc>
              <a:tabLst>
                <a:tab algn="l" pos="0"/>
              </a:tabLst>
            </a:pPr>
            <a:r>
              <a:rPr b="0" lang="en-US" sz="2000" spc="-1" strike="noStrike">
                <a:latin typeface="Arial"/>
              </a:rPr>
              <a:t>- CROSS APPLY / OUTER APPLY: permiten invocar una subconsulta correlacionada o una función con valores de tabla por cada fila (típico: «los 3 últimos pedidos de cada cliente»).</a:t>
            </a:r>
            <a:endParaRPr b="0" lang="es-ES" sz="2000" spc="-1" strike="noStrike">
              <a:latin typeface="Arial"/>
            </a:endParaRPr>
          </a:p>
          <a:p>
            <a:pPr marL="216000" indent="-214200">
              <a:lnSpc>
                <a:spcPct val="100000"/>
              </a:lnSpc>
              <a:tabLst>
                <a:tab algn="l" pos="0"/>
              </a:tabLst>
            </a:pPr>
            <a:r>
              <a:rPr b="0" lang="en-US" sz="2000" spc="-1" strike="noStrike">
                <a:latin typeface="Arial"/>
              </a:rPr>
              <a:t>- Rendimiento: comprobar siempre el plan; una subconsulta en la lista de SELECT correlacionada puede ejecutarse fila a fila (Nested Loops con muchas iteraciones). Reescribir como JOIN agregado suele ser más estable.</a:t>
            </a:r>
            <a:endParaRPr b="0" lang="es-ES" sz="2000" spc="-1" strike="noStrike">
              <a:latin typeface="Arial"/>
            </a:endParaRPr>
          </a:p>
          <a:p>
            <a:pPr marL="216000" indent="-214200">
              <a:lnSpc>
                <a:spcPct val="100000"/>
              </a:lnSpc>
              <a:tabLst>
                <a:tab algn="l" pos="0"/>
              </a:tabLst>
            </a:pPr>
            <a:r>
              <a:rPr b="0" lang="en-US" sz="2000" spc="-1" strike="noStrike">
                <a:latin typeface="Arial"/>
              </a:rPr>
              <a:t>- Ejercicio rápido: reescribir la consulta EXISTS con un JOIN y comparar los planes y el número de lecturas lógicas con SET STATISTICS IO ON.</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devuelve WHERE ClienteId NOT IN (SELECT ClienteId FROM ...) si la subconsulta contiene un NULL? ¿Y con NOT EXISTS?</a:t>
            </a:r>
            <a:endParaRPr b="0" lang="es-ES" sz="2000" spc="-1" strike="noStrike">
              <a:latin typeface="Arial"/>
            </a:endParaRPr>
          </a:p>
          <a:p>
            <a:pPr marL="216000" indent="-213840">
              <a:lnSpc>
                <a:spcPct val="100000"/>
              </a:lnSpc>
              <a:tabLst>
                <a:tab algn="l" pos="0"/>
              </a:tabLst>
            </a:pPr>
            <a:r>
              <a:rPr b="0" lang="en-US" sz="2000" spc="-1" strike="noStrike">
                <a:latin typeface="Arial"/>
              </a:rPr>
              <a:t>- ¿Una CTE guarda el resultado en memoria o en tempdb? ¿Cómo lo comprobaríais en el plan de ejecución?</a:t>
            </a:r>
            <a:endParaRPr b="0" lang="es-ES" sz="2000" spc="-1" strike="noStrike">
              <a:latin typeface="Arial"/>
            </a:endParaRPr>
          </a:p>
        </p:txBody>
      </p:sp>
      <p:sp>
        <p:nvSpPr>
          <p:cNvPr id="2115"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F3DD269D-AEE3-4439-8EDA-9BF0A3BC8065}"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6" name="PlaceHolder 1"/>
          <p:cNvSpPr>
            <a:spLocks noGrp="1"/>
          </p:cNvSpPr>
          <p:nvPr>
            <p:ph type="sldImg"/>
          </p:nvPr>
        </p:nvSpPr>
        <p:spPr>
          <a:xfrm>
            <a:off x="685800" y="1143000"/>
            <a:ext cx="5483880" cy="3083760"/>
          </a:xfrm>
          <a:prstGeom prst="rect">
            <a:avLst/>
          </a:prstGeom>
        </p:spPr>
      </p:sp>
      <p:sp>
        <p:nvSpPr>
          <p:cNvPr id="2117"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Diferenciar GROUP BY (colapsa filas) de las window functions (mantienen el detalle) y aplicar ROW_NUMBER, RANK, SUM OVER y LAG.</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Funciones de agregado (COUNT, SUM, AVG, MIN, MAX) con GROUP BY colapsan el conjunto en una fila por grupo. Las window functions calculan sobre una «ventana» de filas relacionadas pero devuelven una fila por cada fila de entrada, conservando el detalle.</a:t>
            </a:r>
            <a:endParaRPr b="0" lang="es-ES" sz="2000" spc="-1" strike="noStrike">
              <a:latin typeface="Arial"/>
            </a:endParaRPr>
          </a:p>
          <a:p>
            <a:pPr marL="216000" indent="-214200">
              <a:lnSpc>
                <a:spcPct val="100000"/>
              </a:lnSpc>
              <a:tabLst>
                <a:tab algn="l" pos="0"/>
              </a:tabLst>
            </a:pPr>
            <a:r>
              <a:rPr b="0" lang="en-US" sz="2000" spc="-1" strike="noStrike">
                <a:latin typeface="Arial"/>
              </a:rPr>
              <a:t>- Sintaxis: función() OVER (PARTITION BY ... ORDER BY ... [ROWS|RANGE ...]). PARTITION BY define los grupos (como un GROUP BY sin colapsar); ORDER BY define el orden dentro de la partición; la cláusula de frame define las filas incluidas.</a:t>
            </a:r>
            <a:endParaRPr b="0" lang="es-ES" sz="2000" spc="-1" strike="noStrike">
              <a:latin typeface="Arial"/>
            </a:endParaRPr>
          </a:p>
          <a:p>
            <a:pPr marL="216000" indent="-214200">
              <a:lnSpc>
                <a:spcPct val="100000"/>
              </a:lnSpc>
              <a:tabLst>
                <a:tab algn="l" pos="0"/>
              </a:tabLst>
            </a:pPr>
            <a:r>
              <a:rPr b="0" lang="en-US" sz="2000" spc="-1" strike="noStrike">
                <a:latin typeface="Arial"/>
              </a:rPr>
              <a:t>- ROW_NUMBER(): numera 1, 2, 3 sin empates (los desempates son no deterministas si el ORDER BY no es único). RANK(): los empates comparten posición y deja huecos (1, 1, 3); DENSE_RANK() no deja huecos.</a:t>
            </a:r>
            <a:endParaRPr b="0" lang="es-ES" sz="2000" spc="-1" strike="noStrike">
              <a:latin typeface="Arial"/>
            </a:endParaRPr>
          </a:p>
          <a:p>
            <a:pPr marL="216000" indent="-214200">
              <a:lnSpc>
                <a:spcPct val="100000"/>
              </a:lnSpc>
              <a:tabLst>
                <a:tab algn="l" pos="0"/>
              </a:tabLst>
            </a:pPr>
            <a:r>
              <a:rPr b="0" lang="en-US" sz="2000" spc="-1" strike="noStrike">
                <a:latin typeface="Arial"/>
              </a:rPr>
              <a:t>- SUM(...) OVER (PARTITION BY ... ORDER BY ...): total acumulado (running total). Advertencia de rendimiento: si no se especifica frame, el valor por defecto es RANGE UNBOUNDED PRECEDING, que usa un worktable en disco; especificar ROWS UNBOUNDED PRECEDING es mucho más rápido y suele ser lo que se desea.</a:t>
            </a:r>
            <a:endParaRPr b="0" lang="es-ES" sz="2000" spc="-1" strike="noStrike">
              <a:latin typeface="Arial"/>
            </a:endParaRPr>
          </a:p>
          <a:p>
            <a:pPr marL="216000" indent="-214200">
              <a:lnSpc>
                <a:spcPct val="100000"/>
              </a:lnSpc>
              <a:tabLst>
                <a:tab algn="l" pos="0"/>
              </a:tabLst>
            </a:pPr>
            <a:r>
              <a:rPr b="0" lang="en-US" sz="2000" spc="-1" strike="noStrike">
                <a:latin typeface="Arial"/>
              </a:rPr>
              <a:t>- LAG(col, n, default) y LEAD(col, n): acceden a filas anterior/siguiente sin auto-join (disponibles desde SQL Server 2012). Útiles para variaciones periodo a periodo.</a:t>
            </a:r>
            <a:endParaRPr b="0" lang="es-ES" sz="2000" spc="-1" strike="noStrike">
              <a:latin typeface="Arial"/>
            </a:endParaRPr>
          </a:p>
          <a:p>
            <a:pPr marL="216000" indent="-214200">
              <a:lnSpc>
                <a:spcPct val="100000"/>
              </a:lnSpc>
              <a:tabLst>
                <a:tab algn="l" pos="0"/>
              </a:tabLst>
            </a:pPr>
            <a:r>
              <a:rPr b="0" lang="en-US" sz="2000" spc="-1" strike="noStrike">
                <a:latin typeface="Arial"/>
              </a:rPr>
              <a:t>- Las window functions sólo se permiten en SELECT y ORDER BY; para filtrar por rn = 1 («último pedido por cliente») hay que usar CTE/subconsulta. Un índice con PARTITION BY y ORDER BY como claves (en ese orden) evita el operador Sort.</a:t>
            </a:r>
            <a:endParaRPr b="0" lang="es-ES" sz="2000" spc="-1" strike="noStrike">
              <a:latin typeface="Arial"/>
            </a:endParaRPr>
          </a:p>
          <a:p>
            <a:pPr marL="216000" indent="-214200">
              <a:lnSpc>
                <a:spcPct val="100000"/>
              </a:lnSpc>
              <a:tabLst>
                <a:tab algn="l" pos="0"/>
              </a:tabLst>
            </a:pPr>
            <a:r>
              <a:rPr b="0" lang="en-US" sz="2000" spc="-1" strike="noStrike">
                <a:latin typeface="Arial"/>
              </a:rPr>
              <a:t>- En el plan buscar los operadores Segment, Sequence Project y Window Spool (si aparece Window Spool, revisar el frame).</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diferencia hay entre ROW_NUMBER y RANK cuando dos pedidos tienen el mismo importe?</a:t>
            </a:r>
            <a:endParaRPr b="0" lang="es-ES" sz="2000" spc="-1" strike="noStrike">
              <a:latin typeface="Arial"/>
            </a:endParaRPr>
          </a:p>
          <a:p>
            <a:pPr marL="216000" indent="-213840">
              <a:lnSpc>
                <a:spcPct val="100000"/>
              </a:lnSpc>
              <a:tabLst>
                <a:tab algn="l" pos="0"/>
              </a:tabLst>
            </a:pPr>
            <a:r>
              <a:rPr b="0" lang="en-US" sz="2000" spc="-1" strike="noStrike">
                <a:latin typeface="Arial"/>
              </a:rPr>
              <a:t>- ¿Cómo obtendríais el último pedido de cada cliente usando una window function? ¿Y con GROUP BY?</a:t>
            </a:r>
            <a:endParaRPr b="0" lang="es-ES" sz="2000" spc="-1" strike="noStrike">
              <a:latin typeface="Arial"/>
            </a:endParaRPr>
          </a:p>
        </p:txBody>
      </p:sp>
      <p:sp>
        <p:nvSpPr>
          <p:cNvPr id="2118"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272C3CB0-D6E0-4D3B-BFED-3BB78B2CDAA1}"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9" name="PlaceHolder 1"/>
          <p:cNvSpPr>
            <a:spLocks noGrp="1"/>
          </p:cNvSpPr>
          <p:nvPr>
            <p:ph type="sldImg"/>
          </p:nvPr>
        </p:nvSpPr>
        <p:spPr>
          <a:xfrm>
            <a:off x="685800" y="1143000"/>
            <a:ext cx="5483880" cy="3083760"/>
          </a:xfrm>
          <a:prstGeom prst="rect">
            <a:avLst/>
          </a:prstGeom>
        </p:spPr>
      </p:sp>
      <p:sp>
        <p:nvSpPr>
          <p:cNvPr id="2120"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Comprender el soporte del tipo nativo VECTOR en SQL Server 2025, el cálculo de distancias semánticas y la implementación de arquitecturas RAG dentro del motor relacional.</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SQL Server 2025 incorpora el tipo de dato nativo VECTOR(n), transformando el motor relacional en una base de datos vectorial de alto rendimiento para escenarios de Inteligencia Artificial.</a:t>
            </a:r>
            <a:endParaRPr b="0" lang="es-ES" sz="2000" spc="-1" strike="noStrike">
              <a:latin typeface="Arial"/>
            </a:endParaRPr>
          </a:p>
          <a:p>
            <a:pPr marL="216000" indent="-214200">
              <a:lnSpc>
                <a:spcPct val="100000"/>
              </a:lnSpc>
              <a:tabLst>
                <a:tab algn="l" pos="0"/>
              </a:tabLst>
            </a:pPr>
            <a:r>
              <a:rPr b="0" lang="en-US" sz="2000" spc="-1" strike="noStrike">
                <a:latin typeface="Arial"/>
              </a:rPr>
              <a:t>- Ventaja clave para el DBA: evita dispersar los datos en motores vectoriales externos (Pinecone, Chroma, Milvus). Los embeddings residen en la misma tabla junto al resto de columnas transaccionales, bajo el mismo modelo de seguridad (ACID, permisos, RLS, Always Encrypted y TDE).</a:t>
            </a:r>
            <a:endParaRPr b="0" lang="es-ES" sz="2000" spc="-1" strike="noStrike">
              <a:latin typeface="Arial"/>
            </a:endParaRPr>
          </a:p>
          <a:p>
            <a:pPr marL="216000" indent="-214200">
              <a:lnSpc>
                <a:spcPct val="100000"/>
              </a:lnSpc>
              <a:tabLst>
                <a:tab algn="l" pos="0"/>
              </a:tabLst>
            </a:pPr>
            <a:r>
              <a:rPr b="0" lang="en-US" sz="2000" spc="-1" strike="noStrike">
                <a:latin typeface="Arial"/>
              </a:rPr>
              <a:t>- Función VECTOR_DISTANCE(métrica, vector1, vector2): calcula la distancia entre vectores. Métricas soportadas: cosine (similitud del coseno, típica en embeddings de texto), euclidean (distancia euclídea) y dot (producto escalar).</a:t>
            </a:r>
            <a:endParaRPr b="0" lang="es-ES" sz="2000" spc="-1" strike="noStrike">
              <a:latin typeface="Arial"/>
            </a:endParaRPr>
          </a:p>
          <a:p>
            <a:pPr marL="216000" indent="-214200">
              <a:lnSpc>
                <a:spcPct val="100000"/>
              </a:lnSpc>
              <a:tabLst>
                <a:tab algn="l" pos="0"/>
              </a:tabLst>
            </a:pPr>
            <a:r>
              <a:rPr b="0" lang="en-US" sz="2000" spc="-1" strike="noStrike">
                <a:latin typeface="Arial"/>
              </a:rPr>
              <a:t>- Arquitectura RAG (Retrieval-Augmented Generation): una consulta busca semánticamente los documentos más relevantes con ORDER BY VECTOR_DISTANCE(...) ASC y devuelve el contexto para un LLM, combinando fácilmente filtros relacionales (WHERE EmpresaId = @id AND Fecha &gt;= @desde).</a:t>
            </a:r>
            <a:endParaRPr b="0" lang="es-ES" sz="2000" spc="-1" strike="noStrike">
              <a:latin typeface="Arial"/>
            </a:endParaRPr>
          </a:p>
          <a:p>
            <a:pPr marL="216000" indent="-214200">
              <a:lnSpc>
                <a:spcPct val="100000"/>
              </a:lnSpc>
              <a:tabLst>
                <a:tab algn="l" pos="0"/>
              </a:tabLst>
            </a:pPr>
            <a:r>
              <a:rPr b="0" lang="en-US" sz="2000" spc="-1" strike="noStrike">
                <a:latin typeface="Arial"/>
              </a:rPr>
              <a:t>- Internals: VECTOR(n) almacena números de coma flotante de 32 bits (4 bytes por dimensión). Un vector de 1536 dimensiones (OpenAI text-embedding-3) ocupa ~6 KB. Si una fila excede 8060 bytes, SQL Server gestiona el desbordamiento hacia páginas ROW_OVERFLOW o LOB.</a:t>
            </a:r>
            <a:endParaRPr b="0" lang="es-ES" sz="2000" spc="-1" strike="noStrike">
              <a:latin typeface="Arial"/>
            </a:endParaRPr>
          </a:p>
          <a:p>
            <a:pPr marL="216000" indent="-214200">
              <a:lnSpc>
                <a:spcPct val="100000"/>
              </a:lnSpc>
              <a:tabLst>
                <a:tab algn="l" pos="0"/>
              </a:tabLst>
            </a:pPr>
            <a:r>
              <a:rPr b="0" lang="en-US" sz="2000" spc="-1" strike="noStrike">
                <a:latin typeface="Arial"/>
              </a:rPr>
              <a:t>- Laboratorio y práctica: en el repositorio disponéis de labs/lab115-vector-table/vector_table.sql con una simulación completa de base de conocimiento y búsqueda semántica para probar en vuestro contenedor.</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ventajas operativas y de seguridad ofrece gestionar embeddings en SQL Server frente a sincronizarlos con una base de datos vectorial externa?</a:t>
            </a:r>
            <a:endParaRPr b="0" lang="es-ES" sz="2000" spc="-1" strike="noStrike">
              <a:latin typeface="Arial"/>
            </a:endParaRPr>
          </a:p>
          <a:p>
            <a:pPr marL="216000" indent="-214200">
              <a:lnSpc>
                <a:spcPct val="100000"/>
              </a:lnSpc>
              <a:tabLst>
                <a:tab algn="l" pos="0"/>
              </a:tabLst>
            </a:pPr>
            <a:r>
              <a:rPr b="0" lang="en-US" sz="2000" spc="-1" strike="noStrike">
                <a:latin typeface="Arial"/>
              </a:rPr>
              <a:t>- Si cada vector de 1536 dimensiones ocupa ~6 KB, ¿qué precauciones de diseño físico (ficheros, Buffer Pool, índices) debemos tomar como DBAs?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Instrucciones de Laboratorio:</a:t>
            </a:r>
            <a:endParaRPr b="0" lang="es-ES" sz="2000" spc="-1" strike="noStrike">
              <a:latin typeface="Arial"/>
            </a:endParaRPr>
          </a:p>
          <a:p>
            <a:pPr marL="216000" indent="-214200">
              <a:lnSpc>
                <a:spcPct val="100000"/>
              </a:lnSpc>
              <a:tabLst>
                <a:tab algn="l" pos="0"/>
              </a:tabLst>
            </a:pPr>
            <a:r>
              <a:rPr b="0" lang="en-US" sz="2000" spc="-1" strike="noStrike">
                <a:latin typeface="Arial"/>
              </a:rPr>
              <a:t>- Opcional (demo): abrir el script labs/lab115-vector-table/vector_table.sql en SSMS o VS Code.</a:t>
            </a:r>
            <a:endParaRPr b="0" lang="es-ES" sz="2000" spc="-1" strike="noStrike">
              <a:latin typeface="Arial"/>
            </a:endParaRPr>
          </a:p>
          <a:p>
            <a:pPr marL="216000" indent="-214200">
              <a:lnSpc>
                <a:spcPct val="100000"/>
              </a:lnSpc>
              <a:tabLst>
                <a:tab algn="l" pos="0"/>
              </a:tabLst>
            </a:pPr>
            <a:r>
              <a:rPr b="0" lang="en-US" sz="2000" spc="-1" strike="noStrike">
                <a:latin typeface="Arial"/>
              </a:rPr>
              <a:t>- Crear la tabla dbo.BaseConocimiento con la columna ContenidoEmbedding VECTOR(4).</a:t>
            </a:r>
            <a:endParaRPr b="0" lang="es-ES" sz="2000" spc="-1" strike="noStrike">
              <a:latin typeface="Arial"/>
            </a:endParaRPr>
          </a:p>
          <a:p>
            <a:pPr marL="216000" indent="-213840">
              <a:lnSpc>
                <a:spcPct val="100000"/>
              </a:lnSpc>
              <a:tabLst>
                <a:tab algn="l" pos="0"/>
              </a:tabLst>
            </a:pPr>
            <a:r>
              <a:rPr b="0" lang="en-US" sz="2000" spc="-1" strike="noStrike">
                <a:latin typeface="Arial"/>
              </a:rPr>
              <a:t>- Insertar los registros de prueba y ejecutar la consulta con VECTOR_DISTANCE('cosine', ...) ordenando ascendentemente.</a:t>
            </a:r>
            <a:endParaRPr b="0" lang="es-ES" sz="2000" spc="-1" strike="noStrike">
              <a:latin typeface="Arial"/>
            </a:endParaRPr>
          </a:p>
        </p:txBody>
      </p:sp>
      <p:sp>
        <p:nvSpPr>
          <p:cNvPr id="2121"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84C4E6D9-4182-4F56-B119-8FA8F8E9D74D}"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2" name="PlaceHolder 1"/>
          <p:cNvSpPr>
            <a:spLocks noGrp="1"/>
          </p:cNvSpPr>
          <p:nvPr>
            <p:ph type="sldImg"/>
          </p:nvPr>
        </p:nvSpPr>
        <p:spPr>
          <a:xfrm>
            <a:off x="685800" y="1143000"/>
            <a:ext cx="5483880" cy="3083760"/>
          </a:xfrm>
          <a:prstGeom prst="rect">
            <a:avLst/>
          </a:prstGeom>
        </p:spPr>
      </p:sp>
      <p:sp>
        <p:nvSpPr>
          <p:cNvPr id="2123"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Aplicar DML avanzado (window functions, CTE) y encapsular el resultado en un procedimiento almacenado, observando plan caching y parameter sniffing en vivo.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Duración orientativa: 60–70 min. Los alumnos trabajan individualmente o por parejas sobre la BD Ventas creada en las diapositivas de DDL.</a:t>
            </a:r>
            <a:endParaRPr b="0" lang="es-ES" sz="2000" spc="-1" strike="noStrike">
              <a:latin typeface="Arial"/>
            </a:endParaRPr>
          </a:p>
          <a:p>
            <a:pPr marL="216000" indent="-214200">
              <a:lnSpc>
                <a:spcPct val="100000"/>
              </a:lnSpc>
              <a:tabLst>
                <a:tab algn="l" pos="0"/>
              </a:tabLst>
            </a:pPr>
            <a:r>
              <a:rPr b="0" lang="en-US" sz="2000" spc="-1" strike="noStrike">
                <a:latin typeface="Arial"/>
              </a:rPr>
              <a:t>- Objetivo técnico: ver con sus propios ojos que (1) las window functions resuelven en una consulta lo que antes requería auto-joins, (2) un procedimiento reutiliza plan y (3) el mismo plan puede ser bueno para un parámetro y malo para otro.</a:t>
            </a:r>
            <a:endParaRPr b="0" lang="es-ES" sz="2000" spc="-1" strike="noStrike">
              <a:latin typeface="Arial"/>
            </a:endParaRPr>
          </a:p>
          <a:p>
            <a:pPr marL="216000" indent="-214200">
              <a:lnSpc>
                <a:spcPct val="100000"/>
              </a:lnSpc>
              <a:tabLst>
                <a:tab algn="l" pos="0"/>
              </a:tabLst>
            </a:pPr>
            <a:r>
              <a:rPr b="0" lang="en-US" sz="2000" spc="-1" strike="noStrike">
                <a:latin typeface="Arial"/>
              </a:rPr>
              <a:t>- El docente recorre los puestos al paso 3: es donde más se atascan (CTE antes del SELECT, ORDER BY dentro de la CTE, nombres de columna).</a:t>
            </a:r>
            <a:endParaRPr b="0" lang="es-ES" sz="2000" spc="-1" strike="noStrike">
              <a:latin typeface="Arial"/>
            </a:endParaRPr>
          </a:p>
          <a:p>
            <a:pPr marL="216000" indent="-214200">
              <a:lnSpc>
                <a:spcPct val="100000"/>
              </a:lnSpc>
              <a:tabLst>
                <a:tab algn="l" pos="0"/>
              </a:tabLst>
            </a:pPr>
            <a:r>
              <a:rPr b="0" lang="en-US" sz="2000" spc="-1" strike="noStrike">
                <a:latin typeface="Arial"/>
              </a:rPr>
              <a:t>- Criterio de éxito: el procedimiento devuelve las 3 mejores ventas de cada cliente y el alumno sabe explicar por qué el plan para @ClienteId = 1 (60 % de las filas) es diferente del de un cliente raro.</a:t>
            </a:r>
            <a:endParaRPr b="0" lang="es-ES" sz="2000" spc="-1" strike="noStrike">
              <a:latin typeface="Arial"/>
            </a:endParaRPr>
          </a:p>
          <a:p>
            <a:pPr marL="216000" indent="-214200">
              <a:lnSpc>
                <a:spcPct val="100000"/>
              </a:lnSpc>
              <a:tabLst>
                <a:tab algn="l" pos="0"/>
              </a:tabLst>
            </a:pPr>
            <a:r>
              <a:rPr b="0" lang="en-US" sz="2000" spc="-1" strike="noStrike">
                <a:latin typeface="Arial"/>
              </a:rPr>
              <a:t>- Cierre: puesta en común de 5 minutos; pedir a un grupo que enseñe su plan con el Key Lookup y a otro el plan con Clustered Index Scan.</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¿Por qué el plan de la segunda ejecución es idéntico al de la primera aunque el parámetro sea distinto?</a:t>
            </a:r>
            <a:endParaRPr b="0" lang="es-ES" sz="2000" spc="-1" strike="noStrike">
              <a:latin typeface="Arial"/>
            </a:endParaRPr>
          </a:p>
          <a:p>
            <a:pPr marL="216000" indent="-214200">
              <a:lnSpc>
                <a:spcPct val="100000"/>
              </a:lnSpc>
              <a:tabLst>
                <a:tab algn="l" pos="0"/>
              </a:tabLst>
            </a:pPr>
            <a:r>
              <a:rPr b="0" lang="en-US" sz="2000" spc="-1" strike="noStrike">
                <a:latin typeface="Arial"/>
              </a:rPr>
              <a:t>- ¿Qué cambia en el plan al añadir OPTION (RECOMPILE)? ¿Qué coste tiene hacerlo en cada ejecución?</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Instrucciones de Laboratorio:</a:t>
            </a:r>
            <a:endParaRPr b="0" lang="es-ES" sz="2000" spc="-1" strike="noStrike">
              <a:latin typeface="Arial"/>
            </a:endParaRPr>
          </a:p>
          <a:p>
            <a:pPr marL="216000" indent="-214200">
              <a:lnSpc>
                <a:spcPct val="100000"/>
              </a:lnSpc>
              <a:tabLst>
                <a:tab algn="l" pos="0"/>
              </a:tabLst>
            </a:pPr>
            <a:r>
              <a:rPr b="0" lang="en-US" sz="2000" spc="-1" strike="noStrike">
                <a:latin typeface="Arial"/>
              </a:rPr>
              <a:t>- Requisito: contenedor SQL Server 2025 en marcha (docker run -e ACCEPT_EULA=Y -e MSSQL_SA_PASSWORD=&lt;clave&gt; -p 1433:1433 mcr.microsoft.com/mssql/server:2025-latest) y SSMS conectado a localhost,1433.</a:t>
            </a:r>
            <a:endParaRPr b="0" lang="es-ES" sz="2000" spc="-1" strike="noStrike">
              <a:latin typeface="Arial"/>
            </a:endParaRPr>
          </a:p>
          <a:p>
            <a:pPr marL="216000" indent="-214200">
              <a:lnSpc>
                <a:spcPct val="100000"/>
              </a:lnSpc>
              <a:tabLst>
                <a:tab algn="l" pos="0"/>
              </a:tabLst>
            </a:pPr>
            <a:r>
              <a:rPr b="0" lang="en-US" sz="2000" spc="-1" strike="noStrike">
                <a:latin typeface="Arial"/>
              </a:rPr>
              <a:t>- Paso 1 — Datos: CREATE DATABASE Ventas; USE Ventas; crear dbo.Cliente y dbo.Pedido con los scripts de la diapositiva 22. Cargar 500 clientes: INSERT dbo.Cliente (Email, Nombre) SELECT TOP (500) CONCAT('c', n, '@demo.es'), CONCAT(N'Cliente ', n) FROM (SELECT ROW_NUMBER() OVER (ORDER BY (SELECT NULL)) AS n FROM sys.all_objects a CROSS JOIN sys.all_objects b) AS t ORDER BY n;</a:t>
            </a:r>
            <a:endParaRPr b="0" lang="es-ES" sz="2000" spc="-1" strike="noStrike">
              <a:latin typeface="Arial"/>
            </a:endParaRPr>
          </a:p>
          <a:p>
            <a:pPr marL="216000" indent="-214200">
              <a:lnSpc>
                <a:spcPct val="100000"/>
              </a:lnSpc>
              <a:tabLst>
                <a:tab algn="l" pos="0"/>
              </a:tabLst>
            </a:pPr>
            <a:r>
              <a:rPr b="0" lang="en-US" sz="2000" spc="-1" strike="noStrike">
                <a:latin typeface="Arial"/>
              </a:rPr>
              <a:t>- Paso 1b — Pedidos sesgados: INSERT dbo.Pedido (ClienteId, Fecha, Total) SELECT TOP (50000) CASE WHEN ABS(CHECKSUM(NEWID())) % 10 &lt; 6 THEN 1 ELSE 2 + ABS(CHECKSUM(NEWID())) % 499 END, DATEADD(DAY, -ABS(CHECKSUM(NEWID())) % 730, CAST(GETDATE() AS date)), CAST(10 + ABS(CHECKSUM(NEWID())) % 990 AS decimal(12,2)) FROM sys.all_objects a CROSS JOIN sys.all_objects b; Después: CREATE INDEX IX_Pedido_Cliente ON dbo.Pedido (ClienteId) INCLUDE (Fecha, Total);</a:t>
            </a:r>
            <a:endParaRPr b="0" lang="es-ES" sz="2000" spc="-1" strike="noStrike">
              <a:latin typeface="Arial"/>
            </a:endParaRPr>
          </a:p>
          <a:p>
            <a:pPr marL="216000" indent="-214200">
              <a:lnSpc>
                <a:spcPct val="100000"/>
              </a:lnSpc>
              <a:tabLst>
                <a:tab algn="l" pos="0"/>
              </a:tabLst>
            </a:pPr>
            <a:r>
              <a:rPr b="0" lang="en-US" sz="2000" spc="-1" strike="noStrike">
                <a:latin typeface="Arial"/>
              </a:rPr>
              <a:t>- Paso 2 — Consulta analítica: top 3 pedidos por importe de cada cliente con ROW_NUMBER() OVER (PARTITION BY ClienteId ORDER BY Total DESC) dentro de una CTE y WHERE rn &lt;= 3 fuera. Añadir una columna con SUM(Total) OVER (PARTITION BY ClienteId) para el % sobre el total del cliente.</a:t>
            </a:r>
            <a:endParaRPr b="0" lang="es-ES" sz="2000" spc="-1" strike="noStrike">
              <a:latin typeface="Arial"/>
            </a:endParaRPr>
          </a:p>
          <a:p>
            <a:pPr marL="216000" indent="-214200">
              <a:lnSpc>
                <a:spcPct val="100000"/>
              </a:lnSpc>
              <a:tabLst>
                <a:tab algn="l" pos="0"/>
              </a:tabLst>
            </a:pPr>
            <a:r>
              <a:rPr b="0" lang="en-US" sz="2000" spc="-1" strike="noStrike">
                <a:latin typeface="Arial"/>
              </a:rPr>
              <a:t>- Paso 3 — Procedimiento: CREATE OR ALTER PROCEDURE dbo.usp_TopPedidosCliente @ClienteId INT, @N INT = 3 con SET NOCOUNT ON y SELECT TOP (@N) ... ORDER BY Total DESC. Probar EXEC con @ClienteId = 1 y luego con 250.</a:t>
            </a:r>
            <a:endParaRPr b="0" lang="es-ES" sz="2000" spc="-1" strike="noStrike">
              <a:latin typeface="Arial"/>
            </a:endParaRPr>
          </a:p>
          <a:p>
            <a:pPr marL="216000" indent="-214200">
              <a:lnSpc>
                <a:spcPct val="100000"/>
              </a:lnSpc>
              <a:tabLst>
                <a:tab algn="l" pos="0"/>
              </a:tabLst>
            </a:pPr>
            <a:r>
              <a:rPr b="0" lang="en-US" sz="2000" spc="-1" strike="noStrike">
                <a:latin typeface="Arial"/>
              </a:rPr>
              <a:t>- Paso 4 — Plan y sniffing: activar plan real (Ctrl+M) y SET STATISTICS IO ON. Ejecutar primero con un cliente raro (Seek + Key Lookup) y luego con el cliente 1 (compara lecturas lógicas). Ver el plan cacheado: SELECT usecounts, plan_handle FROM sys.dm_exec_cached_plans CROSS APPLY sys.dm_exec_sql_text(plan_handle) WHERE text LIKE '%usp_TopPedidosCliente%'. Repetir con EXEC ... WITH RECOMPILE y comparar.</a:t>
            </a:r>
            <a:endParaRPr b="0" lang="es-ES" sz="2000" spc="-1" strike="noStrike">
              <a:latin typeface="Arial"/>
            </a:endParaRPr>
          </a:p>
          <a:p>
            <a:pPr marL="216000" indent="-214200">
              <a:lnSpc>
                <a:spcPct val="100000"/>
              </a:lnSpc>
              <a:tabLst>
                <a:tab algn="l" pos="0"/>
              </a:tabLst>
            </a:pPr>
            <a:r>
              <a:rPr b="0" lang="en-US" sz="2000" spc="-1" strike="noStrike">
                <a:latin typeface="Arial"/>
              </a:rPr>
              <a:t>- Trampas habituales: (a) ORDER BY dentro de una CTE sin TOP → error 1033; (b) filtrar rn en el mismo SELECT donde se calcula → error 4108 (usar CTE); (c) ejecutar CREATE PROCEDURE sin GO previo cuando hay más sentencias en el lote; (d) olvidar USE Ventas y crear los objetos en master.</a:t>
            </a:r>
            <a:endParaRPr b="0" lang="es-ES" sz="2000" spc="-1" strike="noStrike">
              <a:latin typeface="Arial"/>
            </a:endParaRPr>
          </a:p>
          <a:p>
            <a:pPr marL="216000" indent="-213840">
              <a:lnSpc>
                <a:spcPct val="100000"/>
              </a:lnSpc>
              <a:tabLst>
                <a:tab algn="l" pos="0"/>
              </a:tabLst>
            </a:pPr>
            <a:r>
              <a:rPr b="0" lang="en-US" sz="2000" spc="-1" strike="noStrike">
                <a:latin typeface="Arial"/>
              </a:rPr>
              <a:t>- Guía de resolución: si el alumno no ve diferencia de planes, confirmar que el sesgo existe (SELECT ClienteId, COUNT(*) FROM dbo.Pedido GROUP BY ClienteId ORDER BY 2 DESC) y que el índice IX_Pedido_Cliente está creado; vaciar la caché sólo con DBCC FREEPROCCACHE en el contenedor de laboratorio.</a:t>
            </a:r>
            <a:endParaRPr b="0" lang="es-ES" sz="2000" spc="-1" strike="noStrike">
              <a:latin typeface="Arial"/>
            </a:endParaRPr>
          </a:p>
        </p:txBody>
      </p:sp>
      <p:sp>
        <p:nvSpPr>
          <p:cNvPr id="2124"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C4063B0F-89E3-4281-85D3-03DDBB8A3996}"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5" name="PlaceHolder 1"/>
          <p:cNvSpPr>
            <a:spLocks noGrp="1"/>
          </p:cNvSpPr>
          <p:nvPr>
            <p:ph type="sldImg"/>
          </p:nvPr>
        </p:nvSpPr>
        <p:spPr>
          <a:xfrm>
            <a:off x="685800" y="1143000"/>
            <a:ext cx="5483880" cy="3083760"/>
          </a:xfrm>
          <a:prstGeom prst="rect">
            <a:avLst/>
          </a:prstGeom>
        </p:spPr>
      </p:sp>
      <p:sp>
        <p:nvSpPr>
          <p:cNvPr id="2126"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Presentar la cadena completa de seguridad (autenticación → login → user → roles/permisos → objetos) y la frontera entre nivel de instancia y de base de datos.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Una petición atraviesa varias capas en orden. 1) Autenticación: ¿quién eres? Windows (Kerberos/NTLM) o SQL Server (usuario y contraseña). 2) Login: principal a nivel de servidor que permite entrar a la instancia (sys.server_principals).</a:t>
            </a:r>
            <a:endParaRPr b="0" lang="es-ES" sz="2000" spc="-1" strike="noStrike">
              <a:latin typeface="Arial"/>
            </a:endParaRPr>
          </a:p>
          <a:p>
            <a:pPr marL="216000" indent="-214200">
              <a:lnSpc>
                <a:spcPct val="100000"/>
              </a:lnSpc>
              <a:tabLst>
                <a:tab algn="l" pos="0"/>
              </a:tabLst>
            </a:pPr>
            <a:r>
              <a:rPr b="0" lang="en-US" sz="2000" spc="-1" strike="noStrike">
                <a:latin typeface="Arial"/>
              </a:rPr>
              <a:t>- 3) User: principal de base de datos mapeado a un login (sys.database_principals); sin user (o guest) no se accede a la BD aunque el login sea válido. 4) Roles y permisos: GRANT/DENY/REVOKE sobre objetos, schemas o la propia BD. 5) Objetos: tablas, vistas, procedimientos, agrupados en schemas.</a:t>
            </a:r>
            <a:endParaRPr b="0" lang="es-ES" sz="2000" spc="-1" strike="noStrike">
              <a:latin typeface="Arial"/>
            </a:endParaRPr>
          </a:p>
          <a:p>
            <a:pPr marL="216000" indent="-214200">
              <a:lnSpc>
                <a:spcPct val="100000"/>
              </a:lnSpc>
              <a:tabLst>
                <a:tab algn="l" pos="0"/>
              </a:tabLst>
            </a:pPr>
            <a:r>
              <a:rPr b="0" lang="en-US" sz="2000" spc="-1" strike="noStrike">
                <a:latin typeface="Arial"/>
              </a:rPr>
              <a:t>- Los permisos se evalúan jerárquicamente: servidor → base de datos → schema → objeto → columna. Un permiso concedido en un nivel alto (p. ej. SELECT sobre la BD) se hereda por los inferiores, salvo DENY.</a:t>
            </a:r>
            <a:endParaRPr b="0" lang="es-ES" sz="2000" spc="-1" strike="noStrike">
              <a:latin typeface="Arial"/>
            </a:endParaRPr>
          </a:p>
          <a:p>
            <a:pPr marL="216000" indent="-214200">
              <a:lnSpc>
                <a:spcPct val="100000"/>
              </a:lnSpc>
              <a:tabLst>
                <a:tab algn="l" pos="0"/>
              </a:tabLst>
            </a:pPr>
            <a:r>
              <a:rPr b="0" lang="en-US" sz="2000" spc="-1" strike="noStrike">
                <a:latin typeface="Arial"/>
              </a:rPr>
              <a:t>- Principals: logins, users, roles de servidor/BD y roles de aplicación. Securables: servidor, BD, schema, objeto. Permission: CONNECT, SELECT, EXECUTE, ALTER, CONTROL, etc.</a:t>
            </a:r>
            <a:endParaRPr b="0" lang="es-ES" sz="2000" spc="-1" strike="noStrike">
              <a:latin typeface="Arial"/>
            </a:endParaRPr>
          </a:p>
          <a:p>
            <a:pPr marL="216000" indent="-214200">
              <a:lnSpc>
                <a:spcPct val="100000"/>
              </a:lnSpc>
              <a:tabLst>
                <a:tab algn="l" pos="0"/>
              </a:tabLst>
            </a:pPr>
            <a:r>
              <a:rPr b="0" lang="en-US" sz="2000" spc="-1" strike="noStrike">
                <a:latin typeface="Arial"/>
              </a:rPr>
              <a:t>- Idea clave para el DBA: el login abre la puerta de la instancia, pero no da acceso a ningún dato; ahí entran el user, los roles y los permisos. Por eso «tener un login» y «tener acceso» no son lo mismo.</a:t>
            </a:r>
            <a:endParaRPr b="0" lang="es-ES" sz="2000" spc="-1" strike="noStrike">
              <a:latin typeface="Arial"/>
            </a:endParaRPr>
          </a:p>
          <a:p>
            <a:pPr marL="216000" indent="-214200">
              <a:lnSpc>
                <a:spcPct val="100000"/>
              </a:lnSpc>
              <a:tabLst>
                <a:tab algn="l" pos="0"/>
              </a:tabLst>
            </a:pPr>
            <a:r>
              <a:rPr b="0" lang="en-US" sz="2000" spc="-1" strike="noStrike">
                <a:latin typeface="Arial"/>
              </a:rPr>
              <a:t>- Otras capas complementarias fuera de esta diapositiva: cifrado en tránsito (TLS), TDE, Always Encrypted, Row-Level Security y Dynamic Data Masking. Se mencionan, no se desarrollan.</a:t>
            </a:r>
            <a:endParaRPr b="0" lang="es-ES" sz="2000" spc="-1" strike="noStrike">
              <a:latin typeface="Arial"/>
            </a:endParaRPr>
          </a:p>
          <a:p>
            <a:pPr marL="216000" indent="-214200">
              <a:lnSpc>
                <a:spcPct val="100000"/>
              </a:lnSpc>
              <a:tabLst>
                <a:tab algn="l" pos="0"/>
              </a:tabLst>
            </a:pPr>
            <a:r>
              <a:rPr b="0" lang="en-US" sz="2000" spc="-1" strike="noStrike">
                <a:latin typeface="Arial"/>
              </a:rPr>
              <a:t>- Vistas de catálogo de referencia: sys.server_principals, sys.database_principals, sys.server_permissions, sys.database_permissions y sys.fn_my_permissions.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¿Puede un login con credenciales válidas conectarse a la instancia y aun así no ver ninguna base de datos de usuario? ¿Por qué?</a:t>
            </a:r>
            <a:endParaRPr b="0" lang="es-ES" sz="2000" spc="-1" strike="noStrike">
              <a:latin typeface="Arial"/>
            </a:endParaRPr>
          </a:p>
          <a:p>
            <a:pPr marL="216000" indent="-213840">
              <a:lnSpc>
                <a:spcPct val="100000"/>
              </a:lnSpc>
              <a:tabLst>
                <a:tab algn="l" pos="0"/>
              </a:tabLst>
            </a:pPr>
            <a:r>
              <a:rPr b="0" lang="en-US" sz="2000" spc="-1" strike="noStrike">
                <a:latin typeface="Arial"/>
              </a:rPr>
              <a:t>- ¿Qué diferencia hay entre un permiso concedido a nivel de schema y uno concedido tabla a tabla en una base de datos con 500 tablas?</a:t>
            </a:r>
            <a:endParaRPr b="0" lang="es-ES" sz="2000" spc="-1" strike="noStrike">
              <a:latin typeface="Arial"/>
            </a:endParaRPr>
          </a:p>
        </p:txBody>
      </p:sp>
      <p:sp>
        <p:nvSpPr>
          <p:cNvPr id="2127"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40BE2754-1A26-4DBC-A95F-11ECCB435B72}"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8" name="PlaceHolder 1"/>
          <p:cNvSpPr>
            <a:spLocks noGrp="1"/>
          </p:cNvSpPr>
          <p:nvPr>
            <p:ph type="sldImg"/>
          </p:nvPr>
        </p:nvSpPr>
        <p:spPr>
          <a:xfrm>
            <a:off x="685800" y="1143000"/>
            <a:ext cx="5483880" cy="3083760"/>
          </a:xfrm>
          <a:prstGeom prst="rect">
            <a:avLst/>
          </a:prstGeom>
        </p:spPr>
      </p:sp>
      <p:sp>
        <p:nvSpPr>
          <p:cNvPr id="2129"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Comparar los dos modos de autenticación, saber cuándo habilitar el modo mixto y cuáles son sus riesgos.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Autenticación de Windows (integrada): SQL Server confía en la identidad validada por Active Directory (Kerberos, o NTLM como alternativa). Se gestionan contraseñas, caducidad, bloqueo y MFA en el directorio, y se pueden crear logins para grupos de AD, lo que simplifica el alta y baja de personas.</a:t>
            </a:r>
            <a:endParaRPr b="0" lang="es-ES" sz="2000" spc="-1" strike="noStrike">
              <a:latin typeface="Arial"/>
            </a:endParaRPr>
          </a:p>
          <a:p>
            <a:pPr marL="216000" indent="-214200">
              <a:lnSpc>
                <a:spcPct val="100000"/>
              </a:lnSpc>
              <a:tabLst>
                <a:tab algn="l" pos="0"/>
              </a:tabLst>
            </a:pPr>
            <a:r>
              <a:rPr b="0" lang="en-US" sz="2000" spc="-1" strike="noStrike">
                <a:latin typeface="Arial"/>
              </a:rPr>
              <a:t>- Autenticación de SQL Server: el login y el hash de la contraseña (SHA-512 con sal desde 2012) se guardan en master (sys.sql_logins). Sirve para aplicaciones heredadas, servidores fuera de dominio, instancias en Linux o contenedores sin AD y herramientas de terceros.</a:t>
            </a:r>
            <a:endParaRPr b="0" lang="es-ES" sz="2000" spc="-1" strike="noStrike">
              <a:latin typeface="Arial"/>
            </a:endParaRPr>
          </a:p>
          <a:p>
            <a:pPr marL="216000" indent="-214200">
              <a:lnSpc>
                <a:spcPct val="100000"/>
              </a:lnSpc>
              <a:tabLst>
                <a:tab algn="l" pos="0"/>
              </a:tabLst>
            </a:pPr>
            <a:r>
              <a:rPr b="0" lang="en-US" sz="2000" spc="-1" strike="noStrike">
                <a:latin typeface="Arial"/>
              </a:rPr>
              <a:t>- Modo de autenticación del servidor: «Sólo Windows» o «Mixto» (Windows + SQL). Se cambia en Propiedades del servidor → Seguridad y requiere reiniciar el servicio. SERVERPROPERTY('IsIntegratedSecurityOnly') indica el modo (1 = sólo Windows).</a:t>
            </a:r>
            <a:endParaRPr b="0" lang="es-ES" sz="2000" spc="-1" strike="noStrike">
              <a:latin typeface="Arial"/>
            </a:endParaRPr>
          </a:p>
          <a:p>
            <a:pPr marL="216000" indent="-214200">
              <a:lnSpc>
                <a:spcPct val="100000"/>
              </a:lnSpc>
              <a:tabLst>
                <a:tab algn="l" pos="0"/>
              </a:tabLst>
            </a:pPr>
            <a:r>
              <a:rPr b="0" lang="en-US" sz="2000" spc="-1" strike="noStrike">
                <a:latin typeface="Arial"/>
              </a:rPr>
              <a:t>- En modo mixto la cuenta sa pasa a estar activa: es el objetivo número uno de los ataques de fuerza bruta. Buenas prácticas: contraseña robusta, cambiar el nombre (ALTER LOGIN sa WITH NAME = ...) o deshabilitarla (ALTER LOGIN sa DISABLE).</a:t>
            </a:r>
            <a:endParaRPr b="0" lang="es-ES" sz="2000" spc="-1" strike="noStrike">
              <a:latin typeface="Arial"/>
            </a:endParaRPr>
          </a:p>
          <a:p>
            <a:pPr marL="216000" indent="-214200">
              <a:lnSpc>
                <a:spcPct val="100000"/>
              </a:lnSpc>
              <a:tabLst>
                <a:tab algn="l" pos="0"/>
              </a:tabLst>
            </a:pPr>
            <a:r>
              <a:rPr b="0" lang="en-US" sz="2000" spc="-1" strike="noStrike">
                <a:latin typeface="Arial"/>
              </a:rPr>
              <a:t>- Para logins SQL activar CHECK_POLICY = ON (aplica la política de contraseñas de Windows) y CHECK_EXPIRATION según el caso. Visible en sys.sql_logins (is_policy_checked, is_expiration_checked).</a:t>
            </a:r>
            <a:endParaRPr b="0" lang="es-ES" sz="2000" spc="-1" strike="noStrike">
              <a:latin typeface="Arial"/>
            </a:endParaRPr>
          </a:p>
          <a:p>
            <a:pPr marL="216000" indent="-214200">
              <a:lnSpc>
                <a:spcPct val="100000"/>
              </a:lnSpc>
              <a:tabLst>
                <a:tab algn="l" pos="0"/>
              </a:tabLst>
            </a:pPr>
            <a:r>
              <a:rPr b="0" lang="en-US" sz="2000" spc="-1" strike="noStrike">
                <a:latin typeface="Arial"/>
              </a:rPr>
              <a:t>- Problema del doble salto (double hop): con Kerberos mal configurado (SPN ausente), las conexiones remotas caen a NTLM o fallan. Verificar con SELECT auth_scheme FROM sys.dm_exec_connections WHERE session_id = @@SPID.</a:t>
            </a:r>
            <a:endParaRPr b="0" lang="es-ES" sz="2000" spc="-1" strike="noStrike">
              <a:latin typeface="Arial"/>
            </a:endParaRPr>
          </a:p>
          <a:p>
            <a:pPr marL="216000" indent="-214200">
              <a:lnSpc>
                <a:spcPct val="100000"/>
              </a:lnSpc>
              <a:tabLst>
                <a:tab algn="l" pos="0"/>
              </a:tabLst>
            </a:pPr>
            <a:r>
              <a:rPr b="0" lang="en-US" sz="2000" spc="-1" strike="noStrike">
                <a:latin typeface="Arial"/>
              </a:rPr>
              <a:t>- En Docker/Linux (contenedor del laboratorio) la autenticación inicial es SQL (sa); Windows/AD se habilita con adutil en SQL Server 2019+ pero queda fuera del alcance del curso.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ventajas operativas tiene crear un login para un grupo de Active Directory en lugar de uno por persona?</a:t>
            </a:r>
            <a:endParaRPr b="0" lang="es-ES" sz="2000" spc="-1" strike="noStrike">
              <a:latin typeface="Arial"/>
            </a:endParaRPr>
          </a:p>
          <a:p>
            <a:pPr marL="216000" indent="-213840">
              <a:lnSpc>
                <a:spcPct val="100000"/>
              </a:lnSpc>
              <a:tabLst>
                <a:tab algn="l" pos="0"/>
              </a:tabLst>
            </a:pPr>
            <a:r>
              <a:rPr b="0" lang="en-US" sz="2000" spc="-1" strike="noStrike">
                <a:latin typeface="Arial"/>
              </a:rPr>
              <a:t>- ¿Qué haríais con la cuenta sa en un servidor en modo mixto expuesto a varias aplicaciones? ¿Y si una aplicación sólo soporta SQL Auth?</a:t>
            </a:r>
            <a:endParaRPr b="0" lang="es-ES" sz="2000" spc="-1" strike="noStrike">
              <a:latin typeface="Arial"/>
            </a:endParaRPr>
          </a:p>
        </p:txBody>
      </p:sp>
      <p:sp>
        <p:nvSpPr>
          <p:cNvPr id="2130"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FF52CC51-5B84-44C9-A786-4E3BF35E99AF}"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1" name="PlaceHolder 1"/>
          <p:cNvSpPr>
            <a:spLocks noGrp="1"/>
          </p:cNvSpPr>
          <p:nvPr>
            <p:ph type="sldImg"/>
          </p:nvPr>
        </p:nvSpPr>
        <p:spPr>
          <a:xfrm>
            <a:off x="685800" y="1143000"/>
            <a:ext cx="5483880" cy="3083760"/>
          </a:xfrm>
          <a:prstGeom prst="rect">
            <a:avLst/>
          </a:prstGeom>
        </p:spPr>
      </p:sp>
      <p:sp>
        <p:nvSpPr>
          <p:cNvPr id="2132"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Distinguir login (instancia) de user (base de datos), entender su mapeo por SID y usar los schemas como espacio de nombres y unidad de permisos.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Login = principal de servidor; User = principal de base de datos. Se enlazan por el SID (Security Identifier). CREATE USER ... FOR LOGIN guarda el SID del login en sys.database_principals.</a:t>
            </a:r>
            <a:endParaRPr b="0" lang="es-ES" sz="2000" spc="-1" strike="noStrike">
              <a:latin typeface="Arial"/>
            </a:endParaRPr>
          </a:p>
          <a:p>
            <a:pPr marL="216000" indent="-214200">
              <a:lnSpc>
                <a:spcPct val="100000"/>
              </a:lnSpc>
              <a:tabLst>
                <a:tab algn="l" pos="0"/>
              </a:tabLst>
            </a:pPr>
            <a:r>
              <a:rPr b="0" lang="en-US" sz="2000" spc="-1" strike="noStrike">
                <a:latin typeface="Arial"/>
              </a:rPr>
              <a:t>- Un login puede tener un user distinto en cada BD; sin user en la BD (y guest deshabilitado) no hay acceso. Cada BD tiene el user especial dbo (propietario) y los de sistema (guest, INFORMATION_SCHEMA, sys).</a:t>
            </a:r>
            <a:endParaRPr b="0" lang="es-ES" sz="2000" spc="-1" strike="noStrike">
              <a:latin typeface="Arial"/>
            </a:endParaRPr>
          </a:p>
          <a:p>
            <a:pPr marL="216000" indent="-214200">
              <a:lnSpc>
                <a:spcPct val="100000"/>
              </a:lnSpc>
              <a:tabLst>
                <a:tab algn="l" pos="0"/>
              </a:tabLst>
            </a:pPr>
            <a:r>
              <a:rPr b="0" lang="en-US" sz="2000" spc="-1" strike="noStrike">
                <a:latin typeface="Arial"/>
              </a:rPr>
              <a:t>- Usuario huérfano (orphaned user): tras restaurar una BD en otra instancia, el SID del user no coincide con ningún login. Detectar con sp_change_users_login 'Report' o comparando SIDs; reparar con ALTER USER ... WITH LOGIN = login. Alternativa moderna: bases de datos contenidas (CONTAINMENT = PARTIAL) con usuarios con contraseña propios.</a:t>
            </a:r>
            <a:endParaRPr b="0" lang="es-ES" sz="2000" spc="-1" strike="noStrike">
              <a:latin typeface="Arial"/>
            </a:endParaRPr>
          </a:p>
          <a:p>
            <a:pPr marL="216000" indent="-214200">
              <a:lnSpc>
                <a:spcPct val="100000"/>
              </a:lnSpc>
              <a:tabLst>
                <a:tab algn="l" pos="0"/>
              </a:tabLst>
            </a:pPr>
            <a:r>
              <a:rPr b="0" lang="en-US" sz="2000" spc="-1" strike="noStrike">
                <a:latin typeface="Arial"/>
              </a:rPr>
              <a:t>- Schema = espacio de nombres y contenedor de seguridad dentro de la BD. No es lo mismo que el user (desde 2005 están separados): el propietario del schema puede cambiarse sin renombrar objetos.</a:t>
            </a:r>
            <a:endParaRPr b="0" lang="es-ES" sz="2000" spc="-1" strike="noStrike">
              <a:latin typeface="Arial"/>
            </a:endParaRPr>
          </a:p>
          <a:p>
            <a:pPr marL="216000" indent="-214200">
              <a:lnSpc>
                <a:spcPct val="100000"/>
              </a:lnSpc>
              <a:tabLst>
                <a:tab algn="l" pos="0"/>
              </a:tabLst>
            </a:pPr>
            <a:r>
              <a:rPr b="0" lang="en-US" sz="2000" spc="-1" strike="noStrike">
                <a:latin typeface="Arial"/>
              </a:rPr>
              <a:t>- Un permiso concedido a nivel de schema (GRANT SELECT ON SCHEMA::rpt) cubre los objetos actuales y los futuros; es la forma más mantenible de segregar permisos (rpt para informes, app para procedimientos de aplicación, dbo para administración).</a:t>
            </a:r>
            <a:endParaRPr b="0" lang="es-ES" sz="2000" spc="-1" strike="noStrike">
              <a:latin typeface="Arial"/>
            </a:endParaRPr>
          </a:p>
          <a:p>
            <a:pPr marL="216000" indent="-214200">
              <a:lnSpc>
                <a:spcPct val="100000"/>
              </a:lnSpc>
              <a:tabLst>
                <a:tab algn="l" pos="0"/>
              </a:tabLst>
            </a:pPr>
            <a:r>
              <a:rPr b="0" lang="en-US" sz="2000" spc="-1" strike="noStrike">
                <a:latin typeface="Arial"/>
              </a:rPr>
              <a:t>- DEFAULT_SCHEMA del user determina cómo se resuelven nombres sin calificar; mejor calificar siempre (dbo.Pedido) para evitar resoluciones ambiguas y ahorrar recompilaciones en el plan cache.</a:t>
            </a:r>
            <a:endParaRPr b="0" lang="es-ES" sz="2000" spc="-1" strike="noStrike">
              <a:latin typeface="Arial"/>
            </a:endParaRPr>
          </a:p>
          <a:p>
            <a:pPr marL="216000" indent="-214200">
              <a:lnSpc>
                <a:spcPct val="100000"/>
              </a:lnSpc>
              <a:tabLst>
                <a:tab algn="l" pos="0"/>
              </a:tabLst>
            </a:pPr>
            <a:r>
              <a:rPr b="0" lang="en-US" sz="2000" spc="-1" strike="noStrike">
                <a:latin typeface="Arial"/>
              </a:rPr>
              <a:t>- Cuidado con CREATE LOGIN ... WITH PASSWORD en scripts versionados: nunca contraseñas reales en el control de código. Para Windows: CREATE LOGIN [DOMINIO\ana] FROM WINDOWS (sólo con AD).</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ocurre si restauráis una copia de Ventas en otro servidor donde el login lg_analista existe pero se creó con otro SID?</a:t>
            </a:r>
            <a:endParaRPr b="0" lang="es-ES" sz="2000" spc="-1" strike="noStrike">
              <a:latin typeface="Arial"/>
            </a:endParaRPr>
          </a:p>
          <a:p>
            <a:pPr marL="216000" indent="-213840">
              <a:lnSpc>
                <a:spcPct val="100000"/>
              </a:lnSpc>
              <a:tabLst>
                <a:tab algn="l" pos="0"/>
              </a:tabLst>
            </a:pPr>
            <a:r>
              <a:rPr b="0" lang="en-US" sz="2000" spc="-1" strike="noStrike">
                <a:latin typeface="Arial"/>
              </a:rPr>
              <a:t>- ¿Qué ventaja tiene organizar los objetos en schemas (rpt, app, dbo) frente a tenerlo todo en dbo?</a:t>
            </a:r>
            <a:endParaRPr b="0" lang="es-ES" sz="2000" spc="-1" strike="noStrike">
              <a:latin typeface="Arial"/>
            </a:endParaRPr>
          </a:p>
        </p:txBody>
      </p:sp>
      <p:sp>
        <p:nvSpPr>
          <p:cNvPr id="2133"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3B88A4A9-08CD-4CB6-A5EB-B49CCC4863F3}"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4" name="PlaceHolder 1"/>
          <p:cNvSpPr>
            <a:spLocks noGrp="1"/>
          </p:cNvSpPr>
          <p:nvPr>
            <p:ph type="sldImg"/>
          </p:nvPr>
        </p:nvSpPr>
        <p:spPr>
          <a:xfrm>
            <a:off x="685800" y="1143000"/>
            <a:ext cx="5483880" cy="3083760"/>
          </a:xfrm>
          <a:prstGeom prst="rect">
            <a:avLst/>
          </a:prstGeom>
        </p:spPr>
      </p:sp>
      <p:sp>
        <p:nvSpPr>
          <p:cNvPr id="2135"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Conocer los roles fijos más relevantes y justificar por qué se prefieren roles personalizados con permisos sobre schemas.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Roles fijos de servidor: sysadmin (control total, ignora DENY), securityadmin (administra logins; casi equivale a sysadmin por escalada), dbcreator (crea/restaura BDs), serveradmin, processadmin, diskadmin, bulkadmin, setupadmin y public. SQL Server 2022 añade roles granulares como ##MS_ServerStateReader## para monitorización sin sysadmin.</a:t>
            </a:r>
            <a:endParaRPr b="0" lang="es-ES" sz="2000" spc="-1" strike="noStrike">
              <a:latin typeface="Arial"/>
            </a:endParaRPr>
          </a:p>
          <a:p>
            <a:pPr marL="216000" indent="-214200">
              <a:lnSpc>
                <a:spcPct val="100000"/>
              </a:lnSpc>
              <a:tabLst>
                <a:tab algn="l" pos="0"/>
              </a:tabLst>
            </a:pPr>
            <a:r>
              <a:rPr b="0" lang="en-US" sz="2000" spc="-1" strike="noStrike">
                <a:latin typeface="Arial"/>
              </a:rPr>
              <a:t>- Roles fijos de BD: db_owner (control total de la BD), db_datareader/db_datawriter (SELECT/INSERT-UPDATE-DELETE sobre todas las tablas), db_ddladmin (DDL), db_securityadmin, db_accessadmin, db_backupoperator y los db_denydatareader/db_denydatawriter.</a:t>
            </a:r>
            <a:endParaRPr b="0" lang="es-ES" sz="2000" spc="-1" strike="noStrike">
              <a:latin typeface="Arial"/>
            </a:endParaRPr>
          </a:p>
          <a:p>
            <a:pPr marL="216000" indent="-214200">
              <a:lnSpc>
                <a:spcPct val="100000"/>
              </a:lnSpc>
              <a:tabLst>
                <a:tab algn="l" pos="0"/>
              </a:tabLst>
            </a:pPr>
            <a:r>
              <a:rPr b="0" lang="en-US" sz="2000" spc="-1" strike="noStrike">
                <a:latin typeface="Arial"/>
              </a:rPr>
              <a:t>- El rol public existe en servidor y BD, y todos los principals pertenecen a él: no se le debe conceder nada que no se quiera dar a todo el mundo.</a:t>
            </a:r>
            <a:endParaRPr b="0" lang="es-ES" sz="2000" spc="-1" strike="noStrike">
              <a:latin typeface="Arial"/>
            </a:endParaRPr>
          </a:p>
          <a:p>
            <a:pPr marL="216000" indent="-214200">
              <a:lnSpc>
                <a:spcPct val="100000"/>
              </a:lnSpc>
              <a:tabLst>
                <a:tab algn="l" pos="0"/>
              </a:tabLst>
            </a:pPr>
            <a:r>
              <a:rPr b="0" lang="en-US" sz="2000" spc="-1" strike="noStrike">
                <a:latin typeface="Arial"/>
              </a:rPr>
              <a:t>- Problema de los roles fijos: son «todo o nada» (db_datareader lee todas las tablas presentes y futuras). Para el mínimo privilegio se definen roles personalizados (CREATE ROLE) y se les concede permisos sobre un schema o procedimientos concretos.</a:t>
            </a:r>
            <a:endParaRPr b="0" lang="es-ES" sz="2000" spc="-1" strike="noStrike">
              <a:latin typeface="Arial"/>
            </a:endParaRPr>
          </a:p>
          <a:p>
            <a:pPr marL="216000" indent="-214200">
              <a:lnSpc>
                <a:spcPct val="100000"/>
              </a:lnSpc>
              <a:tabLst>
                <a:tab algn="l" pos="0"/>
              </a:tabLst>
            </a:pPr>
            <a:r>
              <a:rPr b="0" lang="en-US" sz="2000" spc="-1" strike="noStrike">
                <a:latin typeface="Arial"/>
              </a:rPr>
              <a:t>- Gestión: ALTER ROLE rol ADD MEMBER usuario (desde 2012; sp_addrolemember está obsoleto). En SQL Server 2012+ también existen roles de servidor definidos por el usuario (CREATE SERVER ROLE).</a:t>
            </a:r>
            <a:endParaRPr b="0" lang="es-ES" sz="2000" spc="-1" strike="noStrike">
              <a:latin typeface="Arial"/>
            </a:endParaRPr>
          </a:p>
          <a:p>
            <a:pPr marL="216000" indent="-214200">
              <a:lnSpc>
                <a:spcPct val="100000"/>
              </a:lnSpc>
              <a:tabLst>
                <a:tab algn="l" pos="0"/>
              </a:tabLst>
            </a:pPr>
            <a:r>
              <a:rPr b="0" lang="en-US" sz="2000" spc="-1" strike="noStrike">
                <a:latin typeface="Arial"/>
              </a:rPr>
              <a:t>- Los roles pueden anidarse (un rol miembro de otro), pero la anidación excesiva complica las auditorías. Convención: rol_&lt;función&gt;, p. ej. rol_lectura_rpt, rol_operador.</a:t>
            </a:r>
            <a:endParaRPr b="0" lang="es-ES" sz="2000" spc="-1" strike="noStrike">
              <a:latin typeface="Arial"/>
            </a:endParaRPr>
          </a:p>
          <a:p>
            <a:pPr marL="216000" indent="-214200">
              <a:lnSpc>
                <a:spcPct val="100000"/>
              </a:lnSpc>
              <a:tabLst>
                <a:tab algn="l" pos="0"/>
              </a:tabLst>
            </a:pPr>
            <a:r>
              <a:rPr b="0" lang="en-US" sz="2000" spc="-1" strike="noStrike">
                <a:latin typeface="Arial"/>
              </a:rPr>
              <a:t>- Auditar membresías: SELECT r.name AS rol, m.name AS miembro FROM sys.database_role_members rm JOIN sys.database_principals r ON r.principal_id = rm.role_principal_id JOIN sys.database_principals m ON m.principal_id = rm.member_principal_id; y sys.server_role_members para servidor.</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¿Por qué un login miembro de securityadmin debe tratarse casi como un sysadmin?</a:t>
            </a:r>
            <a:endParaRPr b="0" lang="es-ES" sz="2000" spc="-1" strike="noStrike">
              <a:latin typeface="Arial"/>
            </a:endParaRPr>
          </a:p>
          <a:p>
            <a:pPr marL="216000" indent="-213840">
              <a:lnSpc>
                <a:spcPct val="100000"/>
              </a:lnSpc>
              <a:tabLst>
                <a:tab algn="l" pos="0"/>
              </a:tabLst>
            </a:pPr>
            <a:r>
              <a:rPr b="0" lang="en-US" sz="2000" spc="-1" strike="noStrike">
                <a:latin typeface="Arial"/>
              </a:rPr>
              <a:t>- ¿Qué ocurre con las tablas creadas el próximo mes si añadimos a un usuario a db_datareader? ¿Y si le damos SELECT sobre un schema?</a:t>
            </a:r>
            <a:endParaRPr b="0" lang="es-ES" sz="2000" spc="-1" strike="noStrike">
              <a:latin typeface="Arial"/>
            </a:endParaRPr>
          </a:p>
        </p:txBody>
      </p:sp>
      <p:sp>
        <p:nvSpPr>
          <p:cNvPr id="2136"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AF8E8E68-47D5-4ACC-BE04-A8CD2C74D177}"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7" name="PlaceHolder 1"/>
          <p:cNvSpPr>
            <a:spLocks noGrp="1"/>
          </p:cNvSpPr>
          <p:nvPr>
            <p:ph type="sldImg"/>
          </p:nvPr>
        </p:nvSpPr>
        <p:spPr>
          <a:xfrm>
            <a:off x="685800" y="1143000"/>
            <a:ext cx="5483880" cy="3083760"/>
          </a:xfrm>
          <a:prstGeom prst="rect">
            <a:avLst/>
          </a:prstGeom>
        </p:spPr>
      </p:sp>
      <p:sp>
        <p:nvSpPr>
          <p:cNvPr id="2138"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Aplicar correctamente las tres sentencias de permisos y razonar sobre la precedencia entre ellas y entre roles.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GRANT concede un permiso (SELECT, INSERT, UPDATE, DELETE, EXECUTE, ALTER, CONTROL…) sobre un securable. WITH GRANT OPTION permite al receptor delegarlo; usarlo con extrema cautela.</a:t>
            </a:r>
            <a:endParaRPr b="0" lang="es-ES" sz="2000" spc="-1" strike="noStrike">
              <a:latin typeface="Arial"/>
            </a:endParaRPr>
          </a:p>
          <a:p>
            <a:pPr marL="216000" indent="-214200">
              <a:lnSpc>
                <a:spcPct val="100000"/>
              </a:lnSpc>
              <a:tabLst>
                <a:tab algn="l" pos="0"/>
              </a:tabLst>
            </a:pPr>
            <a:r>
              <a:rPr b="0" lang="en-US" sz="2000" spc="-1" strike="noStrike">
                <a:latin typeface="Arial"/>
              </a:rPr>
              <a:t>- DENY prohíbe explícitamente el permiso y tiene precedencia sobre cualquier GRANT, incluso heredado de un rol o de un nivel superior. Excepciones: no afecta a sysadmin ni al user dbo.</a:t>
            </a:r>
            <a:endParaRPr b="0" lang="es-ES" sz="2000" spc="-1" strike="noStrike">
              <a:latin typeface="Arial"/>
            </a:endParaRPr>
          </a:p>
          <a:p>
            <a:pPr marL="216000" indent="-214200">
              <a:lnSpc>
                <a:spcPct val="100000"/>
              </a:lnSpc>
              <a:tabLst>
                <a:tab algn="l" pos="0"/>
              </a:tabLst>
            </a:pPr>
            <a:r>
              <a:rPr b="0" lang="en-US" sz="2000" spc="-1" strike="noStrike">
                <a:latin typeface="Arial"/>
              </a:rPr>
              <a:t>- REVOKE elimina un GRANT o un DENY previo y devuelve al estado «sin permiso explícito»: no equivale a denegar, y el usuario puede seguir teniendo el permiso por otro camino (rol o schema).</a:t>
            </a:r>
            <a:endParaRPr b="0" lang="es-ES" sz="2000" spc="-1" strike="noStrike">
              <a:latin typeface="Arial"/>
            </a:endParaRPr>
          </a:p>
          <a:p>
            <a:pPr marL="216000" indent="-214200">
              <a:lnSpc>
                <a:spcPct val="100000"/>
              </a:lnSpc>
              <a:tabLst>
                <a:tab algn="l" pos="0"/>
              </a:tabLst>
            </a:pPr>
            <a:r>
              <a:rPr b="0" lang="en-US" sz="2000" spc="-1" strike="noStrike">
                <a:latin typeface="Arial"/>
              </a:rPr>
              <a:t>- Orden de evaluación: DENY &gt; GRANT &gt; sin permiso (denegado implícito). Los permisos de roles se acumulan, salvo un DENY en cualquiera de ellos.</a:t>
            </a:r>
            <a:endParaRPr b="0" lang="es-ES" sz="2000" spc="-1" strike="noStrike">
              <a:latin typeface="Arial"/>
            </a:endParaRPr>
          </a:p>
          <a:p>
            <a:pPr marL="216000" indent="-214200">
              <a:lnSpc>
                <a:spcPct val="100000"/>
              </a:lnSpc>
              <a:tabLst>
                <a:tab algn="l" pos="0"/>
              </a:tabLst>
            </a:pPr>
            <a:r>
              <a:rPr b="0" lang="en-US" sz="2000" spc="-1" strike="noStrike">
                <a:latin typeface="Arial"/>
              </a:rPr>
              <a:t>- Los permisos se pueden aplicar a niveles distintos: servidor, BD, schema (GRANT SELECT ON SCHEMA::rpt), objeto, columna (GRANT SELECT (Nombre, Email) ON dbo.Cliente). Favorecer schema y rol.</a:t>
            </a:r>
            <a:endParaRPr b="0" lang="es-ES" sz="2000" spc="-1" strike="noStrike">
              <a:latin typeface="Arial"/>
            </a:endParaRPr>
          </a:p>
          <a:p>
            <a:pPr marL="216000" indent="-214200">
              <a:lnSpc>
                <a:spcPct val="100000"/>
              </a:lnSpc>
              <a:tabLst>
                <a:tab algn="l" pos="0"/>
              </a:tabLst>
            </a:pPr>
            <a:r>
              <a:rPr b="0" lang="en-US" sz="2000" spc="-1" strike="noStrike">
                <a:latin typeface="Arial"/>
              </a:rPr>
              <a:t>- Verificación: sys.fn_my_permissions('dbo.Pedido', 'OBJECT') para el contexto actual; combinar con EXECUTE AS USER = 'x' para probar como otro usuario (siempre cerrar con REVERT). Catálogo: sys.database_permissions.</a:t>
            </a:r>
            <a:endParaRPr b="0" lang="es-ES" sz="2000" spc="-1" strike="noStrike">
              <a:latin typeface="Arial"/>
            </a:endParaRPr>
          </a:p>
          <a:p>
            <a:pPr marL="216000" indent="-214200">
              <a:lnSpc>
                <a:spcPct val="100000"/>
              </a:lnSpc>
              <a:tabLst>
                <a:tab algn="l" pos="0"/>
              </a:tabLst>
            </a:pPr>
            <a:r>
              <a:rPr b="0" lang="en-US" sz="2000" spc="-1" strike="noStrike">
                <a:latin typeface="Arial"/>
              </a:rPr>
              <a:t>- Error típico del alumno: usar DENY como mecanismo principal. DENY es una excepción, no una estrategia: complica el análisis de permisos efectivos. Mejor construir la lista de GRANT mínima.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Un usuario pertenece a dos roles: uno con GRANT SELECT sobre dbo.Pedido y otro con DENY SELECT. ¿Qué ocurre al consultar? ¿Y si se hace REVOKE del DENY?</a:t>
            </a:r>
            <a:endParaRPr b="0" lang="es-ES" sz="2000" spc="-1" strike="noStrike">
              <a:latin typeface="Arial"/>
            </a:endParaRPr>
          </a:p>
          <a:p>
            <a:pPr marL="216000" indent="-213840">
              <a:lnSpc>
                <a:spcPct val="100000"/>
              </a:lnSpc>
              <a:tabLst>
                <a:tab algn="l" pos="0"/>
              </a:tabLst>
            </a:pPr>
            <a:r>
              <a:rPr b="0" lang="en-US" sz="2000" spc="-1" strike="noStrike">
                <a:latin typeface="Arial"/>
              </a:rPr>
              <a:t>- ¿Cómo comprobaríais los permisos efectivos de un usuario sin iniciar sesión como él?</a:t>
            </a:r>
            <a:endParaRPr b="0" lang="es-ES" sz="2000" spc="-1" strike="noStrike">
              <a:latin typeface="Arial"/>
            </a:endParaRPr>
          </a:p>
        </p:txBody>
      </p:sp>
      <p:sp>
        <p:nvSpPr>
          <p:cNvPr id="2139"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E14F496E-F687-49DB-A5B5-62D719342335}"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0" name="PlaceHolder 1"/>
          <p:cNvSpPr>
            <a:spLocks noGrp="1"/>
          </p:cNvSpPr>
          <p:nvPr>
            <p:ph type="sldImg"/>
          </p:nvPr>
        </p:nvSpPr>
        <p:spPr>
          <a:xfrm>
            <a:off x="685800" y="1143000"/>
            <a:ext cx="5483880" cy="3083760"/>
          </a:xfrm>
          <a:prstGeom prst="rect">
            <a:avLst/>
          </a:prstGeom>
        </p:spPr>
      </p:sp>
      <p:sp>
        <p:nvSpPr>
          <p:cNvPr id="2141"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Entender cómo la cadena de propiedad permite exponer datos sólo a través de procedimientos o vistas y cuándo se rompe.</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Cuando un objeto (vista, procedimiento) accede a otro con el mismo propietario, SQL Server comprueba sólo el permiso sobre el primer objeto (p. ej. EXECUTE) y omite la comprobación sobre los objetos subyacentes. Eso es el ownership chaining.</a:t>
            </a:r>
            <a:endParaRPr b="0" lang="es-ES" sz="2000" spc="-1" strike="noStrike">
              <a:latin typeface="Arial"/>
            </a:endParaRPr>
          </a:p>
          <a:p>
            <a:pPr marL="216000" indent="-214200">
              <a:lnSpc>
                <a:spcPct val="100000"/>
              </a:lnSpc>
              <a:tabLst>
                <a:tab algn="l" pos="0"/>
              </a:tabLst>
            </a:pPr>
            <a:r>
              <a:rPr b="0" lang="en-US" sz="2000" spc="-1" strike="noStrike">
                <a:latin typeface="Arial"/>
              </a:rPr>
              <a:t>- Aplicación práctica: el operador recibe EXECUTE sobre app.usp_AltaPedido y no tiene ningún permiso sobre dbo.Pedido. El procedimiento escribe en la tabla porque el propietario del schema app y de dbo es el mismo (dbo): la cadena es intacta.</a:t>
            </a:r>
            <a:endParaRPr b="0" lang="es-ES" sz="2000" spc="-1" strike="noStrike">
              <a:latin typeface="Arial"/>
            </a:endParaRPr>
          </a:p>
          <a:p>
            <a:pPr marL="216000" indent="-214200">
              <a:lnSpc>
                <a:spcPct val="100000"/>
              </a:lnSpc>
              <a:tabLst>
                <a:tab algn="l" pos="0"/>
              </a:tabLst>
            </a:pPr>
            <a:r>
              <a:rPr b="0" lang="en-US" sz="2000" spc="-1" strike="noStrike">
                <a:latin typeface="Arial"/>
              </a:rPr>
              <a:t>- La cadena se rompe cuando el propietario cambia a lo largo de ella (p. ej. procedimiento propiedad de otro user): entonces se evalúan los permisos del llamador sobre el objeto siguiente y falla con error 229 si no los tiene.</a:t>
            </a:r>
            <a:endParaRPr b="0" lang="es-ES" sz="2000" spc="-1" strike="noStrike">
              <a:latin typeface="Arial"/>
            </a:endParaRPr>
          </a:p>
          <a:p>
            <a:pPr marL="216000" indent="-214200">
              <a:lnSpc>
                <a:spcPct val="100000"/>
              </a:lnSpc>
              <a:tabLst>
                <a:tab algn="l" pos="0"/>
              </a:tabLst>
            </a:pPr>
            <a:r>
              <a:rPr b="0" lang="en-US" sz="2000" spc="-1" strike="noStrike">
                <a:latin typeface="Arial"/>
              </a:rPr>
              <a:t>- Limitaciones: sólo cubre SELECT, INSERT, UPDATE, DELETE y EXECUTE; no cubre DDL (TRUNCATE TABLE, CREATE, ALTER) ni, importante, SQL dinámico: EXEC(@sql) y sp_executesql se ejecutan en otro contexto y rompen la cadena.</a:t>
            </a:r>
            <a:endParaRPr b="0" lang="es-ES" sz="2000" spc="-1" strike="noStrike">
              <a:latin typeface="Arial"/>
            </a:endParaRPr>
          </a:p>
          <a:p>
            <a:pPr marL="216000" indent="-214200">
              <a:lnSpc>
                <a:spcPct val="100000"/>
              </a:lnSpc>
              <a:tabLst>
                <a:tab algn="l" pos="0"/>
              </a:tabLst>
            </a:pPr>
            <a:r>
              <a:rPr b="0" lang="en-US" sz="2000" spc="-1" strike="noStrike">
                <a:latin typeface="Arial"/>
              </a:rPr>
              <a:t>- Entre bases de datos, el cross-database ownership chaining está desactivado por defecto (DB_CHAINING OFF) y es un riesgo si se activa: un propietario de BD con db_owner puede alcanzar objetos de otras BDs.</a:t>
            </a:r>
            <a:endParaRPr b="0" lang="es-ES" sz="2000" spc="-1" strike="noStrike">
              <a:latin typeface="Arial"/>
            </a:endParaRPr>
          </a:p>
          <a:p>
            <a:pPr marL="216000" indent="-214200">
              <a:lnSpc>
                <a:spcPct val="100000"/>
              </a:lnSpc>
              <a:tabLst>
                <a:tab algn="l" pos="0"/>
              </a:tabLst>
            </a:pPr>
            <a:r>
              <a:rPr b="0" lang="en-US" sz="2000" spc="-1" strike="noStrike">
                <a:latin typeface="Arial"/>
              </a:rPr>
              <a:t>- Alternativas explícitas y más controlables: EXECUTE AS OWNER en el módulo (cambio de contexto) o firma de procedimientos con certificados (module signing).</a:t>
            </a:r>
            <a:endParaRPr b="0" lang="es-ES" sz="2000" spc="-1" strike="noStrike">
              <a:latin typeface="Arial"/>
            </a:endParaRPr>
          </a:p>
          <a:p>
            <a:pPr marL="216000" indent="-214200">
              <a:lnSpc>
                <a:spcPct val="100000"/>
              </a:lnSpc>
              <a:tabLst>
                <a:tab algn="l" pos="0"/>
              </a:tabLst>
            </a:pPr>
            <a:r>
              <a:rPr b="0" lang="en-US" sz="2000" spc="-1" strike="noStrike">
                <a:latin typeface="Arial"/>
              </a:rPr>
              <a:t>- Comprobación en laboratorio: EXECUTE AS USER = 'operador'; EXEC app.usp_AltaPedido ...; SELECT * FROM dbo.Pedido; (error 229). Documentarlo: es la forma más clara de demostrarlo a los alumnos.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¿Por qué un procedimiento con SQL dinámico (EXEC(@sql)) falla con «permiso denegado» aunque el usuario tenga EXECUTE sobre él?</a:t>
            </a:r>
            <a:endParaRPr b="0" lang="es-ES" sz="2000" spc="-1" strike="noStrike">
              <a:latin typeface="Arial"/>
            </a:endParaRPr>
          </a:p>
          <a:p>
            <a:pPr marL="216000" indent="-213840">
              <a:lnSpc>
                <a:spcPct val="100000"/>
              </a:lnSpc>
              <a:tabLst>
                <a:tab algn="l" pos="0"/>
              </a:tabLst>
            </a:pPr>
            <a:r>
              <a:rPr b="0" lang="en-US" sz="2000" spc="-1" strike="noStrike">
                <a:latin typeface="Arial"/>
              </a:rPr>
              <a:t>- ¿Qué riesgo introduce activar cross-database ownership chaining entre dos bases de datos con administradores distintos?</a:t>
            </a:r>
            <a:endParaRPr b="0" lang="es-ES" sz="2000" spc="-1" strike="noStrike">
              <a:latin typeface="Arial"/>
            </a:endParaRPr>
          </a:p>
        </p:txBody>
      </p:sp>
      <p:sp>
        <p:nvSpPr>
          <p:cNvPr id="2142"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3D4E0364-8EC9-4C99-A00D-88042CAB8BFB}"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3" name="PlaceHolder 1"/>
          <p:cNvSpPr>
            <a:spLocks noGrp="1"/>
          </p:cNvSpPr>
          <p:nvPr>
            <p:ph type="sldImg"/>
          </p:nvPr>
        </p:nvSpPr>
        <p:spPr>
          <a:xfrm>
            <a:off x="685800" y="1143000"/>
            <a:ext cx="5483880" cy="3083760"/>
          </a:xfrm>
          <a:prstGeom prst="rect">
            <a:avLst/>
          </a:prstGeom>
        </p:spPr>
      </p:sp>
      <p:sp>
        <p:nvSpPr>
          <p:cNvPr id="2144"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Traducir el principio de mínimo privilegio en reglas concretas y conocer las tres herramientas básicas de auditoría de SQL Server.</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Mínimo privilegio: cada principal recibe sólo los permisos imprescindibles, durante el tiempo imprescindible. En la práctica: permisos a roles (no a usuarios sueltos), GRANT sobre schemas o procedimientos, cuentas separadas para aplicaciones y para administración, y revisión periódica de miembros de sysadmin y db_owner.</a:t>
            </a:r>
            <a:endParaRPr b="0" lang="es-ES" sz="2000" spc="-1" strike="noStrike">
              <a:latin typeface="Arial"/>
            </a:endParaRPr>
          </a:p>
          <a:p>
            <a:pPr marL="216000" indent="-214200">
              <a:lnSpc>
                <a:spcPct val="100000"/>
              </a:lnSpc>
              <a:tabLst>
                <a:tab algn="l" pos="0"/>
              </a:tabLst>
            </a:pPr>
            <a:r>
              <a:rPr b="0" lang="en-US" sz="2000" spc="-1" strike="noStrike">
                <a:latin typeface="Arial"/>
              </a:rPr>
              <a:t>- Cuentas de servicio: ejecutar el motor con una cuenta de bajo privilegio (idealmente gMSA o cuenta virtual), no como administrador del dominio. Deshabilitar sa y el user guest; quitar CONNECT a guest en las BDs de usuario.</a:t>
            </a:r>
            <a:endParaRPr b="0" lang="es-ES" sz="2000" spc="-1" strike="noStrike">
              <a:latin typeface="Arial"/>
            </a:endParaRPr>
          </a:p>
          <a:p>
            <a:pPr marL="216000" indent="-214200">
              <a:lnSpc>
                <a:spcPct val="100000"/>
              </a:lnSpc>
              <a:tabLst>
                <a:tab algn="l" pos="0"/>
              </a:tabLst>
            </a:pPr>
            <a:r>
              <a:rPr b="0" lang="en-US" sz="2000" spc="-1" strike="noStrike">
                <a:latin typeface="Arial"/>
              </a:rPr>
              <a:t>- SQL Server Audit: objeto de auditoría (destino: archivo, Application Log o Security Log) + especificación a nivel de servidor o de BD con grupos de acciones (FAILED_LOGIN_GROUP, DATABASE_ROLE_MEMBER_CHANGE_GROUP, SCHEMA_OBJECT_ACCESS_GROUP…). Disponible en todas las ediciones a nivel de servidor; las especificaciones de BD son para todas desde 2016 SP1.</a:t>
            </a:r>
            <a:endParaRPr b="0" lang="es-ES" sz="2000" spc="-1" strike="noStrike">
              <a:latin typeface="Arial"/>
            </a:endParaRPr>
          </a:p>
          <a:p>
            <a:pPr marL="216000" indent="-214200">
              <a:lnSpc>
                <a:spcPct val="100000"/>
              </a:lnSpc>
              <a:tabLst>
                <a:tab algn="l" pos="0"/>
              </a:tabLst>
            </a:pPr>
            <a:r>
              <a:rPr b="0" lang="en-US" sz="2000" spc="-1" strike="noStrike">
                <a:latin typeface="Arial"/>
              </a:rPr>
              <a:t>- Login auditing: Propiedades del servidor → Seguridad → Auditoría de inicio de sesión (Ninguno, Sólo erróneos, Sólo correctos, Ambos); escribe en el Error Log. Barato y suficiente para detectar ataques de fuerza bruta (error 18456).</a:t>
            </a:r>
            <a:endParaRPr b="0" lang="es-ES" sz="2000" spc="-1" strike="noStrike">
              <a:latin typeface="Arial"/>
            </a:endParaRPr>
          </a:p>
          <a:p>
            <a:pPr marL="216000" indent="-214200">
              <a:lnSpc>
                <a:spcPct val="100000"/>
              </a:lnSpc>
              <a:tabLst>
                <a:tab algn="l" pos="0"/>
              </a:tabLst>
            </a:pPr>
            <a:r>
              <a:rPr b="0" lang="en-US" sz="2000" spc="-1" strike="noStrike">
                <a:latin typeface="Arial"/>
              </a:rPr>
              <a:t>- DMVs y catálogo para revisión: sys.dm_exec_sessions (quién está conectado y desde dónde), sys.dm_exec_connections (auth_scheme), sys.server_principals, sys.database_permissions y sys.dm_server_audit_status.</a:t>
            </a:r>
            <a:endParaRPr b="0" lang="es-ES" sz="2000" spc="-1" strike="noStrike">
              <a:latin typeface="Arial"/>
            </a:endParaRPr>
          </a:p>
          <a:p>
            <a:pPr marL="216000" indent="-214200">
              <a:lnSpc>
                <a:spcPct val="100000"/>
              </a:lnSpc>
              <a:tabLst>
                <a:tab algn="l" pos="0"/>
              </a:tabLst>
            </a:pPr>
            <a:r>
              <a:rPr b="0" lang="en-US" sz="2000" spc="-1" strike="noStrike">
                <a:latin typeface="Arial"/>
              </a:rPr>
              <a:t>- Leer el resultado de la auditoría: SELECT * FROM sys.fn_get_audit_file('/var/opt/mssql/audit/*.sqlaudit', DEFAULT, DEFAULT). Extended Events y triggers DDL cubren cambios de esquema.</a:t>
            </a:r>
            <a:endParaRPr b="0" lang="es-ES" sz="2000" spc="-1" strike="noStrike">
              <a:latin typeface="Arial"/>
            </a:endParaRPr>
          </a:p>
          <a:p>
            <a:pPr marL="216000" indent="-214200">
              <a:lnSpc>
                <a:spcPct val="100000"/>
              </a:lnSpc>
              <a:tabLst>
                <a:tab algn="l" pos="0"/>
              </a:tabLst>
            </a:pPr>
            <a:r>
              <a:rPr b="0" lang="en-US" sz="2000" spc="-1" strike="noStrike">
                <a:latin typeface="Arial"/>
              </a:rPr>
              <a:t>- Advertencia: una auditoría demasiado amplia (p. ej. SELECT sobre tablas calientes) genera mucho volumen y penaliza el rendimiento; auditar lo que importa y proteger el destino contra manipulación.</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eventos auditaríais primero en un servidor de producción con presupuesto limitado de I/O?</a:t>
            </a:r>
            <a:endParaRPr b="0" lang="es-ES" sz="2000" spc="-1" strike="noStrike">
              <a:latin typeface="Arial"/>
            </a:endParaRPr>
          </a:p>
          <a:p>
            <a:pPr marL="216000" indent="-213840">
              <a:lnSpc>
                <a:spcPct val="100000"/>
              </a:lnSpc>
              <a:tabLst>
                <a:tab algn="l" pos="0"/>
              </a:tabLst>
            </a:pPr>
            <a:r>
              <a:rPr b="0" lang="en-US" sz="2000" spc="-1" strike="noStrike">
                <a:latin typeface="Arial"/>
              </a:rPr>
              <a:t>- ¿Cómo detectaríais que un usuario ha sido añadido a db_owner la semana pasada sin que nadie lo notificara?</a:t>
            </a:r>
            <a:endParaRPr b="0" lang="es-ES" sz="2000" spc="-1" strike="noStrike">
              <a:latin typeface="Arial"/>
            </a:endParaRPr>
          </a:p>
        </p:txBody>
      </p:sp>
      <p:sp>
        <p:nvSpPr>
          <p:cNvPr id="2145"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041BD13D-AD36-42C8-A55D-3C121A0DF4C2}"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6" name="PlaceHolder 1"/>
          <p:cNvSpPr>
            <a:spLocks noGrp="1"/>
          </p:cNvSpPr>
          <p:nvPr>
            <p:ph type="sldImg"/>
          </p:nvPr>
        </p:nvSpPr>
        <p:spPr>
          <a:xfrm>
            <a:off x="685800" y="1143000"/>
            <a:ext cx="5483880" cy="3083760"/>
          </a:xfrm>
          <a:prstGeom prst="rect">
            <a:avLst/>
          </a:prstGeom>
        </p:spPr>
      </p:sp>
      <p:sp>
        <p:nvSpPr>
          <p:cNvPr id="2147"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Diseñar e implementar un esquema de permisos segregados (analista de lectura y operador de aplicación) siguiendo el mínimo privilegio, y verificarlo con EXECUTE AS.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Duración orientativa: 60 min. Escenario: dos perfiles sobre la BD Ventas. El analista sólo consulta informes (schema rpt); el operador sólo da de alta pedidos mediante un procedimiento (schema app) y NO debe poder leer ni modificar dbo.Pedido directamente.</a:t>
            </a:r>
            <a:endParaRPr b="0" lang="es-ES" sz="2000" spc="-1" strike="noStrike">
              <a:latin typeface="Arial"/>
            </a:endParaRPr>
          </a:p>
          <a:p>
            <a:pPr marL="216000" indent="-214200">
              <a:lnSpc>
                <a:spcPct val="100000"/>
              </a:lnSpc>
              <a:tabLst>
                <a:tab algn="l" pos="0"/>
              </a:tabLst>
            </a:pPr>
            <a:r>
              <a:rPr b="0" lang="en-US" sz="2000" spc="-1" strike="noStrike">
                <a:latin typeface="Arial"/>
              </a:rPr>
              <a:t>- Objetivo técnico: poner en práctica login → user → rol → permiso sobre schema, y demostrar ownership chaining (EXECUTE sobre el procedimiento basta para insertar).</a:t>
            </a:r>
            <a:endParaRPr b="0" lang="es-ES" sz="2000" spc="-1" strike="noStrike">
              <a:latin typeface="Arial"/>
            </a:endParaRPr>
          </a:p>
          <a:p>
            <a:pPr marL="216000" indent="-214200">
              <a:lnSpc>
                <a:spcPct val="100000"/>
              </a:lnSpc>
              <a:tabLst>
                <a:tab algn="l" pos="0"/>
              </a:tabLst>
            </a:pPr>
            <a:r>
              <a:rPr b="0" lang="en-US" sz="2000" spc="-1" strike="noStrike">
                <a:latin typeface="Arial"/>
              </a:rPr>
              <a:t>- Criterio de éxito: el analista puede hacer SELECT en rpt.vVentasCliente pero no en dbo.Pedido; el operador ejecuta app.usp_AltaPedido con éxito pero recibe el error 229 al hacer SELECT directo.</a:t>
            </a:r>
            <a:endParaRPr b="0" lang="es-ES" sz="2000" spc="-1" strike="noStrike">
              <a:latin typeface="Arial"/>
            </a:endParaRPr>
          </a:p>
          <a:p>
            <a:pPr marL="216000" indent="-214200">
              <a:lnSpc>
                <a:spcPct val="100000"/>
              </a:lnSpc>
              <a:tabLst>
                <a:tab algn="l" pos="0"/>
              </a:tabLst>
            </a:pPr>
            <a:r>
              <a:rPr b="0" lang="en-US" sz="2000" spc="-1" strike="noStrike">
                <a:latin typeface="Arial"/>
              </a:rPr>
              <a:t>- El docente debe insistir en el patrón de verificación: probar siempre lo que NO debe poder hacerse. Una prueba sólo de éxito no demuestra el mínimo privilegio.</a:t>
            </a:r>
            <a:endParaRPr b="0" lang="es-ES" sz="2000" spc="-1" strike="noStrike">
              <a:latin typeface="Arial"/>
            </a:endParaRPr>
          </a:p>
          <a:p>
            <a:pPr marL="216000" indent="-214200">
              <a:lnSpc>
                <a:spcPct val="100000"/>
              </a:lnSpc>
              <a:tabLst>
                <a:tab algn="l" pos="0"/>
              </a:tabLst>
            </a:pPr>
            <a:r>
              <a:rPr b="0" lang="en-US" sz="2000" spc="-1" strike="noStrike">
                <a:latin typeface="Arial"/>
              </a:rPr>
              <a:t>- Cierre: revisar entre todos la salida de sys.database_permissions y sys.database_role_members como inventario de permisos del esquema creado.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permisos tiene realmente el operador? Demostrad con sys.fn_my_permissions y con pruebas negativas.</a:t>
            </a:r>
            <a:endParaRPr b="0" lang="es-ES" sz="2000" spc="-1" strike="noStrike">
              <a:latin typeface="Arial"/>
            </a:endParaRPr>
          </a:p>
          <a:p>
            <a:pPr marL="216000" indent="-214200">
              <a:lnSpc>
                <a:spcPct val="100000"/>
              </a:lnSpc>
              <a:tabLst>
                <a:tab algn="l" pos="0"/>
              </a:tabLst>
            </a:pPr>
            <a:r>
              <a:rPr b="0" lang="en-US" sz="2000" spc="-1" strike="noStrike">
                <a:latin typeface="Arial"/>
              </a:rPr>
              <a:t>- ¿Qué pasaría si el procedimiento usara SQL dinámico para insertar? ¿Cómo lo resolveríais sin dar permisos sobre la tabla?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Instrucciones de Laboratorio:</a:t>
            </a:r>
            <a:endParaRPr b="0" lang="es-ES" sz="2000" spc="-1" strike="noStrike">
              <a:latin typeface="Arial"/>
            </a:endParaRPr>
          </a:p>
          <a:p>
            <a:pPr marL="216000" indent="-214200">
              <a:lnSpc>
                <a:spcPct val="100000"/>
              </a:lnSpc>
              <a:tabLst>
                <a:tab algn="l" pos="0"/>
              </a:tabLst>
            </a:pPr>
            <a:r>
              <a:rPr b="0" lang="en-US" sz="2000" spc="-1" strike="noStrike">
                <a:latin typeface="Arial"/>
              </a:rPr>
              <a:t>- Requisito: BD Ventas con dbo.Cliente, dbo.Pedido y datos (Laboratorio 2A) y sesión con rol sysadmin.</a:t>
            </a:r>
            <a:endParaRPr b="0" lang="es-ES" sz="2000" spc="-1" strike="noStrike">
              <a:latin typeface="Arial"/>
            </a:endParaRPr>
          </a:p>
          <a:p>
            <a:pPr marL="216000" indent="-214200">
              <a:lnSpc>
                <a:spcPct val="100000"/>
              </a:lnSpc>
              <a:tabLst>
                <a:tab algn="l" pos="0"/>
              </a:tabLst>
            </a:pPr>
            <a:r>
              <a:rPr b="0" lang="en-US" sz="2000" spc="-1" strike="noStrike">
                <a:latin typeface="Arial"/>
              </a:rPr>
              <a:t>- Paso 1 — Principals: CREATE LOGIN lg_analista WITH PASSWORD = N'&lt;clave fuerte&gt;', CHECK_POLICY = ON; y lo mismo con lg_operador. USE Ventas; CREATE SCHEMA rpt AUTHORIZATION dbo; (en su propio lote con GO) y CREATE SCHEMA app AUTHORIZATION dbo; CREATE USER analista FOR LOGIN lg_analista WITH DEFAULT_SCHEMA = rpt; CREATE USER operador FOR LOGIN lg_operador WITH DEFAULT_SCHEMA = app;</a:t>
            </a:r>
            <a:endParaRPr b="0" lang="es-ES" sz="2000" spc="-1" strike="noStrike">
              <a:latin typeface="Arial"/>
            </a:endParaRPr>
          </a:p>
          <a:p>
            <a:pPr marL="216000" indent="-214200">
              <a:lnSpc>
                <a:spcPct val="100000"/>
              </a:lnSpc>
              <a:tabLst>
                <a:tab algn="l" pos="0"/>
              </a:tabLst>
            </a:pPr>
            <a:r>
              <a:rPr b="0" lang="en-US" sz="2000" spc="-1" strike="noStrike">
                <a:latin typeface="Arial"/>
              </a:rPr>
              <a:t>- Paso 2 — Objetos: CREATE VIEW rpt.vVentasCliente AS SELECT c.ClienteId, c.Nombre, COUNT(*) AS NumPedidos, SUM(p.Total) AS Ventas FROM dbo.Cliente c JOIN dbo.Pedido p ON p.ClienteId = c.ClienteId GROUP BY c.ClienteId, c.Nombre; y CREATE PROCEDURE app.usp_AltaPedido @ClienteId INT, @Total DECIMAL(12,2) AS BEGIN SET NOCOUNT ON; INSERT dbo.Pedido (ClienteId, Fecha, Total) VALUES (@ClienteId, CAST(GETDATE() AS date), @Total); END;</a:t>
            </a:r>
            <a:endParaRPr b="0" lang="es-ES" sz="2000" spc="-1" strike="noStrike">
              <a:latin typeface="Arial"/>
            </a:endParaRPr>
          </a:p>
          <a:p>
            <a:pPr marL="216000" indent="-214200">
              <a:lnSpc>
                <a:spcPct val="100000"/>
              </a:lnSpc>
              <a:tabLst>
                <a:tab algn="l" pos="0"/>
              </a:tabLst>
            </a:pPr>
            <a:r>
              <a:rPr b="0" lang="en-US" sz="2000" spc="-1" strike="noStrike">
                <a:latin typeface="Arial"/>
              </a:rPr>
              <a:t>- Paso 3 — Roles y permisos: CREATE ROLE rol_lectura_rpt; GRANT SELECT ON SCHEMA::rpt TO rol_lectura_rpt; ALTER ROLE rol_lectura_rpt ADD MEMBER analista; CREATE ROLE rol_operador; GRANT EXECUTE ON SCHEMA::app TO rol_operador; ALTER ROLE rol_operador ADD MEMBER operador; DENY SELECT ON dbo.Pedido TO operador;</a:t>
            </a:r>
            <a:endParaRPr b="0" lang="es-ES" sz="2000" spc="-1" strike="noStrike">
              <a:latin typeface="Arial"/>
            </a:endParaRPr>
          </a:p>
          <a:p>
            <a:pPr marL="216000" indent="-214200">
              <a:lnSpc>
                <a:spcPct val="100000"/>
              </a:lnSpc>
              <a:tabLst>
                <a:tab algn="l" pos="0"/>
              </a:tabLst>
            </a:pPr>
            <a:r>
              <a:rPr b="0" lang="en-US" sz="2000" spc="-1" strike="noStrike">
                <a:latin typeface="Arial"/>
              </a:rPr>
              <a:t>- Paso 4 — Verificación: EXECUTE AS USER = 'operador'; EXEC app.usp_AltaPedido @ClienteId = 1, @Total = 99.90; (debe funcionar); SELECT TOP (1) * FROM dbo.Pedido; (error 229); REVERT; Repetir con EXECUTE AS USER = 'analista': SELECT * FROM rpt.vVentasCliente; (ok) y SELECT * FROM dbo.Cliente; (error 229). Inventario: SELECT * FROM sys.database_permissions WHERE grantee_principal_id IN (DATABASE_PRINCIPAL_ID('rol_lectura_rpt'), DATABASE_PRINCIPAL_ID('rol_operador'));</a:t>
            </a:r>
            <a:endParaRPr b="0" lang="es-ES" sz="2000" spc="-1" strike="noStrike">
              <a:latin typeface="Arial"/>
            </a:endParaRPr>
          </a:p>
          <a:p>
            <a:pPr marL="216000" indent="-214200">
              <a:lnSpc>
                <a:spcPct val="100000"/>
              </a:lnSpc>
              <a:tabLst>
                <a:tab algn="l" pos="0"/>
              </a:tabLst>
            </a:pPr>
            <a:r>
              <a:rPr b="0" lang="en-US" sz="2000" spc="-1" strike="noStrike">
                <a:latin typeface="Arial"/>
              </a:rPr>
              <a:t>- Paso 5 (opcional) — Conexión real: crear conexiones nuevas en SSMS (Autenticación SQL) con cada login y repetir las pruebas.</a:t>
            </a:r>
            <a:endParaRPr b="0" lang="es-ES" sz="2000" spc="-1" strike="noStrike">
              <a:latin typeface="Arial"/>
            </a:endParaRPr>
          </a:p>
          <a:p>
            <a:pPr marL="216000" indent="-214200">
              <a:lnSpc>
                <a:spcPct val="100000"/>
              </a:lnSpc>
              <a:tabLst>
                <a:tab algn="l" pos="0"/>
              </a:tabLst>
            </a:pPr>
            <a:r>
              <a:rPr b="0" lang="en-US" sz="2000" spc="-1" strike="noStrike">
                <a:latin typeface="Arial"/>
              </a:rPr>
              <a:t>- Trampas habituales: (a) CREATE SCHEMA no es la primera instrucción del lote → error 111, separar con GO; (b) olvidar REVERT tras EXECUTE AS: las pruebas siguientes se ejecutan como el usuario suplantado; (c) el DENY directo sobre dbo.Pedido NO bloquea el procedimiento porque la cadena de propiedad omite la comprobación; si el alumno espera que falle, explicar la regla; (d) usar un login sin user en Ventas → error 916 (la entidad de seguridad no puede acceder a la BD).</a:t>
            </a:r>
            <a:endParaRPr b="0" lang="es-ES" sz="2000" spc="-1" strike="noStrike">
              <a:latin typeface="Arial"/>
            </a:endParaRPr>
          </a:p>
          <a:p>
            <a:pPr marL="216000" indent="-213840">
              <a:lnSpc>
                <a:spcPct val="100000"/>
              </a:lnSpc>
              <a:tabLst>
                <a:tab algn="l" pos="0"/>
              </a:tabLst>
            </a:pPr>
            <a:r>
              <a:rPr b="0" lang="en-US" sz="2000" spc="-1" strike="noStrike">
                <a:latin typeface="Arial"/>
              </a:rPr>
              <a:t>- Guía de resolución: si el operador no puede ejecutar el procedimiento, comprobar con sys.fn_my_permissions('app.usp_AltaPedido', 'OBJECT') y que el schema app pertenece a dbo (sys.schemas.principal_id); si la cadena no funciona, verificar que ambos objetos tienen el mismo propietario efectivo.</a:t>
            </a:r>
            <a:endParaRPr b="0" lang="es-ES" sz="2000" spc="-1" strike="noStrike">
              <a:latin typeface="Arial"/>
            </a:endParaRPr>
          </a:p>
        </p:txBody>
      </p:sp>
      <p:sp>
        <p:nvSpPr>
          <p:cNvPr id="2148"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6706947E-B606-4ACB-83D3-207DB5C1868B}"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9" name="PlaceHolder 1"/>
          <p:cNvSpPr>
            <a:spLocks noGrp="1"/>
          </p:cNvSpPr>
          <p:nvPr>
            <p:ph type="sldImg"/>
          </p:nvPr>
        </p:nvSpPr>
        <p:spPr>
          <a:xfrm>
            <a:off x="685800" y="1143000"/>
            <a:ext cx="5483880" cy="3083760"/>
          </a:xfrm>
          <a:prstGeom prst="rect">
            <a:avLst/>
          </a:prstGeom>
        </p:spPr>
      </p:sp>
      <p:sp>
        <p:nvSpPr>
          <p:cNvPr id="2150"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Consolidar los cuatro bloques del módulo y conectar con el siguiente (rendimiento y alta disponibilidad).</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DDL e integridad: las cinco restricciones son la primera línea de calidad de datos; el índice de apoyo de las FK y los tipos ajustados evitan problemas de rendimiento futuros.</a:t>
            </a:r>
            <a:endParaRPr b="0" lang="es-ES" sz="2000" spc="-1" strike="noStrike">
              <a:latin typeface="Arial"/>
            </a:endParaRPr>
          </a:p>
          <a:p>
            <a:pPr marL="216000" indent="-214200">
              <a:lnSpc>
                <a:spcPct val="100000"/>
              </a:lnSpc>
              <a:tabLst>
                <a:tab algn="l" pos="0"/>
              </a:tabLst>
            </a:pPr>
            <a:r>
              <a:rPr b="0" lang="en-US" sz="2000" spc="-1" strike="noStrike">
                <a:latin typeface="Arial"/>
              </a:rPr>
              <a:t>- Vistas y procedimientos: la vista indexada materializa agregaciones (coste en escritura); los procedimientos reutilizan plan y son la «API» de la BD, pero exigen vigilar el parameter sniffing y las recompilaciones.</a:t>
            </a:r>
            <a:endParaRPr b="0" lang="es-ES" sz="2000" spc="-1" strike="noStrike">
              <a:latin typeface="Arial"/>
            </a:endParaRPr>
          </a:p>
          <a:p>
            <a:pPr marL="216000" indent="-214200">
              <a:lnSpc>
                <a:spcPct val="100000"/>
              </a:lnSpc>
              <a:tabLst>
                <a:tab algn="l" pos="0"/>
              </a:tabLst>
            </a:pPr>
            <a:r>
              <a:rPr b="0" lang="en-US" sz="2000" spc="-1" strike="noStrike">
                <a:latin typeface="Arial"/>
              </a:rPr>
              <a:t>- DML analítico: el orden lógico del SELECT explica alias, WHERE y HAVING; los tres algoritmos de join (Nested Loops, Merge, Hash) se reconocen en el plan; las window functions evitan auto-joins; usa ROWS en el frame.</a:t>
            </a:r>
            <a:endParaRPr b="0" lang="es-ES" sz="2000" spc="-1" strike="noStrike">
              <a:latin typeface="Arial"/>
            </a:endParaRPr>
          </a:p>
          <a:p>
            <a:pPr marL="216000" indent="-214200">
              <a:lnSpc>
                <a:spcPct val="100000"/>
              </a:lnSpc>
              <a:tabLst>
                <a:tab algn="l" pos="0"/>
              </a:tabLst>
            </a:pPr>
            <a:r>
              <a:rPr b="0" lang="en-US" sz="2000" spc="-1" strike="noStrike">
                <a:latin typeface="Arial"/>
              </a:rPr>
              <a:t>- Seguridad: login (instancia) → user (BD) → rol → permiso sobre schema/objeto; DENY gana a GRANT; el ownership chaining permite exponer sólo procedimientos; mínimo privilegio y auditoría (SQL Server Audit, login auditing, DMVs).</a:t>
            </a:r>
            <a:endParaRPr b="0" lang="es-ES" sz="2000" spc="-1" strike="noStrike">
              <a:latin typeface="Arial"/>
            </a:endParaRPr>
          </a:p>
          <a:p>
            <a:pPr marL="216000" indent="-214200">
              <a:lnSpc>
                <a:spcPct val="100000"/>
              </a:lnSpc>
              <a:tabLst>
                <a:tab algn="l" pos="0"/>
              </a:tabLst>
            </a:pPr>
            <a:r>
              <a:rPr b="0" lang="en-US" sz="2000" spc="-1" strike="noStrike">
                <a:latin typeface="Arial"/>
              </a:rPr>
              <a:t>- Hacer una ronda de «una cosa que aplicaré el lunes» (1 min por persona) y recoger dudas pendientes para repasarlas antes del siguiente módulo.</a:t>
            </a:r>
            <a:endParaRPr b="0" lang="es-ES" sz="2000" spc="-1" strike="noStrike">
              <a:latin typeface="Arial"/>
            </a:endParaRPr>
          </a:p>
          <a:p>
            <a:pPr marL="216000" indent="-214200">
              <a:lnSpc>
                <a:spcPct val="100000"/>
              </a:lnSpc>
              <a:tabLst>
                <a:tab algn="l" pos="0"/>
              </a:tabLst>
            </a:pPr>
            <a:r>
              <a:rPr b="0" lang="en-US" sz="2000" spc="-1" strike="noStrike">
                <a:latin typeface="Arial"/>
              </a:rPr>
              <a:t>- Puente al Módulo 3: hemos visto que la elección de join, el Index Seek y el sniffing dependen de índices y estadísticas. El siguiente módulo explica cómo se construyen (B-Tree), cómo leer planes de ejecución y cómo detectar cuellos de botella con DMVs.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decisión de este módulo tendría mayor impacto en vuestra BD de producción esta semana?</a:t>
            </a:r>
            <a:endParaRPr b="0" lang="es-ES" sz="2000" spc="-1" strike="noStrike">
              <a:latin typeface="Arial"/>
            </a:endParaRPr>
          </a:p>
          <a:p>
            <a:pPr marL="216000" indent="-213840">
              <a:lnSpc>
                <a:spcPct val="100000"/>
              </a:lnSpc>
              <a:tabLst>
                <a:tab algn="l" pos="0"/>
              </a:tabLst>
            </a:pPr>
            <a:r>
              <a:rPr b="0" lang="en-US" sz="2000" spc="-1" strike="noStrike">
                <a:latin typeface="Arial"/>
              </a:rPr>
              <a:t>- ¿Qué concepto de seguridad os parece más difícil de explicar a un desarrollador y cómo lo haríais?</a:t>
            </a:r>
            <a:endParaRPr b="0" lang="es-ES" sz="2000" spc="-1" strike="noStrike">
              <a:latin typeface="Arial"/>
            </a:endParaRPr>
          </a:p>
        </p:txBody>
      </p:sp>
      <p:sp>
        <p:nvSpPr>
          <p:cNvPr id="2151"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3CF3BBFC-2BAB-4320-94E7-9B9C72AFA4D4}"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2" name="PlaceHolder 1"/>
          <p:cNvSpPr>
            <a:spLocks noGrp="1"/>
          </p:cNvSpPr>
          <p:nvPr>
            <p:ph type="sldImg"/>
          </p:nvPr>
        </p:nvSpPr>
        <p:spPr>
          <a:xfrm>
            <a:off x="685800" y="1143000"/>
            <a:ext cx="5483880" cy="3083760"/>
          </a:xfrm>
          <a:prstGeom prst="rect">
            <a:avLst/>
          </a:prstGeom>
        </p:spPr>
      </p:sp>
      <p:sp>
        <p:nvSpPr>
          <p:cNvPr id="2153"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Situar al alumnado en el siguiente bloque del curso: pasar de "la base de datos funciona" a "la base de datos funciona rápido y no se cae". Se presenta el mapa del módulo y los resultados esperados.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Este módulo dura unas 5 horas y se divide en tres bloques: (1) optimización a nivel de datos (índices, fragmentación y estadísticas), (2) diagnóstico (planes de ejecución y DMVs) y (3) continuidad de negocio (HA/DR).</a:t>
            </a:r>
            <a:endParaRPr b="0" lang="es-ES" sz="2000" spc="-1" strike="noStrike">
              <a:latin typeface="Arial"/>
            </a:endParaRPr>
          </a:p>
          <a:p>
            <a:pPr marL="216000" indent="-214200">
              <a:lnSpc>
                <a:spcPct val="100000"/>
              </a:lnSpc>
              <a:tabLst>
                <a:tab algn="l" pos="0"/>
              </a:tabLst>
            </a:pPr>
            <a:r>
              <a:rPr b="0" lang="en-US" sz="2000" spc="-1" strike="noStrike">
                <a:latin typeface="Arial"/>
              </a:rPr>
              <a:t>- Mensaje clave: en rendimiento NO se adivina, se mide. Todo el módulo sigue el ciclo medir → hipótesis → cambio → volver a medir, usando STATISTICS IO/TIME, el plan real y las Dynamic Management Views (DMVs).</a:t>
            </a:r>
            <a:endParaRPr b="0" lang="es-ES" sz="2000" spc="-1" strike="noStrike">
              <a:latin typeface="Arial"/>
            </a:endParaRPr>
          </a:p>
          <a:p>
            <a:pPr marL="216000" indent="-214200">
              <a:lnSpc>
                <a:spcPct val="100000"/>
              </a:lnSpc>
              <a:tabLst>
                <a:tab algn="l" pos="0"/>
              </a:tabLst>
            </a:pPr>
            <a:r>
              <a:rPr b="0" lang="en-US" sz="2000" spc="-1" strike="noStrike">
                <a:latin typeface="Arial"/>
              </a:rPr>
              <a:t>- Conectar con el Módulo 1: lo visto sobre páginas de 8 KB, extensiones y el Buffer Pool explica por qué un índice reduce lecturas lógicas; lo visto sobre el Transaction Log será la base de Log Shipping y Always On.</a:t>
            </a:r>
            <a:endParaRPr b="0" lang="es-ES" sz="2000" spc="-1" strike="noStrike">
              <a:latin typeface="Arial"/>
            </a:endParaRPr>
          </a:p>
          <a:p>
            <a:pPr marL="216000" indent="-214200">
              <a:lnSpc>
                <a:spcPct val="100000"/>
              </a:lnSpc>
              <a:tabLst>
                <a:tab algn="l" pos="0"/>
              </a:tabLst>
            </a:pPr>
            <a:r>
              <a:rPr b="0" lang="en-US" sz="2000" spc="-1" strike="noStrike">
                <a:latin typeface="Arial"/>
              </a:rPr>
              <a:t>- Advertir de que la mayoría de problemas de rendimiento en producción se resuelven con un buen diseño de índices y estadísticas actualizadas, antes de tocar hardware o parámetros del servidor.</a:t>
            </a:r>
            <a:endParaRPr b="0" lang="es-ES" sz="2000" spc="-1" strike="noStrike">
              <a:latin typeface="Arial"/>
            </a:endParaRPr>
          </a:p>
          <a:p>
            <a:pPr marL="216000" indent="-214200">
              <a:lnSpc>
                <a:spcPct val="100000"/>
              </a:lnSpc>
              <a:tabLst>
                <a:tab algn="l" pos="0"/>
              </a:tabLst>
            </a:pPr>
            <a:r>
              <a:rPr b="0" lang="en-US" sz="2000" spc="-1" strike="noStrike">
                <a:latin typeface="Arial"/>
              </a:rPr>
              <a:t>- En HA/DR veremos conceptos y comparativa; la configuración paso a paso de un Availability Group queda fuera del alcance del laboratorio, pero se deja claro qué pregunta de negocio responde cada tecnología.</a:t>
            </a:r>
            <a:endParaRPr b="0" lang="es-ES" sz="2000" spc="-1" strike="noStrike">
              <a:latin typeface="Arial"/>
            </a:endParaRPr>
          </a:p>
          <a:p>
            <a:pPr marL="216000" indent="-214200">
              <a:lnSpc>
                <a:spcPct val="100000"/>
              </a:lnSpc>
              <a:tabLst>
                <a:tab algn="l" pos="0"/>
              </a:tabLst>
            </a:pPr>
            <a:r>
              <a:rPr b="0" lang="en-US" sz="2000" spc="-1" strike="noStrike">
                <a:latin typeface="Arial"/>
              </a:rPr>
              <a:t>- Entorno del laboratorio: SQL Server 2022/2025 en Docker o instancia local, base de datos Ventas (dbo.Cliente, dbo.Pedido, dbo.Producto) y SSMS. Verificar que todos pueden conectarse antes de empezar.</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¿Cuál ha sido la consulta más lenta que habéis sufrido en producción y cómo se averiguó la causa?</a:t>
            </a:r>
            <a:endParaRPr b="0" lang="es-ES" sz="2000" spc="-1" strike="noStrike">
              <a:latin typeface="Arial"/>
            </a:endParaRPr>
          </a:p>
          <a:p>
            <a:pPr marL="216000" indent="-213840">
              <a:lnSpc>
                <a:spcPct val="100000"/>
              </a:lnSpc>
              <a:tabLst>
                <a:tab algn="l" pos="0"/>
              </a:tabLst>
            </a:pPr>
            <a:r>
              <a:rPr b="0" lang="en-US" sz="2000" spc="-1" strike="noStrike">
                <a:latin typeface="Arial"/>
              </a:rPr>
              <a:t>- ¿Qué diferencia hay entre "alta disponibilidad" y "copia de seguridad"? Recogemos ideas y las contrastamos al final del módulo.</a:t>
            </a:r>
            <a:endParaRPr b="0" lang="es-ES" sz="2000" spc="-1" strike="noStrike">
              <a:latin typeface="Arial"/>
            </a:endParaRPr>
          </a:p>
        </p:txBody>
      </p:sp>
      <p:sp>
        <p:nvSpPr>
          <p:cNvPr id="2154"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23701385-FBB3-493F-AA8E-ED42D0D15FA1}"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5" name="PlaceHolder 1"/>
          <p:cNvSpPr>
            <a:spLocks noGrp="1"/>
          </p:cNvSpPr>
          <p:nvPr>
            <p:ph type="sldImg"/>
          </p:nvPr>
        </p:nvSpPr>
        <p:spPr>
          <a:xfrm>
            <a:off x="685800" y="1143000"/>
            <a:ext cx="5483880" cy="3083760"/>
          </a:xfrm>
          <a:prstGeom prst="rect">
            <a:avLst/>
          </a:prstGeom>
        </p:spPr>
      </p:sp>
      <p:sp>
        <p:nvSpPr>
          <p:cNvPr id="2156"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Comprender cómo SQL Server organiza físicamente una tabla (Heap o Clustered Index) y por qué esa decisión condiciona todos los demás índices y el coste de cada consulta.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Una tabla sin Clustered Index es un Heap: las filas se guardan en páginas de 8 KB sin ningún orden lógico; el motor las localiza mediante las páginas IAM (Index Allocation Map). La única forma de leerlo entero es un Table Scan.</a:t>
            </a:r>
            <a:endParaRPr b="0" lang="es-ES" sz="2000" spc="-1" strike="noStrike">
              <a:latin typeface="Arial"/>
            </a:endParaRPr>
          </a:p>
          <a:p>
            <a:pPr marL="216000" indent="-214200">
              <a:lnSpc>
                <a:spcPct val="100000"/>
              </a:lnSpc>
              <a:tabLst>
                <a:tab algn="l" pos="0"/>
              </a:tabLst>
            </a:pPr>
            <a:r>
              <a:rPr b="0" lang="en-US" sz="2000" spc="-1" strike="noStrike">
                <a:latin typeface="Arial"/>
              </a:rPr>
              <a:t>- Un Clustered Index ordena físicamente la tabla por la clave: el nivel hoja del B-Tree ES la tabla (data pages). Sólo puede haber uno por tabla. Al crear una PRIMARY KEY sin indicar otra cosa, SQL Server crea por defecto un Clustered Index único.</a:t>
            </a:r>
            <a:endParaRPr b="0" lang="es-ES" sz="2000" spc="-1" strike="noStrike">
              <a:latin typeface="Arial"/>
            </a:endParaRPr>
          </a:p>
          <a:p>
            <a:pPr marL="216000" indent="-214200">
              <a:lnSpc>
                <a:spcPct val="100000"/>
              </a:lnSpc>
              <a:tabLst>
                <a:tab algn="l" pos="0"/>
              </a:tabLst>
            </a:pPr>
            <a:r>
              <a:rPr b="0" lang="en-US" sz="2000" spc="-1" strike="noStrike">
                <a:latin typeface="Arial"/>
              </a:rPr>
              <a:t>- Problema típico del Heap: los Forwarded Records. Si un UPDATE hace crecer una fila y no cabe en su página, la fila se mueve y deja un puntero de reenvío; cada lectura posterior cuesta una E/S adicional. Se detecta en sys.dm_db_index_physical_stats con forwarded_record_count (modo DETAILED).</a:t>
            </a:r>
            <a:endParaRPr b="0" lang="es-ES" sz="2000" spc="-1" strike="noStrike">
              <a:latin typeface="Arial"/>
            </a:endParaRPr>
          </a:p>
          <a:p>
            <a:pPr marL="216000" indent="-214200">
              <a:lnSpc>
                <a:spcPct val="100000"/>
              </a:lnSpc>
              <a:tabLst>
                <a:tab algn="l" pos="0"/>
              </a:tabLst>
            </a:pPr>
            <a:r>
              <a:rPr b="0" lang="en-US" sz="2000" spc="-1" strike="noStrike">
                <a:latin typeface="Arial"/>
              </a:rPr>
              <a:t>- Un buen candidato a clave clustered es estrecho (menos bytes en todos los NCI, porque la clave clustered se copia en cada fila de cada índice no clustered), único (si no, SQL Server añade un uniquifier de 4 bytes), estático (cambiarla mueve la fila) y creciente (INT/BIGINT IDENTITY evita Page Splits en mitad del índice).</a:t>
            </a:r>
            <a:endParaRPr b="0" lang="es-ES" sz="2000" spc="-1" strike="noStrike">
              <a:latin typeface="Arial"/>
            </a:endParaRPr>
          </a:p>
          <a:p>
            <a:pPr marL="216000" indent="-214200">
              <a:lnSpc>
                <a:spcPct val="100000"/>
              </a:lnSpc>
              <a:tabLst>
                <a:tab algn="l" pos="0"/>
              </a:tabLst>
            </a:pPr>
            <a:r>
              <a:rPr b="0" lang="en-US" sz="2000" spc="-1" strike="noStrike">
                <a:latin typeface="Arial"/>
              </a:rPr>
              <a:t>- Un GUID aleatorio (NEWID()) como clave clustered provoca Page Splits constantes y fragmentación; si hace falta un GUID, usar NEWSEQUENTIALID() o separar el GUID de la clave clustered.</a:t>
            </a:r>
            <a:endParaRPr b="0" lang="es-ES" sz="2000" spc="-1" strike="noStrike">
              <a:latin typeface="Arial"/>
            </a:endParaRPr>
          </a:p>
          <a:p>
            <a:pPr marL="216000" indent="-214200">
              <a:lnSpc>
                <a:spcPct val="100000"/>
              </a:lnSpc>
              <a:tabLst>
                <a:tab algn="l" pos="0"/>
              </a:tabLst>
            </a:pPr>
            <a:r>
              <a:rPr b="0" lang="en-US" sz="2000" spc="-1" strike="noStrike">
                <a:latin typeface="Arial"/>
              </a:rPr>
              <a:t>- Cuándo un Heap sí tiene sentido: tablas de staging para cargas masivas (BULK INSERT, bcp) donde se escribe mucho y se lee una sola vez; incluso ahí conviene medir.</a:t>
            </a:r>
            <a:endParaRPr b="0" lang="es-ES" sz="2000" spc="-1" strike="noStrike">
              <a:latin typeface="Arial"/>
            </a:endParaRPr>
          </a:p>
          <a:p>
            <a:pPr marL="216000" indent="-214200">
              <a:lnSpc>
                <a:spcPct val="100000"/>
              </a:lnSpc>
              <a:tabLst>
                <a:tab algn="l" pos="0"/>
              </a:tabLst>
            </a:pPr>
            <a:r>
              <a:rPr b="0" lang="en-US" sz="2000" spc="-1" strike="noStrike">
                <a:latin typeface="Arial"/>
              </a:rPr>
              <a:t>- Consulta útil para ver qué tiene cada tabla: SELECT OBJECT_NAME(object_id), type_desc FROM sys.indexes WHERE index_id IN (0,1); index_id 0 = Heap, 1 = Clustered.</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le ocurre a una tabla con 20 índices no clustered si elegimos como clave clustered una columna NVARCHAR(200)?</a:t>
            </a:r>
            <a:endParaRPr b="0" lang="es-ES" sz="2000" spc="-1" strike="noStrike">
              <a:latin typeface="Arial"/>
            </a:endParaRPr>
          </a:p>
          <a:p>
            <a:pPr marL="216000" indent="-213840">
              <a:lnSpc>
                <a:spcPct val="100000"/>
              </a:lnSpc>
              <a:tabLst>
                <a:tab algn="l" pos="0"/>
              </a:tabLst>
            </a:pPr>
            <a:r>
              <a:rPr b="0" lang="en-US" sz="2000" spc="-1" strike="noStrike">
                <a:latin typeface="Arial"/>
              </a:rPr>
              <a:t>- Si una tabla de auditoría sólo recibe INSERT y nunca se consulta por clave, ¿Heap o Clustered? Argumentad el coste de cada opción.</a:t>
            </a:r>
            <a:endParaRPr b="0" lang="es-ES" sz="2000" spc="-1" strike="noStrike">
              <a:latin typeface="Arial"/>
            </a:endParaRPr>
          </a:p>
        </p:txBody>
      </p:sp>
      <p:sp>
        <p:nvSpPr>
          <p:cNvPr id="2157"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32870F2F-CAAF-46CF-9634-BEBDC4C5932C}"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8" name="PlaceHolder 1"/>
          <p:cNvSpPr>
            <a:spLocks noGrp="1"/>
          </p:cNvSpPr>
          <p:nvPr>
            <p:ph type="sldImg"/>
          </p:nvPr>
        </p:nvSpPr>
        <p:spPr>
          <a:xfrm>
            <a:off x="685800" y="1143000"/>
            <a:ext cx="5483880" cy="3083760"/>
          </a:xfrm>
          <a:prstGeom prst="rect">
            <a:avLst/>
          </a:prstGeom>
        </p:spPr>
      </p:sp>
      <p:sp>
        <p:nvSpPr>
          <p:cNvPr id="2159"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Visualizar el B-Tree como estructura común de Clustered y Non-Clustered Index para entender por qué un Index Seek necesita pocas lecturas y qué contiene realmente el nivel hoja.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Todos los índices rowstore se almacenan como B-Tree balanceado: una página raíz (Root), cero o más niveles intermedios y el nivel hoja (Leaf). Un Seek recorre raíz → intermedio → hoja: típicamente 3–4 lecturas lógicas incluso en tablas de millones de filas.</a:t>
            </a:r>
            <a:endParaRPr b="0" lang="es-ES" sz="2000" spc="-1" strike="noStrike">
              <a:latin typeface="Arial"/>
            </a:endParaRPr>
          </a:p>
          <a:p>
            <a:pPr marL="216000" indent="-214200">
              <a:lnSpc>
                <a:spcPct val="100000"/>
              </a:lnSpc>
              <a:tabLst>
                <a:tab algn="l" pos="0"/>
              </a:tabLst>
            </a:pPr>
            <a:r>
              <a:rPr b="0" lang="en-US" sz="2000" spc="-1" strike="noStrike">
                <a:latin typeface="Arial"/>
              </a:rPr>
              <a:t>- Clustered Index (izquierda): las hojas SON las páginas de datos, con todas las columnas de la fila. Las páginas de una misma hoja se enlazan en una lista doblemente enlazada, lo que permite recorrer rangos en orden (ORDER BY, BETWEEN) sin volver a la raíz.</a:t>
            </a:r>
            <a:endParaRPr b="0" lang="es-ES" sz="2000" spc="-1" strike="noStrike">
              <a:latin typeface="Arial"/>
            </a:endParaRPr>
          </a:p>
          <a:p>
            <a:pPr marL="216000" indent="-214200">
              <a:lnSpc>
                <a:spcPct val="100000"/>
              </a:lnSpc>
              <a:tabLst>
                <a:tab algn="l" pos="0"/>
              </a:tabLst>
            </a:pPr>
            <a:r>
              <a:rPr b="0" lang="en-US" sz="2000" spc="-1" strike="noStrike">
                <a:latin typeface="Arial"/>
              </a:rPr>
              <a:t>- Non-Clustered Index (derecha): la hoja guarda las columnas de la clave del índice (más las INCLUDE) y un localizador de fila: la clave del Clustered Index o, en un Heap, el RID (File:Page:Slot). Por eso hace falta un Key Lookup/RID Lookup para recuperar el resto de columnas.</a:t>
            </a:r>
            <a:endParaRPr b="0" lang="es-ES" sz="2000" spc="-1" strike="noStrike">
              <a:latin typeface="Arial"/>
            </a:endParaRPr>
          </a:p>
          <a:p>
            <a:pPr marL="216000" indent="-214200">
              <a:lnSpc>
                <a:spcPct val="100000"/>
              </a:lnSpc>
              <a:tabLst>
                <a:tab algn="l" pos="0"/>
              </a:tabLst>
            </a:pPr>
            <a:r>
              <a:rPr b="0" lang="en-US" sz="2000" spc="-1" strike="noStrike">
                <a:latin typeface="Arial"/>
              </a:rPr>
              <a:t>- La profundidad del árbol crece logarítmicamente: con claves de 8 bytes caben unos 600 punteros por página intermedia; con 3 niveles se direccionan cientos de millones de filas. Claves anchas reducen el fan-out y aumentan la profundidad.</a:t>
            </a:r>
            <a:endParaRPr b="0" lang="es-ES" sz="2000" spc="-1" strike="noStrike">
              <a:latin typeface="Arial"/>
            </a:endParaRPr>
          </a:p>
          <a:p>
            <a:pPr marL="216000" indent="-214200">
              <a:lnSpc>
                <a:spcPct val="100000"/>
              </a:lnSpc>
              <a:tabLst>
                <a:tab algn="l" pos="0"/>
              </a:tabLst>
            </a:pPr>
            <a:r>
              <a:rPr b="0" lang="en-US" sz="2000" spc="-1" strike="noStrike">
                <a:latin typeface="Arial"/>
              </a:rPr>
              <a:t>- Se puede inspeccionar con sys.dm_db_index_physical_stats (columna index_depth) y con DBCC IND/DBCC PAGE (no documentados oficialmente) para mostrar páginas reales en clase.</a:t>
            </a:r>
            <a:endParaRPr b="0" lang="es-ES" sz="2000" spc="-1" strike="noStrike">
              <a:latin typeface="Arial"/>
            </a:endParaRPr>
          </a:p>
          <a:p>
            <a:pPr marL="216000" indent="-214200">
              <a:lnSpc>
                <a:spcPct val="100000"/>
              </a:lnSpc>
              <a:tabLst>
                <a:tab algn="l" pos="0"/>
              </a:tabLst>
            </a:pPr>
            <a:r>
              <a:rPr b="0" lang="en-US" sz="2000" spc="-1" strike="noStrike">
                <a:latin typeface="Arial"/>
              </a:rPr>
              <a:t>- Impacto de escritura: cada INSERT/UPDATE/DELETE debe mantener el Clustered Index y todos los NCI afectados; de ahí que "más índices" no sea gratis.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¿Cuántas lecturas lógicas esperáis para un Seek por clave en una tabla de 100 millones de filas con clave INT? ¿Y para un Scan completo?</a:t>
            </a:r>
            <a:endParaRPr b="0" lang="es-ES" sz="2000" spc="-1" strike="noStrike">
              <a:latin typeface="Arial"/>
            </a:endParaRPr>
          </a:p>
          <a:p>
            <a:pPr marL="216000" indent="-213840">
              <a:lnSpc>
                <a:spcPct val="100000"/>
              </a:lnSpc>
              <a:tabLst>
                <a:tab algn="l" pos="0"/>
              </a:tabLst>
            </a:pPr>
            <a:r>
              <a:rPr b="0" lang="en-US" sz="2000" spc="-1" strike="noStrike">
                <a:latin typeface="Arial"/>
              </a:rPr>
              <a:t>- Si el NCI guarda la clave clustered como puntero, ¿qué pasa con todos los NCI cuando cambiamos el valor de la clave clustered de una fila?</a:t>
            </a:r>
            <a:endParaRPr b="0" lang="es-ES" sz="2000" spc="-1" strike="noStrike">
              <a:latin typeface="Arial"/>
            </a:endParaRPr>
          </a:p>
        </p:txBody>
      </p:sp>
      <p:sp>
        <p:nvSpPr>
          <p:cNvPr id="2160"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9C71F622-3364-4D10-A0CC-9F1CD238505E}"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1" name="PlaceHolder 1"/>
          <p:cNvSpPr>
            <a:spLocks noGrp="1"/>
          </p:cNvSpPr>
          <p:nvPr>
            <p:ph type="sldImg"/>
          </p:nvPr>
        </p:nvSpPr>
        <p:spPr>
          <a:xfrm>
            <a:off x="685800" y="1143000"/>
            <a:ext cx="5483880" cy="3083760"/>
          </a:xfrm>
          <a:prstGeom prst="rect">
            <a:avLst/>
          </a:prstGeom>
        </p:spPr>
      </p:sp>
      <p:sp>
        <p:nvSpPr>
          <p:cNvPr id="2162"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Explicar el Key Lookup como el coste oculto de los Non-Clustered Index y enseñar cómo un índice covering con INCLUDE lo elimina.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Un Non-Clustered Index (NCI) es una estructura adicional que apunta a las filas. Si la consulta pide columnas que no están en el índice, el motor hace un Key Lookup (en Heap, RID Lookup): por cada fila encontrada en el NCI hace una lectura aleatoria al Clustered Index.</a:t>
            </a:r>
            <a:endParaRPr b="0" lang="es-ES" sz="2000" spc="-1" strike="noStrike">
              <a:latin typeface="Arial"/>
            </a:endParaRPr>
          </a:p>
          <a:p>
            <a:pPr marL="216000" indent="-214200">
              <a:lnSpc>
                <a:spcPct val="100000"/>
              </a:lnSpc>
              <a:tabLst>
                <a:tab algn="l" pos="0"/>
              </a:tabLst>
            </a:pPr>
            <a:r>
              <a:rPr b="0" lang="en-US" sz="2000" spc="-1" strike="noStrike">
                <a:latin typeface="Arial"/>
              </a:rPr>
              <a:t>- El plan típico es Index Seek (NCI) + Nested Loops + Key Lookup (Clustered). Con pocas filas es barato; con miles de filas el coste se multiplica y el optimizador puede preferir un Clustered Index Scan directamente (tipping point, normalmente cuando el Lookup afectaría a ~25–33 % de las páginas de la tabla).</a:t>
            </a:r>
            <a:endParaRPr b="0" lang="es-ES" sz="2000" spc="-1" strike="noStrike">
              <a:latin typeface="Arial"/>
            </a:endParaRPr>
          </a:p>
          <a:p>
            <a:pPr marL="216000" indent="-214200">
              <a:lnSpc>
                <a:spcPct val="100000"/>
              </a:lnSpc>
              <a:tabLst>
                <a:tab algn="l" pos="0"/>
              </a:tabLst>
            </a:pPr>
            <a:r>
              <a:rPr b="0" lang="en-US" sz="2000" spc="-1" strike="noStrike">
                <a:latin typeface="Arial"/>
              </a:rPr>
              <a:t>- Un índice covering contiene todas las columnas que necesita la consulta, de modo que se resuelve sólo con el NCI. Con INCLUDE las columnas extra se guardan únicamente en el nivel hoja: no forman parte de la clave, no ordenan y no cuentan para el límite de clave (1700 bytes en NCI desde SQL Server 2016, 900 en clustered).</a:t>
            </a:r>
            <a:endParaRPr b="0" lang="es-ES" sz="2000" spc="-1" strike="noStrike">
              <a:latin typeface="Arial"/>
            </a:endParaRPr>
          </a:p>
          <a:p>
            <a:pPr marL="216000" indent="-214200">
              <a:lnSpc>
                <a:spcPct val="100000"/>
              </a:lnSpc>
              <a:tabLst>
                <a:tab algn="l" pos="0"/>
              </a:tabLst>
            </a:pPr>
            <a:r>
              <a:rPr b="0" lang="en-US" sz="2000" spc="-1" strike="noStrike">
                <a:latin typeface="Arial"/>
              </a:rPr>
              <a:t>- Orden de columnas de la clave: primero las de igualdad (=), luego la de rango (&gt;, &lt;, BETWEEN) y al final las usadas sólo para ordenar. La selectividad importa, pero el patrón de acceso manda.</a:t>
            </a:r>
            <a:endParaRPr b="0" lang="es-ES" sz="2000" spc="-1" strike="noStrike">
              <a:latin typeface="Arial"/>
            </a:endParaRPr>
          </a:p>
          <a:p>
            <a:pPr marL="216000" indent="-214200">
              <a:lnSpc>
                <a:spcPct val="100000"/>
              </a:lnSpc>
              <a:tabLst>
                <a:tab algn="l" pos="0"/>
              </a:tabLst>
            </a:pPr>
            <a:r>
              <a:rPr b="0" lang="en-US" sz="2000" spc="-1" strike="noStrike">
                <a:latin typeface="Arial"/>
              </a:rPr>
              <a:t>- Advertencia: cada columna INCLUDE aumenta el tamaño del índice y el coste de cada escritura. No se debe "cubrir" cualquier consulta; se cubre la consulta crítica y frecuente.</a:t>
            </a:r>
            <a:endParaRPr b="0" lang="es-ES" sz="2000" spc="-1" strike="noStrike">
              <a:latin typeface="Arial"/>
            </a:endParaRPr>
          </a:p>
          <a:p>
            <a:pPr marL="216000" indent="-214200">
              <a:lnSpc>
                <a:spcPct val="100000"/>
              </a:lnSpc>
              <a:tabLst>
                <a:tab algn="l" pos="0"/>
              </a:tabLst>
            </a:pPr>
            <a:r>
              <a:rPr b="0" lang="en-US" sz="2000" spc="-1" strike="noStrike">
                <a:latin typeface="Arial"/>
              </a:rPr>
              <a:t>- WITH (DROP_EXISTING = ON) permite redefinir un índice en una sola operación, evitando reconstruir los NCI dos veces; ONLINE = ON requiere Enterprise Edition.</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¿Por qué un SELECT * rara vez puede ser cubierto por un índice? ¿Qué alternativa propondríais al desarrollador?</a:t>
            </a:r>
            <a:endParaRPr b="0" lang="es-ES" sz="2000" spc="-1" strike="noStrike">
              <a:latin typeface="Arial"/>
            </a:endParaRPr>
          </a:p>
          <a:p>
            <a:pPr marL="216000" indent="-213840">
              <a:lnSpc>
                <a:spcPct val="100000"/>
              </a:lnSpc>
              <a:tabLst>
                <a:tab algn="l" pos="0"/>
              </a:tabLst>
            </a:pPr>
            <a:r>
              <a:rPr b="0" lang="en-US" sz="2000" spc="-1" strike="noStrike">
                <a:latin typeface="Arial"/>
              </a:rPr>
              <a:t>- Vemos un Key Lookup con 80 % del coste del plan: ¿añadimos INCLUDE siempre? ¿Qué comprobaríais antes (nº de filas, columnas, frecuencia)?</a:t>
            </a:r>
            <a:endParaRPr b="0" lang="es-ES" sz="2000" spc="-1" strike="noStrike">
              <a:latin typeface="Arial"/>
            </a:endParaRPr>
          </a:p>
        </p:txBody>
      </p:sp>
      <p:sp>
        <p:nvSpPr>
          <p:cNvPr id="2163"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28E60B08-DD26-4887-9113-BE8F2280A3BC}"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4" name="PlaceHolder 1"/>
          <p:cNvSpPr>
            <a:spLocks noGrp="1"/>
          </p:cNvSpPr>
          <p:nvPr>
            <p:ph type="sldImg"/>
          </p:nvPr>
        </p:nvSpPr>
        <p:spPr>
          <a:xfrm>
            <a:off x="685800" y="1143000"/>
            <a:ext cx="5483880" cy="3083760"/>
          </a:xfrm>
          <a:prstGeom prst="rect">
            <a:avLst/>
          </a:prstGeom>
        </p:spPr>
      </p:sp>
      <p:sp>
        <p:nvSpPr>
          <p:cNvPr id="2165"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Conocer dos tipos especiales de índice (filtered y columnstore) y aprender a usar con cautela las sugerencias de índices que expone el propio motor.</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Filtered Index: es un NCI con cláusula WHERE que indexa sólo un subconjunto de filas (por ejemplo, pedidos abiertos, Estado = 1). Es más pequeño, más barato de mantener y sus estadísticas son más precisas para ese subconjunto.</a:t>
            </a:r>
            <a:endParaRPr b="0" lang="es-ES" sz="2000" spc="-1" strike="noStrike">
              <a:latin typeface="Arial"/>
            </a:endParaRPr>
          </a:p>
          <a:p>
            <a:pPr marL="216000" indent="-214200">
              <a:lnSpc>
                <a:spcPct val="100000"/>
              </a:lnSpc>
              <a:tabLst>
                <a:tab algn="l" pos="0"/>
              </a:tabLst>
            </a:pPr>
            <a:r>
              <a:rPr b="0" lang="en-US" sz="2000" spc="-1" strike="noStrike">
                <a:latin typeface="Arial"/>
              </a:rPr>
              <a:t>- Limitaciones: el predicado debe ser determinista y simple; el optimizador sólo lo usa si la consulta garantiza el predicado. Con consultas parametrizadas (WHERE Estado = @e) puede no usarse sin OPTION (RECOMPILE). Requiere ciertas opciones SET (QUOTED_IDENTIFIER, ANSI_NULLS ON) en la sesión.</a:t>
            </a:r>
            <a:endParaRPr b="0" lang="es-ES" sz="2000" spc="-1" strike="noStrike">
              <a:latin typeface="Arial"/>
            </a:endParaRPr>
          </a:p>
          <a:p>
            <a:pPr marL="216000" indent="-214200">
              <a:lnSpc>
                <a:spcPct val="100000"/>
              </a:lnSpc>
              <a:tabLst>
                <a:tab algn="l" pos="0"/>
              </a:tabLst>
            </a:pPr>
            <a:r>
              <a:rPr b="0" lang="en-US" sz="2000" spc="-1" strike="noStrike">
                <a:latin typeface="Arial"/>
              </a:rPr>
              <a:t>- Columnstore (sólo mención en este curso): almacena por columnas, comprimido y procesado en modo batch. Es ideal para analítica y Data Warehouse (agregaciones sobre millones de filas); no para búsquedas puntuales OLTP. Existe clustered columnstore y nonclustered columnstore; desde 2016 se puede combinar con OLTP (operational analytics).</a:t>
            </a:r>
            <a:endParaRPr b="0" lang="es-ES" sz="2000" spc="-1" strike="noStrike">
              <a:latin typeface="Arial"/>
            </a:endParaRPr>
          </a:p>
          <a:p>
            <a:pPr marL="216000" indent="-214200">
              <a:lnSpc>
                <a:spcPct val="100000"/>
              </a:lnSpc>
              <a:tabLst>
                <a:tab algn="l" pos="0"/>
              </a:tabLst>
            </a:pPr>
            <a:r>
              <a:rPr b="0" lang="en-US" sz="2000" spc="-1" strike="noStrike">
                <a:latin typeface="Arial"/>
              </a:rPr>
              <a:t>- Missing Index DMVs (sys.dm_db_missing_index_details, _groups, _group_stats): el optimizador registra los índices que le habrían ayudado. Son sugerencias, no órdenes: ignoran el orden óptimo de las columnas, pueden proponer índices casi duplicados, no consideran el coste de escritura y se pierden al reiniciar el servicio.</a:t>
            </a:r>
            <a:endParaRPr b="0" lang="es-ES" sz="2000" spc="-1" strike="noStrike">
              <a:latin typeface="Arial"/>
            </a:endParaRPr>
          </a:p>
          <a:p>
            <a:pPr marL="216000" indent="-214200">
              <a:lnSpc>
                <a:spcPct val="100000"/>
              </a:lnSpc>
              <a:tabLst>
                <a:tab algn="l" pos="0"/>
              </a:tabLst>
            </a:pPr>
            <a:r>
              <a:rPr b="0" lang="en-US" sz="2000" spc="-1" strike="noStrike">
                <a:latin typeface="Arial"/>
              </a:rPr>
              <a:t>- Procedimiento sano: usar las DMVs como punto de partida, validar con el plan real de la consulta, consolidar con índices existentes (sys.dm_db_index_usage_stats muestra user_seeks/scans/lookups frente a user_updates) y medir antes/después.</a:t>
            </a:r>
            <a:endParaRPr b="0" lang="es-ES" sz="2000" spc="-1" strike="noStrike">
              <a:latin typeface="Arial"/>
            </a:endParaRPr>
          </a:p>
          <a:p>
            <a:pPr marL="216000" indent="-214200">
              <a:lnSpc>
                <a:spcPct val="100000"/>
              </a:lnSpc>
              <a:tabLst>
                <a:tab algn="l" pos="0"/>
              </a:tabLst>
            </a:pPr>
            <a:r>
              <a:rPr b="0" lang="en-US" sz="2000" spc="-1" strike="noStrike">
                <a:latin typeface="Arial"/>
              </a:rPr>
              <a:t>- Un índice con muchos user_updates y cero lecturas es candidato a eliminarse, pero hay que observar un ciclo de negocio completo (cierre mensual, informes anuales) y recordar que estas cifras se reinician al reiniciar la instancia.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casos de vuestro negocio tienen un subconjunto "caliente" de filas (pedidos abiertos, usuarios activos) donde un filtered index aportaría valor?</a:t>
            </a:r>
            <a:endParaRPr b="0" lang="es-ES" sz="2000" spc="-1" strike="noStrike">
              <a:latin typeface="Arial"/>
            </a:endParaRPr>
          </a:p>
          <a:p>
            <a:pPr marL="216000" indent="-213840">
              <a:lnSpc>
                <a:spcPct val="100000"/>
              </a:lnSpc>
              <a:tabLst>
                <a:tab algn="l" pos="0"/>
              </a:tabLst>
            </a:pPr>
            <a:r>
              <a:rPr b="0" lang="en-US" sz="2000" spc="-1" strike="noStrike">
                <a:latin typeface="Arial"/>
              </a:rPr>
              <a:t>- Si el servidor lleva 3 días encendido, ¿es fiable concluir que un índice no se usa? ¿Qué información adicional necesitaríais?</a:t>
            </a:r>
            <a:endParaRPr b="0" lang="es-ES" sz="2000" spc="-1" strike="noStrike">
              <a:latin typeface="Arial"/>
            </a:endParaRPr>
          </a:p>
        </p:txBody>
      </p:sp>
      <p:sp>
        <p:nvSpPr>
          <p:cNvPr id="2166"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55C09BA3-783C-40FE-95FB-9A9AC0A0EBB6}"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7" name="PlaceHolder 1"/>
          <p:cNvSpPr>
            <a:spLocks noGrp="1"/>
          </p:cNvSpPr>
          <p:nvPr>
            <p:ph type="sldImg"/>
          </p:nvPr>
        </p:nvSpPr>
        <p:spPr>
          <a:xfrm>
            <a:off x="685800" y="1143000"/>
            <a:ext cx="5483880" cy="3083760"/>
          </a:xfrm>
          <a:prstGeom prst="rect">
            <a:avLst/>
          </a:prstGeom>
        </p:spPr>
      </p:sp>
      <p:sp>
        <p:nvSpPr>
          <p:cNvPr id="2168"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Entender qué es la fragmentación de índices, cómo se mide con sys.dm_db_index_physical_stats y cómo decidir entre REORGANIZE y REBUILD apoyándose en el fillfactor.</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Fragmentación lógica (avg_fragmentation_in_percent): porcentaje de páginas hoja cuyo orden físico no coincide con el orden lógico de la clave. Afecta sobre todo a las lecturas de rango (read-ahead menos eficiente). Fragmentación interna: páginas poco llenas (avg_page_space_used_in_percent baja), que desperdician espacio y memoria del Buffer Pool.</a:t>
            </a:r>
            <a:endParaRPr b="0" lang="es-ES" sz="2000" spc="-1" strike="noStrike">
              <a:latin typeface="Arial"/>
            </a:endParaRPr>
          </a:p>
          <a:p>
            <a:pPr marL="216000" indent="-214200">
              <a:lnSpc>
                <a:spcPct val="100000"/>
              </a:lnSpc>
              <a:tabLst>
                <a:tab algn="l" pos="0"/>
              </a:tabLst>
            </a:pPr>
            <a:r>
              <a:rPr b="0" lang="en-US" sz="2000" spc="-1" strike="noStrike">
                <a:latin typeface="Arial"/>
              </a:rPr>
              <a:t>- Page Split: cuando se inserta o se actualiza una fila en una página hoja llena, el motor reserva una página nueva, mueve ~50 % de las filas y enlaza la nueva página. Es costoso (log, bloqueos) y deja ambas páginas a medio llenar. Claves aleatorias (GUID) o UPDATEs que hacen crecer filas los multiplican.</a:t>
            </a:r>
            <a:endParaRPr b="0" lang="es-ES" sz="2000" spc="-1" strike="noStrike">
              <a:latin typeface="Arial"/>
            </a:endParaRPr>
          </a:p>
          <a:p>
            <a:pPr marL="216000" indent="-214200">
              <a:lnSpc>
                <a:spcPct val="100000"/>
              </a:lnSpc>
              <a:tabLst>
                <a:tab algn="l" pos="0"/>
              </a:tabLst>
            </a:pPr>
            <a:r>
              <a:rPr b="0" lang="en-US" sz="2000" spc="-1" strike="noStrike">
                <a:latin typeface="Arial"/>
              </a:rPr>
              <a:t>- Se mide con sys.dm_db_index_physical_stats; el modo LIMITED es rápido (sólo niveles superiores) y suficiente para avg_fragmentation_in_percent; DETAILED recorre todo y es caro: no usarlo en horario de producción en tablas grandes.</a:t>
            </a:r>
            <a:endParaRPr b="0" lang="es-ES" sz="2000" spc="-1" strike="noStrike">
              <a:latin typeface="Arial"/>
            </a:endParaRPr>
          </a:p>
          <a:p>
            <a:pPr marL="216000" indent="-214200">
              <a:lnSpc>
                <a:spcPct val="100000"/>
              </a:lnSpc>
              <a:tabLst>
                <a:tab algn="l" pos="0"/>
              </a:tabLst>
            </a:pPr>
            <a:r>
              <a:rPr b="0" lang="en-US" sz="2000" spc="-1" strike="noStrike">
                <a:latin typeface="Arial"/>
              </a:rPr>
              <a:t>- Regla de partida de Microsoft: ignorar índices de menos de ~1000 páginas; entre 5 y 30 % ALTER INDEX … REORGANIZE (siempre online, compacta hojas, interrumpible); por encima de 30 % ALTER INDEX … REBUILD (recrea el índice, actualiza estadísticas con FULLSCAN, puede ser ONLINE sólo en Enterprise). Son umbrales de partida, no leyes.</a:t>
            </a:r>
            <a:endParaRPr b="0" lang="es-ES" sz="2000" spc="-1" strike="noStrike">
              <a:latin typeface="Arial"/>
            </a:endParaRPr>
          </a:p>
          <a:p>
            <a:pPr marL="216000" indent="-214200">
              <a:lnSpc>
                <a:spcPct val="100000"/>
              </a:lnSpc>
              <a:tabLst>
                <a:tab algn="l" pos="0"/>
              </a:tabLst>
            </a:pPr>
            <a:r>
              <a:rPr b="0" lang="en-US" sz="2000" spc="-1" strike="noStrike">
                <a:latin typeface="Arial"/>
              </a:rPr>
              <a:t>- FILLFACTOR deja un porcentaje libre en cada página hoja al reconstruir (por ejemplo 90) para absorber inserciones sin Page Split. Con claves crecientes lo habitual es 100; bájalo sólo en índices con inserciones aleatorias, y comprueba que reduce Page Splits (contador Page Splits/sec, sys.dm_db_index_operational_stats: leaf_allocation_count).</a:t>
            </a:r>
            <a:endParaRPr b="0" lang="es-ES" sz="2000" spc="-1" strike="noStrike">
              <a:latin typeface="Arial"/>
            </a:endParaRPr>
          </a:p>
          <a:p>
            <a:pPr marL="216000" indent="-214200">
              <a:lnSpc>
                <a:spcPct val="100000"/>
              </a:lnSpc>
              <a:tabLst>
                <a:tab algn="l" pos="0"/>
              </a:tabLst>
            </a:pPr>
            <a:r>
              <a:rPr b="0" lang="en-US" sz="2000" spc="-1" strike="noStrike">
                <a:latin typeface="Arial"/>
              </a:rPr>
              <a:t>- En almacenamiento SSD/flash la fragmentación lógica penaliza menos; la densidad de página y las estadísticas siguen siendo relevantes. Un REBUILD masivo diario puede ser peor (log, bloqueos, réplicas) que el problema que intenta resolver.</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Un índice de 300 páginas con 60 % de fragmentación: ¿lo reconstruiríais? ¿Por qué?</a:t>
            </a:r>
            <a:endParaRPr b="0" lang="es-ES" sz="2000" spc="-1" strike="noStrike">
              <a:latin typeface="Arial"/>
            </a:endParaRPr>
          </a:p>
          <a:p>
            <a:pPr marL="216000" indent="-214200">
              <a:lnSpc>
                <a:spcPct val="100000"/>
              </a:lnSpc>
              <a:tabLst>
                <a:tab algn="l" pos="0"/>
              </a:tabLst>
            </a:pPr>
            <a:r>
              <a:rPr b="0" lang="en-US" sz="2000" spc="-1" strike="noStrike">
                <a:latin typeface="Arial"/>
              </a:rPr>
              <a:t>- ¿Qué efecto tendría un FILLFACTOR = 70 en una tabla de solo lectura? ¿Y en una con inserciones aleatorias?</a:t>
            </a:r>
            <a:endParaRPr b="0" lang="es-ES" sz="2000" spc="-1" strike="noStrike">
              <a:latin typeface="Arial"/>
            </a:endParaRPr>
          </a:p>
          <a:p>
            <a:pPr marL="216000" indent="-213840">
              <a:lnSpc>
                <a:spcPct val="100000"/>
              </a:lnSpc>
              <a:tabLst>
                <a:tab algn="l" pos="0"/>
              </a:tabLst>
            </a:pPr>
            <a:r>
              <a:rPr b="0" lang="en-US" sz="2000" spc="-1" strike="noStrike">
                <a:latin typeface="Arial"/>
              </a:rPr>
              <a:t>- ¿Cómo comprobaríais, tras cambiar el fillfactor, que de verdad disminuyen los Page Splits?</a:t>
            </a:r>
            <a:endParaRPr b="0" lang="es-ES" sz="2000" spc="-1" strike="noStrike">
              <a:latin typeface="Arial"/>
            </a:endParaRPr>
          </a:p>
        </p:txBody>
      </p:sp>
      <p:sp>
        <p:nvSpPr>
          <p:cNvPr id="2169"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7EC6D193-B0D2-4D04-A276-F03B8D816B58}"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0" name="PlaceHolder 1"/>
          <p:cNvSpPr>
            <a:spLocks noGrp="1"/>
          </p:cNvSpPr>
          <p:nvPr>
            <p:ph type="sldImg"/>
          </p:nvPr>
        </p:nvSpPr>
        <p:spPr>
          <a:xfrm>
            <a:off x="685800" y="1143000"/>
            <a:ext cx="5483880" cy="3083760"/>
          </a:xfrm>
          <a:prstGeom prst="rect">
            <a:avLst/>
          </a:prstGeom>
        </p:spPr>
      </p:sp>
      <p:sp>
        <p:nvSpPr>
          <p:cNvPr id="2171"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Comprender que el optimizador elige el plan a partir de estimaciones de cardinalidad basadas en estadísticas, y saber inspeccionarlas, mantenerlas y reconocer cuándo fallan.</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Las estadísticas describen la distribución de valores de una o varias columnas. El Query Optimizer las usa para estimar cuántas filas devolverá cada operador (cardinalidad) y, con ello, elegir Seek vs Scan, tipo de JOIN y concesión de memoria. Estadísticas malas = planes malos.</a:t>
            </a:r>
            <a:endParaRPr b="0" lang="es-ES" sz="2000" spc="-1" strike="noStrike">
              <a:latin typeface="Arial"/>
            </a:endParaRPr>
          </a:p>
          <a:p>
            <a:pPr marL="216000" indent="-214200">
              <a:lnSpc>
                <a:spcPct val="100000"/>
              </a:lnSpc>
              <a:tabLst>
                <a:tab algn="l" pos="0"/>
              </a:tabLst>
            </a:pPr>
            <a:r>
              <a:rPr b="0" lang="en-US" sz="2000" spc="-1" strike="noStrike">
                <a:latin typeface="Arial"/>
              </a:rPr>
              <a:t>- Cada objeto de estadísticas tiene un encabezado (filas, filas muestreadas, última actualización), un vector de densidad y un histograma de hasta 200 pasos sobre la PRIMERA columna de la clave. Se inspecciona con DBCC SHOW_STATISTICS; para ver la fecha y el nº de modificaciones, sys.dm_db_stats_properties.</a:t>
            </a:r>
            <a:endParaRPr b="0" lang="es-ES" sz="2000" spc="-1" strike="noStrike">
              <a:latin typeface="Arial"/>
            </a:endParaRPr>
          </a:p>
          <a:p>
            <a:pPr marL="216000" indent="-214200">
              <a:lnSpc>
                <a:spcPct val="100000"/>
              </a:lnSpc>
              <a:tabLst>
                <a:tab algn="l" pos="0"/>
              </a:tabLst>
            </a:pPr>
            <a:r>
              <a:rPr b="0" lang="en-US" sz="2000" spc="-1" strike="noStrike">
                <a:latin typeface="Arial"/>
              </a:rPr>
              <a:t>- AUTO_CREATE_STATISTICS crea estadísticas de columna (_WA_Sys_…) cuando una consulta filtra por una columna sin ellas; AUTO_UPDATE_STATISTICS las refresca cuando el número de cambios supera un umbral: clásico 500 + 20 % de las filas; con nivel de compatibilidad 130 o superior, umbral dinámico aproximado √(1000 × filas), mucho más sensible en tablas grandes. AUTO_UPDATE_STATISTICS_ASYNC evita bloquear la consulta que dispara la actualización.</a:t>
            </a:r>
            <a:endParaRPr b="0" lang="es-ES" sz="2000" spc="-1" strike="noStrike">
              <a:latin typeface="Arial"/>
            </a:endParaRPr>
          </a:p>
          <a:p>
            <a:pPr marL="216000" indent="-214200">
              <a:lnSpc>
                <a:spcPct val="100000"/>
              </a:lnSpc>
              <a:tabLst>
                <a:tab algn="l" pos="0"/>
              </a:tabLst>
            </a:pPr>
            <a:r>
              <a:rPr b="0" lang="en-US" sz="2000" spc="-1" strike="noStrike">
                <a:latin typeface="Arial"/>
              </a:rPr>
              <a:t>- Las estadísticas del índice se actualizan con FULLSCAN al hacer REBUILD, no con REORGANIZE; el muestreo por defecto de UPDATE STATISTICS puede ser insuficiente en datos muy sesgados: considerar WITH FULLSCAN o PERSIST_SAMPLE_PERCENT (2016 SP1+/2019).</a:t>
            </a:r>
            <a:endParaRPr b="0" lang="es-ES" sz="2000" spc="-1" strike="noStrike">
              <a:latin typeface="Arial"/>
            </a:endParaRPr>
          </a:p>
          <a:p>
            <a:pPr marL="216000" indent="-214200">
              <a:lnSpc>
                <a:spcPct val="100000"/>
              </a:lnSpc>
              <a:tabLst>
                <a:tab algn="l" pos="0"/>
              </a:tabLst>
            </a:pPr>
            <a:r>
              <a:rPr b="0" lang="en-US" sz="2000" spc="-1" strike="noStrike">
                <a:latin typeface="Arial"/>
              </a:rPr>
              <a:t>- Cardinality Estimator (CE): con nivel de compatibilidad 120+ se usa el CE nuevo (2014), que cambió supuestos de correlación y contención entre predicados. Si una migración provoca regresiones, se puede comparar con LEGACY_CARDINALITY_ESTIMATION (database scoped configuration) o el hint USE HINT.</a:t>
            </a:r>
            <a:endParaRPr b="0" lang="es-ES" sz="2000" spc="-1" strike="noStrike">
              <a:latin typeface="Arial"/>
            </a:endParaRPr>
          </a:p>
          <a:p>
            <a:pPr marL="216000" indent="-214200">
              <a:lnSpc>
                <a:spcPct val="100000"/>
              </a:lnSpc>
              <a:tabLst>
                <a:tab algn="l" pos="0"/>
              </a:tabLst>
            </a:pPr>
            <a:r>
              <a:rPr b="0" lang="en-US" sz="2000" spc="-1" strike="noStrike">
                <a:latin typeface="Arial"/>
              </a:rPr>
              <a:t>- Síntoma clásico: en el plan real, Estimated Number of Rows muy distinto de Actual Number of Rows. Causas habituales: estadísticas obsoletas, parameter sniffing, variables locales, tablas variable, columnas correlacionadas.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¿Por qué un REBUILD de índice "arregla" a veces un plan lento aunque la fragmentación fuera baja?</a:t>
            </a:r>
            <a:endParaRPr b="0" lang="es-ES" sz="2000" spc="-1" strike="noStrike">
              <a:latin typeface="Arial"/>
            </a:endParaRPr>
          </a:p>
          <a:p>
            <a:pPr marL="216000" indent="-213840">
              <a:lnSpc>
                <a:spcPct val="100000"/>
              </a:lnSpc>
              <a:tabLst>
                <a:tab algn="l" pos="0"/>
              </a:tabLst>
            </a:pPr>
            <a:r>
              <a:rPr b="0" lang="en-US" sz="2000" spc="-1" strike="noStrike">
                <a:latin typeface="Arial"/>
              </a:rPr>
              <a:t>- Una tabla de 50 millones de filas con auto-update clásico necesitaría 10 millones de cambios para actualizar estadísticas: ¿qué consecuencias tiene y cómo lo mitiga el umbral dinámico?</a:t>
            </a:r>
            <a:endParaRPr b="0" lang="es-ES" sz="2000" spc="-1" strike="noStrike">
              <a:latin typeface="Arial"/>
            </a:endParaRPr>
          </a:p>
        </p:txBody>
      </p:sp>
      <p:sp>
        <p:nvSpPr>
          <p:cNvPr id="2172"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BE411175-3963-4626-B755-17C7592D9031}"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3" name="PlaceHolder 1"/>
          <p:cNvSpPr>
            <a:spLocks noGrp="1"/>
          </p:cNvSpPr>
          <p:nvPr>
            <p:ph type="sldImg"/>
          </p:nvPr>
        </p:nvSpPr>
        <p:spPr>
          <a:xfrm>
            <a:off x="685800" y="1143000"/>
            <a:ext cx="5483880" cy="3083760"/>
          </a:xfrm>
          <a:prstGeom prst="rect">
            <a:avLst/>
          </a:prstGeom>
        </p:spPr>
      </p:sp>
      <p:sp>
        <p:nvSpPr>
          <p:cNvPr id="2174"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Reconocer los tres operadores de acceso a datos más frecuentes en un plan de ejecución y saber cuándo son normales y cuándo son una señal de alarma.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Table Scan (Heap) / Clustered Index Scan / Index Scan: leen todas las páginas del objeto. Coste proporcional al número de páginas. No es malo por definición: en tablas pequeñas o cuando la consulta necesita la mayoría de las filas, un Scan secuencial con read-ahead es lo más eficiente.</a:t>
            </a:r>
            <a:endParaRPr b="0" lang="es-ES" sz="2000" spc="-1" strike="noStrike">
              <a:latin typeface="Arial"/>
            </a:endParaRPr>
          </a:p>
          <a:p>
            <a:pPr marL="216000" indent="-214200">
              <a:lnSpc>
                <a:spcPct val="100000"/>
              </a:lnSpc>
              <a:tabLst>
                <a:tab algn="l" pos="0"/>
              </a:tabLst>
            </a:pPr>
            <a:r>
              <a:rPr b="0" lang="en-US" sz="2000" spc="-1" strike="noStrike">
                <a:latin typeface="Arial"/>
              </a:rPr>
              <a:t>- Index Seek: navega el B-Tree desde la raíz hasta el primer valor que cumple el predicado y lee sólo el rango necesario. Requiere un predicado SARGable (Search ARGument ABLE): columna sola a un lado, sin funciones ni conversiones implícitas (WHERE YEAR(Fecha) = 2024 anula el Seek; mejor un rango Fecha &gt;= … AND Fecha &lt; …).</a:t>
            </a:r>
            <a:endParaRPr b="0" lang="es-ES" sz="2000" spc="-1" strike="noStrike">
              <a:latin typeface="Arial"/>
            </a:endParaRPr>
          </a:p>
          <a:p>
            <a:pPr marL="216000" indent="-214200">
              <a:lnSpc>
                <a:spcPct val="100000"/>
              </a:lnSpc>
              <a:tabLst>
                <a:tab algn="l" pos="0"/>
              </a:tabLst>
            </a:pPr>
            <a:r>
              <a:rPr b="0" lang="en-US" sz="2000" spc="-1" strike="noStrike">
                <a:latin typeface="Arial"/>
              </a:rPr>
              <a:t>- Un Seek también puede ser caro si devuelve millones de filas o se ejecuta muchas veces dentro de un Nested Loops (mirar Number of Executions y Actual Rows en las propiedades del operador).</a:t>
            </a:r>
            <a:endParaRPr b="0" lang="es-ES" sz="2000" spc="-1" strike="noStrike">
              <a:latin typeface="Arial"/>
            </a:endParaRPr>
          </a:p>
          <a:p>
            <a:pPr marL="216000" indent="-214200">
              <a:lnSpc>
                <a:spcPct val="100000"/>
              </a:lnSpc>
              <a:tabLst>
                <a:tab algn="l" pos="0"/>
              </a:tabLst>
            </a:pPr>
            <a:r>
              <a:rPr b="0" lang="en-US" sz="2000" spc="-1" strike="noStrike">
                <a:latin typeface="Arial"/>
              </a:rPr>
              <a:t>- Key Lookup (Clustered) / RID Lookup (Heap): obtiene las columnas que el NCI no contiene. Va acompañado de Nested Loops. Si el nº de ejecuciones es alto, es el candidato nº 1 para un índice covering (INCLUDE).</a:t>
            </a:r>
            <a:endParaRPr b="0" lang="es-ES" sz="2000" spc="-1" strike="noStrike">
              <a:latin typeface="Arial"/>
            </a:endParaRPr>
          </a:p>
          <a:p>
            <a:pPr marL="216000" indent="-214200">
              <a:lnSpc>
                <a:spcPct val="100000"/>
              </a:lnSpc>
              <a:tabLst>
                <a:tab algn="l" pos="0"/>
              </a:tabLst>
            </a:pPr>
            <a:r>
              <a:rPr b="0" lang="en-US" sz="2000" spc="-1" strike="noStrike">
                <a:latin typeface="Arial"/>
              </a:rPr>
              <a:t>- Coste CPU y E/S: cada operador muestra Estimated I/O Cost y Estimated CPU Cost; el porcentaje del plan es una estimación relativa del optimizador, calculada con un modelo de hardware de referencia, y NO equivale a tiempo real. Para tiempo real, usar el plan real y SET STATISTICS TIME.</a:t>
            </a:r>
            <a:endParaRPr b="0" lang="es-ES" sz="2000" spc="-1" strike="noStrike">
              <a:latin typeface="Arial"/>
            </a:endParaRPr>
          </a:p>
          <a:p>
            <a:pPr marL="216000" indent="-214200">
              <a:lnSpc>
                <a:spcPct val="100000"/>
              </a:lnSpc>
              <a:tabLst>
                <a:tab algn="l" pos="0"/>
              </a:tabLst>
            </a:pPr>
            <a:r>
              <a:rPr b="0" lang="en-US" sz="2000" spc="-1" strike="noStrike">
                <a:latin typeface="Arial"/>
              </a:rPr>
              <a:t>- Orden de lectura: de derecha a izquierda y de arriba abajo (el flujo de datos va hacia la izquierda); el grosor de las flechas indica el volumen de filas.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Veis un Clustered Index Scan sobre una tabla de 200 filas: ¿hay que arreglarlo? ¿Y si la tabla tiene 200 millones?</a:t>
            </a:r>
            <a:endParaRPr b="0" lang="es-ES" sz="2000" spc="-1" strike="noStrike">
              <a:latin typeface="Arial"/>
            </a:endParaRPr>
          </a:p>
          <a:p>
            <a:pPr marL="216000" indent="-213840">
              <a:lnSpc>
                <a:spcPct val="100000"/>
              </a:lnSpc>
              <a:tabLst>
                <a:tab algn="l" pos="0"/>
              </a:tabLst>
            </a:pPr>
            <a:r>
              <a:rPr b="0" lang="en-US" sz="2000" spc="-1" strike="noStrike">
                <a:latin typeface="Arial"/>
              </a:rPr>
              <a:t>- ¿Por qué WHERE CONVERT(VARCHAR(10), FechaPedido, 120) = '2024-03-15' impide el Index Seek? ¿Cómo lo reescribiríais?</a:t>
            </a:r>
            <a:endParaRPr b="0" lang="es-ES" sz="2000" spc="-1" strike="noStrike">
              <a:latin typeface="Arial"/>
            </a:endParaRPr>
          </a:p>
        </p:txBody>
      </p:sp>
      <p:sp>
        <p:nvSpPr>
          <p:cNvPr id="2175"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EED269AA-60EC-489B-A69B-1056A1242B10}"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6" name="PlaceHolder 1"/>
          <p:cNvSpPr>
            <a:spLocks noGrp="1"/>
          </p:cNvSpPr>
          <p:nvPr>
            <p:ph type="sldImg"/>
          </p:nvPr>
        </p:nvSpPr>
        <p:spPr>
          <a:xfrm>
            <a:off x="685800" y="1143000"/>
            <a:ext cx="5483880" cy="3083760"/>
          </a:xfrm>
          <a:prstGeom prst="rect">
            <a:avLst/>
          </a:prstGeom>
        </p:spPr>
      </p:sp>
      <p:sp>
        <p:nvSpPr>
          <p:cNvPr id="2177"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Aprender a obtener y leer un plan de ejecución real, medir E/S y tiempo con STATISTICS IO/TIME y detectar las desviaciones y avisos que indican un problema.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Plan estimado (Ctrl+L): se genera sin ejecutar la consulta; sólo contiene estimaciones. Plan real (Ctrl+M antes de ejecutar): incluye métricas reales (Actual Rows, Actual Executions, tiempos) y avisos de ejecución como spills.</a:t>
            </a:r>
            <a:endParaRPr b="0" lang="es-ES" sz="2000" spc="-1" strike="noStrike">
              <a:latin typeface="Arial"/>
            </a:endParaRPr>
          </a:p>
          <a:p>
            <a:pPr marL="216000" indent="-214200">
              <a:lnSpc>
                <a:spcPct val="100000"/>
              </a:lnSpc>
              <a:tabLst>
                <a:tab algn="l" pos="0"/>
              </a:tabLst>
            </a:pPr>
            <a:r>
              <a:rPr b="0" lang="en-US" sz="2000" spc="-1" strike="noStrike">
                <a:latin typeface="Arial"/>
              </a:rPr>
              <a:t>- SET STATISTICS IO ON muestra por tabla: Scan count, logical reads (páginas leídas de memoria), physical reads y read-ahead reads. Las lecturas lógicas son la métrica más estable para comparar versiones de una consulta, porque no dependen de la caché ni de la carga del servidor.</a:t>
            </a:r>
            <a:endParaRPr b="0" lang="es-ES" sz="2000" spc="-1" strike="noStrike">
              <a:latin typeface="Arial"/>
            </a:endParaRPr>
          </a:p>
          <a:p>
            <a:pPr marL="216000" indent="-214200">
              <a:lnSpc>
                <a:spcPct val="100000"/>
              </a:lnSpc>
              <a:tabLst>
                <a:tab algn="l" pos="0"/>
              </a:tabLst>
            </a:pPr>
            <a:r>
              <a:rPr b="0" lang="en-US" sz="2000" spc="-1" strike="noStrike">
                <a:latin typeface="Arial"/>
              </a:rPr>
              <a:t>- SET STATISTICS TIME ON informa de CPU time y elapsed time; el elapsed incluye esperas (bloqueos, E/S). Comparar siempre con la caché caliente y repetir varias ejecuciones; evitar DBCC DROPCLEANBUFFERS en producción.</a:t>
            </a:r>
            <a:endParaRPr b="0" lang="es-ES" sz="2000" spc="-1" strike="noStrike">
              <a:latin typeface="Arial"/>
            </a:endParaRPr>
          </a:p>
          <a:p>
            <a:pPr marL="216000" indent="-214200">
              <a:lnSpc>
                <a:spcPct val="100000"/>
              </a:lnSpc>
              <a:tabLst>
                <a:tab algn="l" pos="0"/>
              </a:tabLst>
            </a:pPr>
            <a:r>
              <a:rPr b="0" lang="en-US" sz="2000" spc="-1" strike="noStrike">
                <a:latin typeface="Arial"/>
              </a:rPr>
              <a:t>- Estimated vs Actual Rows: una diferencia de un orden de magnitud o más es la principal pista de estadísticas obsoletas, parameter sniffing o de un predicado que el CE no sabe estimar. Se ven en las propiedades de cada operador (F4).</a:t>
            </a:r>
            <a:endParaRPr b="0" lang="es-ES" sz="2000" spc="-1" strike="noStrike">
              <a:latin typeface="Arial"/>
            </a:endParaRPr>
          </a:p>
          <a:p>
            <a:pPr marL="216000" indent="-214200">
              <a:lnSpc>
                <a:spcPct val="100000"/>
              </a:lnSpc>
              <a:tabLst>
                <a:tab algn="l" pos="0"/>
              </a:tabLst>
            </a:pPr>
            <a:r>
              <a:rPr b="0" lang="en-US" sz="2000" spc="-1" strike="noStrike">
                <a:latin typeface="Arial"/>
              </a:rPr>
              <a:t>- Warnings (triángulo amarillo): Sort/Hash Spill a tempdb por concesión de memoria insuficiente, conversión implícita (CONVERT_IMPLICIT) que anula Seeks, columnas sin estadísticas, Missing Index. Un spill indica memory grant mal estimado.</a:t>
            </a:r>
            <a:endParaRPr b="0" lang="es-ES" sz="2000" spc="-1" strike="noStrike">
              <a:latin typeface="Arial"/>
            </a:endParaRPr>
          </a:p>
          <a:p>
            <a:pPr marL="216000" indent="-214200">
              <a:lnSpc>
                <a:spcPct val="100000"/>
              </a:lnSpc>
              <a:tabLst>
                <a:tab algn="l" pos="0"/>
              </a:tabLst>
            </a:pPr>
            <a:r>
              <a:rPr b="0" lang="en-US" sz="2000" spc="-1" strike="noStrike">
                <a:latin typeface="Arial"/>
              </a:rPr>
              <a:t>- Query Store (SQL Server 2016+; mención): guarda por base de datos las consultas, sus planes y métricas históricas; permite detectar regresiones de plan y forzar un plan anterior. Se activa con ALTER DATABASE … SET QUERY_STORE = ON y está activado por defecto en bases nuevas desde SQL Server 2022.</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¿Por qué elegimos lecturas lógicas y no el tiempo transcurrido para comparar dos versiones de una consulta?</a:t>
            </a:r>
            <a:endParaRPr b="0" lang="es-ES" sz="2000" spc="-1" strike="noStrike">
              <a:latin typeface="Arial"/>
            </a:endParaRPr>
          </a:p>
          <a:p>
            <a:pPr marL="216000" indent="-213840">
              <a:lnSpc>
                <a:spcPct val="100000"/>
              </a:lnSpc>
              <a:tabLst>
                <a:tab algn="l" pos="0"/>
              </a:tabLst>
            </a:pPr>
            <a:r>
              <a:rPr b="0" lang="en-US" sz="2000" spc="-1" strike="noStrike">
                <a:latin typeface="Arial"/>
              </a:rPr>
              <a:t>- El plan muestra Estimated Rows = 1 y Actual Rows = 900.000: ¿qué hipótesis plantearíais y qué comprobaríais primero?</a:t>
            </a:r>
            <a:endParaRPr b="0" lang="es-ES" sz="2000" spc="-1" strike="noStrike">
              <a:latin typeface="Arial"/>
            </a:endParaRPr>
          </a:p>
        </p:txBody>
      </p:sp>
      <p:sp>
        <p:nvSpPr>
          <p:cNvPr id="2178"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740F3D6B-11ED-4456-9F3B-63DB7FFC0A41}"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9" name="PlaceHolder 1"/>
          <p:cNvSpPr>
            <a:spLocks noGrp="1"/>
          </p:cNvSpPr>
          <p:nvPr>
            <p:ph type="sldImg"/>
          </p:nvPr>
        </p:nvSpPr>
        <p:spPr>
          <a:xfrm>
            <a:off x="685800" y="1143000"/>
            <a:ext cx="5483880" cy="3083760"/>
          </a:xfrm>
          <a:prstGeom prst="rect">
            <a:avLst/>
          </a:prstGeom>
        </p:spPr>
      </p:sp>
      <p:sp>
        <p:nvSpPr>
          <p:cNvPr id="2180"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Usar las DMVs sys.dm_exec_query_stats y sys.dm_exec_requests junto con sys.dm_exec_sql_text/query_plan para localizar las consultas más costosas y ver qué está ejecutándose ahora mismo.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Las Dynamic Management Views exponen el estado interno del motor sin instalar nada. Requieren el permiso VIEW SERVER STATE (VIEW SERVER PERFORMANCE STATE en SQL Server 2022) y sus datos son volátiles: se reinician al reiniciar la instancia.</a:t>
            </a:r>
            <a:endParaRPr b="0" lang="es-ES" sz="2000" spc="-1" strike="noStrike">
              <a:latin typeface="Arial"/>
            </a:endParaRPr>
          </a:p>
          <a:p>
            <a:pPr marL="216000" indent="-214200">
              <a:lnSpc>
                <a:spcPct val="100000"/>
              </a:lnSpc>
              <a:tabLst>
                <a:tab algn="l" pos="0"/>
              </a:tabLst>
            </a:pPr>
            <a:r>
              <a:rPr b="0" lang="en-US" sz="2000" spc="-1" strike="noStrike">
                <a:latin typeface="Arial"/>
              </a:rPr>
              <a:t>- sys.dm_exec_query_stats acumula, por sentencia en la caché de planes, execution_count, total_worker_time (CPU, µs), total_elapsed_time, total_logical_reads/writes y últimos valores. Se une con sys.dm_exec_sql_text(sql_handle) para obtener el texto y con sys.dm_exec_query_plan(plan_handle) para el plan XML.</a:t>
            </a:r>
            <a:endParaRPr b="0" lang="es-ES" sz="2000" spc="-1" strike="noStrike">
              <a:latin typeface="Arial"/>
            </a:endParaRPr>
          </a:p>
          <a:p>
            <a:pPr marL="216000" indent="-214200">
              <a:lnSpc>
                <a:spcPct val="100000"/>
              </a:lnSpc>
              <a:tabLst>
                <a:tab algn="l" pos="0"/>
              </a:tabLst>
            </a:pPr>
            <a:r>
              <a:rPr b="0" lang="en-US" sz="2000" spc="-1" strike="noStrike">
                <a:latin typeface="Arial"/>
              </a:rPr>
              <a:t>- Importante: sólo ve consultas cuyo plan sigue en caché; los planes expulsados por memoria o recompilados desaparecen, y las consultas con OPTION (RECOMPILE) no aparecen. Para histórico fiable, Query Store.</a:t>
            </a:r>
            <a:endParaRPr b="0" lang="es-ES" sz="2000" spc="-1" strike="noStrike">
              <a:latin typeface="Arial"/>
            </a:endParaRPr>
          </a:p>
          <a:p>
            <a:pPr marL="216000" indent="-214200">
              <a:lnSpc>
                <a:spcPct val="100000"/>
              </a:lnSpc>
              <a:tabLst>
                <a:tab algn="l" pos="0"/>
              </a:tabLst>
            </a:pPr>
            <a:r>
              <a:rPr b="0" lang="en-US" sz="2000" spc="-1" strike="noStrike">
                <a:latin typeface="Arial"/>
              </a:rPr>
              <a:t>- Ordenar por total_worker_time identifica lo que más CPU consume en conjunto; por total_logical_reads, lo que más memoria/E-S toca; por promedio (dividir por execution_count) las consultas individualmente lentas. Una consulta de 5 ms ejecutada un millón de veces puede pesar más que una de 5 s ejecutada una vez.</a:t>
            </a:r>
            <a:endParaRPr b="0" lang="es-ES" sz="2000" spc="-1" strike="noStrike">
              <a:latin typeface="Arial"/>
            </a:endParaRPr>
          </a:p>
          <a:p>
            <a:pPr marL="216000" indent="-214200">
              <a:lnSpc>
                <a:spcPct val="100000"/>
              </a:lnSpc>
              <a:tabLst>
                <a:tab algn="l" pos="0"/>
              </a:tabLst>
            </a:pPr>
            <a:r>
              <a:rPr b="0" lang="en-US" sz="2000" spc="-1" strike="noStrike">
                <a:latin typeface="Arial"/>
              </a:rPr>
              <a:t>- sys.dm_exec_requests muestra las peticiones activas ahora: status, command, wait_type, wait_time, blocking_session_id, cpu_time, logical_reads, database_id y sql_handle. Es el primer sitio al que mirar cuando "va lento ahora".</a:t>
            </a:r>
            <a:endParaRPr b="0" lang="es-ES" sz="2000" spc="-1" strike="noStrike">
              <a:latin typeface="Arial"/>
            </a:endParaRPr>
          </a:p>
          <a:p>
            <a:pPr marL="216000" indent="-214200">
              <a:lnSpc>
                <a:spcPct val="100000"/>
              </a:lnSpc>
              <a:tabLst>
                <a:tab algn="l" pos="0"/>
              </a:tabLst>
            </a:pPr>
            <a:r>
              <a:rPr b="0" lang="en-US" sz="2000" spc="-1" strike="noStrike">
                <a:latin typeface="Arial"/>
              </a:rPr>
              <a:t>- Buenas prácticas: filtrar session_id &gt; 50 o unir con sys.dm_exec_sessions (is_user_process = 1), excluir @@SPID y limitar columnas de texto (LEFT/SUBSTRING) para no devolver lotes enormes a SSMS.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¿Por qué ordenar sólo por duración media puede ocultar la consulta que más daño hace al servidor?</a:t>
            </a:r>
            <a:endParaRPr b="0" lang="es-ES" sz="2000" spc="-1" strike="noStrike">
              <a:latin typeface="Arial"/>
            </a:endParaRPr>
          </a:p>
          <a:p>
            <a:pPr marL="216000" indent="-213840">
              <a:lnSpc>
                <a:spcPct val="100000"/>
              </a:lnSpc>
              <a:tabLst>
                <a:tab algn="l" pos="0"/>
              </a:tabLst>
            </a:pPr>
            <a:r>
              <a:rPr b="0" lang="en-US" sz="2000" spc="-1" strike="noStrike">
                <a:latin typeface="Arial"/>
              </a:rPr>
              <a:t>- Reiniciamos el servicio ayer y hoy sys.dm_exec_query_stats está casi vacío: ¿qué conclusiones podemos (y no) extraer?</a:t>
            </a:r>
            <a:endParaRPr b="0" lang="es-ES" sz="2000" spc="-1" strike="noStrike">
              <a:latin typeface="Arial"/>
            </a:endParaRPr>
          </a:p>
        </p:txBody>
      </p:sp>
      <p:sp>
        <p:nvSpPr>
          <p:cNvPr id="2181"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EC693515-1877-415D-BEFF-B4F9C2D43622}"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2" name="PlaceHolder 1"/>
          <p:cNvSpPr>
            <a:spLocks noGrp="1"/>
          </p:cNvSpPr>
          <p:nvPr>
            <p:ph type="sldImg"/>
          </p:nvPr>
        </p:nvSpPr>
        <p:spPr>
          <a:xfrm>
            <a:off x="685800" y="1143000"/>
            <a:ext cx="5483880" cy="3083760"/>
          </a:xfrm>
          <a:prstGeom prst="rect">
            <a:avLst/>
          </a:prstGeom>
        </p:spPr>
      </p:sp>
      <p:sp>
        <p:nvSpPr>
          <p:cNvPr id="2183"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Aplicar el método de Wait Statistics: identificar los tipos de espera dominantes con sys.dm_os_wait_stats y localizar bloqueos con sys.dm_os_waiting_tasks.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Cada hilo (worker) de SQL Server pasa por estados RUNNING, RUNNABLE y SUSPENDED. Cuando no puede avanzar (espera un bloqueo, una E/S, memoria…) registra una espera. Analizar dónde espera el servidor indica cuál es el cuello de botella dominante.</a:t>
            </a:r>
            <a:endParaRPr b="0" lang="es-ES" sz="2000" spc="-1" strike="noStrike">
              <a:latin typeface="Arial"/>
            </a:endParaRPr>
          </a:p>
          <a:p>
            <a:pPr marL="216000" indent="-214200">
              <a:lnSpc>
                <a:spcPct val="100000"/>
              </a:lnSpc>
              <a:tabLst>
                <a:tab algn="l" pos="0"/>
              </a:tabLst>
            </a:pPr>
            <a:r>
              <a:rPr b="0" lang="en-US" sz="2000" spc="-1" strike="noStrike">
                <a:latin typeface="Arial"/>
              </a:rPr>
              <a:t>- sys.dm_os_wait_stats es acumulativa desde el inicio de la instancia (o desde DBCC SQLPERF('sys.dm_os_wait_stats', CLEAR)): wait_time_ms incluye signal_wait_time_ms (tiempo en cola esperando CPU después de que el recurso esté listo). Si el signal wait supera ~20–25 % del total hay presión de CPU.</a:t>
            </a:r>
            <a:endParaRPr b="0" lang="es-ES" sz="2000" spc="-1" strike="noStrike">
              <a:latin typeface="Arial"/>
            </a:endParaRPr>
          </a:p>
          <a:p>
            <a:pPr marL="216000" indent="-214200">
              <a:lnSpc>
                <a:spcPct val="100000"/>
              </a:lnSpc>
              <a:tabLst>
                <a:tab algn="l" pos="0"/>
              </a:tabLst>
            </a:pPr>
            <a:r>
              <a:rPr b="0" lang="en-US" sz="2000" spc="-1" strike="noStrike">
                <a:latin typeface="Arial"/>
              </a:rPr>
              <a:t>- Hay que filtrar las esperas benignas (SLEEP_*, LAZYWRITER_SLEEP, XE_TIMER_EVENT, BROKER_*, WAITFOR…). La lista real es larga; los scripts de referencia de la comunidad (por ejemplo, los de Paul Randal) mantienen un listado actualizado. La consulta de la diapositiva es una simplificación didáctica.</a:t>
            </a:r>
            <a:endParaRPr b="0" lang="es-ES" sz="2000" spc="-1" strike="noStrike">
              <a:latin typeface="Arial"/>
            </a:endParaRPr>
          </a:p>
          <a:p>
            <a:pPr marL="216000" indent="-214200">
              <a:lnSpc>
                <a:spcPct val="100000"/>
              </a:lnSpc>
              <a:tabLst>
                <a:tab algn="l" pos="0"/>
              </a:tabLst>
            </a:pPr>
            <a:r>
              <a:rPr b="0" lang="en-US" sz="2000" spc="-1" strike="noStrike">
                <a:latin typeface="Arial"/>
              </a:rPr>
              <a:t>- Interpretación rápida: PAGEIOLATCH_SH/EX = lecturas de disco lentas o falta de memoria; WRITELOG = latencia del disco de log; LCK_M_* = bloqueos entre sesiones; SOS_SCHEDULER_YIELD = presión de CPU; CXPACKET/CXCONSUMER = paralelismo (no siempre un problema por sí solo); ASYNC_NETWORK_IO = el cliente tarda en consumir resultados.</a:t>
            </a:r>
            <a:endParaRPr b="0" lang="es-ES" sz="2000" spc="-1" strike="noStrike">
              <a:latin typeface="Arial"/>
            </a:endParaRPr>
          </a:p>
          <a:p>
            <a:pPr marL="216000" indent="-214200">
              <a:lnSpc>
                <a:spcPct val="100000"/>
              </a:lnSpc>
              <a:tabLst>
                <a:tab algn="l" pos="0"/>
              </a:tabLst>
            </a:pPr>
            <a:r>
              <a:rPr b="0" lang="en-US" sz="2000" spc="-1" strike="noStrike">
                <a:latin typeface="Arial"/>
              </a:rPr>
              <a:t>- sys.dm_os_waiting_tasks es una vista instantánea de las tareas que esperan AHORA: session_id, wait_type, wait_duration_ms, blocking_session_id y resource_description (por ejemplo, el recurso bloqueado). Permite reconstruir cadenas de bloqueo y localizar el head blocker (el que bloquea y no está bloqueado).</a:t>
            </a:r>
            <a:endParaRPr b="0" lang="es-ES" sz="2000" spc="-1" strike="noStrike">
              <a:latin typeface="Arial"/>
            </a:endParaRPr>
          </a:p>
          <a:p>
            <a:pPr marL="216000" indent="-214200">
              <a:lnSpc>
                <a:spcPct val="100000"/>
              </a:lnSpc>
              <a:tabLst>
                <a:tab algn="l" pos="0"/>
              </a:tabLst>
            </a:pPr>
            <a:r>
              <a:rPr b="0" lang="en-US" sz="2000" spc="-1" strike="noStrike">
                <a:latin typeface="Arial"/>
              </a:rPr>
              <a:t>- Método sano: tomar dos snapshots de wait_stats separados por unos minutos y calcular la diferencia; los valores acumulados desde hace semanas diluyen el problema actual.</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El 60 % de las esperas es PAGEIOLATCH_SH: ¿qué dos líneas de actuación distintas se os ocurren (E/S y memoria/consultas)?</a:t>
            </a:r>
            <a:endParaRPr b="0" lang="es-ES" sz="2000" spc="-1" strike="noStrike">
              <a:latin typeface="Arial"/>
            </a:endParaRPr>
          </a:p>
          <a:p>
            <a:pPr marL="216000" indent="-213840">
              <a:lnSpc>
                <a:spcPct val="100000"/>
              </a:lnSpc>
              <a:tabLst>
                <a:tab algn="l" pos="0"/>
              </a:tabLst>
            </a:pPr>
            <a:r>
              <a:rPr b="0" lang="en-US" sz="2000" spc="-1" strike="noStrike">
                <a:latin typeface="Arial"/>
              </a:rPr>
              <a:t>- ¿Por qué una consulta puede tardar 30 s con CPU time de 200 ms? ¿Dónde lo veríais?</a:t>
            </a:r>
            <a:endParaRPr b="0" lang="es-ES" sz="2000" spc="-1" strike="noStrike">
              <a:latin typeface="Arial"/>
            </a:endParaRPr>
          </a:p>
        </p:txBody>
      </p:sp>
      <p:sp>
        <p:nvSpPr>
          <p:cNvPr id="2184"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F4169954-B712-4080-A278-7BE0713ADF62}"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5" name="PlaceHolder 1"/>
          <p:cNvSpPr>
            <a:spLocks noGrp="1"/>
          </p:cNvSpPr>
          <p:nvPr>
            <p:ph type="sldImg"/>
          </p:nvPr>
        </p:nvSpPr>
        <p:spPr>
          <a:xfrm>
            <a:off x="685800" y="1143000"/>
            <a:ext cx="5483880" cy="3083760"/>
          </a:xfrm>
          <a:prstGeom prst="rect">
            <a:avLst/>
          </a:prstGeom>
        </p:spPr>
      </p:sp>
      <p:sp>
        <p:nvSpPr>
          <p:cNvPr id="2186"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Definir RTO y RPO como los dos requisitos de negocio que determinan qué tecnología de HA/DR elegir, y distinguir alta disponibilidad de recuperación ante desastres.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RPO (Recovery Point Objective): cuántos datos, medidos en tiempo, puede perder el negocio. RPO = 15 min significa que tras un fallo se aceptan hasta 15 minutos de transacciones perdidas. RPO ≈ 0 exige que cada commit esté ya en otro lugar antes de confirmarse (replicación síncrona).</a:t>
            </a:r>
            <a:endParaRPr b="0" lang="es-ES" sz="2000" spc="-1" strike="noStrike">
              <a:latin typeface="Arial"/>
            </a:endParaRPr>
          </a:p>
          <a:p>
            <a:pPr marL="216000" indent="-214200">
              <a:lnSpc>
                <a:spcPct val="100000"/>
              </a:lnSpc>
              <a:tabLst>
                <a:tab algn="l" pos="0"/>
              </a:tabLst>
            </a:pPr>
            <a:r>
              <a:rPr b="0" lang="en-US" sz="2000" spc="-1" strike="noStrike">
                <a:latin typeface="Arial"/>
              </a:rPr>
              <a:t>- RTO (Recovery Time Objective): cuánto tiempo puede estar caído el servicio hasta restablecerse (incluye detección, decisión, failover y recuperación de la BD). RTO = 1 min exige failover automático; RTO = 4 h permite restaurar desde backup.</a:t>
            </a:r>
            <a:endParaRPr b="0" lang="es-ES" sz="2000" spc="-1" strike="noStrike">
              <a:latin typeface="Arial"/>
            </a:endParaRPr>
          </a:p>
          <a:p>
            <a:pPr marL="216000" indent="-214200">
              <a:lnSpc>
                <a:spcPct val="100000"/>
              </a:lnSpc>
              <a:tabLst>
                <a:tab algn="l" pos="0"/>
              </a:tabLst>
            </a:pPr>
            <a:r>
              <a:rPr b="0" lang="en-US" sz="2000" spc="-1" strike="noStrike">
                <a:latin typeface="Arial"/>
              </a:rPr>
              <a:t>- Alta Disponibilidad (HA) protege frente a fallos locales (nodo, instancia, disco) con RTO/RPO bajos, normalmente en el mismo CPD. Disaster Recovery (DR) protege frente a la pérdida de un sitio entero, normalmente con replicación asíncrona a otra ubicación; el RPO suele ser mayor que cero.</a:t>
            </a:r>
            <a:endParaRPr b="0" lang="es-ES" sz="2000" spc="-1" strike="noStrike">
              <a:latin typeface="Arial"/>
            </a:endParaRPr>
          </a:p>
          <a:p>
            <a:pPr marL="216000" indent="-214200">
              <a:lnSpc>
                <a:spcPct val="100000"/>
              </a:lnSpc>
              <a:tabLst>
                <a:tab algn="l" pos="0"/>
              </a:tabLst>
            </a:pPr>
            <a:r>
              <a:rPr b="0" lang="en-US" sz="2000" spc="-1" strike="noStrike">
                <a:latin typeface="Arial"/>
              </a:rPr>
              <a:t>- Cuanto más cercanos a cero son RTO y RPO, mayor es el coste (licencias Enterprise, hardware duplicado, red de baja latencia, complejidad operativa). Los requisitos los define el negocio, no el DBA; el DBA los traduce a arquitectura.</a:t>
            </a:r>
            <a:endParaRPr b="0" lang="es-ES" sz="2000" spc="-1" strike="noStrike">
              <a:latin typeface="Arial"/>
            </a:endParaRPr>
          </a:p>
          <a:p>
            <a:pPr marL="216000" indent="-214200">
              <a:lnSpc>
                <a:spcPct val="100000"/>
              </a:lnSpc>
              <a:tabLst>
                <a:tab algn="l" pos="0"/>
              </a:tabLst>
            </a:pPr>
            <a:r>
              <a:rPr b="0" lang="en-US" sz="2000" spc="-1" strike="noStrike">
                <a:latin typeface="Arial"/>
              </a:rPr>
              <a:t>- La replicación y HA NO sustituyen a los backups: un DROP TABLE accidental o la corrupción lógica se replican al secundario. Los backups (Módulo 4) siguen siendo la defensa frente a errores humanos y ransomware.</a:t>
            </a:r>
            <a:endParaRPr b="0" lang="es-ES" sz="2000" spc="-1" strike="noStrike">
              <a:latin typeface="Arial"/>
            </a:endParaRPr>
          </a:p>
          <a:p>
            <a:pPr marL="216000" indent="-214200">
              <a:lnSpc>
                <a:spcPct val="100000"/>
              </a:lnSpc>
              <a:tabLst>
                <a:tab algn="l" pos="0"/>
              </a:tabLst>
            </a:pPr>
            <a:r>
              <a:rPr b="0" lang="en-US" sz="2000" spc="-1" strike="noStrike">
                <a:latin typeface="Arial"/>
              </a:rPr>
              <a:t>- Para un ejercicio rápido: dar tres sistemas (tienda online, ERP interno, informes mensuales) y pedir que propongan RPO y RTO razonables y su justificación económica.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RPO y RTO fijaríais para el sistema de pedidos de una tienda online en campaña de Black Friday y para un datamart de informes mensuales?</a:t>
            </a:r>
            <a:endParaRPr b="0" lang="es-ES" sz="2000" spc="-1" strike="noStrike">
              <a:latin typeface="Arial"/>
            </a:endParaRPr>
          </a:p>
          <a:p>
            <a:pPr marL="216000" indent="-213840">
              <a:lnSpc>
                <a:spcPct val="100000"/>
              </a:lnSpc>
              <a:tabLst>
                <a:tab algn="l" pos="0"/>
              </a:tabLst>
            </a:pPr>
            <a:r>
              <a:rPr b="0" lang="en-US" sz="2000" spc="-1" strike="noStrike">
                <a:latin typeface="Arial"/>
              </a:rPr>
              <a:t>- Si el RPO es 0 y el RTO 30 s, ¿qué opciones tecnológicas siguen disponibles? ¿Y si además hay que cubrir la pérdida de todo el CPD?</a:t>
            </a:r>
            <a:endParaRPr b="0" lang="es-ES" sz="2000" spc="-1" strike="noStrike">
              <a:latin typeface="Arial"/>
            </a:endParaRPr>
          </a:p>
        </p:txBody>
      </p:sp>
      <p:sp>
        <p:nvSpPr>
          <p:cNvPr id="2187"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50F8E3DA-AD24-4705-A09E-6A97344C540F}"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8" name="PlaceHolder 1"/>
          <p:cNvSpPr>
            <a:spLocks noGrp="1"/>
          </p:cNvSpPr>
          <p:nvPr>
            <p:ph type="sldImg"/>
          </p:nvPr>
        </p:nvSpPr>
        <p:spPr>
          <a:xfrm>
            <a:off x="685800" y="1143000"/>
            <a:ext cx="5483880" cy="3083760"/>
          </a:xfrm>
          <a:prstGeom prst="rect">
            <a:avLst/>
          </a:prstGeom>
        </p:spPr>
      </p:sp>
      <p:sp>
        <p:nvSpPr>
          <p:cNvPr id="2189"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Comparar Log Shipping, Replicación, Failover Cluster Instances y Always On Availability Groups según alcance, failover, pérdida de datos y requisitos, para saber elegir cada una.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Log Shipping: automatiza el backup del Transaction Log de la primaria, su copia y su restauración en una o varias secundarias (NORECOVERY o STANDBY de sólo lectura). Es sencillo, barato, funciona en Standard y tiene RPO igual al intervalo de backup (minutos). El failover es manual: hay que restaurar la cola de log, recuperar la BD y redirigir las aplicaciones.</a:t>
            </a:r>
            <a:endParaRPr b="0" lang="es-ES" sz="2000" spc="-1" strike="noStrike">
              <a:latin typeface="Arial"/>
            </a:endParaRPr>
          </a:p>
          <a:p>
            <a:pPr marL="216000" indent="-214200">
              <a:lnSpc>
                <a:spcPct val="100000"/>
              </a:lnSpc>
              <a:tabLst>
                <a:tab algn="l" pos="0"/>
              </a:tabLst>
            </a:pPr>
            <a:r>
              <a:rPr b="0" lang="en-US" sz="2000" spc="-1" strike="noStrike">
                <a:latin typeface="Arial"/>
              </a:rPr>
              <a:t>- Replicación (Snapshot, Transactional, Merge): distribuye datos a nivel de tablas/artículos, no de base de datos completa. Sirve para informes descargados, consolidación y escenarios de datos distribuidos; no es una solución de HA/DR completa (no replica logins, jobs, ni el esquema entero).</a:t>
            </a:r>
            <a:endParaRPr b="0" lang="es-ES" sz="2000" spc="-1" strike="noStrike">
              <a:latin typeface="Arial"/>
            </a:endParaRPr>
          </a:p>
          <a:p>
            <a:pPr marL="216000" indent="-214200">
              <a:lnSpc>
                <a:spcPct val="100000"/>
              </a:lnSpc>
              <a:tabLst>
                <a:tab algn="l" pos="0"/>
              </a:tabLst>
            </a:pPr>
            <a:r>
              <a:rPr b="0" lang="en-US" sz="2000" spc="-1" strike="noStrike">
                <a:latin typeface="Arial"/>
              </a:rPr>
              <a:t>- Failover Cluster Instance (FCI): protege la INSTANCIA entera sobre un Windows Server Failover Cluster (WSFC) con almacenamiento compartido (SAN, S2D, SMB). Una sola copia de los datos: si el almacenamiento falla, todo falla. Failover automático (segundos a pocos minutos, incluida la recuperación de la BD), RPO ≈ 0. Disponible en Standard con 2 nodos.</a:t>
            </a:r>
            <a:endParaRPr b="0" lang="es-ES" sz="2000" spc="-1" strike="noStrike">
              <a:latin typeface="Arial"/>
            </a:endParaRPr>
          </a:p>
          <a:p>
            <a:pPr marL="216000" indent="-214200">
              <a:lnSpc>
                <a:spcPct val="100000"/>
              </a:lnSpc>
              <a:tabLst>
                <a:tab algn="l" pos="0"/>
              </a:tabLst>
            </a:pPr>
            <a:r>
              <a:rPr b="0" lang="en-US" sz="2000" spc="-1" strike="noStrike">
                <a:latin typeface="Arial"/>
              </a:rPr>
              <a:t>- Always On Availability Groups (AG): protege un conjunto de bases de datos replicando el log a hasta 8 réplicas secundarias (Enterprise), síncronas (RPO 0, failover automático) o asíncronas (RPO &gt; 0, failover manual forzado). No necesita almacenamiento compartido; las réplicas pueden ser legibles y usarse para backups o informes (Enterprise).</a:t>
            </a:r>
            <a:endParaRPr b="0" lang="es-ES" sz="2000" spc="-1" strike="noStrike">
              <a:latin typeface="Arial"/>
            </a:endParaRPr>
          </a:p>
          <a:p>
            <a:pPr marL="216000" indent="-214200">
              <a:lnSpc>
                <a:spcPct val="100000"/>
              </a:lnSpc>
              <a:tabLst>
                <a:tab algn="l" pos="0"/>
              </a:tabLst>
            </a:pPr>
            <a:r>
              <a:rPr b="0" lang="en-US" sz="2000" spc="-1" strike="noStrike">
                <a:latin typeface="Arial"/>
              </a:rPr>
              <a:t>- Un AG no replica objetos a nivel de instancia (logins, SQL Agent jobs, linked servers): hay que sincronizarlos aparte. FCI y AG pueden combinarse (FCI como réplicas de un AG).</a:t>
            </a:r>
            <a:endParaRPr b="0" lang="es-ES" sz="2000" spc="-1" strike="noStrike">
              <a:latin typeface="Arial"/>
            </a:endParaRPr>
          </a:p>
          <a:p>
            <a:pPr marL="216000" indent="-214200">
              <a:lnSpc>
                <a:spcPct val="100000"/>
              </a:lnSpc>
              <a:tabLst>
                <a:tab algn="l" pos="0"/>
              </a:tabLst>
            </a:pPr>
            <a:r>
              <a:rPr b="0" lang="en-US" sz="2000" spc="-1" strike="noStrike">
                <a:latin typeface="Arial"/>
              </a:rPr>
              <a:t>- Criterios de elección: RTO/RPO exigidos, edición y licencias, topología de red y almacenamiento, capacidad del equipo para operar un WSFC y presupuesto. No hay una opción "mejor" en abstracto.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Una pyme con SQL Server Standard, un solo CPD y RTO de 30 min: ¿qué tecnología propondríais y qué limitaciones explicaríais a la dirección?</a:t>
            </a:r>
            <a:endParaRPr b="0" lang="es-ES" sz="2000" spc="-1" strike="noStrike">
              <a:latin typeface="Arial"/>
            </a:endParaRPr>
          </a:p>
          <a:p>
            <a:pPr marL="216000" indent="-213840">
              <a:lnSpc>
                <a:spcPct val="100000"/>
              </a:lnSpc>
              <a:tabLst>
                <a:tab algn="l" pos="0"/>
              </a:tabLst>
            </a:pPr>
            <a:r>
              <a:rPr b="0" lang="en-US" sz="2000" spc="-1" strike="noStrike">
                <a:latin typeface="Arial"/>
              </a:rPr>
              <a:t>- ¿Por qué un FCI no protege frente a la corrupción del almacenamiento compartido? ¿Cómo lo complementaríais?</a:t>
            </a:r>
            <a:endParaRPr b="0" lang="es-ES" sz="2000" spc="-1" strike="noStrike">
              <a:latin typeface="Arial"/>
            </a:endParaRPr>
          </a:p>
        </p:txBody>
      </p:sp>
      <p:sp>
        <p:nvSpPr>
          <p:cNvPr id="2190"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2EFDD64A-6FD3-4B6A-B0AB-7AE99ABF3C9E}"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1" name="PlaceHolder 1"/>
          <p:cNvSpPr>
            <a:spLocks noGrp="1"/>
          </p:cNvSpPr>
          <p:nvPr>
            <p:ph type="sldImg"/>
          </p:nvPr>
        </p:nvSpPr>
        <p:spPr>
          <a:xfrm>
            <a:off x="685800" y="1143000"/>
            <a:ext cx="5483880" cy="3083760"/>
          </a:xfrm>
          <a:prstGeom prst="rect">
            <a:avLst/>
          </a:prstGeom>
        </p:spPr>
      </p:sp>
      <p:sp>
        <p:nvSpPr>
          <p:cNvPr id="2192"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Interpretar la topología de un Always On Availability Group (réplicas, modos de disponibilidad, listener y quorum) y conocer las variantes Basic AG y Distributed AG.</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Un AG se construye sobre un Windows Server Failover Cluster (WSFC) (o, en Linux, Pacemaker). Los nodos votan para decidir qué miembros siguen en servicio: es el quorum. Con un número par de nodos se añade un testigo (File Share Witness, Cloud Witness en Azure o Disk Witness) para evitar el split-brain, es decir, dos nodos creyéndose primarios.</a:t>
            </a:r>
            <a:endParaRPr b="0" lang="es-ES" sz="2000" spc="-1" strike="noStrike">
              <a:latin typeface="Arial"/>
            </a:endParaRPr>
          </a:p>
          <a:p>
            <a:pPr marL="216000" indent="-214200">
              <a:lnSpc>
                <a:spcPct val="100000"/>
              </a:lnSpc>
              <a:tabLst>
                <a:tab algn="l" pos="0"/>
              </a:tabLst>
            </a:pPr>
            <a:r>
              <a:rPr b="0" lang="en-US" sz="2000" spc="-1" strike="noStrike">
                <a:latin typeface="Arial"/>
              </a:rPr>
              <a:t>- La réplica primaria acepta lecturas y escrituras y envía el log de transacciones (log blocks) a las secundarias. En modo de disponibilidad síncrono (synchronous-commit) el commit no se confirma al cliente hasta que el log está endurecido en la secundaria: RPO 0 a cambio de latencia añadida; permite failover automático. En modo asíncrono el commit no espera: RPO &gt; 0 y sólo failover manual forzado (con posible pérdida de datos).</a:t>
            </a:r>
            <a:endParaRPr b="0" lang="es-ES" sz="2000" spc="-1" strike="noStrike">
              <a:latin typeface="Arial"/>
            </a:endParaRPr>
          </a:p>
          <a:p>
            <a:pPr marL="216000" indent="-214200">
              <a:lnSpc>
                <a:spcPct val="100000"/>
              </a:lnSpc>
              <a:tabLst>
                <a:tab algn="l" pos="0"/>
              </a:tabLst>
            </a:pPr>
            <a:r>
              <a:rPr b="0" lang="en-US" sz="2000" spc="-1" strike="noStrike">
                <a:latin typeface="Arial"/>
              </a:rPr>
              <a:t>- El listener es un nombre de red virtual (VNN) y una o varias IP que siguen a la réplica primaria: las aplicaciones se conectan a él y tras un failover se reconectan a la nueva primaria (usar MultiSubnetFailover=True en la cadena de conexión). Con ApplicationIntent=ReadOnly y read-only routing se puede dirigir lectura a secundarias legibles (Enterprise).</a:t>
            </a:r>
            <a:endParaRPr b="0" lang="es-ES" sz="2000" spc="-1" strike="noStrike">
              <a:latin typeface="Arial"/>
            </a:endParaRPr>
          </a:p>
          <a:p>
            <a:pPr marL="216000" indent="-214200">
              <a:lnSpc>
                <a:spcPct val="100000"/>
              </a:lnSpc>
              <a:tabLst>
                <a:tab algn="l" pos="0"/>
              </a:tabLst>
            </a:pPr>
            <a:r>
              <a:rPr b="0" lang="en-US" sz="2000" spc="-1" strike="noStrike">
                <a:latin typeface="Arial"/>
              </a:rPr>
              <a:t>- Basic Availability Groups (Standard Edition, desde 2016 SP1): un único par de réplicas, una sola base de datos por AG, sin lectura en la secundaria ni backups en ella. Es el sustituto de Database Mirroring, obsoleto.</a:t>
            </a:r>
            <a:endParaRPr b="0" lang="es-ES" sz="2000" spc="-1" strike="noStrike">
              <a:latin typeface="Arial"/>
            </a:endParaRPr>
          </a:p>
          <a:p>
            <a:pPr marL="216000" indent="-214200">
              <a:lnSpc>
                <a:spcPct val="100000"/>
              </a:lnSpc>
              <a:tabLst>
                <a:tab algn="l" pos="0"/>
              </a:tabLst>
            </a:pPr>
            <a:r>
              <a:rPr b="0" lang="en-US" sz="2000" spc="-1" strike="noStrike">
                <a:latin typeface="Arial"/>
              </a:rPr>
              <a:t>- Distributed Availability Group (mención): un AG que contiene otros dos AG en clústeres WSFC distintos; útil para DR entre sitios, migraciones sin downtime y cambios de versión/SO. Enterprise Edition.</a:t>
            </a:r>
            <a:endParaRPr b="0" lang="es-ES" sz="2000" spc="-1" strike="noStrike">
              <a:latin typeface="Arial"/>
            </a:endParaRPr>
          </a:p>
          <a:p>
            <a:pPr marL="216000" indent="-214200">
              <a:lnSpc>
                <a:spcPct val="100000"/>
              </a:lnSpc>
              <a:tabLst>
                <a:tab algn="l" pos="0"/>
              </a:tabLst>
            </a:pPr>
            <a:r>
              <a:rPr b="0" lang="en-US" sz="2000" spc="-1" strike="noStrike">
                <a:latin typeface="Arial"/>
              </a:rPr>
              <a:t>- Monitorización: sys.dm_hadr_availability_replica_states, sys.dm_hadr_database_replica_states (log_send_queue_size, redo_queue_size, synchronization_state_desc) y el Dashboard de Always On en SSMS.</a:t>
            </a:r>
            <a:endParaRPr b="0" lang="es-ES" sz="2000" spc="-1" strike="noStrike">
              <a:latin typeface="Arial"/>
            </a:endParaRPr>
          </a:p>
          <a:p>
            <a:pPr marL="216000" indent="-214200">
              <a:lnSpc>
                <a:spcPct val="100000"/>
              </a:lnSpc>
              <a:tabLst>
                <a:tab algn="l" pos="0"/>
              </a:tabLst>
            </a:pPr>
            <a:r>
              <a:rPr b="0" lang="en-US" sz="2000" spc="-1" strike="noStrike">
                <a:latin typeface="Arial"/>
              </a:rPr>
              <a:t>- Advertencia de rendimiento: una réplica síncrona con red lenta o disco de log saturado en la secundaria penaliza a TODAS las transacciones de la primaria (esperas HADR_SYNC_COMMIT).</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ocurriría con las escrituras en la primaria si la réplica síncrona pierde conectividad? ¿Cómo lo gestiona el AG?</a:t>
            </a:r>
            <a:endParaRPr b="0" lang="es-ES" sz="2000" spc="-1" strike="noStrike">
              <a:latin typeface="Arial"/>
            </a:endParaRPr>
          </a:p>
          <a:p>
            <a:pPr marL="216000" indent="-213840">
              <a:lnSpc>
                <a:spcPct val="100000"/>
              </a:lnSpc>
              <a:tabLst>
                <a:tab algn="l" pos="0"/>
              </a:tabLst>
            </a:pPr>
            <a:r>
              <a:rPr b="0" lang="en-US" sz="2000" spc="-1" strike="noStrike">
                <a:latin typeface="Arial"/>
              </a:rPr>
              <a:t>- Tenéis dos nodos en un mismo CPD y quorum de mayoría de nodos: ¿qué pasa si cae uno? ¿Cómo ayuda un Cloud Witness?</a:t>
            </a:r>
            <a:endParaRPr b="0" lang="es-ES" sz="2000" spc="-1" strike="noStrike">
              <a:latin typeface="Arial"/>
            </a:endParaRPr>
          </a:p>
        </p:txBody>
      </p:sp>
      <p:sp>
        <p:nvSpPr>
          <p:cNvPr id="2193"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94A29D47-8AD1-410A-BB8E-15B3FED6046E}"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4" name="PlaceHolder 1"/>
          <p:cNvSpPr>
            <a:spLocks noGrp="1"/>
          </p:cNvSpPr>
          <p:nvPr>
            <p:ph type="sldImg"/>
          </p:nvPr>
        </p:nvSpPr>
        <p:spPr>
          <a:xfrm>
            <a:off x="685800" y="1143000"/>
            <a:ext cx="5483880" cy="3083760"/>
          </a:xfrm>
          <a:prstGeom prst="rect">
            <a:avLst/>
          </a:prstGeom>
        </p:spPr>
      </p:sp>
      <p:sp>
        <p:nvSpPr>
          <p:cNvPr id="2195"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Crear índices Non-Clustered y covering sobre dbo.Pedido y cuantificar su efecto comparando operador, lecturas lógicas y plan antes y después.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Duración orientativa: 35–40 minutos. Se trabaja en parejas con SSMS conectado a la instancia (Docker: localhost,1433).</a:t>
            </a:r>
            <a:endParaRPr b="0" lang="es-ES" sz="2000" spc="-1" strike="noStrike">
              <a:latin typeface="Arial"/>
            </a:endParaRPr>
          </a:p>
          <a:p>
            <a:pPr marL="216000" indent="-214200">
              <a:lnSpc>
                <a:spcPct val="100000"/>
              </a:lnSpc>
              <a:tabLst>
                <a:tab algn="l" pos="0"/>
              </a:tabLst>
            </a:pPr>
            <a:r>
              <a:rPr b="0" lang="en-US" sz="2000" spc="-1" strike="noStrike">
                <a:latin typeface="Arial"/>
              </a:rPr>
              <a:t>- Idea central del laboratorio: el mismo SELECT pasa de un Clustered Index Scan, a un Index Seek con Key Lookup, y finalmente a un Index Seek puro cuando el índice es covering. Cada paso se mide con STATISTICS IO.</a:t>
            </a:r>
            <a:endParaRPr b="0" lang="es-ES" sz="2000" spc="-1" strike="noStrike">
              <a:latin typeface="Arial"/>
            </a:endParaRPr>
          </a:p>
          <a:p>
            <a:pPr marL="216000" indent="-214200">
              <a:lnSpc>
                <a:spcPct val="100000"/>
              </a:lnSpc>
              <a:tabLst>
                <a:tab algn="l" pos="0"/>
              </a:tabLst>
            </a:pPr>
            <a:r>
              <a:rPr b="0" lang="en-US" sz="2000" spc="-1" strike="noStrike">
                <a:latin typeface="Arial"/>
              </a:rPr>
              <a:t>- Recalcar la disciplina de medir: anotar en una tabla (operador, logical reads, CPU/elapsed) para la versión sin índice, con índice de clave y con índice covering.</a:t>
            </a:r>
            <a:endParaRPr b="0" lang="es-ES" sz="2000" spc="-1" strike="noStrike">
              <a:latin typeface="Arial"/>
            </a:endParaRPr>
          </a:p>
          <a:p>
            <a:pPr marL="216000" indent="-214200">
              <a:lnSpc>
                <a:spcPct val="100000"/>
              </a:lnSpc>
              <a:tabLst>
                <a:tab algn="l" pos="0"/>
              </a:tabLst>
            </a:pPr>
            <a:r>
              <a:rPr b="0" lang="en-US" sz="2000" spc="-1" strike="noStrike">
                <a:latin typeface="Arial"/>
              </a:rPr>
              <a:t>- Aviso de rendimiento: crear índices sobre 500.000 filas es rápido en el laboratorio, pero en producción es una operación pesada (bloqueos de esquema, log, E/S); se haría fuera de horario o con ONLINE = ON (Enterprise).</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¿Cuánto bajan las lecturas lógicas entre el Scan y el Seek? ¿Y entre Seek+Lookup y covering?</a:t>
            </a:r>
            <a:endParaRPr b="0" lang="es-ES" sz="2000" spc="-1" strike="noStrike">
              <a:latin typeface="Arial"/>
            </a:endParaRPr>
          </a:p>
          <a:p>
            <a:pPr marL="216000" indent="-214200">
              <a:lnSpc>
                <a:spcPct val="100000"/>
              </a:lnSpc>
              <a:tabLst>
                <a:tab algn="l" pos="0"/>
              </a:tabLst>
            </a:pPr>
            <a:r>
              <a:rPr b="0" lang="en-US" sz="2000" spc="-1" strike="noStrike">
                <a:latin typeface="Arial"/>
              </a:rPr>
              <a:t>- ¿Qué coste adicional tiene ahora un INSERT en dbo.Pedido? ¿Cómo lo medirías?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Instrucciones de Laboratorio:</a:t>
            </a:r>
            <a:endParaRPr b="0" lang="es-ES" sz="2000" spc="-1" strike="noStrike">
              <a:latin typeface="Arial"/>
            </a:endParaRPr>
          </a:p>
          <a:p>
            <a:pPr marL="216000" indent="-214200">
              <a:lnSpc>
                <a:spcPct val="100000"/>
              </a:lnSpc>
              <a:tabLst>
                <a:tab algn="l" pos="0"/>
              </a:tabLst>
            </a:pPr>
            <a:r>
              <a:rPr b="0" lang="en-US" sz="2000" spc="-1" strike="noStrike">
                <a:latin typeface="Arial"/>
              </a:rPr>
              <a:t>- PASO 0 · Preparar datos (si no existen ya de módulos anteriores). Ejecutar en SSMS: CREATE DATABASE Ventas; (si no existe) y USE Ventas;</a:t>
            </a:r>
            <a:endParaRPr b="0" lang="es-ES" sz="2000" spc="-1" strike="noStrike">
              <a:latin typeface="Arial"/>
            </a:endParaRPr>
          </a:p>
          <a:p>
            <a:pPr marL="216000" indent="-214200">
              <a:lnSpc>
                <a:spcPct val="100000"/>
              </a:lnSpc>
              <a:tabLst>
                <a:tab algn="l" pos="0"/>
              </a:tabLst>
            </a:pPr>
            <a:r>
              <a:rPr b="0" lang="en-US" sz="2000" spc="-1" strike="noStrike">
                <a:latin typeface="Arial"/>
              </a:rPr>
              <a:t>- CREATE TABLE dbo.Cliente (ClienteId INT IDENTITY(1,1) CONSTRAINT PK_Cliente PRIMARY KEY, Nombre NVARCHAR(100) NOT NULL, Activo BIT NOT NULL DEFAULT 1);</a:t>
            </a:r>
            <a:endParaRPr b="0" lang="es-ES" sz="2000" spc="-1" strike="noStrike">
              <a:latin typeface="Arial"/>
            </a:endParaRPr>
          </a:p>
          <a:p>
            <a:pPr marL="216000" indent="-214200">
              <a:lnSpc>
                <a:spcPct val="100000"/>
              </a:lnSpc>
              <a:tabLst>
                <a:tab algn="l" pos="0"/>
              </a:tabLst>
            </a:pPr>
            <a:r>
              <a:rPr b="0" lang="en-US" sz="2000" spc="-1" strike="noStrike">
                <a:latin typeface="Arial"/>
              </a:rPr>
              <a:t>- INSERT dbo.Cliente (Nombre) SELECT TOP (10000) N'Cliente ' + CAST(ROW_NUMBER() OVER (ORDER BY (SELECT NULL)) AS NVARCHAR(10)) FROM sys.all_objects a CROSS JOIN sys.all_objects b;</a:t>
            </a:r>
            <a:endParaRPr b="0" lang="es-ES" sz="2000" spc="-1" strike="noStrike">
              <a:latin typeface="Arial"/>
            </a:endParaRPr>
          </a:p>
          <a:p>
            <a:pPr marL="216000" indent="-214200">
              <a:lnSpc>
                <a:spcPct val="100000"/>
              </a:lnSpc>
              <a:tabLst>
                <a:tab algn="l" pos="0"/>
              </a:tabLst>
            </a:pPr>
            <a:r>
              <a:rPr b="0" lang="en-US" sz="2000" spc="-1" strike="noStrike">
                <a:latin typeface="Arial"/>
              </a:rPr>
              <a:t>- CREATE TABLE dbo.Pedido (PedidoId INT IDENTITY(1,1) CONSTRAINT PK_Pedido PRIMARY KEY, ClienteId INT NOT NULL, FechaPedido DATE NOT NULL, Total DECIMAL(12,2) NOT NULL, Estado TINYINT NOT NULL DEFAULT 1, Notas CHAR(200) NOT NULL DEFAULT '');</a:t>
            </a:r>
            <a:endParaRPr b="0" lang="es-ES" sz="2000" spc="-1" strike="noStrike">
              <a:latin typeface="Arial"/>
            </a:endParaRPr>
          </a:p>
          <a:p>
            <a:pPr marL="216000" indent="-214200">
              <a:lnSpc>
                <a:spcPct val="100000"/>
              </a:lnSpc>
              <a:tabLst>
                <a:tab algn="l" pos="0"/>
              </a:tabLst>
            </a:pPr>
            <a:r>
              <a:rPr b="0" lang="en-US" sz="2000" spc="-1" strike="noStrike">
                <a:latin typeface="Arial"/>
              </a:rPr>
              <a:t>- INSERT dbo.Pedido (ClienteId, FechaPedido, Total) SELECT TOP (500000) ABS(CHECKSUM(NEWID())) % 10000 + 1, DATEADD(DAY, -(ABS(CHECKSUM(NEWID())) % 1460), CAST(GETDATE() AS DATE)), CAST(ABS(CHECKSUM(NEWID())) % 100000 / 100.0 AS DECIMAL(12,2)) FROM sys.all_objects a CROSS JOIN sys.all_objects b CROSS JOIN sys.all_objects c;</a:t>
            </a:r>
            <a:endParaRPr b="0" lang="es-ES" sz="2000" spc="-1" strike="noStrike">
              <a:latin typeface="Arial"/>
            </a:endParaRPr>
          </a:p>
          <a:p>
            <a:pPr marL="216000" indent="-214200">
              <a:lnSpc>
                <a:spcPct val="100000"/>
              </a:lnSpc>
              <a:tabLst>
                <a:tab algn="l" pos="0"/>
              </a:tabLst>
            </a:pPr>
            <a:r>
              <a:rPr b="0" lang="en-US" sz="2000" spc="-1" strike="noStrike">
                <a:latin typeface="Arial"/>
              </a:rPr>
              <a:t>- PASO 1 · Línea base. SET STATISTICS IO, TIME ON; activar Ctrl+M (Incluir plan de ejecución real) y ejecutar: SELECT PedidoId, FechaPedido, Total FROM dbo.Pedido WHERE ClienteId = 4217 AND FechaPedido &gt;= '20240101'; Anotar operador (Clustered Index Scan) y logical reads (varios miles).</a:t>
            </a:r>
            <a:endParaRPr b="0" lang="es-ES" sz="2000" spc="-1" strike="noStrike">
              <a:latin typeface="Arial"/>
            </a:endParaRPr>
          </a:p>
          <a:p>
            <a:pPr marL="216000" indent="-214200">
              <a:lnSpc>
                <a:spcPct val="100000"/>
              </a:lnSpc>
              <a:tabLst>
                <a:tab algn="l" pos="0"/>
              </a:tabLst>
            </a:pPr>
            <a:r>
              <a:rPr b="0" lang="en-US" sz="2000" spc="-1" strike="noStrike">
                <a:latin typeface="Arial"/>
              </a:rPr>
              <a:t>- PASO 2 · Índice de clave. CREATE NONCLUSTERED INDEX IX_Pedido_Cli_Fecha ON dbo.Pedido (ClienteId, FechaPedido); Repetir la consulta: aparece Index Seek + Key Lookup (Nested Loops). Anotar lecturas.</a:t>
            </a:r>
            <a:endParaRPr b="0" lang="es-ES" sz="2000" spc="-1" strike="noStrike">
              <a:latin typeface="Arial"/>
            </a:endParaRPr>
          </a:p>
          <a:p>
            <a:pPr marL="216000" indent="-214200">
              <a:lnSpc>
                <a:spcPct val="100000"/>
              </a:lnSpc>
              <a:tabLst>
                <a:tab algn="l" pos="0"/>
              </a:tabLst>
            </a:pPr>
            <a:r>
              <a:rPr b="0" lang="en-US" sz="2000" spc="-1" strike="noStrike">
                <a:latin typeface="Arial"/>
              </a:rPr>
              <a:t>- PASO 3 · Índice covering. CREATE NONCLUSTERED INDEX IX_Pedido_Cli_Fecha ON dbo.Pedido (ClienteId, FechaPedido) INCLUDE (Total) WITH (DROP_EXISTING = ON); Repetir: Index Seek sin Key Lookup, lecturas lógicas de un dígito.</a:t>
            </a:r>
            <a:endParaRPr b="0" lang="es-ES" sz="2000" spc="-1" strike="noStrike">
              <a:latin typeface="Arial"/>
            </a:endParaRPr>
          </a:p>
          <a:p>
            <a:pPr marL="216000" indent="-214200">
              <a:lnSpc>
                <a:spcPct val="100000"/>
              </a:lnSpc>
              <a:tabLst>
                <a:tab algn="l" pos="0"/>
              </a:tabLst>
            </a:pPr>
            <a:r>
              <a:rPr b="0" lang="en-US" sz="2000" spc="-1" strike="noStrike">
                <a:latin typeface="Arial"/>
              </a:rPr>
              <a:t>- PASO 4 · Uso de índices. SELECT OBJECT_NAME(s.object_id) AS Tabla, i.name, s.user_seeks, s.user_scans, s.user_lookups, s.user_updates FROM sys.dm_db_index_usage_stats s JOIN sys.indexes i ON i.object_id = s.object_id AND i.index_id = s.index_id WHERE s.database_id = DB_ID() AND s.object_id = OBJECT_ID('dbo.Pedido'); Comprobar que user_seeks aumenta con el nuevo índice.</a:t>
            </a:r>
            <a:endParaRPr b="0" lang="es-ES" sz="2000" spc="-1" strike="noStrike">
              <a:latin typeface="Arial"/>
            </a:endParaRPr>
          </a:p>
          <a:p>
            <a:pPr marL="216000" indent="-214200">
              <a:lnSpc>
                <a:spcPct val="100000"/>
              </a:lnSpc>
              <a:tabLst>
                <a:tab algn="l" pos="0"/>
              </a:tabLst>
            </a:pPr>
            <a:r>
              <a:rPr b="0" lang="en-US" sz="2000" spc="-1" strike="noStrike">
                <a:latin typeface="Arial"/>
              </a:rPr>
              <a:t>- TRAMPAS HABITUALES: (a) olvidar activar el plan real y ver sólo el estimado; (b) ejecutar con la caché fría la primera vez y comparar con otra caliente: repetir 2–3 veces y usar logical reads; (c) la tabla tiene tan pocas filas que el optimizador sigue eligiendo Scan: comprobar que hay 500.000 filas (SELECT COUNT(*)); (d) error "ClienteId" inexistente: la tabla se creó en master porque faltó USE Ventas; (e) el generador CROSS JOIN no llega a 500.000 filas en una instancia vacía: añadir otro CROSS JOIN.</a:t>
            </a:r>
            <a:endParaRPr b="0" lang="es-ES" sz="2000" spc="-1" strike="noStrike">
              <a:latin typeface="Arial"/>
            </a:endParaRPr>
          </a:p>
          <a:p>
            <a:pPr marL="216000" indent="-213840">
              <a:lnSpc>
                <a:spcPct val="100000"/>
              </a:lnSpc>
              <a:tabLst>
                <a:tab algn="l" pos="0"/>
              </a:tabLst>
            </a:pPr>
            <a:r>
              <a:rPr b="0" lang="en-US" sz="2000" spc="-1" strike="noStrike">
                <a:latin typeface="Arial"/>
              </a:rPr>
              <a:t>- GUÍA DE RESOLUCIÓN: si tras el paso 3 sigue habiendo Key Lookup, la consulta pide una columna que no está en el índice (por ejemplo Estado): añadirla en INCLUDE o quitarla del SELECT. Si el índice no se usa, revisar que el predicado sea SARGable y que los tipos coincidan (FechaPedido es DATE: usar literales en formato 'yyyymmdd').</a:t>
            </a:r>
            <a:endParaRPr b="0" lang="es-ES" sz="2000" spc="-1" strike="noStrike">
              <a:latin typeface="Arial"/>
            </a:endParaRPr>
          </a:p>
        </p:txBody>
      </p:sp>
      <p:sp>
        <p:nvSpPr>
          <p:cNvPr id="2196"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C24DA4CE-4836-40ED-B276-A5F1C9963B69}"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7" name="PlaceHolder 1"/>
          <p:cNvSpPr>
            <a:spLocks noGrp="1"/>
          </p:cNvSpPr>
          <p:nvPr>
            <p:ph type="sldImg"/>
          </p:nvPr>
        </p:nvSpPr>
        <p:spPr>
          <a:xfrm>
            <a:off x="685800" y="1143000"/>
            <a:ext cx="5483880" cy="3083760"/>
          </a:xfrm>
          <a:prstGeom prst="rect">
            <a:avLst/>
          </a:prstGeom>
        </p:spPr>
      </p:sp>
      <p:sp>
        <p:nvSpPr>
          <p:cNvPr id="2198"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Practicar la lectura de planes reales: contrastar un predicado no SARGable con uno SARGable, localizar un Key Lookup y registrar lecturas y desviaciones de cardinalidad.</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Duración orientativa: 30–35 minutos. Requiere haber completado el Lab 3.1 (tablas Ventas.dbo.Pedido con 500.000 filas).</a:t>
            </a:r>
            <a:endParaRPr b="0" lang="es-ES" sz="2000" spc="-1" strike="noStrike">
              <a:latin typeface="Arial"/>
            </a:endParaRPr>
          </a:p>
          <a:p>
            <a:pPr marL="216000" indent="-214200">
              <a:lnSpc>
                <a:spcPct val="100000"/>
              </a:lnSpc>
              <a:tabLst>
                <a:tab algn="l" pos="0"/>
              </a:tabLst>
            </a:pPr>
            <a:r>
              <a:rPr b="0" lang="en-US" sz="2000" spc="-1" strike="noStrike">
                <a:latin typeface="Arial"/>
              </a:rPr>
              <a:t>- Objetivo: tres consultas casi idénticas con planes muy distintos. A) YEAR(FechaPedido) = 2024 obliga a evaluar la función sobre cada fila: Index Scan; B) rango de fechas SARGable: Index Seek; C) consulta que pide Total sobre un índice que no lo incluye: Seek + Key Lookup.</a:t>
            </a:r>
            <a:endParaRPr b="0" lang="es-ES" sz="2000" spc="-1" strike="noStrike">
              <a:latin typeface="Arial"/>
            </a:endParaRPr>
          </a:p>
          <a:p>
            <a:pPr marL="216000" indent="-214200">
              <a:lnSpc>
                <a:spcPct val="100000"/>
              </a:lnSpc>
              <a:tabLst>
                <a:tab algn="l" pos="0"/>
              </a:tabLst>
            </a:pPr>
            <a:r>
              <a:rPr b="0" lang="en-US" sz="2000" spc="-1" strike="noStrike">
                <a:latin typeface="Arial"/>
              </a:rPr>
              <a:t>- Pedir que cada pareja rellene una tabla con operador, logical reads, Estimated vs Actual Rows y si hay warnings, y que justifique cuál es la mejor versión y por qué.</a:t>
            </a:r>
            <a:endParaRPr b="0" lang="es-ES" sz="2000" spc="-1" strike="noStrike">
              <a:latin typeface="Arial"/>
            </a:endParaRPr>
          </a:p>
          <a:p>
            <a:pPr marL="216000" indent="-214200">
              <a:lnSpc>
                <a:spcPct val="100000"/>
              </a:lnSpc>
              <a:tabLst>
                <a:tab algn="l" pos="0"/>
              </a:tabLst>
            </a:pPr>
            <a:r>
              <a:rPr b="0" lang="en-US" sz="2000" spc="-1" strike="noStrike">
                <a:latin typeface="Arial"/>
              </a:rPr>
              <a:t>- Cerrar con una puesta en común: ¿qué cambio de código (no de índice) mejoró más? Insistir en que reescribir predicados suele ser más barato que crear índices.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¿Por qué en la consulta A el optimizador no puede hacer un Seek aunque exista el índice sobre FechaPedido?</a:t>
            </a:r>
            <a:endParaRPr b="0" lang="es-ES" sz="2000" spc="-1" strike="noStrike">
              <a:latin typeface="Arial"/>
            </a:endParaRPr>
          </a:p>
          <a:p>
            <a:pPr marL="216000" indent="-214200">
              <a:lnSpc>
                <a:spcPct val="100000"/>
              </a:lnSpc>
              <a:tabLst>
                <a:tab algn="l" pos="0"/>
              </a:tabLst>
            </a:pPr>
            <a:r>
              <a:rPr b="0" lang="en-US" sz="2000" spc="-1" strike="noStrike">
                <a:latin typeface="Arial"/>
              </a:rPr>
              <a:t>- ¿Qué indica que Estimated Rows y Actual Rows difieran mucho en la consulta C y qué haríais para corregirlo?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Instrucciones de Laboratorio:</a:t>
            </a:r>
            <a:endParaRPr b="0" lang="es-ES" sz="2000" spc="-1" strike="noStrike">
              <a:latin typeface="Arial"/>
            </a:endParaRPr>
          </a:p>
          <a:p>
            <a:pPr marL="216000" indent="-214200">
              <a:lnSpc>
                <a:spcPct val="100000"/>
              </a:lnSpc>
              <a:tabLst>
                <a:tab algn="l" pos="0"/>
              </a:tabLst>
            </a:pPr>
            <a:r>
              <a:rPr b="0" lang="en-US" sz="2000" spc="-1" strike="noStrike">
                <a:latin typeface="Arial"/>
              </a:rPr>
              <a:t>- PASO 1 · SET STATISTICS IO ON; activar Ctrl+M. Crear el índice: CREATE NONCLUSTERED INDEX IX_Pedido_Fecha ON dbo.Pedido (FechaPedido);</a:t>
            </a:r>
            <a:endParaRPr b="0" lang="es-ES" sz="2000" spc="-1" strike="noStrike">
              <a:latin typeface="Arial"/>
            </a:endParaRPr>
          </a:p>
          <a:p>
            <a:pPr marL="216000" indent="-214200">
              <a:lnSpc>
                <a:spcPct val="100000"/>
              </a:lnSpc>
              <a:tabLst>
                <a:tab algn="l" pos="0"/>
              </a:tabLst>
            </a:pPr>
            <a:r>
              <a:rPr b="0" lang="en-US" sz="2000" spc="-1" strike="noStrike">
                <a:latin typeface="Arial"/>
              </a:rPr>
              <a:t>- PASO 2 · Consulta A (no SARGable): SELECT PedidoId FROM dbo.Pedido WHERE YEAR(FechaPedido) = 2024; Resultado esperado: Index Scan sobre IX_Pedido_Fecha, lecturas lógicas altas. Anotar operador, logical reads y Estimated/Actual Rows.</a:t>
            </a:r>
            <a:endParaRPr b="0" lang="es-ES" sz="2000" spc="-1" strike="noStrike">
              <a:latin typeface="Arial"/>
            </a:endParaRPr>
          </a:p>
          <a:p>
            <a:pPr marL="216000" indent="-214200">
              <a:lnSpc>
                <a:spcPct val="100000"/>
              </a:lnSpc>
              <a:tabLst>
                <a:tab algn="l" pos="0"/>
              </a:tabLst>
            </a:pPr>
            <a:r>
              <a:rPr b="0" lang="en-US" sz="2000" spc="-1" strike="noStrike">
                <a:latin typeface="Arial"/>
              </a:rPr>
              <a:t>- PASO 3 · Consulta B (SARGable): SELECT PedidoId FROM dbo.Pedido WHERE FechaPedido &gt;= '20240101' AND FechaPedido &lt; '20250101'; Resultado esperado: Index Seek con las mismas filas. Comparar lecturas con A.</a:t>
            </a:r>
            <a:endParaRPr b="0" lang="es-ES" sz="2000" spc="-1" strike="noStrike">
              <a:latin typeface="Arial"/>
            </a:endParaRPr>
          </a:p>
          <a:p>
            <a:pPr marL="216000" indent="-214200">
              <a:lnSpc>
                <a:spcPct val="100000"/>
              </a:lnSpc>
              <a:tabLst>
                <a:tab algn="l" pos="0"/>
              </a:tabLst>
            </a:pPr>
            <a:r>
              <a:rPr b="0" lang="en-US" sz="2000" spc="-1" strike="noStrike">
                <a:latin typeface="Arial"/>
              </a:rPr>
              <a:t>- PASO 4 · Consulta C: SELECT PedidoId, Total FROM dbo.Pedido WHERE FechaPedido = '20240315'; Resultado esperado: Index Seek + Key Lookup (Total no está en el índice). Abrir las propiedades del Key Lookup (F4) y ver Number of Executions.</a:t>
            </a:r>
            <a:endParaRPr b="0" lang="es-ES" sz="2000" spc="-1" strike="noStrike">
              <a:latin typeface="Arial"/>
            </a:endParaRPr>
          </a:p>
          <a:p>
            <a:pPr marL="216000" indent="-214200">
              <a:lnSpc>
                <a:spcPct val="100000"/>
              </a:lnSpc>
              <a:tabLst>
                <a:tab algn="l" pos="0"/>
              </a:tabLst>
            </a:pPr>
            <a:r>
              <a:rPr b="0" lang="en-US" sz="2000" spc="-1" strike="noStrike">
                <a:latin typeface="Arial"/>
              </a:rPr>
              <a:t>- PASO 5 · Resolver C: CREATE NONCLUSTERED INDEX IX_Pedido_Fecha ON dbo.Pedido (FechaPedido) INCLUDE (Total) WITH (DROP_EXISTING = ON); y repetir. El Key Lookup desaparece.</a:t>
            </a:r>
            <a:endParaRPr b="0" lang="es-ES" sz="2000" spc="-1" strike="noStrike">
              <a:latin typeface="Arial"/>
            </a:endParaRPr>
          </a:p>
          <a:p>
            <a:pPr marL="216000" indent="-214200">
              <a:lnSpc>
                <a:spcPct val="100000"/>
              </a:lnSpc>
              <a:tabLst>
                <a:tab algn="l" pos="0"/>
              </a:tabLst>
            </a:pPr>
            <a:r>
              <a:rPr b="0" lang="en-US" sz="2000" spc="-1" strike="noStrike">
                <a:latin typeface="Arial"/>
              </a:rPr>
              <a:t>- PASO 6 · Opcional: en el plan, clic derecho → Show Execution Plan XML y localizar CardinalityEstimationModelVersion y StatementOptmLevel; luego comparar con ALTER DATABASE SCOPED CONFIGURATION SET LEGACY_CARDINALITY_ESTIMATION = ON; (volver a OFF al terminar).</a:t>
            </a:r>
            <a:endParaRPr b="0" lang="es-ES" sz="2000" spc="-1" strike="noStrike">
              <a:latin typeface="Arial"/>
            </a:endParaRPr>
          </a:p>
          <a:p>
            <a:pPr marL="216000" indent="-214200">
              <a:lnSpc>
                <a:spcPct val="100000"/>
              </a:lnSpc>
              <a:tabLst>
                <a:tab algn="l" pos="0"/>
              </a:tabLst>
            </a:pPr>
            <a:r>
              <a:rPr b="0" lang="en-US" sz="2000" spc="-1" strike="noStrike">
                <a:latin typeface="Arial"/>
              </a:rPr>
              <a:t>- TRAMPAS HABITUALES: (a) comparar planes estimados en lugar de reales; (b) el optimizador elige Scan en la consulta B si el año consultado abarca gran parte de la tabla: probar con un mes en vez de un año; (c) mezclar tipos (comparar con un literal NVARCHAR o con una columna de otro tipo) provoca CONVERT_IMPLICIT y warnings; (d) el plan cacheado de ejecuciones previas: usar OPTION (RECOMPILE) si hay dudas con parametrización.</a:t>
            </a:r>
            <a:endParaRPr b="0" lang="es-ES" sz="2000" spc="-1" strike="noStrike">
              <a:latin typeface="Arial"/>
            </a:endParaRPr>
          </a:p>
          <a:p>
            <a:pPr marL="216000" indent="-213840">
              <a:lnSpc>
                <a:spcPct val="100000"/>
              </a:lnSpc>
              <a:tabLst>
                <a:tab algn="l" pos="0"/>
              </a:tabLst>
            </a:pPr>
            <a:r>
              <a:rPr b="0" lang="en-US" sz="2000" spc="-1" strike="noStrike">
                <a:latin typeface="Arial"/>
              </a:rPr>
              <a:t>- GUÍA DE RESOLUCIÓN: si B no hace Seek, comprobar que el índice IX_Pedido_Fecha existe (sys.indexes) y que se ha ejecutado en la base Ventas; si hay desviación de estimaciones, UPDATE STATISTICS dbo.Pedido WITH FULLSCAN y repetir.</a:t>
            </a:r>
            <a:endParaRPr b="0" lang="es-ES" sz="2000" spc="-1" strike="noStrike">
              <a:latin typeface="Arial"/>
            </a:endParaRPr>
          </a:p>
        </p:txBody>
      </p:sp>
      <p:sp>
        <p:nvSpPr>
          <p:cNvPr id="2199"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052A2E61-838C-4F55-8133-43B61D79332D}"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0" name="PlaceHolder 1"/>
          <p:cNvSpPr>
            <a:spLocks noGrp="1"/>
          </p:cNvSpPr>
          <p:nvPr>
            <p:ph type="sldImg"/>
          </p:nvPr>
        </p:nvSpPr>
        <p:spPr>
          <a:xfrm>
            <a:off x="685800" y="1143000"/>
            <a:ext cx="5483880" cy="3083760"/>
          </a:xfrm>
          <a:prstGeom prst="rect">
            <a:avLst/>
          </a:prstGeom>
        </p:spPr>
      </p:sp>
      <p:sp>
        <p:nvSpPr>
          <p:cNvPr id="2201"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Provocar un bloqueo controlado y localizarlo con DMVs (sys.dm_exec_requests, sys.dm_os_waiting_tasks, sys.dm_os_wait_stats), identificando al head blocker y resolviendo la incidencia.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Duración orientativa: 30 minutos. Se necesitan tres pestañas de consulta en SSMS (tres sesiones) contra la base Ventas.</a:t>
            </a:r>
            <a:endParaRPr b="0" lang="es-ES" sz="2000" spc="-1" strike="noStrike">
              <a:latin typeface="Arial"/>
            </a:endParaRPr>
          </a:p>
          <a:p>
            <a:pPr marL="216000" indent="-214200">
              <a:lnSpc>
                <a:spcPct val="100000"/>
              </a:lnSpc>
              <a:tabLst>
                <a:tab algn="l" pos="0"/>
              </a:tabLst>
            </a:pPr>
            <a:r>
              <a:rPr b="0" lang="en-US" sz="2000" spc="-1" strike="noStrike">
                <a:latin typeface="Arial"/>
              </a:rPr>
              <a:t>- Narrativa: "la aplicación se queda colgada". Un desarrollador dejó una transacción abierta (Sesión 1); otra consulta (Sesión 2) queda bloqueada con LCK_M_S. La Sesión 3 es la del DBA que investiga solo con DMVs.</a:t>
            </a:r>
            <a:endParaRPr b="0" lang="es-ES" sz="2000" spc="-1" strike="noStrike">
              <a:latin typeface="Arial"/>
            </a:endParaRPr>
          </a:p>
          <a:p>
            <a:pPr marL="216000" indent="-214200">
              <a:lnSpc>
                <a:spcPct val="100000"/>
              </a:lnSpc>
              <a:tabLst>
                <a:tab algn="l" pos="0"/>
              </a:tabLst>
            </a:pPr>
            <a:r>
              <a:rPr b="0" lang="en-US" sz="2000" spc="-1" strike="noStrike">
                <a:latin typeface="Arial"/>
              </a:rPr>
              <a:t>- Conceptos reforzados: blocking_session_id, wait_type LCK_M_*, head blocker, dm_os_waiting_tasks vs dm_exec_requests, y la lectura de dm_os_wait_stats antes/después.</a:t>
            </a:r>
            <a:endParaRPr b="0" lang="es-ES" sz="2000" spc="-1" strike="noStrike">
              <a:latin typeface="Arial"/>
            </a:endParaRPr>
          </a:p>
          <a:p>
            <a:pPr marL="216000" indent="-214200">
              <a:lnSpc>
                <a:spcPct val="100000"/>
              </a:lnSpc>
              <a:tabLst>
                <a:tab algn="l" pos="0"/>
              </a:tabLst>
            </a:pPr>
            <a:r>
              <a:rPr b="0" lang="en-US" sz="2000" spc="-1" strike="noStrike">
                <a:latin typeface="Arial"/>
              </a:rPr>
              <a:t>- Cuando acabe el laboratorio, es el momento de mencionar READ_COMMITTED_SNAPSHOT (RCSI) como mitigación de bloqueos lector-escritor y de mantener transacciones cortas en la aplicación.</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¿Cómo distinguiríais entre una consulta lenta por CPU y una lenta por bloqueo mirando únicamente sys.dm_exec_requests?</a:t>
            </a:r>
            <a:endParaRPr b="0" lang="es-ES" sz="2000" spc="-1" strike="noStrike">
              <a:latin typeface="Arial"/>
            </a:endParaRPr>
          </a:p>
          <a:p>
            <a:pPr marL="216000" indent="-214200">
              <a:lnSpc>
                <a:spcPct val="100000"/>
              </a:lnSpc>
              <a:tabLst>
                <a:tab algn="l" pos="0"/>
              </a:tabLst>
            </a:pPr>
            <a:r>
              <a:rPr b="0" lang="en-US" sz="2000" spc="-1" strike="noStrike">
                <a:latin typeface="Arial"/>
              </a:rPr>
              <a:t>- ¿Es razonable ejecutar KILL sobre el head blocker en producción? ¿Qué información necesitáis antes?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Instrucciones de Laboratorio:</a:t>
            </a:r>
            <a:endParaRPr b="0" lang="es-ES" sz="2000" spc="-1" strike="noStrike">
              <a:latin typeface="Arial"/>
            </a:endParaRPr>
          </a:p>
          <a:p>
            <a:pPr marL="216000" indent="-214200">
              <a:lnSpc>
                <a:spcPct val="100000"/>
              </a:lnSpc>
              <a:tabLst>
                <a:tab algn="l" pos="0"/>
              </a:tabLst>
            </a:pPr>
            <a:r>
              <a:rPr b="0" lang="en-US" sz="2000" spc="-1" strike="noStrike">
                <a:latin typeface="Arial"/>
              </a:rPr>
              <a:t>- PASO 1 · SESIÓN 1 (pestaña 1): USE Ventas; BEGIN TRAN; UPDATE dbo.Cliente SET Activo = 0 WHERE ClienteId = 1; (no ejecutar COMMIT). Anotar el SPID con SELECT @@SPID;</a:t>
            </a:r>
            <a:endParaRPr b="0" lang="es-ES" sz="2000" spc="-1" strike="noStrike">
              <a:latin typeface="Arial"/>
            </a:endParaRPr>
          </a:p>
          <a:p>
            <a:pPr marL="216000" indent="-214200">
              <a:lnSpc>
                <a:spcPct val="100000"/>
              </a:lnSpc>
              <a:tabLst>
                <a:tab algn="l" pos="0"/>
              </a:tabLst>
            </a:pPr>
            <a:r>
              <a:rPr b="0" lang="en-US" sz="2000" spc="-1" strike="noStrike">
                <a:latin typeface="Arial"/>
              </a:rPr>
              <a:t>- PASO 2 · SESIÓN 2 (pestaña 2): USE Ventas; SELECT Nombre FROM dbo.Cliente WHERE ClienteId = 1; La consulta queda "Ejecutando…" sin devolver resultados (bloqueada por LCK_M_S).</a:t>
            </a:r>
            <a:endParaRPr b="0" lang="es-ES" sz="2000" spc="-1" strike="noStrike">
              <a:latin typeface="Arial"/>
            </a:endParaRPr>
          </a:p>
          <a:p>
            <a:pPr marL="216000" indent="-214200">
              <a:lnSpc>
                <a:spcPct val="100000"/>
              </a:lnSpc>
              <a:tabLst>
                <a:tab algn="l" pos="0"/>
              </a:tabLst>
            </a:pPr>
            <a:r>
              <a:rPr b="0" lang="en-US" sz="2000" spc="-1" strike="noStrike">
                <a:latin typeface="Arial"/>
              </a:rPr>
              <a:t>- PASO 3 · SESIÓN 3 (pestaña 3, la del DBA): SELECT r.session_id, r.blocking_session_id, r.wait_type, r.wait_time, t.text FROM sys.dm_exec_requests AS r CROSS APPLY sys.dm_exec_sql_text(r.sql_handle) AS t WHERE r.blocking_session_id &lt;&gt; 0; Resultado esperado: la sesión 2 con blocking_session_id = SPID de la sesión 1 y wait_type LCK_M_S.</a:t>
            </a:r>
            <a:endParaRPr b="0" lang="es-ES" sz="2000" spc="-1" strike="noStrike">
              <a:latin typeface="Arial"/>
            </a:endParaRPr>
          </a:p>
          <a:p>
            <a:pPr marL="216000" indent="-214200">
              <a:lnSpc>
                <a:spcPct val="100000"/>
              </a:lnSpc>
              <a:tabLst>
                <a:tab algn="l" pos="0"/>
              </a:tabLst>
            </a:pPr>
            <a:r>
              <a:rPr b="0" lang="en-US" sz="2000" spc="-1" strike="noStrike">
                <a:latin typeface="Arial"/>
              </a:rPr>
              <a:t>- PASO 4 · Ver la vista instantánea de esperas: SELECT session_id, wait_type, wait_duration_ms, blocking_session_id, resource_description FROM sys.dm_os_waiting_tasks WHERE session_id &gt; 50; Localizar el head blocker (el SPID que aparece como bloqueante y no espera). Con sys.dm_exec_sessions comprobar login_name, host_name y program_name del responsable.</a:t>
            </a:r>
            <a:endParaRPr b="0" lang="es-ES" sz="2000" spc="-1" strike="noStrike">
              <a:latin typeface="Arial"/>
            </a:endParaRPr>
          </a:p>
          <a:p>
            <a:pPr marL="216000" indent="-214200">
              <a:lnSpc>
                <a:spcPct val="100000"/>
              </a:lnSpc>
              <a:tabLst>
                <a:tab algn="l" pos="0"/>
              </a:tabLst>
            </a:pPr>
            <a:r>
              <a:rPr b="0" lang="en-US" sz="2000" spc="-1" strike="noStrike">
                <a:latin typeface="Arial"/>
              </a:rPr>
              <a:t>- PASO 5 · Resolver: en la Sesión 1 ejecutar ROLLBACK; (o KILL &lt;spid&gt; desde la sesión 3 en un caso real tras confirmar con el responsable). La Sesión 2 se completa.</a:t>
            </a:r>
            <a:endParaRPr b="0" lang="es-ES" sz="2000" spc="-1" strike="noStrike">
              <a:latin typeface="Arial"/>
            </a:endParaRPr>
          </a:p>
          <a:p>
            <a:pPr marL="216000" indent="-214200">
              <a:lnSpc>
                <a:spcPct val="100000"/>
              </a:lnSpc>
              <a:tabLst>
                <a:tab algn="l" pos="0"/>
              </a:tabLst>
            </a:pPr>
            <a:r>
              <a:rPr b="0" lang="en-US" sz="2000" spc="-1" strike="noStrike">
                <a:latin typeface="Arial"/>
              </a:rPr>
              <a:t>- PASO 6 · Revisar esperas acumuladas: SELECT TOP (5) wait_type, wait_time_ms FROM sys.dm_os_wait_stats ORDER BY wait_time_ms DESC; y comentar que LCK_M_S de este experimento es insignificante frente a las esperas del sistema; por eso se necesitan dos snapshots.</a:t>
            </a:r>
            <a:endParaRPr b="0" lang="es-ES" sz="2000" spc="-1" strike="noStrike">
              <a:latin typeface="Arial"/>
            </a:endParaRPr>
          </a:p>
          <a:p>
            <a:pPr marL="216000" indent="-214200">
              <a:lnSpc>
                <a:spcPct val="100000"/>
              </a:lnSpc>
              <a:tabLst>
                <a:tab algn="l" pos="0"/>
              </a:tabLst>
            </a:pPr>
            <a:r>
              <a:rPr b="0" lang="en-US" sz="2000" spc="-1" strike="noStrike">
                <a:latin typeface="Arial"/>
              </a:rPr>
              <a:t>- TRAMPAS HABITUALES: (a) la sesión 3 usa la misma pestaña que la 1 o 2 y queda bloqueada también: abrir pestañas distintas; (b) READ_COMMITTED_SNAPSHOT ON en la base evita el bloqueo del SELECT: comprobar con SELECT is_read_committed_snapshot_on FROM sys.databases WHERE name = N'Ventas'; (c) sin permiso VIEW SERVER STATE las DMVs fallan o devuelven vacío; (d) olvidar cerrar la transacción al final y dejar la tabla bloqueada para otros grupos.</a:t>
            </a:r>
            <a:endParaRPr b="0" lang="es-ES" sz="2000" spc="-1" strike="noStrike">
              <a:latin typeface="Arial"/>
            </a:endParaRPr>
          </a:p>
          <a:p>
            <a:pPr marL="216000" indent="-213840">
              <a:lnSpc>
                <a:spcPct val="100000"/>
              </a:lnSpc>
              <a:tabLst>
                <a:tab algn="l" pos="0"/>
              </a:tabLst>
            </a:pPr>
            <a:r>
              <a:rPr b="0" lang="en-US" sz="2000" spc="-1" strike="noStrike">
                <a:latin typeface="Arial"/>
              </a:rPr>
              <a:t>- GUÍA DE RESOLUCIÓN: si no ves bloqueo, repetir con SET TRANSACTION ISOLATION LEVEL READ COMMITTED en la sesión 2 o actualizar la misma fila; para ver también las transacciones abiertas usar DBCC OPENTRAN o sys.dm_tran_active_transactions.</a:t>
            </a:r>
            <a:endParaRPr b="0" lang="es-ES" sz="2000" spc="-1" strike="noStrike">
              <a:latin typeface="Arial"/>
            </a:endParaRPr>
          </a:p>
        </p:txBody>
      </p:sp>
      <p:sp>
        <p:nvSpPr>
          <p:cNvPr id="2202"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380DA9F3-A8D7-4614-9246-316DD2B5E03E}"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3" name="PlaceHolder 1"/>
          <p:cNvSpPr>
            <a:spLocks noGrp="1"/>
          </p:cNvSpPr>
          <p:nvPr>
            <p:ph type="sldImg"/>
          </p:nvPr>
        </p:nvSpPr>
        <p:spPr>
          <a:xfrm>
            <a:off x="685800" y="1143000"/>
            <a:ext cx="5483880" cy="3083760"/>
          </a:xfrm>
          <a:prstGeom prst="rect">
            <a:avLst/>
          </a:prstGeom>
        </p:spPr>
      </p:sp>
      <p:sp>
        <p:nvSpPr>
          <p:cNvPr id="2204"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Consolidar los cuatro mensajes del módulo (diseño de índices, diagnóstico, mantenimiento y HA/DR) y repasar los errores más frecuentes antes de pasar al Módulo 4.</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Recapitular con el ciclo: medir → hipótesis → cambio → volver a medir. Cada herramienta del módulo (plan real, STATISTICS IO/TIME, DMVs, Query Store) sirve a una de esas fases.</a:t>
            </a:r>
            <a:endParaRPr b="0" lang="es-ES" sz="2000" spc="-1" strike="noStrike">
              <a:latin typeface="Arial"/>
            </a:endParaRPr>
          </a:p>
          <a:p>
            <a:pPr marL="216000" indent="-214200">
              <a:lnSpc>
                <a:spcPct val="100000"/>
              </a:lnSpc>
              <a:tabLst>
                <a:tab algn="l" pos="0"/>
              </a:tabLst>
            </a:pPr>
            <a:r>
              <a:rPr b="0" lang="en-US" sz="2000" spc="-1" strike="noStrike">
                <a:latin typeface="Arial"/>
              </a:rPr>
              <a:t>- Índices: un Clustered Index estrecho, único, estático y creciente; NCI diseñados para las consultas críticas, con la clave en orden igualdad → rango y columnas de lectura en INCLUDE; revisar user_updates frente a user_seeks para eliminar índices inútiles.</a:t>
            </a:r>
            <a:endParaRPr b="0" lang="es-ES" sz="2000" spc="-1" strike="noStrike">
              <a:latin typeface="Arial"/>
            </a:endParaRPr>
          </a:p>
          <a:p>
            <a:pPr marL="216000" indent="-214200">
              <a:lnSpc>
                <a:spcPct val="100000"/>
              </a:lnSpc>
              <a:tabLst>
                <a:tab algn="l" pos="0"/>
              </a:tabLst>
            </a:pPr>
            <a:r>
              <a:rPr b="0" lang="en-US" sz="2000" spc="-1" strike="noStrike">
                <a:latin typeface="Arial"/>
              </a:rPr>
              <a:t>- Errores comunes: crear índices a ciegas copiando Missing Index DMVs; reconstruir todos los índices cada noche con el mismo umbral; no ajustar el nivel de compatibilidad ni el CE tras migrar; predicados no SARGable (funciones sobre columnas, conversiones implícitas); confiar en el Coste % del plan como si fuera tiempo.</a:t>
            </a:r>
            <a:endParaRPr b="0" lang="es-ES" sz="2000" spc="-1" strike="noStrike">
              <a:latin typeface="Arial"/>
            </a:endParaRPr>
          </a:p>
          <a:p>
            <a:pPr marL="216000" indent="-214200">
              <a:lnSpc>
                <a:spcPct val="100000"/>
              </a:lnSpc>
              <a:tabLst>
                <a:tab algn="l" pos="0"/>
              </a:tabLst>
            </a:pPr>
            <a:r>
              <a:rPr b="0" lang="en-US" sz="2000" spc="-1" strike="noStrike">
                <a:latin typeface="Arial"/>
              </a:rPr>
              <a:t>- Mantenimiento: sys.dm_db_index_physical_stats en modo LIMITED, reorganizar entre 5 y 30 %, reconstruir por encima de 30 % en índices de más de ~1000 páginas; mantener estadísticas actualizadas (el REBUILD ya lo hace con FULLSCAN; tras REORGANIZE, actualizarlas aparte).</a:t>
            </a:r>
            <a:endParaRPr b="0" lang="es-ES" sz="2000" spc="-1" strike="noStrike">
              <a:latin typeface="Arial"/>
            </a:endParaRPr>
          </a:p>
          <a:p>
            <a:pPr marL="216000" indent="-214200">
              <a:lnSpc>
                <a:spcPct val="100000"/>
              </a:lnSpc>
              <a:tabLst>
                <a:tab algn="l" pos="0"/>
              </a:tabLst>
            </a:pPr>
            <a:r>
              <a:rPr b="0" lang="en-US" sz="2000" spc="-1" strike="noStrike">
                <a:latin typeface="Arial"/>
              </a:rPr>
              <a:t>- HA/DR: empezar siempre por RTO y RPO acordados con el negocio; Log Shipping (simple, manual), FCI (instancia, almacenamiento compartido), AG (base de datos, réplicas síncronas/asíncronas) y recordar que ninguna sustituye a los backups (Módulo 4).</a:t>
            </a:r>
            <a:endParaRPr b="0" lang="es-ES" sz="2000" spc="-1" strike="noStrike">
              <a:latin typeface="Arial"/>
            </a:endParaRPr>
          </a:p>
          <a:p>
            <a:pPr marL="216000" indent="-214200">
              <a:lnSpc>
                <a:spcPct val="100000"/>
              </a:lnSpc>
              <a:tabLst>
                <a:tab algn="l" pos="0"/>
              </a:tabLst>
            </a:pPr>
            <a:r>
              <a:rPr b="0" lang="en-US" sz="2000" spc="-1" strike="noStrike">
                <a:latin typeface="Arial"/>
              </a:rPr>
              <a:t>- Transición: en el Módulo 4 se automatiza el mantenimiento de índices y estadísticas, se diseña la estrategia de backups y restauración, y se practican incidencias reales (LDF lleno, tempdb, deadlocks).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cambio de este módulo aplicaríais primero mañana en vuestro entorno real y cómo mediríais que ha funcionado?</a:t>
            </a:r>
            <a:endParaRPr b="0" lang="es-ES" sz="2000" spc="-1" strike="noStrike">
              <a:latin typeface="Arial"/>
            </a:endParaRPr>
          </a:p>
          <a:p>
            <a:pPr marL="216000" indent="-213840">
              <a:lnSpc>
                <a:spcPct val="100000"/>
              </a:lnSpc>
              <a:tabLst>
                <a:tab algn="l" pos="0"/>
              </a:tabLst>
            </a:pPr>
            <a:r>
              <a:rPr b="0" lang="en-US" sz="2000" spc="-1" strike="noStrike">
                <a:latin typeface="Arial"/>
              </a:rPr>
              <a:t>- ¿Qué diferencia hay entre "alta disponibilidad" y "copia de seguridad" tras lo visto? Comparad con la respuesta de inicio del módulo.</a:t>
            </a:r>
            <a:endParaRPr b="0" lang="es-ES" sz="2000" spc="-1" strike="noStrike">
              <a:latin typeface="Arial"/>
            </a:endParaRPr>
          </a:p>
        </p:txBody>
      </p:sp>
      <p:sp>
        <p:nvSpPr>
          <p:cNvPr id="2205"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0424925C-C187-4862-A3D9-E3B563F2AB1D}"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6" name="PlaceHolder 1"/>
          <p:cNvSpPr>
            <a:spLocks noGrp="1"/>
          </p:cNvSpPr>
          <p:nvPr>
            <p:ph type="sldImg"/>
          </p:nvPr>
        </p:nvSpPr>
        <p:spPr>
          <a:xfrm>
            <a:off x="685800" y="1143000"/>
            <a:ext cx="5483880" cy="3083760"/>
          </a:xfrm>
          <a:prstGeom prst="rect">
            <a:avLst/>
          </a:prstGeom>
        </p:spPr>
      </p:sp>
      <p:sp>
        <p:nvSpPr>
          <p:cNvPr id="2207"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Situar al alumnado en el último bloque del curso: pasar de «saber crear y consultar» a «saber proteger, mantener y recuperar» una instancia en producción.</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Este módulo es el que separa a un desarrollador con conocimientos de SQL Server de un DBA: aquí se juega la continuidad del negocio. Todo lo anterior (arquitectura, seguridad, índices, HA) converge en una pregunta: ¿qué ocurre cuando algo falla a las 3 de la madrugada?</a:t>
            </a:r>
            <a:endParaRPr b="0" lang="es-ES" sz="2000" spc="-1" strike="noStrike">
              <a:latin typeface="Arial"/>
            </a:endParaRPr>
          </a:p>
          <a:p>
            <a:pPr marL="216000" indent="-214200">
              <a:lnSpc>
                <a:spcPct val="100000"/>
              </a:lnSpc>
              <a:tabLst>
                <a:tab algn="l" pos="0"/>
              </a:tabLst>
            </a:pPr>
            <a:r>
              <a:rPr b="0" lang="en-US" sz="2000" spc="-1" strike="noStrike">
                <a:latin typeface="Arial"/>
              </a:rPr>
              <a:t>- Recorrido: (1) modelos de recuperación y cómo condicionan el Transaction Log; (2) estrategia de backups Full + Diferencial + Log y su verificación; (3) restauración point-in-time; (4) integridad física con DBCC CHECKDB; (5) mantenimiento automatizado con SQL Server Agent; (6) incidencias típicas (LDF lleno, TempDB saturada, bloqueos y deadlocks).</a:t>
            </a:r>
            <a:endParaRPr b="0" lang="es-ES" sz="2000" spc="-1" strike="noStrike">
              <a:latin typeface="Arial"/>
            </a:endParaRPr>
          </a:p>
          <a:p>
            <a:pPr marL="216000" indent="-214200">
              <a:lnSpc>
                <a:spcPct val="100000"/>
              </a:lnSpc>
              <a:tabLst>
                <a:tab algn="l" pos="0"/>
              </a:tabLst>
            </a:pPr>
            <a:r>
              <a:rPr b="0" lang="en-US" sz="2000" spc="-1" strike="noStrike">
                <a:latin typeface="Arial"/>
              </a:rPr>
              <a:t>- Cerraremos con el Laboratorio 4 (pérdida de datos simulada y recuperación a un instante exacto) y un caso integrador que evalúa todo el curso: seguridad, índices, backups y RPO/RTO.</a:t>
            </a:r>
            <a:endParaRPr b="0" lang="es-ES" sz="2000" spc="-1" strike="noStrike">
              <a:latin typeface="Arial"/>
            </a:endParaRPr>
          </a:p>
          <a:p>
            <a:pPr marL="216000" indent="-214200">
              <a:lnSpc>
                <a:spcPct val="100000"/>
              </a:lnSpc>
              <a:tabLst>
                <a:tab algn="l" pos="0"/>
              </a:tabLst>
            </a:pPr>
            <a:r>
              <a:rPr b="0" lang="en-US" sz="2000" spc="-1" strike="noStrike">
                <a:latin typeface="Arial"/>
              </a:rPr>
              <a:t>- Recordar el hilo conductor: el Transaction Log (WAL) que vimos en el Módulo 1 es la pieza que hace posible la durabilidad (la «D» de ACID), el crash recovery y la restauración a un punto en el tiempo. Casi todo lo de este módulo es una consecuencia del WAL.</a:t>
            </a:r>
            <a:endParaRPr b="0" lang="es-ES" sz="2000" spc="-1" strike="noStrike">
              <a:latin typeface="Arial"/>
            </a:endParaRPr>
          </a:p>
          <a:p>
            <a:pPr marL="216000" indent="-214200">
              <a:lnSpc>
                <a:spcPct val="100000"/>
              </a:lnSpc>
              <a:tabLst>
                <a:tab algn="l" pos="0"/>
              </a:tabLst>
            </a:pPr>
            <a:r>
              <a:rPr b="0" lang="en-US" sz="2000" spc="-1" strike="noStrike">
                <a:latin typeface="Arial"/>
              </a:rPr>
              <a:t>- Tiempo orientativo: 5 h (teoría ~2,5 h, laboratorio 4 ~1,5 h, caso integrador ~1 h). Si el grupo va justo de tiempo, la diapositiva de mantenimiento de índices puede darse como lectura y recuperarse en el caso final.</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¿Quién ha sufrido alguna vez una pérdida de datos o ha tenido que restaurar una base de datos? ¿Qué falló: el backup, el proceso o la comunicación?</a:t>
            </a:r>
            <a:endParaRPr b="0" lang="es-ES" sz="2000" spc="-1" strike="noStrike">
              <a:latin typeface="Arial"/>
            </a:endParaRPr>
          </a:p>
          <a:p>
            <a:pPr marL="216000" indent="-213840">
              <a:lnSpc>
                <a:spcPct val="100000"/>
              </a:lnSpc>
              <a:tabLst>
                <a:tab algn="l" pos="0"/>
              </a:tabLst>
            </a:pPr>
            <a:r>
              <a:rPr b="0" lang="en-US" sz="2000" spc="-1" strike="noStrike">
                <a:latin typeface="Arial"/>
              </a:rPr>
              <a:t>- ¿Cuál es el backup más importante: el que se hace o el que se ha probado restaurar?</a:t>
            </a:r>
            <a:endParaRPr b="0" lang="es-ES" sz="2000" spc="-1" strike="noStrike">
              <a:latin typeface="Arial"/>
            </a:endParaRPr>
          </a:p>
        </p:txBody>
      </p:sp>
      <p:sp>
        <p:nvSpPr>
          <p:cNvPr id="2208"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B5DD0889-A246-43AF-9403-D98B70ED6EE7}"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9" name="PlaceHolder 1"/>
          <p:cNvSpPr>
            <a:spLocks noGrp="1"/>
          </p:cNvSpPr>
          <p:nvPr>
            <p:ph type="sldImg"/>
          </p:nvPr>
        </p:nvSpPr>
        <p:spPr>
          <a:xfrm>
            <a:off x="685800" y="1143000"/>
            <a:ext cx="5483880" cy="3083760"/>
          </a:xfrm>
          <a:prstGeom prst="rect">
            <a:avLst/>
          </a:prstGeom>
        </p:spPr>
      </p:sp>
      <p:sp>
        <p:nvSpPr>
          <p:cNvPr id="2210"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Entender que el recovery model no cambia lo que se registra para el crash recovery, sino cuándo se puede truncar el log y hasta qué punto se puede restaurar.</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Recovery model Simple: el log se sigue usando (rollback y crash recovery) pero se trunca automáticamente en cada checkpoint cuando no hay otro motivo de retención. No existe BACKUP LOG y sólo se puede restaurar al último Full o Diferencial: RPO = tiempo desde el último backup.</a:t>
            </a:r>
            <a:endParaRPr b="0" lang="es-ES" sz="2000" spc="-1" strike="noStrike">
              <a:latin typeface="Arial"/>
            </a:endParaRPr>
          </a:p>
          <a:p>
            <a:pPr marL="216000" indent="-214200">
              <a:lnSpc>
                <a:spcPct val="100000"/>
              </a:lnSpc>
              <a:tabLst>
                <a:tab algn="l" pos="0"/>
              </a:tabLst>
            </a:pPr>
            <a:r>
              <a:rPr b="0" lang="en-US" sz="2000" spc="-1" strike="noStrike">
                <a:latin typeface="Arial"/>
              </a:rPr>
              <a:t>- Full: toda operación se registra completa y el log NO se trunca hasta que un BACKUP LOG marca los VLFs como reutilizables (log_reuse_wait_desc = LOG_BACKUP). Permite STOPAT y un RPO cercano a cero con tail-log backup. Ojo: hasta el primer Full backup la base se comporta como Simple (la log chain aún no se ha iniciado).</a:t>
            </a:r>
            <a:endParaRPr b="0" lang="es-ES" sz="2000" spc="-1" strike="noStrike">
              <a:latin typeface="Arial"/>
            </a:endParaRPr>
          </a:p>
          <a:p>
            <a:pPr marL="216000" indent="-214200">
              <a:lnSpc>
                <a:spcPct val="100000"/>
              </a:lnSpc>
              <a:tabLst>
                <a:tab algn="l" pos="0"/>
              </a:tabLst>
            </a:pPr>
            <a:r>
              <a:rPr b="0" lang="en-US" sz="2000" spc="-1" strike="noStrike">
                <a:latin typeface="Arial"/>
              </a:rPr>
              <a:t>- Bulk-Logged: igual que Full salvo en operaciones masivas (BULK INSERT, bcp, INSERT…SELECT con TABLOCK, SELECT INTO, CREATE/ALTER INDEX) que usan minimal logging: sólo se registran las asignaciones de extents, no las filas. El log backup posterior copia además esos extents (bitmap ML), por lo que puede ser grande.</a:t>
            </a:r>
            <a:endParaRPr b="0" lang="es-ES" sz="2000" spc="-1" strike="noStrike">
              <a:latin typeface="Arial"/>
            </a:endParaRPr>
          </a:p>
          <a:p>
            <a:pPr marL="216000" indent="-214200">
              <a:lnSpc>
                <a:spcPct val="100000"/>
              </a:lnSpc>
              <a:tabLst>
                <a:tab algn="l" pos="0"/>
              </a:tabLst>
            </a:pPr>
            <a:r>
              <a:rPr b="0" lang="en-US" sz="2000" spc="-1" strike="noStrike">
                <a:latin typeface="Arial"/>
              </a:rPr>
              <a:t>- Limitación clave de Bulk-Logged: un log backup que contiene operaciones minimally logged no admite STOPAT dentro de él (error 4341) y, si el MDF se pierde, no se puede hacer tail-log. Por eso se activa sólo durante la ventana ETL y se vuelve a Full inmediatamente, con un log backup antes y otro después.</a:t>
            </a:r>
            <a:endParaRPr b="0" lang="es-ES" sz="2000" spc="-1" strike="noStrike">
              <a:latin typeface="Arial"/>
            </a:endParaRPr>
          </a:p>
          <a:p>
            <a:pPr marL="216000" indent="-214200">
              <a:lnSpc>
                <a:spcPct val="100000"/>
              </a:lnSpc>
              <a:tabLst>
                <a:tab algn="l" pos="0"/>
              </a:tabLst>
            </a:pPr>
            <a:r>
              <a:rPr b="0" lang="en-US" sz="2000" spc="-1" strike="noStrike">
                <a:latin typeface="Arial"/>
              </a:rPr>
              <a:t>- Cambiar de modelo: ALTER DATABASE Ventas SET RECOVERY FULL. De Simple a Full hay que tomar un Full (o Diferencial) para iniciar la cadena. De Full a Simple se rompe la log chain: tras volver a Full, nuevo Full obligatorio.</a:t>
            </a:r>
            <a:endParaRPr b="0" lang="es-ES" sz="2000" spc="-1" strike="noStrike">
              <a:latin typeface="Arial"/>
            </a:endParaRPr>
          </a:p>
          <a:p>
            <a:pPr marL="216000" indent="-214200">
              <a:lnSpc>
                <a:spcPct val="100000"/>
              </a:lnSpc>
              <a:tabLst>
                <a:tab algn="l" pos="0"/>
              </a:tabLst>
            </a:pPr>
            <a:r>
              <a:rPr b="0" lang="en-US" sz="2000" spc="-1" strike="noStrike">
                <a:latin typeface="Arial"/>
              </a:rPr>
              <a:t>- Dato práctico: la base model viene en Full, así que toda base nueva nace en Full. Si nadie programa BACKUP LOG, el LDF crece sin límite hasta llenar el disco (causa nº 1 de «LDF lleno»; lo veremos en las incidencias). Consulta: SELECT name, recovery_model_desc, log_reuse_wait_desc FROM sys.databases.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Si una base es Simple, ¿cuántos datos puedes perder como máximo si el disco falla justo antes del siguiente backup? ¿Es aceptable para un ERP?</a:t>
            </a:r>
            <a:endParaRPr b="0" lang="es-ES" sz="2000" spc="-1" strike="noStrike">
              <a:latin typeface="Arial"/>
            </a:endParaRPr>
          </a:p>
          <a:p>
            <a:pPr marL="216000" indent="-214200">
              <a:lnSpc>
                <a:spcPct val="100000"/>
              </a:lnSpc>
              <a:tabLst>
                <a:tab algn="l" pos="0"/>
              </a:tabLst>
            </a:pPr>
            <a:r>
              <a:rPr b="0" lang="en-US" sz="2000" spc="-1" strike="noStrike">
                <a:latin typeface="Arial"/>
              </a:rPr>
              <a:t>- ¿Por qué cambiar a Bulk-Logged «sólo un rato» es una decisión con riesgo para el RPO?</a:t>
            </a:r>
            <a:endParaRPr b="0" lang="es-ES" sz="2000" spc="-1" strike="noStrike">
              <a:latin typeface="Arial"/>
            </a:endParaRPr>
          </a:p>
          <a:p>
            <a:pPr marL="216000" indent="-213840">
              <a:lnSpc>
                <a:spcPct val="100000"/>
              </a:lnSpc>
              <a:tabLst>
                <a:tab algn="l" pos="0"/>
              </a:tabLst>
            </a:pPr>
            <a:r>
              <a:rPr b="0" lang="en-US" sz="2000" spc="-1" strike="noStrike">
                <a:latin typeface="Arial"/>
              </a:rPr>
              <a:t>- ¿Qué recovery model elegirías para un entorno de desarrollo y cuál para la base Ventas de producción?</a:t>
            </a:r>
            <a:endParaRPr b="0" lang="es-ES" sz="2000" spc="-1" strike="noStrike">
              <a:latin typeface="Arial"/>
            </a:endParaRPr>
          </a:p>
        </p:txBody>
      </p:sp>
      <p:sp>
        <p:nvSpPr>
          <p:cNvPr id="2211"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89FF9913-3EB4-4F52-8818-6A89A45BCCBF}"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2" name="PlaceHolder 1"/>
          <p:cNvSpPr>
            <a:spLocks noGrp="1"/>
          </p:cNvSpPr>
          <p:nvPr>
            <p:ph type="sldImg"/>
          </p:nvPr>
        </p:nvSpPr>
        <p:spPr>
          <a:xfrm>
            <a:off x="685800" y="1143000"/>
            <a:ext cx="5483880" cy="3083760"/>
          </a:xfrm>
          <a:prstGeom prst="rect">
            <a:avLst/>
          </a:prstGeom>
        </p:spPr>
      </p:sp>
      <p:sp>
        <p:nvSpPr>
          <p:cNvPr id="2213"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Diseñar una estrategia de backups que combine los tres tipos para cumplir un RPO y un RTO concretos, y entender la log chain y los LSN.</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Full: copia todas las páginas asignadas más la parte activa del log necesaria para dejar la base consistente al terminar. Es la base de cualquier restauración; en el ejemplo, cada domingo a las 22:00.</a:t>
            </a:r>
            <a:endParaRPr b="0" lang="es-ES" sz="2000" spc="-1" strike="noStrike">
              <a:latin typeface="Arial"/>
            </a:endParaRPr>
          </a:p>
          <a:p>
            <a:pPr marL="216000" indent="-214200">
              <a:lnSpc>
                <a:spcPct val="100000"/>
              </a:lnSpc>
              <a:tabLst>
                <a:tab algn="l" pos="0"/>
              </a:tabLst>
            </a:pPr>
            <a:r>
              <a:rPr b="0" lang="en-US" sz="2000" spc="-1" strike="noStrike">
                <a:latin typeface="Arial"/>
              </a:rPr>
              <a:t>- Diferencial: copia los extents modificados desde el último Full, que el motor localiza con el bitmap DCM (Differential Changed Map). Es acumulativo: para restaurar sólo se necesita el último diferencial, no todos. Crece a lo largo de la semana; si supera ~50 % del Full conviene un nuevo Full.</a:t>
            </a:r>
            <a:endParaRPr b="0" lang="es-ES" sz="2000" spc="-1" strike="noStrike">
              <a:latin typeface="Arial"/>
            </a:endParaRPr>
          </a:p>
          <a:p>
            <a:pPr marL="216000" indent="-214200">
              <a:lnSpc>
                <a:spcPct val="100000"/>
              </a:lnSpc>
              <a:tabLst>
                <a:tab algn="l" pos="0"/>
              </a:tabLst>
            </a:pPr>
            <a:r>
              <a:rPr b="0" lang="en-US" sz="2000" spc="-1" strike="noStrike">
                <a:latin typeface="Arial"/>
              </a:rPr>
              <a:t>- Log backup: copia el log desde el último BACKUP LOG y permite truncar. Cada log backup enlaza con el anterior mediante LSN (el first_lsn de uno es el last_lsn del anterior); esa secuencia ininterrumpida es la log chain. Se rompe al pasar a Simple o si se pierde/borra un .trn.</a:t>
            </a:r>
            <a:endParaRPr b="0" lang="es-ES" sz="2000" spc="-1" strike="noStrike">
              <a:latin typeface="Arial"/>
            </a:endParaRPr>
          </a:p>
          <a:p>
            <a:pPr marL="216000" indent="-214200">
              <a:lnSpc>
                <a:spcPct val="100000"/>
              </a:lnSpc>
              <a:tabLst>
                <a:tab algn="l" pos="0"/>
              </a:tabLst>
            </a:pPr>
            <a:r>
              <a:rPr b="0" lang="en-US" sz="2000" spc="-1" strike="noStrike">
                <a:latin typeface="Arial"/>
              </a:rPr>
              <a:t>- RPO y RTO: el RPO lo marca la frecuencia del log backup (cada 15 min → hasta 15 min de pérdida; con tail-log backup, casi cero). El RTO depende del tamaño del Full, del diferencial y de cuántos logs hay que reaplicar: más diferenciales = menos logs que reproducir = restauración más rápida.</a:t>
            </a:r>
            <a:endParaRPr b="0" lang="es-ES" sz="2000" spc="-1" strike="noStrike">
              <a:latin typeface="Arial"/>
            </a:endParaRPr>
          </a:p>
          <a:p>
            <a:pPr marL="216000" indent="-214200">
              <a:lnSpc>
                <a:spcPct val="100000"/>
              </a:lnSpc>
              <a:tabLst>
                <a:tab algn="l" pos="0"/>
              </a:tabLst>
            </a:pPr>
            <a:r>
              <a:rPr b="0" lang="en-US" sz="2000" spc="-1" strike="noStrike">
                <a:latin typeface="Arial"/>
              </a:rPr>
              <a:t>- Ejemplo del diagrama: fallo el miércoles a las 10:37. Restauramos el Full del domingo (NORECOVERY), el diferencial del martes (NORECOVERY), los logs del martes 22:15 al miércoles 10:30 (NORECOVERY) y el último con STOPAT 10:36 y RECOVERY. Cualquier log que falte interrumpe la secuencia.</a:t>
            </a:r>
            <a:endParaRPr b="0" lang="es-ES" sz="2000" spc="-1" strike="noStrike">
              <a:latin typeface="Arial"/>
            </a:endParaRPr>
          </a:p>
          <a:p>
            <a:pPr marL="216000" indent="-214200">
              <a:lnSpc>
                <a:spcPct val="100000"/>
              </a:lnSpc>
              <a:tabLst>
                <a:tab algn="l" pos="0"/>
              </a:tabLst>
            </a:pPr>
            <a:r>
              <a:rPr b="0" lang="en-US" sz="2000" spc="-1" strike="noStrike">
                <a:latin typeface="Arial"/>
              </a:rPr>
              <a:t>- COPY_ONLY no restablece el bitmap DCM ni afecta a la cadena: es lo que se usa para copias puntuales (por ejemplo, pasar la base a pre-producción) sin invalidar el plan. En msdb.dbo.backupset las columnas first_lsn, last_lsn, database_backup_lsn y differential_base_lsn permiten auditar la cadena.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Con un Full semanal, diferencial diario y log cada 15 minutos, ¿cuál es el peor caso de pérdida de datos? ¿Y qué ocurre si falla el disco donde están también los backups?</a:t>
            </a:r>
            <a:endParaRPr b="0" lang="es-ES" sz="2000" spc="-1" strike="noStrike">
              <a:latin typeface="Arial"/>
            </a:endParaRPr>
          </a:p>
          <a:p>
            <a:pPr marL="216000" indent="-214200">
              <a:lnSpc>
                <a:spcPct val="100000"/>
              </a:lnSpc>
              <a:tabLst>
                <a:tab algn="l" pos="0"/>
              </a:tabLst>
            </a:pPr>
            <a:r>
              <a:rPr b="0" lang="en-US" sz="2000" spc="-1" strike="noStrike">
                <a:latin typeface="Arial"/>
              </a:rPr>
              <a:t>- ¿Qué backups hay que restaurar si el fallo ocurre el jueves a las 09:00 y el diferencial del miércoles está corrupto?</a:t>
            </a:r>
            <a:endParaRPr b="0" lang="es-ES" sz="2000" spc="-1" strike="noStrike">
              <a:latin typeface="Arial"/>
            </a:endParaRPr>
          </a:p>
          <a:p>
            <a:pPr marL="216000" indent="-213840">
              <a:lnSpc>
                <a:spcPct val="100000"/>
              </a:lnSpc>
              <a:tabLst>
                <a:tab algn="l" pos="0"/>
              </a:tabLst>
            </a:pPr>
            <a:r>
              <a:rPr b="0" lang="en-US" sz="2000" spc="-1" strike="noStrike">
                <a:latin typeface="Arial"/>
              </a:rPr>
              <a:t>- ¿Cómo equilibrarías RTO y coste de almacenamiento al decidir entre más diferenciales o más logs?</a:t>
            </a:r>
            <a:endParaRPr b="0" lang="es-ES" sz="2000" spc="-1" strike="noStrike">
              <a:latin typeface="Arial"/>
            </a:endParaRPr>
          </a:p>
        </p:txBody>
      </p:sp>
      <p:sp>
        <p:nvSpPr>
          <p:cNvPr id="2214"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6A651518-82B3-4DB6-A94F-1382B780C587}"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5" name="PlaceHolder 1"/>
          <p:cNvSpPr>
            <a:spLocks noGrp="1"/>
          </p:cNvSpPr>
          <p:nvPr>
            <p:ph type="sldImg"/>
          </p:nvPr>
        </p:nvSpPr>
        <p:spPr>
          <a:xfrm>
            <a:off x="685800" y="1143000"/>
            <a:ext cx="5483880" cy="3083760"/>
          </a:xfrm>
          <a:prstGeom prst="rect">
            <a:avLst/>
          </a:prstGeom>
        </p:spPr>
      </p:sp>
      <p:sp>
        <p:nvSpPr>
          <p:cNvPr id="2216"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Dominar la sintaxis de BACKUP con las opciones que se usan en producción (COMPRESSION, CHECKSUM, COPY_ONLY, TO URL) y saber por qué se usan.</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BACKUP DATABASE … TO DISK con WITH COMPRESSION reduce el tamaño (típicamente 3–5× según los datos) y la E/S de escritura, a costa de algo de CPU. Está disponible en Standard y Enterprise desde SQL Server 2008 R2/2012. Se puede forzar por defecto con sp_configure «backup compression default».</a:t>
            </a:r>
            <a:endParaRPr b="0" lang="es-ES" sz="2000" spc="-1" strike="noStrike">
              <a:latin typeface="Arial"/>
            </a:endParaRPr>
          </a:p>
          <a:p>
            <a:pPr marL="216000" indent="-214200">
              <a:lnSpc>
                <a:spcPct val="100000"/>
              </a:lnSpc>
              <a:tabLst>
                <a:tab algn="l" pos="0"/>
              </a:tabLst>
            </a:pPr>
            <a:r>
              <a:rPr b="0" lang="en-US" sz="2000" spc="-1" strike="noStrike">
                <a:latin typeface="Arial"/>
              </a:rPr>
              <a:t>- CHECKSUM hace que el motor valide el checksum de cada página al leerla y calcule un checksum global del backup. Si encuentra una página corrupta, el backup falla (a menos que se use CONTINUE_AFTER_ERROR), lo cual es una detección temprana de corrupción. Es obligatorio en toda la estrategia.</a:t>
            </a:r>
            <a:endParaRPr b="0" lang="es-ES" sz="2000" spc="-1" strike="noStrike">
              <a:latin typeface="Arial"/>
            </a:endParaRPr>
          </a:p>
          <a:p>
            <a:pPr marL="216000" indent="-214200">
              <a:lnSpc>
                <a:spcPct val="100000"/>
              </a:lnSpc>
              <a:tabLst>
                <a:tab algn="l" pos="0"/>
              </a:tabLst>
            </a:pPr>
            <a:r>
              <a:rPr b="0" lang="en-US" sz="2000" spc="-1" strike="noStrike">
                <a:latin typeface="Arial"/>
              </a:rPr>
              <a:t>- INIT sobrescribe el fichero; sin él se anexan sets al mismo medio (NOINIT). STATS = 10 muestra el avance. Convención de nombres con fecha y hora (Ventas_FULL_20250312_2200.bak) para evitar sobrescrituras y facilitar la limpieza.</a:t>
            </a:r>
            <a:endParaRPr b="0" lang="es-ES" sz="2000" spc="-1" strike="noStrike">
              <a:latin typeface="Arial"/>
            </a:endParaRPr>
          </a:p>
          <a:p>
            <a:pPr marL="216000" indent="-214200">
              <a:lnSpc>
                <a:spcPct val="100000"/>
              </a:lnSpc>
              <a:tabLst>
                <a:tab algn="l" pos="0"/>
              </a:tabLst>
            </a:pPr>
            <a:r>
              <a:rPr b="0" lang="en-US" sz="2000" spc="-1" strike="noStrike">
                <a:latin typeface="Arial"/>
              </a:rPr>
              <a:t>- DIFFERENTIAL: sólo cambios desde el último Full «base». Un BACKUP LOG sólo es posible en Full/Bulk-Logged y tras un primer Full; si la base está en Simple devuelve el error 4208.</a:t>
            </a:r>
            <a:endParaRPr b="0" lang="es-ES" sz="2000" spc="-1" strike="noStrike">
              <a:latin typeface="Arial"/>
            </a:endParaRPr>
          </a:p>
          <a:p>
            <a:pPr marL="216000" indent="-214200">
              <a:lnSpc>
                <a:spcPct val="100000"/>
              </a:lnSpc>
              <a:tabLst>
                <a:tab algn="l" pos="0"/>
              </a:tabLst>
            </a:pPr>
            <a:r>
              <a:rPr b="0" lang="en-US" sz="2000" spc="-1" strike="noStrike">
                <a:latin typeface="Arial"/>
              </a:rPr>
              <a:t>- COPY_ONLY: copia independiente que no actualiza differential_base_lsn ni trunca el log (en BACKUP LOG). Úsalo para extraer copias para desarrollo o auditoría.</a:t>
            </a:r>
            <a:endParaRPr b="0" lang="es-ES" sz="2000" spc="-1" strike="noStrike">
              <a:latin typeface="Arial"/>
            </a:endParaRPr>
          </a:p>
          <a:p>
            <a:pPr marL="216000" indent="-214200">
              <a:lnSpc>
                <a:spcPct val="100000"/>
              </a:lnSpc>
              <a:tabLst>
                <a:tab algn="l" pos="0"/>
              </a:tabLst>
            </a:pPr>
            <a:r>
              <a:rPr b="0" lang="en-US" sz="2000" spc="-1" strike="noStrike">
                <a:latin typeface="Arial"/>
              </a:rPr>
              <a:t>- BACKUP … TO URL (Azure Blob Storage) permite enviar copias fuera del datacenter con una credencial SAS (CREATE CREDENTIAL sobre la URL del contenedor). Desde 2022 también se admite S3. Regla 3-2-1: 3 copias, 2 soportes distintos, 1 fuera de sitio. Para backups grandes en Azure, usar striping (varios TO URL) por el límite de bloque.</a:t>
            </a:r>
            <a:endParaRPr b="0" lang="es-ES" sz="2000" spc="-1" strike="noStrike">
              <a:latin typeface="Arial"/>
            </a:endParaRPr>
          </a:p>
          <a:p>
            <a:pPr marL="216000" indent="-214200">
              <a:lnSpc>
                <a:spcPct val="100000"/>
              </a:lnSpc>
              <a:tabLst>
                <a:tab algn="l" pos="0"/>
              </a:tabLst>
            </a:pPr>
            <a:r>
              <a:rPr b="0" lang="en-US" sz="2000" spc="-1" strike="noStrike">
                <a:latin typeface="Arial"/>
              </a:rPr>
              <a:t>- En Docker/Linux las rutas son /var/opt/mssql/backup/…; el proceso mssql necesita permisos de escritura en esa carpeta (usuario mssql). Un backup en el mismo disco que los datos no es un backup.</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ventaja tiene CHECKSUM frente a lanzar un backup sin verificación de páginas?</a:t>
            </a:r>
            <a:endParaRPr b="0" lang="es-ES" sz="2000" spc="-1" strike="noStrike">
              <a:latin typeface="Arial"/>
            </a:endParaRPr>
          </a:p>
          <a:p>
            <a:pPr marL="216000" indent="-214200">
              <a:lnSpc>
                <a:spcPct val="100000"/>
              </a:lnSpc>
              <a:tabLst>
                <a:tab algn="l" pos="0"/>
              </a:tabLst>
            </a:pPr>
            <a:r>
              <a:rPr b="0" lang="en-US" sz="2000" spc="-1" strike="noStrike">
                <a:latin typeface="Arial"/>
              </a:rPr>
              <a:t>- ¿Cuándo usarías COPY_ONLY y qué se rompería si hicieras ese backup sin la opción?</a:t>
            </a:r>
            <a:endParaRPr b="0" lang="es-ES" sz="2000" spc="-1" strike="noStrike">
              <a:latin typeface="Arial"/>
            </a:endParaRPr>
          </a:p>
          <a:p>
            <a:pPr marL="216000" indent="-213840">
              <a:lnSpc>
                <a:spcPct val="100000"/>
              </a:lnSpc>
              <a:tabLst>
                <a:tab algn="l" pos="0"/>
              </a:tabLst>
            </a:pPr>
            <a:r>
              <a:rPr b="0" lang="en-US" sz="2000" spc="-1" strike="noStrike">
                <a:latin typeface="Arial"/>
              </a:rPr>
              <a:t>- ¿Dónde guardarías los ficheros .bak para cumplir la regla 3-2-1?</a:t>
            </a:r>
            <a:endParaRPr b="0" lang="es-ES" sz="2000" spc="-1" strike="noStrike">
              <a:latin typeface="Arial"/>
            </a:endParaRPr>
          </a:p>
        </p:txBody>
      </p:sp>
      <p:sp>
        <p:nvSpPr>
          <p:cNvPr id="2217"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30AEFCBA-0F44-4592-96F6-BB526C4FDCF3}"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8" name="PlaceHolder 1"/>
          <p:cNvSpPr>
            <a:spLocks noGrp="1"/>
          </p:cNvSpPr>
          <p:nvPr>
            <p:ph type="sldImg"/>
          </p:nvPr>
        </p:nvSpPr>
        <p:spPr>
          <a:xfrm>
            <a:off x="685800" y="1143000"/>
            <a:ext cx="5483880" cy="3083760"/>
          </a:xfrm>
          <a:prstGeom prst="rect">
            <a:avLst/>
          </a:prstGeom>
        </p:spPr>
      </p:sp>
      <p:sp>
        <p:nvSpPr>
          <p:cNvPr id="2219"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Saber salvar la cola del log antes de restaurar, verificar que un backup es legible y consultar el historial de backups en msdb.</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Tail-log backup: es el log backup que se hace ANTES de restaurar para capturar las transacciones que aún no estaban en ningún backup. WITH NORECOVERY deja la base en estado RESTORING e impide nuevas transacciones; WITH NO_TRUNCATE permite hacerlo aunque la base esté dañada (siempre que el LDF sea accesible). Es lo que da un RPO cercano a cero.</a:t>
            </a:r>
            <a:endParaRPr b="0" lang="es-ES" sz="2000" spc="-1" strike="noStrike">
              <a:latin typeface="Arial"/>
            </a:endParaRPr>
          </a:p>
          <a:p>
            <a:pPr marL="216000" indent="-214200">
              <a:lnSpc>
                <a:spcPct val="100000"/>
              </a:lnSpc>
              <a:tabLst>
                <a:tab algn="l" pos="0"/>
              </a:tabLst>
            </a:pPr>
            <a:r>
              <a:rPr b="0" lang="en-US" sz="2000" spc="-1" strike="noStrike">
                <a:latin typeface="Arial"/>
              </a:rPr>
              <a:t>- Si el LDF también se ha perdido, el tail-log es imposible y el RPO queda en el último log backup. Por eso conviene separar MDF y LDF en discos distintos, y por eso los log backups frecuentes importan más que los Full.</a:t>
            </a:r>
            <a:endParaRPr b="0" lang="es-ES" sz="2000" spc="-1" strike="noStrike">
              <a:latin typeface="Arial"/>
            </a:endParaRPr>
          </a:p>
          <a:p>
            <a:pPr marL="216000" indent="-214200">
              <a:lnSpc>
                <a:spcPct val="100000"/>
              </a:lnSpc>
              <a:tabLst>
                <a:tab algn="l" pos="0"/>
              </a:tabLst>
            </a:pPr>
            <a:r>
              <a:rPr b="0" lang="en-US" sz="2000" spc="-1" strike="noStrike">
                <a:latin typeface="Arial"/>
              </a:rPr>
              <a:t>- RESTORE VERIFYONLY comprueba que el set de backup está completo y es legible (cabecera, checksums si se tomó WITH CHECKSUM). NO restaura datos ni garantiza que la base sea consistente: es una verificación mínima. La prueba real es restaurar en otro servidor y lanzar DBCC CHECKDB.</a:t>
            </a:r>
            <a:endParaRPr b="0" lang="es-ES" sz="2000" spc="-1" strike="noStrike">
              <a:latin typeface="Arial"/>
            </a:endParaRPr>
          </a:p>
          <a:p>
            <a:pPr marL="216000" indent="-214200">
              <a:lnSpc>
                <a:spcPct val="100000"/>
              </a:lnSpc>
              <a:tabLst>
                <a:tab algn="l" pos="0"/>
              </a:tabLst>
            </a:pPr>
            <a:r>
              <a:rPr b="0" lang="en-US" sz="2000" spc="-1" strike="noStrike">
                <a:latin typeface="Arial"/>
              </a:rPr>
              <a:t>- msdb.dbo.backupset guarda un registro por backup (type: D = Full, I = Diferencial, L = Log; is_copy_only, first_lsn, last_lsn, backup_size, compressed_backup_size) y backupmediafamily la ruta física. msdb.dbo.restorehistory documenta las restauraciones. Son la fuente de verdad para reconstruir la cadena cuando alguien pregunta «¿cuál fue el último backup?».</a:t>
            </a:r>
            <a:endParaRPr b="0" lang="es-ES" sz="2000" spc="-1" strike="noStrike">
              <a:latin typeface="Arial"/>
            </a:endParaRPr>
          </a:p>
          <a:p>
            <a:pPr marL="216000" indent="-214200">
              <a:lnSpc>
                <a:spcPct val="100000"/>
              </a:lnSpc>
              <a:tabLst>
                <a:tab algn="l" pos="0"/>
              </a:tabLst>
            </a:pPr>
            <a:r>
              <a:rPr b="0" lang="en-US" sz="2000" spc="-1" strike="noStrike">
                <a:latin typeface="Arial"/>
              </a:rPr>
              <a:t>- Limpieza: msdb crece con el historial; programar sp_delete_backuphistory @oldest_date (lo veremos en mantenimiento) y vigilar el tamaño de msdb. Alerta: un backup «reciente» en msdb no implica que el fichero exista aún en disco.</a:t>
            </a:r>
            <a:endParaRPr b="0" lang="es-ES" sz="2000" spc="-1" strike="noStrike">
              <a:latin typeface="Arial"/>
            </a:endParaRPr>
          </a:p>
          <a:p>
            <a:pPr marL="216000" indent="-214200">
              <a:lnSpc>
                <a:spcPct val="100000"/>
              </a:lnSpc>
              <a:tabLst>
                <a:tab algn="l" pos="0"/>
              </a:tabLst>
            </a:pPr>
            <a:r>
              <a:rPr b="0" lang="en-US" sz="2000" spc="-1" strike="noStrike">
                <a:latin typeface="Arial"/>
              </a:rPr>
              <a:t>- RESTORE HEADERONLY, RESTORE FILELISTONLY y RESTORE LABELONLY inspeccionan el contenido de un .bak sin restaurarlo; FILELISTONLY es imprescindible para saber qué nombres lógicos usar en MOVE.</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diferencia hay entre «el backup se ha verificado» y «la base se puede restaurar»?</a:t>
            </a:r>
            <a:endParaRPr b="0" lang="es-ES" sz="2000" spc="-1" strike="noStrike">
              <a:latin typeface="Arial"/>
            </a:endParaRPr>
          </a:p>
          <a:p>
            <a:pPr marL="216000" indent="-214200">
              <a:lnSpc>
                <a:spcPct val="100000"/>
              </a:lnSpc>
              <a:tabLst>
                <a:tab algn="l" pos="0"/>
              </a:tabLst>
            </a:pPr>
            <a:r>
              <a:rPr b="0" lang="en-US" sz="2000" spc="-1" strike="noStrike">
                <a:latin typeface="Arial"/>
              </a:rPr>
              <a:t>- ¿Qué haces si el servidor ha caído, el MDF está corrupto pero el LDF está intacto?</a:t>
            </a:r>
            <a:endParaRPr b="0" lang="es-ES" sz="2000" spc="-1" strike="noStrike">
              <a:latin typeface="Arial"/>
            </a:endParaRPr>
          </a:p>
          <a:p>
            <a:pPr marL="216000" indent="-213840">
              <a:lnSpc>
                <a:spcPct val="100000"/>
              </a:lnSpc>
              <a:tabLst>
                <a:tab algn="l" pos="0"/>
              </a:tabLst>
            </a:pPr>
            <a:r>
              <a:rPr b="0" lang="en-US" sz="2000" spc="-1" strike="noStrike">
                <a:latin typeface="Arial"/>
              </a:rPr>
              <a:t>- ¿Cómo detectarías con una consulta que lleva dos semanas sin hacerse un log backup en alguna base?</a:t>
            </a:r>
            <a:endParaRPr b="0" lang="es-ES" sz="2000" spc="-1" strike="noStrike">
              <a:latin typeface="Arial"/>
            </a:endParaRPr>
          </a:p>
        </p:txBody>
      </p:sp>
      <p:sp>
        <p:nvSpPr>
          <p:cNvPr id="2220"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03245188-C02D-469B-A0A4-CE53AFFE7BA5}"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1" name="PlaceHolder 1"/>
          <p:cNvSpPr>
            <a:spLocks noGrp="1"/>
          </p:cNvSpPr>
          <p:nvPr>
            <p:ph type="sldImg"/>
          </p:nvPr>
        </p:nvSpPr>
        <p:spPr>
          <a:xfrm>
            <a:off x="685800" y="1143000"/>
            <a:ext cx="5483880" cy="3083760"/>
          </a:xfrm>
          <a:prstGeom prst="rect">
            <a:avLst/>
          </a:prstGeom>
        </p:spPr>
      </p:sp>
      <p:sp>
        <p:nvSpPr>
          <p:cNvPr id="2222"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Ser capaz de escribir y razonar la secuencia completa de RESTORE (Full → Diff → Logs) para volver a un instante concreto, entendiendo NORECOVERY, RECOVERY, STANDBY y MOVE.</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Orden estricto: 1) RESTORE DATABASE del Full con NORECOVERY; 2) el último Diferencial con NORECOVERY (opcional pero acelera); 3) todos los RESTORE LOG en orden de LSN con NORECOVERY; 4) el último log con STOPAT y RECOVERY (o sólo RECOVERY si se quiere hasta el final).</a:t>
            </a:r>
            <a:endParaRPr b="0" lang="es-ES" sz="2000" spc="-1" strike="noStrike">
              <a:latin typeface="Arial"/>
            </a:endParaRPr>
          </a:p>
          <a:p>
            <a:pPr marL="216000" indent="-214200">
              <a:lnSpc>
                <a:spcPct val="100000"/>
              </a:lnSpc>
              <a:tabLst>
                <a:tab algn="l" pos="0"/>
              </a:tabLst>
            </a:pPr>
            <a:r>
              <a:rPr b="0" lang="en-US" sz="2000" spc="-1" strike="noStrike">
                <a:latin typeface="Arial"/>
              </a:rPr>
              <a:t>- NORECOVERY deja la base en RESTORING y NO deshace transacciones sin confirmar, para poder seguir aplicando backups. RECOVERY (opción por defecto) ejecuta la fase de undo, abre la base y ya no admite más backups de la cadena. STANDBY = fichero undo + base de sólo lectura entre restauraciones (útil en Log Shipping para consultar la réplica).</a:t>
            </a:r>
            <a:endParaRPr b="0" lang="es-ES" sz="2000" spc="-1" strike="noStrike">
              <a:latin typeface="Arial"/>
            </a:endParaRPr>
          </a:p>
          <a:p>
            <a:pPr marL="216000" indent="-214200">
              <a:lnSpc>
                <a:spcPct val="100000"/>
              </a:lnSpc>
              <a:tabLst>
                <a:tab algn="l" pos="0"/>
              </a:tabLst>
            </a:pPr>
            <a:r>
              <a:rPr b="0" lang="en-US" sz="2000" spc="-1" strike="noStrike">
                <a:latin typeface="Arial"/>
              </a:rPr>
              <a:t>- STOPAT = fecha/hora: el motor reaplica el log hasta ese instante y descarta las transacciones posteriores (la hora es la del servidor, no UTC). Alternativas: STOPATMARK / STOPBEFOREMARK con transacciones marcadas (BEGIN TRAN … WITH MARK) y STOPAT con LSN en 2022.</a:t>
            </a:r>
            <a:endParaRPr b="0" lang="es-ES" sz="2000" spc="-1" strike="noStrike">
              <a:latin typeface="Arial"/>
            </a:endParaRPr>
          </a:p>
          <a:p>
            <a:pPr marL="216000" indent="-214200">
              <a:lnSpc>
                <a:spcPct val="100000"/>
              </a:lnSpc>
              <a:tabLst>
                <a:tab algn="l" pos="0"/>
              </a:tabLst>
            </a:pPr>
            <a:r>
              <a:rPr b="0" lang="en-US" sz="2000" spc="-1" strike="noStrike">
                <a:latin typeface="Arial"/>
              </a:rPr>
              <a:t>- MOVE reubica los ficheros lógicos al restaurar (otro volumen o servidor). Los nombres lógicos se ven con RESTORE FILELISTONLY. En Linux/Docker las rutas son /var/opt/mssql/data/…; si no se usa MOVE, el motor intenta usar las rutas originales y falla si no existen.</a:t>
            </a:r>
            <a:endParaRPr b="0" lang="es-ES" sz="2000" spc="-1" strike="noStrike">
              <a:latin typeface="Arial"/>
            </a:endParaRPr>
          </a:p>
          <a:p>
            <a:pPr marL="216000" indent="-214200">
              <a:lnSpc>
                <a:spcPct val="100000"/>
              </a:lnSpc>
              <a:tabLst>
                <a:tab algn="l" pos="0"/>
              </a:tabLst>
            </a:pPr>
            <a:r>
              <a:rPr b="0" lang="en-US" sz="2000" spc="-1" strike="noStrike">
                <a:latin typeface="Arial"/>
              </a:rPr>
              <a:t>- REPLACE sobrescribe una base existente: úsalo sólo si estás seguro. Antes, hacer siempre un tail-log. Para restauraciones parciales existen RESTORE … PAGE (restauración de página, online en Enterprise) y RESTORE con PARTIAL / filegroups.</a:t>
            </a:r>
            <a:endParaRPr b="0" lang="es-ES" sz="2000" spc="-1" strike="noStrike">
              <a:latin typeface="Arial"/>
            </a:endParaRPr>
          </a:p>
          <a:p>
            <a:pPr marL="216000" indent="-214200">
              <a:lnSpc>
                <a:spcPct val="100000"/>
              </a:lnSpc>
              <a:tabLst>
                <a:tab algn="l" pos="0"/>
              </a:tabLst>
            </a:pPr>
            <a:r>
              <a:rPr b="0" lang="en-US" sz="2000" spc="-1" strike="noStrike">
                <a:latin typeface="Arial"/>
              </a:rPr>
              <a:t>- Progreso: STATS = 5 o sys.dm_exec_requests.percent_complete. El tiempo de restauración incluye la fase de recovery (redo/undo): un log de transacción largo con una transacción grande abierta alarga el undo. El Instant File Initialization acelera la creación de los MDF/NDF, no del LDF.</a:t>
            </a:r>
            <a:endParaRPr b="0" lang="es-ES" sz="2000" spc="-1" strike="noStrike">
              <a:latin typeface="Arial"/>
            </a:endParaRPr>
          </a:p>
          <a:p>
            <a:pPr marL="216000" indent="-214200">
              <a:lnSpc>
                <a:spcPct val="100000"/>
              </a:lnSpc>
              <a:tabLst>
                <a:tab algn="l" pos="0"/>
              </a:tabLst>
            </a:pPr>
            <a:r>
              <a:rPr b="0" lang="en-US" sz="2000" spc="-1" strike="noStrike">
                <a:latin typeface="Arial"/>
              </a:rPr>
              <a:t>- Tras RECOVERY: validar el negocio (COUNT(*) de tablas clave), ejecutar DBCC CHECKDB y recrear logins huérfanos con ALTER USER … WITH LOGIN o sp_change_users_login (mismatch de SID al restaurar en otro servidor).</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pasa si restauras el Full con RECOVERY y luego intentas aplicar un diferencial?</a:t>
            </a:r>
            <a:endParaRPr b="0" lang="es-ES" sz="2000" spc="-1" strike="noStrike">
              <a:latin typeface="Arial"/>
            </a:endParaRPr>
          </a:p>
          <a:p>
            <a:pPr marL="216000" indent="-214200">
              <a:lnSpc>
                <a:spcPct val="100000"/>
              </a:lnSpc>
              <a:tabLst>
                <a:tab algn="l" pos="0"/>
              </a:tabLst>
            </a:pPr>
            <a:r>
              <a:rPr b="0" lang="en-US" sz="2000" spc="-1" strike="noStrike">
                <a:latin typeface="Arial"/>
              </a:rPr>
              <a:t>- Un compañero ejecutó DELETE sin WHERE a las 10:36. ¿Qué STOPAT usarías y qué harías con los datos introducidos entre las 10:36 y las 10:50?</a:t>
            </a:r>
            <a:endParaRPr b="0" lang="es-ES" sz="2000" spc="-1" strike="noStrike">
              <a:latin typeface="Arial"/>
            </a:endParaRPr>
          </a:p>
          <a:p>
            <a:pPr marL="216000" indent="-213840">
              <a:lnSpc>
                <a:spcPct val="100000"/>
              </a:lnSpc>
              <a:tabLst>
                <a:tab algn="l" pos="0"/>
              </a:tabLst>
            </a:pPr>
            <a:r>
              <a:rPr b="0" lang="en-US" sz="2000" spc="-1" strike="noStrike">
                <a:latin typeface="Arial"/>
              </a:rPr>
              <a:t>- ¿Por qué conviene restaurar con otro nombre en un servidor distinto antes de tocar producción?</a:t>
            </a:r>
            <a:endParaRPr b="0" lang="es-ES" sz="2000" spc="-1" strike="noStrike">
              <a:latin typeface="Arial"/>
            </a:endParaRPr>
          </a:p>
        </p:txBody>
      </p:sp>
      <p:sp>
        <p:nvSpPr>
          <p:cNvPr id="2223"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80007A45-1480-478C-BC71-8EBFB9BBB69F}"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4" name="PlaceHolder 1"/>
          <p:cNvSpPr>
            <a:spLocks noGrp="1"/>
          </p:cNvSpPr>
          <p:nvPr>
            <p:ph type="sldImg"/>
          </p:nvPr>
        </p:nvSpPr>
        <p:spPr>
          <a:xfrm>
            <a:off x="685800" y="1143000"/>
            <a:ext cx="5483880" cy="3083760"/>
          </a:xfrm>
          <a:prstGeom prst="rect">
            <a:avLst/>
          </a:prstGeom>
        </p:spPr>
      </p:sp>
      <p:sp>
        <p:nvSpPr>
          <p:cNvPr id="2225"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Comprender cómo se detecta la corrupción (PAGE_VERIFY CHECKSUM, DBCC CHECKDB, errores 823/824/825) y por qué la reparación con pérdida de datos es el último recurso.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PAGE_VERIFY CHECKSUM (por defecto desde 2005 en bases nuevas) escribe un checksum en la cabecera de cada página al grabarla a disco y lo valida al leerla. Detecta corrupción introducida por el subsistema de E/S. Comprobar con SELECT name, page_verify_option_desc FROM sys.databases; las bases migradas de 2000 pueden estar en TORN_PAGE_DETECTION o NONE.</a:t>
            </a:r>
            <a:endParaRPr b="0" lang="es-ES" sz="2000" spc="-1" strike="noStrike">
              <a:latin typeface="Arial"/>
            </a:endParaRPr>
          </a:p>
          <a:p>
            <a:pPr marL="216000" indent="-214200">
              <a:lnSpc>
                <a:spcPct val="100000"/>
              </a:lnSpc>
              <a:tabLst>
                <a:tab algn="l" pos="0"/>
              </a:tabLst>
            </a:pPr>
            <a:r>
              <a:rPr b="0" lang="en-US" sz="2000" spc="-1" strike="noStrike">
                <a:latin typeface="Arial"/>
              </a:rPr>
              <a:t>- Los errores típicos: 823 = fallo de E/S del sistema operativo al leer/escribir (CRC, disco o controladora); 824 = error lógico de consistencia (checksum o torn page incorrectos); 825 = la lectura falló pero tuvo éxito tras reintentos (read-retry): es una alerta temprana de un disco que se está degradando. Todos son gravedad 24: crear alertas del Agent para 823, 824, 825 y gravedades 19–25.</a:t>
            </a:r>
            <a:endParaRPr b="0" lang="es-ES" sz="2000" spc="-1" strike="noStrike">
              <a:latin typeface="Arial"/>
            </a:endParaRPr>
          </a:p>
          <a:p>
            <a:pPr marL="216000" indent="-214200">
              <a:lnSpc>
                <a:spcPct val="100000"/>
              </a:lnSpc>
              <a:tabLst>
                <a:tab algn="l" pos="0"/>
              </a:tabLst>
            </a:pPr>
            <a:r>
              <a:rPr b="0" lang="en-US" sz="2000" spc="-1" strike="noStrike">
                <a:latin typeface="Arial"/>
              </a:rPr>
              <a:t>- DBCC CHECKDB combina CHECKALLOC (asignación), CHECKTABLE (estructuras de tablas e índices), CHECKCATALOG y validación de Service Broker/vistas indexadas. Trabaja sobre un snapshot interno (sparse, sin bloqueos) y usa mucho TempDB y E/S. Con WITH PHYSICAL_ONLY es mucho más rápido (sólo estructura física y checksums); ejecutar la verificación completa al menos semanalmente.</a:t>
            </a:r>
            <a:endParaRPr b="0" lang="es-ES" sz="2000" spc="-1" strike="noStrike">
              <a:latin typeface="Arial"/>
            </a:endParaRPr>
          </a:p>
          <a:p>
            <a:pPr marL="216000" indent="-214200">
              <a:lnSpc>
                <a:spcPct val="100000"/>
              </a:lnSpc>
              <a:tabLst>
                <a:tab algn="l" pos="0"/>
              </a:tabLst>
            </a:pPr>
            <a:r>
              <a:rPr b="0" lang="en-US" sz="2000" spc="-1" strike="noStrike">
                <a:latin typeface="Arial"/>
              </a:rPr>
              <a:t>- msdb.dbo.suspect_pages registra las páginas con error 823/824 (event_type 1–3: error de E/S, mal checksum, torn page; 4 = restaurada; 5 = reparada; 7 = desasignada). En un Availability Group, la réplica puede reparar páginas automáticamente (sys.dm_hadr_auto_page_repair).</a:t>
            </a:r>
            <a:endParaRPr b="0" lang="es-ES" sz="2000" spc="-1" strike="noStrike">
              <a:latin typeface="Arial"/>
            </a:endParaRPr>
          </a:p>
          <a:p>
            <a:pPr marL="216000" indent="-214200">
              <a:lnSpc>
                <a:spcPct val="100000"/>
              </a:lnSpc>
              <a:tabLst>
                <a:tab algn="l" pos="0"/>
              </a:tabLst>
            </a:pPr>
            <a:r>
              <a:rPr b="0" lang="en-US" sz="2000" spc="-1" strike="noStrike">
                <a:latin typeface="Arial"/>
              </a:rPr>
              <a:t>- Reparación: REPAIR_REBUILD arregla problemas menores (por ejemplo, índices non-clustered) sin pérdida; REPAIR_ALLOW_DATA_LOSS borra páginas y filas para restaurar consistencia estructural, sin respetar integridad referencial ni reglas de negocio. Exige SINGLE_USER y siempre después de hacer un backup. Es el último recurso.</a:t>
            </a:r>
            <a:endParaRPr b="0" lang="es-ES" sz="2000" spc="-1" strike="noStrike">
              <a:latin typeface="Arial"/>
            </a:endParaRPr>
          </a:p>
          <a:p>
            <a:pPr marL="216000" indent="-214200">
              <a:lnSpc>
                <a:spcPct val="100000"/>
              </a:lnSpc>
              <a:tabLst>
                <a:tab algn="l" pos="0"/>
              </a:tabLst>
            </a:pPr>
            <a:r>
              <a:rPr b="0" lang="en-US" sz="2000" spc="-1" strike="noStrike">
                <a:latin typeface="Arial"/>
              </a:rPr>
              <a:t>- Primera opción ante corrupción: restaurar desde backup (o RESTORE … PAGE si afecta a pocas páginas y existe log chain) y reaplicar logs; así no se pierden datos. Ejecuta CHECKDB sobre una copia restaurada para descargar producción y, de paso, probar los backups.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¿Por qué un backup WITH CHECKSUM no sustituye a DBCC CHECKDB?</a:t>
            </a:r>
            <a:endParaRPr b="0" lang="es-ES" sz="2000" spc="-1" strike="noStrike">
              <a:latin typeface="Arial"/>
            </a:endParaRPr>
          </a:p>
          <a:p>
            <a:pPr marL="216000" indent="-214200">
              <a:lnSpc>
                <a:spcPct val="100000"/>
              </a:lnSpc>
              <a:tabLst>
                <a:tab algn="l" pos="0"/>
              </a:tabLst>
            </a:pPr>
            <a:r>
              <a:rPr b="0" lang="en-US" sz="2000" spc="-1" strike="noStrike">
                <a:latin typeface="Arial"/>
              </a:rPr>
              <a:t>- Aparece un error 825 en el errorlog, pero las aplicaciones funcionan. ¿Qué haces y con qué urgencia?</a:t>
            </a:r>
            <a:endParaRPr b="0" lang="es-ES" sz="2000" spc="-1" strike="noStrike">
              <a:latin typeface="Arial"/>
            </a:endParaRPr>
          </a:p>
          <a:p>
            <a:pPr marL="216000" indent="-213840">
              <a:lnSpc>
                <a:spcPct val="100000"/>
              </a:lnSpc>
              <a:tabLst>
                <a:tab algn="l" pos="0"/>
              </a:tabLst>
            </a:pPr>
            <a:r>
              <a:rPr b="0" lang="en-US" sz="2000" spc="-1" strike="noStrike">
                <a:latin typeface="Arial"/>
              </a:rPr>
              <a:t>- ¿Cuándo es defendible usar REPAIR_ALLOW_DATA_LOSS, y qué comunicarías al negocio después?</a:t>
            </a:r>
            <a:endParaRPr b="0" lang="es-ES" sz="2000" spc="-1" strike="noStrike">
              <a:latin typeface="Arial"/>
            </a:endParaRPr>
          </a:p>
        </p:txBody>
      </p:sp>
      <p:sp>
        <p:nvSpPr>
          <p:cNvPr id="2226"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D8C86089-F9AF-4DEA-B9F0-325C6727BC95}"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7" name="PlaceHolder 1"/>
          <p:cNvSpPr>
            <a:spLocks noGrp="1"/>
          </p:cNvSpPr>
          <p:nvPr>
            <p:ph type="sldImg"/>
          </p:nvPr>
        </p:nvSpPr>
        <p:spPr>
          <a:xfrm>
            <a:off x="685800" y="1143000"/>
            <a:ext cx="5483880" cy="3083760"/>
          </a:xfrm>
          <a:prstGeom prst="rect">
            <a:avLst/>
          </a:prstGeom>
        </p:spPr>
      </p:sp>
      <p:sp>
        <p:nvSpPr>
          <p:cNvPr id="2228"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Elegir entre REORGANIZE y REBUILD según el nivel de fragmentación y entender por qué las estadísticas actualizadas importan más que la fragmentación.</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Fragmentación: sys.dm_db_index_physical_stats con modo LIMITED (barato, sólo nivel hoja padre) mide avg_fragmentation_in_percent (fragmentación lógica por Page Splits). Regla clásica: &lt; 5 % no hacer nada; 5–30 % REORGANIZE; &gt; 30 % REBUILD; ignorar índices de menos de ~1000 páginas (no merece la pena).</a:t>
            </a:r>
            <a:endParaRPr b="0" lang="es-ES" sz="2000" spc="-1" strike="noStrike">
              <a:latin typeface="Arial"/>
            </a:endParaRPr>
          </a:p>
          <a:p>
            <a:pPr marL="216000" indent="-214200">
              <a:lnSpc>
                <a:spcPct val="100000"/>
              </a:lnSpc>
              <a:tabLst>
                <a:tab algn="l" pos="0"/>
              </a:tabLst>
            </a:pPr>
            <a:r>
              <a:rPr b="0" lang="en-US" sz="2000" spc="-1" strike="noStrike">
                <a:latin typeface="Arial"/>
              </a:rPr>
              <a:t>- REORGANIZE: compacta y reordena las páginas hoja en el sitio, siempre ONLINE, en pequeñas transacciones, se puede interrumpir sin perder el trabajo hecho, y NO actualiza estadísticas. Usa poco log pero lo genera de forma sostenida.</a:t>
            </a:r>
            <a:endParaRPr b="0" lang="es-ES" sz="2000" spc="-1" strike="noStrike">
              <a:latin typeface="Arial"/>
            </a:endParaRPr>
          </a:p>
          <a:p>
            <a:pPr marL="216000" indent="-214200">
              <a:lnSpc>
                <a:spcPct val="100000"/>
              </a:lnSpc>
              <a:tabLst>
                <a:tab algn="l" pos="0"/>
              </a:tabLst>
            </a:pPr>
            <a:r>
              <a:rPr b="0" lang="en-US" sz="2000" spc="-1" strike="noStrike">
                <a:latin typeface="Arial"/>
              </a:rPr>
              <a:t>- REBUILD: crea un índice nuevo completo y elimina el viejo; actualiza las estadísticas del índice con el equivalente a FULLSCAN, aplica el fill factor y puede reducir el espacio. Es offline por defecto; ONLINE = ON sólo en Enterprise (con WAIT_AT_LOW_PRIORITY desde 2014 y RESUMABLE desde 2017). Registra mucho log en Full: vigilar el LDF y los log backups durante la ventana.</a:t>
            </a:r>
            <a:endParaRPr b="0" lang="es-ES" sz="2000" spc="-1" strike="noStrike">
              <a:latin typeface="Arial"/>
            </a:endParaRPr>
          </a:p>
          <a:p>
            <a:pPr marL="216000" indent="-214200">
              <a:lnSpc>
                <a:spcPct val="100000"/>
              </a:lnSpc>
              <a:tabLst>
                <a:tab algn="l" pos="0"/>
              </a:tabLst>
            </a:pPr>
            <a:r>
              <a:rPr b="0" lang="en-US" sz="2000" spc="-1" strike="noStrike">
                <a:latin typeface="Arial"/>
              </a:rPr>
              <a:t>- Realidad moderna: con SSD/SAN y Buffer Pool grande la fragmentación influye menos que antes (sobre todo en scans y read-ahead). Lo realmente importante son las estadísticas: el optimizador estima cardinalidades con el histograma; estadísticas obsoletas = planes malos.</a:t>
            </a:r>
            <a:endParaRPr b="0" lang="es-ES" sz="2000" spc="-1" strike="noStrike">
              <a:latin typeface="Arial"/>
            </a:endParaRPr>
          </a:p>
          <a:p>
            <a:pPr marL="216000" indent="-214200">
              <a:lnSpc>
                <a:spcPct val="100000"/>
              </a:lnSpc>
              <a:tabLst>
                <a:tab algn="l" pos="0"/>
              </a:tabLst>
            </a:pPr>
            <a:r>
              <a:rPr b="0" lang="en-US" sz="2000" spc="-1" strike="noStrike">
                <a:latin typeface="Arial"/>
              </a:rPr>
              <a:t>- Auto update statistics se dispara con ~20 % de filas modificadas (+500) en bases antiguas; con compatibilidad 130+ el umbral dinámico es SQRT(1000 × filas), mucho más sensible en tablas grandes. Se consulta con sys.dm_db_stats_properties (modification_counter, last_updated). UPDATE STATISTICS … WITH FULLSCAN en horas valle para tablas críticas.</a:t>
            </a:r>
            <a:endParaRPr b="0" lang="es-ES" sz="2000" spc="-1" strike="noStrike">
              <a:latin typeface="Arial"/>
            </a:endParaRPr>
          </a:p>
          <a:p>
            <a:pPr marL="216000" indent="-214200">
              <a:lnSpc>
                <a:spcPct val="100000"/>
              </a:lnSpc>
              <a:tabLst>
                <a:tab algn="l" pos="0"/>
              </a:tabLst>
            </a:pPr>
            <a:r>
              <a:rPr b="0" lang="en-US" sz="2000" spc="-1" strike="noStrike">
                <a:latin typeface="Arial"/>
              </a:rPr>
              <a:t>- Recordatorio: REBUILD de todos los índices cada noche es un antipatrón de los Maintenance Plans clásicos; genera log, bloquea y no suele mejorar nada. Mejor soluciones por umbrales (Ola Hallengren) y fill factor adecuado para reducir los Page Splits.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¿Por qué un REBUILD no necesita luego un UPDATE STATISTICS sobre el mismo índice, pero un REORGANIZE sí?</a:t>
            </a:r>
            <a:endParaRPr b="0" lang="es-ES" sz="2000" spc="-1" strike="noStrike">
              <a:latin typeface="Arial"/>
            </a:endParaRPr>
          </a:p>
          <a:p>
            <a:pPr marL="216000" indent="-214200">
              <a:lnSpc>
                <a:spcPct val="100000"/>
              </a:lnSpc>
              <a:tabLst>
                <a:tab algn="l" pos="0"/>
              </a:tabLst>
            </a:pPr>
            <a:r>
              <a:rPr b="0" lang="en-US" sz="2000" spc="-1" strike="noStrike">
                <a:latin typeface="Arial"/>
              </a:rPr>
              <a:t>- ¿Qué riesgo tiene un REBUILD nocturno de todos los índices en una base en recovery Full?</a:t>
            </a:r>
            <a:endParaRPr b="0" lang="es-ES" sz="2000" spc="-1" strike="noStrike">
              <a:latin typeface="Arial"/>
            </a:endParaRPr>
          </a:p>
          <a:p>
            <a:pPr marL="216000" indent="-213840">
              <a:lnSpc>
                <a:spcPct val="100000"/>
              </a:lnSpc>
              <a:tabLst>
                <a:tab algn="l" pos="0"/>
              </a:tabLst>
            </a:pPr>
            <a:r>
              <a:rPr b="0" lang="en-US" sz="2000" spc="-1" strike="noStrike">
                <a:latin typeface="Arial"/>
              </a:rPr>
              <a:t>- Si la fragmentación está al 40 % en un índice de 200 páginas, ¿merece la pena actuar?</a:t>
            </a:r>
            <a:endParaRPr b="0" lang="es-ES" sz="2000" spc="-1" strike="noStrike">
              <a:latin typeface="Arial"/>
            </a:endParaRPr>
          </a:p>
        </p:txBody>
      </p:sp>
      <p:sp>
        <p:nvSpPr>
          <p:cNvPr id="2229"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100A2755-DA97-4414-82AF-6F185C147CEA}"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0" name="PlaceHolder 1"/>
          <p:cNvSpPr>
            <a:spLocks noGrp="1"/>
          </p:cNvSpPr>
          <p:nvPr>
            <p:ph type="sldImg"/>
          </p:nvPr>
        </p:nvSpPr>
        <p:spPr>
          <a:xfrm>
            <a:off x="685800" y="1143000"/>
            <a:ext cx="5483880" cy="3083760"/>
          </a:xfrm>
          <a:prstGeom prst="rect">
            <a:avLst/>
          </a:prstGeom>
        </p:spPr>
      </p:sp>
      <p:sp>
        <p:nvSpPr>
          <p:cNvPr id="2231"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Conocer las piezas para automatizar el mantenimiento (Agent jobs, Maintenance Plans, scripts de Ola Hallengren, limpieza de msdb, Database Mail y alertas) y saber elegir entre ellas.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SQL Server Agent ejecuta jobs: pasos (T-SQL, CmdExec, PowerShell, SSIS), schedules, notificaciones y reintentos. El estado vive en msdb (sysjobs, sysjobsteps, sysjobhistory). No existe en Express. En Docker/Linux se activa con MSSQL_AGENT_ENABLED=true (o mssql-conf set sqlagent.enabled true).</a:t>
            </a:r>
            <a:endParaRPr b="0" lang="es-ES" sz="2000" spc="-1" strike="noStrike">
              <a:latin typeface="Arial"/>
            </a:endParaRPr>
          </a:p>
          <a:p>
            <a:pPr marL="216000" indent="-214200">
              <a:lnSpc>
                <a:spcPct val="100000"/>
              </a:lnSpc>
              <a:tabLst>
                <a:tab algn="l" pos="0"/>
              </a:tabLst>
            </a:pPr>
            <a:r>
              <a:rPr b="0" lang="en-US" sz="2000" spc="-1" strike="noStrike">
                <a:latin typeface="Arial"/>
              </a:rPr>
              <a:t>- Maintenance Plans: asistente gráfico, genera paquetes SSIS. Son fáciles pero poco flexibles: la tarea «Rebuild Index» reconstruye todo sin mirar fragmentación y la tarea «Shrink Database» es un antipatrón (fragmenta de nuevo y provoca crecimiento posterior).</a:t>
            </a:r>
            <a:endParaRPr b="0" lang="es-ES" sz="2000" spc="-1" strike="noStrike">
              <a:latin typeface="Arial"/>
            </a:endParaRPr>
          </a:p>
          <a:p>
            <a:pPr marL="216000" indent="-214200">
              <a:lnSpc>
                <a:spcPct val="100000"/>
              </a:lnSpc>
              <a:tabLst>
                <a:tab algn="l" pos="0"/>
              </a:tabLst>
            </a:pPr>
            <a:r>
              <a:rPr b="0" lang="en-US" sz="2000" spc="-1" strike="noStrike">
                <a:latin typeface="Arial"/>
              </a:rPr>
              <a:t>- Scripts de Ola Hallengren (ola.hallengren.com): DatabaseBackup, DatabaseIntegrityCheck e IndexOptimize como procedimientos almacenados con parámetros (@FragmentationLevel1 = 5, @FragmentationLevel2 = 30, @UpdateStatistics = «ALL», @LogToTable). Son el estándar de facto, se auditan en la tabla CommandLog y funcionan con jobs de Agent. Recomendados sobre los Maintenance Plans.</a:t>
            </a:r>
            <a:endParaRPr b="0" lang="es-ES" sz="2000" spc="-1" strike="noStrike">
              <a:latin typeface="Arial"/>
            </a:endParaRPr>
          </a:p>
          <a:p>
            <a:pPr marL="216000" indent="-214200">
              <a:lnSpc>
                <a:spcPct val="100000"/>
              </a:lnSpc>
              <a:tabLst>
                <a:tab algn="l" pos="0"/>
              </a:tabLst>
            </a:pPr>
            <a:r>
              <a:rPr b="0" lang="en-US" sz="2000" spc="-1" strike="noStrike">
                <a:latin typeface="Arial"/>
              </a:rPr>
              <a:t>- Limpieza de msdb: sp_delete_backuphistory @oldest_date, sp_purge_jobhistory, sysmail_delete_mailitems_sp y sysmail_delete_log_sp. Un msdb con años de historial ralentiza SSMS y las restauraciones (el asistente consulta backupset).</a:t>
            </a:r>
            <a:endParaRPr b="0" lang="es-ES" sz="2000" spc="-1" strike="noStrike">
              <a:latin typeface="Arial"/>
            </a:endParaRPr>
          </a:p>
          <a:p>
            <a:pPr marL="216000" indent="-214200">
              <a:lnSpc>
                <a:spcPct val="100000"/>
              </a:lnSpc>
              <a:tabLst>
                <a:tab algn="l" pos="0"/>
              </a:tabLst>
            </a:pPr>
            <a:r>
              <a:rPr b="0" lang="en-US" sz="2000" spc="-1" strike="noStrike">
                <a:latin typeface="Arial"/>
              </a:rPr>
              <a:t>- Database Mail (sp_configure «Database Mail XPs», perfil + cuenta SMTP) permite que el Agent notifique. Los operadores (sp_add_operator) definen quién recibe correos de fallo de job. Alertas del Agent: por gravedad 19–25 y por errores concretos (823, 824, 825, 9002); la alerta dispara un job o notifica a un operador.</a:t>
            </a:r>
            <a:endParaRPr b="0" lang="es-ES" sz="2000" spc="-1" strike="noStrike">
              <a:latin typeface="Arial"/>
            </a:endParaRPr>
          </a:p>
          <a:p>
            <a:pPr marL="216000" indent="-214200">
              <a:lnSpc>
                <a:spcPct val="100000"/>
              </a:lnSpc>
              <a:tabLst>
                <a:tab algn="l" pos="0"/>
              </a:tabLst>
            </a:pPr>
            <a:r>
              <a:rPr b="0" lang="en-US" sz="2000" spc="-1" strike="noStrike">
                <a:latin typeface="Arial"/>
              </a:rPr>
              <a:t>- Calendario de referencia en producción: log backup cada 15 min; diferencial diario; Full semanal; CHECKDB semanal; IndexOptimize diario/semanal; limpieza de historial semanal. Todo con notificación de fallo y vigilancia de que el job «no se ha ejecutado» (un job que nunca corre no falla).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ventajas ofrece una solución basada en scripts frente a un Maintenance Plan gráfico? ¿Y desventajas?</a:t>
            </a:r>
            <a:endParaRPr b="0" lang="es-ES" sz="2000" spc="-1" strike="noStrike">
              <a:latin typeface="Arial"/>
            </a:endParaRPr>
          </a:p>
          <a:p>
            <a:pPr marL="216000" indent="-214200">
              <a:lnSpc>
                <a:spcPct val="100000"/>
              </a:lnSpc>
              <a:tabLst>
                <a:tab algn="l" pos="0"/>
              </a:tabLst>
            </a:pPr>
            <a:r>
              <a:rPr b="0" lang="en-US" sz="2000" spc="-1" strike="noStrike">
                <a:latin typeface="Arial"/>
              </a:rPr>
              <a:t>- ¿Cómo te enterarías de que un job de backup lleva tres noches sin ejecutarse?</a:t>
            </a:r>
            <a:endParaRPr b="0" lang="es-ES" sz="2000" spc="-1" strike="noStrike">
              <a:latin typeface="Arial"/>
            </a:endParaRPr>
          </a:p>
          <a:p>
            <a:pPr marL="216000" indent="-213840">
              <a:lnSpc>
                <a:spcPct val="100000"/>
              </a:lnSpc>
              <a:tabLst>
                <a:tab algn="l" pos="0"/>
              </a:tabLst>
            </a:pPr>
            <a:r>
              <a:rPr b="0" lang="en-US" sz="2000" spc="-1" strike="noStrike">
                <a:latin typeface="Arial"/>
              </a:rPr>
              <a:t>- ¿Qué errores y gravedades darías de alta como alertas en una instancia nueva?</a:t>
            </a:r>
            <a:endParaRPr b="0" lang="es-ES" sz="2000" spc="-1" strike="noStrike">
              <a:latin typeface="Arial"/>
            </a:endParaRPr>
          </a:p>
        </p:txBody>
      </p:sp>
      <p:sp>
        <p:nvSpPr>
          <p:cNvPr id="2232"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7CF13472-D4F1-416F-AF99-65488D6F51A5}"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3" name="PlaceHolder 1"/>
          <p:cNvSpPr>
            <a:spLocks noGrp="1"/>
          </p:cNvSpPr>
          <p:nvPr>
            <p:ph type="sldImg"/>
          </p:nvPr>
        </p:nvSpPr>
        <p:spPr>
          <a:xfrm>
            <a:off x="685800" y="1143000"/>
            <a:ext cx="5483880" cy="3083760"/>
          </a:xfrm>
          <a:prstGeom prst="rect">
            <a:avLst/>
          </a:prstGeom>
        </p:spPr>
      </p:sp>
      <p:sp>
        <p:nvSpPr>
          <p:cNvPr id="2234"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Diagnosticar un LDF lleno (error 9002) mediante log_reuse_wait_desc, tratar la causa raíz y evitar «soluciones» peligrosas como borrar el fichero o encadenar SHRINKFILE.</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Síntoma: error 9002 «The transaction log for database is full due to …». El motivo se indica al final del mensaje y en sys.databases.log_reuse_wait_desc: es lo que impide que los VLFs inactivos se marquen como reutilizables (truncado lógico).</a:t>
            </a:r>
            <a:endParaRPr b="0" lang="es-ES" sz="2000" spc="-1" strike="noStrike">
              <a:latin typeface="Arial"/>
            </a:endParaRPr>
          </a:p>
          <a:p>
            <a:pPr marL="216000" indent="-214200">
              <a:lnSpc>
                <a:spcPct val="100000"/>
              </a:lnSpc>
              <a:tabLst>
                <a:tab algn="l" pos="0"/>
              </a:tabLst>
            </a:pPr>
            <a:r>
              <a:rPr b="0" lang="en-US" sz="2000" spc="-1" strike="noStrike">
                <a:latin typeface="Arial"/>
              </a:rPr>
              <a:t>- LOG_BACKUP: la causa más habitual; la base está en Full/Bulk-Logged y no hay BACKUP LOG programado (o ha fallado). Solución: hacer log backup y programarlos cada 15 min.</a:t>
            </a:r>
            <a:endParaRPr b="0" lang="es-ES" sz="2000" spc="-1" strike="noStrike">
              <a:latin typeface="Arial"/>
            </a:endParaRPr>
          </a:p>
          <a:p>
            <a:pPr marL="216000" indent="-214200">
              <a:lnSpc>
                <a:spcPct val="100000"/>
              </a:lnSpc>
              <a:tabLst>
                <a:tab algn="l" pos="0"/>
              </a:tabLst>
            </a:pPr>
            <a:r>
              <a:rPr b="0" lang="en-US" sz="2000" spc="-1" strike="noStrike">
                <a:latin typeface="Arial"/>
              </a:rPr>
              <a:t>- ACTIVE_TRANSACTION: una transacción larga o abandonada mantiene activo el MinLSN; el log no se puede truncar aunque se hagan log backups. DBCC OPENTRAN o sys.dm_tran_active_transactions + sys.dm_exec_sessions localizan al responsable; cerrar la transacción en el cliente es preferible a KILL (el rollback puede tardar tanto como el trabajo hecho).</a:t>
            </a:r>
            <a:endParaRPr b="0" lang="es-ES" sz="2000" spc="-1" strike="noStrike">
              <a:latin typeface="Arial"/>
            </a:endParaRPr>
          </a:p>
          <a:p>
            <a:pPr marL="216000" indent="-214200">
              <a:lnSpc>
                <a:spcPct val="100000"/>
              </a:lnSpc>
              <a:tabLst>
                <a:tab algn="l" pos="0"/>
              </a:tabLst>
            </a:pPr>
            <a:r>
              <a:rPr b="0" lang="en-US" sz="2000" spc="-1" strike="noStrike">
                <a:latin typeface="Arial"/>
              </a:rPr>
              <a:t>- AVAILABILITY_REPLICA y REPLICATION: una réplica del AG atrasada (sys.dm_hadr_database_replica_states) o un Log Reader Agent parado retienen el log hasta que el consumidor lo lea. También hay OLDEST_PAGE, CHECKPOINT, ACTIVE_BACKUP_OR_RESTORE y DATABASE_MIRRORING.</a:t>
            </a:r>
            <a:endParaRPr b="0" lang="es-ES" sz="2000" spc="-1" strike="noStrike">
              <a:latin typeface="Arial"/>
            </a:endParaRPr>
          </a:p>
          <a:p>
            <a:pPr marL="216000" indent="-214200">
              <a:lnSpc>
                <a:spcPct val="100000"/>
              </a:lnSpc>
              <a:tabLst>
                <a:tab algn="l" pos="0"/>
              </a:tabLst>
            </a:pPr>
            <a:r>
              <a:rPr b="0" lang="en-US" sz="2000" spc="-1" strike="noStrike">
                <a:latin typeface="Arial"/>
              </a:rPr>
              <a:t>- Medición: DBCC SQLPERF (LOGSPACE) o sys.dm_db_log_space_usage; sys.dm_db_log_info (2016 SP2+) muestra los VLFs. Un autogrowth pequeño (1 MB o 10 %) crea cientos de VLFs y ralentiza recuperación y backups: configurar crecimiento fijo (p. ej. 512 MB–1 GB) y tamaño inicial adecuado.</a:t>
            </a:r>
            <a:endParaRPr b="0" lang="es-ES" sz="2000" spc="-1" strike="noStrike">
              <a:latin typeface="Arial"/>
            </a:endParaRPr>
          </a:p>
          <a:p>
            <a:pPr marL="216000" indent="-214200">
              <a:lnSpc>
                <a:spcPct val="100000"/>
              </a:lnSpc>
              <a:tabLst>
                <a:tab algn="l" pos="0"/>
              </a:tabLst>
            </a:pPr>
            <a:r>
              <a:rPr b="0" lang="en-US" sz="2000" spc="-1" strike="noStrike">
                <a:latin typeface="Arial"/>
              </a:rPr>
              <a:t>- Qué NO hacer: borrar o renombrar el .ldf, pasar a Simple «para que se vacíe» sin entender que se rompe la log chain, o reducir (SHRINKFILE) en bucle. En emergencia puede añadirse un segundo fichero de log en otro volumen y retirarlo después. La reducción es puntual, tras resolver la causa.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¿Por qué hacer un BACKUP LOG no libera espacio si hay una transacción abierta desde ayer?</a:t>
            </a:r>
            <a:endParaRPr b="0" lang="es-ES" sz="2000" spc="-1" strike="noStrike">
              <a:latin typeface="Arial"/>
            </a:endParaRPr>
          </a:p>
          <a:p>
            <a:pPr marL="216000" indent="-214200">
              <a:lnSpc>
                <a:spcPct val="100000"/>
              </a:lnSpc>
              <a:tabLst>
                <a:tab algn="l" pos="0"/>
              </a:tabLst>
            </a:pPr>
            <a:r>
              <a:rPr b="0" lang="en-US" sz="2000" spc="-1" strike="noStrike">
                <a:latin typeface="Arial"/>
              </a:rPr>
              <a:t>- ¿Qué implica cambiar la base a Simple en mitad de la incidencia para el RPO del negocio?</a:t>
            </a:r>
            <a:endParaRPr b="0" lang="es-ES" sz="2000" spc="-1" strike="noStrike">
              <a:latin typeface="Arial"/>
            </a:endParaRPr>
          </a:p>
          <a:p>
            <a:pPr marL="216000" indent="-213840">
              <a:lnSpc>
                <a:spcPct val="100000"/>
              </a:lnSpc>
              <a:tabLst>
                <a:tab algn="l" pos="0"/>
              </a:tabLst>
            </a:pPr>
            <a:r>
              <a:rPr b="0" lang="en-US" sz="2000" spc="-1" strike="noStrike">
                <a:latin typeface="Arial"/>
              </a:rPr>
              <a:t>- ¿Cómo evitarías que se repita (monitorización, tamaño inicial, autogrowth, alertas)?</a:t>
            </a:r>
            <a:endParaRPr b="0" lang="es-ES" sz="2000" spc="-1" strike="noStrike">
              <a:latin typeface="Arial"/>
            </a:endParaRPr>
          </a:p>
        </p:txBody>
      </p:sp>
      <p:sp>
        <p:nvSpPr>
          <p:cNvPr id="2235"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3B5A5A5B-B9EC-4DA7-9CE6-DDFBB3292810}"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6" name="PlaceHolder 1"/>
          <p:cNvSpPr>
            <a:spLocks noGrp="1"/>
          </p:cNvSpPr>
          <p:nvPr>
            <p:ph type="sldImg"/>
          </p:nvPr>
        </p:nvSpPr>
        <p:spPr>
          <a:xfrm>
            <a:off x="685800" y="1143000"/>
            <a:ext cx="5483880" cy="3083760"/>
          </a:xfrm>
          <a:prstGeom prst="rect">
            <a:avLst/>
          </a:prstGeom>
        </p:spPr>
      </p:sp>
      <p:sp>
        <p:nvSpPr>
          <p:cNvPr id="2237"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Identificar qué consume TempDB (objetos de usuario, internos y version store) y reconocer y mitigar la contención de páginas de asignación PFS/GAM/SGAM.</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TempDB se recrea en cada arranque a partir de model; usa un log que no hace redo y es siempre «minimal». Todas las sesiones la comparten: una consulta descontrolada o una transacción larga puede llenarla y afectar a toda la instancia (errores 1105 y 9002 sobre tempdb).</a:t>
            </a:r>
            <a:endParaRPr b="0" lang="es-ES" sz="2000" spc="-1" strike="noStrike">
              <a:latin typeface="Arial"/>
            </a:endParaRPr>
          </a:p>
          <a:p>
            <a:pPr marL="216000" indent="-214200">
              <a:lnSpc>
                <a:spcPct val="100000"/>
              </a:lnSpc>
              <a:tabLst>
                <a:tab algn="l" pos="0"/>
              </a:tabLst>
            </a:pPr>
            <a:r>
              <a:rPr b="0" lang="en-US" sz="2000" spc="-1" strike="noStrike">
                <a:latin typeface="Arial"/>
              </a:rPr>
              <a:t>- Consumidores: (1) objetos de usuario (#tablas, @variables tabla, cursores); (2) objetos internos (sorts, hash joins, spools, spills a disco por una mala estimación del memory grant: aparecen como Sort/Hash Warning en el plan); (3) version store, con RCSI, SNAPSHOT, triggers, online index operations: lo limpia una tarea de fondo, pero una transacción larga abierta impide la limpieza.</a:t>
            </a:r>
            <a:endParaRPr b="0" lang="es-ES" sz="2000" spc="-1" strike="noStrike">
              <a:latin typeface="Arial"/>
            </a:endParaRPr>
          </a:p>
          <a:p>
            <a:pPr marL="216000" indent="-214200">
              <a:lnSpc>
                <a:spcPct val="100000"/>
              </a:lnSpc>
              <a:tabLst>
                <a:tab algn="l" pos="0"/>
              </a:tabLst>
            </a:pPr>
            <a:r>
              <a:rPr b="0" lang="en-US" sz="2000" spc="-1" strike="noStrike">
                <a:latin typeface="Arial"/>
              </a:rPr>
              <a:t>- Diagnóstico: sys.dm_db_file_space_usage (user_object_reserved_page_count, internal_object_reserved_page_count, version_store_reserved_page_count), sys.dm_db_session_space_usage y sys.dm_db_task_space_usage por sesión; sys.dm_tran_active_snapshot_database_transactions para la transacción más antigua del version store.</a:t>
            </a:r>
            <a:endParaRPr b="0" lang="es-ES" sz="2000" spc="-1" strike="noStrike">
              <a:latin typeface="Arial"/>
            </a:endParaRPr>
          </a:p>
          <a:p>
            <a:pPr marL="216000" indent="-214200">
              <a:lnSpc>
                <a:spcPct val="100000"/>
              </a:lnSpc>
              <a:tabLst>
                <a:tab algn="l" pos="0"/>
              </a:tabLst>
            </a:pPr>
            <a:r>
              <a:rPr b="0" lang="en-US" sz="2000" spc="-1" strike="noStrike">
                <a:latin typeface="Arial"/>
              </a:rPr>
              <a:t>- Contención de asignación: PFS (página 1, cada 8088 páginas), GAM (página 2) y SGAM (página 3) se protegen con latches. Con muchas sesiones creando/destruyendo objetos temporales aparecen esperas PAGELATCH_UP/EX sobre 2:1:1, 2:1:2, 2:1:3 (sys.dm_os_waiting_tasks). Con 2019 se añade contención de metadatos, mitigable con MEMORY_OPTIMIZED TEMPDB_METADATA.</a:t>
            </a:r>
            <a:endParaRPr b="0" lang="es-ES" sz="2000" spc="-1" strike="noStrike">
              <a:latin typeface="Arial"/>
            </a:endParaRPr>
          </a:p>
          <a:p>
            <a:pPr marL="216000" indent="-214200">
              <a:lnSpc>
                <a:spcPct val="100000"/>
              </a:lnSpc>
              <a:tabLst>
                <a:tab algn="l" pos="0"/>
              </a:tabLst>
            </a:pPr>
            <a:r>
              <a:rPr b="0" lang="en-US" sz="2000" spc="-1" strike="noStrike">
                <a:latin typeface="Arial"/>
              </a:rPr>
              <a:t>- Mitigación: varios ficheros de datos del MISMO tamaño y FILEGROWTH (1 por núcleo lógico hasta 8; si persiste, de 4 en 4); el instalador (2016+) propone el número y los TF 1117/1118 son comportamiento por defecto en tempdb. Pre-dimensionar y ponerla en almacenamiento rápido.</a:t>
            </a:r>
            <a:endParaRPr b="0" lang="es-ES" sz="2000" spc="-1" strike="noStrike">
              <a:latin typeface="Arial"/>
            </a:endParaRPr>
          </a:p>
          <a:p>
            <a:pPr marL="216000" indent="-214200">
              <a:lnSpc>
                <a:spcPct val="100000"/>
              </a:lnSpc>
              <a:tabLst>
                <a:tab algn="l" pos="0"/>
              </a:tabLst>
            </a:pPr>
            <a:r>
              <a:rPr b="0" lang="en-US" sz="2000" spc="-1" strike="noStrike">
                <a:latin typeface="Arial"/>
              </a:rPr>
              <a:t>- No reducir tempdb de forma rutinaria: reiniciar la instancia la devuelve a su tamaño configurado. Si se llena, localizar la sesión (KILL con cautela), corregir la consulta (índices, estadísticas, memory grant) o acortar la transacción que retiene el version store.</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diferencia hay entre un spill a TempDB y la creación explícita de una #tabla? ¿Cómo lo reconoces en el plan?</a:t>
            </a:r>
            <a:endParaRPr b="0" lang="es-ES" sz="2000" spc="-1" strike="noStrike">
              <a:latin typeface="Arial"/>
            </a:endParaRPr>
          </a:p>
          <a:p>
            <a:pPr marL="216000" indent="-214200">
              <a:lnSpc>
                <a:spcPct val="100000"/>
              </a:lnSpc>
              <a:tabLst>
                <a:tab algn="l" pos="0"/>
              </a:tabLst>
            </a:pPr>
            <a:r>
              <a:rPr b="0" lang="en-US" sz="2000" spc="-1" strike="noStrike">
                <a:latin typeface="Arial"/>
              </a:rPr>
              <a:t>- Si activamos RCSI en Ventas, ¿qué cambia en el consumo de TempDB y qué vigilarías?</a:t>
            </a:r>
            <a:endParaRPr b="0" lang="es-ES" sz="2000" spc="-1" strike="noStrike">
              <a:latin typeface="Arial"/>
            </a:endParaRPr>
          </a:p>
          <a:p>
            <a:pPr marL="216000" indent="-213840">
              <a:lnSpc>
                <a:spcPct val="100000"/>
              </a:lnSpc>
              <a:tabLst>
                <a:tab algn="l" pos="0"/>
              </a:tabLst>
            </a:pPr>
            <a:r>
              <a:rPr b="0" lang="en-US" sz="2000" spc="-1" strike="noStrike">
                <a:latin typeface="Arial"/>
              </a:rPr>
              <a:t>- ¿Por qué los ficheros de tempdb deben tener el mismo tamaño?</a:t>
            </a:r>
            <a:endParaRPr b="0" lang="es-ES" sz="2000" spc="-1" strike="noStrike">
              <a:latin typeface="Arial"/>
            </a:endParaRPr>
          </a:p>
        </p:txBody>
      </p:sp>
      <p:sp>
        <p:nvSpPr>
          <p:cNvPr id="2238"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7E5202F8-E3E6-4A98-8906-E51E95D7F690}"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9" name="PlaceHolder 1"/>
          <p:cNvSpPr>
            <a:spLocks noGrp="1"/>
          </p:cNvSpPr>
          <p:nvPr>
            <p:ph type="sldImg"/>
          </p:nvPr>
        </p:nvSpPr>
        <p:spPr>
          <a:xfrm>
            <a:off x="685800" y="1143000"/>
            <a:ext cx="5483880" cy="3083760"/>
          </a:xfrm>
          <a:prstGeom prst="rect">
            <a:avLst/>
          </a:prstGeom>
        </p:spPr>
      </p:sp>
      <p:sp>
        <p:nvSpPr>
          <p:cNvPr id="2240"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Distinguir bloqueo prolongado de deadlock, localizar al bloqueador raíz con DMVs, leer el grafo de deadlock de system_health y aplicar mitigaciones (RCSI, índices, orden de acceso) sin abusar de KILL.</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Bloqueo (blocking): una sesión pide un lock incompatible con el que otra mantiene y espera (LCK_M_S, LCK_M_X, LCK_M_U…). Es normal y breve; es incidencia cuando se prolonga porque el bloqueador tiene una transacción abierta (sesión sleeping con open_transaction_count &gt; 0).</a:t>
            </a:r>
            <a:endParaRPr b="0" lang="es-ES" sz="2000" spc="-1" strike="noStrike">
              <a:latin typeface="Arial"/>
            </a:endParaRPr>
          </a:p>
          <a:p>
            <a:pPr marL="216000" indent="-214200">
              <a:lnSpc>
                <a:spcPct val="100000"/>
              </a:lnSpc>
              <a:tabLst>
                <a:tab algn="l" pos="0"/>
              </a:tabLst>
            </a:pPr>
            <a:r>
              <a:rPr b="0" lang="en-US" sz="2000" spc="-1" strike="noStrike">
                <a:latin typeface="Arial"/>
              </a:rPr>
              <a:t>- Diagnóstico: sys.dm_exec_requests.blocking_session_id muestra quién bloquea a cada petición; el bloqueador raíz es la sesión que bloquea a otras y no está bloqueada (blocking_session_id = 0). sys.dm_tran_locks (request_status = WAIT / GRANT) detalla recurso y modo; sys.dm_os_waiting_tasks da la cadena de esperas; sys.dm_exec_sql_text(sql_handle) y most_recent_sql_handle en dm_exec_connections revelan la consulta.</a:t>
            </a:r>
            <a:endParaRPr b="0" lang="es-ES" sz="2000" spc="-1" strike="noStrike">
              <a:latin typeface="Arial"/>
            </a:endParaRPr>
          </a:p>
          <a:p>
            <a:pPr marL="216000" indent="-214200">
              <a:lnSpc>
                <a:spcPct val="100000"/>
              </a:lnSpc>
              <a:tabLst>
                <a:tab algn="l" pos="0"/>
              </a:tabLst>
            </a:pPr>
            <a:r>
              <a:rPr b="0" lang="en-US" sz="2000" spc="-1" strike="noStrike">
                <a:latin typeface="Arial"/>
              </a:rPr>
              <a:t>- Deadlock: dos o más sesiones se esperan en ciclo. El Lock Monitor (cada 5 s, más a menudo si hay deadlocks) elige una víctima (DEADLOCK_PRIORITY, luego menor coste de rollback) y devuelve el error 1205 al cliente. El grafo (xml_deadlock_report) está en la sesión Extended Events system_health (siempre activa, ficheros .xel); también TF 1222 lo escribe en el errorlog.</a:t>
            </a:r>
            <a:endParaRPr b="0" lang="es-ES" sz="2000" spc="-1" strike="noStrike">
              <a:latin typeface="Arial"/>
            </a:endParaRPr>
          </a:p>
          <a:p>
            <a:pPr marL="216000" indent="-214200">
              <a:lnSpc>
                <a:spcPct val="100000"/>
              </a:lnSpc>
              <a:tabLst>
                <a:tab algn="l" pos="0"/>
              </a:tabLst>
            </a:pPr>
            <a:r>
              <a:rPr b="0" lang="en-US" sz="2000" spc="-1" strike="noStrike">
                <a:latin typeface="Arial"/>
              </a:rPr>
              <a:t>- Mitigación: transacciones cortas, acceder a los objetos siempre en el mismo orden, índices adecuados (menos filas bloqueadas, evita table scans bajo lock y la escalada a lock de tabla a las ~5000 locks), reintentos con TRY…CATCH ante el error 1205 y LOCK_TIMEOUT.</a:t>
            </a:r>
            <a:endParaRPr b="0" lang="es-ES" sz="2000" spc="-1" strike="noStrike">
              <a:latin typeface="Arial"/>
            </a:endParaRPr>
          </a:p>
          <a:p>
            <a:pPr marL="216000" indent="-214200">
              <a:lnSpc>
                <a:spcPct val="100000"/>
              </a:lnSpc>
              <a:tabLst>
                <a:tab algn="l" pos="0"/>
              </a:tabLst>
            </a:pPr>
            <a:r>
              <a:rPr b="0" lang="en-US" sz="2000" spc="-1" strike="noStrike">
                <a:latin typeface="Arial"/>
              </a:rPr>
              <a:t>- Niveles de aislamiento: READ COMMITTED (por defecto) bloquea lectores contra escritores. READ_COMMITTED_SNAPSHOT (RCSI) hace que los lectores lean la última versión confirmada del version store (en TempDB) sin bloquear: ALTER DATABASE Ventas SET READ_COMMITTED_SNAPSHOT ON WITH ROLLBACK IMMEDIATE. Coste: TempDB y 14 bytes por fila. SNAPSHOT añade lecturas consistentes por transacción y conflictos de actualización (error 3960).</a:t>
            </a:r>
            <a:endParaRPr b="0" lang="es-ES" sz="2000" spc="-1" strike="noStrike">
              <a:latin typeface="Arial"/>
            </a:endParaRPr>
          </a:p>
          <a:p>
            <a:pPr marL="216000" indent="-214200">
              <a:lnSpc>
                <a:spcPct val="100000"/>
              </a:lnSpc>
              <a:tabLst>
                <a:tab algn="l" pos="0"/>
              </a:tabLst>
            </a:pPr>
            <a:r>
              <a:rPr b="0" lang="en-US" sz="2000" spc="-1" strike="noStrike">
                <a:latin typeface="Arial"/>
              </a:rPr>
              <a:t>- KILL &lt;session_id&gt; termina la sesión y revierte su transacción: el rollback puede ser tan largo como lo ya hecho (KILL … WITH STATUSONLY indica el avance) y mientras tanto sigue reteniendo locks. Nunca matar sesiones del sistema ni sin entender qué hace el proceso (backup, restore, rebuild). Es el último paso, tras intentar contactar al propietario.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¿Cómo distingues desde las DMVs entre un bloqueo largo y un deadlock? ¿Qué ve el usuario en cada caso?</a:t>
            </a:r>
            <a:endParaRPr b="0" lang="es-ES" sz="2000" spc="-1" strike="noStrike">
              <a:latin typeface="Arial"/>
            </a:endParaRPr>
          </a:p>
          <a:p>
            <a:pPr marL="216000" indent="-214200">
              <a:lnSpc>
                <a:spcPct val="100000"/>
              </a:lnSpc>
              <a:tabLst>
                <a:tab algn="l" pos="0"/>
              </a:tabLst>
            </a:pPr>
            <a:r>
              <a:rPr b="0" lang="en-US" sz="2000" spc="-1" strike="noStrike">
                <a:latin typeface="Arial"/>
              </a:rPr>
              <a:t>- ¿Qué gana y qué pierde Ventas al activar RCSI? ¿Quién paga el coste?</a:t>
            </a:r>
            <a:endParaRPr b="0" lang="es-ES" sz="2000" spc="-1" strike="noStrike">
              <a:latin typeface="Arial"/>
            </a:endParaRPr>
          </a:p>
          <a:p>
            <a:pPr marL="216000" indent="-213840">
              <a:lnSpc>
                <a:spcPct val="100000"/>
              </a:lnSpc>
              <a:tabLst>
                <a:tab algn="l" pos="0"/>
              </a:tabLst>
            </a:pPr>
            <a:r>
              <a:rPr b="0" lang="en-US" sz="2000" spc="-1" strike="noStrike">
                <a:latin typeface="Arial"/>
              </a:rPr>
              <a:t>- Encuentras que el bloqueador raíz es una sesión «sleeping» con una transacción abierta de hace 3 horas. ¿Qué haces antes de ejecutar KILL?</a:t>
            </a:r>
            <a:endParaRPr b="0" lang="es-ES" sz="2000" spc="-1" strike="noStrike">
              <a:latin typeface="Arial"/>
            </a:endParaRPr>
          </a:p>
        </p:txBody>
      </p:sp>
      <p:sp>
        <p:nvSpPr>
          <p:cNvPr id="2241"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1A533D57-8A22-4277-846F-9D67A18C0C61}"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2" name="PlaceHolder 1"/>
          <p:cNvSpPr>
            <a:spLocks noGrp="1"/>
          </p:cNvSpPr>
          <p:nvPr>
            <p:ph type="sldImg"/>
          </p:nvPr>
        </p:nvSpPr>
        <p:spPr>
          <a:xfrm>
            <a:off x="685800" y="1143000"/>
            <a:ext cx="5483880" cy="3083760"/>
          </a:xfrm>
          <a:prstGeom prst="rect">
            <a:avLst/>
          </a:prstGeom>
        </p:spPr>
      </p:sp>
      <p:sp>
        <p:nvSpPr>
          <p:cNvPr id="2243"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Comprender la arquitectura desacoplada de SQL Server Integration Services (SSIS), los pasos para instalar el motor en el servidor y la configuración del entorno de desarrollo visual en Visual Studio.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SQL Server Integration Services (SSIS) es la plataforma empresarial de Microsoft para extracción, transformación y carga (ETL). Para un DBA, es crucial distinguir el motor de ejecución en el servidor del entorno de diseño en el cliente.</a:t>
            </a:r>
            <a:endParaRPr b="0" lang="es-ES" sz="2000" spc="-1" strike="noStrike">
              <a:latin typeface="Arial"/>
            </a:endParaRPr>
          </a:p>
          <a:p>
            <a:pPr marL="216000" indent="-214200">
              <a:lnSpc>
                <a:spcPct val="100000"/>
              </a:lnSpc>
              <a:tabLst>
                <a:tab algn="l" pos="0"/>
              </a:tabLst>
            </a:pPr>
            <a:r>
              <a:rPr b="0" lang="en-US" sz="2000" spc="-1" strike="noStrike">
                <a:latin typeface="Arial"/>
              </a:rPr>
              <a:t>- Instalación en servidor: en el asistente de instalación de SQL Server (Setup.exe), se debe marcar la característica «Integration Services» dentro de Shared Features. Esto registra el servicio de Windows MsDtsSrvr. Para utilizar el modelo moderno de despliegue por proyectos, se debe crear el catálogo SSISDB en Management Studio (SSMS). Esto requiere habilitar previamente CLR mediante sp_configure «clr enabled», 1 y RECONFIGURE.</a:t>
            </a:r>
            <a:endParaRPr b="0" lang="es-ES" sz="2000" spc="-1" strike="noStrike">
              <a:latin typeface="Arial"/>
            </a:endParaRPr>
          </a:p>
          <a:p>
            <a:pPr marL="216000" indent="-214200">
              <a:lnSpc>
                <a:spcPct val="100000"/>
              </a:lnSpc>
              <a:tabLst>
                <a:tab algn="l" pos="0"/>
              </a:tabLst>
            </a:pPr>
            <a:r>
              <a:rPr b="0" lang="en-US" sz="2000" spc="-1" strike="noStrike">
                <a:latin typeface="Arial"/>
              </a:rPr>
              <a:t>- Catálogo SSISDB: es una base de datos de usuario alojada en la propia instancia relacional. Protege contraseñas y parámetros de conexión mediante cifrado simétrico y asimétrico respaldado por la Database Master Key. Si se migra la base de datos a otro servidor, es imprescindible contar con la contraseña maestra definida al crear el catálogo.</a:t>
            </a:r>
            <a:endParaRPr b="0" lang="es-ES" sz="2000" spc="-1" strike="noStrike">
              <a:latin typeface="Arial"/>
            </a:endParaRPr>
          </a:p>
          <a:p>
            <a:pPr marL="216000" indent="-214200">
              <a:lnSpc>
                <a:spcPct val="100000"/>
              </a:lnSpc>
              <a:tabLst>
                <a:tab algn="l" pos="0"/>
              </a:tabLst>
            </a:pPr>
            <a:r>
              <a:rPr b="0" lang="en-US" sz="2000" spc="-1" strike="noStrike">
                <a:latin typeface="Arial"/>
              </a:rPr>
              <a:t>- Herramienta visual de diseño: antiguamente venía BIDS o SSDT integrado en la ISO de SQL Server. Desde las versiones modernas (SQL Server 2017/2019/2022), Microsoft desacopló el ciclo de vida: se instala Visual Studio (edición Community gratuita, Professional o Enterprise) y se añade la extensión «SQL Server Integration Services Projects» desde el Marketplace de Visual Studio.</a:t>
            </a:r>
            <a:endParaRPr b="0" lang="es-ES" sz="2000" spc="-1" strike="noStrike">
              <a:latin typeface="Arial"/>
            </a:endParaRPr>
          </a:p>
          <a:p>
            <a:pPr marL="216000" indent="-214200">
              <a:lnSpc>
                <a:spcPct val="100000"/>
              </a:lnSpc>
              <a:tabLst>
                <a:tab algn="l" pos="0"/>
              </a:tabLst>
            </a:pPr>
            <a:r>
              <a:rPr b="0" lang="en-US" sz="2000" spc="-1" strike="noStrike">
                <a:latin typeface="Arial"/>
              </a:rPr>
              <a:t>- El artefacto final de diseño es un archivo .ispac que empaqueta el proyecto completo con sus parámetros de entorno, conexiones y paquetes .dtsx.</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¿Por qué Microsoft separó la herramienta de diseño visual del instalador del motor de base de datos?</a:t>
            </a:r>
            <a:endParaRPr b="0" lang="es-ES" sz="2000" spc="-1" strike="noStrike">
              <a:latin typeface="Arial"/>
            </a:endParaRPr>
          </a:p>
          <a:p>
            <a:pPr marL="216000" indent="-214200">
              <a:lnSpc>
                <a:spcPct val="100000"/>
              </a:lnSpc>
              <a:tabLst>
                <a:tab algn="l" pos="0"/>
              </a:tabLst>
            </a:pPr>
            <a:r>
              <a:rPr b="0" lang="en-US" sz="2000" spc="-1" strike="noStrike">
                <a:latin typeface="Arial"/>
              </a:rPr>
              <a:t>- ¿Qué consecuencias tendría perder la contraseña de cifrado del catálogo SSISDB al migrar a otro servidor?</a:t>
            </a:r>
            <a:endParaRPr b="0" lang="es-ES" sz="2000" spc="-1" strike="noStrike">
              <a:latin typeface="Arial"/>
            </a:endParaRPr>
          </a:p>
          <a:p>
            <a:pPr marL="216000" indent="-213840">
              <a:lnSpc>
                <a:spcPct val="100000"/>
              </a:lnSpc>
              <a:tabLst>
                <a:tab algn="l" pos="0"/>
              </a:tabLst>
            </a:pPr>
            <a:r>
              <a:rPr b="0" lang="en-US" sz="2000" spc="-1" strike="noStrike">
                <a:latin typeface="Arial"/>
              </a:rPr>
              <a:t>- ¿Qué diferencia hay entre ejecutar un paquete en modo depuración dentro de Visual Studio y ejecutarlo en el motor de producción?</a:t>
            </a:r>
            <a:endParaRPr b="0" lang="es-ES" sz="2000" spc="-1" strike="noStrike">
              <a:latin typeface="Arial"/>
            </a:endParaRPr>
          </a:p>
        </p:txBody>
      </p:sp>
      <p:sp>
        <p:nvSpPr>
          <p:cNvPr id="2244"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041894A3-9A7A-4834-A17C-63B1DAE0310B}"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5" name="PlaceHolder 1"/>
          <p:cNvSpPr>
            <a:spLocks noGrp="1"/>
          </p:cNvSpPr>
          <p:nvPr>
            <p:ph type="sldImg"/>
          </p:nvPr>
        </p:nvSpPr>
        <p:spPr>
          <a:xfrm>
            <a:off x="685800" y="1143000"/>
            <a:ext cx="5483880" cy="3083760"/>
          </a:xfrm>
          <a:prstGeom prst="rect">
            <a:avLst/>
          </a:prstGeom>
        </p:spPr>
      </p:sp>
      <p:sp>
        <p:nvSpPr>
          <p:cNvPr id="2246"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Aprender a construir un pipeline de carga masiva en el Data Flow de SSIS desde un archivo plano CSV hacia una tabla relacional en SQL Server, comprendiendo los tipos de datos internos y la optimización de carga.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En SSIS, la arquitectura distingue dos niveles fundamentales: el Control Flow (orquesta tareas, bucles y lógica condicional de ejecución) y el Data Flow Task (mueve y transforma datos en memoria RAM).</a:t>
            </a:r>
            <a:endParaRPr b="0" lang="es-ES" sz="2000" spc="-1" strike="noStrike">
              <a:latin typeface="Arial"/>
            </a:endParaRPr>
          </a:p>
          <a:p>
            <a:pPr marL="216000" indent="-214200">
              <a:lnSpc>
                <a:spcPct val="100000"/>
              </a:lnSpc>
              <a:tabLst>
                <a:tab algn="l" pos="0"/>
              </a:tabLst>
            </a:pPr>
            <a:r>
              <a:rPr b="0" lang="en-US" sz="2000" spc="-1" strike="noStrike">
                <a:latin typeface="Arial"/>
              </a:rPr>
              <a:t>- Dentro de la tarea Data Flow, el motor de SSIS utiliza un pipeline basado en buffers en memoria RAM (gobernados por DefaultBufferMaxRows y DefaultBufferSize). Los datos nunca tocan el disco mientras viajan del origen al destino a menos que se sature la RAM (spooling).</a:t>
            </a:r>
            <a:endParaRPr b="0" lang="es-ES" sz="2000" spc="-1" strike="noStrike">
              <a:latin typeface="Arial"/>
            </a:endParaRPr>
          </a:p>
          <a:p>
            <a:pPr marL="216000" indent="-214200">
              <a:lnSpc>
                <a:spcPct val="100000"/>
              </a:lnSpc>
              <a:tabLst>
                <a:tab algn="l" pos="0"/>
              </a:tabLst>
            </a:pPr>
            <a:r>
              <a:rPr b="0" lang="en-US" sz="2000" spc="-1" strike="noStrike">
                <a:latin typeface="Arial"/>
              </a:rPr>
              <a:t>- Paso 1 - Flat File Source: lee el archivo CSV. Es crucial definir correctamente la página de códigos (ej. UTF-8 65001), delimitadores de columna y salto de fila, y si la primera fila contiene los encabezados. Todos los campos de texto plano se interpretan inicialmente como cadenas DT_STR (ANSI) o DT_WSTR (Unicode).</a:t>
            </a:r>
            <a:endParaRPr b="0" lang="es-ES" sz="2000" spc="-1" strike="noStrike">
              <a:latin typeface="Arial"/>
            </a:endParaRPr>
          </a:p>
          <a:p>
            <a:pPr marL="216000" indent="-214200">
              <a:lnSpc>
                <a:spcPct val="100000"/>
              </a:lnSpc>
              <a:tabLst>
                <a:tab algn="l" pos="0"/>
              </a:tabLst>
            </a:pPr>
            <a:r>
              <a:rPr b="0" lang="en-US" sz="2000" spc="-1" strike="noStrike">
                <a:latin typeface="Arial"/>
              </a:rPr>
              <a:t>- Paso 2 - Data Conversion: la base de datos relacional espera enteros, fechas o decimales tipados. Esta transformación convierte los tipos de datos en el buffer de memoria. Si una fila contiene un valor no convertible, el componente permite redirigir el error (Error Output) a un fichero de auditoría sin abortar todo el lote.</a:t>
            </a:r>
            <a:endParaRPr b="0" lang="es-ES" sz="2000" spc="-1" strike="noStrike">
              <a:latin typeface="Arial"/>
            </a:endParaRPr>
          </a:p>
          <a:p>
            <a:pPr marL="216000" indent="-214200">
              <a:lnSpc>
                <a:spcPct val="100000"/>
              </a:lnSpc>
              <a:tabLst>
                <a:tab algn="l" pos="0"/>
              </a:tabLst>
            </a:pPr>
            <a:r>
              <a:rPr b="0" lang="en-US" sz="2000" spc="-1" strike="noStrike">
                <a:latin typeface="Arial"/>
              </a:rPr>
              <a:t>- Paso 3 - OLE DB Destination: conecta con la base de datos destino de SQL Server. La configuración crítica para el DBA es seleccionar «Table or view - fast load». Esto ejecuta un BULK INSERT directo a la tabla con la opción TABLOCK, minimizando el consumo de Transaction Log y realizando cargas de cientos de miles de filas en segundos en lugar de ejecutar INSERTs individuales.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ocurre con el rendimiento de la base de datos si dejamos OLE DB Destination en modo estándar en vez de Fast Load?</a:t>
            </a:r>
            <a:endParaRPr b="0" lang="es-ES" sz="2000" spc="-1" strike="noStrike">
              <a:latin typeface="Arial"/>
            </a:endParaRPr>
          </a:p>
          <a:p>
            <a:pPr marL="216000" indent="-214200">
              <a:lnSpc>
                <a:spcPct val="100000"/>
              </a:lnSpc>
              <a:tabLst>
                <a:tab algn="l" pos="0"/>
              </a:tabLst>
            </a:pPr>
            <a:r>
              <a:rPr b="0" lang="en-US" sz="2000" spc="-1" strike="noStrike">
                <a:latin typeface="Arial"/>
              </a:rPr>
              <a:t>- ¿Por qué es preferible usar Flat File (CSV) frente a Excel para procesos batch automáticos y desatendidos?</a:t>
            </a:r>
            <a:endParaRPr b="0" lang="es-ES" sz="2000" spc="-1" strike="noStrike">
              <a:latin typeface="Arial"/>
            </a:endParaRPr>
          </a:p>
          <a:p>
            <a:pPr marL="216000" indent="-213840">
              <a:lnSpc>
                <a:spcPct val="100000"/>
              </a:lnSpc>
              <a:tabLst>
                <a:tab algn="l" pos="0"/>
              </a:tabLst>
            </a:pPr>
            <a:r>
              <a:rPr b="0" lang="en-US" sz="2000" spc="-1" strike="noStrike">
                <a:latin typeface="Arial"/>
              </a:rPr>
              <a:t>- ¿Cómo configurarías la salida de errores (Error Output) para no detener la carga si 5 filas de 100.000 vienen con datos corruptos?</a:t>
            </a:r>
            <a:endParaRPr b="0" lang="es-ES" sz="2000" spc="-1" strike="noStrike">
              <a:latin typeface="Arial"/>
            </a:endParaRPr>
          </a:p>
        </p:txBody>
      </p:sp>
      <p:sp>
        <p:nvSpPr>
          <p:cNvPr id="2247"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B04F20C0-365F-4573-8098-10D000985D8A}"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8" name="PlaceHolder 1"/>
          <p:cNvSpPr>
            <a:spLocks noGrp="1"/>
          </p:cNvSpPr>
          <p:nvPr>
            <p:ph type="sldImg"/>
          </p:nvPr>
        </p:nvSpPr>
        <p:spPr>
          <a:xfrm>
            <a:off x="685800" y="1143000"/>
            <a:ext cx="5483880" cy="3083760"/>
          </a:xfrm>
          <a:prstGeom prst="rect">
            <a:avLst/>
          </a:prstGeom>
        </p:spPr>
      </p:sp>
      <p:sp>
        <p:nvSpPr>
          <p:cNvPr id="2249"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Dominar el ciclo de vida de producción de un paquete SSIS: despliegue en SSISDB, automatización mediante SQL Server Agent y aseguramiento con Proxies para cumplimiento del mínimo privilegio.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El ciclo de vida de un paquete SSIS no termina en Visual Studio: el rol del DBA comienza cuando el desarrollador entrega el archivo compilado .ispac (Project Deployment Model).</a:t>
            </a:r>
            <a:endParaRPr b="0" lang="es-ES" sz="2000" spc="-1" strike="noStrike">
              <a:latin typeface="Arial"/>
            </a:endParaRPr>
          </a:p>
          <a:p>
            <a:pPr marL="216000" indent="-214200">
              <a:lnSpc>
                <a:spcPct val="100000"/>
              </a:lnSpc>
              <a:tabLst>
                <a:tab algn="l" pos="0"/>
              </a:tabLst>
            </a:pPr>
            <a:r>
              <a:rPr b="0" lang="en-US" sz="2000" spc="-1" strike="noStrike">
                <a:latin typeface="Arial"/>
              </a:rPr>
              <a:t>- Despliegue: en SSMS, se despliega el .ispac dentro del catálogo SSISDB en una carpeta dedicada por aplicación. SSISDB permite definir Variables de Entorno (Environments), de modo que el mismo paquete use cadenas de conexión de desarrollo, staging o producción sin necesidad de recompilar.</a:t>
            </a:r>
            <a:endParaRPr b="0" lang="es-ES" sz="2000" spc="-1" strike="noStrike">
              <a:latin typeface="Arial"/>
            </a:endParaRPr>
          </a:p>
          <a:p>
            <a:pPr marL="216000" indent="-214200">
              <a:lnSpc>
                <a:spcPct val="100000"/>
              </a:lnSpc>
              <a:tabLst>
                <a:tab algn="l" pos="0"/>
              </a:tabLst>
            </a:pPr>
            <a:r>
              <a:rPr b="0" lang="en-US" sz="2000" spc="-1" strike="noStrike">
                <a:latin typeface="Arial"/>
              </a:rPr>
              <a:t>- Automatización: en SQL Server Agent se crea un nuevo Job. Al añadir un paso (Job Step), se selecciona el tipo de subsistema «SQL Server Integration Services Package», apuntando al proyecto y paquete en SSISDB.</a:t>
            </a:r>
            <a:endParaRPr b="0" lang="es-ES" sz="2000" spc="-1" strike="noStrike">
              <a:latin typeface="Arial"/>
            </a:endParaRPr>
          </a:p>
          <a:p>
            <a:pPr marL="216000" indent="-214200">
              <a:lnSpc>
                <a:spcPct val="100000"/>
              </a:lnSpc>
              <a:tabLst>
                <a:tab algn="l" pos="0"/>
              </a:tabLst>
            </a:pPr>
            <a:r>
              <a:rPr b="0" lang="en-US" sz="2000" spc="-1" strike="noStrike">
                <a:latin typeface="Arial"/>
              </a:rPr>
              <a:t>- Seguridad con Proxies (punto clave): por defecto, los pasos de SSIS ejecutados por usuarios no-sysadmin no pueden correr bajo la cuenta de servicio del Agent. Un DBA profesional crea una Credential con un usuario de servicio de Windows y la vincula a un Proxy del Agent para el subsistema SSIS. Así, el paquete tiene únicamente los permisos de lectura NTFS sobre la carpeta de red donde caen los CSVs y permisos de escritura en la tabla destino.</a:t>
            </a:r>
            <a:endParaRPr b="0" lang="es-ES" sz="2000" spc="-1" strike="noStrike">
              <a:latin typeface="Arial"/>
            </a:endParaRPr>
          </a:p>
          <a:p>
            <a:pPr marL="216000" indent="-214200">
              <a:lnSpc>
                <a:spcPct val="100000"/>
              </a:lnSpc>
              <a:tabLst>
                <a:tab algn="l" pos="0"/>
              </a:tabLst>
            </a:pPr>
            <a:r>
              <a:rPr b="0" lang="en-US" sz="2000" spc="-1" strike="noStrike">
                <a:latin typeface="Arial"/>
              </a:rPr>
              <a:t>- Diagnóstico y monitorización: cuando un job de SSIS falla, el historial del Agent suele mostrar un error genérico («The package execution failed»). Para ver la causa exacta (fila errónea, tipo incompatible, timeout), el DBA hace clic derecho en el proyecto dentro de SSISDB -&gt; Reports -&gt; Standard Reports -&gt; All Executions, o consulta directamente la tabla catalog.operation_messages.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¿Por qué es una mala práctica convertir en sysadmin al usuario que ejecuta los jobs de SSIS para solucionar problemas de permisos?</a:t>
            </a:r>
            <a:endParaRPr b="0" lang="es-ES" sz="2000" spc="-1" strike="noStrike">
              <a:latin typeface="Arial"/>
            </a:endParaRPr>
          </a:p>
          <a:p>
            <a:pPr marL="216000" indent="-214200">
              <a:lnSpc>
                <a:spcPct val="100000"/>
              </a:lnSpc>
              <a:tabLst>
                <a:tab algn="l" pos="0"/>
              </a:tabLst>
            </a:pPr>
            <a:r>
              <a:rPr b="0" lang="en-US" sz="2000" spc="-1" strike="noStrike">
                <a:latin typeface="Arial"/>
              </a:rPr>
              <a:t>- ¿Dónde buscarías el mensaje detallado de error si el historial del Agent solo indica «falló el paso 1»?</a:t>
            </a:r>
            <a:endParaRPr b="0" lang="es-ES" sz="2000" spc="-1" strike="noStrike">
              <a:latin typeface="Arial"/>
            </a:endParaRPr>
          </a:p>
          <a:p>
            <a:pPr marL="216000" indent="-213840">
              <a:lnSpc>
                <a:spcPct val="100000"/>
              </a:lnSpc>
              <a:tabLst>
                <a:tab algn="l" pos="0"/>
              </a:tabLst>
            </a:pPr>
            <a:r>
              <a:rPr b="0" lang="en-US" sz="2000" spc="-1" strike="noStrike">
                <a:latin typeface="Arial"/>
              </a:rPr>
              <a:t>- ¿Cómo ayudan los «Environments» de SSISDB a separar los entornos de pruebas y producción sin tocar el código del paquete?</a:t>
            </a:r>
            <a:endParaRPr b="0" lang="es-ES" sz="2000" spc="-1" strike="noStrike">
              <a:latin typeface="Arial"/>
            </a:endParaRPr>
          </a:p>
        </p:txBody>
      </p:sp>
      <p:sp>
        <p:nvSpPr>
          <p:cNvPr id="2250"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30935262-C55E-4598-91FF-994F0D67A5E8}"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1" name="PlaceHolder 1"/>
          <p:cNvSpPr>
            <a:spLocks noGrp="1"/>
          </p:cNvSpPr>
          <p:nvPr>
            <p:ph type="sldImg"/>
          </p:nvPr>
        </p:nvSpPr>
        <p:spPr>
          <a:xfrm>
            <a:off x="685800" y="1143000"/>
            <a:ext cx="5483880" cy="3083760"/>
          </a:xfrm>
          <a:prstGeom prst="rect">
            <a:avLst/>
          </a:prstGeom>
        </p:spPr>
      </p:sp>
      <p:sp>
        <p:nvSpPr>
          <p:cNvPr id="2252"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Dejar la base Ventas lista para el ejercicio de desastre: recovery model Full y una log chain completa (Full, log, diferencial, log) con actividad entre backups.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Contexto: el laboratorio simula el escenario del diagrama de la estrategia: un Full, actividad, backups intermedios y un desastre posterior. Todo se hace sobre Ventas (la base creada en los laboratorios anteriores) en el contenedor Docker de SQL Server.</a:t>
            </a:r>
            <a:endParaRPr b="0" lang="es-ES" sz="2000" spc="-1" strike="noStrike">
              <a:latin typeface="Arial"/>
            </a:endParaRPr>
          </a:p>
          <a:p>
            <a:pPr marL="216000" indent="-214200">
              <a:lnSpc>
                <a:spcPct val="100000"/>
              </a:lnSpc>
              <a:tabLst>
                <a:tab algn="l" pos="0"/>
              </a:tabLst>
            </a:pPr>
            <a:r>
              <a:rPr b="0" lang="en-US" sz="2000" spc="-1" strike="noStrike">
                <a:latin typeface="Arial"/>
              </a:rPr>
              <a:t>- Importancia del orden: sin Full previo, BACKUP LOG falla (error 4214 / «no hay backup actual de la base»); un diferencial exige un Full base. Por eso el primer paso es el Full, y por eso la log chain empieza aquí.</a:t>
            </a:r>
            <a:endParaRPr b="0" lang="es-ES" sz="2000" spc="-1" strike="noStrike">
              <a:latin typeface="Arial"/>
            </a:endParaRPr>
          </a:p>
          <a:p>
            <a:pPr marL="216000" indent="-214200">
              <a:lnSpc>
                <a:spcPct val="100000"/>
              </a:lnSpc>
              <a:tabLst>
                <a:tab algn="l" pos="0"/>
              </a:tabLst>
            </a:pPr>
            <a:r>
              <a:rPr b="0" lang="en-US" sz="2000" spc="-1" strike="noStrike">
                <a:latin typeface="Arial"/>
              </a:rPr>
              <a:t>- WITH COMPRESSION, CHECKSUM, INIT: INIT sobrescribe el fichero si se repite el ejercicio; CHECKSUM valida páginas. Las rutas son /var/opt/mssql/backup/ dentro del contenedor; hay que montarla como volumen (docker run -v …) si se quiere ver desde el host.</a:t>
            </a:r>
            <a:endParaRPr b="0" lang="es-ES" sz="2000" spc="-1" strike="noStrike">
              <a:latin typeface="Arial"/>
            </a:endParaRPr>
          </a:p>
          <a:p>
            <a:pPr marL="216000" indent="-214200">
              <a:lnSpc>
                <a:spcPct val="100000"/>
              </a:lnSpc>
              <a:tabLst>
                <a:tab algn="l" pos="0"/>
              </a:tabLst>
            </a:pPr>
            <a:r>
              <a:rPr b="0" lang="en-US" sz="2000" spc="-1" strike="noStrike">
                <a:latin typeface="Arial"/>
              </a:rPr>
              <a:t>- La actividad entre backups (INSERT en dbo.Cliente) sirve para que cada tipo de backup contenga datos distintos y para poder comprobar después hasta dónde se restauró.</a:t>
            </a:r>
            <a:endParaRPr b="0" lang="es-ES" sz="2000" spc="-1" strike="noStrike">
              <a:latin typeface="Arial"/>
            </a:endParaRPr>
          </a:p>
          <a:p>
            <a:pPr marL="216000" indent="-214200">
              <a:lnSpc>
                <a:spcPct val="100000"/>
              </a:lnSpc>
              <a:tabLst>
                <a:tab algn="l" pos="0"/>
              </a:tabLst>
            </a:pPr>
            <a:r>
              <a:rPr b="0" lang="en-US" sz="2000" spc="-1" strike="noStrike">
                <a:latin typeface="Arial"/>
              </a:rPr>
              <a:t>- Anotar la hora (SYSDATETIME) justo antes del desastre es el dato más importante de la práctica: será el STOPAT. Pedir al alumnado que lo copie en un bloc de notas.</a:t>
            </a:r>
            <a:endParaRPr b="0" lang="es-ES" sz="2000" spc="-1" strike="noStrike">
              <a:latin typeface="Arial"/>
            </a:endParaRPr>
          </a:p>
          <a:p>
            <a:pPr marL="216000" indent="-214200">
              <a:lnSpc>
                <a:spcPct val="100000"/>
              </a:lnSpc>
              <a:tabLst>
                <a:tab algn="l" pos="0"/>
              </a:tabLst>
            </a:pPr>
            <a:r>
              <a:rPr b="0" lang="en-US" sz="2000" spc="-1" strike="noStrike">
                <a:latin typeface="Arial"/>
              </a:rPr>
              <a:t>- Tiempo: ~20 min. Mientras corren los backups, aprovechar para repasar msdb.dbo.backupset y la columna type.</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ocurre si se lanza BACKUP LOG antes del primer Full? ¿Por qué?</a:t>
            </a:r>
            <a:endParaRPr b="0" lang="es-ES" sz="2000" spc="-1" strike="noStrike">
              <a:latin typeface="Arial"/>
            </a:endParaRPr>
          </a:p>
          <a:p>
            <a:pPr marL="216000" indent="-214200">
              <a:lnSpc>
                <a:spcPct val="100000"/>
              </a:lnSpc>
              <a:tabLst>
                <a:tab algn="l" pos="0"/>
              </a:tabLst>
            </a:pPr>
            <a:r>
              <a:rPr b="0" lang="en-US" sz="2000" spc="-1" strike="noStrike">
                <a:latin typeface="Arial"/>
              </a:rPr>
              <a:t>- ¿Qué contiene el diferencial respecto del log backup anterior?</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Instrucciones de Laboratorio:</a:t>
            </a:r>
            <a:endParaRPr b="0" lang="es-ES" sz="2000" spc="-1" strike="noStrike">
              <a:latin typeface="Arial"/>
            </a:endParaRPr>
          </a:p>
          <a:p>
            <a:pPr marL="216000" indent="-214200">
              <a:lnSpc>
                <a:spcPct val="100000"/>
              </a:lnSpc>
              <a:tabLst>
                <a:tab algn="l" pos="0"/>
              </a:tabLst>
            </a:pPr>
            <a:r>
              <a:rPr b="0" lang="en-US" sz="2000" spc="-1" strike="noStrike">
                <a:latin typeface="Arial"/>
              </a:rPr>
              <a:t>- Paso 1 (SSMS o sqlcmd conectado al contenedor): ejecutar USE master; ALTER DATABASE Ventas SET RECOVERY FULL; y comprobar con SELECT recovery_model_desc FROM sys.databases WHERE name = N'Ventas'.</a:t>
            </a:r>
            <a:endParaRPr b="0" lang="es-ES" sz="2000" spc="-1" strike="noStrike">
              <a:latin typeface="Arial"/>
            </a:endParaRPr>
          </a:p>
          <a:p>
            <a:pPr marL="216000" indent="-214200">
              <a:lnSpc>
                <a:spcPct val="100000"/>
              </a:lnSpc>
              <a:tabLst>
                <a:tab algn="l" pos="0"/>
              </a:tabLst>
            </a:pPr>
            <a:r>
              <a:rPr b="0" lang="en-US" sz="2000" spc="-1" strike="noStrike">
                <a:latin typeface="Arial"/>
              </a:rPr>
              <a:t>- Paso 2: tomar el Full inicial (Ventas_L4_FULL.bak). Verificar que aparece en msdb.dbo.backupset con type = D.</a:t>
            </a:r>
            <a:endParaRPr b="0" lang="es-ES" sz="2000" spc="-1" strike="noStrike">
              <a:latin typeface="Arial"/>
            </a:endParaRPr>
          </a:p>
          <a:p>
            <a:pPr marL="216000" indent="-214200">
              <a:lnSpc>
                <a:spcPct val="100000"/>
              </a:lnSpc>
              <a:tabLst>
                <a:tab algn="l" pos="0"/>
              </a:tabLst>
            </a:pPr>
            <a:r>
              <a:rPr b="0" lang="en-US" sz="2000" spc="-1" strike="noStrike">
                <a:latin typeface="Arial"/>
              </a:rPr>
              <a:t>- Paso 3: insertar un cliente y tomar el primer log backup (Ventas_L4_LOG1.trn); insertar otro y tomar el diferencial (Ventas_L4_DIFF.bak).</a:t>
            </a:r>
            <a:endParaRPr b="0" lang="es-ES" sz="2000" spc="-1" strike="noStrike">
              <a:latin typeface="Arial"/>
            </a:endParaRPr>
          </a:p>
          <a:p>
            <a:pPr marL="216000" indent="-214200">
              <a:lnSpc>
                <a:spcPct val="100000"/>
              </a:lnSpc>
              <a:tabLst>
                <a:tab algn="l" pos="0"/>
              </a:tabLst>
            </a:pPr>
            <a:r>
              <a:rPr b="0" lang="en-US" sz="2000" spc="-1" strike="noStrike">
                <a:latin typeface="Arial"/>
              </a:rPr>
              <a:t>- Paso 4: insertar un tercer cliente y tomar un segundo log backup (Ventas_L4_LOG2.trn). Ejecutar SELECT COUNT(*) FROM dbo.Pedido y anotar el resultado (baseline).</a:t>
            </a:r>
            <a:endParaRPr b="0" lang="es-ES" sz="2000" spc="-1" strike="noStrike">
              <a:latin typeface="Arial"/>
            </a:endParaRPr>
          </a:p>
          <a:p>
            <a:pPr marL="216000" indent="-214200">
              <a:lnSpc>
                <a:spcPct val="100000"/>
              </a:lnSpc>
              <a:tabLst>
                <a:tab algn="l" pos="0"/>
              </a:tabLst>
            </a:pPr>
            <a:r>
              <a:rPr b="0" lang="en-US" sz="2000" spc="-1" strike="noStrike">
                <a:latin typeface="Arial"/>
              </a:rPr>
              <a:t>- Trampas habituales: (a) el usuario mssql del contenedor no tiene permiso sobre la carpeta del volumen montado (error 3201/«Operating system error 5»); (b) la base estaba en SIMPLE y no se cambió (BACKUP LOG devuelve el error 4208); (c) la columna Nombre de dbo.Cliente tiene otras columnas NOT NULL: adaptar el INSERT; (d) rutas Windows (C:\…) en un contenedor Linux.</a:t>
            </a:r>
            <a:endParaRPr b="0" lang="es-ES" sz="2000" spc="-1" strike="noStrike">
              <a:latin typeface="Arial"/>
            </a:endParaRPr>
          </a:p>
          <a:p>
            <a:pPr marL="216000" indent="-213840">
              <a:lnSpc>
                <a:spcPct val="100000"/>
              </a:lnSpc>
              <a:tabLst>
                <a:tab algn="l" pos="0"/>
              </a:tabLst>
            </a:pPr>
            <a:r>
              <a:rPr b="0" lang="en-US" sz="2000" spc="-1" strike="noStrike">
                <a:latin typeface="Arial"/>
              </a:rPr>
              <a:t>- Guía de resolución: SELECT bs.type, bs.backup_finish_date, bmf.physical_device_name FROM msdb.dbo.backupset bs JOIN msdb.dbo.backupmediafamily bmf ON bmf.media_set_id = bs.media_set_id WHERE bs.database_name = N'Ventas' ORDER BY bs.backup_finish_date; debe mostrar D, L, I, L en ese orden. Si falta alguno, repetir ese paso.</a:t>
            </a:r>
            <a:endParaRPr b="0" lang="es-ES" sz="2000" spc="-1" strike="noStrike">
              <a:latin typeface="Arial"/>
            </a:endParaRPr>
          </a:p>
        </p:txBody>
      </p:sp>
      <p:sp>
        <p:nvSpPr>
          <p:cNvPr id="2253"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F9C6662E-3765-4DDE-925D-6B2D32CFB411}"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4" name="PlaceHolder 1"/>
          <p:cNvSpPr>
            <a:spLocks noGrp="1"/>
          </p:cNvSpPr>
          <p:nvPr>
            <p:ph type="sldImg"/>
          </p:nvPr>
        </p:nvSpPr>
        <p:spPr>
          <a:xfrm>
            <a:off x="685800" y="1143000"/>
            <a:ext cx="5483880" cy="3083760"/>
          </a:xfrm>
          <a:prstGeom prst="rect">
            <a:avLst/>
          </a:prstGeom>
        </p:spPr>
      </p:sp>
      <p:sp>
        <p:nvSpPr>
          <p:cNvPr id="2255"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Provocar un error humano (DELETE sin WHERE), registrar la hora previa y salvar las transacciones con un tail-log backup antes de restaurar.</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El error humano es la causa de pérdida de datos más frecuente en producción (más que el fallo hardware). Simulamos un DELETE FROM dbo.Pedido sin WHERE: las filas desaparecen de forma lógica pero el log las contiene.</a:t>
            </a:r>
            <a:endParaRPr b="0" lang="es-ES" sz="2000" spc="-1" strike="noStrike">
              <a:latin typeface="Arial"/>
            </a:endParaRPr>
          </a:p>
          <a:p>
            <a:pPr marL="216000" indent="-214200">
              <a:lnSpc>
                <a:spcPct val="100000"/>
              </a:lnSpc>
              <a:tabLst>
                <a:tab algn="l" pos="0"/>
              </a:tabLst>
            </a:pPr>
            <a:r>
              <a:rPr b="0" lang="en-US" sz="2000" spc="-1" strike="noStrike">
                <a:latin typeface="Arial"/>
              </a:rPr>
              <a:t>- Capturar SYSDATETIME() justo antes, y esperar unos segundos (WAITFOR DELAY) antes del DELETE para que haya margen entre HoraOK y el accidente al fijar STOPAT. La hora es la del servidor: en Docker normalmente UTC.</a:t>
            </a:r>
            <a:endParaRPr b="0" lang="es-ES" sz="2000" spc="-1" strike="noStrike">
              <a:latin typeface="Arial"/>
            </a:endParaRPr>
          </a:p>
          <a:p>
            <a:pPr marL="216000" indent="-214200">
              <a:lnSpc>
                <a:spcPct val="100000"/>
              </a:lnSpc>
              <a:tabLst>
                <a:tab algn="l" pos="0"/>
              </a:tabLst>
            </a:pPr>
            <a:r>
              <a:rPr b="0" lang="en-US" sz="2000" spc="-1" strike="noStrike">
                <a:latin typeface="Arial"/>
              </a:rPr>
              <a:t>- Tail-log backup con NORECOVERY: toma la cola del log (incluye el DELETE y todo lo anterior) y deja la base en RESTORING, bloqueando nuevas escrituras mientras se restaura. En producción es el paso que evita perder los últimos minutos.</a:t>
            </a:r>
            <a:endParaRPr b="0" lang="es-ES" sz="2000" spc="-1" strike="noStrike">
              <a:latin typeface="Arial"/>
            </a:endParaRPr>
          </a:p>
          <a:p>
            <a:pPr marL="216000" indent="-214200">
              <a:lnSpc>
                <a:spcPct val="100000"/>
              </a:lnSpc>
              <a:tabLst>
                <a:tab algn="l" pos="0"/>
              </a:tabLst>
            </a:pPr>
            <a:r>
              <a:rPr b="0" lang="en-US" sz="2000" spc="-1" strike="noStrike">
                <a:latin typeface="Arial"/>
              </a:rPr>
              <a:t>- Explicar la lección: lo que se restaura es la base anterior al DELETE, pero los datos legítimos hechos entre el accidente y la detección se perderían; alternativa: restaurar con otro nombre (RESTORE … AS Ventas_Recup) y copiar sólo las filas borradas con INSERT…SELECT.</a:t>
            </a:r>
            <a:endParaRPr b="0" lang="es-ES" sz="2000" spc="-1" strike="noStrike">
              <a:latin typeface="Arial"/>
            </a:endParaRPr>
          </a:p>
          <a:p>
            <a:pPr marL="216000" indent="-214200">
              <a:lnSpc>
                <a:spcPct val="100000"/>
              </a:lnSpc>
              <a:tabLst>
                <a:tab algn="l" pos="0"/>
              </a:tabLst>
            </a:pPr>
            <a:r>
              <a:rPr b="0" lang="en-US" sz="2000" spc="-1" strike="noStrike">
                <a:latin typeface="Arial"/>
              </a:rPr>
              <a:t>- Verificar el estado tras el tail-log: SELECT name, state_desc FROM sys.databases WHERE name = N'Ventas'; debe mostrar RESTORING.</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¿Por qué hay que hacer el tail-log ANTES de empezar a restaurar?</a:t>
            </a:r>
            <a:endParaRPr b="0" lang="es-ES" sz="2000" spc="-1" strike="noStrike">
              <a:latin typeface="Arial"/>
            </a:endParaRPr>
          </a:p>
          <a:p>
            <a:pPr marL="216000" indent="-214200">
              <a:lnSpc>
                <a:spcPct val="100000"/>
              </a:lnSpc>
              <a:tabLst>
                <a:tab algn="l" pos="0"/>
              </a:tabLst>
            </a:pPr>
            <a:r>
              <a:rPr b="0" lang="en-US" sz="2000" spc="-1" strike="noStrike">
                <a:latin typeface="Arial"/>
              </a:rPr>
              <a:t>- ¿Qué alternativa tendrías si sólo quisieras recuperar las filas borradas sin revertir toda la base?</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Instrucciones de Laboratorio:</a:t>
            </a:r>
            <a:endParaRPr b="0" lang="es-ES" sz="2000" spc="-1" strike="noStrike">
              <a:latin typeface="Arial"/>
            </a:endParaRPr>
          </a:p>
          <a:p>
            <a:pPr marL="216000" indent="-214200">
              <a:lnSpc>
                <a:spcPct val="100000"/>
              </a:lnSpc>
              <a:tabLst>
                <a:tab algn="l" pos="0"/>
              </a:tabLst>
            </a:pPr>
            <a:r>
              <a:rPr b="0" lang="en-US" sz="2000" spc="-1" strike="noStrike">
                <a:latin typeface="Arial"/>
              </a:rPr>
              <a:t>- Paso 1: en una pestaña de SSMS ejecutar USE Ventas; SELECT COUNT(*) AS Pedidos FROM dbo.Pedido; y anotar el valor.</a:t>
            </a:r>
            <a:endParaRPr b="0" lang="es-ES" sz="2000" spc="-1" strike="noStrike">
              <a:latin typeface="Arial"/>
            </a:endParaRPr>
          </a:p>
          <a:p>
            <a:pPr marL="216000" indent="-214200">
              <a:lnSpc>
                <a:spcPct val="100000"/>
              </a:lnSpc>
              <a:tabLst>
                <a:tab algn="l" pos="0"/>
              </a:tabLst>
            </a:pPr>
            <a:r>
              <a:rPr b="0" lang="en-US" sz="2000" spc="-1" strike="noStrike">
                <a:latin typeface="Arial"/>
              </a:rPr>
              <a:t>- Paso 2: ejecutar SELECT SYSDATETIME() AS HoraOK; copiar el valor (p. ej. 2025-03-12 10:36:05.1234567) y esperar 5 s con WAITFOR DELAY.</a:t>
            </a:r>
            <a:endParaRPr b="0" lang="es-ES" sz="2000" spc="-1" strike="noStrike">
              <a:latin typeface="Arial"/>
            </a:endParaRPr>
          </a:p>
          <a:p>
            <a:pPr marL="216000" indent="-214200">
              <a:lnSpc>
                <a:spcPct val="100000"/>
              </a:lnSpc>
              <a:tabLst>
                <a:tab algn="l" pos="0"/>
              </a:tabLst>
            </a:pPr>
            <a:r>
              <a:rPr b="0" lang="en-US" sz="2000" spc="-1" strike="noStrike">
                <a:latin typeface="Arial"/>
              </a:rPr>
              <a:t>- Paso 3: ejecutar el «accidente»: DELETE FROM dbo.Pedido; y comprobar COUNT(*) = 0.</a:t>
            </a:r>
            <a:endParaRPr b="0" lang="es-ES" sz="2000" spc="-1" strike="noStrike">
              <a:latin typeface="Arial"/>
            </a:endParaRPr>
          </a:p>
          <a:p>
            <a:pPr marL="216000" indent="-214200">
              <a:lnSpc>
                <a:spcPct val="100000"/>
              </a:lnSpc>
              <a:tabLst>
                <a:tab algn="l" pos="0"/>
              </a:tabLst>
            </a:pPr>
            <a:r>
              <a:rPr b="0" lang="en-US" sz="2000" spc="-1" strike="noStrike">
                <a:latin typeface="Arial"/>
              </a:rPr>
              <a:t>- Paso 4: desde master tomar el tail-log (Ventas_L4_TAIL.trn) WITH NORECOVERY, CHECKSUM. Si la sesión que borró sigue conectada a Ventas, cerrarla antes o añadir ALTER DATABASE … SET SINGLE_USER WITH ROLLBACK IMMEDIATE.</a:t>
            </a:r>
            <a:endParaRPr b="0" lang="es-ES" sz="2000" spc="-1" strike="noStrike">
              <a:latin typeface="Arial"/>
            </a:endParaRPr>
          </a:p>
          <a:p>
            <a:pPr marL="216000" indent="-214200">
              <a:lnSpc>
                <a:spcPct val="100000"/>
              </a:lnSpc>
              <a:tabLst>
                <a:tab algn="l" pos="0"/>
              </a:tabLst>
            </a:pPr>
            <a:r>
              <a:rPr b="0" lang="en-US" sz="2000" spc="-1" strike="noStrike">
                <a:latin typeface="Arial"/>
              </a:rPr>
              <a:t>- Trampas habituales: (a) dejar USE Ventas activo y no poder pasar a RESTORING (hay conexiones abiertas); (b) olvidar anotar la hora; (c) usar NORECOVERY en el tail-log y luego querer consultar la base (está en RESTORING, es lo esperado); (d) confundir hora local y UTC.</a:t>
            </a:r>
            <a:endParaRPr b="0" lang="es-ES" sz="2000" spc="-1" strike="noStrike">
              <a:latin typeface="Arial"/>
            </a:endParaRPr>
          </a:p>
          <a:p>
            <a:pPr marL="216000" indent="-213840">
              <a:lnSpc>
                <a:spcPct val="100000"/>
              </a:lnSpc>
              <a:tabLst>
                <a:tab algn="l" pos="0"/>
              </a:tabLst>
            </a:pPr>
            <a:r>
              <a:rPr b="0" lang="en-US" sz="2000" spc="-1" strike="noStrike">
                <a:latin typeface="Arial"/>
              </a:rPr>
              <a:t>- Guía de resolución: si el tail-log falla por conexiones, ejecutar ALTER DATABASE Ventas SET SINGLE_USER WITH ROLLBACK IMMEDIATE y repetir. Si se olvidó la hora, buscarla con fn_dblog o, tras restaurar a otro nombre, con una consulta por la fecha de la última fila válida.</a:t>
            </a:r>
            <a:endParaRPr b="0" lang="es-ES" sz="2000" spc="-1" strike="noStrike">
              <a:latin typeface="Arial"/>
            </a:endParaRPr>
          </a:p>
        </p:txBody>
      </p:sp>
      <p:sp>
        <p:nvSpPr>
          <p:cNvPr id="2256"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888CBB09-A26B-4CBD-BAA8-3B97ED23072F}"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7" name="PlaceHolder 1"/>
          <p:cNvSpPr>
            <a:spLocks noGrp="1"/>
          </p:cNvSpPr>
          <p:nvPr>
            <p:ph type="sldImg"/>
          </p:nvPr>
        </p:nvSpPr>
        <p:spPr>
          <a:xfrm>
            <a:off x="685800" y="1143000"/>
            <a:ext cx="5483880" cy="3083760"/>
          </a:xfrm>
          <a:prstGeom prst="rect">
            <a:avLst/>
          </a:prstGeom>
        </p:spPr>
      </p:sp>
      <p:sp>
        <p:nvSpPr>
          <p:cNvPr id="2258"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Ejecutar la secuencia completa de restauración con STOPAT, recuperar Pedido y verificar el resultado comparándolo con el baseline.</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Secuencia: Full (NORECOVERY, REPLACE) → diferencial (NORECOVERY) → log 1 (NORECOVERY) → log 2 (NORECOVERY, si se tomó) → tail-log con STOPAT = HoraOK y RECOVERY. Cada paso debe devolver «RESTORE DATABASE successfully processed» antes del siguiente.</a:t>
            </a:r>
            <a:endParaRPr b="0" lang="es-ES" sz="2000" spc="-1" strike="noStrike">
              <a:latin typeface="Arial"/>
            </a:endParaRPr>
          </a:p>
          <a:p>
            <a:pPr marL="216000" indent="-214200">
              <a:lnSpc>
                <a:spcPct val="100000"/>
              </a:lnSpc>
              <a:tabLst>
                <a:tab algn="l" pos="0"/>
              </a:tabLst>
            </a:pPr>
            <a:r>
              <a:rPr b="0" lang="en-US" sz="2000" spc="-1" strike="noStrike">
                <a:latin typeface="Arial"/>
              </a:rPr>
              <a:t>- El STOPAT ha de ir en el último log que cubra la hora y estar ANTES del DELETE. Si la hora indicada es anterior al inicio de ese log, el motor devuelve el error 4326 («too early to apply»); si es posterior al final, avisa de que el log termina antes (y la base queda recuperada al final del log).</a:t>
            </a:r>
            <a:endParaRPr b="0" lang="es-ES" sz="2000" spc="-1" strike="noStrike">
              <a:latin typeface="Arial"/>
            </a:endParaRPr>
          </a:p>
          <a:p>
            <a:pPr marL="216000" indent="-214200">
              <a:lnSpc>
                <a:spcPct val="100000"/>
              </a:lnSpc>
              <a:tabLst>
                <a:tab algn="l" pos="0"/>
              </a:tabLst>
            </a:pPr>
            <a:r>
              <a:rPr b="0" lang="en-US" sz="2000" spc="-1" strike="noStrike">
                <a:latin typeface="Arial"/>
              </a:rPr>
              <a:t>- REPLACE es necesario porque la base existe (en RESTORING) y se sobrescribe. Si alguien omite NORECOVERY en el Full, el siguiente RESTORE falla («the database is online / el log no se puede restaurar»): hay que volver a empezar.</a:t>
            </a:r>
            <a:endParaRPr b="0" lang="es-ES" sz="2000" spc="-1" strike="noStrike">
              <a:latin typeface="Arial"/>
            </a:endParaRPr>
          </a:p>
          <a:p>
            <a:pPr marL="216000" indent="-214200">
              <a:lnSpc>
                <a:spcPct val="100000"/>
              </a:lnSpc>
              <a:tabLst>
                <a:tab algn="l" pos="0"/>
              </a:tabLst>
            </a:pPr>
            <a:r>
              <a:rPr b="0" lang="en-US" sz="2000" spc="-1" strike="noStrike">
                <a:latin typeface="Arial"/>
              </a:rPr>
              <a:t>- Verificación: SELECT COUNT(*) FROM dbo.Pedido debe igualar el baseline anotado antes del DELETE. Después: DBCC CHECKDB (Ventas) WITH NO_INFOMSGS y una consulta a msdb.dbo.restorehistory para ver la secuencia.</a:t>
            </a:r>
            <a:endParaRPr b="0" lang="es-ES" sz="2000" spc="-1" strike="noStrike">
              <a:latin typeface="Arial"/>
            </a:endParaRPr>
          </a:p>
          <a:p>
            <a:pPr marL="216000" indent="-214200">
              <a:lnSpc>
                <a:spcPct val="100000"/>
              </a:lnSpc>
              <a:tabLst>
                <a:tab algn="l" pos="0"/>
              </a:tabLst>
            </a:pPr>
            <a:r>
              <a:rPr b="0" lang="en-US" sz="2000" spc="-1" strike="noStrike">
                <a:latin typeface="Arial"/>
              </a:rPr>
              <a:t>- Cierre pedagógico: discutir el RTO real medido (cuánto tardó) y el RPO (qué se perdió, en este caso nada gracias al tail-log); conectar con el caso integrador.</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diferencia habría si en vez de STOPAT usáramos sólo RECOVERY con el tail-log completo?</a:t>
            </a:r>
            <a:endParaRPr b="0" lang="es-ES" sz="2000" spc="-1" strike="noStrike">
              <a:latin typeface="Arial"/>
            </a:endParaRPr>
          </a:p>
          <a:p>
            <a:pPr marL="216000" indent="-214200">
              <a:lnSpc>
                <a:spcPct val="100000"/>
              </a:lnSpc>
              <a:tabLst>
                <a:tab algn="l" pos="0"/>
              </a:tabLst>
            </a:pPr>
            <a:r>
              <a:rPr b="0" lang="en-US" sz="2000" spc="-1" strike="noStrike">
                <a:latin typeface="Arial"/>
              </a:rPr>
              <a:t>- Si el COUNT(*) es menor que el baseline, ¿qué hipótesis comprobarías primero?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Instrucciones de Laboratorio:</a:t>
            </a:r>
            <a:endParaRPr b="0" lang="es-ES" sz="2000" spc="-1" strike="noStrike">
              <a:latin typeface="Arial"/>
            </a:endParaRPr>
          </a:p>
          <a:p>
            <a:pPr marL="216000" indent="-214200">
              <a:lnSpc>
                <a:spcPct val="100000"/>
              </a:lnSpc>
              <a:tabLst>
                <a:tab algn="l" pos="0"/>
              </a:tabLst>
            </a:pPr>
            <a:r>
              <a:rPr b="0" lang="en-US" sz="2000" spc="-1" strike="noStrike">
                <a:latin typeface="Arial"/>
              </a:rPr>
              <a:t>- Paso 1: desde master, RESTORE DATABASE Ventas FROM DISK = Ventas_L4_FULL.bak WITH NORECOVERY, REPLACE.</a:t>
            </a:r>
            <a:endParaRPr b="0" lang="es-ES" sz="2000" spc="-1" strike="noStrike">
              <a:latin typeface="Arial"/>
            </a:endParaRPr>
          </a:p>
          <a:p>
            <a:pPr marL="216000" indent="-214200">
              <a:lnSpc>
                <a:spcPct val="100000"/>
              </a:lnSpc>
              <a:tabLst>
                <a:tab algn="l" pos="0"/>
              </a:tabLst>
            </a:pPr>
            <a:r>
              <a:rPr b="0" lang="en-US" sz="2000" spc="-1" strike="noStrike">
                <a:latin typeface="Arial"/>
              </a:rPr>
              <a:t>- Paso 2: RESTORE DATABASE Ventas FROM DISK = Ventas_L4_DIFF.bak WITH NORECOVERY.</a:t>
            </a:r>
            <a:endParaRPr b="0" lang="es-ES" sz="2000" spc="-1" strike="noStrike">
              <a:latin typeface="Arial"/>
            </a:endParaRPr>
          </a:p>
          <a:p>
            <a:pPr marL="216000" indent="-214200">
              <a:lnSpc>
                <a:spcPct val="100000"/>
              </a:lnSpc>
              <a:tabLst>
                <a:tab algn="l" pos="0"/>
              </a:tabLst>
            </a:pPr>
            <a:r>
              <a:rPr b="0" lang="en-US" sz="2000" spc="-1" strike="noStrike">
                <a:latin typeface="Arial"/>
              </a:rPr>
              <a:t>- Paso 3: RESTORE LOG con Ventas_L4_LOG1.trn (NORECOVERY); si se tomó el segundo log (LOG2), restaurarlo también en orden.</a:t>
            </a:r>
            <a:endParaRPr b="0" lang="es-ES" sz="2000" spc="-1" strike="noStrike">
              <a:latin typeface="Arial"/>
            </a:endParaRPr>
          </a:p>
          <a:p>
            <a:pPr marL="216000" indent="-214200">
              <a:lnSpc>
                <a:spcPct val="100000"/>
              </a:lnSpc>
              <a:tabLst>
                <a:tab algn="l" pos="0"/>
              </a:tabLst>
            </a:pPr>
            <a:r>
              <a:rPr b="0" lang="en-US" sz="2000" spc="-1" strike="noStrike">
                <a:latin typeface="Arial"/>
              </a:rPr>
              <a:t>- Paso 4: RESTORE LOG con Ventas_L4_TAIL.trn WITH STOPAT = N'&lt;HoraOK&gt;', RECOVERY (usar el valor anotado; formato aaaa-mm-ddThh:mm:ss).</a:t>
            </a:r>
            <a:endParaRPr b="0" lang="es-ES" sz="2000" spc="-1" strike="noStrike">
              <a:latin typeface="Arial"/>
            </a:endParaRPr>
          </a:p>
          <a:p>
            <a:pPr marL="216000" indent="-214200">
              <a:lnSpc>
                <a:spcPct val="100000"/>
              </a:lnSpc>
              <a:tabLst>
                <a:tab algn="l" pos="0"/>
              </a:tabLst>
            </a:pPr>
            <a:r>
              <a:rPr b="0" lang="en-US" sz="2000" spc="-1" strike="noStrike">
                <a:latin typeface="Arial"/>
              </a:rPr>
              <a:t>- Paso 5: comprobar COUNT(*) FROM dbo.Pedido = baseline, state_desc = ONLINE y ejecutar DBCC CHECKDB.</a:t>
            </a:r>
            <a:endParaRPr b="0" lang="es-ES" sz="2000" spc="-1" strike="noStrike">
              <a:latin typeface="Arial"/>
            </a:endParaRPr>
          </a:p>
          <a:p>
            <a:pPr marL="216000" indent="-214200">
              <a:lnSpc>
                <a:spcPct val="100000"/>
              </a:lnSpc>
              <a:tabLst>
                <a:tab algn="l" pos="0"/>
              </a:tabLst>
            </a:pPr>
            <a:r>
              <a:rPr b="0" lang="en-US" sz="2000" spc="-1" strike="noStrike">
                <a:latin typeface="Arial"/>
              </a:rPr>
              <a:t>- Trampas habituales: (a) aplicar un log fuera de orden o saltarse uno: error 4305 («log too recent / LSN too early»); (b) STOPAT posterior al DELETE: la tabla sigue vacía; (c) restaurar el Full sin NORECOVERY: la base se abre y la cadena se corta; (d) nombres lógicos distintos al usar MOVE (revisar con RESTORE FILELISTONLY).</a:t>
            </a:r>
            <a:endParaRPr b="0" lang="es-ES" sz="2000" spc="-1" strike="noStrike">
              <a:latin typeface="Arial"/>
            </a:endParaRPr>
          </a:p>
          <a:p>
            <a:pPr marL="216000" indent="-213840">
              <a:lnSpc>
                <a:spcPct val="100000"/>
              </a:lnSpc>
              <a:tabLst>
                <a:tab algn="l" pos="0"/>
              </a:tabLst>
            </a:pPr>
            <a:r>
              <a:rPr b="0" lang="en-US" sz="2000" spc="-1" strike="noStrike">
                <a:latin typeface="Arial"/>
              </a:rPr>
              <a:t>- Guía de resolución: si se cometió el error (c), repetir desde el paso 1 con REPLACE. Si STOPAT queda tarde, repetir toda la secuencia con una hora anterior (restaurando de nuevo desde el Full). Comprobar los LSN con RESTORE HEADERONLY o en msdb.dbo.backupset (first_lsn / last_lsn).</a:t>
            </a:r>
            <a:endParaRPr b="0" lang="es-ES" sz="2000" spc="-1" strike="noStrike">
              <a:latin typeface="Arial"/>
            </a:endParaRPr>
          </a:p>
        </p:txBody>
      </p:sp>
      <p:sp>
        <p:nvSpPr>
          <p:cNvPr id="2259"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2A6A044F-99C7-4246-9823-CE14F7BE24FF}"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0" name="PlaceHolder 1"/>
          <p:cNvSpPr>
            <a:spLocks noGrp="1"/>
          </p:cNvSpPr>
          <p:nvPr>
            <p:ph type="sldImg"/>
          </p:nvPr>
        </p:nvSpPr>
        <p:spPr>
          <a:xfrm>
            <a:off x="685800" y="1143000"/>
            <a:ext cx="5483880" cy="3083760"/>
          </a:xfrm>
          <a:prstGeom prst="rect">
            <a:avLst/>
          </a:prstGeom>
        </p:spPr>
      </p:sp>
      <p:sp>
        <p:nvSpPr>
          <p:cNvPr id="2261"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Integrar todo el curso en un único entregable: dejar una instancia lista para producción con seguridad, rendimiento, estrategia de backups y mantenimiento que cumpla un RPO y un RTO dados.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Escenario: «Ventas S.A.» pone en producción la base Ventas (Cliente, Pedido, Producto) en una instancia nueva. Se pide un plan de operación defendible ante el responsable de sistemas, con un RPO ≤ 15 min y un RTO ≤ 60 min.</a:t>
            </a:r>
            <a:endParaRPr b="0" lang="es-ES" sz="2000" spc="-1" strike="noStrike">
              <a:latin typeface="Arial"/>
            </a:endParaRPr>
          </a:p>
          <a:p>
            <a:pPr marL="216000" indent="-214200">
              <a:lnSpc>
                <a:spcPct val="100000"/>
              </a:lnSpc>
              <a:tabLst>
                <a:tab algn="l" pos="0"/>
              </a:tabLst>
            </a:pPr>
            <a:r>
              <a:rPr b="0" lang="en-US" sz="2000" spc="-1" strike="noStrike">
                <a:latin typeface="Arial"/>
              </a:rPr>
              <a:t>- Requisitos de seguridad (Módulo 2): login SQL o de dominio para la aplicación con permisos mínimos (db_datareader/db_datawriter o permisos sobre schema), rol de sólo lectura para informes, ningún miembro de sysadmin salvo el DBA; auditoría básica de logins fallidos.</a:t>
            </a:r>
            <a:endParaRPr b="0" lang="es-ES" sz="2000" spc="-1" strike="noStrike">
              <a:latin typeface="Arial"/>
            </a:endParaRPr>
          </a:p>
          <a:p>
            <a:pPr marL="216000" indent="-214200">
              <a:lnSpc>
                <a:spcPct val="100000"/>
              </a:lnSpc>
              <a:tabLst>
                <a:tab algn="l" pos="0"/>
              </a:tabLst>
            </a:pPr>
            <a:r>
              <a:rPr b="0" lang="en-US" sz="2000" spc="-1" strike="noStrike">
                <a:latin typeface="Arial"/>
              </a:rPr>
              <a:t>- Requisitos de rendimiento (Módulo 3): al menos 2 índices justificados con plan de ejecución antes/después (por ejemplo, Pedido por ClienteId + Fecha con INCLUDE de Total) y una consulta analítica que pase de scan a seek; evidencias con SET STATISTICS IO.</a:t>
            </a:r>
            <a:endParaRPr b="0" lang="es-ES" sz="2000" spc="-1" strike="noStrike">
              <a:latin typeface="Arial"/>
            </a:endParaRPr>
          </a:p>
          <a:p>
            <a:pPr marL="216000" indent="-214200">
              <a:lnSpc>
                <a:spcPct val="100000"/>
              </a:lnSpc>
              <a:tabLst>
                <a:tab algn="l" pos="0"/>
              </a:tabLst>
            </a:pPr>
            <a:r>
              <a:rPr b="0" lang="en-US" sz="2000" spc="-1" strike="noStrike">
                <a:latin typeface="Arial"/>
              </a:rPr>
              <a:t>- Requisitos de backups (Módulo 4): recovery Full, Full semanal, Diferencial diario, Log cada 15 min con COMPRESSION y CHECKSUM, copia fuera del servidor (Azure Blob o ruta de red), restauración de prueba en otro nombre (Ventas_Test) con medición del tiempo real.</a:t>
            </a:r>
            <a:endParaRPr b="0" lang="es-ES" sz="2000" spc="-1" strike="noStrike">
              <a:latin typeface="Arial"/>
            </a:endParaRPr>
          </a:p>
          <a:p>
            <a:pPr marL="216000" indent="-214200">
              <a:lnSpc>
                <a:spcPct val="100000"/>
              </a:lnSpc>
              <a:tabLst>
                <a:tab algn="l" pos="0"/>
              </a:tabLst>
            </a:pPr>
            <a:r>
              <a:rPr b="0" lang="en-US" sz="2000" spc="-1" strike="noStrike">
                <a:latin typeface="Arial"/>
              </a:rPr>
              <a:t>- Mantenimiento: jobs de Agent para backups, CHECKDB semanal, mantenimiento de índices y estadísticas por umbrales, limpieza de msdb, alertas 823/824/825 y gravedad 19–25, Database Mail y operador DBA.</a:t>
            </a:r>
            <a:endParaRPr b="0" lang="es-ES" sz="2000" spc="-1" strike="noStrike">
              <a:latin typeface="Arial"/>
            </a:endParaRPr>
          </a:p>
          <a:p>
            <a:pPr marL="216000" indent="-214200">
              <a:lnSpc>
                <a:spcPct val="100000"/>
              </a:lnSpc>
              <a:tabLst>
                <a:tab algn="l" pos="0"/>
              </a:tabLst>
            </a:pPr>
            <a:r>
              <a:rPr b="0" lang="en-US" sz="2000" spc="-1" strike="noStrike">
                <a:latin typeface="Arial"/>
              </a:rPr>
              <a:t>- Evaluación: seguridad 25 %, rendimiento 25 %, backups y restauración 30 %, mantenimiento y alertas 20 %. Entregables: script T-SQL (idempotente y comentado), informe breve de 1–2 páginas con RPO/RTO medidos y capturas de la restauración.</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¿Cómo demostrarías con datos que se cumple el RPO de 15 minutos? ¿Y el RTO de 60 minutos?</a:t>
            </a:r>
            <a:endParaRPr b="0" lang="es-ES" sz="2000" spc="-1" strike="noStrike">
              <a:latin typeface="Arial"/>
            </a:endParaRPr>
          </a:p>
          <a:p>
            <a:pPr marL="216000" indent="-214200">
              <a:lnSpc>
                <a:spcPct val="100000"/>
              </a:lnSpc>
              <a:tabLst>
                <a:tab algn="l" pos="0"/>
              </a:tabLst>
            </a:pPr>
            <a:r>
              <a:rPr b="0" lang="en-US" sz="2000" spc="-1" strike="noStrike">
                <a:latin typeface="Arial"/>
              </a:rPr>
              <a:t>- ¿Qué riesgo queda sin cubrir con este diseño (p. ej. fallo del sitio completo) y cómo lo mitigarías con lo visto en HA/DR?</a:t>
            </a:r>
            <a:endParaRPr b="0" lang="es-ES" sz="2000" spc="-1" strike="noStrike">
              <a:latin typeface="Arial"/>
            </a:endParaRPr>
          </a:p>
          <a:p>
            <a:pPr marL="216000" indent="-214200">
              <a:lnSpc>
                <a:spcPct val="100000"/>
              </a:lnSpc>
              <a:tabLst>
                <a:tab algn="l" pos="0"/>
              </a:tabLst>
            </a:pPr>
            <a:r>
              <a:rPr b="0" lang="en-US" sz="2000" spc="-1" strike="noStrike">
                <a:latin typeface="Arial"/>
              </a:rPr>
              <a:t>- ¿Qué pondrías en el runbook para que otra persona pueda restaurar a las 3 de la madrugada?</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Instrucciones de Laboratorio:</a:t>
            </a:r>
            <a:endParaRPr b="0" lang="es-ES" sz="2000" spc="-1" strike="noStrike">
              <a:latin typeface="Arial"/>
            </a:endParaRPr>
          </a:p>
          <a:p>
            <a:pPr marL="216000" indent="-214200">
              <a:lnSpc>
                <a:spcPct val="100000"/>
              </a:lnSpc>
              <a:tabLst>
                <a:tab algn="l" pos="0"/>
              </a:tabLst>
            </a:pPr>
            <a:r>
              <a:rPr b="0" lang="en-US" sz="2000" spc="-1" strike="noStrike">
                <a:latin typeface="Arial"/>
              </a:rPr>
              <a:t>- Dinámica: trabajo individual o en parejas, ~60 min más 10 min de puesta en común. El docente recorre los grupos con la rúbrica.</a:t>
            </a:r>
            <a:endParaRPr b="0" lang="es-ES" sz="2000" spc="-1" strike="noStrike">
              <a:latin typeface="Arial"/>
            </a:endParaRPr>
          </a:p>
          <a:p>
            <a:pPr marL="216000" indent="-214200">
              <a:lnSpc>
                <a:spcPct val="100000"/>
              </a:lnSpc>
              <a:tabLst>
                <a:tab algn="l" pos="0"/>
              </a:tabLst>
            </a:pPr>
            <a:r>
              <a:rPr b="0" lang="en-US" sz="2000" spc="-1" strike="noStrike">
                <a:latin typeface="Arial"/>
              </a:rPr>
              <a:t>- Paso 1 (10 min): seguridad: CREATE LOGIN + CREATE USER + roles; probar con EXECUTE AS que la app no puede DROP ni leer fuera de su schema.</a:t>
            </a:r>
            <a:endParaRPr b="0" lang="es-ES" sz="2000" spc="-1" strike="noStrike">
              <a:latin typeface="Arial"/>
            </a:endParaRPr>
          </a:p>
          <a:p>
            <a:pPr marL="216000" indent="-214200">
              <a:lnSpc>
                <a:spcPct val="100000"/>
              </a:lnSpc>
              <a:tabLst>
                <a:tab algn="l" pos="0"/>
              </a:tabLst>
            </a:pPr>
            <a:r>
              <a:rPr b="0" lang="en-US" sz="2000" spc="-1" strike="noStrike">
                <a:latin typeface="Arial"/>
              </a:rPr>
              <a:t>- Paso 2 (15 min): índices: capturar el plan antes (Table Scan / Key Lookup), crear el índice (con INCLUDE), capturar después (Index Seek) y comparar lecturas lógicas.</a:t>
            </a:r>
            <a:endParaRPr b="0" lang="es-ES" sz="2000" spc="-1" strike="noStrike">
              <a:latin typeface="Arial"/>
            </a:endParaRPr>
          </a:p>
          <a:p>
            <a:pPr marL="216000" indent="-214200">
              <a:lnSpc>
                <a:spcPct val="100000"/>
              </a:lnSpc>
              <a:tabLst>
                <a:tab algn="l" pos="0"/>
              </a:tabLst>
            </a:pPr>
            <a:r>
              <a:rPr b="0" lang="en-US" sz="2000" spc="-1" strike="noStrike">
                <a:latin typeface="Arial"/>
              </a:rPr>
              <a:t>- Paso 3 (20 min): backups: recovery Full, Full + Diff + Log con CHECKSUM, simular un fallo y restaurar a otro nombre con MOVE, medir el RTO.</a:t>
            </a:r>
            <a:endParaRPr b="0" lang="es-ES" sz="2000" spc="-1" strike="noStrike">
              <a:latin typeface="Arial"/>
            </a:endParaRPr>
          </a:p>
          <a:p>
            <a:pPr marL="216000" indent="-214200">
              <a:lnSpc>
                <a:spcPct val="100000"/>
              </a:lnSpc>
              <a:tabLst>
                <a:tab algn="l" pos="0"/>
              </a:tabLst>
            </a:pPr>
            <a:r>
              <a:rPr b="0" lang="en-US" sz="2000" spc="-1" strike="noStrike">
                <a:latin typeface="Arial"/>
              </a:rPr>
              <a:t>- Paso 4 (15 min): mantenimiento: crear al menos un job (log backup cada 15 min), una alerta (error 823 o gravedad 24) y el operador DBA.</a:t>
            </a:r>
            <a:endParaRPr b="0" lang="es-ES" sz="2000" spc="-1" strike="noStrike">
              <a:latin typeface="Arial"/>
            </a:endParaRPr>
          </a:p>
          <a:p>
            <a:pPr marL="216000" indent="-214200">
              <a:lnSpc>
                <a:spcPct val="100000"/>
              </a:lnSpc>
              <a:tabLst>
                <a:tab algn="l" pos="0"/>
              </a:tabLst>
            </a:pPr>
            <a:r>
              <a:rPr b="0" lang="en-US" sz="2000" spc="-1" strike="noStrike">
                <a:latin typeface="Arial"/>
              </a:rPr>
              <a:t>- Trampas habituales: backups en el mismo volumen que los datos; no probar la restauración; dar sysadmin a la aplicación «para ir más rápido»; índices duplicados; olvidar el INCLUDE y mantener el Key Lookup; no iniciar la log chain (falta del primer Full).</a:t>
            </a:r>
            <a:endParaRPr b="0" lang="es-ES" sz="2000" spc="-1" strike="noStrike">
              <a:latin typeface="Arial"/>
            </a:endParaRPr>
          </a:p>
          <a:p>
            <a:pPr marL="216000" indent="-213840">
              <a:lnSpc>
                <a:spcPct val="100000"/>
              </a:lnSpc>
              <a:tabLst>
                <a:tab algn="l" pos="0"/>
              </a:tabLst>
            </a:pPr>
            <a:r>
              <a:rPr b="0" lang="en-US" sz="2000" spc="-1" strike="noStrike">
                <a:latin typeface="Arial"/>
              </a:rPr>
              <a:t>- Guía de resolución: seguridad correcta = login → user → rol/permisos sin sysadmin; rendimiento = lecturas lógicas menores y plan con Seek; backups = cadena msdb completa (D, I, L) y tiempo de restore medido &lt; 60 min; mantenimiento = jobs con historial en msdb y alertas visibles en sysjobs / sysalerts.</a:t>
            </a:r>
            <a:endParaRPr b="0" lang="es-ES" sz="2000" spc="-1" strike="noStrike">
              <a:latin typeface="Arial"/>
            </a:endParaRPr>
          </a:p>
        </p:txBody>
      </p:sp>
      <p:sp>
        <p:nvSpPr>
          <p:cNvPr id="2262"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D5F81D08-A2B8-494F-A116-05A8E2ADE6D9}"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3" name="PlaceHolder 1"/>
          <p:cNvSpPr>
            <a:spLocks noGrp="1"/>
          </p:cNvSpPr>
          <p:nvPr>
            <p:ph type="sldImg"/>
          </p:nvPr>
        </p:nvSpPr>
        <p:spPr>
          <a:xfrm>
            <a:off x="685800" y="1143000"/>
            <a:ext cx="5483880" cy="3083760"/>
          </a:xfrm>
          <a:prstGeom prst="rect">
            <a:avLst/>
          </a:prstGeom>
        </p:spPr>
      </p:sp>
      <p:sp>
        <p:nvSpPr>
          <p:cNvPr id="2264"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Consolidar en una lista accionable los hábitos que protegen la instancia y que el alumnado puede aplicar desde el primer día de trabajo.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Backups: el estándar es recovery Full con Full + Diff + Log según RPO/RTO, siempre con CHECKSUM y compresión, guardados fuera del servidor (3-2-1) y con una restauración de prueba mensual. «Un backup no probado es una esperanza».</a:t>
            </a:r>
            <a:endParaRPr b="0" lang="es-ES" sz="2000" spc="-1" strike="noStrike">
              <a:latin typeface="Arial"/>
            </a:endParaRPr>
          </a:p>
          <a:p>
            <a:pPr marL="216000" indent="-214200">
              <a:lnSpc>
                <a:spcPct val="100000"/>
              </a:lnSpc>
              <a:tabLst>
                <a:tab algn="l" pos="0"/>
              </a:tabLst>
            </a:pPr>
            <a:r>
              <a:rPr b="0" lang="en-US" sz="2000" spc="-1" strike="noStrike">
                <a:latin typeface="Arial"/>
              </a:rPr>
              <a:t>- Integridad: PAGE_VERIFY CHECKSUM en todas las bases, DBCC CHECKDB al menos semanal (idealmente sobre una copia restaurada) y alertas 823, 824, 825 y gravedad 19–25 enviadas por Database Mail.</a:t>
            </a:r>
            <a:endParaRPr b="0" lang="es-ES" sz="2000" spc="-1" strike="noStrike">
              <a:latin typeface="Arial"/>
            </a:endParaRPr>
          </a:p>
          <a:p>
            <a:pPr marL="216000" indent="-214200">
              <a:lnSpc>
                <a:spcPct val="100000"/>
              </a:lnSpc>
              <a:tabLst>
                <a:tab algn="l" pos="0"/>
              </a:tabLst>
            </a:pPr>
            <a:r>
              <a:rPr b="0" lang="en-US" sz="2000" spc="-1" strike="noStrike">
                <a:latin typeface="Arial"/>
              </a:rPr>
              <a:t>- Mantenimiento: reorganizar/reconstruir por umbrales (5 %/30 %, &gt; 1000 páginas), estadísticas actualizadas, limpieza de msdb y revisión del historial de jobs. Evitar SHRINK y rebuild ciegos.</a:t>
            </a:r>
            <a:endParaRPr b="0" lang="es-ES" sz="2000" spc="-1" strike="noStrike">
              <a:latin typeface="Arial"/>
            </a:endParaRPr>
          </a:p>
          <a:p>
            <a:pPr marL="216000" indent="-214200">
              <a:lnSpc>
                <a:spcPct val="100000"/>
              </a:lnSpc>
              <a:tabLst>
                <a:tab algn="l" pos="0"/>
              </a:tabLst>
            </a:pPr>
            <a:r>
              <a:rPr b="0" lang="en-US" sz="2000" spc="-1" strike="noStrike">
                <a:latin typeface="Arial"/>
              </a:rPr>
              <a:t>- Capacidad y rendimiento: autogrowth en MB fijos y tamaños iniciales realistas, ficheros de tempdb iguales, monitorización de espacio, log_reuse_wait_desc y esperas con DMVs. Baseline para detectar desviaciones.</a:t>
            </a:r>
            <a:endParaRPr b="0" lang="es-ES" sz="2000" spc="-1" strike="noStrike">
              <a:latin typeface="Arial"/>
            </a:endParaRPr>
          </a:p>
          <a:p>
            <a:pPr marL="216000" indent="-214200">
              <a:lnSpc>
                <a:spcPct val="100000"/>
              </a:lnSpc>
              <a:tabLst>
                <a:tab algn="l" pos="0"/>
              </a:tabLst>
            </a:pPr>
            <a:r>
              <a:rPr b="0" lang="en-US" sz="2000" spc="-1" strike="noStrike">
                <a:latin typeface="Arial"/>
              </a:rPr>
              <a:t>- Seguridad: mínimo privilegio, sin cuentas compartidas, sa deshabilitada o con contraseña robusta, auditoría de sysadmin y parches (CU) al día con ventana de mantenimiento.</a:t>
            </a:r>
            <a:endParaRPr b="0" lang="es-ES" sz="2000" spc="-1" strike="noStrike">
              <a:latin typeface="Arial"/>
            </a:endParaRPr>
          </a:p>
          <a:p>
            <a:pPr marL="216000" indent="-214200">
              <a:lnSpc>
                <a:spcPct val="100000"/>
              </a:lnSpc>
              <a:tabLst>
                <a:tab algn="l" pos="0"/>
              </a:tabLst>
            </a:pPr>
            <a:r>
              <a:rPr b="0" lang="en-US" sz="2000" spc="-1" strike="noStrike">
                <a:latin typeface="Arial"/>
              </a:rPr>
              <a:t>- Operación: runbooks documentados, contactos de escalado, pruebas de DR periódicas (RPO/RTO medidos) y control de cambios. La automatización reduce errores humanos, la principal causa de incidentes.</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elemento del checklist es el más barato de implantar y el más caro de olvidar?</a:t>
            </a:r>
            <a:endParaRPr b="0" lang="es-ES" sz="2000" spc="-1" strike="noStrike">
              <a:latin typeface="Arial"/>
            </a:endParaRPr>
          </a:p>
          <a:p>
            <a:pPr marL="216000" indent="-213840">
              <a:lnSpc>
                <a:spcPct val="100000"/>
              </a:lnSpc>
              <a:tabLst>
                <a:tab algn="l" pos="0"/>
              </a:tabLst>
            </a:pPr>
            <a:r>
              <a:rPr b="0" lang="en-US" sz="2000" spc="-1" strike="noStrike">
                <a:latin typeface="Arial"/>
              </a:rPr>
              <a:t>- ¿Cuáles de estos hábitos ya se aplican en vuestra organización y cuáles no? ¿Qué impide hacerlo?</a:t>
            </a:r>
            <a:endParaRPr b="0" lang="es-ES" sz="2000" spc="-1" strike="noStrike">
              <a:latin typeface="Arial"/>
            </a:endParaRPr>
          </a:p>
        </p:txBody>
      </p:sp>
      <p:sp>
        <p:nvSpPr>
          <p:cNvPr id="2265"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6A07ABFC-04A2-40D0-A5E5-8355C41AD81F}"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notesSlides/notesSlide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6" name="PlaceHolder 1"/>
          <p:cNvSpPr>
            <a:spLocks noGrp="1"/>
          </p:cNvSpPr>
          <p:nvPr>
            <p:ph type="sldImg"/>
          </p:nvPr>
        </p:nvSpPr>
        <p:spPr>
          <a:xfrm>
            <a:off x="685800" y="1143000"/>
            <a:ext cx="5483880" cy="3083760"/>
          </a:xfrm>
          <a:prstGeom prst="rect">
            <a:avLst/>
          </a:prstGeom>
        </p:spPr>
      </p:sp>
      <p:sp>
        <p:nvSpPr>
          <p:cNvPr id="2267" name="PlaceHolder 2"/>
          <p:cNvSpPr>
            <a:spLocks noGrp="1"/>
          </p:cNvSpPr>
          <p:nvPr>
            <p:ph type="body"/>
          </p:nvPr>
        </p:nvSpPr>
        <p:spPr>
          <a:xfrm>
            <a:off x="685800" y="4400640"/>
            <a:ext cx="5483880" cy="3597840"/>
          </a:xfrm>
          <a:prstGeom prst="rect">
            <a:avLst/>
          </a:prstGeom>
        </p:spPr>
        <p:txBody>
          <a:bodyPr lIns="0" rIns="0" tIns="0" bIns="0">
            <a:noAutofit/>
          </a:bodyPr>
          <a:p>
            <a:pPr marL="216000" indent="-214200">
              <a:lnSpc>
                <a:spcPct val="100000"/>
              </a:lnSpc>
              <a:tabLst>
                <a:tab algn="l" pos="0"/>
              </a:tabLst>
            </a:pPr>
            <a:r>
              <a:rPr b="0" lang="en-US" sz="2000" spc="-1" strike="noStrike">
                <a:latin typeface="Arial"/>
              </a:rPr>
              <a:t>Objetivo Pedagógico:</a:t>
            </a:r>
            <a:endParaRPr b="0" lang="es-ES" sz="2000" spc="-1" strike="noStrike">
              <a:latin typeface="Arial"/>
            </a:endParaRPr>
          </a:p>
          <a:p>
            <a:pPr marL="216000" indent="-214200">
              <a:lnSpc>
                <a:spcPct val="100000"/>
              </a:lnSpc>
              <a:tabLst>
                <a:tab algn="l" pos="0"/>
              </a:tabLst>
            </a:pPr>
            <a:r>
              <a:rPr b="0" lang="en-US" sz="2000" spc="-1" strike="noStrike">
                <a:latin typeface="Arial"/>
              </a:rPr>
              <a:t>Cerrar el curso resumiendo las ideas que el alumnado debe recordar y animarle a seguir practicando con un entorno propio.</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Guion y Explicación Técnica:</a:t>
            </a:r>
            <a:endParaRPr b="0" lang="es-ES" sz="2000" spc="-1" strike="noStrike">
              <a:latin typeface="Arial"/>
            </a:endParaRPr>
          </a:p>
          <a:p>
            <a:pPr marL="216000" indent="-214200">
              <a:lnSpc>
                <a:spcPct val="100000"/>
              </a:lnSpc>
              <a:tabLst>
                <a:tab algn="l" pos="0"/>
              </a:tabLst>
            </a:pPr>
            <a:r>
              <a:rPr b="0" lang="en-US" sz="2000" spc="-1" strike="noStrike">
                <a:latin typeface="Arial"/>
              </a:rPr>
              <a:t>- Resumen en cuatro ideas. 1) Entender el motor: Relational Engine, Storage Engine, Buffer Pool y el Transaction Log (WAL) explican por qué SQL Server rinde y se recupera como lo hace; casi todo problema se resuelve mejor sabiendo qué hay debajo.</a:t>
            </a:r>
            <a:endParaRPr b="0" lang="es-ES" sz="2000" spc="-1" strike="noStrike">
              <a:latin typeface="Arial"/>
            </a:endParaRPr>
          </a:p>
          <a:p>
            <a:pPr marL="216000" indent="-214200">
              <a:lnSpc>
                <a:spcPct val="100000"/>
              </a:lnSpc>
              <a:tabLst>
                <a:tab algn="l" pos="0"/>
              </a:tabLst>
            </a:pPr>
            <a:r>
              <a:rPr b="0" lang="en-US" sz="2000" spc="-1" strike="noStrike">
                <a:latin typeface="Arial"/>
              </a:rPr>
              <a:t>- 2) Proteger los datos: mínimo privilegio, estrategia de backups alineada con RPO/RTO, CHECKSUM, tail-log, restauraciones de prueba y DBCC CHECKDB. La disciplina vale más que las herramientas.</a:t>
            </a:r>
            <a:endParaRPr b="0" lang="es-ES" sz="2000" spc="-1" strike="noStrike">
              <a:latin typeface="Arial"/>
            </a:endParaRPr>
          </a:p>
          <a:p>
            <a:pPr marL="216000" indent="-214200">
              <a:lnSpc>
                <a:spcPct val="100000"/>
              </a:lnSpc>
              <a:tabLst>
                <a:tab algn="l" pos="0"/>
              </a:tabLst>
            </a:pPr>
            <a:r>
              <a:rPr b="0" lang="en-US" sz="2000" spc="-1" strike="noStrike">
                <a:latin typeface="Arial"/>
              </a:rPr>
              <a:t>- 3) Optimizar con evidencia: medir primero (DMVs, planes de ejecución, esperas) y actuar después (índices adecuados, estadísticas actualizadas), evitando «recetas» como rebuild nocturno o shrink.</a:t>
            </a:r>
            <a:endParaRPr b="0" lang="es-ES" sz="2000" spc="-1" strike="noStrike">
              <a:latin typeface="Arial"/>
            </a:endParaRPr>
          </a:p>
          <a:p>
            <a:pPr marL="216000" indent="-214200">
              <a:lnSpc>
                <a:spcPct val="100000"/>
              </a:lnSpc>
              <a:tabLst>
                <a:tab algn="l" pos="0"/>
              </a:tabLst>
            </a:pPr>
            <a:r>
              <a:rPr b="0" lang="en-US" sz="2000" spc="-1" strike="noStrike">
                <a:latin typeface="Arial"/>
              </a:rPr>
              <a:t>- 4) Automatizar y vigilar: jobs del Agent, alertas, Database Mail y runbooks. Un DBA eficaz es el que consigue que lo previsible no requiera intervención y que lo imprevisto se detecte pronto.</a:t>
            </a:r>
            <a:endParaRPr b="0" lang="es-ES" sz="2000" spc="-1" strike="noStrike">
              <a:latin typeface="Arial"/>
            </a:endParaRPr>
          </a:p>
          <a:p>
            <a:pPr marL="216000" indent="-214200">
              <a:lnSpc>
                <a:spcPct val="100000"/>
              </a:lnSpc>
              <a:tabLst>
                <a:tab algn="l" pos="0"/>
              </a:tabLst>
            </a:pPr>
            <a:r>
              <a:rPr b="0" lang="en-US" sz="2000" spc="-1" strike="noStrike">
                <a:latin typeface="Arial"/>
              </a:rPr>
              <a:t>- Próximos pasos recomendados: montar un laboratorio personal en Docker; practicar Always On Availability Groups, TDE y Always Encrypted; explorar Query Store y Extended Events; preparar las certificaciones DP-300 (Azure Database Administrator) o similares.</a:t>
            </a:r>
            <a:endParaRPr b="0" lang="es-ES" sz="2000" spc="-1" strike="noStrike">
              <a:latin typeface="Arial"/>
            </a:endParaRPr>
          </a:p>
          <a:p>
            <a:pPr marL="216000" indent="-214200">
              <a:lnSpc>
                <a:spcPct val="100000"/>
              </a:lnSpc>
              <a:tabLst>
                <a:tab algn="l" pos="0"/>
              </a:tabLst>
            </a:pPr>
            <a:r>
              <a:rPr b="0" lang="en-US" sz="2000" spc="-1" strike="noStrike">
                <a:latin typeface="Arial"/>
              </a:rPr>
              <a:t>- Cerrar con la evaluación del caso integrador, la encuesta del curso y un espacio para dudas. Agradecer la participación y compartir los scripts y la guía del docente.</a:t>
            </a:r>
            <a:endParaRPr b="0" lang="es-ES" sz="2000" spc="-1" strike="noStrike">
              <a:latin typeface="Arial"/>
            </a:endParaRPr>
          </a:p>
          <a:p>
            <a:pPr marL="216000" indent="-214200">
              <a:lnSpc>
                <a:spcPct val="100000"/>
              </a:lnSpc>
              <a:tabLst>
                <a:tab algn="l" pos="0"/>
              </a:tabLst>
            </a:pPr>
            <a:endParaRPr b="0" lang="es-ES" sz="2000" spc="-1" strike="noStrike">
              <a:latin typeface="Arial"/>
            </a:endParaRPr>
          </a:p>
          <a:p>
            <a:pPr marL="216000" indent="-214200">
              <a:lnSpc>
                <a:spcPct val="100000"/>
              </a:lnSpc>
              <a:tabLst>
                <a:tab algn="l" pos="0"/>
              </a:tabLst>
            </a:pPr>
            <a:r>
              <a:rPr b="0" lang="en-US" sz="2000" spc="-1" strike="noStrike">
                <a:latin typeface="Arial"/>
              </a:rPr>
              <a:t>Puntos de Interacción / Preguntas:</a:t>
            </a:r>
            <a:endParaRPr b="0" lang="es-ES" sz="2000" spc="-1" strike="noStrike">
              <a:latin typeface="Arial"/>
            </a:endParaRPr>
          </a:p>
          <a:p>
            <a:pPr marL="216000" indent="-214200">
              <a:lnSpc>
                <a:spcPct val="100000"/>
              </a:lnSpc>
              <a:tabLst>
                <a:tab algn="l" pos="0"/>
              </a:tabLst>
            </a:pPr>
            <a:r>
              <a:rPr b="0" lang="en-US" sz="2000" spc="-1" strike="noStrike">
                <a:latin typeface="Arial"/>
              </a:rPr>
              <a:t>- ¿Qué es lo primero que cambiarías mañana en tu instancia de producción tras este curso?</a:t>
            </a:r>
            <a:endParaRPr b="0" lang="es-ES" sz="2000" spc="-1" strike="noStrike">
              <a:latin typeface="Arial"/>
            </a:endParaRPr>
          </a:p>
          <a:p>
            <a:pPr marL="216000" indent="-213840">
              <a:lnSpc>
                <a:spcPct val="100000"/>
              </a:lnSpc>
              <a:tabLst>
                <a:tab algn="l" pos="0"/>
              </a:tabLst>
            </a:pPr>
            <a:r>
              <a:rPr b="0" lang="en-US" sz="2000" spc="-1" strike="noStrike">
                <a:latin typeface="Arial"/>
              </a:rPr>
              <a:t>- ¿Qué parte te gustaría profundizar: alta disponibilidad, tuning de consultas o seguridad avanzada?</a:t>
            </a:r>
            <a:endParaRPr b="0" lang="es-ES" sz="2000" spc="-1" strike="noStrike">
              <a:latin typeface="Arial"/>
            </a:endParaRPr>
          </a:p>
        </p:txBody>
      </p:sp>
      <p:sp>
        <p:nvSpPr>
          <p:cNvPr id="2268" name="CustomShape 3"/>
          <p:cNvSpPr/>
          <p:nvPr/>
        </p:nvSpPr>
        <p:spPr>
          <a:xfrm>
            <a:off x="3884760" y="8685360"/>
            <a:ext cx="2969280" cy="45612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5C5B9FFC-FF00-44A9-845F-9A1A988B384A}" type="slidenum">
              <a:rPr b="0" lang="en-US" sz="1200" spc="-1" strike="noStrike">
                <a:solidFill>
                  <a:srgbClr val="000000"/>
                </a:solidFill>
                <a:latin typeface="+mn-lt"/>
                <a:ea typeface="+mn-ea"/>
              </a:rPr>
              <a:t>&lt;número&gt;</a:t>
            </a:fld>
            <a:endParaRPr b="0" lang="es-ES" sz="12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s-ES" sz="4400" spc="-1" strike="noStrike">
              <a:latin typeface="Arial"/>
            </a:endParaRPr>
          </a:p>
        </p:txBody>
      </p:sp>
      <p:sp>
        <p:nvSpPr>
          <p:cNvPr id="3"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s-E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s-ES" sz="4400" spc="-1" strike="noStrike">
              <a:latin typeface="Arial"/>
            </a:endParaRPr>
          </a:p>
        </p:txBody>
      </p:sp>
      <p:sp>
        <p:nvSpPr>
          <p:cNvPr id="5" name="PlaceHolder 2"/>
          <p:cNvSpPr>
            <a:spLocks noGrp="1"/>
          </p:cNvSpPr>
          <p:nvPr>
            <p:ph type="body"/>
          </p:nvPr>
        </p:nvSpPr>
        <p:spPr>
          <a:xfrm>
            <a:off x="609480" y="1604520"/>
            <a:ext cx="10972440" cy="3977280"/>
          </a:xfrm>
          <a:prstGeom prst="rect">
            <a:avLst/>
          </a:prstGeom>
        </p:spPr>
        <p:txBody>
          <a:bodyPr lIns="0" rIns="0" tIns="0" bIns="0">
            <a:normAutofit/>
          </a:bodyPr>
          <a:p>
            <a:endParaRPr b="0" lang="es-E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s-ES" sz="4400" spc="-1" strike="noStrike">
              <a:latin typeface="Arial"/>
            </a:endParaRPr>
          </a:p>
        </p:txBody>
      </p:sp>
      <p:sp>
        <p:nvSpPr>
          <p:cNvPr id="7" name="PlaceHolder 2"/>
          <p:cNvSpPr>
            <a:spLocks noGrp="1"/>
          </p:cNvSpPr>
          <p:nvPr>
            <p:ph type="body"/>
          </p:nvPr>
        </p:nvSpPr>
        <p:spPr>
          <a:xfrm>
            <a:off x="609480" y="1604520"/>
            <a:ext cx="5354280" cy="3977280"/>
          </a:xfrm>
          <a:prstGeom prst="rect">
            <a:avLst/>
          </a:prstGeom>
        </p:spPr>
        <p:txBody>
          <a:bodyPr lIns="0" rIns="0" tIns="0" bIns="0">
            <a:normAutofit/>
          </a:bodyPr>
          <a:p>
            <a:endParaRPr b="0" lang="es-ES" sz="3200" spc="-1" strike="noStrike">
              <a:latin typeface="Arial"/>
            </a:endParaRPr>
          </a:p>
        </p:txBody>
      </p:sp>
      <p:sp>
        <p:nvSpPr>
          <p:cNvPr id="8" name="PlaceHolder 3"/>
          <p:cNvSpPr>
            <a:spLocks noGrp="1"/>
          </p:cNvSpPr>
          <p:nvPr>
            <p:ph type="body"/>
          </p:nvPr>
        </p:nvSpPr>
        <p:spPr>
          <a:xfrm>
            <a:off x="6231960" y="1604520"/>
            <a:ext cx="5354280" cy="3977280"/>
          </a:xfrm>
          <a:prstGeom prst="rect">
            <a:avLst/>
          </a:prstGeom>
        </p:spPr>
        <p:txBody>
          <a:bodyPr lIns="0" rIns="0" tIns="0" bIns="0">
            <a:normAutofit/>
          </a:bodyPr>
          <a:p>
            <a:endParaRPr b="0" lang="es-E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s-E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s-E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s-ES" sz="4400" spc="-1" strike="noStrike">
              <a:latin typeface="Arial"/>
            </a:endParaRPr>
          </a:p>
        </p:txBody>
      </p:sp>
      <p:sp>
        <p:nvSpPr>
          <p:cNvPr id="12" name="PlaceHolder 2"/>
          <p:cNvSpPr>
            <a:spLocks noGrp="1"/>
          </p:cNvSpPr>
          <p:nvPr>
            <p:ph type="body"/>
          </p:nvPr>
        </p:nvSpPr>
        <p:spPr>
          <a:xfrm>
            <a:off x="609480" y="1604520"/>
            <a:ext cx="5354280" cy="1896840"/>
          </a:xfrm>
          <a:prstGeom prst="rect">
            <a:avLst/>
          </a:prstGeom>
        </p:spPr>
        <p:txBody>
          <a:bodyPr lIns="0" rIns="0" tIns="0" bIns="0">
            <a:normAutofit/>
          </a:bodyPr>
          <a:p>
            <a:endParaRPr b="0" lang="es-ES" sz="3200" spc="-1" strike="noStrike">
              <a:latin typeface="Arial"/>
            </a:endParaRPr>
          </a:p>
        </p:txBody>
      </p:sp>
      <p:sp>
        <p:nvSpPr>
          <p:cNvPr id="13" name="PlaceHolder 3"/>
          <p:cNvSpPr>
            <a:spLocks noGrp="1"/>
          </p:cNvSpPr>
          <p:nvPr>
            <p:ph type="body"/>
          </p:nvPr>
        </p:nvSpPr>
        <p:spPr>
          <a:xfrm>
            <a:off x="6231960" y="1604520"/>
            <a:ext cx="5354280" cy="3977280"/>
          </a:xfrm>
          <a:prstGeom prst="rect">
            <a:avLst/>
          </a:prstGeom>
        </p:spPr>
        <p:txBody>
          <a:bodyPr lIns="0" rIns="0" tIns="0" bIns="0">
            <a:normAutofit/>
          </a:bodyPr>
          <a:p>
            <a:endParaRPr b="0" lang="es-ES" sz="3200" spc="-1" strike="noStrike">
              <a:latin typeface="Arial"/>
            </a:endParaRPr>
          </a:p>
        </p:txBody>
      </p:sp>
      <p:sp>
        <p:nvSpPr>
          <p:cNvPr id="14" name="PlaceHolder 4"/>
          <p:cNvSpPr>
            <a:spLocks noGrp="1"/>
          </p:cNvSpPr>
          <p:nvPr>
            <p:ph type="body"/>
          </p:nvPr>
        </p:nvSpPr>
        <p:spPr>
          <a:xfrm>
            <a:off x="609480" y="3682080"/>
            <a:ext cx="5354280" cy="1896840"/>
          </a:xfrm>
          <a:prstGeom prst="rect">
            <a:avLst/>
          </a:prstGeom>
        </p:spPr>
        <p:txBody>
          <a:bodyPr lIns="0" rIns="0" tIns="0" bIns="0">
            <a:normAutofit/>
          </a:bodyPr>
          <a:p>
            <a:endParaRPr b="0" lang="es-E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s-ES" sz="4400" spc="-1" strike="noStrike">
              <a:latin typeface="Arial"/>
            </a:endParaRPr>
          </a:p>
        </p:txBody>
      </p:sp>
      <p:sp>
        <p:nvSpPr>
          <p:cNvPr id="16" name="PlaceHolder 2"/>
          <p:cNvSpPr>
            <a:spLocks noGrp="1"/>
          </p:cNvSpPr>
          <p:nvPr>
            <p:ph type="body"/>
          </p:nvPr>
        </p:nvSpPr>
        <p:spPr>
          <a:xfrm>
            <a:off x="609480" y="1604520"/>
            <a:ext cx="5354280" cy="3977280"/>
          </a:xfrm>
          <a:prstGeom prst="rect">
            <a:avLst/>
          </a:prstGeom>
        </p:spPr>
        <p:txBody>
          <a:bodyPr lIns="0" rIns="0" tIns="0" bIns="0">
            <a:normAutofit/>
          </a:bodyPr>
          <a:p>
            <a:endParaRPr b="0" lang="es-ES" sz="3200" spc="-1" strike="noStrike">
              <a:latin typeface="Arial"/>
            </a:endParaRPr>
          </a:p>
        </p:txBody>
      </p:sp>
      <p:sp>
        <p:nvSpPr>
          <p:cNvPr id="17" name="PlaceHolder 3"/>
          <p:cNvSpPr>
            <a:spLocks noGrp="1"/>
          </p:cNvSpPr>
          <p:nvPr>
            <p:ph type="body"/>
          </p:nvPr>
        </p:nvSpPr>
        <p:spPr>
          <a:xfrm>
            <a:off x="6231960" y="1604520"/>
            <a:ext cx="5354280" cy="1896840"/>
          </a:xfrm>
          <a:prstGeom prst="rect">
            <a:avLst/>
          </a:prstGeom>
        </p:spPr>
        <p:txBody>
          <a:bodyPr lIns="0" rIns="0" tIns="0" bIns="0">
            <a:normAutofit/>
          </a:bodyPr>
          <a:p>
            <a:endParaRPr b="0" lang="es-ES" sz="3200" spc="-1" strike="noStrike">
              <a:latin typeface="Arial"/>
            </a:endParaRPr>
          </a:p>
        </p:txBody>
      </p:sp>
      <p:sp>
        <p:nvSpPr>
          <p:cNvPr id="18" name="PlaceHolder 4"/>
          <p:cNvSpPr>
            <a:spLocks noGrp="1"/>
          </p:cNvSpPr>
          <p:nvPr>
            <p:ph type="body"/>
          </p:nvPr>
        </p:nvSpPr>
        <p:spPr>
          <a:xfrm>
            <a:off x="6231960" y="3682080"/>
            <a:ext cx="5354280" cy="1896840"/>
          </a:xfrm>
          <a:prstGeom prst="rect">
            <a:avLst/>
          </a:prstGeom>
        </p:spPr>
        <p:txBody>
          <a:bodyPr lIns="0" rIns="0" tIns="0" bIns="0">
            <a:normAutofit/>
          </a:bodyPr>
          <a:p>
            <a:endParaRPr b="0" lang="es-E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s-ES" sz="4400" spc="-1" strike="noStrike">
              <a:latin typeface="Arial"/>
            </a:endParaRPr>
          </a:p>
        </p:txBody>
      </p:sp>
      <p:sp>
        <p:nvSpPr>
          <p:cNvPr id="20" name="PlaceHolder 2"/>
          <p:cNvSpPr>
            <a:spLocks noGrp="1"/>
          </p:cNvSpPr>
          <p:nvPr>
            <p:ph type="body"/>
          </p:nvPr>
        </p:nvSpPr>
        <p:spPr>
          <a:xfrm>
            <a:off x="609480" y="1604520"/>
            <a:ext cx="5354280" cy="1896840"/>
          </a:xfrm>
          <a:prstGeom prst="rect">
            <a:avLst/>
          </a:prstGeom>
        </p:spPr>
        <p:txBody>
          <a:bodyPr lIns="0" rIns="0" tIns="0" bIns="0">
            <a:normAutofit/>
          </a:bodyPr>
          <a:p>
            <a:endParaRPr b="0" lang="es-ES" sz="3200" spc="-1" strike="noStrike">
              <a:latin typeface="Arial"/>
            </a:endParaRPr>
          </a:p>
        </p:txBody>
      </p:sp>
      <p:sp>
        <p:nvSpPr>
          <p:cNvPr id="21" name="PlaceHolder 3"/>
          <p:cNvSpPr>
            <a:spLocks noGrp="1"/>
          </p:cNvSpPr>
          <p:nvPr>
            <p:ph type="body"/>
          </p:nvPr>
        </p:nvSpPr>
        <p:spPr>
          <a:xfrm>
            <a:off x="6231960" y="1604520"/>
            <a:ext cx="5354280" cy="1896840"/>
          </a:xfrm>
          <a:prstGeom prst="rect">
            <a:avLst/>
          </a:prstGeom>
        </p:spPr>
        <p:txBody>
          <a:bodyPr lIns="0" rIns="0" tIns="0" bIns="0">
            <a:normAutofit/>
          </a:bodyPr>
          <a:p>
            <a:endParaRPr b="0" lang="es-ES" sz="3200" spc="-1" strike="noStrike">
              <a:latin typeface="Arial"/>
            </a:endParaRPr>
          </a:p>
        </p:txBody>
      </p:sp>
      <p:sp>
        <p:nvSpPr>
          <p:cNvPr id="22" name="PlaceHolder 4"/>
          <p:cNvSpPr>
            <a:spLocks noGrp="1"/>
          </p:cNvSpPr>
          <p:nvPr>
            <p:ph type="body"/>
          </p:nvPr>
        </p:nvSpPr>
        <p:spPr>
          <a:xfrm>
            <a:off x="609480" y="3682080"/>
            <a:ext cx="10972440" cy="1896840"/>
          </a:xfrm>
          <a:prstGeom prst="rect">
            <a:avLst/>
          </a:prstGeom>
        </p:spPr>
        <p:txBody>
          <a:bodyPr lIns="0" rIns="0" tIns="0" bIns="0">
            <a:normAutofit/>
          </a:bodyPr>
          <a:p>
            <a:endParaRPr b="0" lang="es-E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s-ES" sz="4400" spc="-1" strike="noStrike">
              <a:latin typeface="Arial"/>
            </a:endParaRPr>
          </a:p>
        </p:txBody>
      </p:sp>
      <p:sp>
        <p:nvSpPr>
          <p:cNvPr id="24" name="PlaceHolder 2"/>
          <p:cNvSpPr>
            <a:spLocks noGrp="1"/>
          </p:cNvSpPr>
          <p:nvPr>
            <p:ph type="body"/>
          </p:nvPr>
        </p:nvSpPr>
        <p:spPr>
          <a:xfrm>
            <a:off x="609480" y="1604520"/>
            <a:ext cx="10972440" cy="1896840"/>
          </a:xfrm>
          <a:prstGeom prst="rect">
            <a:avLst/>
          </a:prstGeom>
        </p:spPr>
        <p:txBody>
          <a:bodyPr lIns="0" rIns="0" tIns="0" bIns="0">
            <a:normAutofit/>
          </a:bodyPr>
          <a:p>
            <a:endParaRPr b="0" lang="es-ES" sz="3200" spc="-1" strike="noStrike">
              <a:latin typeface="Arial"/>
            </a:endParaRPr>
          </a:p>
        </p:txBody>
      </p:sp>
      <p:sp>
        <p:nvSpPr>
          <p:cNvPr id="25" name="PlaceHolder 3"/>
          <p:cNvSpPr>
            <a:spLocks noGrp="1"/>
          </p:cNvSpPr>
          <p:nvPr>
            <p:ph type="body"/>
          </p:nvPr>
        </p:nvSpPr>
        <p:spPr>
          <a:xfrm>
            <a:off x="609480" y="3682080"/>
            <a:ext cx="10972440" cy="1896840"/>
          </a:xfrm>
          <a:prstGeom prst="rect">
            <a:avLst/>
          </a:prstGeom>
        </p:spPr>
        <p:txBody>
          <a:bodyPr lIns="0" rIns="0" tIns="0" bIns="0">
            <a:normAutofit/>
          </a:bodyPr>
          <a:p>
            <a:endParaRPr b="0" lang="es-E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s-ES" sz="4400" spc="-1" strike="noStrike">
              <a:latin typeface="Arial"/>
            </a:endParaRPr>
          </a:p>
        </p:txBody>
      </p:sp>
      <p:sp>
        <p:nvSpPr>
          <p:cNvPr id="27" name="PlaceHolder 2"/>
          <p:cNvSpPr>
            <a:spLocks noGrp="1"/>
          </p:cNvSpPr>
          <p:nvPr>
            <p:ph type="body"/>
          </p:nvPr>
        </p:nvSpPr>
        <p:spPr>
          <a:xfrm>
            <a:off x="609480" y="1604520"/>
            <a:ext cx="5354280" cy="1896840"/>
          </a:xfrm>
          <a:prstGeom prst="rect">
            <a:avLst/>
          </a:prstGeom>
        </p:spPr>
        <p:txBody>
          <a:bodyPr lIns="0" rIns="0" tIns="0" bIns="0">
            <a:normAutofit/>
          </a:bodyPr>
          <a:p>
            <a:endParaRPr b="0" lang="es-ES" sz="3200" spc="-1" strike="noStrike">
              <a:latin typeface="Arial"/>
            </a:endParaRPr>
          </a:p>
        </p:txBody>
      </p:sp>
      <p:sp>
        <p:nvSpPr>
          <p:cNvPr id="28" name="PlaceHolder 3"/>
          <p:cNvSpPr>
            <a:spLocks noGrp="1"/>
          </p:cNvSpPr>
          <p:nvPr>
            <p:ph type="body"/>
          </p:nvPr>
        </p:nvSpPr>
        <p:spPr>
          <a:xfrm>
            <a:off x="6231960" y="1604520"/>
            <a:ext cx="5354280" cy="1896840"/>
          </a:xfrm>
          <a:prstGeom prst="rect">
            <a:avLst/>
          </a:prstGeom>
        </p:spPr>
        <p:txBody>
          <a:bodyPr lIns="0" rIns="0" tIns="0" bIns="0">
            <a:normAutofit/>
          </a:bodyPr>
          <a:p>
            <a:endParaRPr b="0" lang="es-ES" sz="3200" spc="-1" strike="noStrike">
              <a:latin typeface="Arial"/>
            </a:endParaRPr>
          </a:p>
        </p:txBody>
      </p:sp>
      <p:sp>
        <p:nvSpPr>
          <p:cNvPr id="29" name="PlaceHolder 4"/>
          <p:cNvSpPr>
            <a:spLocks noGrp="1"/>
          </p:cNvSpPr>
          <p:nvPr>
            <p:ph type="body"/>
          </p:nvPr>
        </p:nvSpPr>
        <p:spPr>
          <a:xfrm>
            <a:off x="609480" y="3682080"/>
            <a:ext cx="5354280" cy="1896840"/>
          </a:xfrm>
          <a:prstGeom prst="rect">
            <a:avLst/>
          </a:prstGeom>
        </p:spPr>
        <p:txBody>
          <a:bodyPr lIns="0" rIns="0" tIns="0" bIns="0">
            <a:normAutofit/>
          </a:bodyPr>
          <a:p>
            <a:endParaRPr b="0" lang="es-ES" sz="3200" spc="-1" strike="noStrike">
              <a:latin typeface="Arial"/>
            </a:endParaRPr>
          </a:p>
        </p:txBody>
      </p:sp>
      <p:sp>
        <p:nvSpPr>
          <p:cNvPr id="30" name="PlaceHolder 5"/>
          <p:cNvSpPr>
            <a:spLocks noGrp="1"/>
          </p:cNvSpPr>
          <p:nvPr>
            <p:ph type="body"/>
          </p:nvPr>
        </p:nvSpPr>
        <p:spPr>
          <a:xfrm>
            <a:off x="6231960" y="3682080"/>
            <a:ext cx="5354280" cy="1896840"/>
          </a:xfrm>
          <a:prstGeom prst="rect">
            <a:avLst/>
          </a:prstGeom>
        </p:spPr>
        <p:txBody>
          <a:bodyPr lIns="0" rIns="0" tIns="0" bIns="0">
            <a:normAutofit/>
          </a:bodyPr>
          <a:p>
            <a:endParaRPr b="0" lang="es-E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s-ES" sz="4400" spc="-1" strike="noStrike">
              <a:latin typeface="Arial"/>
            </a:endParaRPr>
          </a:p>
        </p:txBody>
      </p:sp>
      <p:sp>
        <p:nvSpPr>
          <p:cNvPr id="32" name="PlaceHolder 2"/>
          <p:cNvSpPr>
            <a:spLocks noGrp="1"/>
          </p:cNvSpPr>
          <p:nvPr>
            <p:ph type="body"/>
          </p:nvPr>
        </p:nvSpPr>
        <p:spPr>
          <a:xfrm>
            <a:off x="609480" y="1604520"/>
            <a:ext cx="3533040" cy="1896840"/>
          </a:xfrm>
          <a:prstGeom prst="rect">
            <a:avLst/>
          </a:prstGeom>
        </p:spPr>
        <p:txBody>
          <a:bodyPr lIns="0" rIns="0" tIns="0" bIns="0">
            <a:normAutofit/>
          </a:bodyPr>
          <a:p>
            <a:endParaRPr b="0" lang="es-ES" sz="3200" spc="-1" strike="noStrike">
              <a:latin typeface="Arial"/>
            </a:endParaRPr>
          </a:p>
        </p:txBody>
      </p:sp>
      <p:sp>
        <p:nvSpPr>
          <p:cNvPr id="33" name="PlaceHolder 3"/>
          <p:cNvSpPr>
            <a:spLocks noGrp="1"/>
          </p:cNvSpPr>
          <p:nvPr>
            <p:ph type="body"/>
          </p:nvPr>
        </p:nvSpPr>
        <p:spPr>
          <a:xfrm>
            <a:off x="4319640" y="1604520"/>
            <a:ext cx="3533040" cy="1896840"/>
          </a:xfrm>
          <a:prstGeom prst="rect">
            <a:avLst/>
          </a:prstGeom>
        </p:spPr>
        <p:txBody>
          <a:bodyPr lIns="0" rIns="0" tIns="0" bIns="0">
            <a:normAutofit/>
          </a:bodyPr>
          <a:p>
            <a:endParaRPr b="0" lang="es-ES" sz="3200" spc="-1" strike="noStrike">
              <a:latin typeface="Arial"/>
            </a:endParaRPr>
          </a:p>
        </p:txBody>
      </p:sp>
      <p:sp>
        <p:nvSpPr>
          <p:cNvPr id="34" name="PlaceHolder 4"/>
          <p:cNvSpPr>
            <a:spLocks noGrp="1"/>
          </p:cNvSpPr>
          <p:nvPr>
            <p:ph type="body"/>
          </p:nvPr>
        </p:nvSpPr>
        <p:spPr>
          <a:xfrm>
            <a:off x="8029800" y="1604520"/>
            <a:ext cx="3533040" cy="1896840"/>
          </a:xfrm>
          <a:prstGeom prst="rect">
            <a:avLst/>
          </a:prstGeom>
        </p:spPr>
        <p:txBody>
          <a:bodyPr lIns="0" rIns="0" tIns="0" bIns="0">
            <a:normAutofit/>
          </a:bodyPr>
          <a:p>
            <a:endParaRPr b="0" lang="es-ES" sz="3200" spc="-1" strike="noStrike">
              <a:latin typeface="Arial"/>
            </a:endParaRPr>
          </a:p>
        </p:txBody>
      </p:sp>
      <p:sp>
        <p:nvSpPr>
          <p:cNvPr id="35" name="PlaceHolder 5"/>
          <p:cNvSpPr>
            <a:spLocks noGrp="1"/>
          </p:cNvSpPr>
          <p:nvPr>
            <p:ph type="body"/>
          </p:nvPr>
        </p:nvSpPr>
        <p:spPr>
          <a:xfrm>
            <a:off x="609480" y="3682080"/>
            <a:ext cx="3533040" cy="1896840"/>
          </a:xfrm>
          <a:prstGeom prst="rect">
            <a:avLst/>
          </a:prstGeom>
        </p:spPr>
        <p:txBody>
          <a:bodyPr lIns="0" rIns="0" tIns="0" bIns="0">
            <a:normAutofit/>
          </a:bodyPr>
          <a:p>
            <a:endParaRPr b="0" lang="es-ES" sz="3200" spc="-1" strike="noStrike">
              <a:latin typeface="Arial"/>
            </a:endParaRPr>
          </a:p>
        </p:txBody>
      </p:sp>
      <p:sp>
        <p:nvSpPr>
          <p:cNvPr id="36" name="PlaceHolder 6"/>
          <p:cNvSpPr>
            <a:spLocks noGrp="1"/>
          </p:cNvSpPr>
          <p:nvPr>
            <p:ph type="body"/>
          </p:nvPr>
        </p:nvSpPr>
        <p:spPr>
          <a:xfrm>
            <a:off x="4319640" y="3682080"/>
            <a:ext cx="3533040" cy="1896840"/>
          </a:xfrm>
          <a:prstGeom prst="rect">
            <a:avLst/>
          </a:prstGeom>
        </p:spPr>
        <p:txBody>
          <a:bodyPr lIns="0" rIns="0" tIns="0" bIns="0">
            <a:normAutofit/>
          </a:bodyPr>
          <a:p>
            <a:endParaRPr b="0" lang="es-ES" sz="3200" spc="-1" strike="noStrike">
              <a:latin typeface="Arial"/>
            </a:endParaRPr>
          </a:p>
        </p:txBody>
      </p:sp>
      <p:sp>
        <p:nvSpPr>
          <p:cNvPr id="37" name="PlaceHolder 7"/>
          <p:cNvSpPr>
            <a:spLocks noGrp="1"/>
          </p:cNvSpPr>
          <p:nvPr>
            <p:ph type="body"/>
          </p:nvPr>
        </p:nvSpPr>
        <p:spPr>
          <a:xfrm>
            <a:off x="8029800" y="3682080"/>
            <a:ext cx="3533040" cy="1896840"/>
          </a:xfrm>
          <a:prstGeom prst="rect">
            <a:avLst/>
          </a:prstGeom>
        </p:spPr>
        <p:txBody>
          <a:bodyPr lIns="0" rIns="0" tIns="0" bIns="0">
            <a:normAutofit/>
          </a:bodyPr>
          <a:p>
            <a:endParaRPr b="0" lang="es-E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r>
              <a:rPr b="0" lang="es-ES" sz="4400" spc="-1" strike="noStrike">
                <a:latin typeface="Arial"/>
              </a:rPr>
              <a:t>Pulse para editar el formato del texto de título</a:t>
            </a:r>
            <a:endParaRPr b="0" lang="es-ES" sz="4400" spc="-1" strike="noStrike">
              <a:latin typeface="Arial"/>
            </a:endParaRPr>
          </a:p>
        </p:txBody>
      </p:sp>
      <p:sp>
        <p:nvSpPr>
          <p:cNvPr id="1"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s-ES" sz="3200" spc="-1" strike="noStrike">
                <a:latin typeface="Arial"/>
              </a:rPr>
              <a:t>Pulse para editar el formato de texto del esquema</a:t>
            </a:r>
            <a:endParaRPr b="0" lang="es-ES" sz="3200" spc="-1" strike="noStrike">
              <a:latin typeface="Arial"/>
            </a:endParaRPr>
          </a:p>
          <a:p>
            <a:pPr lvl="1" marL="864000" indent="-324000">
              <a:spcBef>
                <a:spcPts val="1134"/>
              </a:spcBef>
              <a:buClr>
                <a:srgbClr val="000000"/>
              </a:buClr>
              <a:buSzPct val="75000"/>
              <a:buFont typeface="Symbol" charset="2"/>
              <a:buChar char=""/>
            </a:pPr>
            <a:r>
              <a:rPr b="0" lang="es-ES" sz="2800" spc="-1" strike="noStrike">
                <a:latin typeface="Arial"/>
              </a:rPr>
              <a:t>Segundo nivel del esquema</a:t>
            </a:r>
            <a:endParaRPr b="0" lang="es-ES" sz="2800" spc="-1" strike="noStrike">
              <a:latin typeface="Arial"/>
            </a:endParaRPr>
          </a:p>
          <a:p>
            <a:pPr lvl="2" marL="1296000" indent="-288000">
              <a:spcBef>
                <a:spcPts val="850"/>
              </a:spcBef>
              <a:buClr>
                <a:srgbClr val="000000"/>
              </a:buClr>
              <a:buSzPct val="45000"/>
              <a:buFont typeface="Wingdings" charset="2"/>
              <a:buChar char=""/>
            </a:pPr>
            <a:r>
              <a:rPr b="0" lang="es-ES" sz="2400" spc="-1" strike="noStrike">
                <a:latin typeface="Arial"/>
              </a:rPr>
              <a:t>Tercer nivel del esquema</a:t>
            </a:r>
            <a:endParaRPr b="0" lang="es-ES" sz="2400" spc="-1" strike="noStrike">
              <a:latin typeface="Arial"/>
            </a:endParaRPr>
          </a:p>
          <a:p>
            <a:pPr lvl="3" marL="1728000" indent="-216000">
              <a:spcBef>
                <a:spcPts val="567"/>
              </a:spcBef>
              <a:buClr>
                <a:srgbClr val="000000"/>
              </a:buClr>
              <a:buSzPct val="75000"/>
              <a:buFont typeface="Symbol" charset="2"/>
              <a:buChar char=""/>
            </a:pPr>
            <a:r>
              <a:rPr b="0" lang="es-ES" sz="2000" spc="-1" strike="noStrike">
                <a:latin typeface="Arial"/>
              </a:rPr>
              <a:t>Cuarto nivel del esquema</a:t>
            </a:r>
            <a:endParaRPr b="0" lang="es-ES" sz="2000" spc="-1" strike="noStrike">
              <a:latin typeface="Arial"/>
            </a:endParaRPr>
          </a:p>
          <a:p>
            <a:pPr lvl="4" marL="2160000" indent="-216000">
              <a:spcBef>
                <a:spcPts val="283"/>
              </a:spcBef>
              <a:buClr>
                <a:srgbClr val="000000"/>
              </a:buClr>
              <a:buSzPct val="45000"/>
              <a:buFont typeface="Wingdings" charset="2"/>
              <a:buChar char=""/>
            </a:pPr>
            <a:r>
              <a:rPr b="0" lang="es-ES" sz="2000" spc="-1" strike="noStrike">
                <a:latin typeface="Arial"/>
              </a:rPr>
              <a:t>Quinto nivel del esquema</a:t>
            </a:r>
            <a:endParaRPr b="0" lang="es-ES" sz="2000" spc="-1" strike="noStrike">
              <a:latin typeface="Arial"/>
            </a:endParaRPr>
          </a:p>
          <a:p>
            <a:pPr lvl="5" marL="2592000" indent="-216000">
              <a:spcBef>
                <a:spcPts val="283"/>
              </a:spcBef>
              <a:buClr>
                <a:srgbClr val="000000"/>
              </a:buClr>
              <a:buSzPct val="45000"/>
              <a:buFont typeface="Wingdings" charset="2"/>
              <a:buChar char=""/>
            </a:pPr>
            <a:r>
              <a:rPr b="0" lang="es-ES" sz="2000" spc="-1" strike="noStrike">
                <a:latin typeface="Arial"/>
              </a:rPr>
              <a:t>Sexto nivel del esquema</a:t>
            </a:r>
            <a:endParaRPr b="0" lang="es-ES" sz="2000" spc="-1" strike="noStrike">
              <a:latin typeface="Arial"/>
            </a:endParaRPr>
          </a:p>
          <a:p>
            <a:pPr lvl="6" marL="3024000" indent="-216000">
              <a:spcBef>
                <a:spcPts val="283"/>
              </a:spcBef>
              <a:buClr>
                <a:srgbClr val="000000"/>
              </a:buClr>
              <a:buSzPct val="45000"/>
              <a:buFont typeface="Wingdings" charset="2"/>
              <a:buChar char=""/>
            </a:pPr>
            <a:r>
              <a:rPr b="0" lang="es-ES" sz="2000" spc="-1" strike="noStrike">
                <a:latin typeface="Arial"/>
              </a:rPr>
              <a:t>Séptimo nivel del esquema</a:t>
            </a:r>
            <a:endParaRPr b="0" lang="es-E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slideLayout" Target="../slideLayouts/slideLayout1.xml"/><Relationship Id="rId7"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slideLayout" Target="../slideLayouts/slideLayout1.xml"/><Relationship Id="rId7"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slideLayout" Target="../slideLayouts/slideLayout1.xml"/><Relationship Id="rId6"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slideLayout" Target="../slideLayouts/slideLayout1.xml"/><Relationship Id="rId8"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slideLayout" Target="../slideLayouts/slideLayout1.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slideLayout" Target="../slideLayouts/slideLayout1.xml"/><Relationship Id="rId6"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slideLayout" Target="../slideLayouts/slideLayout1.xml"/><Relationship Id="rId5"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slideLayout" Target="../slideLayouts/slideLayout1.xml"/><Relationship Id="rId8"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46.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48.png"/><Relationship Id="rId3" Type="http://schemas.openxmlformats.org/officeDocument/2006/relationships/slideLayout" Target="../slideLayouts/slideLayout1.xml"/><Relationship Id="rId4"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slideLayout" Target="../slideLayouts/slideLayout1.xml"/><Relationship Id="rId6"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53.png"/><Relationship Id="rId2" Type="http://schemas.openxmlformats.org/officeDocument/2006/relationships/image" Target="../media/image54.png"/><Relationship Id="rId3" Type="http://schemas.openxmlformats.org/officeDocument/2006/relationships/slideLayout" Target="../slideLayouts/slideLayout1.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56.png"/><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slideLayout" Target="../slideLayouts/slideLayout1.xml"/><Relationship Id="rId5"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59.png"/><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slideLayout" Target="../slideLayouts/slideLayout1.xml"/><Relationship Id="rId8"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65.png"/><Relationship Id="rId2" Type="http://schemas.openxmlformats.org/officeDocument/2006/relationships/slideLayout" Target="../slideLayouts/slideLayout1.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66.png"/><Relationship Id="rId2" Type="http://schemas.openxmlformats.org/officeDocument/2006/relationships/image" Target="../media/image67.png"/><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 Id="rId6" Type="http://schemas.openxmlformats.org/officeDocument/2006/relationships/image" Target="../media/image71.png"/><Relationship Id="rId7" Type="http://schemas.openxmlformats.org/officeDocument/2006/relationships/slideLayout" Target="../slideLayouts/slideLayout1.xml"/><Relationship Id="rId8"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72.png"/><Relationship Id="rId2" Type="http://schemas.openxmlformats.org/officeDocument/2006/relationships/image" Target="../media/image73.png"/><Relationship Id="rId3" Type="http://schemas.openxmlformats.org/officeDocument/2006/relationships/slideLayout" Target="../slideLayouts/slideLayout1.xml"/><Relationship Id="rId4"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74.png"/><Relationship Id="rId2" Type="http://schemas.openxmlformats.org/officeDocument/2006/relationships/image" Target="../media/image75.png"/><Relationship Id="rId3" Type="http://schemas.openxmlformats.org/officeDocument/2006/relationships/slideLayout" Target="../slideLayouts/slideLayout1.xml"/><Relationship Id="rId4"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76.png"/><Relationship Id="rId2" Type="http://schemas.openxmlformats.org/officeDocument/2006/relationships/slideLayout" Target="../slideLayouts/slideLayout1.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77.png"/><Relationship Id="rId2" Type="http://schemas.openxmlformats.org/officeDocument/2006/relationships/slideLayout" Target="../slideLayouts/slideLayout1.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78.png"/><Relationship Id="rId2" Type="http://schemas.openxmlformats.org/officeDocument/2006/relationships/slideLayout" Target="../slideLayouts/slideLayout1.xml"/><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79.png"/><Relationship Id="rId2" Type="http://schemas.openxmlformats.org/officeDocument/2006/relationships/slideLayout" Target="../slideLayouts/slideLayout1.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80.png"/><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1.xml"/><Relationship Id="rId6"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84.png"/><Relationship Id="rId2" Type="http://schemas.openxmlformats.org/officeDocument/2006/relationships/slideLayout" Target="../slideLayouts/slideLayout1.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85.png"/><Relationship Id="rId2" Type="http://schemas.openxmlformats.org/officeDocument/2006/relationships/slideLayout" Target="../slideLayouts/slideLayout1.xml"/><Relationship Id="rId3"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86.png"/><Relationship Id="rId2" Type="http://schemas.openxmlformats.org/officeDocument/2006/relationships/image" Target="../media/image87.png"/><Relationship Id="rId3" Type="http://schemas.openxmlformats.org/officeDocument/2006/relationships/image" Target="../media/image88.png"/><Relationship Id="rId4" Type="http://schemas.openxmlformats.org/officeDocument/2006/relationships/slideLayout" Target="../slideLayouts/slideLayout1.xml"/><Relationship Id="rId5"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89.png"/><Relationship Id="rId2" Type="http://schemas.openxmlformats.org/officeDocument/2006/relationships/slideLayout" Target="../slideLayouts/slideLayout1.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90.png"/><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slideLayout" Target="../slideLayouts/slideLayout1.xml"/><Relationship Id="rId8"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96.png"/><Relationship Id="rId2" Type="http://schemas.openxmlformats.org/officeDocument/2006/relationships/slideLayout" Target="../slideLayouts/slideLayout1.xml"/><Relationship Id="rId3"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97.png"/><Relationship Id="rId2" Type="http://schemas.openxmlformats.org/officeDocument/2006/relationships/slideLayout" Target="../slideLayouts/slideLayout1.xml"/><Relationship Id="rId3"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98.png"/><Relationship Id="rId2" Type="http://schemas.openxmlformats.org/officeDocument/2006/relationships/slideLayout" Target="../slideLayouts/slideLayout1.xml"/><Relationship Id="rId3"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99.png"/><Relationship Id="rId2" Type="http://schemas.openxmlformats.org/officeDocument/2006/relationships/image" Target="../media/image100.png"/><Relationship Id="rId3" Type="http://schemas.openxmlformats.org/officeDocument/2006/relationships/image" Target="../media/image101.png"/><Relationship Id="rId4" Type="http://schemas.openxmlformats.org/officeDocument/2006/relationships/image" Target="../media/image102.png"/><Relationship Id="rId5" Type="http://schemas.openxmlformats.org/officeDocument/2006/relationships/slideLayout" Target="../slideLayouts/slideLayout1.xml"/><Relationship Id="rId6"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103.png"/><Relationship Id="rId2" Type="http://schemas.openxmlformats.org/officeDocument/2006/relationships/image" Target="../media/image104.png"/><Relationship Id="rId3" Type="http://schemas.openxmlformats.org/officeDocument/2006/relationships/slideLayout" Target="../slideLayouts/slideLayout1.xml"/><Relationship Id="rId4"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105.png"/><Relationship Id="rId2" Type="http://schemas.openxmlformats.org/officeDocument/2006/relationships/image" Target="../media/image106.png"/><Relationship Id="rId3" Type="http://schemas.openxmlformats.org/officeDocument/2006/relationships/image" Target="../media/image107.png"/><Relationship Id="rId4" Type="http://schemas.openxmlformats.org/officeDocument/2006/relationships/slideLayout" Target="../slideLayouts/slideLayout1.xml"/><Relationship Id="rId5"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108.png"/><Relationship Id="rId2" Type="http://schemas.openxmlformats.org/officeDocument/2006/relationships/slideLayout" Target="../slideLayouts/slideLayout1.xml"/><Relationship Id="rId3"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109.png"/><Relationship Id="rId2" Type="http://schemas.openxmlformats.org/officeDocument/2006/relationships/image" Target="../media/image110.png"/><Relationship Id="rId3" Type="http://schemas.openxmlformats.org/officeDocument/2006/relationships/image" Target="../media/image111.png"/><Relationship Id="rId4" Type="http://schemas.openxmlformats.org/officeDocument/2006/relationships/image" Target="../media/image112.png"/><Relationship Id="rId5" Type="http://schemas.openxmlformats.org/officeDocument/2006/relationships/image" Target="../media/image113.png"/><Relationship Id="rId6" Type="http://schemas.openxmlformats.org/officeDocument/2006/relationships/slideLayout" Target="../slideLayouts/slideLayout1.xml"/><Relationship Id="rId7"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114.png"/><Relationship Id="rId2" Type="http://schemas.openxmlformats.org/officeDocument/2006/relationships/image" Target="../media/image115.png"/><Relationship Id="rId3" Type="http://schemas.openxmlformats.org/officeDocument/2006/relationships/image" Target="../media/image116.png"/><Relationship Id="rId4" Type="http://schemas.openxmlformats.org/officeDocument/2006/relationships/image" Target="../media/image117.png"/><Relationship Id="rId5" Type="http://schemas.openxmlformats.org/officeDocument/2006/relationships/image" Target="../media/image118.png"/><Relationship Id="rId6" Type="http://schemas.openxmlformats.org/officeDocument/2006/relationships/image" Target="../media/image119.png"/><Relationship Id="rId7" Type="http://schemas.openxmlformats.org/officeDocument/2006/relationships/slideLayout" Target="../slideLayouts/slideLayout1.xml"/><Relationship Id="rId8"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120.png"/><Relationship Id="rId2"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slideLayout" Target="../slideLayouts/slideLayout1.xml"/><Relationship Id="rId5"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123.png"/><Relationship Id="rId2" Type="http://schemas.openxmlformats.org/officeDocument/2006/relationships/slideLayout" Target="../slideLayouts/slideLayout1.xml"/><Relationship Id="rId3"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124.png"/><Relationship Id="rId2" Type="http://schemas.openxmlformats.org/officeDocument/2006/relationships/slideLayout" Target="../slideLayouts/slideLayout1.xml"/><Relationship Id="rId3"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125.png"/><Relationship Id="rId2" Type="http://schemas.openxmlformats.org/officeDocument/2006/relationships/image" Target="../media/image126.png"/><Relationship Id="rId3" Type="http://schemas.openxmlformats.org/officeDocument/2006/relationships/image" Target="../media/image127.png"/><Relationship Id="rId4" Type="http://schemas.openxmlformats.org/officeDocument/2006/relationships/image" Target="../media/image128.png"/><Relationship Id="rId5" Type="http://schemas.openxmlformats.org/officeDocument/2006/relationships/slideLayout" Target="../slideLayouts/slideLayout1.xml"/><Relationship Id="rId6"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image" Target="../media/image129.png"/><Relationship Id="rId2" Type="http://schemas.openxmlformats.org/officeDocument/2006/relationships/image" Target="../media/image130.png"/><Relationship Id="rId3" Type="http://schemas.openxmlformats.org/officeDocument/2006/relationships/slideLayout" Target="../slideLayouts/slideLayout1.xml"/><Relationship Id="rId4"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image" Target="../media/image132.png"/><Relationship Id="rId2" Type="http://schemas.openxmlformats.org/officeDocument/2006/relationships/slideLayout" Target="../slideLayouts/slideLayout1.xml"/><Relationship Id="rId3"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image" Target="../media/image133.png"/><Relationship Id="rId2" Type="http://schemas.openxmlformats.org/officeDocument/2006/relationships/slideLayout" Target="../slideLayouts/slideLayout1.xml"/><Relationship Id="rId3"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image" Target="../media/image134.png"/><Relationship Id="rId2" Type="http://schemas.openxmlformats.org/officeDocument/2006/relationships/image" Target="../media/image135.png"/><Relationship Id="rId3" Type="http://schemas.openxmlformats.org/officeDocument/2006/relationships/slideLayout" Target="../slideLayouts/slideLayout1.xml"/><Relationship Id="rId4"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image" Target="../media/image136.png"/><Relationship Id="rId2" Type="http://schemas.openxmlformats.org/officeDocument/2006/relationships/image" Target="../media/image137.png"/><Relationship Id="rId3" Type="http://schemas.openxmlformats.org/officeDocument/2006/relationships/image" Target="../media/image138.png"/><Relationship Id="rId4" Type="http://schemas.openxmlformats.org/officeDocument/2006/relationships/image" Target="../media/image139.png"/><Relationship Id="rId5" Type="http://schemas.openxmlformats.org/officeDocument/2006/relationships/slideLayout" Target="../slideLayouts/slideLayout1.xml"/><Relationship Id="rId6"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image" Target="../media/image140.png"/><Relationship Id="rId2"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144.png"/><Relationship Id="rId6" Type="http://schemas.openxmlformats.org/officeDocument/2006/relationships/image" Target="../media/image145.png"/><Relationship Id="rId7" Type="http://schemas.openxmlformats.org/officeDocument/2006/relationships/slideLayout" Target="../slideLayouts/slideLayout1.xml"/><Relationship Id="rId8"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image" Target="../media/image146.png"/><Relationship Id="rId2" Type="http://schemas.openxmlformats.org/officeDocument/2006/relationships/slideLayout" Target="../slideLayouts/slideLayout1.xml"/><Relationship Id="rId3"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image" Target="../media/image147.png"/><Relationship Id="rId2" Type="http://schemas.openxmlformats.org/officeDocument/2006/relationships/image" Target="../media/image148.png"/><Relationship Id="rId3" Type="http://schemas.openxmlformats.org/officeDocument/2006/relationships/image" Target="../media/image149.png"/><Relationship Id="rId4" Type="http://schemas.openxmlformats.org/officeDocument/2006/relationships/slideLayout" Target="../slideLayouts/slideLayout1.xml"/><Relationship Id="rId5"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image" Target="../media/image150.png"/><Relationship Id="rId2" Type="http://schemas.openxmlformats.org/officeDocument/2006/relationships/slideLayout" Target="../slideLayouts/slideLayout1.xml"/><Relationship Id="rId3"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image" Target="../media/image154.png"/><Relationship Id="rId2" Type="http://schemas.openxmlformats.org/officeDocument/2006/relationships/slideLayout" Target="../slideLayouts/slideLayout1.xml"/><Relationship Id="rId3"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image" Target="../media/image155.png"/><Relationship Id="rId2" Type="http://schemas.openxmlformats.org/officeDocument/2006/relationships/slideLayout" Target="../slideLayouts/slideLayout1.xml"/><Relationship Id="rId3"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image" Target="../media/image156.png"/><Relationship Id="rId2" Type="http://schemas.openxmlformats.org/officeDocument/2006/relationships/image" Target="../media/image157.png"/><Relationship Id="rId3" Type="http://schemas.openxmlformats.org/officeDocument/2006/relationships/image" Target="../media/image158.png"/><Relationship Id="rId4" Type="http://schemas.openxmlformats.org/officeDocument/2006/relationships/image" Target="../media/image159.png"/><Relationship Id="rId5" Type="http://schemas.openxmlformats.org/officeDocument/2006/relationships/image" Target="../media/image160.png"/><Relationship Id="rId6" Type="http://schemas.openxmlformats.org/officeDocument/2006/relationships/image" Target="../media/image161.png"/><Relationship Id="rId7" Type="http://schemas.openxmlformats.org/officeDocument/2006/relationships/slideLayout" Target="../slideLayouts/slideLayout1.xml"/><Relationship Id="rId8"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image" Target="../media/image162.png"/><Relationship Id="rId2" Type="http://schemas.openxmlformats.org/officeDocument/2006/relationships/slideLayout" Target="../slideLayouts/slideLayout1.xml"/><Relationship Id="rId3"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image" Target="../media/image163.png"/><Relationship Id="rId2" Type="http://schemas.openxmlformats.org/officeDocument/2006/relationships/image" Target="../media/image164.png"/><Relationship Id="rId3" Type="http://schemas.openxmlformats.org/officeDocument/2006/relationships/image" Target="../media/image165.png"/><Relationship Id="rId4" Type="http://schemas.openxmlformats.org/officeDocument/2006/relationships/image" Target="../media/image166.png"/><Relationship Id="rId5" Type="http://schemas.openxmlformats.org/officeDocument/2006/relationships/image" Target="../media/image167.png"/><Relationship Id="rId6" Type="http://schemas.openxmlformats.org/officeDocument/2006/relationships/slideLayout" Target="../slideLayouts/slideLayout1.xml"/><Relationship Id="rId7"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image" Target="../media/image168.png"/><Relationship Id="rId2" Type="http://schemas.openxmlformats.org/officeDocument/2006/relationships/image" Target="../media/image169.png"/><Relationship Id="rId3" Type="http://schemas.openxmlformats.org/officeDocument/2006/relationships/image" Target="../media/image170.png"/><Relationship Id="rId4" Type="http://schemas.openxmlformats.org/officeDocument/2006/relationships/slideLayout" Target="../slideLayouts/slideLayout1.xml"/><Relationship Id="rId5"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image" Target="../media/image174.png"/><Relationship Id="rId2" Type="http://schemas.openxmlformats.org/officeDocument/2006/relationships/slideLayout" Target="../slideLayouts/slideLayout1.xml"/><Relationship Id="rId3"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image" Target="../media/image175.png"/><Relationship Id="rId2" Type="http://schemas.openxmlformats.org/officeDocument/2006/relationships/image" Target="../media/image176.png"/><Relationship Id="rId3" Type="http://schemas.openxmlformats.org/officeDocument/2006/relationships/image" Target="../media/image177.png"/><Relationship Id="rId4" Type="http://schemas.openxmlformats.org/officeDocument/2006/relationships/image" Target="../media/image178.png"/><Relationship Id="rId5" Type="http://schemas.openxmlformats.org/officeDocument/2006/relationships/image" Target="../media/image179.png"/><Relationship Id="rId6" Type="http://schemas.openxmlformats.org/officeDocument/2006/relationships/slideLayout" Target="../slideLayouts/slideLayout1.xml"/><Relationship Id="rId7"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
</Relationships>
</file>

<file path=ppt/slides/_rels/slide78.xml.rels><?xml version="1.0" encoding="UTF-8"?>
<Relationships xmlns="http://schemas.openxmlformats.org/package/2006/relationships"><Relationship Id="rId1" Type="http://schemas.openxmlformats.org/officeDocument/2006/relationships/image" Target="../media/image180.png"/><Relationship Id="rId2" Type="http://schemas.openxmlformats.org/officeDocument/2006/relationships/slideLayout" Target="../slideLayouts/slideLayout1.xml"/><Relationship Id="rId3" Type="http://schemas.openxmlformats.org/officeDocument/2006/relationships/notesSlide" Target="../notesSlides/notesSlide78.xml"/>
</Relationships>
</file>

<file path=ppt/slides/_rels/slide79.xml.rels><?xml version="1.0" encoding="UTF-8"?>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79.xml"/>
</Relationships>
</file>

<file path=ppt/slides/_rels/slide80.xml.rels><?xml version="1.0" encoding="UTF-8"?>
<Relationships xmlns="http://schemas.openxmlformats.org/package/2006/relationships"><Relationship Id="rId1" Type="http://schemas.openxmlformats.org/officeDocument/2006/relationships/image" Target="../media/image183.png"/><Relationship Id="rId2" Type="http://schemas.openxmlformats.org/officeDocument/2006/relationships/image" Target="../media/image184.png"/><Relationship Id="rId3" Type="http://schemas.openxmlformats.org/officeDocument/2006/relationships/slideLayout" Target="../slideLayouts/slideLayout1.xml"/><Relationship Id="rId4" Type="http://schemas.openxmlformats.org/officeDocument/2006/relationships/notesSlide" Target="../notesSlides/notesSlide80.xml"/>
</Relationships>
</file>

<file path=ppt/slides/_rels/slide81.xml.rels><?xml version="1.0" encoding="UTF-8"?>
<Relationships xmlns="http://schemas.openxmlformats.org/package/2006/relationships"><Relationship Id="rId1" Type="http://schemas.openxmlformats.org/officeDocument/2006/relationships/image" Target="../media/image185.png"/><Relationship Id="rId2" Type="http://schemas.openxmlformats.org/officeDocument/2006/relationships/image" Target="../media/image186.png"/><Relationship Id="rId3" Type="http://schemas.openxmlformats.org/officeDocument/2006/relationships/image" Target="../media/image187.png"/><Relationship Id="rId4" Type="http://schemas.openxmlformats.org/officeDocument/2006/relationships/image" Target="../media/image188.png"/><Relationship Id="rId5" Type="http://schemas.openxmlformats.org/officeDocument/2006/relationships/image" Target="../media/image189.png"/><Relationship Id="rId6" Type="http://schemas.openxmlformats.org/officeDocument/2006/relationships/image" Target="../media/image190.png"/><Relationship Id="rId7" Type="http://schemas.openxmlformats.org/officeDocument/2006/relationships/image" Target="../media/image191.png"/><Relationship Id="rId8" Type="http://schemas.openxmlformats.org/officeDocument/2006/relationships/image" Target="../media/image192.png"/><Relationship Id="rId9" Type="http://schemas.openxmlformats.org/officeDocument/2006/relationships/slideLayout" Target="../slideLayouts/slideLayout1.xml"/><Relationship Id="rId10" Type="http://schemas.openxmlformats.org/officeDocument/2006/relationships/notesSlide" Target="../notesSlides/notesSlide81.xml"/>
</Relationships>
</file>

<file path=ppt/slides/_rels/slide82.xml.rels><?xml version="1.0" encoding="UTF-8"?>
<Relationships xmlns="http://schemas.openxmlformats.org/package/2006/relationships"><Relationship Id="rId1" Type="http://schemas.openxmlformats.org/officeDocument/2006/relationships/image" Target="../media/image193.png"/><Relationship Id="rId2" Type="http://schemas.openxmlformats.org/officeDocument/2006/relationships/image" Target="../media/image194.png"/><Relationship Id="rId3" Type="http://schemas.openxmlformats.org/officeDocument/2006/relationships/image" Target="../media/image195.png"/><Relationship Id="rId4" Type="http://schemas.openxmlformats.org/officeDocument/2006/relationships/image" Target="../media/image196.png"/><Relationship Id="rId5" Type="http://schemas.openxmlformats.org/officeDocument/2006/relationships/slideLayout" Target="../slideLayouts/slideLayout1.xml"/><Relationship Id="rId6" Type="http://schemas.openxmlformats.org/officeDocument/2006/relationships/notesSlide" Target="../notesSlides/notesSlide8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1528"/>
        </a:solidFill>
      </p:bgPr>
    </p:bg>
    <p:spTree>
      <p:nvGrpSpPr>
        <p:cNvPr id="1" name=""/>
        <p:cNvGrpSpPr/>
        <p:nvPr/>
      </p:nvGrpSpPr>
      <p:grpSpPr>
        <a:xfrm>
          <a:off x="0" y="0"/>
          <a:ext cx="0" cy="0"/>
          <a:chOff x="0" y="0"/>
          <a:chExt cx="0" cy="0"/>
        </a:xfrm>
      </p:grpSpPr>
      <p:sp>
        <p:nvSpPr>
          <p:cNvPr id="44" name="CustomShape 1"/>
          <p:cNvSpPr/>
          <p:nvPr/>
        </p:nvSpPr>
        <p:spPr>
          <a:xfrm>
            <a:off x="7406640" y="822960"/>
            <a:ext cx="4752360" cy="4752360"/>
          </a:xfrm>
          <a:prstGeom prst="ellipse">
            <a:avLst/>
          </a:prstGeom>
          <a:solidFill>
            <a:srgbClr val="134074">
              <a:alpha val="30000"/>
            </a:srgbClr>
          </a:solidFill>
          <a:ln>
            <a:noFill/>
          </a:ln>
        </p:spPr>
        <p:style>
          <a:lnRef idx="0"/>
          <a:fillRef idx="0"/>
          <a:effectRef idx="0"/>
          <a:fontRef idx="minor"/>
        </p:style>
      </p:sp>
      <p:sp>
        <p:nvSpPr>
          <p:cNvPr id="45" name="CustomShape 2"/>
          <p:cNvSpPr/>
          <p:nvPr/>
        </p:nvSpPr>
        <p:spPr>
          <a:xfrm>
            <a:off x="8001000" y="1417320"/>
            <a:ext cx="3563640" cy="3563640"/>
          </a:xfrm>
          <a:prstGeom prst="ellipse">
            <a:avLst/>
          </a:prstGeom>
          <a:solidFill>
            <a:srgbClr val="134074">
              <a:alpha val="55000"/>
            </a:srgbClr>
          </a:solidFill>
          <a:ln>
            <a:noFill/>
          </a:ln>
        </p:spPr>
        <p:style>
          <a:lnRef idx="0"/>
          <a:fillRef idx="0"/>
          <a:effectRef idx="0"/>
          <a:fontRef idx="minor"/>
        </p:style>
      </p:sp>
      <p:sp>
        <p:nvSpPr>
          <p:cNvPr id="46" name="CustomShape 3"/>
          <p:cNvSpPr/>
          <p:nvPr/>
        </p:nvSpPr>
        <p:spPr>
          <a:xfrm>
            <a:off x="8732520" y="2148840"/>
            <a:ext cx="2100600" cy="2100600"/>
          </a:xfrm>
          <a:prstGeom prst="ellipse">
            <a:avLst/>
          </a:prstGeom>
          <a:solidFill>
            <a:srgbClr val="d95d39"/>
          </a:solidFill>
          <a:ln>
            <a:noFill/>
          </a:ln>
        </p:spPr>
        <p:style>
          <a:lnRef idx="0"/>
          <a:fillRef idx="0"/>
          <a:effectRef idx="0"/>
          <a:fontRef idx="minor"/>
        </p:style>
      </p:sp>
      <p:pic>
        <p:nvPicPr>
          <p:cNvPr id="47" name="Image 0" descr="preencoded.png"/>
          <p:cNvPicPr/>
          <p:nvPr/>
        </p:nvPicPr>
        <p:blipFill>
          <a:blip r:embed="rId1"/>
          <a:stretch/>
        </p:blipFill>
        <p:spPr>
          <a:xfrm>
            <a:off x="9258480" y="2674800"/>
            <a:ext cx="1049040" cy="1049040"/>
          </a:xfrm>
          <a:prstGeom prst="rect">
            <a:avLst/>
          </a:prstGeom>
          <a:ln>
            <a:noFill/>
          </a:ln>
        </p:spPr>
      </p:pic>
      <p:sp>
        <p:nvSpPr>
          <p:cNvPr id="48" name="CustomShape 4"/>
          <p:cNvSpPr/>
          <p:nvPr/>
        </p:nvSpPr>
        <p:spPr>
          <a:xfrm>
            <a:off x="7498080" y="1143000"/>
            <a:ext cx="637560" cy="637560"/>
          </a:xfrm>
          <a:prstGeom prst="ellipse">
            <a:avLst/>
          </a:prstGeom>
          <a:solidFill>
            <a:srgbClr val="0b2545"/>
          </a:solidFill>
          <a:ln>
            <a:noFill/>
          </a:ln>
        </p:spPr>
        <p:style>
          <a:lnRef idx="0"/>
          <a:fillRef idx="0"/>
          <a:effectRef idx="0"/>
          <a:fontRef idx="minor"/>
        </p:style>
      </p:sp>
      <p:pic>
        <p:nvPicPr>
          <p:cNvPr id="49" name="Image 1" descr="preencoded.png"/>
          <p:cNvPicPr/>
          <p:nvPr/>
        </p:nvPicPr>
        <p:blipFill>
          <a:blip r:embed="rId2"/>
          <a:stretch/>
        </p:blipFill>
        <p:spPr>
          <a:xfrm>
            <a:off x="7658280" y="1303200"/>
            <a:ext cx="317520" cy="317520"/>
          </a:xfrm>
          <a:prstGeom prst="rect">
            <a:avLst/>
          </a:prstGeom>
          <a:ln>
            <a:noFill/>
          </a:ln>
        </p:spPr>
      </p:pic>
      <p:sp>
        <p:nvSpPr>
          <p:cNvPr id="50" name="CustomShape 5"/>
          <p:cNvSpPr/>
          <p:nvPr/>
        </p:nvSpPr>
        <p:spPr>
          <a:xfrm>
            <a:off x="10972800" y="1417320"/>
            <a:ext cx="637560" cy="637560"/>
          </a:xfrm>
          <a:prstGeom prst="ellipse">
            <a:avLst/>
          </a:prstGeom>
          <a:solidFill>
            <a:srgbClr val="0b2545"/>
          </a:solidFill>
          <a:ln>
            <a:noFill/>
          </a:ln>
        </p:spPr>
        <p:style>
          <a:lnRef idx="0"/>
          <a:fillRef idx="0"/>
          <a:effectRef idx="0"/>
          <a:fontRef idx="minor"/>
        </p:style>
      </p:sp>
      <p:pic>
        <p:nvPicPr>
          <p:cNvPr id="51" name="Image 2" descr="preencoded.png"/>
          <p:cNvPicPr/>
          <p:nvPr/>
        </p:nvPicPr>
        <p:blipFill>
          <a:blip r:embed="rId3"/>
          <a:stretch/>
        </p:blipFill>
        <p:spPr>
          <a:xfrm>
            <a:off x="11133000" y="1577520"/>
            <a:ext cx="317520" cy="317520"/>
          </a:xfrm>
          <a:prstGeom prst="rect">
            <a:avLst/>
          </a:prstGeom>
          <a:ln>
            <a:noFill/>
          </a:ln>
        </p:spPr>
      </p:pic>
      <p:sp>
        <p:nvSpPr>
          <p:cNvPr id="52" name="CustomShape 6"/>
          <p:cNvSpPr/>
          <p:nvPr/>
        </p:nvSpPr>
        <p:spPr>
          <a:xfrm>
            <a:off x="7818120" y="4709160"/>
            <a:ext cx="637560" cy="637560"/>
          </a:xfrm>
          <a:prstGeom prst="ellipse">
            <a:avLst/>
          </a:prstGeom>
          <a:solidFill>
            <a:srgbClr val="0b2545"/>
          </a:solidFill>
          <a:ln>
            <a:noFill/>
          </a:ln>
        </p:spPr>
        <p:style>
          <a:lnRef idx="0"/>
          <a:fillRef idx="0"/>
          <a:effectRef idx="0"/>
          <a:fontRef idx="minor"/>
        </p:style>
      </p:sp>
      <p:pic>
        <p:nvPicPr>
          <p:cNvPr id="53" name="Image 3" descr="preencoded.png"/>
          <p:cNvPicPr/>
          <p:nvPr/>
        </p:nvPicPr>
        <p:blipFill>
          <a:blip r:embed="rId4"/>
          <a:stretch/>
        </p:blipFill>
        <p:spPr>
          <a:xfrm>
            <a:off x="7978320" y="4869360"/>
            <a:ext cx="317520" cy="317520"/>
          </a:xfrm>
          <a:prstGeom prst="rect">
            <a:avLst/>
          </a:prstGeom>
          <a:ln>
            <a:noFill/>
          </a:ln>
        </p:spPr>
      </p:pic>
      <p:sp>
        <p:nvSpPr>
          <p:cNvPr id="54" name="CustomShape 7"/>
          <p:cNvSpPr/>
          <p:nvPr/>
        </p:nvSpPr>
        <p:spPr>
          <a:xfrm>
            <a:off x="10835640" y="4617720"/>
            <a:ext cx="637560" cy="637560"/>
          </a:xfrm>
          <a:prstGeom prst="ellipse">
            <a:avLst/>
          </a:prstGeom>
          <a:solidFill>
            <a:srgbClr val="0b2545"/>
          </a:solidFill>
          <a:ln>
            <a:noFill/>
          </a:ln>
        </p:spPr>
        <p:style>
          <a:lnRef idx="0"/>
          <a:fillRef idx="0"/>
          <a:effectRef idx="0"/>
          <a:fontRef idx="minor"/>
        </p:style>
      </p:sp>
      <p:pic>
        <p:nvPicPr>
          <p:cNvPr id="55" name="Image 4" descr="preencoded.png"/>
          <p:cNvPicPr/>
          <p:nvPr/>
        </p:nvPicPr>
        <p:blipFill>
          <a:blip r:embed="rId5"/>
          <a:stretch/>
        </p:blipFill>
        <p:spPr>
          <a:xfrm>
            <a:off x="10995840" y="4777920"/>
            <a:ext cx="317520" cy="317520"/>
          </a:xfrm>
          <a:prstGeom prst="rect">
            <a:avLst/>
          </a:prstGeom>
          <a:ln>
            <a:noFill/>
          </a:ln>
        </p:spPr>
      </p:pic>
      <p:sp>
        <p:nvSpPr>
          <p:cNvPr id="56" name="CustomShape 8"/>
          <p:cNvSpPr/>
          <p:nvPr/>
        </p:nvSpPr>
        <p:spPr>
          <a:xfrm>
            <a:off x="731520" y="1463040"/>
            <a:ext cx="2923560" cy="326520"/>
          </a:xfrm>
          <a:prstGeom prst="roundRect">
            <a:avLst>
              <a:gd name="adj" fmla="val 50000"/>
            </a:avLst>
          </a:prstGeom>
          <a:solidFill>
            <a:srgbClr val="d95d39"/>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100" spc="80" strike="noStrike">
                <a:solidFill>
                  <a:srgbClr val="ffffff"/>
                </a:solidFill>
                <a:latin typeface="Calibri"/>
                <a:ea typeface="Calibri"/>
              </a:rPr>
              <a:t>CURSO DE FORMACIÓN · 20 H</a:t>
            </a:r>
            <a:endParaRPr b="0" lang="es-ES" sz="1100" spc="-1" strike="noStrike">
              <a:latin typeface="Arial"/>
            </a:endParaRPr>
          </a:p>
        </p:txBody>
      </p:sp>
      <p:sp>
        <p:nvSpPr>
          <p:cNvPr id="57" name="CustomShape 9"/>
          <p:cNvSpPr/>
          <p:nvPr/>
        </p:nvSpPr>
        <p:spPr>
          <a:xfrm>
            <a:off x="731520" y="2011680"/>
            <a:ext cx="6398280" cy="20091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4600" spc="-1" strike="noStrike">
                <a:solidFill>
                  <a:srgbClr val="ffffff"/>
                </a:solidFill>
                <a:latin typeface="Calibri"/>
                <a:ea typeface="Calibri"/>
              </a:rPr>
              <a:t>Administración de SQL Server</a:t>
            </a:r>
            <a:endParaRPr b="0" lang="es-ES" sz="4600" spc="-1" strike="noStrike">
              <a:latin typeface="Arial"/>
            </a:endParaRPr>
          </a:p>
        </p:txBody>
      </p:sp>
      <p:sp>
        <p:nvSpPr>
          <p:cNvPr id="58" name="CustomShape 10"/>
          <p:cNvSpPr/>
          <p:nvPr/>
        </p:nvSpPr>
        <p:spPr>
          <a:xfrm>
            <a:off x="731520" y="4206240"/>
            <a:ext cx="6215400" cy="9118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2000" spc="-1" strike="noStrike">
                <a:solidFill>
                  <a:srgbClr val="8da9c4"/>
                </a:solidFill>
                <a:latin typeface="Calibri"/>
                <a:ea typeface="Calibri"/>
              </a:rPr>
              <a:t>De la arquitectura del motor a la alta disponibilidad: operar bases de datos en producción</a:t>
            </a:r>
            <a:endParaRPr b="0" lang="es-ES" sz="2000" spc="-1" strike="noStrike">
              <a:latin typeface="Arial"/>
            </a:endParaRPr>
          </a:p>
        </p:txBody>
      </p:sp>
      <p:sp>
        <p:nvSpPr>
          <p:cNvPr id="59" name="CustomShape 11"/>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8da9c4"/>
                </a:solidFill>
                <a:latin typeface="Calibri"/>
                <a:ea typeface="Calibri"/>
              </a:rPr>
              <a:t>Curso de Administración de SQL Server · 20 h</a:t>
            </a:r>
            <a:endParaRPr b="0" lang="es-ES" sz="1000" spc="-1" strike="noStrike">
              <a:latin typeface="Arial"/>
            </a:endParaRPr>
          </a:p>
        </p:txBody>
      </p:sp>
      <p:sp>
        <p:nvSpPr>
          <p:cNvPr id="60" name="CustomShape 12"/>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8da9c4"/>
                </a:solidFill>
                <a:latin typeface="Calibri"/>
                <a:ea typeface="Calibri"/>
              </a:rPr>
              <a:t>Módulo 0   1</a:t>
            </a:r>
            <a:endParaRPr b="0" lang="es-ES" sz="10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61"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BIENVENIDA</a:t>
            </a:r>
            <a:endParaRPr b="0" lang="es-ES" sz="1000" spc="-1" strike="noStrike">
              <a:latin typeface="Arial"/>
            </a:endParaRPr>
          </a:p>
        </p:txBody>
      </p:sp>
      <p:sp>
        <p:nvSpPr>
          <p:cNvPr id="62"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Qué vamos a aprender: 20 horas, 4 módulos</a:t>
            </a:r>
            <a:endParaRPr b="0" lang="es-ES" sz="3400" spc="-1" strike="noStrike">
              <a:latin typeface="Arial"/>
            </a:endParaRPr>
          </a:p>
        </p:txBody>
      </p:sp>
      <p:sp>
        <p:nvSpPr>
          <p:cNvPr id="63"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64"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0   2</a:t>
            </a:r>
            <a:endParaRPr b="0" lang="es-ES" sz="1000" spc="-1" strike="noStrike">
              <a:latin typeface="Arial"/>
            </a:endParaRPr>
          </a:p>
        </p:txBody>
      </p:sp>
      <p:sp>
        <p:nvSpPr>
          <p:cNvPr id="65" name="CustomShape 5"/>
          <p:cNvSpPr/>
          <p:nvPr/>
        </p:nvSpPr>
        <p:spPr>
          <a:xfrm>
            <a:off x="548640" y="1600200"/>
            <a:ext cx="2033640" cy="1734840"/>
          </a:xfrm>
          <a:prstGeom prst="roundRect">
            <a:avLst>
              <a:gd name="adj" fmla="val 6316"/>
            </a:avLst>
          </a:prstGeom>
          <a:solidFill>
            <a:srgbClr val="0b2545"/>
          </a:solidFill>
          <a:ln>
            <a:noFill/>
          </a:ln>
        </p:spPr>
        <p:style>
          <a:lnRef idx="0"/>
          <a:fillRef idx="0"/>
          <a:effectRef idx="0"/>
          <a:fontRef idx="minor"/>
        </p:style>
      </p:sp>
      <p:sp>
        <p:nvSpPr>
          <p:cNvPr id="66" name="CustomShape 6"/>
          <p:cNvSpPr/>
          <p:nvPr/>
        </p:nvSpPr>
        <p:spPr>
          <a:xfrm>
            <a:off x="731520" y="1737360"/>
            <a:ext cx="1667880" cy="86616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4000" spc="-1" strike="noStrike">
                <a:solidFill>
                  <a:srgbClr val="ffffff"/>
                </a:solidFill>
                <a:latin typeface="Calibri"/>
                <a:ea typeface="Calibri"/>
              </a:rPr>
              <a:t>0,5 h</a:t>
            </a:r>
            <a:endParaRPr b="0" lang="es-ES" sz="4000" spc="-1" strike="noStrike">
              <a:latin typeface="Arial"/>
            </a:endParaRPr>
          </a:p>
        </p:txBody>
      </p:sp>
      <p:sp>
        <p:nvSpPr>
          <p:cNvPr id="67" name="CustomShape 7"/>
          <p:cNvSpPr/>
          <p:nvPr/>
        </p:nvSpPr>
        <p:spPr>
          <a:xfrm>
            <a:off x="731520" y="2555640"/>
            <a:ext cx="1667880" cy="69228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300" spc="-1" strike="noStrike">
                <a:solidFill>
                  <a:srgbClr val="dce6f2"/>
                </a:solidFill>
                <a:latin typeface="Calibri"/>
                <a:ea typeface="Calibri"/>
              </a:rPr>
              <a:t>M0 · Bienvenida y entorno</a:t>
            </a:r>
            <a:endParaRPr b="0" lang="es-ES" sz="1300" spc="-1" strike="noStrike">
              <a:latin typeface="Arial"/>
            </a:endParaRPr>
          </a:p>
        </p:txBody>
      </p:sp>
      <p:sp>
        <p:nvSpPr>
          <p:cNvPr id="68" name="CustomShape 8"/>
          <p:cNvSpPr/>
          <p:nvPr/>
        </p:nvSpPr>
        <p:spPr>
          <a:xfrm>
            <a:off x="2813400" y="1600200"/>
            <a:ext cx="2033640" cy="1734840"/>
          </a:xfrm>
          <a:prstGeom prst="roundRect">
            <a:avLst>
              <a:gd name="adj" fmla="val 631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69" name="CustomShape 9"/>
          <p:cNvSpPr/>
          <p:nvPr/>
        </p:nvSpPr>
        <p:spPr>
          <a:xfrm>
            <a:off x="2996280" y="1737360"/>
            <a:ext cx="1667880" cy="86616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4000" spc="-1" strike="noStrike">
                <a:solidFill>
                  <a:srgbClr val="d95d39"/>
                </a:solidFill>
                <a:latin typeface="Calibri"/>
                <a:ea typeface="Calibri"/>
              </a:rPr>
              <a:t>4,0 h</a:t>
            </a:r>
            <a:endParaRPr b="0" lang="es-ES" sz="4000" spc="-1" strike="noStrike">
              <a:latin typeface="Arial"/>
            </a:endParaRPr>
          </a:p>
        </p:txBody>
      </p:sp>
      <p:sp>
        <p:nvSpPr>
          <p:cNvPr id="70" name="CustomShape 10"/>
          <p:cNvSpPr/>
          <p:nvPr/>
        </p:nvSpPr>
        <p:spPr>
          <a:xfrm>
            <a:off x="2996280" y="2555640"/>
            <a:ext cx="1667880" cy="69228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300" spc="-1" strike="noStrike">
                <a:solidFill>
                  <a:srgbClr val="5c6b7a"/>
                </a:solidFill>
                <a:latin typeface="Calibri"/>
                <a:ea typeface="Calibri"/>
              </a:rPr>
              <a:t>M1 · Fundamentos y arquitectura</a:t>
            </a:r>
            <a:endParaRPr b="0" lang="es-ES" sz="1300" spc="-1" strike="noStrike">
              <a:latin typeface="Arial"/>
            </a:endParaRPr>
          </a:p>
        </p:txBody>
      </p:sp>
      <p:sp>
        <p:nvSpPr>
          <p:cNvPr id="71" name="CustomShape 11"/>
          <p:cNvSpPr/>
          <p:nvPr/>
        </p:nvSpPr>
        <p:spPr>
          <a:xfrm>
            <a:off x="5077800" y="1600200"/>
            <a:ext cx="2033640" cy="1734840"/>
          </a:xfrm>
          <a:prstGeom prst="roundRect">
            <a:avLst>
              <a:gd name="adj" fmla="val 631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72" name="CustomShape 12"/>
          <p:cNvSpPr/>
          <p:nvPr/>
        </p:nvSpPr>
        <p:spPr>
          <a:xfrm>
            <a:off x="5260680" y="1737360"/>
            <a:ext cx="1667880" cy="86616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4000" spc="-1" strike="noStrike">
                <a:solidFill>
                  <a:srgbClr val="d95d39"/>
                </a:solidFill>
                <a:latin typeface="Calibri"/>
                <a:ea typeface="Calibri"/>
              </a:rPr>
              <a:t>5,5 h</a:t>
            </a:r>
            <a:endParaRPr b="0" lang="es-ES" sz="4000" spc="-1" strike="noStrike">
              <a:latin typeface="Arial"/>
            </a:endParaRPr>
          </a:p>
        </p:txBody>
      </p:sp>
      <p:sp>
        <p:nvSpPr>
          <p:cNvPr id="73" name="CustomShape 13"/>
          <p:cNvSpPr/>
          <p:nvPr/>
        </p:nvSpPr>
        <p:spPr>
          <a:xfrm>
            <a:off x="5260680" y="2555640"/>
            <a:ext cx="1667880" cy="69228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300" spc="-1" strike="noStrike">
                <a:solidFill>
                  <a:srgbClr val="5c6b7a"/>
                </a:solidFill>
                <a:latin typeface="Calibri"/>
                <a:ea typeface="Calibri"/>
              </a:rPr>
              <a:t>M2 · Gestión y seguridad</a:t>
            </a:r>
            <a:endParaRPr b="0" lang="es-ES" sz="1300" spc="-1" strike="noStrike">
              <a:latin typeface="Arial"/>
            </a:endParaRPr>
          </a:p>
        </p:txBody>
      </p:sp>
      <p:sp>
        <p:nvSpPr>
          <p:cNvPr id="74" name="CustomShape 14"/>
          <p:cNvSpPr/>
          <p:nvPr/>
        </p:nvSpPr>
        <p:spPr>
          <a:xfrm>
            <a:off x="7342560" y="1600200"/>
            <a:ext cx="2033640" cy="1734840"/>
          </a:xfrm>
          <a:prstGeom prst="roundRect">
            <a:avLst>
              <a:gd name="adj" fmla="val 631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75" name="CustomShape 15"/>
          <p:cNvSpPr/>
          <p:nvPr/>
        </p:nvSpPr>
        <p:spPr>
          <a:xfrm>
            <a:off x="7525440" y="1737360"/>
            <a:ext cx="1667880" cy="86616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4000" spc="-1" strike="noStrike">
                <a:solidFill>
                  <a:srgbClr val="d95d39"/>
                </a:solidFill>
                <a:latin typeface="Calibri"/>
                <a:ea typeface="Calibri"/>
              </a:rPr>
              <a:t>5,0 h</a:t>
            </a:r>
            <a:endParaRPr b="0" lang="es-ES" sz="4000" spc="-1" strike="noStrike">
              <a:latin typeface="Arial"/>
            </a:endParaRPr>
          </a:p>
        </p:txBody>
      </p:sp>
      <p:sp>
        <p:nvSpPr>
          <p:cNvPr id="76" name="CustomShape 16"/>
          <p:cNvSpPr/>
          <p:nvPr/>
        </p:nvSpPr>
        <p:spPr>
          <a:xfrm>
            <a:off x="7525440" y="2555640"/>
            <a:ext cx="1667880" cy="69228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300" spc="-1" strike="noStrike">
                <a:solidFill>
                  <a:srgbClr val="5c6b7a"/>
                </a:solidFill>
                <a:latin typeface="Calibri"/>
                <a:ea typeface="Calibri"/>
              </a:rPr>
              <a:t>M3 · Optimización y alta disponibilidad</a:t>
            </a:r>
            <a:endParaRPr b="0" lang="es-ES" sz="1300" spc="-1" strike="noStrike">
              <a:latin typeface="Arial"/>
            </a:endParaRPr>
          </a:p>
        </p:txBody>
      </p:sp>
      <p:sp>
        <p:nvSpPr>
          <p:cNvPr id="77" name="CustomShape 17"/>
          <p:cNvSpPr/>
          <p:nvPr/>
        </p:nvSpPr>
        <p:spPr>
          <a:xfrm>
            <a:off x="9606960" y="1600200"/>
            <a:ext cx="2033640" cy="1734840"/>
          </a:xfrm>
          <a:prstGeom prst="roundRect">
            <a:avLst>
              <a:gd name="adj" fmla="val 631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78" name="CustomShape 18"/>
          <p:cNvSpPr/>
          <p:nvPr/>
        </p:nvSpPr>
        <p:spPr>
          <a:xfrm>
            <a:off x="9789840" y="1737360"/>
            <a:ext cx="1667880" cy="86616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4000" spc="-1" strike="noStrike">
                <a:solidFill>
                  <a:srgbClr val="d95d39"/>
                </a:solidFill>
                <a:latin typeface="Calibri"/>
                <a:ea typeface="Calibri"/>
              </a:rPr>
              <a:t>5,0 h</a:t>
            </a:r>
            <a:endParaRPr b="0" lang="es-ES" sz="4000" spc="-1" strike="noStrike">
              <a:latin typeface="Arial"/>
            </a:endParaRPr>
          </a:p>
        </p:txBody>
      </p:sp>
      <p:sp>
        <p:nvSpPr>
          <p:cNvPr id="79" name="CustomShape 19"/>
          <p:cNvSpPr/>
          <p:nvPr/>
        </p:nvSpPr>
        <p:spPr>
          <a:xfrm>
            <a:off x="9789840" y="2555640"/>
            <a:ext cx="1667880" cy="69228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300" spc="-1" strike="noStrike">
                <a:solidFill>
                  <a:srgbClr val="5c6b7a"/>
                </a:solidFill>
                <a:latin typeface="Calibri"/>
                <a:ea typeface="Calibri"/>
              </a:rPr>
              <a:t>M4 · Mantenimiento y buenas prácticas</a:t>
            </a:r>
            <a:endParaRPr b="0" lang="es-ES" sz="1300" spc="-1" strike="noStrike">
              <a:latin typeface="Arial"/>
            </a:endParaRPr>
          </a:p>
        </p:txBody>
      </p:sp>
      <p:sp>
        <p:nvSpPr>
          <p:cNvPr id="80" name="CustomShape 20"/>
          <p:cNvSpPr/>
          <p:nvPr/>
        </p:nvSpPr>
        <p:spPr>
          <a:xfrm>
            <a:off x="548640" y="3611880"/>
            <a:ext cx="5407560" cy="2557800"/>
          </a:xfrm>
          <a:prstGeom prst="roundRect">
            <a:avLst>
              <a:gd name="adj" fmla="val 4286"/>
            </a:avLst>
          </a:prstGeom>
          <a:solidFill>
            <a:srgbClr val="e8eef5"/>
          </a:solidFill>
          <a:ln>
            <a:noFill/>
          </a:ln>
        </p:spPr>
        <p:style>
          <a:lnRef idx="0"/>
          <a:fillRef idx="0"/>
          <a:effectRef idx="0"/>
          <a:fontRef idx="minor"/>
        </p:style>
      </p:sp>
      <p:sp>
        <p:nvSpPr>
          <p:cNvPr id="81" name="CustomShape 21"/>
          <p:cNvSpPr/>
          <p:nvPr/>
        </p:nvSpPr>
        <p:spPr>
          <a:xfrm>
            <a:off x="777240" y="3840480"/>
            <a:ext cx="546120" cy="546120"/>
          </a:xfrm>
          <a:prstGeom prst="ellipse">
            <a:avLst/>
          </a:prstGeom>
          <a:solidFill>
            <a:srgbClr val="134074"/>
          </a:solidFill>
          <a:ln>
            <a:noFill/>
          </a:ln>
        </p:spPr>
        <p:style>
          <a:lnRef idx="0"/>
          <a:fillRef idx="0"/>
          <a:effectRef idx="0"/>
          <a:fontRef idx="minor"/>
        </p:style>
      </p:sp>
      <p:pic>
        <p:nvPicPr>
          <p:cNvPr id="82" name="Image 0" descr="preencoded.png"/>
          <p:cNvPicPr/>
          <p:nvPr/>
        </p:nvPicPr>
        <p:blipFill>
          <a:blip r:embed="rId1"/>
          <a:stretch/>
        </p:blipFill>
        <p:spPr>
          <a:xfrm>
            <a:off x="914400" y="3977640"/>
            <a:ext cx="271800" cy="271800"/>
          </a:xfrm>
          <a:prstGeom prst="rect">
            <a:avLst/>
          </a:prstGeom>
          <a:ln>
            <a:noFill/>
          </a:ln>
        </p:spPr>
      </p:pic>
      <p:sp>
        <p:nvSpPr>
          <p:cNvPr id="83" name="CustomShape 22"/>
          <p:cNvSpPr/>
          <p:nvPr/>
        </p:nvSpPr>
        <p:spPr>
          <a:xfrm>
            <a:off x="1463040" y="3840480"/>
            <a:ext cx="426456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Al terminar sabrás…</a:t>
            </a:r>
            <a:endParaRPr b="0" lang="es-ES" sz="1700" spc="-1" strike="noStrike">
              <a:latin typeface="Arial"/>
            </a:endParaRPr>
          </a:p>
        </p:txBody>
      </p:sp>
      <p:sp>
        <p:nvSpPr>
          <p:cNvPr id="84" name="CustomShape 23"/>
          <p:cNvSpPr/>
          <p:nvPr/>
        </p:nvSpPr>
        <p:spPr>
          <a:xfrm>
            <a:off x="777240" y="4572000"/>
            <a:ext cx="4950360" cy="136908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Explicar cómo ejecuta el motor una consulta</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Crear objetos y un modelo de permisos seguro</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Leer un plan de ejecución y diagnosticar con DMVs</a:t>
            </a:r>
            <a:endParaRPr b="0" lang="es-ES" sz="1400" spc="-1" strike="noStrike">
              <a:latin typeface="Arial"/>
            </a:endParaRPr>
          </a:p>
        </p:txBody>
      </p:sp>
      <p:sp>
        <p:nvSpPr>
          <p:cNvPr id="85" name="CustomShape 24"/>
          <p:cNvSpPr/>
          <p:nvPr/>
        </p:nvSpPr>
        <p:spPr>
          <a:xfrm>
            <a:off x="6233040" y="3611880"/>
            <a:ext cx="5407560" cy="2557800"/>
          </a:xfrm>
          <a:prstGeom prst="roundRect">
            <a:avLst>
              <a:gd name="adj" fmla="val 4286"/>
            </a:avLst>
          </a:prstGeom>
          <a:solidFill>
            <a:srgbClr val="e8eef5"/>
          </a:solidFill>
          <a:ln>
            <a:noFill/>
          </a:ln>
        </p:spPr>
        <p:style>
          <a:lnRef idx="0"/>
          <a:fillRef idx="0"/>
          <a:effectRef idx="0"/>
          <a:fontRef idx="minor"/>
        </p:style>
      </p:sp>
      <p:sp>
        <p:nvSpPr>
          <p:cNvPr id="86" name="CustomShape 25"/>
          <p:cNvSpPr/>
          <p:nvPr/>
        </p:nvSpPr>
        <p:spPr>
          <a:xfrm>
            <a:off x="6461640" y="3840480"/>
            <a:ext cx="546120" cy="546120"/>
          </a:xfrm>
          <a:prstGeom prst="ellipse">
            <a:avLst/>
          </a:prstGeom>
          <a:solidFill>
            <a:srgbClr val="134074"/>
          </a:solidFill>
          <a:ln>
            <a:noFill/>
          </a:ln>
        </p:spPr>
        <p:style>
          <a:lnRef idx="0"/>
          <a:fillRef idx="0"/>
          <a:effectRef idx="0"/>
          <a:fontRef idx="minor"/>
        </p:style>
      </p:sp>
      <p:pic>
        <p:nvPicPr>
          <p:cNvPr id="87" name="Image 1" descr="preencoded.png"/>
          <p:cNvPicPr/>
          <p:nvPr/>
        </p:nvPicPr>
        <p:blipFill>
          <a:blip r:embed="rId2"/>
          <a:stretch/>
        </p:blipFill>
        <p:spPr>
          <a:xfrm>
            <a:off x="6598800" y="3977640"/>
            <a:ext cx="271800" cy="271800"/>
          </a:xfrm>
          <a:prstGeom prst="rect">
            <a:avLst/>
          </a:prstGeom>
          <a:ln>
            <a:noFill/>
          </a:ln>
        </p:spPr>
      </p:pic>
      <p:sp>
        <p:nvSpPr>
          <p:cNvPr id="88" name="CustomShape 26"/>
          <p:cNvSpPr/>
          <p:nvPr/>
        </p:nvSpPr>
        <p:spPr>
          <a:xfrm>
            <a:off x="7147440" y="3840480"/>
            <a:ext cx="426456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a:t>
            </a:r>
            <a:r>
              <a:rPr b="1" lang="en-US" sz="1700" spc="-1" strike="noStrike">
                <a:solidFill>
                  <a:srgbClr val="0b2545"/>
                </a:solidFill>
                <a:latin typeface="Calibri"/>
                <a:ea typeface="Calibri"/>
              </a:rPr>
              <a:t>y serás capaz de operar</a:t>
            </a:r>
            <a:endParaRPr b="0" lang="es-ES" sz="1700" spc="-1" strike="noStrike">
              <a:latin typeface="Arial"/>
            </a:endParaRPr>
          </a:p>
        </p:txBody>
      </p:sp>
      <p:sp>
        <p:nvSpPr>
          <p:cNvPr id="89" name="CustomShape 27"/>
          <p:cNvSpPr/>
          <p:nvPr/>
        </p:nvSpPr>
        <p:spPr>
          <a:xfrm>
            <a:off x="6461640" y="4572000"/>
            <a:ext cx="4950360" cy="136908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Diseñar backups según RPO/RTO y restaurar a un punto exacto</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Automatizar mantenimiento y resolver incidencias comunes</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Elegir la solución de HA/DR adecuada</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90"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BIENVENIDA</a:t>
            </a:r>
            <a:endParaRPr b="0" lang="es-ES" sz="1000" spc="-1" strike="noStrike">
              <a:latin typeface="Arial"/>
            </a:endParaRPr>
          </a:p>
        </p:txBody>
      </p:sp>
      <p:sp>
        <p:nvSpPr>
          <p:cNvPr id="91"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Cómo trabajaremos</a:t>
            </a:r>
            <a:endParaRPr b="0" lang="es-ES" sz="3400" spc="-1" strike="noStrike">
              <a:latin typeface="Arial"/>
            </a:endParaRPr>
          </a:p>
        </p:txBody>
      </p:sp>
      <p:sp>
        <p:nvSpPr>
          <p:cNvPr id="92"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93"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0   3</a:t>
            </a:r>
            <a:endParaRPr b="0" lang="es-ES" sz="1000" spc="-1" strike="noStrike">
              <a:latin typeface="Arial"/>
            </a:endParaRPr>
          </a:p>
        </p:txBody>
      </p:sp>
      <p:sp>
        <p:nvSpPr>
          <p:cNvPr id="94" name="CustomShape 5"/>
          <p:cNvSpPr/>
          <p:nvPr/>
        </p:nvSpPr>
        <p:spPr>
          <a:xfrm>
            <a:off x="548640" y="1600200"/>
            <a:ext cx="3512880" cy="2649240"/>
          </a:xfrm>
          <a:prstGeom prst="roundRect">
            <a:avLst>
              <a:gd name="adj" fmla="val 4138"/>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95" name="CustomShape 6"/>
          <p:cNvSpPr/>
          <p:nvPr/>
        </p:nvSpPr>
        <p:spPr>
          <a:xfrm>
            <a:off x="777240" y="1828800"/>
            <a:ext cx="546120" cy="546120"/>
          </a:xfrm>
          <a:prstGeom prst="ellipse">
            <a:avLst/>
          </a:prstGeom>
          <a:solidFill>
            <a:srgbClr val="134074"/>
          </a:solidFill>
          <a:ln>
            <a:noFill/>
          </a:ln>
        </p:spPr>
        <p:style>
          <a:lnRef idx="0"/>
          <a:fillRef idx="0"/>
          <a:effectRef idx="0"/>
          <a:fontRef idx="minor"/>
        </p:style>
      </p:sp>
      <p:pic>
        <p:nvPicPr>
          <p:cNvPr id="96" name="Image 0" descr="preencoded.png"/>
          <p:cNvPicPr/>
          <p:nvPr/>
        </p:nvPicPr>
        <p:blipFill>
          <a:blip r:embed="rId1"/>
          <a:stretch/>
        </p:blipFill>
        <p:spPr>
          <a:xfrm>
            <a:off x="914400" y="1965960"/>
            <a:ext cx="271800" cy="271800"/>
          </a:xfrm>
          <a:prstGeom prst="rect">
            <a:avLst/>
          </a:prstGeom>
          <a:ln>
            <a:noFill/>
          </a:ln>
        </p:spPr>
      </p:pic>
      <p:sp>
        <p:nvSpPr>
          <p:cNvPr id="97" name="CustomShape 7"/>
          <p:cNvSpPr/>
          <p:nvPr/>
        </p:nvSpPr>
        <p:spPr>
          <a:xfrm>
            <a:off x="1463040" y="1828800"/>
            <a:ext cx="236988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Teoría breve</a:t>
            </a:r>
            <a:endParaRPr b="0" lang="es-ES" sz="1700" spc="-1" strike="noStrike">
              <a:latin typeface="Arial"/>
            </a:endParaRPr>
          </a:p>
        </p:txBody>
      </p:sp>
      <p:sp>
        <p:nvSpPr>
          <p:cNvPr id="98" name="CustomShape 8"/>
          <p:cNvSpPr/>
          <p:nvPr/>
        </p:nvSpPr>
        <p:spPr>
          <a:xfrm>
            <a:off x="777240" y="2560320"/>
            <a:ext cx="3055680" cy="14605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Bloques de 20-30 min con esquemas, demostraciones en vivo y fragmentos T-SQL reales.</a:t>
            </a:r>
            <a:endParaRPr b="0" lang="es-ES" sz="1400" spc="-1" strike="noStrike">
              <a:latin typeface="Arial"/>
            </a:endParaRPr>
          </a:p>
        </p:txBody>
      </p:sp>
      <p:sp>
        <p:nvSpPr>
          <p:cNvPr id="99" name="CustomShape 9"/>
          <p:cNvSpPr/>
          <p:nvPr/>
        </p:nvSpPr>
        <p:spPr>
          <a:xfrm>
            <a:off x="4338360" y="1600200"/>
            <a:ext cx="3512880" cy="2649240"/>
          </a:xfrm>
          <a:prstGeom prst="roundRect">
            <a:avLst>
              <a:gd name="adj" fmla="val 4138"/>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00" name="CustomShape 10"/>
          <p:cNvSpPr/>
          <p:nvPr/>
        </p:nvSpPr>
        <p:spPr>
          <a:xfrm>
            <a:off x="4566960" y="1828800"/>
            <a:ext cx="546120" cy="546120"/>
          </a:xfrm>
          <a:prstGeom prst="ellipse">
            <a:avLst/>
          </a:prstGeom>
          <a:solidFill>
            <a:srgbClr val="134074"/>
          </a:solidFill>
          <a:ln>
            <a:noFill/>
          </a:ln>
        </p:spPr>
        <p:style>
          <a:lnRef idx="0"/>
          <a:fillRef idx="0"/>
          <a:effectRef idx="0"/>
          <a:fontRef idx="minor"/>
        </p:style>
      </p:sp>
      <p:pic>
        <p:nvPicPr>
          <p:cNvPr id="101" name="Image 1" descr="preencoded.png"/>
          <p:cNvPicPr/>
          <p:nvPr/>
        </p:nvPicPr>
        <p:blipFill>
          <a:blip r:embed="rId2"/>
          <a:stretch/>
        </p:blipFill>
        <p:spPr>
          <a:xfrm>
            <a:off x="4704120" y="1965960"/>
            <a:ext cx="271800" cy="271800"/>
          </a:xfrm>
          <a:prstGeom prst="rect">
            <a:avLst/>
          </a:prstGeom>
          <a:ln>
            <a:noFill/>
          </a:ln>
        </p:spPr>
      </p:pic>
      <p:sp>
        <p:nvSpPr>
          <p:cNvPr id="102" name="CustomShape 11"/>
          <p:cNvSpPr/>
          <p:nvPr/>
        </p:nvSpPr>
        <p:spPr>
          <a:xfrm>
            <a:off x="5252760" y="1828800"/>
            <a:ext cx="236988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Laboratorios guiados</a:t>
            </a:r>
            <a:endParaRPr b="0" lang="es-ES" sz="1700" spc="-1" strike="noStrike">
              <a:latin typeface="Arial"/>
            </a:endParaRPr>
          </a:p>
        </p:txBody>
      </p:sp>
      <p:sp>
        <p:nvSpPr>
          <p:cNvPr id="103" name="CustomShape 12"/>
          <p:cNvSpPr/>
          <p:nvPr/>
        </p:nvSpPr>
        <p:spPr>
          <a:xfrm>
            <a:off x="4566960" y="2560320"/>
            <a:ext cx="3055680" cy="14605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Cuatro laboratorios y un caso integrador. Cada alumno trabaja en su propia instancia.</a:t>
            </a:r>
            <a:endParaRPr b="0" lang="es-ES" sz="1400" spc="-1" strike="noStrike">
              <a:latin typeface="Arial"/>
            </a:endParaRPr>
          </a:p>
        </p:txBody>
      </p:sp>
      <p:sp>
        <p:nvSpPr>
          <p:cNvPr id="104" name="CustomShape 13"/>
          <p:cNvSpPr/>
          <p:nvPr/>
        </p:nvSpPr>
        <p:spPr>
          <a:xfrm>
            <a:off x="8127720" y="1600200"/>
            <a:ext cx="3512880" cy="2649240"/>
          </a:xfrm>
          <a:prstGeom prst="roundRect">
            <a:avLst>
              <a:gd name="adj" fmla="val 4138"/>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05" name="CustomShape 14"/>
          <p:cNvSpPr/>
          <p:nvPr/>
        </p:nvSpPr>
        <p:spPr>
          <a:xfrm>
            <a:off x="8356320" y="1828800"/>
            <a:ext cx="546120" cy="546120"/>
          </a:xfrm>
          <a:prstGeom prst="ellipse">
            <a:avLst/>
          </a:prstGeom>
          <a:solidFill>
            <a:srgbClr val="134074"/>
          </a:solidFill>
          <a:ln>
            <a:noFill/>
          </a:ln>
        </p:spPr>
        <p:style>
          <a:lnRef idx="0"/>
          <a:fillRef idx="0"/>
          <a:effectRef idx="0"/>
          <a:fontRef idx="minor"/>
        </p:style>
      </p:sp>
      <p:pic>
        <p:nvPicPr>
          <p:cNvPr id="106" name="Image 2" descr="preencoded.png"/>
          <p:cNvPicPr/>
          <p:nvPr/>
        </p:nvPicPr>
        <p:blipFill>
          <a:blip r:embed="rId3"/>
          <a:stretch/>
        </p:blipFill>
        <p:spPr>
          <a:xfrm>
            <a:off x="8493480" y="1965960"/>
            <a:ext cx="271800" cy="271800"/>
          </a:xfrm>
          <a:prstGeom prst="rect">
            <a:avLst/>
          </a:prstGeom>
          <a:ln>
            <a:noFill/>
          </a:ln>
        </p:spPr>
      </p:pic>
      <p:sp>
        <p:nvSpPr>
          <p:cNvPr id="107" name="CustomShape 15"/>
          <p:cNvSpPr/>
          <p:nvPr/>
        </p:nvSpPr>
        <p:spPr>
          <a:xfrm>
            <a:off x="9042120" y="1828800"/>
            <a:ext cx="236988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Participación</a:t>
            </a:r>
            <a:endParaRPr b="0" lang="es-ES" sz="1700" spc="-1" strike="noStrike">
              <a:latin typeface="Arial"/>
            </a:endParaRPr>
          </a:p>
        </p:txBody>
      </p:sp>
      <p:sp>
        <p:nvSpPr>
          <p:cNvPr id="108" name="CustomShape 16"/>
          <p:cNvSpPr/>
          <p:nvPr/>
        </p:nvSpPr>
        <p:spPr>
          <a:xfrm>
            <a:off x="8356320" y="2560320"/>
            <a:ext cx="3055680" cy="14605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Preguntas y debates en cada tema. Los errores son material de aprendizaje.</a:t>
            </a:r>
            <a:endParaRPr b="0" lang="es-ES" sz="1400" spc="-1" strike="noStrike">
              <a:latin typeface="Arial"/>
            </a:endParaRPr>
          </a:p>
        </p:txBody>
      </p:sp>
      <p:sp>
        <p:nvSpPr>
          <p:cNvPr id="109" name="CustomShape 17"/>
          <p:cNvSpPr/>
          <p:nvPr/>
        </p:nvSpPr>
        <p:spPr>
          <a:xfrm>
            <a:off x="548640" y="4572000"/>
            <a:ext cx="11091960" cy="911880"/>
          </a:xfrm>
          <a:prstGeom prst="roundRect">
            <a:avLst>
              <a:gd name="adj" fmla="val 12000"/>
            </a:avLst>
          </a:prstGeom>
          <a:solidFill>
            <a:srgbClr val="fdede8"/>
          </a:solidFill>
          <a:ln>
            <a:noFill/>
          </a:ln>
        </p:spPr>
        <p:style>
          <a:lnRef idx="0"/>
          <a:fillRef idx="0"/>
          <a:effectRef idx="0"/>
          <a:fontRef idx="minor"/>
        </p:style>
      </p:sp>
      <p:sp>
        <p:nvSpPr>
          <p:cNvPr id="110" name="CustomShape 18"/>
          <p:cNvSpPr/>
          <p:nvPr/>
        </p:nvSpPr>
        <p:spPr>
          <a:xfrm>
            <a:off x="731520" y="4800600"/>
            <a:ext cx="454680" cy="454680"/>
          </a:xfrm>
          <a:prstGeom prst="ellipse">
            <a:avLst/>
          </a:prstGeom>
          <a:solidFill>
            <a:srgbClr val="d95d39"/>
          </a:solidFill>
          <a:ln>
            <a:noFill/>
          </a:ln>
        </p:spPr>
        <p:style>
          <a:lnRef idx="0"/>
          <a:fillRef idx="0"/>
          <a:effectRef idx="0"/>
          <a:fontRef idx="minor"/>
        </p:style>
      </p:sp>
      <p:pic>
        <p:nvPicPr>
          <p:cNvPr id="111" name="Image 3" descr="preencoded.png"/>
          <p:cNvPicPr/>
          <p:nvPr/>
        </p:nvPicPr>
        <p:blipFill>
          <a:blip r:embed="rId4"/>
          <a:stretch/>
        </p:blipFill>
        <p:spPr>
          <a:xfrm>
            <a:off x="846000" y="4915080"/>
            <a:ext cx="226080" cy="226080"/>
          </a:xfrm>
          <a:prstGeom prst="rect">
            <a:avLst/>
          </a:prstGeom>
          <a:ln>
            <a:noFill/>
          </a:ln>
        </p:spPr>
      </p:pic>
      <p:sp>
        <p:nvSpPr>
          <p:cNvPr id="112" name="CustomShape 19"/>
          <p:cNvSpPr/>
          <p:nvPr/>
        </p:nvSpPr>
        <p:spPr>
          <a:xfrm>
            <a:off x="1371600" y="4572000"/>
            <a:ext cx="10086120" cy="9118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a8431f"/>
                </a:solidFill>
                <a:latin typeface="Calibri"/>
                <a:ea typeface="Calibri"/>
              </a:rPr>
              <a:t>Regla de seguridad: </a:t>
            </a:r>
            <a:r>
              <a:rPr b="0" lang="en-US" sz="1400" spc="-1" strike="noStrike">
                <a:solidFill>
                  <a:srgbClr val="1f2933"/>
                </a:solidFill>
                <a:latin typeface="Calibri"/>
                <a:ea typeface="Calibri"/>
              </a:rPr>
              <a:t>los scripts del curso son destructivos a propósito. Comprueba siempre SELECT @@SERVERNAME antes de ejecutarlos y nunca los lances contra producción.</a:t>
            </a:r>
            <a:endParaRPr b="0" lang="es-ES" sz="1400" spc="-1" strike="noStrike">
              <a:latin typeface="Arial"/>
            </a:endParaRPr>
          </a:p>
        </p:txBody>
      </p:sp>
      <p:sp>
        <p:nvSpPr>
          <p:cNvPr id="113" name="CustomShape 20"/>
          <p:cNvSpPr/>
          <p:nvPr/>
        </p:nvSpPr>
        <p:spPr>
          <a:xfrm>
            <a:off x="548640" y="5212080"/>
            <a:ext cx="11091960" cy="911880"/>
          </a:xfrm>
          <a:prstGeom prst="roundRect">
            <a:avLst>
              <a:gd name="adj" fmla="val 12000"/>
            </a:avLst>
          </a:prstGeom>
          <a:solidFill>
            <a:srgbClr val="e8eef5"/>
          </a:solidFill>
          <a:ln>
            <a:noFill/>
          </a:ln>
        </p:spPr>
        <p:style>
          <a:lnRef idx="0"/>
          <a:fillRef idx="0"/>
          <a:effectRef idx="0"/>
          <a:fontRef idx="minor"/>
        </p:style>
      </p:sp>
      <p:sp>
        <p:nvSpPr>
          <p:cNvPr id="114" name="CustomShape 21"/>
          <p:cNvSpPr/>
          <p:nvPr/>
        </p:nvSpPr>
        <p:spPr>
          <a:xfrm>
            <a:off x="731520" y="5440680"/>
            <a:ext cx="454680" cy="454680"/>
          </a:xfrm>
          <a:prstGeom prst="ellipse">
            <a:avLst/>
          </a:prstGeom>
          <a:solidFill>
            <a:srgbClr val="134074"/>
          </a:solidFill>
          <a:ln>
            <a:noFill/>
          </a:ln>
        </p:spPr>
        <p:style>
          <a:lnRef idx="0"/>
          <a:fillRef idx="0"/>
          <a:effectRef idx="0"/>
          <a:fontRef idx="minor"/>
        </p:style>
      </p:sp>
      <p:pic>
        <p:nvPicPr>
          <p:cNvPr id="115" name="Image 4" descr="preencoded.png"/>
          <p:cNvPicPr/>
          <p:nvPr/>
        </p:nvPicPr>
        <p:blipFill>
          <a:blip r:embed="rId5"/>
          <a:stretch/>
        </p:blipFill>
        <p:spPr>
          <a:xfrm>
            <a:off x="846000" y="5555160"/>
            <a:ext cx="226080" cy="226080"/>
          </a:xfrm>
          <a:prstGeom prst="rect">
            <a:avLst/>
          </a:prstGeom>
          <a:ln>
            <a:noFill/>
          </a:ln>
        </p:spPr>
      </p:pic>
      <p:sp>
        <p:nvSpPr>
          <p:cNvPr id="116" name="CustomShape 22"/>
          <p:cNvSpPr/>
          <p:nvPr/>
        </p:nvSpPr>
        <p:spPr>
          <a:xfrm>
            <a:off x="1371600" y="5212080"/>
            <a:ext cx="10086120" cy="9118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2545"/>
                </a:solidFill>
                <a:latin typeface="Calibri"/>
                <a:ea typeface="Calibri"/>
              </a:rPr>
              <a:t>Material: </a:t>
            </a:r>
            <a:r>
              <a:rPr b="0" lang="en-US" sz="1400" spc="-1" strike="noStrike">
                <a:solidFill>
                  <a:srgbClr val="1f2933"/>
                </a:solidFill>
                <a:latin typeface="Calibri"/>
                <a:ea typeface="Calibri"/>
              </a:rPr>
              <a:t>diapositivas con guion completo en las notas, scripts T-SQL del curso y la Guía del Docente en Markdown.</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17"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ENTORNO</a:t>
            </a:r>
            <a:endParaRPr b="0" lang="es-ES" sz="1000" spc="-1" strike="noStrike">
              <a:latin typeface="Arial"/>
            </a:endParaRPr>
          </a:p>
        </p:txBody>
      </p:sp>
      <p:sp>
        <p:nvSpPr>
          <p:cNvPr id="118"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Entorno de trabajo del curso</a:t>
            </a:r>
            <a:endParaRPr b="0" lang="es-ES" sz="3400" spc="-1" strike="noStrike">
              <a:latin typeface="Arial"/>
            </a:endParaRPr>
          </a:p>
        </p:txBody>
      </p:sp>
      <p:sp>
        <p:nvSpPr>
          <p:cNvPr id="119"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20"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0   4</a:t>
            </a:r>
            <a:endParaRPr b="0" lang="es-ES" sz="1000" spc="-1" strike="noStrike">
              <a:latin typeface="Arial"/>
            </a:endParaRPr>
          </a:p>
        </p:txBody>
      </p:sp>
      <p:sp>
        <p:nvSpPr>
          <p:cNvPr id="121" name="CustomShape 5"/>
          <p:cNvSpPr/>
          <p:nvPr/>
        </p:nvSpPr>
        <p:spPr>
          <a:xfrm>
            <a:off x="548640" y="1600200"/>
            <a:ext cx="5392440" cy="1369080"/>
          </a:xfrm>
          <a:prstGeom prst="roundRect">
            <a:avLst>
              <a:gd name="adj" fmla="val 8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22" name="CustomShape 6"/>
          <p:cNvSpPr/>
          <p:nvPr/>
        </p:nvSpPr>
        <p:spPr>
          <a:xfrm>
            <a:off x="777240" y="1965960"/>
            <a:ext cx="637560" cy="637560"/>
          </a:xfrm>
          <a:prstGeom prst="ellipse">
            <a:avLst/>
          </a:prstGeom>
          <a:solidFill>
            <a:srgbClr val="134074"/>
          </a:solidFill>
          <a:ln>
            <a:noFill/>
          </a:ln>
        </p:spPr>
        <p:style>
          <a:lnRef idx="0"/>
          <a:fillRef idx="0"/>
          <a:effectRef idx="0"/>
          <a:fontRef idx="minor"/>
        </p:style>
      </p:sp>
      <p:pic>
        <p:nvPicPr>
          <p:cNvPr id="123" name="Image 0" descr="preencoded.png"/>
          <p:cNvPicPr/>
          <p:nvPr/>
        </p:nvPicPr>
        <p:blipFill>
          <a:blip r:embed="rId1"/>
          <a:stretch/>
        </p:blipFill>
        <p:spPr>
          <a:xfrm>
            <a:off x="937440" y="2126160"/>
            <a:ext cx="317520" cy="317520"/>
          </a:xfrm>
          <a:prstGeom prst="rect">
            <a:avLst/>
          </a:prstGeom>
          <a:ln>
            <a:noFill/>
          </a:ln>
        </p:spPr>
      </p:pic>
      <p:sp>
        <p:nvSpPr>
          <p:cNvPr id="124" name="CustomShape 7"/>
          <p:cNvSpPr/>
          <p:nvPr/>
        </p:nvSpPr>
        <p:spPr>
          <a:xfrm>
            <a:off x="1645920" y="1691640"/>
            <a:ext cx="4066560" cy="1186200"/>
          </a:xfrm>
          <a:prstGeom prst="rect">
            <a:avLst/>
          </a:prstGeom>
          <a:noFill/>
          <a:ln>
            <a:noFill/>
          </a:ln>
        </p:spPr>
        <p:style>
          <a:lnRef idx="0"/>
          <a:fillRef idx="0"/>
          <a:effectRef idx="0"/>
          <a:fontRef idx="minor"/>
        </p:style>
        <p:txBody>
          <a:bodyPr lIns="0" rIns="0" tIns="0" bIns="0" anchor="ctr">
            <a:noAutofit/>
          </a:bodyPr>
          <a:p>
            <a:pPr>
              <a:lnSpc>
                <a:spcPct val="100000"/>
              </a:lnSpc>
              <a:spcAft>
                <a:spcPts val="400"/>
              </a:spcAft>
              <a:tabLst>
                <a:tab algn="l" pos="0"/>
              </a:tabLst>
            </a:pPr>
            <a:r>
              <a:rPr b="1" lang="en-US" sz="1700" spc="-1" strike="noStrike">
                <a:solidFill>
                  <a:srgbClr val="0b2545"/>
                </a:solidFill>
                <a:latin typeface="Calibri"/>
                <a:ea typeface="Calibri"/>
              </a:rPr>
              <a:t>SSMS (Windows)</a:t>
            </a:r>
            <a:endParaRPr b="0" lang="es-ES" sz="1700" spc="-1" strike="noStrike">
              <a:latin typeface="Arial"/>
            </a:endParaRPr>
          </a:p>
          <a:p>
            <a:pPr>
              <a:lnSpc>
                <a:spcPct val="100000"/>
              </a:lnSpc>
              <a:spcAft>
                <a:spcPts val="400"/>
              </a:spcAft>
              <a:tabLst>
                <a:tab algn="l" pos="0"/>
              </a:tabLst>
            </a:pPr>
            <a:r>
              <a:rPr b="0" lang="en-US" sz="1400" spc="-1" strike="noStrike">
                <a:solidFill>
                  <a:srgbClr val="1f2933"/>
                </a:solidFill>
                <a:latin typeface="Calibri"/>
                <a:ea typeface="Calibri"/>
              </a:rPr>
              <a:t>Cliente completo: objetos, planes de ejecución, Agent, Profiler.</a:t>
            </a:r>
            <a:endParaRPr b="0" lang="es-ES" sz="1400" spc="-1" strike="noStrike">
              <a:latin typeface="Arial"/>
            </a:endParaRPr>
          </a:p>
        </p:txBody>
      </p:sp>
      <p:sp>
        <p:nvSpPr>
          <p:cNvPr id="125" name="CustomShape 8"/>
          <p:cNvSpPr/>
          <p:nvPr/>
        </p:nvSpPr>
        <p:spPr>
          <a:xfrm>
            <a:off x="548640" y="3200400"/>
            <a:ext cx="5392440" cy="1369080"/>
          </a:xfrm>
          <a:prstGeom prst="roundRect">
            <a:avLst>
              <a:gd name="adj" fmla="val 8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26" name="CustomShape 9"/>
          <p:cNvSpPr/>
          <p:nvPr/>
        </p:nvSpPr>
        <p:spPr>
          <a:xfrm>
            <a:off x="777240" y="3566160"/>
            <a:ext cx="637560" cy="637560"/>
          </a:xfrm>
          <a:prstGeom prst="ellipse">
            <a:avLst/>
          </a:prstGeom>
          <a:solidFill>
            <a:srgbClr val="134074"/>
          </a:solidFill>
          <a:ln>
            <a:noFill/>
          </a:ln>
        </p:spPr>
        <p:style>
          <a:lnRef idx="0"/>
          <a:fillRef idx="0"/>
          <a:effectRef idx="0"/>
          <a:fontRef idx="minor"/>
        </p:style>
      </p:sp>
      <p:pic>
        <p:nvPicPr>
          <p:cNvPr id="127" name="Image 1" descr="preencoded.png"/>
          <p:cNvPicPr/>
          <p:nvPr/>
        </p:nvPicPr>
        <p:blipFill>
          <a:blip r:embed="rId2"/>
          <a:stretch/>
        </p:blipFill>
        <p:spPr>
          <a:xfrm>
            <a:off x="937440" y="3726360"/>
            <a:ext cx="317520" cy="317520"/>
          </a:xfrm>
          <a:prstGeom prst="rect">
            <a:avLst/>
          </a:prstGeom>
          <a:ln>
            <a:noFill/>
          </a:ln>
        </p:spPr>
      </p:pic>
      <p:sp>
        <p:nvSpPr>
          <p:cNvPr id="128" name="CustomShape 10"/>
          <p:cNvSpPr/>
          <p:nvPr/>
        </p:nvSpPr>
        <p:spPr>
          <a:xfrm>
            <a:off x="1645920" y="3291840"/>
            <a:ext cx="4066560" cy="1186200"/>
          </a:xfrm>
          <a:prstGeom prst="rect">
            <a:avLst/>
          </a:prstGeom>
          <a:noFill/>
          <a:ln>
            <a:noFill/>
          </a:ln>
        </p:spPr>
        <p:style>
          <a:lnRef idx="0"/>
          <a:fillRef idx="0"/>
          <a:effectRef idx="0"/>
          <a:fontRef idx="minor"/>
        </p:style>
        <p:txBody>
          <a:bodyPr lIns="0" rIns="0" tIns="0" bIns="0" anchor="ctr">
            <a:noAutofit/>
          </a:bodyPr>
          <a:p>
            <a:pPr>
              <a:lnSpc>
                <a:spcPct val="100000"/>
              </a:lnSpc>
              <a:spcAft>
                <a:spcPts val="400"/>
              </a:spcAft>
              <a:tabLst>
                <a:tab algn="l" pos="0"/>
              </a:tabLst>
            </a:pPr>
            <a:r>
              <a:rPr b="1" lang="en-US" sz="1700" spc="-1" strike="noStrike">
                <a:solidFill>
                  <a:srgbClr val="0b2545"/>
                </a:solidFill>
                <a:latin typeface="Calibri"/>
                <a:ea typeface="Calibri"/>
              </a:rPr>
              <a:t>VS Code + extensión MSSQL</a:t>
            </a:r>
            <a:endParaRPr b="0" lang="es-ES" sz="1700" spc="-1" strike="noStrike">
              <a:latin typeface="Arial"/>
            </a:endParaRPr>
          </a:p>
          <a:p>
            <a:pPr>
              <a:lnSpc>
                <a:spcPct val="100000"/>
              </a:lnSpc>
              <a:spcAft>
                <a:spcPts val="400"/>
              </a:spcAft>
              <a:tabLst>
                <a:tab algn="l" pos="0"/>
              </a:tabLst>
            </a:pPr>
            <a:r>
              <a:rPr b="0" lang="en-US" sz="1400" spc="-1" strike="noStrike">
                <a:solidFill>
                  <a:srgbClr val="1f2933"/>
                </a:solidFill>
                <a:latin typeface="Calibri"/>
                <a:ea typeface="Calibri"/>
              </a:rPr>
              <a:t>Multiplataforma; sustituye a Azure Data Studio (fin de soporte 28/02/2026).</a:t>
            </a:r>
            <a:endParaRPr b="0" lang="es-ES" sz="1400" spc="-1" strike="noStrike">
              <a:latin typeface="Arial"/>
            </a:endParaRPr>
          </a:p>
        </p:txBody>
      </p:sp>
      <p:sp>
        <p:nvSpPr>
          <p:cNvPr id="129" name="CustomShape 11"/>
          <p:cNvSpPr/>
          <p:nvPr/>
        </p:nvSpPr>
        <p:spPr>
          <a:xfrm>
            <a:off x="548640" y="4800600"/>
            <a:ext cx="5392440" cy="1369080"/>
          </a:xfrm>
          <a:prstGeom prst="roundRect">
            <a:avLst>
              <a:gd name="adj" fmla="val 8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30" name="CustomShape 12"/>
          <p:cNvSpPr/>
          <p:nvPr/>
        </p:nvSpPr>
        <p:spPr>
          <a:xfrm>
            <a:off x="777240" y="5166360"/>
            <a:ext cx="637560" cy="637560"/>
          </a:xfrm>
          <a:prstGeom prst="ellipse">
            <a:avLst/>
          </a:prstGeom>
          <a:solidFill>
            <a:srgbClr val="134074"/>
          </a:solidFill>
          <a:ln>
            <a:noFill/>
          </a:ln>
        </p:spPr>
        <p:style>
          <a:lnRef idx="0"/>
          <a:fillRef idx="0"/>
          <a:effectRef idx="0"/>
          <a:fontRef idx="minor"/>
        </p:style>
      </p:sp>
      <p:pic>
        <p:nvPicPr>
          <p:cNvPr id="131" name="Image 2" descr="preencoded.png"/>
          <p:cNvPicPr/>
          <p:nvPr/>
        </p:nvPicPr>
        <p:blipFill>
          <a:blip r:embed="rId3"/>
          <a:stretch/>
        </p:blipFill>
        <p:spPr>
          <a:xfrm>
            <a:off x="937440" y="5326560"/>
            <a:ext cx="317520" cy="317520"/>
          </a:xfrm>
          <a:prstGeom prst="rect">
            <a:avLst/>
          </a:prstGeom>
          <a:ln>
            <a:noFill/>
          </a:ln>
        </p:spPr>
      </p:pic>
      <p:sp>
        <p:nvSpPr>
          <p:cNvPr id="132" name="CustomShape 13"/>
          <p:cNvSpPr/>
          <p:nvPr/>
        </p:nvSpPr>
        <p:spPr>
          <a:xfrm>
            <a:off x="1645920" y="4892040"/>
            <a:ext cx="4066560" cy="1186200"/>
          </a:xfrm>
          <a:prstGeom prst="rect">
            <a:avLst/>
          </a:prstGeom>
          <a:noFill/>
          <a:ln>
            <a:noFill/>
          </a:ln>
        </p:spPr>
        <p:style>
          <a:lnRef idx="0"/>
          <a:fillRef idx="0"/>
          <a:effectRef idx="0"/>
          <a:fontRef idx="minor"/>
        </p:style>
        <p:txBody>
          <a:bodyPr lIns="0" rIns="0" tIns="0" bIns="0" anchor="ctr">
            <a:noAutofit/>
          </a:bodyPr>
          <a:p>
            <a:pPr>
              <a:lnSpc>
                <a:spcPct val="100000"/>
              </a:lnSpc>
              <a:spcAft>
                <a:spcPts val="400"/>
              </a:spcAft>
              <a:tabLst>
                <a:tab algn="l" pos="0"/>
              </a:tabLst>
            </a:pPr>
            <a:r>
              <a:rPr b="1" lang="en-US" sz="1700" spc="-1" strike="noStrike">
                <a:solidFill>
                  <a:srgbClr val="0b2545"/>
                </a:solidFill>
                <a:latin typeface="Calibri"/>
                <a:ea typeface="Calibri"/>
              </a:rPr>
              <a:t>Docker o instalación local</a:t>
            </a:r>
            <a:endParaRPr b="0" lang="es-ES" sz="1700" spc="-1" strike="noStrike">
              <a:latin typeface="Arial"/>
            </a:endParaRPr>
          </a:p>
          <a:p>
            <a:pPr>
              <a:lnSpc>
                <a:spcPct val="100000"/>
              </a:lnSpc>
              <a:spcAft>
                <a:spcPts val="400"/>
              </a:spcAft>
              <a:tabLst>
                <a:tab algn="l" pos="0"/>
              </a:tabLst>
            </a:pPr>
            <a:r>
              <a:rPr b="0" lang="en-US" sz="1400" spc="-1" strike="noStrike">
                <a:solidFill>
                  <a:srgbClr val="1f2933"/>
                </a:solidFill>
                <a:latin typeface="Calibri"/>
                <a:ea typeface="Calibri"/>
              </a:rPr>
              <a:t>Imagen oficial 2025-latest, o Developer Edition en Windows.</a:t>
            </a:r>
            <a:endParaRPr b="0" lang="es-ES" sz="1400" spc="-1" strike="noStrike">
              <a:latin typeface="Arial"/>
            </a:endParaRPr>
          </a:p>
        </p:txBody>
      </p:sp>
      <p:sp>
        <p:nvSpPr>
          <p:cNvPr id="133" name="CustomShape 14"/>
          <p:cNvSpPr/>
          <p:nvPr/>
        </p:nvSpPr>
        <p:spPr>
          <a:xfrm>
            <a:off x="6309360" y="1600200"/>
            <a:ext cx="5328360" cy="3106440"/>
          </a:xfrm>
          <a:prstGeom prst="roundRect">
            <a:avLst>
              <a:gd name="adj" fmla="val 2941"/>
            </a:avLst>
          </a:prstGeom>
          <a:solidFill>
            <a:srgbClr val="eceff3"/>
          </a:solidFill>
          <a:ln w="9360">
            <a:solidFill>
              <a:srgbClr val="d0d7de"/>
            </a:solidFill>
            <a:round/>
          </a:ln>
        </p:spPr>
        <p:style>
          <a:lnRef idx="0"/>
          <a:fillRef idx="0"/>
          <a:effectRef idx="0"/>
          <a:fontRef idx="minor"/>
        </p:style>
      </p:sp>
      <p:sp>
        <p:nvSpPr>
          <p:cNvPr id="134" name="CustomShape 15"/>
          <p:cNvSpPr/>
          <p:nvPr/>
        </p:nvSpPr>
        <p:spPr>
          <a:xfrm>
            <a:off x="649224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BASH · DOCKER</a:t>
            </a:r>
            <a:endParaRPr b="0" lang="es-ES" sz="1000" spc="-1" strike="noStrike">
              <a:latin typeface="Arial"/>
            </a:endParaRPr>
          </a:p>
        </p:txBody>
      </p:sp>
      <p:sp>
        <p:nvSpPr>
          <p:cNvPr id="135" name="CustomShape 16"/>
          <p:cNvSpPr/>
          <p:nvPr/>
        </p:nvSpPr>
        <p:spPr>
          <a:xfrm>
            <a:off x="6492240" y="1965960"/>
            <a:ext cx="4962600" cy="264924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0" lang="en-US" sz="1200" spc="-1" strike="noStrike">
                <a:solidFill>
                  <a:srgbClr val="1f2933"/>
                </a:solidFill>
                <a:latin typeface="Consolas"/>
                <a:ea typeface="Consolas"/>
              </a:rPr>
              <a:t>docker run -d </a:t>
            </a:r>
            <a:r>
              <a:rPr b="0" i="1" lang="en-US" sz="1200" spc="-1" strike="noStrike">
                <a:solidFill>
                  <a:srgbClr val="6b7280"/>
                </a:solidFill>
                <a:latin typeface="Consolas"/>
                <a:ea typeface="Consolas"/>
              </a:rPr>
              <a:t>--name sql2025 \</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-e "ACCEPT_EULA=Y" \</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-e "MSSQL_SA_PASSWORD=Curso#SQL2025!" \</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-p </a:t>
            </a:r>
            <a:r>
              <a:rPr b="0" lang="en-US" sz="1200" spc="-1" strike="noStrike">
                <a:solidFill>
                  <a:srgbClr val="9a3412"/>
                </a:solidFill>
                <a:latin typeface="Consolas"/>
                <a:ea typeface="Consolas"/>
              </a:rPr>
              <a:t>1433</a:t>
            </a:r>
            <a:r>
              <a:rPr b="0" lang="en-US" sz="1200" spc="-1" strike="noStrike">
                <a:solidFill>
                  <a:srgbClr val="1f2933"/>
                </a:solidFill>
                <a:latin typeface="Consolas"/>
                <a:ea typeface="Consolas"/>
              </a:rPr>
              <a:t>:</a:t>
            </a:r>
            <a:r>
              <a:rPr b="0" lang="en-US" sz="1200" spc="-1" strike="noStrike">
                <a:solidFill>
                  <a:srgbClr val="9a3412"/>
                </a:solidFill>
                <a:latin typeface="Consolas"/>
                <a:ea typeface="Consolas"/>
              </a:rPr>
              <a:t>1433</a:t>
            </a: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-v sqldata:/var/opt/mssql \</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mcr.microsoft.com/mssql/server:</a:t>
            </a:r>
            <a:r>
              <a:rPr b="0" lang="en-US" sz="1200" spc="-1" strike="noStrike">
                <a:solidFill>
                  <a:srgbClr val="9a3412"/>
                </a:solidFill>
                <a:latin typeface="Consolas"/>
                <a:ea typeface="Consolas"/>
              </a:rPr>
              <a:t>2025</a:t>
            </a:r>
            <a:r>
              <a:rPr b="0" lang="en-US" sz="1200" spc="-1" strike="noStrike">
                <a:solidFill>
                  <a:srgbClr val="1f2933"/>
                </a:solidFill>
                <a:latin typeface="Consolas"/>
                <a:ea typeface="Consolas"/>
              </a:rPr>
              <a:t>-latest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docker ps</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docker logs sql2025 | tail -n </a:t>
            </a:r>
            <a:r>
              <a:rPr b="0" lang="en-US" sz="1200" spc="-1" strike="noStrike">
                <a:solidFill>
                  <a:srgbClr val="9a3412"/>
                </a:solidFill>
                <a:latin typeface="Consolas"/>
                <a:ea typeface="Consolas"/>
              </a:rPr>
              <a:t>5</a:t>
            </a:r>
            <a:endParaRPr b="0" lang="es-ES" sz="1200" spc="-1" strike="noStrike">
              <a:latin typeface="Arial"/>
            </a:endParaRPr>
          </a:p>
        </p:txBody>
      </p:sp>
      <p:sp>
        <p:nvSpPr>
          <p:cNvPr id="136" name="CustomShape 17"/>
          <p:cNvSpPr/>
          <p:nvPr/>
        </p:nvSpPr>
        <p:spPr>
          <a:xfrm>
            <a:off x="6309360" y="4983480"/>
            <a:ext cx="5328360" cy="1186200"/>
          </a:xfrm>
          <a:prstGeom prst="roundRect">
            <a:avLst>
              <a:gd name="adj" fmla="val 9231"/>
            </a:avLst>
          </a:prstGeom>
          <a:solidFill>
            <a:srgbClr val="fdede8"/>
          </a:solidFill>
          <a:ln>
            <a:noFill/>
          </a:ln>
        </p:spPr>
        <p:style>
          <a:lnRef idx="0"/>
          <a:fillRef idx="0"/>
          <a:effectRef idx="0"/>
          <a:fontRef idx="minor"/>
        </p:style>
      </p:sp>
      <p:sp>
        <p:nvSpPr>
          <p:cNvPr id="137" name="CustomShape 18"/>
          <p:cNvSpPr/>
          <p:nvPr/>
        </p:nvSpPr>
        <p:spPr>
          <a:xfrm>
            <a:off x="6492240" y="5349240"/>
            <a:ext cx="454680" cy="454680"/>
          </a:xfrm>
          <a:prstGeom prst="ellipse">
            <a:avLst/>
          </a:prstGeom>
          <a:solidFill>
            <a:srgbClr val="d95d39"/>
          </a:solidFill>
          <a:ln>
            <a:noFill/>
          </a:ln>
        </p:spPr>
        <p:style>
          <a:lnRef idx="0"/>
          <a:fillRef idx="0"/>
          <a:effectRef idx="0"/>
          <a:fontRef idx="minor"/>
        </p:style>
      </p:sp>
      <p:pic>
        <p:nvPicPr>
          <p:cNvPr id="138" name="Image 3" descr="preencoded.png"/>
          <p:cNvPicPr/>
          <p:nvPr/>
        </p:nvPicPr>
        <p:blipFill>
          <a:blip r:embed="rId4"/>
          <a:stretch/>
        </p:blipFill>
        <p:spPr>
          <a:xfrm>
            <a:off x="6606720" y="5463720"/>
            <a:ext cx="226080" cy="226080"/>
          </a:xfrm>
          <a:prstGeom prst="rect">
            <a:avLst/>
          </a:prstGeom>
          <a:ln>
            <a:noFill/>
          </a:ln>
        </p:spPr>
      </p:pic>
      <p:sp>
        <p:nvSpPr>
          <p:cNvPr id="139" name="CustomShape 19"/>
          <p:cNvSpPr/>
          <p:nvPr/>
        </p:nvSpPr>
        <p:spPr>
          <a:xfrm>
            <a:off x="7132320" y="4983480"/>
            <a:ext cx="4322520" cy="11862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a8431f"/>
                </a:solidFill>
                <a:latin typeface="Calibri"/>
                <a:ea typeface="Calibri"/>
              </a:rPr>
              <a:t>Si el contenedor se para: </a:t>
            </a:r>
            <a:r>
              <a:rPr b="0" lang="en-US" sz="1400" spc="-1" strike="noStrike">
                <a:solidFill>
                  <a:srgbClr val="1f2933"/>
                </a:solidFill>
                <a:latin typeface="Calibri"/>
                <a:ea typeface="Calibri"/>
              </a:rPr>
              <a:t>revisa docker logs. Casi siempre es una contraseña de sa que no cumple la política de complejidad.</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1528"/>
        </a:solidFill>
      </p:bgPr>
    </p:bg>
    <p:spTree>
      <p:nvGrpSpPr>
        <p:cNvPr id="1" name=""/>
        <p:cNvGrpSpPr/>
        <p:nvPr/>
      </p:nvGrpSpPr>
      <p:grpSpPr>
        <a:xfrm>
          <a:off x="0" y="0"/>
          <a:ext cx="0" cy="0"/>
          <a:chOff x="0" y="0"/>
          <a:chExt cx="0" cy="0"/>
        </a:xfrm>
      </p:grpSpPr>
      <p:sp>
        <p:nvSpPr>
          <p:cNvPr id="140" name="CustomShape 1"/>
          <p:cNvSpPr/>
          <p:nvPr/>
        </p:nvSpPr>
        <p:spPr>
          <a:xfrm>
            <a:off x="731520" y="822960"/>
            <a:ext cx="5026680" cy="18262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2000" spc="-1" strike="noStrike">
                <a:solidFill>
                  <a:srgbClr val="1e5aa8"/>
                </a:solidFill>
                <a:latin typeface="Calibri"/>
                <a:ea typeface="Calibri"/>
              </a:rPr>
              <a:t>01</a:t>
            </a:r>
            <a:endParaRPr b="0" lang="es-ES" sz="12000" spc="-1" strike="noStrike">
              <a:latin typeface="Arial"/>
            </a:endParaRPr>
          </a:p>
        </p:txBody>
      </p:sp>
      <p:sp>
        <p:nvSpPr>
          <p:cNvPr id="141" name="CustomShape 2"/>
          <p:cNvSpPr/>
          <p:nvPr/>
        </p:nvSpPr>
        <p:spPr>
          <a:xfrm>
            <a:off x="731520" y="2880360"/>
            <a:ext cx="2649240" cy="326520"/>
          </a:xfrm>
          <a:prstGeom prst="roundRect">
            <a:avLst>
              <a:gd name="adj" fmla="val 50000"/>
            </a:avLst>
          </a:prstGeom>
          <a:solidFill>
            <a:srgbClr val="d95d39"/>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100" spc="80" strike="noStrike">
                <a:solidFill>
                  <a:srgbClr val="ffffff"/>
                </a:solidFill>
                <a:latin typeface="Calibri"/>
                <a:ea typeface="Calibri"/>
              </a:rPr>
              <a:t>MÓDULO 1 · ≈ 4,0 H</a:t>
            </a:r>
            <a:endParaRPr b="0" lang="es-ES" sz="1100" spc="-1" strike="noStrike">
              <a:latin typeface="Arial"/>
            </a:endParaRPr>
          </a:p>
        </p:txBody>
      </p:sp>
      <p:sp>
        <p:nvSpPr>
          <p:cNvPr id="142" name="CustomShape 3"/>
          <p:cNvSpPr/>
          <p:nvPr/>
        </p:nvSpPr>
        <p:spPr>
          <a:xfrm>
            <a:off x="731520" y="3383280"/>
            <a:ext cx="5392440" cy="15519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3800" spc="-1" strike="noStrike">
                <a:solidFill>
                  <a:srgbClr val="ffffff"/>
                </a:solidFill>
                <a:latin typeface="Calibri"/>
                <a:ea typeface="Calibri"/>
              </a:rPr>
              <a:t>Fundamentos y arquitectura</a:t>
            </a:r>
            <a:endParaRPr b="0" lang="es-ES" sz="3800" spc="-1" strike="noStrike">
              <a:latin typeface="Arial"/>
            </a:endParaRPr>
          </a:p>
        </p:txBody>
      </p:sp>
      <p:sp>
        <p:nvSpPr>
          <p:cNvPr id="143" name="CustomShape 4"/>
          <p:cNvSpPr/>
          <p:nvPr/>
        </p:nvSpPr>
        <p:spPr>
          <a:xfrm>
            <a:off x="731520" y="4983480"/>
            <a:ext cx="5392440" cy="8204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600" spc="-1" strike="noStrike">
                <a:solidFill>
                  <a:srgbClr val="8da9c4"/>
                </a:solidFill>
                <a:latin typeface="Calibri"/>
                <a:ea typeface="Calibri"/>
              </a:rPr>
              <a:t>Incluye licenciamiento: cómo es SQL Server por dentro y qué edición y licencia necesitas</a:t>
            </a:r>
            <a:endParaRPr b="0" lang="es-ES" sz="1600" spc="-1" strike="noStrike">
              <a:latin typeface="Arial"/>
            </a:endParaRPr>
          </a:p>
        </p:txBody>
      </p:sp>
      <p:sp>
        <p:nvSpPr>
          <p:cNvPr id="144" name="CustomShape 5"/>
          <p:cNvSpPr/>
          <p:nvPr/>
        </p:nvSpPr>
        <p:spPr>
          <a:xfrm>
            <a:off x="6675120" y="1051560"/>
            <a:ext cx="4935240" cy="664920"/>
          </a:xfrm>
          <a:prstGeom prst="roundRect">
            <a:avLst>
              <a:gd name="adj" fmla="val 13699"/>
            </a:avLst>
          </a:prstGeom>
          <a:solidFill>
            <a:srgbClr val="ffffff">
              <a:alpha val="8000"/>
            </a:srgbClr>
          </a:solidFill>
          <a:ln>
            <a:noFill/>
          </a:ln>
        </p:spPr>
        <p:style>
          <a:lnRef idx="0"/>
          <a:fillRef idx="0"/>
          <a:effectRef idx="0"/>
          <a:fontRef idx="minor"/>
        </p:style>
      </p:sp>
      <p:sp>
        <p:nvSpPr>
          <p:cNvPr id="145" name="CustomShape 6"/>
          <p:cNvSpPr/>
          <p:nvPr/>
        </p:nvSpPr>
        <p:spPr>
          <a:xfrm>
            <a:off x="6812280" y="1166040"/>
            <a:ext cx="454680" cy="454680"/>
          </a:xfrm>
          <a:prstGeom prst="ellipse">
            <a:avLst/>
          </a:prstGeom>
          <a:solidFill>
            <a:srgbClr val="d95d39"/>
          </a:solidFill>
          <a:ln>
            <a:noFill/>
          </a:ln>
        </p:spPr>
        <p:style>
          <a:lnRef idx="0"/>
          <a:fillRef idx="0"/>
          <a:effectRef idx="0"/>
          <a:fontRef idx="minor"/>
        </p:style>
      </p:sp>
      <p:pic>
        <p:nvPicPr>
          <p:cNvPr id="146" name="Image 0" descr="preencoded.png"/>
          <p:cNvPicPr/>
          <p:nvPr/>
        </p:nvPicPr>
        <p:blipFill>
          <a:blip r:embed="rId1"/>
          <a:stretch/>
        </p:blipFill>
        <p:spPr>
          <a:xfrm>
            <a:off x="6926760" y="1280160"/>
            <a:ext cx="226080" cy="226080"/>
          </a:xfrm>
          <a:prstGeom prst="rect">
            <a:avLst/>
          </a:prstGeom>
          <a:ln>
            <a:noFill/>
          </a:ln>
        </p:spPr>
      </p:pic>
      <p:sp>
        <p:nvSpPr>
          <p:cNvPr id="147" name="CustomShape 7"/>
          <p:cNvSpPr/>
          <p:nvPr/>
        </p:nvSpPr>
        <p:spPr>
          <a:xfrm>
            <a:off x="7452360" y="1051560"/>
            <a:ext cx="4020840" cy="6649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600" spc="-1" strike="noStrike">
                <a:solidFill>
                  <a:srgbClr val="ffffff"/>
                </a:solidFill>
                <a:latin typeface="Calibri"/>
                <a:ea typeface="Calibri"/>
              </a:rPr>
              <a:t>Historia y versiones</a:t>
            </a:r>
            <a:endParaRPr b="0" lang="es-ES" sz="1600" spc="-1" strike="noStrike">
              <a:latin typeface="Arial"/>
            </a:endParaRPr>
          </a:p>
        </p:txBody>
      </p:sp>
      <p:sp>
        <p:nvSpPr>
          <p:cNvPr id="148" name="CustomShape 8"/>
          <p:cNvSpPr/>
          <p:nvPr/>
        </p:nvSpPr>
        <p:spPr>
          <a:xfrm>
            <a:off x="6675120" y="1828800"/>
            <a:ext cx="4935240" cy="664920"/>
          </a:xfrm>
          <a:prstGeom prst="roundRect">
            <a:avLst>
              <a:gd name="adj" fmla="val 13699"/>
            </a:avLst>
          </a:prstGeom>
          <a:solidFill>
            <a:srgbClr val="ffffff">
              <a:alpha val="8000"/>
            </a:srgbClr>
          </a:solidFill>
          <a:ln>
            <a:noFill/>
          </a:ln>
        </p:spPr>
        <p:style>
          <a:lnRef idx="0"/>
          <a:fillRef idx="0"/>
          <a:effectRef idx="0"/>
          <a:fontRef idx="minor"/>
        </p:style>
      </p:sp>
      <p:sp>
        <p:nvSpPr>
          <p:cNvPr id="149" name="CustomShape 9"/>
          <p:cNvSpPr/>
          <p:nvPr/>
        </p:nvSpPr>
        <p:spPr>
          <a:xfrm>
            <a:off x="6812280" y="1943280"/>
            <a:ext cx="454680" cy="454680"/>
          </a:xfrm>
          <a:prstGeom prst="ellipse">
            <a:avLst/>
          </a:prstGeom>
          <a:solidFill>
            <a:srgbClr val="d95d39"/>
          </a:solidFill>
          <a:ln>
            <a:noFill/>
          </a:ln>
        </p:spPr>
        <p:style>
          <a:lnRef idx="0"/>
          <a:fillRef idx="0"/>
          <a:effectRef idx="0"/>
          <a:fontRef idx="minor"/>
        </p:style>
      </p:sp>
      <p:pic>
        <p:nvPicPr>
          <p:cNvPr id="150" name="Image 1" descr="preencoded.png"/>
          <p:cNvPicPr/>
          <p:nvPr/>
        </p:nvPicPr>
        <p:blipFill>
          <a:blip r:embed="rId2"/>
          <a:stretch/>
        </p:blipFill>
        <p:spPr>
          <a:xfrm>
            <a:off x="6926760" y="2057400"/>
            <a:ext cx="226080" cy="226080"/>
          </a:xfrm>
          <a:prstGeom prst="rect">
            <a:avLst/>
          </a:prstGeom>
          <a:ln>
            <a:noFill/>
          </a:ln>
        </p:spPr>
      </p:pic>
      <p:sp>
        <p:nvSpPr>
          <p:cNvPr id="151" name="CustomShape 10"/>
          <p:cNvSpPr/>
          <p:nvPr/>
        </p:nvSpPr>
        <p:spPr>
          <a:xfrm>
            <a:off x="7452360" y="1828800"/>
            <a:ext cx="4020840" cy="6649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600" spc="-1" strike="noStrike">
                <a:solidFill>
                  <a:srgbClr val="ffffff"/>
                </a:solidFill>
                <a:latin typeface="Calibri"/>
                <a:ea typeface="Calibri"/>
              </a:rPr>
              <a:t>Arquitectura del motor</a:t>
            </a:r>
            <a:endParaRPr b="0" lang="es-ES" sz="1600" spc="-1" strike="noStrike">
              <a:latin typeface="Arial"/>
            </a:endParaRPr>
          </a:p>
        </p:txBody>
      </p:sp>
      <p:sp>
        <p:nvSpPr>
          <p:cNvPr id="152" name="CustomShape 11"/>
          <p:cNvSpPr/>
          <p:nvPr/>
        </p:nvSpPr>
        <p:spPr>
          <a:xfrm>
            <a:off x="6675120" y="2606040"/>
            <a:ext cx="4935240" cy="664920"/>
          </a:xfrm>
          <a:prstGeom prst="roundRect">
            <a:avLst>
              <a:gd name="adj" fmla="val 13699"/>
            </a:avLst>
          </a:prstGeom>
          <a:solidFill>
            <a:srgbClr val="ffffff">
              <a:alpha val="8000"/>
            </a:srgbClr>
          </a:solidFill>
          <a:ln>
            <a:noFill/>
          </a:ln>
        </p:spPr>
        <p:style>
          <a:lnRef idx="0"/>
          <a:fillRef idx="0"/>
          <a:effectRef idx="0"/>
          <a:fontRef idx="minor"/>
        </p:style>
      </p:sp>
      <p:sp>
        <p:nvSpPr>
          <p:cNvPr id="153" name="CustomShape 12"/>
          <p:cNvSpPr/>
          <p:nvPr/>
        </p:nvSpPr>
        <p:spPr>
          <a:xfrm>
            <a:off x="6812280" y="2720520"/>
            <a:ext cx="454680" cy="454680"/>
          </a:xfrm>
          <a:prstGeom prst="ellipse">
            <a:avLst/>
          </a:prstGeom>
          <a:solidFill>
            <a:srgbClr val="d95d39"/>
          </a:solidFill>
          <a:ln>
            <a:noFill/>
          </a:ln>
        </p:spPr>
        <p:style>
          <a:lnRef idx="0"/>
          <a:fillRef idx="0"/>
          <a:effectRef idx="0"/>
          <a:fontRef idx="minor"/>
        </p:style>
      </p:sp>
      <p:pic>
        <p:nvPicPr>
          <p:cNvPr id="154" name="Image 2" descr="preencoded.png"/>
          <p:cNvPicPr/>
          <p:nvPr/>
        </p:nvPicPr>
        <p:blipFill>
          <a:blip r:embed="rId3"/>
          <a:stretch/>
        </p:blipFill>
        <p:spPr>
          <a:xfrm>
            <a:off x="6926760" y="2834640"/>
            <a:ext cx="226080" cy="226080"/>
          </a:xfrm>
          <a:prstGeom prst="rect">
            <a:avLst/>
          </a:prstGeom>
          <a:ln>
            <a:noFill/>
          </a:ln>
        </p:spPr>
      </p:pic>
      <p:sp>
        <p:nvSpPr>
          <p:cNvPr id="155" name="CustomShape 13"/>
          <p:cNvSpPr/>
          <p:nvPr/>
        </p:nvSpPr>
        <p:spPr>
          <a:xfrm>
            <a:off x="7452360" y="2606040"/>
            <a:ext cx="4020840" cy="6649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600" spc="-1" strike="noStrike">
                <a:solidFill>
                  <a:srgbClr val="ffffff"/>
                </a:solidFill>
                <a:latin typeface="Calibri"/>
                <a:ea typeface="Calibri"/>
              </a:rPr>
              <a:t>Páginas, extensiones y ficheros</a:t>
            </a:r>
            <a:endParaRPr b="0" lang="es-ES" sz="1600" spc="-1" strike="noStrike">
              <a:latin typeface="Arial"/>
            </a:endParaRPr>
          </a:p>
        </p:txBody>
      </p:sp>
      <p:sp>
        <p:nvSpPr>
          <p:cNvPr id="156" name="CustomShape 14"/>
          <p:cNvSpPr/>
          <p:nvPr/>
        </p:nvSpPr>
        <p:spPr>
          <a:xfrm>
            <a:off x="6675120" y="3383280"/>
            <a:ext cx="4935240" cy="664920"/>
          </a:xfrm>
          <a:prstGeom prst="roundRect">
            <a:avLst>
              <a:gd name="adj" fmla="val 13699"/>
            </a:avLst>
          </a:prstGeom>
          <a:solidFill>
            <a:srgbClr val="ffffff">
              <a:alpha val="8000"/>
            </a:srgbClr>
          </a:solidFill>
          <a:ln>
            <a:noFill/>
          </a:ln>
        </p:spPr>
        <p:style>
          <a:lnRef idx="0"/>
          <a:fillRef idx="0"/>
          <a:effectRef idx="0"/>
          <a:fontRef idx="minor"/>
        </p:style>
      </p:sp>
      <p:sp>
        <p:nvSpPr>
          <p:cNvPr id="157" name="CustomShape 15"/>
          <p:cNvSpPr/>
          <p:nvPr/>
        </p:nvSpPr>
        <p:spPr>
          <a:xfrm>
            <a:off x="6812280" y="3497760"/>
            <a:ext cx="454680" cy="454680"/>
          </a:xfrm>
          <a:prstGeom prst="ellipse">
            <a:avLst/>
          </a:prstGeom>
          <a:solidFill>
            <a:srgbClr val="d95d39"/>
          </a:solidFill>
          <a:ln>
            <a:noFill/>
          </a:ln>
        </p:spPr>
        <p:style>
          <a:lnRef idx="0"/>
          <a:fillRef idx="0"/>
          <a:effectRef idx="0"/>
          <a:fontRef idx="minor"/>
        </p:style>
      </p:sp>
      <p:pic>
        <p:nvPicPr>
          <p:cNvPr id="158" name="Image 3" descr="preencoded.png"/>
          <p:cNvPicPr/>
          <p:nvPr/>
        </p:nvPicPr>
        <p:blipFill>
          <a:blip r:embed="rId4"/>
          <a:stretch/>
        </p:blipFill>
        <p:spPr>
          <a:xfrm>
            <a:off x="6926760" y="3611880"/>
            <a:ext cx="226080" cy="226080"/>
          </a:xfrm>
          <a:prstGeom prst="rect">
            <a:avLst/>
          </a:prstGeom>
          <a:ln>
            <a:noFill/>
          </a:ln>
        </p:spPr>
      </p:pic>
      <p:sp>
        <p:nvSpPr>
          <p:cNvPr id="159" name="CustomShape 16"/>
          <p:cNvSpPr/>
          <p:nvPr/>
        </p:nvSpPr>
        <p:spPr>
          <a:xfrm>
            <a:off x="7452360" y="3383280"/>
            <a:ext cx="4020840" cy="6649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600" spc="-1" strike="noStrike">
                <a:solidFill>
                  <a:srgbClr val="ffffff"/>
                </a:solidFill>
                <a:latin typeface="Calibri"/>
                <a:ea typeface="Calibri"/>
              </a:rPr>
              <a:t>Instancias y bases del sistema</a:t>
            </a:r>
            <a:endParaRPr b="0" lang="es-ES" sz="1600" spc="-1" strike="noStrike">
              <a:latin typeface="Arial"/>
            </a:endParaRPr>
          </a:p>
        </p:txBody>
      </p:sp>
      <p:sp>
        <p:nvSpPr>
          <p:cNvPr id="160" name="CustomShape 17"/>
          <p:cNvSpPr/>
          <p:nvPr/>
        </p:nvSpPr>
        <p:spPr>
          <a:xfrm>
            <a:off x="6675120" y="4160520"/>
            <a:ext cx="4935240" cy="664920"/>
          </a:xfrm>
          <a:prstGeom prst="roundRect">
            <a:avLst>
              <a:gd name="adj" fmla="val 13699"/>
            </a:avLst>
          </a:prstGeom>
          <a:solidFill>
            <a:srgbClr val="ffffff">
              <a:alpha val="8000"/>
            </a:srgbClr>
          </a:solidFill>
          <a:ln>
            <a:noFill/>
          </a:ln>
        </p:spPr>
        <p:style>
          <a:lnRef idx="0"/>
          <a:fillRef idx="0"/>
          <a:effectRef idx="0"/>
          <a:fontRef idx="minor"/>
        </p:style>
      </p:sp>
      <p:sp>
        <p:nvSpPr>
          <p:cNvPr id="161" name="CustomShape 18"/>
          <p:cNvSpPr/>
          <p:nvPr/>
        </p:nvSpPr>
        <p:spPr>
          <a:xfrm>
            <a:off x="6812280" y="4275000"/>
            <a:ext cx="454680" cy="454680"/>
          </a:xfrm>
          <a:prstGeom prst="ellipse">
            <a:avLst/>
          </a:prstGeom>
          <a:solidFill>
            <a:srgbClr val="d95d39"/>
          </a:solidFill>
          <a:ln>
            <a:noFill/>
          </a:ln>
        </p:spPr>
        <p:style>
          <a:lnRef idx="0"/>
          <a:fillRef idx="0"/>
          <a:effectRef idx="0"/>
          <a:fontRef idx="minor"/>
        </p:style>
      </p:sp>
      <p:pic>
        <p:nvPicPr>
          <p:cNvPr id="162" name="Image 4" descr="preencoded.png"/>
          <p:cNvPicPr/>
          <p:nvPr/>
        </p:nvPicPr>
        <p:blipFill>
          <a:blip r:embed="rId5"/>
          <a:stretch/>
        </p:blipFill>
        <p:spPr>
          <a:xfrm>
            <a:off x="6926760" y="4389120"/>
            <a:ext cx="226080" cy="226080"/>
          </a:xfrm>
          <a:prstGeom prst="rect">
            <a:avLst/>
          </a:prstGeom>
          <a:ln>
            <a:noFill/>
          </a:ln>
        </p:spPr>
      </p:pic>
      <p:sp>
        <p:nvSpPr>
          <p:cNvPr id="163" name="CustomShape 19"/>
          <p:cNvSpPr/>
          <p:nvPr/>
        </p:nvSpPr>
        <p:spPr>
          <a:xfrm>
            <a:off x="7452360" y="4160520"/>
            <a:ext cx="4020840" cy="6649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600" spc="-1" strike="noStrike">
                <a:solidFill>
                  <a:srgbClr val="ffffff"/>
                </a:solidFill>
                <a:latin typeface="Calibri"/>
                <a:ea typeface="Calibri"/>
              </a:rPr>
              <a:t>Ediciones y licenciamiento</a:t>
            </a:r>
            <a:endParaRPr b="0" lang="es-ES" sz="1600" spc="-1" strike="noStrike">
              <a:latin typeface="Arial"/>
            </a:endParaRPr>
          </a:p>
        </p:txBody>
      </p:sp>
      <p:sp>
        <p:nvSpPr>
          <p:cNvPr id="164" name="CustomShape 20"/>
          <p:cNvSpPr/>
          <p:nvPr/>
        </p:nvSpPr>
        <p:spPr>
          <a:xfrm>
            <a:off x="6675120" y="4937760"/>
            <a:ext cx="4935240" cy="664920"/>
          </a:xfrm>
          <a:prstGeom prst="roundRect">
            <a:avLst>
              <a:gd name="adj" fmla="val 13699"/>
            </a:avLst>
          </a:prstGeom>
          <a:solidFill>
            <a:srgbClr val="ffffff">
              <a:alpha val="8000"/>
            </a:srgbClr>
          </a:solidFill>
          <a:ln>
            <a:noFill/>
          </a:ln>
        </p:spPr>
        <p:style>
          <a:lnRef idx="0"/>
          <a:fillRef idx="0"/>
          <a:effectRef idx="0"/>
          <a:fontRef idx="minor"/>
        </p:style>
      </p:sp>
      <p:sp>
        <p:nvSpPr>
          <p:cNvPr id="165" name="CustomShape 21"/>
          <p:cNvSpPr/>
          <p:nvPr/>
        </p:nvSpPr>
        <p:spPr>
          <a:xfrm>
            <a:off x="6812280" y="5052240"/>
            <a:ext cx="454680" cy="454680"/>
          </a:xfrm>
          <a:prstGeom prst="ellipse">
            <a:avLst/>
          </a:prstGeom>
          <a:solidFill>
            <a:srgbClr val="d95d39"/>
          </a:solidFill>
          <a:ln>
            <a:noFill/>
          </a:ln>
        </p:spPr>
        <p:style>
          <a:lnRef idx="0"/>
          <a:fillRef idx="0"/>
          <a:effectRef idx="0"/>
          <a:fontRef idx="minor"/>
        </p:style>
      </p:sp>
      <p:pic>
        <p:nvPicPr>
          <p:cNvPr id="166" name="Image 5" descr="preencoded.png"/>
          <p:cNvPicPr/>
          <p:nvPr/>
        </p:nvPicPr>
        <p:blipFill>
          <a:blip r:embed="rId6"/>
          <a:stretch/>
        </p:blipFill>
        <p:spPr>
          <a:xfrm>
            <a:off x="6926760" y="5166360"/>
            <a:ext cx="226080" cy="226080"/>
          </a:xfrm>
          <a:prstGeom prst="rect">
            <a:avLst/>
          </a:prstGeom>
          <a:ln>
            <a:noFill/>
          </a:ln>
        </p:spPr>
      </p:pic>
      <p:sp>
        <p:nvSpPr>
          <p:cNvPr id="167" name="CustomShape 22"/>
          <p:cNvSpPr/>
          <p:nvPr/>
        </p:nvSpPr>
        <p:spPr>
          <a:xfrm>
            <a:off x="7452360" y="4937760"/>
            <a:ext cx="4020840" cy="6649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600" spc="-1" strike="noStrike">
                <a:solidFill>
                  <a:srgbClr val="ffffff"/>
                </a:solidFill>
                <a:latin typeface="Calibri"/>
                <a:ea typeface="Calibri"/>
              </a:rPr>
              <a:t>Laboratorio 1</a:t>
            </a:r>
            <a:endParaRPr b="0" lang="es-ES" sz="1600" spc="-1" strike="noStrike">
              <a:latin typeface="Arial"/>
            </a:endParaRPr>
          </a:p>
        </p:txBody>
      </p:sp>
      <p:sp>
        <p:nvSpPr>
          <p:cNvPr id="168" name="CustomShape 2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8da9c4"/>
                </a:solidFill>
                <a:latin typeface="Calibri"/>
                <a:ea typeface="Calibri"/>
              </a:rPr>
              <a:t>Curso de Administración de SQL Server · 20 h</a:t>
            </a:r>
            <a:endParaRPr b="0" lang="es-ES" sz="1000" spc="-1" strike="noStrike">
              <a:latin typeface="Arial"/>
            </a:endParaRPr>
          </a:p>
        </p:txBody>
      </p:sp>
      <p:sp>
        <p:nvSpPr>
          <p:cNvPr id="169" name="CustomShape 2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8da9c4"/>
                </a:solidFill>
                <a:latin typeface="Calibri"/>
                <a:ea typeface="Calibri"/>
              </a:rPr>
              <a:t>Módulo 1   5</a:t>
            </a:r>
            <a:endParaRPr b="0" lang="es-ES" sz="10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70"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HISTORIA</a:t>
            </a:r>
            <a:endParaRPr b="0" lang="es-ES" sz="1000" spc="-1" strike="noStrike">
              <a:latin typeface="Arial"/>
            </a:endParaRPr>
          </a:p>
        </p:txBody>
      </p:sp>
      <p:sp>
        <p:nvSpPr>
          <p:cNvPr id="171"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Versiones de SQL Server</a:t>
            </a:r>
            <a:endParaRPr b="0" lang="es-ES" sz="3400" spc="-1" strike="noStrike">
              <a:latin typeface="Arial"/>
            </a:endParaRPr>
          </a:p>
        </p:txBody>
      </p:sp>
      <p:sp>
        <p:nvSpPr>
          <p:cNvPr id="172"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73"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1   6</a:t>
            </a:r>
            <a:endParaRPr b="0" lang="es-ES" sz="1000" spc="-1" strike="noStrike">
              <a:latin typeface="Arial"/>
            </a:endParaRPr>
          </a:p>
        </p:txBody>
      </p:sp>
      <p:sp>
        <p:nvSpPr>
          <p:cNvPr id="174" name="CustomShape 5"/>
          <p:cNvSpPr/>
          <p:nvPr/>
        </p:nvSpPr>
        <p:spPr>
          <a:xfrm>
            <a:off x="548640" y="1600200"/>
            <a:ext cx="1464840" cy="3106440"/>
          </a:xfrm>
          <a:prstGeom prst="roundRect">
            <a:avLst>
              <a:gd name="adj" fmla="val 7478"/>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75" name="CustomShape 6"/>
          <p:cNvSpPr/>
          <p:nvPr/>
        </p:nvSpPr>
        <p:spPr>
          <a:xfrm>
            <a:off x="548640" y="1783080"/>
            <a:ext cx="1464840" cy="5461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2800" spc="-1" strike="noStrike">
                <a:solidFill>
                  <a:srgbClr val="d95d39"/>
                </a:solidFill>
                <a:latin typeface="Calibri"/>
                <a:ea typeface="Calibri"/>
              </a:rPr>
              <a:t>2012</a:t>
            </a:r>
            <a:endParaRPr b="0" lang="es-ES" sz="2800" spc="-1" strike="noStrike">
              <a:latin typeface="Arial"/>
            </a:endParaRPr>
          </a:p>
        </p:txBody>
      </p:sp>
      <p:sp>
        <p:nvSpPr>
          <p:cNvPr id="176" name="CustomShape 7"/>
          <p:cNvSpPr/>
          <p:nvPr/>
        </p:nvSpPr>
        <p:spPr>
          <a:xfrm>
            <a:off x="685800" y="2514600"/>
            <a:ext cx="1236240" cy="210060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799"/>
              </a:spcAft>
              <a:buClr>
                <a:srgbClr val="1f2933"/>
              </a:buClr>
              <a:buFont typeface="Symbol"/>
              <a:buChar char=""/>
            </a:pPr>
            <a:r>
              <a:rPr b="0" lang="en-US" sz="1300" spc="-1" strike="noStrike">
                <a:solidFill>
                  <a:srgbClr val="1f2933"/>
                </a:solidFill>
                <a:latin typeface="Calibri"/>
                <a:ea typeface="Calibri"/>
              </a:rPr>
              <a:t>Always On AG</a:t>
            </a:r>
            <a:endParaRPr b="0" lang="es-ES" sz="1300" spc="-1" strike="noStrike">
              <a:latin typeface="Arial"/>
            </a:endParaRPr>
          </a:p>
          <a:p>
            <a:pPr marL="203040" indent="-200520">
              <a:lnSpc>
                <a:spcPct val="100000"/>
              </a:lnSpc>
              <a:spcAft>
                <a:spcPts val="799"/>
              </a:spcAft>
              <a:buClr>
                <a:srgbClr val="1f2933"/>
              </a:buClr>
              <a:buFont typeface="Symbol"/>
              <a:buChar char=""/>
            </a:pPr>
            <a:r>
              <a:rPr b="0" lang="en-US" sz="1300" spc="-1" strike="noStrike">
                <a:solidFill>
                  <a:srgbClr val="1f2933"/>
                </a:solidFill>
                <a:latin typeface="Calibri"/>
                <a:ea typeface="Calibri"/>
              </a:rPr>
              <a:t>Columnstore</a:t>
            </a:r>
            <a:endParaRPr b="0" lang="es-ES" sz="1300" spc="-1" strike="noStrike">
              <a:latin typeface="Arial"/>
            </a:endParaRPr>
          </a:p>
          <a:p>
            <a:pPr marL="203040" indent="-200520">
              <a:lnSpc>
                <a:spcPct val="100000"/>
              </a:lnSpc>
              <a:spcAft>
                <a:spcPts val="799"/>
              </a:spcAft>
              <a:buClr>
                <a:srgbClr val="1f2933"/>
              </a:buClr>
              <a:buFont typeface="Symbol"/>
              <a:buChar char=""/>
            </a:pPr>
            <a:r>
              <a:rPr b="0" lang="en-US" sz="1300" spc="-1" strike="noStrike">
                <a:solidFill>
                  <a:srgbClr val="1f2933"/>
                </a:solidFill>
                <a:latin typeface="Calibri"/>
                <a:ea typeface="Calibri"/>
              </a:rPr>
              <a:t>Secuencias</a:t>
            </a:r>
            <a:endParaRPr b="0" lang="es-ES" sz="1300" spc="-1" strike="noStrike">
              <a:latin typeface="Arial"/>
            </a:endParaRPr>
          </a:p>
        </p:txBody>
      </p:sp>
      <p:sp>
        <p:nvSpPr>
          <p:cNvPr id="177" name="CustomShape 8"/>
          <p:cNvSpPr/>
          <p:nvPr/>
        </p:nvSpPr>
        <p:spPr>
          <a:xfrm>
            <a:off x="2153160" y="1600200"/>
            <a:ext cx="1464840" cy="3106440"/>
          </a:xfrm>
          <a:prstGeom prst="roundRect">
            <a:avLst>
              <a:gd name="adj" fmla="val 7478"/>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78" name="CustomShape 9"/>
          <p:cNvSpPr/>
          <p:nvPr/>
        </p:nvSpPr>
        <p:spPr>
          <a:xfrm>
            <a:off x="2153160" y="1783080"/>
            <a:ext cx="1464840" cy="5461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2800" spc="-1" strike="noStrike">
                <a:solidFill>
                  <a:srgbClr val="d95d39"/>
                </a:solidFill>
                <a:latin typeface="Calibri"/>
                <a:ea typeface="Calibri"/>
              </a:rPr>
              <a:t>2014</a:t>
            </a:r>
            <a:endParaRPr b="0" lang="es-ES" sz="2800" spc="-1" strike="noStrike">
              <a:latin typeface="Arial"/>
            </a:endParaRPr>
          </a:p>
        </p:txBody>
      </p:sp>
      <p:sp>
        <p:nvSpPr>
          <p:cNvPr id="179" name="CustomShape 10"/>
          <p:cNvSpPr/>
          <p:nvPr/>
        </p:nvSpPr>
        <p:spPr>
          <a:xfrm>
            <a:off x="2290320" y="2514600"/>
            <a:ext cx="1236240" cy="210060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799"/>
              </a:spcAft>
              <a:buClr>
                <a:srgbClr val="1f2933"/>
              </a:buClr>
              <a:buFont typeface="Symbol"/>
              <a:buChar char=""/>
            </a:pPr>
            <a:r>
              <a:rPr b="0" lang="en-US" sz="1300" spc="-1" strike="noStrike">
                <a:solidFill>
                  <a:srgbClr val="1f2933"/>
                </a:solidFill>
                <a:latin typeface="Calibri"/>
                <a:ea typeface="Calibri"/>
              </a:rPr>
              <a:t>In-Memory OLTP</a:t>
            </a:r>
            <a:endParaRPr b="0" lang="es-ES" sz="1300" spc="-1" strike="noStrike">
              <a:latin typeface="Arial"/>
            </a:endParaRPr>
          </a:p>
          <a:p>
            <a:pPr marL="203040" indent="-200520">
              <a:lnSpc>
                <a:spcPct val="100000"/>
              </a:lnSpc>
              <a:spcAft>
                <a:spcPts val="799"/>
              </a:spcAft>
              <a:buClr>
                <a:srgbClr val="1f2933"/>
              </a:buClr>
              <a:buFont typeface="Symbol"/>
              <a:buChar char=""/>
            </a:pPr>
            <a:r>
              <a:rPr b="0" lang="en-US" sz="1300" spc="-1" strike="noStrike">
                <a:solidFill>
                  <a:srgbClr val="1f2933"/>
                </a:solidFill>
                <a:latin typeface="Calibri"/>
                <a:ea typeface="Calibri"/>
              </a:rPr>
              <a:t>Buffer Pool Ext.</a:t>
            </a:r>
            <a:endParaRPr b="0" lang="es-ES" sz="1300" spc="-1" strike="noStrike">
              <a:latin typeface="Arial"/>
            </a:endParaRPr>
          </a:p>
          <a:p>
            <a:pPr marL="203040" indent="-200520">
              <a:lnSpc>
                <a:spcPct val="100000"/>
              </a:lnSpc>
              <a:spcAft>
                <a:spcPts val="799"/>
              </a:spcAft>
              <a:buClr>
                <a:srgbClr val="1f2933"/>
              </a:buClr>
              <a:buFont typeface="Symbol"/>
              <a:buChar char=""/>
            </a:pPr>
            <a:r>
              <a:rPr b="0" lang="en-US" sz="1300" spc="-1" strike="noStrike">
                <a:solidFill>
                  <a:srgbClr val="1f2933"/>
                </a:solidFill>
                <a:latin typeface="Calibri"/>
                <a:ea typeface="Calibri"/>
              </a:rPr>
              <a:t>Backup cifrado</a:t>
            </a:r>
            <a:endParaRPr b="0" lang="es-ES" sz="1300" spc="-1" strike="noStrike">
              <a:latin typeface="Arial"/>
            </a:endParaRPr>
          </a:p>
        </p:txBody>
      </p:sp>
      <p:sp>
        <p:nvSpPr>
          <p:cNvPr id="180" name="CustomShape 11"/>
          <p:cNvSpPr/>
          <p:nvPr/>
        </p:nvSpPr>
        <p:spPr>
          <a:xfrm>
            <a:off x="3757680" y="1600200"/>
            <a:ext cx="1464840" cy="3106440"/>
          </a:xfrm>
          <a:prstGeom prst="roundRect">
            <a:avLst>
              <a:gd name="adj" fmla="val 7478"/>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81" name="CustomShape 12"/>
          <p:cNvSpPr/>
          <p:nvPr/>
        </p:nvSpPr>
        <p:spPr>
          <a:xfrm>
            <a:off x="3757680" y="1783080"/>
            <a:ext cx="1464840" cy="5461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2800" spc="-1" strike="noStrike">
                <a:solidFill>
                  <a:srgbClr val="d95d39"/>
                </a:solidFill>
                <a:latin typeface="Calibri"/>
                <a:ea typeface="Calibri"/>
              </a:rPr>
              <a:t>2016</a:t>
            </a:r>
            <a:endParaRPr b="0" lang="es-ES" sz="2800" spc="-1" strike="noStrike">
              <a:latin typeface="Arial"/>
            </a:endParaRPr>
          </a:p>
        </p:txBody>
      </p:sp>
      <p:sp>
        <p:nvSpPr>
          <p:cNvPr id="182" name="CustomShape 13"/>
          <p:cNvSpPr/>
          <p:nvPr/>
        </p:nvSpPr>
        <p:spPr>
          <a:xfrm>
            <a:off x="3894840" y="2514600"/>
            <a:ext cx="1236240" cy="210060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799"/>
              </a:spcAft>
              <a:buClr>
                <a:srgbClr val="1f2933"/>
              </a:buClr>
              <a:buFont typeface="Symbol"/>
              <a:buChar char=""/>
            </a:pPr>
            <a:r>
              <a:rPr b="0" lang="en-US" sz="1300" spc="-1" strike="noStrike">
                <a:solidFill>
                  <a:srgbClr val="1f2933"/>
                </a:solidFill>
                <a:latin typeface="Calibri"/>
                <a:ea typeface="Calibri"/>
              </a:rPr>
              <a:t>Query Store</a:t>
            </a:r>
            <a:endParaRPr b="0" lang="es-ES" sz="1300" spc="-1" strike="noStrike">
              <a:latin typeface="Arial"/>
            </a:endParaRPr>
          </a:p>
          <a:p>
            <a:pPr marL="203040" indent="-200520">
              <a:lnSpc>
                <a:spcPct val="100000"/>
              </a:lnSpc>
              <a:spcAft>
                <a:spcPts val="799"/>
              </a:spcAft>
              <a:buClr>
                <a:srgbClr val="1f2933"/>
              </a:buClr>
              <a:buFont typeface="Symbol"/>
              <a:buChar char=""/>
            </a:pPr>
            <a:r>
              <a:rPr b="0" lang="en-US" sz="1300" spc="-1" strike="noStrike">
                <a:solidFill>
                  <a:srgbClr val="1f2933"/>
                </a:solidFill>
                <a:latin typeface="Calibri"/>
                <a:ea typeface="Calibri"/>
              </a:rPr>
              <a:t>Always Encrypted</a:t>
            </a:r>
            <a:endParaRPr b="0" lang="es-ES" sz="1300" spc="-1" strike="noStrike">
              <a:latin typeface="Arial"/>
            </a:endParaRPr>
          </a:p>
          <a:p>
            <a:pPr marL="203040" indent="-200520">
              <a:lnSpc>
                <a:spcPct val="100000"/>
              </a:lnSpc>
              <a:spcAft>
                <a:spcPts val="799"/>
              </a:spcAft>
              <a:buClr>
                <a:srgbClr val="1f2933"/>
              </a:buClr>
              <a:buFont typeface="Symbol"/>
              <a:buChar char=""/>
            </a:pPr>
            <a:r>
              <a:rPr b="0" lang="en-US" sz="1300" spc="-1" strike="noStrike">
                <a:solidFill>
                  <a:srgbClr val="1f2933"/>
                </a:solidFill>
                <a:latin typeface="Calibri"/>
                <a:ea typeface="Calibri"/>
              </a:rPr>
              <a:t>Temporal tables</a:t>
            </a:r>
            <a:endParaRPr b="0" lang="es-ES" sz="1300" spc="-1" strike="noStrike">
              <a:latin typeface="Arial"/>
            </a:endParaRPr>
          </a:p>
        </p:txBody>
      </p:sp>
      <p:sp>
        <p:nvSpPr>
          <p:cNvPr id="183" name="CustomShape 14"/>
          <p:cNvSpPr/>
          <p:nvPr/>
        </p:nvSpPr>
        <p:spPr>
          <a:xfrm>
            <a:off x="5362200" y="1600200"/>
            <a:ext cx="1464840" cy="3106440"/>
          </a:xfrm>
          <a:prstGeom prst="roundRect">
            <a:avLst>
              <a:gd name="adj" fmla="val 7478"/>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84" name="CustomShape 15"/>
          <p:cNvSpPr/>
          <p:nvPr/>
        </p:nvSpPr>
        <p:spPr>
          <a:xfrm>
            <a:off x="5362200" y="1783080"/>
            <a:ext cx="1464840" cy="5461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2800" spc="-1" strike="noStrike">
                <a:solidFill>
                  <a:srgbClr val="d95d39"/>
                </a:solidFill>
                <a:latin typeface="Calibri"/>
                <a:ea typeface="Calibri"/>
              </a:rPr>
              <a:t>2017</a:t>
            </a:r>
            <a:endParaRPr b="0" lang="es-ES" sz="2800" spc="-1" strike="noStrike">
              <a:latin typeface="Arial"/>
            </a:endParaRPr>
          </a:p>
        </p:txBody>
      </p:sp>
      <p:sp>
        <p:nvSpPr>
          <p:cNvPr id="185" name="CustomShape 16"/>
          <p:cNvSpPr/>
          <p:nvPr/>
        </p:nvSpPr>
        <p:spPr>
          <a:xfrm>
            <a:off x="5499360" y="2514600"/>
            <a:ext cx="1236240" cy="210060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799"/>
              </a:spcAft>
              <a:buClr>
                <a:srgbClr val="1f2933"/>
              </a:buClr>
              <a:buFont typeface="Symbol"/>
              <a:buChar char=""/>
            </a:pPr>
            <a:r>
              <a:rPr b="0" lang="en-US" sz="1300" spc="-1" strike="noStrike">
                <a:solidFill>
                  <a:srgbClr val="1f2933"/>
                </a:solidFill>
                <a:latin typeface="Calibri"/>
                <a:ea typeface="Calibri"/>
              </a:rPr>
              <a:t>Linux y Docker</a:t>
            </a:r>
            <a:endParaRPr b="0" lang="es-ES" sz="1300" spc="-1" strike="noStrike">
              <a:latin typeface="Arial"/>
            </a:endParaRPr>
          </a:p>
          <a:p>
            <a:pPr marL="203040" indent="-200520">
              <a:lnSpc>
                <a:spcPct val="100000"/>
              </a:lnSpc>
              <a:spcAft>
                <a:spcPts val="799"/>
              </a:spcAft>
              <a:buClr>
                <a:srgbClr val="1f2933"/>
              </a:buClr>
              <a:buFont typeface="Symbol"/>
              <a:buChar char=""/>
            </a:pPr>
            <a:r>
              <a:rPr b="0" lang="en-US" sz="1300" spc="-1" strike="noStrike">
                <a:solidFill>
                  <a:srgbClr val="1f2933"/>
                </a:solidFill>
                <a:latin typeface="Calibri"/>
                <a:ea typeface="Calibri"/>
              </a:rPr>
              <a:t>Adaptive QP</a:t>
            </a:r>
            <a:endParaRPr b="0" lang="es-ES" sz="1300" spc="-1" strike="noStrike">
              <a:latin typeface="Arial"/>
            </a:endParaRPr>
          </a:p>
          <a:p>
            <a:pPr marL="203040" indent="-200520">
              <a:lnSpc>
                <a:spcPct val="100000"/>
              </a:lnSpc>
              <a:spcAft>
                <a:spcPts val="799"/>
              </a:spcAft>
              <a:buClr>
                <a:srgbClr val="1f2933"/>
              </a:buClr>
              <a:buFont typeface="Symbol"/>
              <a:buChar char=""/>
            </a:pPr>
            <a:r>
              <a:rPr b="0" lang="en-US" sz="1300" spc="-1" strike="noStrike">
                <a:solidFill>
                  <a:srgbClr val="1f2933"/>
                </a:solidFill>
                <a:latin typeface="Calibri"/>
                <a:ea typeface="Calibri"/>
              </a:rPr>
              <a:t>Python</a:t>
            </a:r>
            <a:endParaRPr b="0" lang="es-ES" sz="1300" spc="-1" strike="noStrike">
              <a:latin typeface="Arial"/>
            </a:endParaRPr>
          </a:p>
        </p:txBody>
      </p:sp>
      <p:sp>
        <p:nvSpPr>
          <p:cNvPr id="186" name="CustomShape 17"/>
          <p:cNvSpPr/>
          <p:nvPr/>
        </p:nvSpPr>
        <p:spPr>
          <a:xfrm>
            <a:off x="6966720" y="1600200"/>
            <a:ext cx="1464840" cy="3106440"/>
          </a:xfrm>
          <a:prstGeom prst="roundRect">
            <a:avLst>
              <a:gd name="adj" fmla="val 7478"/>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87" name="CustomShape 18"/>
          <p:cNvSpPr/>
          <p:nvPr/>
        </p:nvSpPr>
        <p:spPr>
          <a:xfrm>
            <a:off x="6966720" y="1783080"/>
            <a:ext cx="1464840" cy="5461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2800" spc="-1" strike="noStrike">
                <a:solidFill>
                  <a:srgbClr val="d95d39"/>
                </a:solidFill>
                <a:latin typeface="Calibri"/>
                <a:ea typeface="Calibri"/>
              </a:rPr>
              <a:t>2019</a:t>
            </a:r>
            <a:endParaRPr b="0" lang="es-ES" sz="2800" spc="-1" strike="noStrike">
              <a:latin typeface="Arial"/>
            </a:endParaRPr>
          </a:p>
        </p:txBody>
      </p:sp>
      <p:sp>
        <p:nvSpPr>
          <p:cNvPr id="188" name="CustomShape 19"/>
          <p:cNvSpPr/>
          <p:nvPr/>
        </p:nvSpPr>
        <p:spPr>
          <a:xfrm>
            <a:off x="7103880" y="2514600"/>
            <a:ext cx="1236240" cy="210060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799"/>
              </a:spcAft>
              <a:buClr>
                <a:srgbClr val="1f2933"/>
              </a:buClr>
              <a:buFont typeface="Symbol"/>
              <a:buChar char=""/>
            </a:pPr>
            <a:r>
              <a:rPr b="0" lang="en-US" sz="1300" spc="-1" strike="noStrike">
                <a:solidFill>
                  <a:srgbClr val="1f2933"/>
                </a:solidFill>
                <a:latin typeface="Calibri"/>
                <a:ea typeface="Calibri"/>
              </a:rPr>
              <a:t>Intelligent QP</a:t>
            </a:r>
            <a:endParaRPr b="0" lang="es-ES" sz="1300" spc="-1" strike="noStrike">
              <a:latin typeface="Arial"/>
            </a:endParaRPr>
          </a:p>
          <a:p>
            <a:pPr marL="203040" indent="-200520">
              <a:lnSpc>
                <a:spcPct val="100000"/>
              </a:lnSpc>
              <a:spcAft>
                <a:spcPts val="799"/>
              </a:spcAft>
              <a:buClr>
                <a:srgbClr val="1f2933"/>
              </a:buClr>
              <a:buFont typeface="Symbol"/>
              <a:buChar char=""/>
            </a:pPr>
            <a:r>
              <a:rPr b="0" lang="en-US" sz="1300" spc="-1" strike="noStrike">
                <a:solidFill>
                  <a:srgbClr val="1f2933"/>
                </a:solidFill>
                <a:latin typeface="Calibri"/>
                <a:ea typeface="Calibri"/>
              </a:rPr>
              <a:t>ADR</a:t>
            </a:r>
            <a:endParaRPr b="0" lang="es-ES" sz="1300" spc="-1" strike="noStrike">
              <a:latin typeface="Arial"/>
            </a:endParaRPr>
          </a:p>
          <a:p>
            <a:pPr marL="203040" indent="-200520">
              <a:lnSpc>
                <a:spcPct val="100000"/>
              </a:lnSpc>
              <a:spcAft>
                <a:spcPts val="799"/>
              </a:spcAft>
              <a:buClr>
                <a:srgbClr val="1f2933"/>
              </a:buClr>
              <a:buFont typeface="Symbol"/>
              <a:buChar char=""/>
            </a:pPr>
            <a:r>
              <a:rPr b="0" lang="en-US" sz="1300" spc="-1" strike="noStrike">
                <a:solidFill>
                  <a:srgbClr val="1f2933"/>
                </a:solidFill>
                <a:latin typeface="Calibri"/>
                <a:ea typeface="Calibri"/>
              </a:rPr>
              <a:t>UTF-8</a:t>
            </a:r>
            <a:endParaRPr b="0" lang="es-ES" sz="1300" spc="-1" strike="noStrike">
              <a:latin typeface="Arial"/>
            </a:endParaRPr>
          </a:p>
        </p:txBody>
      </p:sp>
      <p:sp>
        <p:nvSpPr>
          <p:cNvPr id="189" name="CustomShape 20"/>
          <p:cNvSpPr/>
          <p:nvPr/>
        </p:nvSpPr>
        <p:spPr>
          <a:xfrm>
            <a:off x="8571240" y="1600200"/>
            <a:ext cx="1464840" cy="3106440"/>
          </a:xfrm>
          <a:prstGeom prst="roundRect">
            <a:avLst>
              <a:gd name="adj" fmla="val 7478"/>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90" name="CustomShape 21"/>
          <p:cNvSpPr/>
          <p:nvPr/>
        </p:nvSpPr>
        <p:spPr>
          <a:xfrm>
            <a:off x="8571240" y="1783080"/>
            <a:ext cx="1464840" cy="5461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2800" spc="-1" strike="noStrike">
                <a:solidFill>
                  <a:srgbClr val="d95d39"/>
                </a:solidFill>
                <a:latin typeface="Calibri"/>
                <a:ea typeface="Calibri"/>
              </a:rPr>
              <a:t>2022</a:t>
            </a:r>
            <a:endParaRPr b="0" lang="es-ES" sz="2800" spc="-1" strike="noStrike">
              <a:latin typeface="Arial"/>
            </a:endParaRPr>
          </a:p>
        </p:txBody>
      </p:sp>
      <p:sp>
        <p:nvSpPr>
          <p:cNvPr id="191" name="CustomShape 22"/>
          <p:cNvSpPr/>
          <p:nvPr/>
        </p:nvSpPr>
        <p:spPr>
          <a:xfrm>
            <a:off x="8708400" y="2514600"/>
            <a:ext cx="1236240" cy="210060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799"/>
              </a:spcAft>
              <a:buClr>
                <a:srgbClr val="1f2933"/>
              </a:buClr>
              <a:buFont typeface="Symbol"/>
              <a:buChar char=""/>
            </a:pPr>
            <a:r>
              <a:rPr b="0" lang="en-US" sz="1300" spc="-1" strike="noStrike">
                <a:solidFill>
                  <a:srgbClr val="1f2933"/>
                </a:solidFill>
                <a:latin typeface="Calibri"/>
                <a:ea typeface="Calibri"/>
              </a:rPr>
              <a:t>Ledger</a:t>
            </a:r>
            <a:endParaRPr b="0" lang="es-ES" sz="1300" spc="-1" strike="noStrike">
              <a:latin typeface="Arial"/>
            </a:endParaRPr>
          </a:p>
          <a:p>
            <a:pPr marL="203040" indent="-200520">
              <a:lnSpc>
                <a:spcPct val="100000"/>
              </a:lnSpc>
              <a:spcAft>
                <a:spcPts val="799"/>
              </a:spcAft>
              <a:buClr>
                <a:srgbClr val="1f2933"/>
              </a:buClr>
              <a:buFont typeface="Symbol"/>
              <a:buChar char=""/>
            </a:pPr>
            <a:r>
              <a:rPr b="0" lang="en-US" sz="1300" spc="-1" strike="noStrike">
                <a:solidFill>
                  <a:srgbClr val="1f2933"/>
                </a:solidFill>
                <a:latin typeface="Calibri"/>
                <a:ea typeface="Calibri"/>
              </a:rPr>
              <a:t>PSP optimization</a:t>
            </a:r>
            <a:endParaRPr b="0" lang="es-ES" sz="1300" spc="-1" strike="noStrike">
              <a:latin typeface="Arial"/>
            </a:endParaRPr>
          </a:p>
          <a:p>
            <a:pPr marL="203040" indent="-200520">
              <a:lnSpc>
                <a:spcPct val="100000"/>
              </a:lnSpc>
              <a:spcAft>
                <a:spcPts val="799"/>
              </a:spcAft>
              <a:buClr>
                <a:srgbClr val="1f2933"/>
              </a:buClr>
              <a:buFont typeface="Symbol"/>
              <a:buChar char=""/>
            </a:pPr>
            <a:r>
              <a:rPr b="0" lang="en-US" sz="1300" spc="-1" strike="noStrike">
                <a:solidFill>
                  <a:srgbClr val="1f2933"/>
                </a:solidFill>
                <a:latin typeface="Calibri"/>
                <a:ea typeface="Calibri"/>
              </a:rPr>
              <a:t>Contained AG</a:t>
            </a:r>
            <a:endParaRPr b="0" lang="es-ES" sz="1300" spc="-1" strike="noStrike">
              <a:latin typeface="Arial"/>
            </a:endParaRPr>
          </a:p>
        </p:txBody>
      </p:sp>
      <p:sp>
        <p:nvSpPr>
          <p:cNvPr id="192" name="CustomShape 23"/>
          <p:cNvSpPr/>
          <p:nvPr/>
        </p:nvSpPr>
        <p:spPr>
          <a:xfrm>
            <a:off x="10175760" y="1600200"/>
            <a:ext cx="1464840" cy="3106440"/>
          </a:xfrm>
          <a:prstGeom prst="roundRect">
            <a:avLst>
              <a:gd name="adj" fmla="val 7478"/>
            </a:avLst>
          </a:prstGeom>
          <a:solidFill>
            <a:srgbClr val="0b2545"/>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93" name="CustomShape 24"/>
          <p:cNvSpPr/>
          <p:nvPr/>
        </p:nvSpPr>
        <p:spPr>
          <a:xfrm>
            <a:off x="10175760" y="1783080"/>
            <a:ext cx="1464840" cy="5461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2800" spc="-1" strike="noStrike">
                <a:solidFill>
                  <a:srgbClr val="ffffff"/>
                </a:solidFill>
                <a:latin typeface="Calibri"/>
                <a:ea typeface="Calibri"/>
              </a:rPr>
              <a:t>2025</a:t>
            </a:r>
            <a:endParaRPr b="0" lang="es-ES" sz="2800" spc="-1" strike="noStrike">
              <a:latin typeface="Arial"/>
            </a:endParaRPr>
          </a:p>
        </p:txBody>
      </p:sp>
      <p:sp>
        <p:nvSpPr>
          <p:cNvPr id="194" name="CustomShape 25"/>
          <p:cNvSpPr/>
          <p:nvPr/>
        </p:nvSpPr>
        <p:spPr>
          <a:xfrm>
            <a:off x="10312920" y="2514600"/>
            <a:ext cx="1236240" cy="210060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799"/>
              </a:spcAft>
              <a:buClr>
                <a:srgbClr val="ffffff"/>
              </a:buClr>
              <a:buFont typeface="Symbol"/>
              <a:buChar char=""/>
            </a:pPr>
            <a:r>
              <a:rPr b="0" lang="en-US" sz="1300" spc="-1" strike="noStrike">
                <a:solidFill>
                  <a:srgbClr val="ffffff"/>
                </a:solidFill>
                <a:latin typeface="Calibri"/>
                <a:ea typeface="Calibri"/>
              </a:rPr>
              <a:t>Tipo vector (IA)</a:t>
            </a:r>
            <a:endParaRPr b="0" lang="es-ES" sz="1300" spc="-1" strike="noStrike">
              <a:latin typeface="Arial"/>
            </a:endParaRPr>
          </a:p>
          <a:p>
            <a:pPr marL="203040" indent="-200520">
              <a:lnSpc>
                <a:spcPct val="100000"/>
              </a:lnSpc>
              <a:spcAft>
                <a:spcPts val="799"/>
              </a:spcAft>
              <a:buClr>
                <a:srgbClr val="ffffff"/>
              </a:buClr>
              <a:buFont typeface="Symbol"/>
              <a:buChar char=""/>
            </a:pPr>
            <a:r>
              <a:rPr b="0" lang="en-US" sz="1300" spc="-1" strike="noStrike">
                <a:solidFill>
                  <a:srgbClr val="ffffff"/>
                </a:solidFill>
                <a:latin typeface="Calibri"/>
                <a:ea typeface="Calibri"/>
              </a:rPr>
              <a:t>Tipo json</a:t>
            </a:r>
            <a:endParaRPr b="0" lang="es-ES" sz="1300" spc="-1" strike="noStrike">
              <a:latin typeface="Arial"/>
            </a:endParaRPr>
          </a:p>
          <a:p>
            <a:pPr marL="203040" indent="-200520">
              <a:lnSpc>
                <a:spcPct val="100000"/>
              </a:lnSpc>
              <a:spcAft>
                <a:spcPts val="799"/>
              </a:spcAft>
              <a:buClr>
                <a:srgbClr val="ffffff"/>
              </a:buClr>
              <a:buFont typeface="Symbol"/>
              <a:buChar char=""/>
            </a:pPr>
            <a:r>
              <a:rPr b="0" lang="en-US" sz="1300" spc="-1" strike="noStrike">
                <a:solidFill>
                  <a:srgbClr val="ffffff"/>
                </a:solidFill>
                <a:latin typeface="Calibri"/>
                <a:ea typeface="Calibri"/>
              </a:rPr>
              <a:t>Regex en T-SQL</a:t>
            </a:r>
            <a:endParaRPr b="0" lang="es-ES" sz="1300" spc="-1" strike="noStrike">
              <a:latin typeface="Arial"/>
            </a:endParaRPr>
          </a:p>
        </p:txBody>
      </p:sp>
      <p:sp>
        <p:nvSpPr>
          <p:cNvPr id="195" name="CustomShape 26"/>
          <p:cNvSpPr/>
          <p:nvPr/>
        </p:nvSpPr>
        <p:spPr>
          <a:xfrm>
            <a:off x="548640" y="5029200"/>
            <a:ext cx="11091960" cy="1094760"/>
          </a:xfrm>
          <a:prstGeom prst="roundRect">
            <a:avLst>
              <a:gd name="adj" fmla="val 10000"/>
            </a:avLst>
          </a:prstGeom>
          <a:solidFill>
            <a:srgbClr val="fdede8"/>
          </a:solidFill>
          <a:ln>
            <a:noFill/>
          </a:ln>
        </p:spPr>
        <p:style>
          <a:lnRef idx="0"/>
          <a:fillRef idx="0"/>
          <a:effectRef idx="0"/>
          <a:fontRef idx="minor"/>
        </p:style>
      </p:sp>
      <p:sp>
        <p:nvSpPr>
          <p:cNvPr id="196" name="CustomShape 27"/>
          <p:cNvSpPr/>
          <p:nvPr/>
        </p:nvSpPr>
        <p:spPr>
          <a:xfrm>
            <a:off x="731520" y="5349240"/>
            <a:ext cx="454680" cy="454680"/>
          </a:xfrm>
          <a:prstGeom prst="ellipse">
            <a:avLst/>
          </a:prstGeom>
          <a:solidFill>
            <a:srgbClr val="d95d39"/>
          </a:solidFill>
          <a:ln>
            <a:noFill/>
          </a:ln>
        </p:spPr>
        <p:style>
          <a:lnRef idx="0"/>
          <a:fillRef idx="0"/>
          <a:effectRef idx="0"/>
          <a:fontRef idx="minor"/>
        </p:style>
      </p:sp>
      <p:pic>
        <p:nvPicPr>
          <p:cNvPr id="197" name="Image 0" descr="preencoded.png"/>
          <p:cNvPicPr/>
          <p:nvPr/>
        </p:nvPicPr>
        <p:blipFill>
          <a:blip r:embed="rId1"/>
          <a:stretch/>
        </p:blipFill>
        <p:spPr>
          <a:xfrm>
            <a:off x="846000" y="5463720"/>
            <a:ext cx="226080" cy="226080"/>
          </a:xfrm>
          <a:prstGeom prst="rect">
            <a:avLst/>
          </a:prstGeom>
          <a:ln>
            <a:noFill/>
          </a:ln>
        </p:spPr>
      </p:pic>
      <p:sp>
        <p:nvSpPr>
          <p:cNvPr id="198" name="CustomShape 28"/>
          <p:cNvSpPr/>
          <p:nvPr/>
        </p:nvSpPr>
        <p:spPr>
          <a:xfrm>
            <a:off x="1371600" y="5029200"/>
            <a:ext cx="10086120" cy="109476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a8431f"/>
                </a:solidFill>
                <a:latin typeface="Calibri"/>
                <a:ea typeface="Calibri"/>
              </a:rPr>
              <a:t>Ciclo de vida: </a:t>
            </a:r>
            <a:r>
              <a:rPr b="0" lang="en-US" sz="1400" spc="-1" strike="noStrike">
                <a:solidFill>
                  <a:srgbClr val="1f2933"/>
                </a:solidFill>
                <a:latin typeface="Calibri"/>
                <a:ea typeface="Calibri"/>
              </a:rPr>
              <a:t>5 años de soporte principal + 5 de soporte extendido. SQL Server 2016 ya no recibe parches de seguridad (jul-2026); 2025 es la referencia del curso.</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99" name="CustomShape 1"/>
          <p:cNvSpPr/>
          <p:nvPr/>
        </p:nvSpPr>
        <p:spPr>
          <a:xfrm>
            <a:off x="548640" y="365760"/>
            <a:ext cx="149724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ARQUITECTURA</a:t>
            </a:r>
            <a:endParaRPr b="0" lang="es-ES" sz="1000" spc="-1" strike="noStrike">
              <a:latin typeface="Arial"/>
            </a:endParaRPr>
          </a:p>
        </p:txBody>
      </p:sp>
      <p:sp>
        <p:nvSpPr>
          <p:cNvPr id="200"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Arquitectura interna del motor</a:t>
            </a:r>
            <a:endParaRPr b="0" lang="es-ES" sz="3400" spc="-1" strike="noStrike">
              <a:latin typeface="Arial"/>
            </a:endParaRPr>
          </a:p>
        </p:txBody>
      </p:sp>
      <p:sp>
        <p:nvSpPr>
          <p:cNvPr id="201"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202"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1   7</a:t>
            </a:r>
            <a:endParaRPr b="0" lang="es-ES" sz="1000" spc="-1" strike="noStrike">
              <a:latin typeface="Arial"/>
            </a:endParaRPr>
          </a:p>
        </p:txBody>
      </p:sp>
      <p:sp>
        <p:nvSpPr>
          <p:cNvPr id="203" name="CustomShape 5"/>
          <p:cNvSpPr/>
          <p:nvPr/>
        </p:nvSpPr>
        <p:spPr>
          <a:xfrm>
            <a:off x="548640" y="1600200"/>
            <a:ext cx="5301000" cy="408960"/>
          </a:xfrm>
          <a:prstGeom prst="roundRect">
            <a:avLst>
              <a:gd name="adj" fmla="val 17778"/>
            </a:avLst>
          </a:prstGeom>
          <a:solidFill>
            <a:srgbClr val="8da9c4"/>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300" spc="-1" strike="noStrike">
                <a:solidFill>
                  <a:srgbClr val="0b2545"/>
                </a:solidFill>
                <a:latin typeface="Calibri"/>
                <a:ea typeface="Calibri"/>
              </a:rPr>
              <a:t>Aplicación cliente · SSMS · sqlcmd · .NET</a:t>
            </a:r>
            <a:endParaRPr b="0" lang="es-ES" sz="1300" spc="-1" strike="noStrike">
              <a:latin typeface="Arial"/>
            </a:endParaRPr>
          </a:p>
        </p:txBody>
      </p:sp>
      <p:sp>
        <p:nvSpPr>
          <p:cNvPr id="204" name="Line 6"/>
          <p:cNvSpPr/>
          <p:nvPr/>
        </p:nvSpPr>
        <p:spPr>
          <a:xfrm>
            <a:off x="3200400" y="2011680"/>
            <a:ext cx="0" cy="146160"/>
          </a:xfrm>
          <a:prstGeom prst="line">
            <a:avLst/>
          </a:prstGeom>
          <a:ln w="25560">
            <a:solidFill>
              <a:srgbClr val="d95d39"/>
            </a:solidFill>
            <a:round/>
            <a:tailEnd len="med" type="triangle" w="med"/>
          </a:ln>
        </p:spPr>
        <p:style>
          <a:lnRef idx="0"/>
          <a:fillRef idx="0"/>
          <a:effectRef idx="0"/>
          <a:fontRef idx="minor"/>
        </p:style>
      </p:sp>
      <p:sp>
        <p:nvSpPr>
          <p:cNvPr id="205" name="CustomShape 7"/>
          <p:cNvSpPr/>
          <p:nvPr/>
        </p:nvSpPr>
        <p:spPr>
          <a:xfrm>
            <a:off x="3310200" y="1993320"/>
            <a:ext cx="546120" cy="1803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100" spc="-1" strike="noStrike">
                <a:solidFill>
                  <a:srgbClr val="d95d39"/>
                </a:solidFill>
                <a:latin typeface="Calibri"/>
                <a:ea typeface="Calibri"/>
              </a:rPr>
              <a:t>TDS</a:t>
            </a:r>
            <a:endParaRPr b="0" lang="es-ES" sz="1100" spc="-1" strike="noStrike">
              <a:latin typeface="Arial"/>
            </a:endParaRPr>
          </a:p>
        </p:txBody>
      </p:sp>
      <p:sp>
        <p:nvSpPr>
          <p:cNvPr id="206" name="CustomShape 8"/>
          <p:cNvSpPr/>
          <p:nvPr/>
        </p:nvSpPr>
        <p:spPr>
          <a:xfrm>
            <a:off x="548640" y="2157840"/>
            <a:ext cx="5301000" cy="774720"/>
          </a:xfrm>
          <a:prstGeom prst="roundRect">
            <a:avLst>
              <a:gd name="adj" fmla="val 11765"/>
            </a:avLst>
          </a:prstGeom>
          <a:solidFill>
            <a:srgbClr val="e8eef5"/>
          </a:solidFill>
          <a:ln w="9360">
            <a:solidFill>
              <a:srgbClr val="134074"/>
            </a:solidFill>
            <a:round/>
          </a:ln>
        </p:spPr>
        <p:style>
          <a:lnRef idx="0"/>
          <a:fillRef idx="0"/>
          <a:effectRef idx="0"/>
          <a:fontRef idx="minor"/>
        </p:style>
      </p:sp>
      <p:sp>
        <p:nvSpPr>
          <p:cNvPr id="207" name="CustomShape 9"/>
          <p:cNvSpPr/>
          <p:nvPr/>
        </p:nvSpPr>
        <p:spPr>
          <a:xfrm>
            <a:off x="685800" y="2212920"/>
            <a:ext cx="5026680" cy="2350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100" spc="-1" strike="noStrike">
                <a:solidFill>
                  <a:srgbClr val="134074"/>
                </a:solidFill>
                <a:latin typeface="Calibri"/>
                <a:ea typeface="Calibri"/>
              </a:rPr>
              <a:t>SNI · SQL Network Interface</a:t>
            </a:r>
            <a:endParaRPr b="0" lang="es-ES" sz="1100" spc="-1" strike="noStrike">
              <a:latin typeface="Arial"/>
            </a:endParaRPr>
          </a:p>
        </p:txBody>
      </p:sp>
      <p:sp>
        <p:nvSpPr>
          <p:cNvPr id="208" name="CustomShape 10"/>
          <p:cNvSpPr/>
          <p:nvPr/>
        </p:nvSpPr>
        <p:spPr>
          <a:xfrm>
            <a:off x="685800" y="2487240"/>
            <a:ext cx="1600560" cy="354240"/>
          </a:xfrm>
          <a:prstGeom prst="roundRect">
            <a:avLst>
              <a:gd name="adj" fmla="val 20513"/>
            </a:avLst>
          </a:prstGeom>
          <a:solidFill>
            <a:srgbClr val="134074"/>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200" spc="-1" strike="noStrike">
                <a:solidFill>
                  <a:srgbClr val="ffffff"/>
                </a:solidFill>
                <a:latin typeface="Calibri"/>
                <a:ea typeface="Calibri"/>
              </a:rPr>
              <a:t>Shared Memory</a:t>
            </a:r>
            <a:endParaRPr b="0" lang="es-ES" sz="1200" spc="-1" strike="noStrike">
              <a:latin typeface="Arial"/>
            </a:endParaRPr>
          </a:p>
        </p:txBody>
      </p:sp>
      <p:sp>
        <p:nvSpPr>
          <p:cNvPr id="209" name="CustomShape 11"/>
          <p:cNvSpPr/>
          <p:nvPr/>
        </p:nvSpPr>
        <p:spPr>
          <a:xfrm>
            <a:off x="2398680" y="2487240"/>
            <a:ext cx="1600560" cy="354240"/>
          </a:xfrm>
          <a:prstGeom prst="roundRect">
            <a:avLst>
              <a:gd name="adj" fmla="val 20513"/>
            </a:avLst>
          </a:prstGeom>
          <a:solidFill>
            <a:srgbClr val="134074"/>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200" spc="-1" strike="noStrike">
                <a:solidFill>
                  <a:srgbClr val="ffffff"/>
                </a:solidFill>
                <a:latin typeface="Calibri"/>
                <a:ea typeface="Calibri"/>
              </a:rPr>
              <a:t>TCP/IP</a:t>
            </a:r>
            <a:endParaRPr b="0" lang="es-ES" sz="1200" spc="-1" strike="noStrike">
              <a:latin typeface="Arial"/>
            </a:endParaRPr>
          </a:p>
        </p:txBody>
      </p:sp>
      <p:sp>
        <p:nvSpPr>
          <p:cNvPr id="210" name="CustomShape 12"/>
          <p:cNvSpPr/>
          <p:nvPr/>
        </p:nvSpPr>
        <p:spPr>
          <a:xfrm>
            <a:off x="4111920" y="2487240"/>
            <a:ext cx="1600560" cy="354240"/>
          </a:xfrm>
          <a:prstGeom prst="roundRect">
            <a:avLst>
              <a:gd name="adj" fmla="val 20513"/>
            </a:avLst>
          </a:prstGeom>
          <a:solidFill>
            <a:srgbClr val="134074"/>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200" spc="-1" strike="noStrike">
                <a:solidFill>
                  <a:srgbClr val="ffffff"/>
                </a:solidFill>
                <a:latin typeface="Calibri"/>
                <a:ea typeface="Calibri"/>
              </a:rPr>
              <a:t>Named Pipes</a:t>
            </a:r>
            <a:endParaRPr b="0" lang="es-ES" sz="1200" spc="-1" strike="noStrike">
              <a:latin typeface="Arial"/>
            </a:endParaRPr>
          </a:p>
        </p:txBody>
      </p:sp>
      <p:sp>
        <p:nvSpPr>
          <p:cNvPr id="211" name="Line 13"/>
          <p:cNvSpPr/>
          <p:nvPr/>
        </p:nvSpPr>
        <p:spPr>
          <a:xfrm>
            <a:off x="3200400" y="2935080"/>
            <a:ext cx="0" cy="146160"/>
          </a:xfrm>
          <a:prstGeom prst="line">
            <a:avLst/>
          </a:prstGeom>
          <a:ln w="25560">
            <a:solidFill>
              <a:srgbClr val="d95d39"/>
            </a:solidFill>
            <a:round/>
            <a:tailEnd len="med" type="triangle" w="med"/>
          </a:ln>
        </p:spPr>
        <p:style>
          <a:lnRef idx="0"/>
          <a:fillRef idx="0"/>
          <a:effectRef idx="0"/>
          <a:fontRef idx="minor"/>
        </p:style>
      </p:sp>
      <p:sp>
        <p:nvSpPr>
          <p:cNvPr id="212" name="CustomShape 14"/>
          <p:cNvSpPr/>
          <p:nvPr/>
        </p:nvSpPr>
        <p:spPr>
          <a:xfrm>
            <a:off x="548640" y="3081600"/>
            <a:ext cx="5301000" cy="1003320"/>
          </a:xfrm>
          <a:prstGeom prst="roundRect">
            <a:avLst>
              <a:gd name="adj" fmla="val 9091"/>
            </a:avLst>
          </a:prstGeom>
          <a:solidFill>
            <a:srgbClr val="dde7f3"/>
          </a:solidFill>
          <a:ln w="9360">
            <a:solidFill>
              <a:srgbClr val="0b2545"/>
            </a:solidFill>
            <a:round/>
          </a:ln>
        </p:spPr>
        <p:style>
          <a:lnRef idx="0"/>
          <a:fillRef idx="0"/>
          <a:effectRef idx="0"/>
          <a:fontRef idx="minor"/>
        </p:style>
      </p:sp>
      <p:sp>
        <p:nvSpPr>
          <p:cNvPr id="213" name="CustomShape 15"/>
          <p:cNvSpPr/>
          <p:nvPr/>
        </p:nvSpPr>
        <p:spPr>
          <a:xfrm>
            <a:off x="685800" y="3136320"/>
            <a:ext cx="5026680" cy="2350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100" spc="-1" strike="noStrike">
                <a:solidFill>
                  <a:srgbClr val="0b2545"/>
                </a:solidFill>
                <a:latin typeface="Calibri"/>
                <a:ea typeface="Calibri"/>
              </a:rPr>
              <a:t>RELATIONAL ENGINE (Query Processor)</a:t>
            </a:r>
            <a:endParaRPr b="0" lang="es-ES" sz="1100" spc="-1" strike="noStrike">
              <a:latin typeface="Arial"/>
            </a:endParaRPr>
          </a:p>
        </p:txBody>
      </p:sp>
      <p:sp>
        <p:nvSpPr>
          <p:cNvPr id="214" name="CustomShape 16"/>
          <p:cNvSpPr/>
          <p:nvPr/>
        </p:nvSpPr>
        <p:spPr>
          <a:xfrm>
            <a:off x="685800" y="3410640"/>
            <a:ext cx="1172520" cy="582840"/>
          </a:xfrm>
          <a:prstGeom prst="roundRect">
            <a:avLst>
              <a:gd name="adj" fmla="val 12500"/>
            </a:avLst>
          </a:prstGeom>
          <a:solidFill>
            <a:srgbClr val="0b2545"/>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200" spc="-1" strike="noStrike">
                <a:solidFill>
                  <a:srgbClr val="ffffff"/>
                </a:solidFill>
                <a:latin typeface="Calibri"/>
                <a:ea typeface="Calibri"/>
              </a:rPr>
              <a:t>Parser</a:t>
            </a:r>
            <a:endParaRPr b="0" lang="es-ES" sz="1200" spc="-1" strike="noStrike">
              <a:latin typeface="Arial"/>
            </a:endParaRPr>
          </a:p>
        </p:txBody>
      </p:sp>
      <p:sp>
        <p:nvSpPr>
          <p:cNvPr id="215" name="CustomShape 17"/>
          <p:cNvSpPr/>
          <p:nvPr/>
        </p:nvSpPr>
        <p:spPr>
          <a:xfrm>
            <a:off x="1970640" y="3410640"/>
            <a:ext cx="1172520" cy="582840"/>
          </a:xfrm>
          <a:prstGeom prst="roundRect">
            <a:avLst>
              <a:gd name="adj" fmla="val 12500"/>
            </a:avLst>
          </a:prstGeom>
          <a:solidFill>
            <a:srgbClr val="0b2545"/>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200" spc="-1" strike="noStrike">
                <a:solidFill>
                  <a:srgbClr val="ffffff"/>
                </a:solidFill>
                <a:latin typeface="Calibri"/>
                <a:ea typeface="Calibri"/>
              </a:rPr>
              <a:t>Algebrizer</a:t>
            </a:r>
            <a:endParaRPr b="0" lang="es-ES" sz="1200" spc="-1" strike="noStrike">
              <a:latin typeface="Arial"/>
            </a:endParaRPr>
          </a:p>
        </p:txBody>
      </p:sp>
      <p:sp>
        <p:nvSpPr>
          <p:cNvPr id="216" name="CustomShape 18"/>
          <p:cNvSpPr/>
          <p:nvPr/>
        </p:nvSpPr>
        <p:spPr>
          <a:xfrm>
            <a:off x="3255120" y="3410640"/>
            <a:ext cx="1172520" cy="582840"/>
          </a:xfrm>
          <a:prstGeom prst="roundRect">
            <a:avLst>
              <a:gd name="adj" fmla="val 12500"/>
            </a:avLst>
          </a:prstGeom>
          <a:solidFill>
            <a:srgbClr val="0b2545"/>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200" spc="-1" strike="noStrike">
                <a:solidFill>
                  <a:srgbClr val="ffffff"/>
                </a:solidFill>
                <a:latin typeface="Calibri"/>
                <a:ea typeface="Calibri"/>
              </a:rPr>
              <a:t>Optimizer</a:t>
            </a:r>
            <a:endParaRPr b="0" lang="es-ES" sz="1200" spc="-1" strike="noStrike">
              <a:latin typeface="Arial"/>
            </a:endParaRPr>
          </a:p>
        </p:txBody>
      </p:sp>
      <p:sp>
        <p:nvSpPr>
          <p:cNvPr id="217" name="CustomShape 19"/>
          <p:cNvSpPr/>
          <p:nvPr/>
        </p:nvSpPr>
        <p:spPr>
          <a:xfrm>
            <a:off x="4539960" y="3410640"/>
            <a:ext cx="1172520" cy="582840"/>
          </a:xfrm>
          <a:prstGeom prst="roundRect">
            <a:avLst>
              <a:gd name="adj" fmla="val 12500"/>
            </a:avLst>
          </a:prstGeom>
          <a:solidFill>
            <a:srgbClr val="0b2545"/>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200" spc="-1" strike="noStrike">
                <a:solidFill>
                  <a:srgbClr val="ffffff"/>
                </a:solidFill>
                <a:latin typeface="Calibri"/>
                <a:ea typeface="Calibri"/>
              </a:rPr>
              <a:t>Query Executor</a:t>
            </a:r>
            <a:endParaRPr b="0" lang="es-ES" sz="1200" spc="-1" strike="noStrike">
              <a:latin typeface="Arial"/>
            </a:endParaRPr>
          </a:p>
        </p:txBody>
      </p:sp>
      <p:sp>
        <p:nvSpPr>
          <p:cNvPr id="218" name="Line 20"/>
          <p:cNvSpPr/>
          <p:nvPr/>
        </p:nvSpPr>
        <p:spPr>
          <a:xfrm>
            <a:off x="3200400" y="4087080"/>
            <a:ext cx="0" cy="146520"/>
          </a:xfrm>
          <a:prstGeom prst="line">
            <a:avLst/>
          </a:prstGeom>
          <a:ln w="25560">
            <a:solidFill>
              <a:srgbClr val="d95d39"/>
            </a:solidFill>
            <a:round/>
            <a:tailEnd len="med" type="triangle" w="med"/>
          </a:ln>
        </p:spPr>
        <p:style>
          <a:lnRef idx="0"/>
          <a:fillRef idx="0"/>
          <a:effectRef idx="0"/>
          <a:fontRef idx="minor"/>
        </p:style>
      </p:sp>
      <p:sp>
        <p:nvSpPr>
          <p:cNvPr id="219" name="CustomShape 21"/>
          <p:cNvSpPr/>
          <p:nvPr/>
        </p:nvSpPr>
        <p:spPr>
          <a:xfrm>
            <a:off x="548640" y="4233600"/>
            <a:ext cx="5301000" cy="1003320"/>
          </a:xfrm>
          <a:prstGeom prst="roundRect">
            <a:avLst>
              <a:gd name="adj" fmla="val 9091"/>
            </a:avLst>
          </a:prstGeom>
          <a:solidFill>
            <a:srgbClr val="dde7f3"/>
          </a:solidFill>
          <a:ln w="9360">
            <a:solidFill>
              <a:srgbClr val="0b2545"/>
            </a:solidFill>
            <a:round/>
          </a:ln>
        </p:spPr>
        <p:style>
          <a:lnRef idx="0"/>
          <a:fillRef idx="0"/>
          <a:effectRef idx="0"/>
          <a:fontRef idx="minor"/>
        </p:style>
      </p:sp>
      <p:sp>
        <p:nvSpPr>
          <p:cNvPr id="220" name="CustomShape 22"/>
          <p:cNvSpPr/>
          <p:nvPr/>
        </p:nvSpPr>
        <p:spPr>
          <a:xfrm>
            <a:off x="685800" y="4288680"/>
            <a:ext cx="5026680" cy="2350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100" spc="-1" strike="noStrike">
                <a:solidFill>
                  <a:srgbClr val="0b2545"/>
                </a:solidFill>
                <a:latin typeface="Calibri"/>
                <a:ea typeface="Calibri"/>
              </a:rPr>
              <a:t>STORAGE ENGINE</a:t>
            </a:r>
            <a:endParaRPr b="0" lang="es-ES" sz="1100" spc="-1" strike="noStrike">
              <a:latin typeface="Arial"/>
            </a:endParaRPr>
          </a:p>
        </p:txBody>
      </p:sp>
      <p:sp>
        <p:nvSpPr>
          <p:cNvPr id="221" name="CustomShape 23"/>
          <p:cNvSpPr/>
          <p:nvPr/>
        </p:nvSpPr>
        <p:spPr>
          <a:xfrm>
            <a:off x="685800" y="4563000"/>
            <a:ext cx="1600560" cy="582840"/>
          </a:xfrm>
          <a:prstGeom prst="roundRect">
            <a:avLst>
              <a:gd name="adj" fmla="val 12500"/>
            </a:avLst>
          </a:prstGeom>
          <a:solidFill>
            <a:srgbClr val="134074"/>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200" spc="-1" strike="noStrike">
                <a:solidFill>
                  <a:srgbClr val="ffffff"/>
                </a:solidFill>
                <a:latin typeface="Calibri"/>
                <a:ea typeface="Calibri"/>
              </a:rPr>
              <a:t>Access Methods</a:t>
            </a:r>
            <a:endParaRPr b="0" lang="es-ES" sz="1200" spc="-1" strike="noStrike">
              <a:latin typeface="Arial"/>
            </a:endParaRPr>
          </a:p>
        </p:txBody>
      </p:sp>
      <p:sp>
        <p:nvSpPr>
          <p:cNvPr id="222" name="CustomShape 24"/>
          <p:cNvSpPr/>
          <p:nvPr/>
        </p:nvSpPr>
        <p:spPr>
          <a:xfrm>
            <a:off x="2398680" y="4563000"/>
            <a:ext cx="1600560" cy="582840"/>
          </a:xfrm>
          <a:prstGeom prst="roundRect">
            <a:avLst>
              <a:gd name="adj" fmla="val 12500"/>
            </a:avLst>
          </a:prstGeom>
          <a:solidFill>
            <a:srgbClr val="134074"/>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200" spc="-1" strike="noStrike">
                <a:solidFill>
                  <a:srgbClr val="ffffff"/>
                </a:solidFill>
                <a:latin typeface="Calibri"/>
                <a:ea typeface="Calibri"/>
              </a:rPr>
              <a:t>Buffer Manager</a:t>
            </a:r>
            <a:endParaRPr b="0" lang="es-ES" sz="1200" spc="-1" strike="noStrike">
              <a:latin typeface="Arial"/>
            </a:endParaRPr>
          </a:p>
          <a:p>
            <a:pPr algn="ctr">
              <a:lnSpc>
                <a:spcPct val="100000"/>
              </a:lnSpc>
              <a:tabLst>
                <a:tab algn="l" pos="0"/>
              </a:tabLst>
            </a:pPr>
            <a:r>
              <a:rPr b="1" lang="en-US" sz="1200" spc="-1" strike="noStrike">
                <a:solidFill>
                  <a:srgbClr val="ffffff"/>
                </a:solidFill>
                <a:latin typeface="Calibri"/>
                <a:ea typeface="Calibri"/>
              </a:rPr>
              <a:t>(Buffer Pool)</a:t>
            </a:r>
            <a:endParaRPr b="0" lang="es-ES" sz="1200" spc="-1" strike="noStrike">
              <a:latin typeface="Arial"/>
            </a:endParaRPr>
          </a:p>
        </p:txBody>
      </p:sp>
      <p:sp>
        <p:nvSpPr>
          <p:cNvPr id="223" name="CustomShape 25"/>
          <p:cNvSpPr/>
          <p:nvPr/>
        </p:nvSpPr>
        <p:spPr>
          <a:xfrm>
            <a:off x="4111920" y="4563000"/>
            <a:ext cx="1600560" cy="582840"/>
          </a:xfrm>
          <a:prstGeom prst="roundRect">
            <a:avLst>
              <a:gd name="adj" fmla="val 12500"/>
            </a:avLst>
          </a:prstGeom>
          <a:solidFill>
            <a:srgbClr val="134074"/>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200" spc="-1" strike="noStrike">
                <a:solidFill>
                  <a:srgbClr val="ffffff"/>
                </a:solidFill>
                <a:latin typeface="Calibri"/>
                <a:ea typeface="Calibri"/>
              </a:rPr>
              <a:t>Transaction Manager</a:t>
            </a:r>
            <a:endParaRPr b="0" lang="es-ES" sz="1200" spc="-1" strike="noStrike">
              <a:latin typeface="Arial"/>
            </a:endParaRPr>
          </a:p>
        </p:txBody>
      </p:sp>
      <p:sp>
        <p:nvSpPr>
          <p:cNvPr id="224" name="CustomShape 26"/>
          <p:cNvSpPr/>
          <p:nvPr/>
        </p:nvSpPr>
        <p:spPr>
          <a:xfrm>
            <a:off x="548640" y="5385960"/>
            <a:ext cx="5301000" cy="774720"/>
          </a:xfrm>
          <a:prstGeom prst="roundRect">
            <a:avLst>
              <a:gd name="adj" fmla="val 11765"/>
            </a:avLst>
          </a:prstGeom>
          <a:solidFill>
            <a:srgbClr val="e8eef5"/>
          </a:solidFill>
          <a:ln w="9360">
            <a:solidFill>
              <a:srgbClr val="5c6b7a"/>
            </a:solidFill>
            <a:round/>
          </a:ln>
        </p:spPr>
        <p:style>
          <a:lnRef idx="0"/>
          <a:fillRef idx="0"/>
          <a:effectRef idx="0"/>
          <a:fontRef idx="minor"/>
        </p:style>
      </p:sp>
      <p:sp>
        <p:nvSpPr>
          <p:cNvPr id="225" name="CustomShape 27"/>
          <p:cNvSpPr/>
          <p:nvPr/>
        </p:nvSpPr>
        <p:spPr>
          <a:xfrm>
            <a:off x="685800" y="5440680"/>
            <a:ext cx="5026680" cy="2350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100" spc="-1" strike="noStrike">
                <a:solidFill>
                  <a:srgbClr val="5c6b7a"/>
                </a:solidFill>
                <a:latin typeface="Calibri"/>
                <a:ea typeface="Calibri"/>
              </a:rPr>
              <a:t>SQLOS · servicios del sistema operativo</a:t>
            </a:r>
            <a:endParaRPr b="0" lang="es-ES" sz="1100" spc="-1" strike="noStrike">
              <a:latin typeface="Arial"/>
            </a:endParaRPr>
          </a:p>
        </p:txBody>
      </p:sp>
      <p:sp>
        <p:nvSpPr>
          <p:cNvPr id="226" name="CustomShape 28"/>
          <p:cNvSpPr/>
          <p:nvPr/>
        </p:nvSpPr>
        <p:spPr>
          <a:xfrm>
            <a:off x="685800" y="5715000"/>
            <a:ext cx="1172520" cy="354240"/>
          </a:xfrm>
          <a:prstGeom prst="roundRect">
            <a:avLst>
              <a:gd name="adj" fmla="val 20513"/>
            </a:avLst>
          </a:prstGeom>
          <a:solidFill>
            <a:srgbClr val="5c6b7a"/>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200" spc="-1" strike="noStrike">
                <a:solidFill>
                  <a:srgbClr val="ffffff"/>
                </a:solidFill>
                <a:latin typeface="Calibri"/>
                <a:ea typeface="Calibri"/>
              </a:rPr>
              <a:t>Schedulers</a:t>
            </a:r>
            <a:endParaRPr b="0" lang="es-ES" sz="1200" spc="-1" strike="noStrike">
              <a:latin typeface="Arial"/>
            </a:endParaRPr>
          </a:p>
        </p:txBody>
      </p:sp>
      <p:sp>
        <p:nvSpPr>
          <p:cNvPr id="227" name="CustomShape 29"/>
          <p:cNvSpPr/>
          <p:nvPr/>
        </p:nvSpPr>
        <p:spPr>
          <a:xfrm>
            <a:off x="1970640" y="5715000"/>
            <a:ext cx="1172520" cy="354240"/>
          </a:xfrm>
          <a:prstGeom prst="roundRect">
            <a:avLst>
              <a:gd name="adj" fmla="val 20513"/>
            </a:avLst>
          </a:prstGeom>
          <a:solidFill>
            <a:srgbClr val="5c6b7a"/>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200" spc="-1" strike="noStrike">
                <a:solidFill>
                  <a:srgbClr val="ffffff"/>
                </a:solidFill>
                <a:latin typeface="Calibri"/>
                <a:ea typeface="Calibri"/>
              </a:rPr>
              <a:t>Memory Manager</a:t>
            </a:r>
            <a:endParaRPr b="0" lang="es-ES" sz="1200" spc="-1" strike="noStrike">
              <a:latin typeface="Arial"/>
            </a:endParaRPr>
          </a:p>
        </p:txBody>
      </p:sp>
      <p:sp>
        <p:nvSpPr>
          <p:cNvPr id="228" name="CustomShape 30"/>
          <p:cNvSpPr/>
          <p:nvPr/>
        </p:nvSpPr>
        <p:spPr>
          <a:xfrm>
            <a:off x="3255120" y="5715000"/>
            <a:ext cx="1172520" cy="354240"/>
          </a:xfrm>
          <a:prstGeom prst="roundRect">
            <a:avLst>
              <a:gd name="adj" fmla="val 20513"/>
            </a:avLst>
          </a:prstGeom>
          <a:solidFill>
            <a:srgbClr val="5c6b7a"/>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200" spc="-1" strike="noStrike">
                <a:solidFill>
                  <a:srgbClr val="ffffff"/>
                </a:solidFill>
                <a:latin typeface="Calibri"/>
                <a:ea typeface="Calibri"/>
              </a:rPr>
              <a:t>I/O</a:t>
            </a:r>
            <a:endParaRPr b="0" lang="es-ES" sz="1200" spc="-1" strike="noStrike">
              <a:latin typeface="Arial"/>
            </a:endParaRPr>
          </a:p>
        </p:txBody>
      </p:sp>
      <p:sp>
        <p:nvSpPr>
          <p:cNvPr id="229" name="CustomShape 31"/>
          <p:cNvSpPr/>
          <p:nvPr/>
        </p:nvSpPr>
        <p:spPr>
          <a:xfrm>
            <a:off x="4539960" y="5715000"/>
            <a:ext cx="1172520" cy="354240"/>
          </a:xfrm>
          <a:prstGeom prst="roundRect">
            <a:avLst>
              <a:gd name="adj" fmla="val 20513"/>
            </a:avLst>
          </a:prstGeom>
          <a:solidFill>
            <a:srgbClr val="5c6b7a"/>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200" spc="-1" strike="noStrike">
                <a:solidFill>
                  <a:srgbClr val="ffffff"/>
                </a:solidFill>
                <a:latin typeface="Calibri"/>
                <a:ea typeface="Calibri"/>
              </a:rPr>
              <a:t>Locks</a:t>
            </a:r>
            <a:endParaRPr b="0" lang="es-ES" sz="1200" spc="-1" strike="noStrike">
              <a:latin typeface="Arial"/>
            </a:endParaRPr>
          </a:p>
        </p:txBody>
      </p:sp>
      <p:sp>
        <p:nvSpPr>
          <p:cNvPr id="230" name="Line 32"/>
          <p:cNvSpPr/>
          <p:nvPr/>
        </p:nvSpPr>
        <p:spPr>
          <a:xfrm>
            <a:off x="5852160" y="4736520"/>
            <a:ext cx="594360" cy="0"/>
          </a:xfrm>
          <a:prstGeom prst="line">
            <a:avLst/>
          </a:prstGeom>
          <a:ln w="25560">
            <a:solidFill>
              <a:srgbClr val="d95d39"/>
            </a:solidFill>
            <a:round/>
            <a:headEnd len="med" type="triangle" w="med"/>
            <a:tailEnd len="med" type="triangle" w="med"/>
          </a:ln>
        </p:spPr>
        <p:style>
          <a:lnRef idx="0"/>
          <a:fillRef idx="0"/>
          <a:effectRef idx="0"/>
          <a:fontRef idx="minor"/>
        </p:style>
      </p:sp>
      <p:sp>
        <p:nvSpPr>
          <p:cNvPr id="231" name="CustomShape 33"/>
          <p:cNvSpPr/>
          <p:nvPr/>
        </p:nvSpPr>
        <p:spPr>
          <a:xfrm>
            <a:off x="6492240" y="3730680"/>
            <a:ext cx="1094760" cy="22608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1" lang="en-US" sz="1200" spc="-1" strike="noStrike">
                <a:solidFill>
                  <a:srgbClr val="0b2545"/>
                </a:solidFill>
                <a:latin typeface="Calibri"/>
                <a:ea typeface="Calibri"/>
              </a:rPr>
              <a:t>Disco</a:t>
            </a:r>
            <a:endParaRPr b="0" lang="es-ES" sz="1200" spc="-1" strike="noStrike">
              <a:latin typeface="Arial"/>
            </a:endParaRPr>
          </a:p>
        </p:txBody>
      </p:sp>
      <p:sp>
        <p:nvSpPr>
          <p:cNvPr id="232" name="CustomShape 34"/>
          <p:cNvSpPr/>
          <p:nvPr/>
        </p:nvSpPr>
        <p:spPr>
          <a:xfrm>
            <a:off x="6583680" y="4005000"/>
            <a:ext cx="911880" cy="866160"/>
          </a:xfrm>
          <a:prstGeom prst="can">
            <a:avLst>
              <a:gd name="adj" fmla="val 25000"/>
            </a:avLst>
          </a:prstGeom>
          <a:solidFill>
            <a:srgbClr val="134074"/>
          </a:solidFill>
          <a:ln>
            <a:noFill/>
          </a:ln>
        </p:spPr>
        <p:style>
          <a:lnRef idx="0"/>
          <a:fillRef idx="0"/>
          <a:effectRef idx="0"/>
          <a:fontRef idx="minor"/>
        </p:style>
      </p:sp>
      <p:sp>
        <p:nvSpPr>
          <p:cNvPr id="233" name="CustomShape 35"/>
          <p:cNvSpPr/>
          <p:nvPr/>
        </p:nvSpPr>
        <p:spPr>
          <a:xfrm>
            <a:off x="6492240" y="4233600"/>
            <a:ext cx="1094760" cy="5461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200" spc="-1" strike="noStrike">
                <a:solidFill>
                  <a:srgbClr val="ffffff"/>
                </a:solidFill>
                <a:latin typeface="Calibri"/>
                <a:ea typeface="Calibri"/>
              </a:rPr>
              <a:t>.mdf</a:t>
            </a:r>
            <a:endParaRPr b="0" lang="es-ES" sz="1200" spc="-1" strike="noStrike">
              <a:latin typeface="Arial"/>
            </a:endParaRPr>
          </a:p>
          <a:p>
            <a:pPr algn="ctr">
              <a:lnSpc>
                <a:spcPct val="100000"/>
              </a:lnSpc>
              <a:tabLst>
                <a:tab algn="l" pos="0"/>
              </a:tabLst>
            </a:pPr>
            <a:r>
              <a:rPr b="1" lang="en-US" sz="1200" spc="-1" strike="noStrike">
                <a:solidFill>
                  <a:srgbClr val="ffffff"/>
                </a:solidFill>
                <a:latin typeface="Calibri"/>
                <a:ea typeface="Calibri"/>
              </a:rPr>
              <a:t>.ndf</a:t>
            </a:r>
            <a:endParaRPr b="0" lang="es-ES" sz="1200" spc="-1" strike="noStrike">
              <a:latin typeface="Arial"/>
            </a:endParaRPr>
          </a:p>
          <a:p>
            <a:pPr algn="ctr">
              <a:lnSpc>
                <a:spcPct val="100000"/>
              </a:lnSpc>
              <a:tabLst>
                <a:tab algn="l" pos="0"/>
              </a:tabLst>
            </a:pPr>
            <a:r>
              <a:rPr b="1" lang="en-US" sz="1200" spc="-1" strike="noStrike">
                <a:solidFill>
                  <a:srgbClr val="ffffff"/>
                </a:solidFill>
                <a:latin typeface="Calibri"/>
                <a:ea typeface="Calibri"/>
              </a:rPr>
              <a:t>(datos)</a:t>
            </a:r>
            <a:endParaRPr b="0" lang="es-ES" sz="1200" spc="-1" strike="noStrike">
              <a:latin typeface="Arial"/>
            </a:endParaRPr>
          </a:p>
        </p:txBody>
      </p:sp>
      <p:sp>
        <p:nvSpPr>
          <p:cNvPr id="234" name="CustomShape 36"/>
          <p:cNvSpPr/>
          <p:nvPr/>
        </p:nvSpPr>
        <p:spPr>
          <a:xfrm>
            <a:off x="6583680" y="5010840"/>
            <a:ext cx="911880" cy="866160"/>
          </a:xfrm>
          <a:prstGeom prst="can">
            <a:avLst>
              <a:gd name="adj" fmla="val 25000"/>
            </a:avLst>
          </a:prstGeom>
          <a:solidFill>
            <a:srgbClr val="d95d39"/>
          </a:solidFill>
          <a:ln>
            <a:noFill/>
          </a:ln>
        </p:spPr>
        <p:style>
          <a:lnRef idx="0"/>
          <a:fillRef idx="0"/>
          <a:effectRef idx="0"/>
          <a:fontRef idx="minor"/>
        </p:style>
      </p:sp>
      <p:sp>
        <p:nvSpPr>
          <p:cNvPr id="235" name="CustomShape 37"/>
          <p:cNvSpPr/>
          <p:nvPr/>
        </p:nvSpPr>
        <p:spPr>
          <a:xfrm>
            <a:off x="6492240" y="5239440"/>
            <a:ext cx="1094760" cy="5461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200" spc="-1" strike="noStrike">
                <a:solidFill>
                  <a:srgbClr val="ffffff"/>
                </a:solidFill>
                <a:latin typeface="Calibri"/>
                <a:ea typeface="Calibri"/>
              </a:rPr>
              <a:t>.ldf</a:t>
            </a:r>
            <a:endParaRPr b="0" lang="es-ES" sz="1200" spc="-1" strike="noStrike">
              <a:latin typeface="Arial"/>
            </a:endParaRPr>
          </a:p>
          <a:p>
            <a:pPr algn="ctr">
              <a:lnSpc>
                <a:spcPct val="100000"/>
              </a:lnSpc>
              <a:tabLst>
                <a:tab algn="l" pos="0"/>
              </a:tabLst>
            </a:pPr>
            <a:r>
              <a:rPr b="1" lang="en-US" sz="1200" spc="-1" strike="noStrike">
                <a:solidFill>
                  <a:srgbClr val="ffffff"/>
                </a:solidFill>
                <a:latin typeface="Calibri"/>
                <a:ea typeface="Calibri"/>
              </a:rPr>
              <a:t>(log WAL)</a:t>
            </a:r>
            <a:endParaRPr b="0" lang="es-ES" sz="1200" spc="-1" strike="noStrike">
              <a:latin typeface="Arial"/>
            </a:endParaRPr>
          </a:p>
        </p:txBody>
      </p:sp>
      <p:sp>
        <p:nvSpPr>
          <p:cNvPr id="236" name="CustomShape 38"/>
          <p:cNvSpPr/>
          <p:nvPr/>
        </p:nvSpPr>
        <p:spPr>
          <a:xfrm>
            <a:off x="7955280" y="1600200"/>
            <a:ext cx="3682440" cy="2192040"/>
          </a:xfrm>
          <a:prstGeom prst="roundRect">
            <a:avLst>
              <a:gd name="adj" fmla="val 5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237" name="CustomShape 39"/>
          <p:cNvSpPr/>
          <p:nvPr/>
        </p:nvSpPr>
        <p:spPr>
          <a:xfrm>
            <a:off x="8183880" y="1828800"/>
            <a:ext cx="546120" cy="546120"/>
          </a:xfrm>
          <a:prstGeom prst="ellipse">
            <a:avLst/>
          </a:prstGeom>
          <a:solidFill>
            <a:srgbClr val="134074"/>
          </a:solidFill>
          <a:ln>
            <a:noFill/>
          </a:ln>
        </p:spPr>
        <p:style>
          <a:lnRef idx="0"/>
          <a:fillRef idx="0"/>
          <a:effectRef idx="0"/>
          <a:fontRef idx="minor"/>
        </p:style>
      </p:sp>
      <p:pic>
        <p:nvPicPr>
          <p:cNvPr id="238" name="Image 0" descr="preencoded.png"/>
          <p:cNvPicPr/>
          <p:nvPr/>
        </p:nvPicPr>
        <p:blipFill>
          <a:blip r:embed="rId1"/>
          <a:stretch/>
        </p:blipFill>
        <p:spPr>
          <a:xfrm>
            <a:off x="8321040" y="1965960"/>
            <a:ext cx="271800" cy="271800"/>
          </a:xfrm>
          <a:prstGeom prst="rect">
            <a:avLst/>
          </a:prstGeom>
          <a:ln>
            <a:noFill/>
          </a:ln>
        </p:spPr>
      </p:pic>
      <p:sp>
        <p:nvSpPr>
          <p:cNvPr id="239" name="CustomShape 40"/>
          <p:cNvSpPr/>
          <p:nvPr/>
        </p:nvSpPr>
        <p:spPr>
          <a:xfrm>
            <a:off x="8869680" y="1828800"/>
            <a:ext cx="253944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Relational Engine</a:t>
            </a:r>
            <a:endParaRPr b="0" lang="es-ES" sz="1700" spc="-1" strike="noStrike">
              <a:latin typeface="Arial"/>
            </a:endParaRPr>
          </a:p>
        </p:txBody>
      </p:sp>
      <p:sp>
        <p:nvSpPr>
          <p:cNvPr id="240" name="CustomShape 41"/>
          <p:cNvSpPr/>
          <p:nvPr/>
        </p:nvSpPr>
        <p:spPr>
          <a:xfrm>
            <a:off x="8183880" y="2560320"/>
            <a:ext cx="3225240" cy="100332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Decide el cómo (plan)</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Parser → Algebrizer → Optimizer</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Cost-based con estadísticas</a:t>
            </a:r>
            <a:endParaRPr b="0" lang="es-ES" sz="1400" spc="-1" strike="noStrike">
              <a:latin typeface="Arial"/>
            </a:endParaRPr>
          </a:p>
        </p:txBody>
      </p:sp>
      <p:sp>
        <p:nvSpPr>
          <p:cNvPr id="241" name="CustomShape 42"/>
          <p:cNvSpPr/>
          <p:nvPr/>
        </p:nvSpPr>
        <p:spPr>
          <a:xfrm>
            <a:off x="7955280" y="3977640"/>
            <a:ext cx="3682440" cy="2192040"/>
          </a:xfrm>
          <a:prstGeom prst="roundRect">
            <a:avLst>
              <a:gd name="adj" fmla="val 5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242" name="CustomShape 43"/>
          <p:cNvSpPr/>
          <p:nvPr/>
        </p:nvSpPr>
        <p:spPr>
          <a:xfrm>
            <a:off x="8183880" y="4206240"/>
            <a:ext cx="546120" cy="546120"/>
          </a:xfrm>
          <a:prstGeom prst="ellipse">
            <a:avLst/>
          </a:prstGeom>
          <a:solidFill>
            <a:srgbClr val="134074"/>
          </a:solidFill>
          <a:ln>
            <a:noFill/>
          </a:ln>
        </p:spPr>
        <p:style>
          <a:lnRef idx="0"/>
          <a:fillRef idx="0"/>
          <a:effectRef idx="0"/>
          <a:fontRef idx="minor"/>
        </p:style>
      </p:sp>
      <p:pic>
        <p:nvPicPr>
          <p:cNvPr id="243" name="Image 1" descr="preencoded.png"/>
          <p:cNvPicPr/>
          <p:nvPr/>
        </p:nvPicPr>
        <p:blipFill>
          <a:blip r:embed="rId2"/>
          <a:stretch/>
        </p:blipFill>
        <p:spPr>
          <a:xfrm>
            <a:off x="8321040" y="4343400"/>
            <a:ext cx="271800" cy="271800"/>
          </a:xfrm>
          <a:prstGeom prst="rect">
            <a:avLst/>
          </a:prstGeom>
          <a:ln>
            <a:noFill/>
          </a:ln>
        </p:spPr>
      </p:pic>
      <p:sp>
        <p:nvSpPr>
          <p:cNvPr id="244" name="CustomShape 44"/>
          <p:cNvSpPr/>
          <p:nvPr/>
        </p:nvSpPr>
        <p:spPr>
          <a:xfrm>
            <a:off x="8869680" y="4206240"/>
            <a:ext cx="253944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Storage Engine</a:t>
            </a:r>
            <a:endParaRPr b="0" lang="es-ES" sz="1700" spc="-1" strike="noStrike">
              <a:latin typeface="Arial"/>
            </a:endParaRPr>
          </a:p>
        </p:txBody>
      </p:sp>
      <p:sp>
        <p:nvSpPr>
          <p:cNvPr id="245" name="CustomShape 45"/>
          <p:cNvSpPr/>
          <p:nvPr/>
        </p:nvSpPr>
        <p:spPr>
          <a:xfrm>
            <a:off x="8183880" y="4937760"/>
            <a:ext cx="3225240" cy="100332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Ejecuta el acceso a los datos</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Buffer Pool y Access Methods</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Log, bloqueos y transacciones</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246" name="CustomShape 1"/>
          <p:cNvSpPr/>
          <p:nvPr/>
        </p:nvSpPr>
        <p:spPr>
          <a:xfrm>
            <a:off x="548640" y="365760"/>
            <a:ext cx="149724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ARQUITECTURA</a:t>
            </a:r>
            <a:endParaRPr b="0" lang="es-ES" sz="1000" spc="-1" strike="noStrike">
              <a:latin typeface="Arial"/>
            </a:endParaRPr>
          </a:p>
        </p:txBody>
      </p:sp>
      <p:sp>
        <p:nvSpPr>
          <p:cNvPr id="247"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Ciclo de vida de una consulta</a:t>
            </a:r>
            <a:endParaRPr b="0" lang="es-ES" sz="3400" spc="-1" strike="noStrike">
              <a:latin typeface="Arial"/>
            </a:endParaRPr>
          </a:p>
        </p:txBody>
      </p:sp>
      <p:sp>
        <p:nvSpPr>
          <p:cNvPr id="248"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249"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1   8</a:t>
            </a:r>
            <a:endParaRPr b="0" lang="es-ES" sz="1000" spc="-1" strike="noStrike">
              <a:latin typeface="Arial"/>
            </a:endParaRPr>
          </a:p>
        </p:txBody>
      </p:sp>
      <p:sp>
        <p:nvSpPr>
          <p:cNvPr id="250" name="CustomShape 5"/>
          <p:cNvSpPr/>
          <p:nvPr/>
        </p:nvSpPr>
        <p:spPr>
          <a:xfrm>
            <a:off x="548640" y="1600200"/>
            <a:ext cx="1960200" cy="3106440"/>
          </a:xfrm>
          <a:prstGeom prst="roundRect">
            <a:avLst>
              <a:gd name="adj" fmla="val 559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251" name="CustomShape 6"/>
          <p:cNvSpPr/>
          <p:nvPr/>
        </p:nvSpPr>
        <p:spPr>
          <a:xfrm>
            <a:off x="777240" y="1828800"/>
            <a:ext cx="500400" cy="500400"/>
          </a:xfrm>
          <a:prstGeom prst="ellipse">
            <a:avLst/>
          </a:prstGeom>
          <a:solidFill>
            <a:srgbClr val="134074"/>
          </a:solidFill>
          <a:ln>
            <a:noFill/>
          </a:ln>
        </p:spPr>
        <p:style>
          <a:lnRef idx="0"/>
          <a:fillRef idx="0"/>
          <a:effectRef idx="0"/>
          <a:fontRef idx="minor"/>
        </p:style>
      </p:sp>
      <p:sp>
        <p:nvSpPr>
          <p:cNvPr id="252" name="CustomShape 7"/>
          <p:cNvSpPr/>
          <p:nvPr/>
        </p:nvSpPr>
        <p:spPr>
          <a:xfrm>
            <a:off x="77724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1</a:t>
            </a:r>
            <a:endParaRPr b="0" lang="es-ES" sz="1800" spc="-1" strike="noStrike">
              <a:latin typeface="Arial"/>
            </a:endParaRPr>
          </a:p>
        </p:txBody>
      </p:sp>
      <p:sp>
        <p:nvSpPr>
          <p:cNvPr id="253" name="CustomShape 8"/>
          <p:cNvSpPr/>
          <p:nvPr/>
        </p:nvSpPr>
        <p:spPr>
          <a:xfrm>
            <a:off x="777240" y="2468880"/>
            <a:ext cx="150300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Parse + Algebrize</a:t>
            </a:r>
            <a:endParaRPr b="0" lang="es-ES" sz="1600" spc="-1" strike="noStrike">
              <a:latin typeface="Arial"/>
            </a:endParaRPr>
          </a:p>
        </p:txBody>
      </p:sp>
      <p:sp>
        <p:nvSpPr>
          <p:cNvPr id="254" name="CustomShape 9"/>
          <p:cNvSpPr/>
          <p:nvPr/>
        </p:nvSpPr>
        <p:spPr>
          <a:xfrm>
            <a:off x="777240" y="3154680"/>
            <a:ext cx="1503000" cy="14605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Sintaxis, resolución de objetos y permisos.</a:t>
            </a:r>
            <a:endParaRPr b="0" lang="es-ES" sz="1400" spc="-1" strike="noStrike">
              <a:latin typeface="Arial"/>
            </a:endParaRPr>
          </a:p>
        </p:txBody>
      </p:sp>
      <p:sp>
        <p:nvSpPr>
          <p:cNvPr id="255" name="CustomShape 10"/>
          <p:cNvSpPr/>
          <p:nvPr/>
        </p:nvSpPr>
        <p:spPr>
          <a:xfrm>
            <a:off x="2548080" y="1947600"/>
            <a:ext cx="24444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256" name="CustomShape 11"/>
          <p:cNvSpPr/>
          <p:nvPr/>
        </p:nvSpPr>
        <p:spPr>
          <a:xfrm>
            <a:off x="2831400" y="1600200"/>
            <a:ext cx="1960200" cy="3106440"/>
          </a:xfrm>
          <a:prstGeom prst="roundRect">
            <a:avLst>
              <a:gd name="adj" fmla="val 559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257" name="CustomShape 12"/>
          <p:cNvSpPr/>
          <p:nvPr/>
        </p:nvSpPr>
        <p:spPr>
          <a:xfrm>
            <a:off x="3060000" y="1828800"/>
            <a:ext cx="500400" cy="500400"/>
          </a:xfrm>
          <a:prstGeom prst="ellipse">
            <a:avLst/>
          </a:prstGeom>
          <a:solidFill>
            <a:srgbClr val="134074"/>
          </a:solidFill>
          <a:ln>
            <a:noFill/>
          </a:ln>
        </p:spPr>
        <p:style>
          <a:lnRef idx="0"/>
          <a:fillRef idx="0"/>
          <a:effectRef idx="0"/>
          <a:fontRef idx="minor"/>
        </p:style>
      </p:sp>
      <p:sp>
        <p:nvSpPr>
          <p:cNvPr id="258" name="CustomShape 13"/>
          <p:cNvSpPr/>
          <p:nvPr/>
        </p:nvSpPr>
        <p:spPr>
          <a:xfrm>
            <a:off x="306000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2</a:t>
            </a:r>
            <a:endParaRPr b="0" lang="es-ES" sz="1800" spc="-1" strike="noStrike">
              <a:latin typeface="Arial"/>
            </a:endParaRPr>
          </a:p>
        </p:txBody>
      </p:sp>
      <p:sp>
        <p:nvSpPr>
          <p:cNvPr id="259" name="CustomShape 14"/>
          <p:cNvSpPr/>
          <p:nvPr/>
        </p:nvSpPr>
        <p:spPr>
          <a:xfrm>
            <a:off x="3060000" y="2468880"/>
            <a:ext cx="150300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Plan cache</a:t>
            </a:r>
            <a:endParaRPr b="0" lang="es-ES" sz="1600" spc="-1" strike="noStrike">
              <a:latin typeface="Arial"/>
            </a:endParaRPr>
          </a:p>
        </p:txBody>
      </p:sp>
      <p:sp>
        <p:nvSpPr>
          <p:cNvPr id="260" name="CustomShape 15"/>
          <p:cNvSpPr/>
          <p:nvPr/>
        </p:nvSpPr>
        <p:spPr>
          <a:xfrm>
            <a:off x="3060000" y="3154680"/>
            <a:ext cx="1503000" cy="14605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¿Existe un plan reutilizable? Si sí, se salta la optimización.</a:t>
            </a:r>
            <a:endParaRPr b="0" lang="es-ES" sz="1400" spc="-1" strike="noStrike">
              <a:latin typeface="Arial"/>
            </a:endParaRPr>
          </a:p>
        </p:txBody>
      </p:sp>
      <p:sp>
        <p:nvSpPr>
          <p:cNvPr id="261" name="CustomShape 16"/>
          <p:cNvSpPr/>
          <p:nvPr/>
        </p:nvSpPr>
        <p:spPr>
          <a:xfrm>
            <a:off x="4830840" y="1947600"/>
            <a:ext cx="24444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262" name="CustomShape 17"/>
          <p:cNvSpPr/>
          <p:nvPr/>
        </p:nvSpPr>
        <p:spPr>
          <a:xfrm>
            <a:off x="5114520" y="1600200"/>
            <a:ext cx="1960200" cy="3106440"/>
          </a:xfrm>
          <a:prstGeom prst="roundRect">
            <a:avLst>
              <a:gd name="adj" fmla="val 559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263" name="CustomShape 18"/>
          <p:cNvSpPr/>
          <p:nvPr/>
        </p:nvSpPr>
        <p:spPr>
          <a:xfrm>
            <a:off x="5343120" y="1828800"/>
            <a:ext cx="500400" cy="500400"/>
          </a:xfrm>
          <a:prstGeom prst="ellipse">
            <a:avLst/>
          </a:prstGeom>
          <a:solidFill>
            <a:srgbClr val="134074"/>
          </a:solidFill>
          <a:ln>
            <a:noFill/>
          </a:ln>
        </p:spPr>
        <p:style>
          <a:lnRef idx="0"/>
          <a:fillRef idx="0"/>
          <a:effectRef idx="0"/>
          <a:fontRef idx="minor"/>
        </p:style>
      </p:sp>
      <p:sp>
        <p:nvSpPr>
          <p:cNvPr id="264" name="CustomShape 19"/>
          <p:cNvSpPr/>
          <p:nvPr/>
        </p:nvSpPr>
        <p:spPr>
          <a:xfrm>
            <a:off x="534312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3</a:t>
            </a:r>
            <a:endParaRPr b="0" lang="es-ES" sz="1800" spc="-1" strike="noStrike">
              <a:latin typeface="Arial"/>
            </a:endParaRPr>
          </a:p>
        </p:txBody>
      </p:sp>
      <p:sp>
        <p:nvSpPr>
          <p:cNvPr id="265" name="CustomShape 20"/>
          <p:cNvSpPr/>
          <p:nvPr/>
        </p:nvSpPr>
        <p:spPr>
          <a:xfrm>
            <a:off x="5343120" y="2468880"/>
            <a:ext cx="150300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Optimize</a:t>
            </a:r>
            <a:endParaRPr b="0" lang="es-ES" sz="1600" spc="-1" strike="noStrike">
              <a:latin typeface="Arial"/>
            </a:endParaRPr>
          </a:p>
        </p:txBody>
      </p:sp>
      <p:sp>
        <p:nvSpPr>
          <p:cNvPr id="266" name="CustomShape 21"/>
          <p:cNvSpPr/>
          <p:nvPr/>
        </p:nvSpPr>
        <p:spPr>
          <a:xfrm>
            <a:off x="5343120" y="3154680"/>
            <a:ext cx="1503000" cy="14605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Elige el plan de menor coste estimado con estadísticas.</a:t>
            </a:r>
            <a:endParaRPr b="0" lang="es-ES" sz="1400" spc="-1" strike="noStrike">
              <a:latin typeface="Arial"/>
            </a:endParaRPr>
          </a:p>
        </p:txBody>
      </p:sp>
      <p:sp>
        <p:nvSpPr>
          <p:cNvPr id="267" name="CustomShape 22"/>
          <p:cNvSpPr/>
          <p:nvPr/>
        </p:nvSpPr>
        <p:spPr>
          <a:xfrm>
            <a:off x="7113960" y="1947600"/>
            <a:ext cx="24444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268" name="CustomShape 23"/>
          <p:cNvSpPr/>
          <p:nvPr/>
        </p:nvSpPr>
        <p:spPr>
          <a:xfrm>
            <a:off x="7397280" y="1600200"/>
            <a:ext cx="1960200" cy="3106440"/>
          </a:xfrm>
          <a:prstGeom prst="roundRect">
            <a:avLst>
              <a:gd name="adj" fmla="val 559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269" name="CustomShape 24"/>
          <p:cNvSpPr/>
          <p:nvPr/>
        </p:nvSpPr>
        <p:spPr>
          <a:xfrm>
            <a:off x="7625880" y="1828800"/>
            <a:ext cx="500400" cy="500400"/>
          </a:xfrm>
          <a:prstGeom prst="ellipse">
            <a:avLst/>
          </a:prstGeom>
          <a:solidFill>
            <a:srgbClr val="134074"/>
          </a:solidFill>
          <a:ln>
            <a:noFill/>
          </a:ln>
        </p:spPr>
        <p:style>
          <a:lnRef idx="0"/>
          <a:fillRef idx="0"/>
          <a:effectRef idx="0"/>
          <a:fontRef idx="minor"/>
        </p:style>
      </p:sp>
      <p:sp>
        <p:nvSpPr>
          <p:cNvPr id="270" name="CustomShape 25"/>
          <p:cNvSpPr/>
          <p:nvPr/>
        </p:nvSpPr>
        <p:spPr>
          <a:xfrm>
            <a:off x="762588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4</a:t>
            </a:r>
            <a:endParaRPr b="0" lang="es-ES" sz="1800" spc="-1" strike="noStrike">
              <a:latin typeface="Arial"/>
            </a:endParaRPr>
          </a:p>
        </p:txBody>
      </p:sp>
      <p:sp>
        <p:nvSpPr>
          <p:cNvPr id="271" name="CustomShape 26"/>
          <p:cNvSpPr/>
          <p:nvPr/>
        </p:nvSpPr>
        <p:spPr>
          <a:xfrm>
            <a:off x="7625880" y="2468880"/>
            <a:ext cx="150300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Execute</a:t>
            </a:r>
            <a:endParaRPr b="0" lang="es-ES" sz="1600" spc="-1" strike="noStrike">
              <a:latin typeface="Arial"/>
            </a:endParaRPr>
          </a:p>
        </p:txBody>
      </p:sp>
      <p:sp>
        <p:nvSpPr>
          <p:cNvPr id="272" name="CustomShape 27"/>
          <p:cNvSpPr/>
          <p:nvPr/>
        </p:nvSpPr>
        <p:spPr>
          <a:xfrm>
            <a:off x="7625880" y="3154680"/>
            <a:ext cx="1503000" cy="14605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Operadores en iteradores piden filas y páginas.</a:t>
            </a:r>
            <a:endParaRPr b="0" lang="es-ES" sz="1400" spc="-1" strike="noStrike">
              <a:latin typeface="Arial"/>
            </a:endParaRPr>
          </a:p>
        </p:txBody>
      </p:sp>
      <p:sp>
        <p:nvSpPr>
          <p:cNvPr id="273" name="CustomShape 28"/>
          <p:cNvSpPr/>
          <p:nvPr/>
        </p:nvSpPr>
        <p:spPr>
          <a:xfrm>
            <a:off x="9396720" y="1947600"/>
            <a:ext cx="24444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274" name="CustomShape 29"/>
          <p:cNvSpPr/>
          <p:nvPr/>
        </p:nvSpPr>
        <p:spPr>
          <a:xfrm>
            <a:off x="9680040" y="1600200"/>
            <a:ext cx="1960200" cy="3106440"/>
          </a:xfrm>
          <a:prstGeom prst="roundRect">
            <a:avLst>
              <a:gd name="adj" fmla="val 559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275" name="CustomShape 30"/>
          <p:cNvSpPr/>
          <p:nvPr/>
        </p:nvSpPr>
        <p:spPr>
          <a:xfrm>
            <a:off x="9908640" y="1828800"/>
            <a:ext cx="500400" cy="500400"/>
          </a:xfrm>
          <a:prstGeom prst="ellipse">
            <a:avLst/>
          </a:prstGeom>
          <a:solidFill>
            <a:srgbClr val="134074"/>
          </a:solidFill>
          <a:ln>
            <a:noFill/>
          </a:ln>
        </p:spPr>
        <p:style>
          <a:lnRef idx="0"/>
          <a:fillRef idx="0"/>
          <a:effectRef idx="0"/>
          <a:fontRef idx="minor"/>
        </p:style>
      </p:sp>
      <p:sp>
        <p:nvSpPr>
          <p:cNvPr id="276" name="CustomShape 31"/>
          <p:cNvSpPr/>
          <p:nvPr/>
        </p:nvSpPr>
        <p:spPr>
          <a:xfrm>
            <a:off x="990864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5</a:t>
            </a:r>
            <a:endParaRPr b="0" lang="es-ES" sz="1800" spc="-1" strike="noStrike">
              <a:latin typeface="Arial"/>
            </a:endParaRPr>
          </a:p>
        </p:txBody>
      </p:sp>
      <p:sp>
        <p:nvSpPr>
          <p:cNvPr id="277" name="CustomShape 32"/>
          <p:cNvSpPr/>
          <p:nvPr/>
        </p:nvSpPr>
        <p:spPr>
          <a:xfrm>
            <a:off x="9908640" y="2468880"/>
            <a:ext cx="150300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Buffer Pool + TDS</a:t>
            </a:r>
            <a:endParaRPr b="0" lang="es-ES" sz="1600" spc="-1" strike="noStrike">
              <a:latin typeface="Arial"/>
            </a:endParaRPr>
          </a:p>
        </p:txBody>
      </p:sp>
      <p:sp>
        <p:nvSpPr>
          <p:cNvPr id="278" name="CustomShape 33"/>
          <p:cNvSpPr/>
          <p:nvPr/>
        </p:nvSpPr>
        <p:spPr>
          <a:xfrm>
            <a:off x="9908640" y="3154680"/>
            <a:ext cx="1503000" cy="14605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Lectura lógica o física; resultado al cliente.</a:t>
            </a:r>
            <a:endParaRPr b="0" lang="es-ES" sz="1400" spc="-1" strike="noStrike">
              <a:latin typeface="Arial"/>
            </a:endParaRPr>
          </a:p>
        </p:txBody>
      </p:sp>
      <p:sp>
        <p:nvSpPr>
          <p:cNvPr id="279" name="CustomShape 34"/>
          <p:cNvSpPr/>
          <p:nvPr/>
        </p:nvSpPr>
        <p:spPr>
          <a:xfrm>
            <a:off x="548640" y="5029200"/>
            <a:ext cx="11091960" cy="1094760"/>
          </a:xfrm>
          <a:prstGeom prst="roundRect">
            <a:avLst>
              <a:gd name="adj" fmla="val 10000"/>
            </a:avLst>
          </a:prstGeom>
          <a:solidFill>
            <a:srgbClr val="e8eef5"/>
          </a:solidFill>
          <a:ln>
            <a:noFill/>
          </a:ln>
        </p:spPr>
        <p:style>
          <a:lnRef idx="0"/>
          <a:fillRef idx="0"/>
          <a:effectRef idx="0"/>
          <a:fontRef idx="minor"/>
        </p:style>
      </p:sp>
      <p:sp>
        <p:nvSpPr>
          <p:cNvPr id="280" name="CustomShape 35"/>
          <p:cNvSpPr/>
          <p:nvPr/>
        </p:nvSpPr>
        <p:spPr>
          <a:xfrm>
            <a:off x="731520" y="5349240"/>
            <a:ext cx="454680" cy="454680"/>
          </a:xfrm>
          <a:prstGeom prst="ellipse">
            <a:avLst/>
          </a:prstGeom>
          <a:solidFill>
            <a:srgbClr val="134074"/>
          </a:solidFill>
          <a:ln>
            <a:noFill/>
          </a:ln>
        </p:spPr>
        <p:style>
          <a:lnRef idx="0"/>
          <a:fillRef idx="0"/>
          <a:effectRef idx="0"/>
          <a:fontRef idx="minor"/>
        </p:style>
      </p:sp>
      <p:pic>
        <p:nvPicPr>
          <p:cNvPr id="281" name="Image 0" descr="preencoded.png"/>
          <p:cNvPicPr/>
          <p:nvPr/>
        </p:nvPicPr>
        <p:blipFill>
          <a:blip r:embed="rId1"/>
          <a:stretch/>
        </p:blipFill>
        <p:spPr>
          <a:xfrm>
            <a:off x="846000" y="5463720"/>
            <a:ext cx="226080" cy="226080"/>
          </a:xfrm>
          <a:prstGeom prst="rect">
            <a:avLst/>
          </a:prstGeom>
          <a:ln>
            <a:noFill/>
          </a:ln>
        </p:spPr>
      </p:pic>
      <p:sp>
        <p:nvSpPr>
          <p:cNvPr id="282" name="CustomShape 36"/>
          <p:cNvSpPr/>
          <p:nvPr/>
        </p:nvSpPr>
        <p:spPr>
          <a:xfrm>
            <a:off x="1371600" y="5029200"/>
            <a:ext cx="10086120" cy="109476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2545"/>
                </a:solidFill>
                <a:latin typeface="Calibri"/>
                <a:ea typeface="Calibri"/>
              </a:rPr>
              <a:t>Pruébalo: </a:t>
            </a:r>
            <a:r>
              <a:rPr b="0" lang="en-US" sz="1400" spc="-1" strike="noStrike">
                <a:solidFill>
                  <a:srgbClr val="1f2933"/>
                </a:solidFill>
                <a:latin typeface="Calibri"/>
                <a:ea typeface="Calibri"/>
              </a:rPr>
              <a:t>SET STATISTICS IO, TIME ON; muestra lecturas lógicas, físicas y tiempo de compilación frente a ejecución.</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283" name="CustomShape 1"/>
          <p:cNvSpPr/>
          <p:nvPr/>
        </p:nvSpPr>
        <p:spPr>
          <a:xfrm>
            <a:off x="548640" y="365760"/>
            <a:ext cx="149724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ARQUITECTURA</a:t>
            </a:r>
            <a:endParaRPr b="0" lang="es-ES" sz="1000" spc="-1" strike="noStrike">
              <a:latin typeface="Arial"/>
            </a:endParaRPr>
          </a:p>
        </p:txBody>
      </p:sp>
      <p:sp>
        <p:nvSpPr>
          <p:cNvPr id="284"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Buffer Pool y gestión de memoria</a:t>
            </a:r>
            <a:endParaRPr b="0" lang="es-ES" sz="3400" spc="-1" strike="noStrike">
              <a:latin typeface="Arial"/>
            </a:endParaRPr>
          </a:p>
        </p:txBody>
      </p:sp>
      <p:sp>
        <p:nvSpPr>
          <p:cNvPr id="285"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286"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1   9</a:t>
            </a:r>
            <a:endParaRPr b="0" lang="es-ES" sz="1000" spc="-1" strike="noStrike">
              <a:latin typeface="Arial"/>
            </a:endParaRPr>
          </a:p>
        </p:txBody>
      </p:sp>
      <p:sp>
        <p:nvSpPr>
          <p:cNvPr id="287" name="CustomShape 5"/>
          <p:cNvSpPr/>
          <p:nvPr/>
        </p:nvSpPr>
        <p:spPr>
          <a:xfrm>
            <a:off x="548640" y="1600200"/>
            <a:ext cx="3512880" cy="2740680"/>
          </a:xfrm>
          <a:prstGeom prst="roundRect">
            <a:avLst>
              <a:gd name="adj" fmla="val 4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288" name="CustomShape 6"/>
          <p:cNvSpPr/>
          <p:nvPr/>
        </p:nvSpPr>
        <p:spPr>
          <a:xfrm>
            <a:off x="777240" y="1828800"/>
            <a:ext cx="546120" cy="546120"/>
          </a:xfrm>
          <a:prstGeom prst="ellipse">
            <a:avLst/>
          </a:prstGeom>
          <a:solidFill>
            <a:srgbClr val="134074"/>
          </a:solidFill>
          <a:ln>
            <a:noFill/>
          </a:ln>
        </p:spPr>
        <p:style>
          <a:lnRef idx="0"/>
          <a:fillRef idx="0"/>
          <a:effectRef idx="0"/>
          <a:fontRef idx="minor"/>
        </p:style>
      </p:sp>
      <p:pic>
        <p:nvPicPr>
          <p:cNvPr id="289" name="Image 0" descr="preencoded.png"/>
          <p:cNvPicPr/>
          <p:nvPr/>
        </p:nvPicPr>
        <p:blipFill>
          <a:blip r:embed="rId1"/>
          <a:stretch/>
        </p:blipFill>
        <p:spPr>
          <a:xfrm>
            <a:off x="914400" y="1965960"/>
            <a:ext cx="271800" cy="271800"/>
          </a:xfrm>
          <a:prstGeom prst="rect">
            <a:avLst/>
          </a:prstGeom>
          <a:ln>
            <a:noFill/>
          </a:ln>
        </p:spPr>
      </p:pic>
      <p:sp>
        <p:nvSpPr>
          <p:cNvPr id="290" name="CustomShape 7"/>
          <p:cNvSpPr/>
          <p:nvPr/>
        </p:nvSpPr>
        <p:spPr>
          <a:xfrm>
            <a:off x="1463040" y="1828800"/>
            <a:ext cx="236988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Buffer Pool</a:t>
            </a:r>
            <a:endParaRPr b="0" lang="es-ES" sz="1700" spc="-1" strike="noStrike">
              <a:latin typeface="Arial"/>
            </a:endParaRPr>
          </a:p>
        </p:txBody>
      </p:sp>
      <p:sp>
        <p:nvSpPr>
          <p:cNvPr id="291" name="CustomShape 8"/>
          <p:cNvSpPr/>
          <p:nvPr/>
        </p:nvSpPr>
        <p:spPr>
          <a:xfrm>
            <a:off x="777240" y="2560320"/>
            <a:ext cx="3055680" cy="15519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Caché de páginas de datos de 8 KB. Lectura lógica (memoria) frente a física (disco).</a:t>
            </a:r>
            <a:endParaRPr b="0" lang="es-ES" sz="1400" spc="-1" strike="noStrike">
              <a:latin typeface="Arial"/>
            </a:endParaRPr>
          </a:p>
        </p:txBody>
      </p:sp>
      <p:sp>
        <p:nvSpPr>
          <p:cNvPr id="292" name="CustomShape 9"/>
          <p:cNvSpPr/>
          <p:nvPr/>
        </p:nvSpPr>
        <p:spPr>
          <a:xfrm>
            <a:off x="4338360" y="1600200"/>
            <a:ext cx="3512880" cy="2740680"/>
          </a:xfrm>
          <a:prstGeom prst="roundRect">
            <a:avLst>
              <a:gd name="adj" fmla="val 4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293" name="CustomShape 10"/>
          <p:cNvSpPr/>
          <p:nvPr/>
        </p:nvSpPr>
        <p:spPr>
          <a:xfrm>
            <a:off x="4566960" y="1828800"/>
            <a:ext cx="546120" cy="546120"/>
          </a:xfrm>
          <a:prstGeom prst="ellipse">
            <a:avLst/>
          </a:prstGeom>
          <a:solidFill>
            <a:srgbClr val="134074"/>
          </a:solidFill>
          <a:ln>
            <a:noFill/>
          </a:ln>
        </p:spPr>
        <p:style>
          <a:lnRef idx="0"/>
          <a:fillRef idx="0"/>
          <a:effectRef idx="0"/>
          <a:fontRef idx="minor"/>
        </p:style>
      </p:sp>
      <p:pic>
        <p:nvPicPr>
          <p:cNvPr id="294" name="Image 1" descr="preencoded.png"/>
          <p:cNvPicPr/>
          <p:nvPr/>
        </p:nvPicPr>
        <p:blipFill>
          <a:blip r:embed="rId2"/>
          <a:stretch/>
        </p:blipFill>
        <p:spPr>
          <a:xfrm>
            <a:off x="4704120" y="1965960"/>
            <a:ext cx="271800" cy="271800"/>
          </a:xfrm>
          <a:prstGeom prst="rect">
            <a:avLst/>
          </a:prstGeom>
          <a:ln>
            <a:noFill/>
          </a:ln>
        </p:spPr>
      </p:pic>
      <p:sp>
        <p:nvSpPr>
          <p:cNvPr id="295" name="CustomShape 11"/>
          <p:cNvSpPr/>
          <p:nvPr/>
        </p:nvSpPr>
        <p:spPr>
          <a:xfrm>
            <a:off x="5252760" y="1828800"/>
            <a:ext cx="236988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Plan Cache</a:t>
            </a:r>
            <a:endParaRPr b="0" lang="es-ES" sz="1700" spc="-1" strike="noStrike">
              <a:latin typeface="Arial"/>
            </a:endParaRPr>
          </a:p>
        </p:txBody>
      </p:sp>
      <p:sp>
        <p:nvSpPr>
          <p:cNvPr id="296" name="CustomShape 12"/>
          <p:cNvSpPr/>
          <p:nvPr/>
        </p:nvSpPr>
        <p:spPr>
          <a:xfrm>
            <a:off x="4566960" y="2560320"/>
            <a:ext cx="3055680" cy="15519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Planes compilados reutilizables. Se pierde al reiniciar o por presión de memoria.</a:t>
            </a:r>
            <a:endParaRPr b="0" lang="es-ES" sz="1400" spc="-1" strike="noStrike">
              <a:latin typeface="Arial"/>
            </a:endParaRPr>
          </a:p>
        </p:txBody>
      </p:sp>
      <p:sp>
        <p:nvSpPr>
          <p:cNvPr id="297" name="CustomShape 13"/>
          <p:cNvSpPr/>
          <p:nvPr/>
        </p:nvSpPr>
        <p:spPr>
          <a:xfrm>
            <a:off x="8127720" y="1600200"/>
            <a:ext cx="3512880" cy="2740680"/>
          </a:xfrm>
          <a:prstGeom prst="roundRect">
            <a:avLst>
              <a:gd name="adj" fmla="val 4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298" name="CustomShape 14"/>
          <p:cNvSpPr/>
          <p:nvPr/>
        </p:nvSpPr>
        <p:spPr>
          <a:xfrm>
            <a:off x="8356320" y="1828800"/>
            <a:ext cx="546120" cy="546120"/>
          </a:xfrm>
          <a:prstGeom prst="ellipse">
            <a:avLst/>
          </a:prstGeom>
          <a:solidFill>
            <a:srgbClr val="134074"/>
          </a:solidFill>
          <a:ln>
            <a:noFill/>
          </a:ln>
        </p:spPr>
        <p:style>
          <a:lnRef idx="0"/>
          <a:fillRef idx="0"/>
          <a:effectRef idx="0"/>
          <a:fontRef idx="minor"/>
        </p:style>
      </p:sp>
      <p:pic>
        <p:nvPicPr>
          <p:cNvPr id="299" name="Image 2" descr="preencoded.png"/>
          <p:cNvPicPr/>
          <p:nvPr/>
        </p:nvPicPr>
        <p:blipFill>
          <a:blip r:embed="rId3"/>
          <a:stretch/>
        </p:blipFill>
        <p:spPr>
          <a:xfrm>
            <a:off x="8493480" y="1965960"/>
            <a:ext cx="271800" cy="271800"/>
          </a:xfrm>
          <a:prstGeom prst="rect">
            <a:avLst/>
          </a:prstGeom>
          <a:ln>
            <a:noFill/>
          </a:ln>
        </p:spPr>
      </p:pic>
      <p:sp>
        <p:nvSpPr>
          <p:cNvPr id="300" name="CustomShape 15"/>
          <p:cNvSpPr/>
          <p:nvPr/>
        </p:nvSpPr>
        <p:spPr>
          <a:xfrm>
            <a:off x="9042120" y="1828800"/>
            <a:ext cx="236988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Checkpoint y Lazy Writer</a:t>
            </a:r>
            <a:endParaRPr b="0" lang="es-ES" sz="1700" spc="-1" strike="noStrike">
              <a:latin typeface="Arial"/>
            </a:endParaRPr>
          </a:p>
        </p:txBody>
      </p:sp>
      <p:sp>
        <p:nvSpPr>
          <p:cNvPr id="301" name="CustomShape 16"/>
          <p:cNvSpPr/>
          <p:nvPr/>
        </p:nvSpPr>
        <p:spPr>
          <a:xfrm>
            <a:off x="8356320" y="2560320"/>
            <a:ext cx="3055680" cy="15519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Checkpoint escribe páginas sucias periódicamente; Lazy Writer libera memoria bajo presión.</a:t>
            </a:r>
            <a:endParaRPr b="0" lang="es-ES" sz="1400" spc="-1" strike="noStrike">
              <a:latin typeface="Arial"/>
            </a:endParaRPr>
          </a:p>
        </p:txBody>
      </p:sp>
      <p:sp>
        <p:nvSpPr>
          <p:cNvPr id="302" name="CustomShape 17"/>
          <p:cNvSpPr/>
          <p:nvPr/>
        </p:nvSpPr>
        <p:spPr>
          <a:xfrm>
            <a:off x="548640" y="4709160"/>
            <a:ext cx="6672600" cy="1460520"/>
          </a:xfrm>
          <a:prstGeom prst="roundRect">
            <a:avLst>
              <a:gd name="adj" fmla="val 6250"/>
            </a:avLst>
          </a:prstGeom>
          <a:solidFill>
            <a:srgbClr val="eceff3"/>
          </a:solidFill>
          <a:ln w="9360">
            <a:solidFill>
              <a:srgbClr val="d0d7de"/>
            </a:solidFill>
            <a:round/>
          </a:ln>
        </p:spPr>
        <p:style>
          <a:lnRef idx="0"/>
          <a:fillRef idx="0"/>
          <a:effectRef idx="0"/>
          <a:fontRef idx="minor"/>
        </p:style>
      </p:sp>
      <p:sp>
        <p:nvSpPr>
          <p:cNvPr id="303" name="CustomShape 18"/>
          <p:cNvSpPr/>
          <p:nvPr/>
        </p:nvSpPr>
        <p:spPr>
          <a:xfrm>
            <a:off x="731520" y="480060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LIMITAR LA MEMORIA</a:t>
            </a:r>
            <a:endParaRPr b="0" lang="es-ES" sz="1000" spc="-1" strike="noStrike">
              <a:latin typeface="Arial"/>
            </a:endParaRPr>
          </a:p>
        </p:txBody>
      </p:sp>
      <p:sp>
        <p:nvSpPr>
          <p:cNvPr id="304" name="CustomShape 19"/>
          <p:cNvSpPr/>
          <p:nvPr/>
        </p:nvSpPr>
        <p:spPr>
          <a:xfrm>
            <a:off x="731520" y="5074920"/>
            <a:ext cx="6306840" cy="100332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EXEC</a:t>
            </a:r>
            <a:r>
              <a:rPr b="0" lang="en-US" sz="1200" spc="-1" strike="noStrike">
                <a:solidFill>
                  <a:srgbClr val="1f2933"/>
                </a:solidFill>
                <a:latin typeface="Consolas"/>
                <a:ea typeface="Consolas"/>
              </a:rPr>
              <a:t> sp_configure </a:t>
            </a:r>
            <a:r>
              <a:rPr b="0" lang="en-US" sz="1200" spc="-1" strike="noStrike">
                <a:solidFill>
                  <a:srgbClr val="b4441f"/>
                </a:solidFill>
                <a:latin typeface="Consolas"/>
                <a:ea typeface="Consolas"/>
              </a:rPr>
              <a:t>'show advanced options'</a:t>
            </a:r>
            <a:r>
              <a:rPr b="0" lang="en-US" sz="1200" spc="-1" strike="noStrike">
                <a:solidFill>
                  <a:srgbClr val="1f2933"/>
                </a:solidFill>
                <a:latin typeface="Consolas"/>
                <a:ea typeface="Consolas"/>
              </a:rPr>
              <a:t>, </a:t>
            </a:r>
            <a:r>
              <a:rPr b="0" lang="en-US" sz="1200" spc="-1" strike="noStrike">
                <a:solidFill>
                  <a:srgbClr val="9a3412"/>
                </a:solidFill>
                <a:latin typeface="Consolas"/>
                <a:ea typeface="Consolas"/>
              </a:rPr>
              <a:t>1</a:t>
            </a:r>
            <a:r>
              <a:rPr b="0" lang="en-US" sz="1200" spc="-1" strike="noStrike">
                <a:solidFill>
                  <a:srgbClr val="1f2933"/>
                </a:solidFill>
                <a:latin typeface="Consolas"/>
                <a:ea typeface="Consolas"/>
              </a:rPr>
              <a:t>; RECONFIGURE;</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EXEC</a:t>
            </a:r>
            <a:r>
              <a:rPr b="0" lang="en-US" sz="1200" spc="-1" strike="noStrike">
                <a:solidFill>
                  <a:srgbClr val="1f2933"/>
                </a:solidFill>
                <a:latin typeface="Consolas"/>
                <a:ea typeface="Consolas"/>
              </a:rPr>
              <a:t> sp_configure </a:t>
            </a:r>
            <a:r>
              <a:rPr b="0" lang="en-US" sz="1200" spc="-1" strike="noStrike">
                <a:solidFill>
                  <a:srgbClr val="b4441f"/>
                </a:solidFill>
                <a:latin typeface="Consolas"/>
                <a:ea typeface="Consolas"/>
              </a:rPr>
              <a:t>'max server memory (MB)'</a:t>
            </a:r>
            <a:r>
              <a:rPr b="0" lang="en-US" sz="1200" spc="-1" strike="noStrike">
                <a:solidFill>
                  <a:srgbClr val="1f2933"/>
                </a:solidFill>
                <a:latin typeface="Consolas"/>
                <a:ea typeface="Consolas"/>
              </a:rPr>
              <a:t>, </a:t>
            </a:r>
            <a:r>
              <a:rPr b="0" lang="en-US" sz="1200" spc="-1" strike="noStrike">
                <a:solidFill>
                  <a:srgbClr val="9a3412"/>
                </a:solidFill>
                <a:latin typeface="Consolas"/>
                <a:ea typeface="Consolas"/>
              </a:rPr>
              <a:t>12288</a:t>
            </a:r>
            <a:r>
              <a:rPr b="0" lang="en-US" sz="1200" spc="-1" strike="noStrike">
                <a:solidFill>
                  <a:srgbClr val="1f2933"/>
                </a:solidFill>
                <a:latin typeface="Consolas"/>
                <a:ea typeface="Consolas"/>
              </a:rPr>
              <a:t>; RECONFIGURE;</a:t>
            </a:r>
            <a:endParaRPr b="0" lang="es-ES" sz="1200" spc="-1" strike="noStrike">
              <a:latin typeface="Arial"/>
            </a:endParaRPr>
          </a:p>
        </p:txBody>
      </p:sp>
      <p:sp>
        <p:nvSpPr>
          <p:cNvPr id="305" name="CustomShape 20"/>
          <p:cNvSpPr/>
          <p:nvPr/>
        </p:nvSpPr>
        <p:spPr>
          <a:xfrm>
            <a:off x="7498080" y="4709160"/>
            <a:ext cx="4139640" cy="1460520"/>
          </a:xfrm>
          <a:prstGeom prst="roundRect">
            <a:avLst>
              <a:gd name="adj" fmla="val 7500"/>
            </a:avLst>
          </a:prstGeom>
          <a:solidFill>
            <a:srgbClr val="fdede8"/>
          </a:solidFill>
          <a:ln>
            <a:noFill/>
          </a:ln>
        </p:spPr>
        <p:style>
          <a:lnRef idx="0"/>
          <a:fillRef idx="0"/>
          <a:effectRef idx="0"/>
          <a:fontRef idx="minor"/>
        </p:style>
      </p:sp>
      <p:sp>
        <p:nvSpPr>
          <p:cNvPr id="306" name="CustomShape 21"/>
          <p:cNvSpPr/>
          <p:nvPr/>
        </p:nvSpPr>
        <p:spPr>
          <a:xfrm>
            <a:off x="7680960" y="5212080"/>
            <a:ext cx="454680" cy="454680"/>
          </a:xfrm>
          <a:prstGeom prst="ellipse">
            <a:avLst/>
          </a:prstGeom>
          <a:solidFill>
            <a:srgbClr val="d95d39"/>
          </a:solidFill>
          <a:ln>
            <a:noFill/>
          </a:ln>
        </p:spPr>
        <p:style>
          <a:lnRef idx="0"/>
          <a:fillRef idx="0"/>
          <a:effectRef idx="0"/>
          <a:fontRef idx="minor"/>
        </p:style>
      </p:sp>
      <p:pic>
        <p:nvPicPr>
          <p:cNvPr id="307" name="Image 3" descr="preencoded.png"/>
          <p:cNvPicPr/>
          <p:nvPr/>
        </p:nvPicPr>
        <p:blipFill>
          <a:blip r:embed="rId4"/>
          <a:stretch/>
        </p:blipFill>
        <p:spPr>
          <a:xfrm>
            <a:off x="7795440" y="5326560"/>
            <a:ext cx="226080" cy="226080"/>
          </a:xfrm>
          <a:prstGeom prst="rect">
            <a:avLst/>
          </a:prstGeom>
          <a:ln>
            <a:noFill/>
          </a:ln>
        </p:spPr>
      </p:pic>
      <p:sp>
        <p:nvSpPr>
          <p:cNvPr id="308" name="CustomShape 22"/>
          <p:cNvSpPr/>
          <p:nvPr/>
        </p:nvSpPr>
        <p:spPr>
          <a:xfrm>
            <a:off x="8321040" y="4709160"/>
            <a:ext cx="3133800" cy="14605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a8431f"/>
                </a:solidFill>
                <a:latin typeface="Calibri"/>
                <a:ea typeface="Calibri"/>
              </a:rPr>
              <a:t>Siempre limita </a:t>
            </a:r>
            <a:r>
              <a:rPr b="0" lang="en-US" sz="1400" spc="-1" strike="noStrike">
                <a:solidFill>
                  <a:srgbClr val="1f2933"/>
                </a:solidFill>
                <a:latin typeface="Calibri"/>
                <a:ea typeface="Calibri"/>
              </a:rPr>
              <a:t>max server memory en producción y deja memoria libre para el sistema operativo.</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309" name="CustomShape 1"/>
          <p:cNvSpPr/>
          <p:nvPr/>
        </p:nvSpPr>
        <p:spPr>
          <a:xfrm>
            <a:off x="548640" y="365760"/>
            <a:ext cx="167076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ALMACENAMIENTO</a:t>
            </a:r>
            <a:endParaRPr b="0" lang="es-ES" sz="1000" spc="-1" strike="noStrike">
              <a:latin typeface="Arial"/>
            </a:endParaRPr>
          </a:p>
        </p:txBody>
      </p:sp>
      <p:sp>
        <p:nvSpPr>
          <p:cNvPr id="310"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Estructura física: páginas y extensiones</a:t>
            </a:r>
            <a:endParaRPr b="0" lang="es-ES" sz="3400" spc="-1" strike="noStrike">
              <a:latin typeface="Arial"/>
            </a:endParaRPr>
          </a:p>
        </p:txBody>
      </p:sp>
      <p:sp>
        <p:nvSpPr>
          <p:cNvPr id="311"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312"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1   10</a:t>
            </a:r>
            <a:endParaRPr b="0" lang="es-ES" sz="1000" spc="-1" strike="noStrike">
              <a:latin typeface="Arial"/>
            </a:endParaRPr>
          </a:p>
        </p:txBody>
      </p:sp>
      <p:sp>
        <p:nvSpPr>
          <p:cNvPr id="313" name="CustomShape 5"/>
          <p:cNvSpPr/>
          <p:nvPr/>
        </p:nvSpPr>
        <p:spPr>
          <a:xfrm>
            <a:off x="548640" y="1600200"/>
            <a:ext cx="3015000" cy="2718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400" spc="-1" strike="noStrike">
                <a:solidFill>
                  <a:srgbClr val="0b2545"/>
                </a:solidFill>
                <a:latin typeface="Calibri"/>
                <a:ea typeface="Calibri"/>
              </a:rPr>
              <a:t>Página = 8 KB (unidad mínima de E/S)</a:t>
            </a:r>
            <a:endParaRPr b="0" lang="es-ES" sz="1400" spc="-1" strike="noStrike">
              <a:latin typeface="Arial"/>
            </a:endParaRPr>
          </a:p>
        </p:txBody>
      </p:sp>
      <p:sp>
        <p:nvSpPr>
          <p:cNvPr id="314" name="CustomShape 6"/>
          <p:cNvSpPr/>
          <p:nvPr/>
        </p:nvSpPr>
        <p:spPr>
          <a:xfrm>
            <a:off x="548640" y="1965960"/>
            <a:ext cx="3015000" cy="500400"/>
          </a:xfrm>
          <a:prstGeom prst="rect">
            <a:avLst/>
          </a:prstGeom>
          <a:solidFill>
            <a:srgbClr val="0b2545"/>
          </a:solidFill>
          <a:ln w="12600">
            <a:solidFill>
              <a:srgbClr val="d0d7de"/>
            </a:solidFill>
            <a:round/>
          </a:ln>
        </p:spPr>
        <p:style>
          <a:lnRef idx="0"/>
          <a:fillRef idx="0"/>
          <a:effectRef idx="0"/>
          <a:fontRef idx="minor"/>
        </p:style>
        <p:txBody>
          <a:bodyPr lIns="360" rIns="1080" tIns="1080" bIns="360" anchor="ctr">
            <a:noAutofit/>
          </a:bodyPr>
          <a:p>
            <a:pPr algn="ctr">
              <a:lnSpc>
                <a:spcPct val="100000"/>
              </a:lnSpc>
              <a:tabLst>
                <a:tab algn="l" pos="0"/>
              </a:tabLst>
            </a:pPr>
            <a:r>
              <a:rPr b="1" lang="en-US" sz="1300" spc="-1" strike="noStrike">
                <a:solidFill>
                  <a:srgbClr val="ffffff"/>
                </a:solidFill>
                <a:latin typeface="Calibri"/>
                <a:ea typeface="Calibri"/>
              </a:rPr>
              <a:t>Page Header · 96 bytes</a:t>
            </a:r>
            <a:endParaRPr b="0" lang="es-ES" sz="1300" spc="-1" strike="noStrike">
              <a:latin typeface="Arial"/>
            </a:endParaRPr>
          </a:p>
        </p:txBody>
      </p:sp>
      <p:sp>
        <p:nvSpPr>
          <p:cNvPr id="315" name="CustomShape 7"/>
          <p:cNvSpPr/>
          <p:nvPr/>
        </p:nvSpPr>
        <p:spPr>
          <a:xfrm>
            <a:off x="548640" y="2468880"/>
            <a:ext cx="3015000" cy="1506240"/>
          </a:xfrm>
          <a:prstGeom prst="rect">
            <a:avLst/>
          </a:prstGeom>
          <a:solidFill>
            <a:srgbClr val="134074"/>
          </a:solidFill>
          <a:ln w="12600">
            <a:solidFill>
              <a:srgbClr val="d0d7de"/>
            </a:solidFill>
            <a:round/>
          </a:ln>
        </p:spPr>
        <p:style>
          <a:lnRef idx="0"/>
          <a:fillRef idx="0"/>
          <a:effectRef idx="0"/>
          <a:fontRef idx="minor"/>
        </p:style>
        <p:txBody>
          <a:bodyPr lIns="360" rIns="1080" tIns="1080" bIns="360" anchor="ctr">
            <a:noAutofit/>
          </a:bodyPr>
          <a:p>
            <a:pPr algn="ctr">
              <a:lnSpc>
                <a:spcPct val="100000"/>
              </a:lnSpc>
              <a:tabLst>
                <a:tab algn="l" pos="0"/>
              </a:tabLst>
            </a:pPr>
            <a:r>
              <a:rPr b="1" lang="en-US" sz="1300" spc="-1" strike="noStrike">
                <a:solidFill>
                  <a:srgbClr val="ffffff"/>
                </a:solidFill>
                <a:latin typeface="Calibri"/>
                <a:ea typeface="Calibri"/>
              </a:rPr>
              <a:t>Filas de datos</a:t>
            </a:r>
            <a:endParaRPr b="0" lang="es-ES" sz="1300" spc="-1" strike="noStrike">
              <a:latin typeface="Arial"/>
            </a:endParaRPr>
          </a:p>
          <a:p>
            <a:pPr algn="ctr">
              <a:lnSpc>
                <a:spcPct val="100000"/>
              </a:lnSpc>
              <a:tabLst>
                <a:tab algn="l" pos="0"/>
              </a:tabLst>
            </a:pPr>
            <a:r>
              <a:rPr b="1" lang="en-US" sz="1300" spc="-1" strike="noStrike">
                <a:solidFill>
                  <a:srgbClr val="ffffff"/>
                </a:solidFill>
                <a:latin typeface="Calibri"/>
                <a:ea typeface="Calibri"/>
              </a:rPr>
              <a:t>(crecen hacia abajo ↓)</a:t>
            </a:r>
            <a:endParaRPr b="0" lang="es-ES" sz="1300" spc="-1" strike="noStrike">
              <a:latin typeface="Arial"/>
            </a:endParaRPr>
          </a:p>
        </p:txBody>
      </p:sp>
      <p:sp>
        <p:nvSpPr>
          <p:cNvPr id="316" name="CustomShape 8"/>
          <p:cNvSpPr/>
          <p:nvPr/>
        </p:nvSpPr>
        <p:spPr>
          <a:xfrm>
            <a:off x="548640" y="3977640"/>
            <a:ext cx="3015000" cy="820440"/>
          </a:xfrm>
          <a:prstGeom prst="rect">
            <a:avLst/>
          </a:prstGeom>
          <a:solidFill>
            <a:srgbClr val="ffffff"/>
          </a:solidFill>
          <a:ln w="12600">
            <a:solidFill>
              <a:srgbClr val="d0d7de"/>
            </a:solidFill>
            <a:round/>
          </a:ln>
        </p:spPr>
        <p:style>
          <a:lnRef idx="0"/>
          <a:fillRef idx="0"/>
          <a:effectRef idx="0"/>
          <a:fontRef idx="minor"/>
        </p:style>
        <p:txBody>
          <a:bodyPr lIns="360" rIns="1080" tIns="1080" bIns="360" anchor="ctr">
            <a:noAutofit/>
          </a:bodyPr>
          <a:p>
            <a:pPr algn="ctr">
              <a:lnSpc>
                <a:spcPct val="100000"/>
              </a:lnSpc>
              <a:tabLst>
                <a:tab algn="l" pos="0"/>
              </a:tabLst>
            </a:pPr>
            <a:r>
              <a:rPr b="1" lang="en-US" sz="1300" spc="-1" strike="noStrike">
                <a:solidFill>
                  <a:srgbClr val="5c6b7a"/>
                </a:solidFill>
                <a:latin typeface="Calibri"/>
                <a:ea typeface="Calibri"/>
              </a:rPr>
              <a:t>Espacio libre</a:t>
            </a:r>
            <a:endParaRPr b="0" lang="es-ES" sz="1300" spc="-1" strike="noStrike">
              <a:latin typeface="Arial"/>
            </a:endParaRPr>
          </a:p>
        </p:txBody>
      </p:sp>
      <p:sp>
        <p:nvSpPr>
          <p:cNvPr id="317" name="CustomShape 9"/>
          <p:cNvSpPr/>
          <p:nvPr/>
        </p:nvSpPr>
        <p:spPr>
          <a:xfrm>
            <a:off x="548640" y="4800600"/>
            <a:ext cx="3015000" cy="820440"/>
          </a:xfrm>
          <a:prstGeom prst="rect">
            <a:avLst/>
          </a:prstGeom>
          <a:solidFill>
            <a:srgbClr val="d95d39"/>
          </a:solidFill>
          <a:ln w="12600">
            <a:solidFill>
              <a:srgbClr val="d0d7de"/>
            </a:solidFill>
            <a:round/>
          </a:ln>
        </p:spPr>
        <p:style>
          <a:lnRef idx="0"/>
          <a:fillRef idx="0"/>
          <a:effectRef idx="0"/>
          <a:fontRef idx="minor"/>
        </p:style>
        <p:txBody>
          <a:bodyPr lIns="360" rIns="1080" tIns="1080" bIns="360" anchor="ctr">
            <a:noAutofit/>
          </a:bodyPr>
          <a:p>
            <a:pPr algn="ctr">
              <a:lnSpc>
                <a:spcPct val="100000"/>
              </a:lnSpc>
              <a:tabLst>
                <a:tab algn="l" pos="0"/>
              </a:tabLst>
            </a:pPr>
            <a:r>
              <a:rPr b="1" lang="en-US" sz="1300" spc="-1" strike="noStrike">
                <a:solidFill>
                  <a:srgbClr val="ffffff"/>
                </a:solidFill>
                <a:latin typeface="Calibri"/>
                <a:ea typeface="Calibri"/>
              </a:rPr>
              <a:t>Row Offset Array</a:t>
            </a:r>
            <a:endParaRPr b="0" lang="es-ES" sz="1300" spc="-1" strike="noStrike">
              <a:latin typeface="Arial"/>
            </a:endParaRPr>
          </a:p>
          <a:p>
            <a:pPr algn="ctr">
              <a:lnSpc>
                <a:spcPct val="100000"/>
              </a:lnSpc>
              <a:tabLst>
                <a:tab algn="l" pos="0"/>
              </a:tabLst>
            </a:pPr>
            <a:r>
              <a:rPr b="1" lang="en-US" sz="1300" spc="-1" strike="noStrike">
                <a:solidFill>
                  <a:srgbClr val="ffffff"/>
                </a:solidFill>
                <a:latin typeface="Calibri"/>
                <a:ea typeface="Calibri"/>
              </a:rPr>
              <a:t>(2 bytes/fila, crece hacia arriba ↑)</a:t>
            </a:r>
            <a:endParaRPr b="0" lang="es-ES" sz="1300" spc="-1" strike="noStrike">
              <a:latin typeface="Arial"/>
            </a:endParaRPr>
          </a:p>
        </p:txBody>
      </p:sp>
      <p:sp>
        <p:nvSpPr>
          <p:cNvPr id="318" name="CustomShape 10"/>
          <p:cNvSpPr/>
          <p:nvPr/>
        </p:nvSpPr>
        <p:spPr>
          <a:xfrm>
            <a:off x="548640" y="5733360"/>
            <a:ext cx="3015000" cy="5461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200" spc="-1" strike="noStrike">
                <a:solidFill>
                  <a:srgbClr val="5c6b7a"/>
                </a:solidFill>
                <a:latin typeface="Calibri"/>
                <a:ea typeface="Calibri"/>
              </a:rPr>
              <a:t>Máx. 8060 bytes de datos por fila en página (límite en fila)</a:t>
            </a:r>
            <a:endParaRPr b="0" lang="es-ES" sz="1200" spc="-1" strike="noStrike">
              <a:latin typeface="Arial"/>
            </a:endParaRPr>
          </a:p>
        </p:txBody>
      </p:sp>
      <p:sp>
        <p:nvSpPr>
          <p:cNvPr id="319" name="CustomShape 11"/>
          <p:cNvSpPr/>
          <p:nvPr/>
        </p:nvSpPr>
        <p:spPr>
          <a:xfrm>
            <a:off x="4023360" y="1600200"/>
            <a:ext cx="7617240" cy="2718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400" spc="-1" strike="noStrike">
                <a:solidFill>
                  <a:srgbClr val="0b2545"/>
                </a:solidFill>
                <a:latin typeface="Calibri"/>
                <a:ea typeface="Calibri"/>
              </a:rPr>
              <a:t>Extensión = 8 páginas contiguas = 64 KB</a:t>
            </a:r>
            <a:endParaRPr b="0" lang="es-ES" sz="1400" spc="-1" strike="noStrike">
              <a:latin typeface="Arial"/>
            </a:endParaRPr>
          </a:p>
        </p:txBody>
      </p:sp>
      <p:sp>
        <p:nvSpPr>
          <p:cNvPr id="320" name="CustomShape 12"/>
          <p:cNvSpPr/>
          <p:nvPr/>
        </p:nvSpPr>
        <p:spPr>
          <a:xfrm>
            <a:off x="4023360" y="1965960"/>
            <a:ext cx="885960" cy="546120"/>
          </a:xfrm>
          <a:prstGeom prst="roundRect">
            <a:avLst>
              <a:gd name="adj" fmla="val 10000"/>
            </a:avLst>
          </a:prstGeom>
          <a:solidFill>
            <a:srgbClr val="d95d39"/>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100" spc="-1" strike="noStrike">
                <a:solidFill>
                  <a:srgbClr val="ffffff"/>
                </a:solidFill>
                <a:latin typeface="Calibri"/>
                <a:ea typeface="Calibri"/>
              </a:rPr>
              <a:t>P1</a:t>
            </a:r>
            <a:endParaRPr b="0" lang="es-ES" sz="1100" spc="-1" strike="noStrike">
              <a:latin typeface="Arial"/>
            </a:endParaRPr>
          </a:p>
          <a:p>
            <a:pPr algn="ctr">
              <a:lnSpc>
                <a:spcPct val="100000"/>
              </a:lnSpc>
              <a:tabLst>
                <a:tab algn="l" pos="0"/>
              </a:tabLst>
            </a:pPr>
            <a:r>
              <a:rPr b="1" lang="en-US" sz="1100" spc="-1" strike="noStrike">
                <a:solidFill>
                  <a:srgbClr val="ffffff"/>
                </a:solidFill>
                <a:latin typeface="Calibri"/>
                <a:ea typeface="Calibri"/>
              </a:rPr>
              <a:t>8 KB</a:t>
            </a:r>
            <a:endParaRPr b="0" lang="es-ES" sz="1100" spc="-1" strike="noStrike">
              <a:latin typeface="Arial"/>
            </a:endParaRPr>
          </a:p>
        </p:txBody>
      </p:sp>
      <p:sp>
        <p:nvSpPr>
          <p:cNvPr id="321" name="CustomShape 13"/>
          <p:cNvSpPr/>
          <p:nvPr/>
        </p:nvSpPr>
        <p:spPr>
          <a:xfrm>
            <a:off x="4984920" y="1965960"/>
            <a:ext cx="885960" cy="546120"/>
          </a:xfrm>
          <a:prstGeom prst="roundRect">
            <a:avLst>
              <a:gd name="adj" fmla="val 10000"/>
            </a:avLst>
          </a:prstGeom>
          <a:solidFill>
            <a:srgbClr val="134074"/>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100" spc="-1" strike="noStrike">
                <a:solidFill>
                  <a:srgbClr val="ffffff"/>
                </a:solidFill>
                <a:latin typeface="Calibri"/>
                <a:ea typeface="Calibri"/>
              </a:rPr>
              <a:t>P2</a:t>
            </a:r>
            <a:endParaRPr b="0" lang="es-ES" sz="1100" spc="-1" strike="noStrike">
              <a:latin typeface="Arial"/>
            </a:endParaRPr>
          </a:p>
          <a:p>
            <a:pPr algn="ctr">
              <a:lnSpc>
                <a:spcPct val="100000"/>
              </a:lnSpc>
              <a:tabLst>
                <a:tab algn="l" pos="0"/>
              </a:tabLst>
            </a:pPr>
            <a:r>
              <a:rPr b="1" lang="en-US" sz="1100" spc="-1" strike="noStrike">
                <a:solidFill>
                  <a:srgbClr val="ffffff"/>
                </a:solidFill>
                <a:latin typeface="Calibri"/>
                <a:ea typeface="Calibri"/>
              </a:rPr>
              <a:t>8 KB</a:t>
            </a:r>
            <a:endParaRPr b="0" lang="es-ES" sz="1100" spc="-1" strike="noStrike">
              <a:latin typeface="Arial"/>
            </a:endParaRPr>
          </a:p>
        </p:txBody>
      </p:sp>
      <p:sp>
        <p:nvSpPr>
          <p:cNvPr id="322" name="CustomShape 14"/>
          <p:cNvSpPr/>
          <p:nvPr/>
        </p:nvSpPr>
        <p:spPr>
          <a:xfrm>
            <a:off x="5946480" y="1965960"/>
            <a:ext cx="885960" cy="546120"/>
          </a:xfrm>
          <a:prstGeom prst="roundRect">
            <a:avLst>
              <a:gd name="adj" fmla="val 10000"/>
            </a:avLst>
          </a:prstGeom>
          <a:solidFill>
            <a:srgbClr val="134074"/>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100" spc="-1" strike="noStrike">
                <a:solidFill>
                  <a:srgbClr val="ffffff"/>
                </a:solidFill>
                <a:latin typeface="Calibri"/>
                <a:ea typeface="Calibri"/>
              </a:rPr>
              <a:t>P3</a:t>
            </a:r>
            <a:endParaRPr b="0" lang="es-ES" sz="1100" spc="-1" strike="noStrike">
              <a:latin typeface="Arial"/>
            </a:endParaRPr>
          </a:p>
          <a:p>
            <a:pPr algn="ctr">
              <a:lnSpc>
                <a:spcPct val="100000"/>
              </a:lnSpc>
              <a:tabLst>
                <a:tab algn="l" pos="0"/>
              </a:tabLst>
            </a:pPr>
            <a:r>
              <a:rPr b="1" lang="en-US" sz="1100" spc="-1" strike="noStrike">
                <a:solidFill>
                  <a:srgbClr val="ffffff"/>
                </a:solidFill>
                <a:latin typeface="Calibri"/>
                <a:ea typeface="Calibri"/>
              </a:rPr>
              <a:t>8 KB</a:t>
            </a:r>
            <a:endParaRPr b="0" lang="es-ES" sz="1100" spc="-1" strike="noStrike">
              <a:latin typeface="Arial"/>
            </a:endParaRPr>
          </a:p>
        </p:txBody>
      </p:sp>
      <p:sp>
        <p:nvSpPr>
          <p:cNvPr id="323" name="CustomShape 15"/>
          <p:cNvSpPr/>
          <p:nvPr/>
        </p:nvSpPr>
        <p:spPr>
          <a:xfrm>
            <a:off x="6908040" y="1965960"/>
            <a:ext cx="885960" cy="546120"/>
          </a:xfrm>
          <a:prstGeom prst="roundRect">
            <a:avLst>
              <a:gd name="adj" fmla="val 10000"/>
            </a:avLst>
          </a:prstGeom>
          <a:solidFill>
            <a:srgbClr val="134074"/>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100" spc="-1" strike="noStrike">
                <a:solidFill>
                  <a:srgbClr val="ffffff"/>
                </a:solidFill>
                <a:latin typeface="Calibri"/>
                <a:ea typeface="Calibri"/>
              </a:rPr>
              <a:t>P4</a:t>
            </a:r>
            <a:endParaRPr b="0" lang="es-ES" sz="1100" spc="-1" strike="noStrike">
              <a:latin typeface="Arial"/>
            </a:endParaRPr>
          </a:p>
          <a:p>
            <a:pPr algn="ctr">
              <a:lnSpc>
                <a:spcPct val="100000"/>
              </a:lnSpc>
              <a:tabLst>
                <a:tab algn="l" pos="0"/>
              </a:tabLst>
            </a:pPr>
            <a:r>
              <a:rPr b="1" lang="en-US" sz="1100" spc="-1" strike="noStrike">
                <a:solidFill>
                  <a:srgbClr val="ffffff"/>
                </a:solidFill>
                <a:latin typeface="Calibri"/>
                <a:ea typeface="Calibri"/>
              </a:rPr>
              <a:t>8 KB</a:t>
            </a:r>
            <a:endParaRPr b="0" lang="es-ES" sz="1100" spc="-1" strike="noStrike">
              <a:latin typeface="Arial"/>
            </a:endParaRPr>
          </a:p>
        </p:txBody>
      </p:sp>
      <p:sp>
        <p:nvSpPr>
          <p:cNvPr id="324" name="CustomShape 16"/>
          <p:cNvSpPr/>
          <p:nvPr/>
        </p:nvSpPr>
        <p:spPr>
          <a:xfrm>
            <a:off x="7869960" y="1965960"/>
            <a:ext cx="885960" cy="546120"/>
          </a:xfrm>
          <a:prstGeom prst="roundRect">
            <a:avLst>
              <a:gd name="adj" fmla="val 10000"/>
            </a:avLst>
          </a:prstGeom>
          <a:solidFill>
            <a:srgbClr val="134074"/>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100" spc="-1" strike="noStrike">
                <a:solidFill>
                  <a:srgbClr val="ffffff"/>
                </a:solidFill>
                <a:latin typeface="Calibri"/>
                <a:ea typeface="Calibri"/>
              </a:rPr>
              <a:t>P5</a:t>
            </a:r>
            <a:endParaRPr b="0" lang="es-ES" sz="1100" spc="-1" strike="noStrike">
              <a:latin typeface="Arial"/>
            </a:endParaRPr>
          </a:p>
          <a:p>
            <a:pPr algn="ctr">
              <a:lnSpc>
                <a:spcPct val="100000"/>
              </a:lnSpc>
              <a:tabLst>
                <a:tab algn="l" pos="0"/>
              </a:tabLst>
            </a:pPr>
            <a:r>
              <a:rPr b="1" lang="en-US" sz="1100" spc="-1" strike="noStrike">
                <a:solidFill>
                  <a:srgbClr val="ffffff"/>
                </a:solidFill>
                <a:latin typeface="Calibri"/>
                <a:ea typeface="Calibri"/>
              </a:rPr>
              <a:t>8 KB</a:t>
            </a:r>
            <a:endParaRPr b="0" lang="es-ES" sz="1100" spc="-1" strike="noStrike">
              <a:latin typeface="Arial"/>
            </a:endParaRPr>
          </a:p>
        </p:txBody>
      </p:sp>
      <p:sp>
        <p:nvSpPr>
          <p:cNvPr id="325" name="CustomShape 17"/>
          <p:cNvSpPr/>
          <p:nvPr/>
        </p:nvSpPr>
        <p:spPr>
          <a:xfrm>
            <a:off x="8831520" y="1965960"/>
            <a:ext cx="885960" cy="546120"/>
          </a:xfrm>
          <a:prstGeom prst="roundRect">
            <a:avLst>
              <a:gd name="adj" fmla="val 10000"/>
            </a:avLst>
          </a:prstGeom>
          <a:solidFill>
            <a:srgbClr val="134074"/>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100" spc="-1" strike="noStrike">
                <a:solidFill>
                  <a:srgbClr val="ffffff"/>
                </a:solidFill>
                <a:latin typeface="Calibri"/>
                <a:ea typeface="Calibri"/>
              </a:rPr>
              <a:t>P6</a:t>
            </a:r>
            <a:endParaRPr b="0" lang="es-ES" sz="1100" spc="-1" strike="noStrike">
              <a:latin typeface="Arial"/>
            </a:endParaRPr>
          </a:p>
          <a:p>
            <a:pPr algn="ctr">
              <a:lnSpc>
                <a:spcPct val="100000"/>
              </a:lnSpc>
              <a:tabLst>
                <a:tab algn="l" pos="0"/>
              </a:tabLst>
            </a:pPr>
            <a:r>
              <a:rPr b="1" lang="en-US" sz="1100" spc="-1" strike="noStrike">
                <a:solidFill>
                  <a:srgbClr val="ffffff"/>
                </a:solidFill>
                <a:latin typeface="Calibri"/>
                <a:ea typeface="Calibri"/>
              </a:rPr>
              <a:t>8 KB</a:t>
            </a:r>
            <a:endParaRPr b="0" lang="es-ES" sz="1100" spc="-1" strike="noStrike">
              <a:latin typeface="Arial"/>
            </a:endParaRPr>
          </a:p>
        </p:txBody>
      </p:sp>
      <p:sp>
        <p:nvSpPr>
          <p:cNvPr id="326" name="CustomShape 18"/>
          <p:cNvSpPr/>
          <p:nvPr/>
        </p:nvSpPr>
        <p:spPr>
          <a:xfrm>
            <a:off x="9793080" y="1965960"/>
            <a:ext cx="885960" cy="546120"/>
          </a:xfrm>
          <a:prstGeom prst="roundRect">
            <a:avLst>
              <a:gd name="adj" fmla="val 10000"/>
            </a:avLst>
          </a:prstGeom>
          <a:solidFill>
            <a:srgbClr val="134074"/>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100" spc="-1" strike="noStrike">
                <a:solidFill>
                  <a:srgbClr val="ffffff"/>
                </a:solidFill>
                <a:latin typeface="Calibri"/>
                <a:ea typeface="Calibri"/>
              </a:rPr>
              <a:t>P7</a:t>
            </a:r>
            <a:endParaRPr b="0" lang="es-ES" sz="1100" spc="-1" strike="noStrike">
              <a:latin typeface="Arial"/>
            </a:endParaRPr>
          </a:p>
          <a:p>
            <a:pPr algn="ctr">
              <a:lnSpc>
                <a:spcPct val="100000"/>
              </a:lnSpc>
              <a:tabLst>
                <a:tab algn="l" pos="0"/>
              </a:tabLst>
            </a:pPr>
            <a:r>
              <a:rPr b="1" lang="en-US" sz="1100" spc="-1" strike="noStrike">
                <a:solidFill>
                  <a:srgbClr val="ffffff"/>
                </a:solidFill>
                <a:latin typeface="Calibri"/>
                <a:ea typeface="Calibri"/>
              </a:rPr>
              <a:t>8 KB</a:t>
            </a:r>
            <a:endParaRPr b="0" lang="es-ES" sz="1100" spc="-1" strike="noStrike">
              <a:latin typeface="Arial"/>
            </a:endParaRPr>
          </a:p>
        </p:txBody>
      </p:sp>
      <p:sp>
        <p:nvSpPr>
          <p:cNvPr id="327" name="CustomShape 19"/>
          <p:cNvSpPr/>
          <p:nvPr/>
        </p:nvSpPr>
        <p:spPr>
          <a:xfrm>
            <a:off x="10754640" y="1965960"/>
            <a:ext cx="885960" cy="546120"/>
          </a:xfrm>
          <a:prstGeom prst="roundRect">
            <a:avLst>
              <a:gd name="adj" fmla="val 10000"/>
            </a:avLst>
          </a:prstGeom>
          <a:solidFill>
            <a:srgbClr val="134074"/>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100" spc="-1" strike="noStrike">
                <a:solidFill>
                  <a:srgbClr val="ffffff"/>
                </a:solidFill>
                <a:latin typeface="Calibri"/>
                <a:ea typeface="Calibri"/>
              </a:rPr>
              <a:t>P8</a:t>
            </a:r>
            <a:endParaRPr b="0" lang="es-ES" sz="1100" spc="-1" strike="noStrike">
              <a:latin typeface="Arial"/>
            </a:endParaRPr>
          </a:p>
          <a:p>
            <a:pPr algn="ctr">
              <a:lnSpc>
                <a:spcPct val="100000"/>
              </a:lnSpc>
              <a:tabLst>
                <a:tab algn="l" pos="0"/>
              </a:tabLst>
            </a:pPr>
            <a:r>
              <a:rPr b="1" lang="en-US" sz="1100" spc="-1" strike="noStrike">
                <a:solidFill>
                  <a:srgbClr val="ffffff"/>
                </a:solidFill>
                <a:latin typeface="Calibri"/>
                <a:ea typeface="Calibri"/>
              </a:rPr>
              <a:t>8 KB</a:t>
            </a:r>
            <a:endParaRPr b="0" lang="es-ES" sz="1100" spc="-1" strike="noStrike">
              <a:latin typeface="Arial"/>
            </a:endParaRPr>
          </a:p>
        </p:txBody>
      </p:sp>
      <p:sp>
        <p:nvSpPr>
          <p:cNvPr id="328" name="CustomShape 20"/>
          <p:cNvSpPr/>
          <p:nvPr/>
        </p:nvSpPr>
        <p:spPr>
          <a:xfrm>
            <a:off x="4023360" y="2560320"/>
            <a:ext cx="7617240" cy="2718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200" spc="-1" strike="noStrike">
                <a:solidFill>
                  <a:srgbClr val="5c6b7a"/>
                </a:solidFill>
                <a:latin typeface="Calibri"/>
                <a:ea typeface="Calibri"/>
              </a:rPr>
              <a:t>Mixta: páginas de distintos objetos · Uniforme: un solo objeto (desde la 9.ª página)</a:t>
            </a:r>
            <a:endParaRPr b="0" lang="es-ES" sz="1200" spc="-1" strike="noStrike">
              <a:latin typeface="Arial"/>
            </a:endParaRPr>
          </a:p>
        </p:txBody>
      </p:sp>
      <p:sp>
        <p:nvSpPr>
          <p:cNvPr id="329" name="CustomShape 21"/>
          <p:cNvSpPr/>
          <p:nvPr/>
        </p:nvSpPr>
        <p:spPr>
          <a:xfrm>
            <a:off x="4023360" y="3017520"/>
            <a:ext cx="7617240" cy="2718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400" spc="-1" strike="noStrike">
                <a:solidFill>
                  <a:srgbClr val="0b2545"/>
                </a:solidFill>
                <a:latin typeface="Calibri"/>
                <a:ea typeface="Calibri"/>
              </a:rPr>
              <a:t>Ficheros de datos agrupados en filegroups</a:t>
            </a:r>
            <a:endParaRPr b="0" lang="es-ES" sz="1400" spc="-1" strike="noStrike">
              <a:latin typeface="Arial"/>
            </a:endParaRPr>
          </a:p>
        </p:txBody>
      </p:sp>
      <p:sp>
        <p:nvSpPr>
          <p:cNvPr id="330" name="CustomShape 22"/>
          <p:cNvSpPr/>
          <p:nvPr/>
        </p:nvSpPr>
        <p:spPr>
          <a:xfrm>
            <a:off x="4023360" y="3364920"/>
            <a:ext cx="7617240" cy="1049040"/>
          </a:xfrm>
          <a:prstGeom prst="roundRect">
            <a:avLst>
              <a:gd name="adj" fmla="val 8696"/>
            </a:avLst>
          </a:prstGeom>
          <a:solidFill>
            <a:srgbClr val="e8eef5"/>
          </a:solidFill>
          <a:ln w="9360">
            <a:solidFill>
              <a:srgbClr val="134074"/>
            </a:solidFill>
            <a:round/>
          </a:ln>
        </p:spPr>
        <p:style>
          <a:lnRef idx="0"/>
          <a:fillRef idx="0"/>
          <a:effectRef idx="0"/>
          <a:fontRef idx="minor"/>
        </p:style>
      </p:sp>
      <p:sp>
        <p:nvSpPr>
          <p:cNvPr id="331" name="CustomShape 23"/>
          <p:cNvSpPr/>
          <p:nvPr/>
        </p:nvSpPr>
        <p:spPr>
          <a:xfrm>
            <a:off x="4160520" y="3410640"/>
            <a:ext cx="7342920" cy="2260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100" spc="-1" strike="noStrike">
                <a:solidFill>
                  <a:srgbClr val="134074"/>
                </a:solidFill>
                <a:latin typeface="Calibri"/>
                <a:ea typeface="Calibri"/>
              </a:rPr>
              <a:t>Filegroup PRIMARY (por defecto)</a:t>
            </a:r>
            <a:endParaRPr b="0" lang="es-ES" sz="1100" spc="-1" strike="noStrike">
              <a:latin typeface="Arial"/>
            </a:endParaRPr>
          </a:p>
        </p:txBody>
      </p:sp>
      <p:sp>
        <p:nvSpPr>
          <p:cNvPr id="332" name="CustomShape 24"/>
          <p:cNvSpPr/>
          <p:nvPr/>
        </p:nvSpPr>
        <p:spPr>
          <a:xfrm>
            <a:off x="4160520" y="3703320"/>
            <a:ext cx="3601440" cy="591840"/>
          </a:xfrm>
          <a:prstGeom prst="roundRect">
            <a:avLst>
              <a:gd name="adj" fmla="val 12308"/>
            </a:avLst>
          </a:prstGeom>
          <a:solidFill>
            <a:srgbClr val="134074"/>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200" spc="-1" strike="noStrike">
                <a:solidFill>
                  <a:srgbClr val="ffffff"/>
                </a:solidFill>
                <a:latin typeface="Calibri"/>
                <a:ea typeface="Calibri"/>
              </a:rPr>
              <a:t>Primario .mdf</a:t>
            </a:r>
            <a:endParaRPr b="0" lang="es-ES" sz="1200" spc="-1" strike="noStrike">
              <a:latin typeface="Arial"/>
            </a:endParaRPr>
          </a:p>
          <a:p>
            <a:pPr algn="ctr">
              <a:lnSpc>
                <a:spcPct val="100000"/>
              </a:lnSpc>
              <a:tabLst>
                <a:tab algn="l" pos="0"/>
              </a:tabLst>
            </a:pPr>
            <a:r>
              <a:rPr b="1" lang="en-US" sz="1200" spc="-1" strike="noStrike">
                <a:solidFill>
                  <a:srgbClr val="ffffff"/>
                </a:solidFill>
                <a:latin typeface="Calibri"/>
                <a:ea typeface="Calibri"/>
              </a:rPr>
              <a:t>(catálogo + datos)</a:t>
            </a:r>
            <a:endParaRPr b="0" lang="es-ES" sz="1200" spc="-1" strike="noStrike">
              <a:latin typeface="Arial"/>
            </a:endParaRPr>
          </a:p>
        </p:txBody>
      </p:sp>
      <p:sp>
        <p:nvSpPr>
          <p:cNvPr id="333" name="CustomShape 25"/>
          <p:cNvSpPr/>
          <p:nvPr/>
        </p:nvSpPr>
        <p:spPr>
          <a:xfrm>
            <a:off x="7901640" y="3703320"/>
            <a:ext cx="3601440" cy="591840"/>
          </a:xfrm>
          <a:prstGeom prst="roundRect">
            <a:avLst>
              <a:gd name="adj" fmla="val 12308"/>
            </a:avLst>
          </a:prstGeom>
          <a:solidFill>
            <a:srgbClr val="134074"/>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200" spc="-1" strike="noStrike">
                <a:solidFill>
                  <a:srgbClr val="ffffff"/>
                </a:solidFill>
                <a:latin typeface="Calibri"/>
                <a:ea typeface="Calibri"/>
              </a:rPr>
              <a:t>Secundario .ndf</a:t>
            </a:r>
            <a:endParaRPr b="0" lang="es-ES" sz="1200" spc="-1" strike="noStrike">
              <a:latin typeface="Arial"/>
            </a:endParaRPr>
          </a:p>
          <a:p>
            <a:pPr algn="ctr">
              <a:lnSpc>
                <a:spcPct val="100000"/>
              </a:lnSpc>
              <a:tabLst>
                <a:tab algn="l" pos="0"/>
              </a:tabLst>
            </a:pPr>
            <a:r>
              <a:rPr b="1" lang="en-US" sz="1200" spc="-1" strike="noStrike">
                <a:solidFill>
                  <a:srgbClr val="ffffff"/>
                </a:solidFill>
                <a:latin typeface="Calibri"/>
                <a:ea typeface="Calibri"/>
              </a:rPr>
              <a:t>(datos adicionales)</a:t>
            </a:r>
            <a:endParaRPr b="0" lang="es-ES" sz="1200" spc="-1" strike="noStrike">
              <a:latin typeface="Arial"/>
            </a:endParaRPr>
          </a:p>
        </p:txBody>
      </p:sp>
      <p:sp>
        <p:nvSpPr>
          <p:cNvPr id="334" name="CustomShape 26"/>
          <p:cNvSpPr/>
          <p:nvPr/>
        </p:nvSpPr>
        <p:spPr>
          <a:xfrm>
            <a:off x="4023360" y="4663440"/>
            <a:ext cx="7617240" cy="2718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400" spc="-1" strike="noStrike">
                <a:solidFill>
                  <a:srgbClr val="0b2545"/>
                </a:solidFill>
                <a:latin typeface="Calibri"/>
                <a:ea typeface="Calibri"/>
              </a:rPr>
              <a:t>Transaction log (.ldf) — secuencia circular de VLFs</a:t>
            </a:r>
            <a:endParaRPr b="0" lang="es-ES" sz="1400" spc="-1" strike="noStrike">
              <a:latin typeface="Arial"/>
            </a:endParaRPr>
          </a:p>
        </p:txBody>
      </p:sp>
      <p:sp>
        <p:nvSpPr>
          <p:cNvPr id="335" name="CustomShape 27"/>
          <p:cNvSpPr/>
          <p:nvPr/>
        </p:nvSpPr>
        <p:spPr>
          <a:xfrm>
            <a:off x="4023360" y="5010840"/>
            <a:ext cx="7617240" cy="866160"/>
          </a:xfrm>
          <a:prstGeom prst="roundRect">
            <a:avLst>
              <a:gd name="adj" fmla="val 10526"/>
            </a:avLst>
          </a:prstGeom>
          <a:solidFill>
            <a:srgbClr val="fdede8"/>
          </a:solidFill>
          <a:ln w="9360">
            <a:solidFill>
              <a:srgbClr val="d95d39"/>
            </a:solidFill>
            <a:round/>
          </a:ln>
        </p:spPr>
        <p:style>
          <a:lnRef idx="0"/>
          <a:fillRef idx="0"/>
          <a:effectRef idx="0"/>
          <a:fontRef idx="minor"/>
        </p:style>
      </p:sp>
      <p:sp>
        <p:nvSpPr>
          <p:cNvPr id="336" name="CustomShape 28"/>
          <p:cNvSpPr/>
          <p:nvPr/>
        </p:nvSpPr>
        <p:spPr>
          <a:xfrm>
            <a:off x="4160520" y="5120640"/>
            <a:ext cx="867600" cy="363240"/>
          </a:xfrm>
          <a:prstGeom prst="roundRect">
            <a:avLst>
              <a:gd name="adj" fmla="val 12500"/>
            </a:avLst>
          </a:prstGeom>
          <a:solidFill>
            <a:srgbClr val="5c6b7a"/>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100" spc="-1" strike="noStrike">
                <a:solidFill>
                  <a:srgbClr val="ffffff"/>
                </a:solidFill>
                <a:latin typeface="Calibri"/>
                <a:ea typeface="Calibri"/>
              </a:rPr>
              <a:t>VLF 1</a:t>
            </a:r>
            <a:endParaRPr b="0" lang="es-ES" sz="1100" spc="-1" strike="noStrike">
              <a:latin typeface="Arial"/>
            </a:endParaRPr>
          </a:p>
        </p:txBody>
      </p:sp>
      <p:sp>
        <p:nvSpPr>
          <p:cNvPr id="337" name="CustomShape 29"/>
          <p:cNvSpPr/>
          <p:nvPr/>
        </p:nvSpPr>
        <p:spPr>
          <a:xfrm>
            <a:off x="5085720" y="5120640"/>
            <a:ext cx="867600" cy="363240"/>
          </a:xfrm>
          <a:prstGeom prst="roundRect">
            <a:avLst>
              <a:gd name="adj" fmla="val 12500"/>
            </a:avLst>
          </a:prstGeom>
          <a:solidFill>
            <a:srgbClr val="5c6b7a"/>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100" spc="-1" strike="noStrike">
                <a:solidFill>
                  <a:srgbClr val="ffffff"/>
                </a:solidFill>
                <a:latin typeface="Calibri"/>
                <a:ea typeface="Calibri"/>
              </a:rPr>
              <a:t>VLF 2</a:t>
            </a:r>
            <a:endParaRPr b="0" lang="es-ES" sz="1100" spc="-1" strike="noStrike">
              <a:latin typeface="Arial"/>
            </a:endParaRPr>
          </a:p>
        </p:txBody>
      </p:sp>
      <p:sp>
        <p:nvSpPr>
          <p:cNvPr id="338" name="CustomShape 30"/>
          <p:cNvSpPr/>
          <p:nvPr/>
        </p:nvSpPr>
        <p:spPr>
          <a:xfrm>
            <a:off x="6010560" y="5120640"/>
            <a:ext cx="867600" cy="363240"/>
          </a:xfrm>
          <a:prstGeom prst="roundRect">
            <a:avLst>
              <a:gd name="adj" fmla="val 12500"/>
            </a:avLst>
          </a:prstGeom>
          <a:solidFill>
            <a:srgbClr val="5c6b7a"/>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100" spc="-1" strike="noStrike">
                <a:solidFill>
                  <a:srgbClr val="ffffff"/>
                </a:solidFill>
                <a:latin typeface="Calibri"/>
                <a:ea typeface="Calibri"/>
              </a:rPr>
              <a:t>VLF 3</a:t>
            </a:r>
            <a:endParaRPr b="0" lang="es-ES" sz="1100" spc="-1" strike="noStrike">
              <a:latin typeface="Arial"/>
            </a:endParaRPr>
          </a:p>
        </p:txBody>
      </p:sp>
      <p:sp>
        <p:nvSpPr>
          <p:cNvPr id="339" name="CustomShape 31"/>
          <p:cNvSpPr/>
          <p:nvPr/>
        </p:nvSpPr>
        <p:spPr>
          <a:xfrm>
            <a:off x="6935760" y="5120640"/>
            <a:ext cx="867600" cy="363240"/>
          </a:xfrm>
          <a:prstGeom prst="roundRect">
            <a:avLst>
              <a:gd name="adj" fmla="val 12500"/>
            </a:avLst>
          </a:prstGeom>
          <a:solidFill>
            <a:srgbClr val="d95d39"/>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100" spc="-1" strike="noStrike">
                <a:solidFill>
                  <a:srgbClr val="ffffff"/>
                </a:solidFill>
                <a:latin typeface="Calibri"/>
                <a:ea typeface="Calibri"/>
              </a:rPr>
              <a:t>VLF 4</a:t>
            </a:r>
            <a:endParaRPr b="0" lang="es-ES" sz="1100" spc="-1" strike="noStrike">
              <a:latin typeface="Arial"/>
            </a:endParaRPr>
          </a:p>
        </p:txBody>
      </p:sp>
      <p:sp>
        <p:nvSpPr>
          <p:cNvPr id="340" name="CustomShape 32"/>
          <p:cNvSpPr/>
          <p:nvPr/>
        </p:nvSpPr>
        <p:spPr>
          <a:xfrm>
            <a:off x="7860600" y="5120640"/>
            <a:ext cx="867600" cy="363240"/>
          </a:xfrm>
          <a:prstGeom prst="roundRect">
            <a:avLst>
              <a:gd name="adj" fmla="val 12500"/>
            </a:avLst>
          </a:prstGeom>
          <a:solidFill>
            <a:srgbClr val="d95d39"/>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100" spc="-1" strike="noStrike">
                <a:solidFill>
                  <a:srgbClr val="ffffff"/>
                </a:solidFill>
                <a:latin typeface="Calibri"/>
                <a:ea typeface="Calibri"/>
              </a:rPr>
              <a:t>VLF 5</a:t>
            </a:r>
            <a:endParaRPr b="0" lang="es-ES" sz="1100" spc="-1" strike="noStrike">
              <a:latin typeface="Arial"/>
            </a:endParaRPr>
          </a:p>
        </p:txBody>
      </p:sp>
      <p:sp>
        <p:nvSpPr>
          <p:cNvPr id="341" name="CustomShape 33"/>
          <p:cNvSpPr/>
          <p:nvPr/>
        </p:nvSpPr>
        <p:spPr>
          <a:xfrm>
            <a:off x="8785800" y="5120640"/>
            <a:ext cx="867600" cy="363240"/>
          </a:xfrm>
          <a:prstGeom prst="roundRect">
            <a:avLst>
              <a:gd name="adj" fmla="val 12500"/>
            </a:avLst>
          </a:prstGeom>
          <a:solidFill>
            <a:srgbClr val="d95d39"/>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100" spc="-1" strike="noStrike">
                <a:solidFill>
                  <a:srgbClr val="ffffff"/>
                </a:solidFill>
                <a:latin typeface="Calibri"/>
                <a:ea typeface="Calibri"/>
              </a:rPr>
              <a:t>VLF 6</a:t>
            </a:r>
            <a:endParaRPr b="0" lang="es-ES" sz="1100" spc="-1" strike="noStrike">
              <a:latin typeface="Arial"/>
            </a:endParaRPr>
          </a:p>
        </p:txBody>
      </p:sp>
      <p:sp>
        <p:nvSpPr>
          <p:cNvPr id="342" name="CustomShape 34"/>
          <p:cNvSpPr/>
          <p:nvPr/>
        </p:nvSpPr>
        <p:spPr>
          <a:xfrm>
            <a:off x="9710640" y="5120640"/>
            <a:ext cx="867600" cy="363240"/>
          </a:xfrm>
          <a:prstGeom prst="roundRect">
            <a:avLst>
              <a:gd name="adj" fmla="val 12500"/>
            </a:avLst>
          </a:prstGeom>
          <a:solidFill>
            <a:srgbClr val="ffffff"/>
          </a:solidFill>
          <a:ln w="12600">
            <a:solidFill>
              <a:srgbClr val="d0d7de"/>
            </a:solidFill>
            <a:round/>
          </a:ln>
        </p:spPr>
        <p:style>
          <a:lnRef idx="0"/>
          <a:fillRef idx="0"/>
          <a:effectRef idx="0"/>
          <a:fontRef idx="minor"/>
        </p:style>
        <p:txBody>
          <a:bodyPr lIns="360" rIns="1080" tIns="1080" bIns="360" anchor="ctr">
            <a:noAutofit/>
          </a:bodyPr>
          <a:p>
            <a:pPr algn="ctr">
              <a:lnSpc>
                <a:spcPct val="100000"/>
              </a:lnSpc>
              <a:tabLst>
                <a:tab algn="l" pos="0"/>
              </a:tabLst>
            </a:pPr>
            <a:r>
              <a:rPr b="1" lang="en-US" sz="1100" spc="-1" strike="noStrike">
                <a:solidFill>
                  <a:srgbClr val="5c6b7a"/>
                </a:solidFill>
                <a:latin typeface="Calibri"/>
                <a:ea typeface="Calibri"/>
              </a:rPr>
              <a:t>VLF 7</a:t>
            </a:r>
            <a:endParaRPr b="0" lang="es-ES" sz="1100" spc="-1" strike="noStrike">
              <a:latin typeface="Arial"/>
            </a:endParaRPr>
          </a:p>
        </p:txBody>
      </p:sp>
      <p:sp>
        <p:nvSpPr>
          <p:cNvPr id="343" name="CustomShape 35"/>
          <p:cNvSpPr/>
          <p:nvPr/>
        </p:nvSpPr>
        <p:spPr>
          <a:xfrm>
            <a:off x="10635840" y="5120640"/>
            <a:ext cx="867600" cy="363240"/>
          </a:xfrm>
          <a:prstGeom prst="roundRect">
            <a:avLst>
              <a:gd name="adj" fmla="val 12500"/>
            </a:avLst>
          </a:prstGeom>
          <a:solidFill>
            <a:srgbClr val="ffffff"/>
          </a:solidFill>
          <a:ln w="12600">
            <a:solidFill>
              <a:srgbClr val="d0d7de"/>
            </a:solidFill>
            <a:round/>
          </a:ln>
        </p:spPr>
        <p:style>
          <a:lnRef idx="0"/>
          <a:fillRef idx="0"/>
          <a:effectRef idx="0"/>
          <a:fontRef idx="minor"/>
        </p:style>
        <p:txBody>
          <a:bodyPr lIns="360" rIns="1080" tIns="1080" bIns="360" anchor="ctr">
            <a:noAutofit/>
          </a:bodyPr>
          <a:p>
            <a:pPr algn="ctr">
              <a:lnSpc>
                <a:spcPct val="100000"/>
              </a:lnSpc>
              <a:tabLst>
                <a:tab algn="l" pos="0"/>
              </a:tabLst>
            </a:pPr>
            <a:r>
              <a:rPr b="1" lang="en-US" sz="1100" spc="-1" strike="noStrike">
                <a:solidFill>
                  <a:srgbClr val="5c6b7a"/>
                </a:solidFill>
                <a:latin typeface="Calibri"/>
                <a:ea typeface="Calibri"/>
              </a:rPr>
              <a:t>VLF 8</a:t>
            </a:r>
            <a:endParaRPr b="0" lang="es-ES" sz="1100" spc="-1" strike="noStrike">
              <a:latin typeface="Arial"/>
            </a:endParaRPr>
          </a:p>
        </p:txBody>
      </p:sp>
      <p:sp>
        <p:nvSpPr>
          <p:cNvPr id="344" name="CustomShape 36"/>
          <p:cNvSpPr/>
          <p:nvPr/>
        </p:nvSpPr>
        <p:spPr>
          <a:xfrm>
            <a:off x="4160520" y="5541120"/>
            <a:ext cx="7342920" cy="2718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100" spc="-1" strike="noStrike">
                <a:solidFill>
                  <a:srgbClr val="5c6b7a"/>
                </a:solidFill>
                <a:latin typeface="Calibri"/>
                <a:ea typeface="Calibri"/>
              </a:rPr>
              <a:t>Gris: reutilizables · Naranja: activos (log activo) · Blanco: libres</a:t>
            </a:r>
            <a:endParaRPr b="0" lang="es-ES" sz="11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345" name="CustomShape 1"/>
          <p:cNvSpPr/>
          <p:nvPr/>
        </p:nvSpPr>
        <p:spPr>
          <a:xfrm>
            <a:off x="548640" y="365760"/>
            <a:ext cx="167076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ALMACENAMIENTO</a:t>
            </a:r>
            <a:endParaRPr b="0" lang="es-ES" sz="1000" spc="-1" strike="noStrike">
              <a:latin typeface="Arial"/>
            </a:endParaRPr>
          </a:p>
        </p:txBody>
      </p:sp>
      <p:sp>
        <p:nvSpPr>
          <p:cNvPr id="346"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Ficheros de datos y de log: MDF, NDF, LDF</a:t>
            </a:r>
            <a:endParaRPr b="0" lang="es-ES" sz="3400" spc="-1" strike="noStrike">
              <a:latin typeface="Arial"/>
            </a:endParaRPr>
          </a:p>
        </p:txBody>
      </p:sp>
      <p:sp>
        <p:nvSpPr>
          <p:cNvPr id="347"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348"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1   11</a:t>
            </a:r>
            <a:endParaRPr b="0" lang="es-ES" sz="1000" spc="-1" strike="noStrike">
              <a:latin typeface="Arial"/>
            </a:endParaRPr>
          </a:p>
        </p:txBody>
      </p:sp>
      <p:sp>
        <p:nvSpPr>
          <p:cNvPr id="349" name="CustomShape 5"/>
          <p:cNvSpPr/>
          <p:nvPr/>
        </p:nvSpPr>
        <p:spPr>
          <a:xfrm>
            <a:off x="548640" y="1600200"/>
            <a:ext cx="3512880" cy="2557800"/>
          </a:xfrm>
          <a:prstGeom prst="roundRect">
            <a:avLst>
              <a:gd name="adj" fmla="val 428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350" name="CustomShape 6"/>
          <p:cNvSpPr/>
          <p:nvPr/>
        </p:nvSpPr>
        <p:spPr>
          <a:xfrm>
            <a:off x="777240" y="1828800"/>
            <a:ext cx="546120" cy="546120"/>
          </a:xfrm>
          <a:prstGeom prst="ellipse">
            <a:avLst/>
          </a:prstGeom>
          <a:solidFill>
            <a:srgbClr val="134074"/>
          </a:solidFill>
          <a:ln>
            <a:noFill/>
          </a:ln>
        </p:spPr>
        <p:style>
          <a:lnRef idx="0"/>
          <a:fillRef idx="0"/>
          <a:effectRef idx="0"/>
          <a:fontRef idx="minor"/>
        </p:style>
      </p:sp>
      <p:pic>
        <p:nvPicPr>
          <p:cNvPr id="351" name="Image 0" descr="preencoded.png"/>
          <p:cNvPicPr/>
          <p:nvPr/>
        </p:nvPicPr>
        <p:blipFill>
          <a:blip r:embed="rId1"/>
          <a:stretch/>
        </p:blipFill>
        <p:spPr>
          <a:xfrm>
            <a:off x="914400" y="1965960"/>
            <a:ext cx="271800" cy="271800"/>
          </a:xfrm>
          <a:prstGeom prst="rect">
            <a:avLst/>
          </a:prstGeom>
          <a:ln>
            <a:noFill/>
          </a:ln>
        </p:spPr>
      </p:pic>
      <p:sp>
        <p:nvSpPr>
          <p:cNvPr id="352" name="CustomShape 7"/>
          <p:cNvSpPr/>
          <p:nvPr/>
        </p:nvSpPr>
        <p:spPr>
          <a:xfrm>
            <a:off x="1463040" y="1828800"/>
            <a:ext cx="236988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Primario · .mdf</a:t>
            </a:r>
            <a:endParaRPr b="0" lang="es-ES" sz="1700" spc="-1" strike="noStrike">
              <a:latin typeface="Arial"/>
            </a:endParaRPr>
          </a:p>
        </p:txBody>
      </p:sp>
      <p:sp>
        <p:nvSpPr>
          <p:cNvPr id="353" name="CustomShape 8"/>
          <p:cNvSpPr/>
          <p:nvPr/>
        </p:nvSpPr>
        <p:spPr>
          <a:xfrm>
            <a:off x="777240" y="2560320"/>
            <a:ext cx="3055680" cy="13690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Uno por BD. Contiene el catálogo y, si no hay más, los datos. Filegroup PRIMARY.</a:t>
            </a:r>
            <a:endParaRPr b="0" lang="es-ES" sz="1400" spc="-1" strike="noStrike">
              <a:latin typeface="Arial"/>
            </a:endParaRPr>
          </a:p>
        </p:txBody>
      </p:sp>
      <p:sp>
        <p:nvSpPr>
          <p:cNvPr id="354" name="CustomShape 9"/>
          <p:cNvSpPr/>
          <p:nvPr/>
        </p:nvSpPr>
        <p:spPr>
          <a:xfrm>
            <a:off x="4338360" y="1600200"/>
            <a:ext cx="3512880" cy="2557800"/>
          </a:xfrm>
          <a:prstGeom prst="roundRect">
            <a:avLst>
              <a:gd name="adj" fmla="val 428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355" name="CustomShape 10"/>
          <p:cNvSpPr/>
          <p:nvPr/>
        </p:nvSpPr>
        <p:spPr>
          <a:xfrm>
            <a:off x="4566960" y="1828800"/>
            <a:ext cx="546120" cy="546120"/>
          </a:xfrm>
          <a:prstGeom prst="ellipse">
            <a:avLst/>
          </a:prstGeom>
          <a:solidFill>
            <a:srgbClr val="134074"/>
          </a:solidFill>
          <a:ln>
            <a:noFill/>
          </a:ln>
        </p:spPr>
        <p:style>
          <a:lnRef idx="0"/>
          <a:fillRef idx="0"/>
          <a:effectRef idx="0"/>
          <a:fontRef idx="minor"/>
        </p:style>
      </p:sp>
      <p:pic>
        <p:nvPicPr>
          <p:cNvPr id="356" name="Image 1" descr="preencoded.png"/>
          <p:cNvPicPr/>
          <p:nvPr/>
        </p:nvPicPr>
        <p:blipFill>
          <a:blip r:embed="rId2"/>
          <a:stretch/>
        </p:blipFill>
        <p:spPr>
          <a:xfrm>
            <a:off x="4704120" y="1965960"/>
            <a:ext cx="271800" cy="271800"/>
          </a:xfrm>
          <a:prstGeom prst="rect">
            <a:avLst/>
          </a:prstGeom>
          <a:ln>
            <a:noFill/>
          </a:ln>
        </p:spPr>
      </p:pic>
      <p:sp>
        <p:nvSpPr>
          <p:cNvPr id="357" name="CustomShape 11"/>
          <p:cNvSpPr/>
          <p:nvPr/>
        </p:nvSpPr>
        <p:spPr>
          <a:xfrm>
            <a:off x="5252760" y="1828800"/>
            <a:ext cx="236988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Secundarios · .ndf</a:t>
            </a:r>
            <a:endParaRPr b="0" lang="es-ES" sz="1700" spc="-1" strike="noStrike">
              <a:latin typeface="Arial"/>
            </a:endParaRPr>
          </a:p>
        </p:txBody>
      </p:sp>
      <p:sp>
        <p:nvSpPr>
          <p:cNvPr id="358" name="CustomShape 12"/>
          <p:cNvSpPr/>
          <p:nvPr/>
        </p:nvSpPr>
        <p:spPr>
          <a:xfrm>
            <a:off x="4566960" y="2560320"/>
            <a:ext cx="3055680" cy="13690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Opcionales. Reparten datos en varios discos y permiten restaurar por filegroup.</a:t>
            </a:r>
            <a:endParaRPr b="0" lang="es-ES" sz="1400" spc="-1" strike="noStrike">
              <a:latin typeface="Arial"/>
            </a:endParaRPr>
          </a:p>
        </p:txBody>
      </p:sp>
      <p:sp>
        <p:nvSpPr>
          <p:cNvPr id="359" name="CustomShape 13"/>
          <p:cNvSpPr/>
          <p:nvPr/>
        </p:nvSpPr>
        <p:spPr>
          <a:xfrm>
            <a:off x="8127720" y="1600200"/>
            <a:ext cx="3512880" cy="2557800"/>
          </a:xfrm>
          <a:prstGeom prst="roundRect">
            <a:avLst>
              <a:gd name="adj" fmla="val 428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360" name="CustomShape 14"/>
          <p:cNvSpPr/>
          <p:nvPr/>
        </p:nvSpPr>
        <p:spPr>
          <a:xfrm>
            <a:off x="8356320" y="1828800"/>
            <a:ext cx="546120" cy="546120"/>
          </a:xfrm>
          <a:prstGeom prst="ellipse">
            <a:avLst/>
          </a:prstGeom>
          <a:solidFill>
            <a:srgbClr val="134074"/>
          </a:solidFill>
          <a:ln>
            <a:noFill/>
          </a:ln>
        </p:spPr>
        <p:style>
          <a:lnRef idx="0"/>
          <a:fillRef idx="0"/>
          <a:effectRef idx="0"/>
          <a:fontRef idx="minor"/>
        </p:style>
      </p:sp>
      <p:pic>
        <p:nvPicPr>
          <p:cNvPr id="361" name="Image 2" descr="preencoded.png"/>
          <p:cNvPicPr/>
          <p:nvPr/>
        </p:nvPicPr>
        <p:blipFill>
          <a:blip r:embed="rId3"/>
          <a:stretch/>
        </p:blipFill>
        <p:spPr>
          <a:xfrm>
            <a:off x="8493480" y="1965960"/>
            <a:ext cx="271800" cy="271800"/>
          </a:xfrm>
          <a:prstGeom prst="rect">
            <a:avLst/>
          </a:prstGeom>
          <a:ln>
            <a:noFill/>
          </a:ln>
        </p:spPr>
      </p:pic>
      <p:sp>
        <p:nvSpPr>
          <p:cNvPr id="362" name="CustomShape 15"/>
          <p:cNvSpPr/>
          <p:nvPr/>
        </p:nvSpPr>
        <p:spPr>
          <a:xfrm>
            <a:off x="9042120" y="1828800"/>
            <a:ext cx="236988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Log · .ldf</a:t>
            </a:r>
            <a:endParaRPr b="0" lang="es-ES" sz="1700" spc="-1" strike="noStrike">
              <a:latin typeface="Arial"/>
            </a:endParaRPr>
          </a:p>
        </p:txBody>
      </p:sp>
      <p:sp>
        <p:nvSpPr>
          <p:cNvPr id="363" name="CustomShape 16"/>
          <p:cNvSpPr/>
          <p:nvPr/>
        </p:nvSpPr>
        <p:spPr>
          <a:xfrm>
            <a:off x="8356320" y="2560320"/>
            <a:ext cx="3055680" cy="13690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Registro secuencial de cambios (WAL). Con uno es suficiente y no pertenece a ningún filegroup.</a:t>
            </a:r>
            <a:endParaRPr b="0" lang="es-ES" sz="1400" spc="-1" strike="noStrike">
              <a:latin typeface="Arial"/>
            </a:endParaRPr>
          </a:p>
        </p:txBody>
      </p:sp>
      <p:sp>
        <p:nvSpPr>
          <p:cNvPr id="364" name="CustomShape 17"/>
          <p:cNvSpPr/>
          <p:nvPr/>
        </p:nvSpPr>
        <p:spPr>
          <a:xfrm>
            <a:off x="548640" y="4526280"/>
            <a:ext cx="5407560" cy="1643400"/>
          </a:xfrm>
          <a:prstGeom prst="roundRect">
            <a:avLst>
              <a:gd name="adj" fmla="val 6667"/>
            </a:avLst>
          </a:prstGeom>
          <a:solidFill>
            <a:srgbClr val="fdede8"/>
          </a:solidFill>
          <a:ln>
            <a:noFill/>
          </a:ln>
        </p:spPr>
        <p:style>
          <a:lnRef idx="0"/>
          <a:fillRef idx="0"/>
          <a:effectRef idx="0"/>
          <a:fontRef idx="minor"/>
        </p:style>
      </p:sp>
      <p:sp>
        <p:nvSpPr>
          <p:cNvPr id="365" name="CustomShape 18"/>
          <p:cNvSpPr/>
          <p:nvPr/>
        </p:nvSpPr>
        <p:spPr>
          <a:xfrm>
            <a:off x="731520" y="5120640"/>
            <a:ext cx="454680" cy="454680"/>
          </a:xfrm>
          <a:prstGeom prst="ellipse">
            <a:avLst/>
          </a:prstGeom>
          <a:solidFill>
            <a:srgbClr val="d95d39"/>
          </a:solidFill>
          <a:ln>
            <a:noFill/>
          </a:ln>
        </p:spPr>
        <p:style>
          <a:lnRef idx="0"/>
          <a:fillRef idx="0"/>
          <a:effectRef idx="0"/>
          <a:fontRef idx="minor"/>
        </p:style>
      </p:sp>
      <p:pic>
        <p:nvPicPr>
          <p:cNvPr id="366" name="Image 3" descr="preencoded.png"/>
          <p:cNvPicPr/>
          <p:nvPr/>
        </p:nvPicPr>
        <p:blipFill>
          <a:blip r:embed="rId4"/>
          <a:stretch/>
        </p:blipFill>
        <p:spPr>
          <a:xfrm>
            <a:off x="846000" y="5235120"/>
            <a:ext cx="226080" cy="226080"/>
          </a:xfrm>
          <a:prstGeom prst="rect">
            <a:avLst/>
          </a:prstGeom>
          <a:ln>
            <a:noFill/>
          </a:ln>
        </p:spPr>
      </p:pic>
      <p:sp>
        <p:nvSpPr>
          <p:cNvPr id="367" name="CustomShape 19"/>
          <p:cNvSpPr/>
          <p:nvPr/>
        </p:nvSpPr>
        <p:spPr>
          <a:xfrm>
            <a:off x="1371600" y="4526280"/>
            <a:ext cx="4401720" cy="16434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a8431f"/>
                </a:solidFill>
                <a:latin typeface="Calibri"/>
                <a:ea typeface="Calibri"/>
              </a:rPr>
              <a:t>Autogrowth en MB, no en %: </a:t>
            </a:r>
            <a:r>
              <a:rPr b="0" lang="en-US" sz="1400" spc="-1" strike="noStrike">
                <a:solidFill>
                  <a:srgbClr val="1f2933"/>
                </a:solidFill>
                <a:latin typeface="Calibri"/>
                <a:ea typeface="Calibri"/>
              </a:rPr>
              <a:t>un 10% de 500 GB son 50 GB de golpe. Dimensiona el tamaño inicial para evitar crecer.</a:t>
            </a:r>
            <a:endParaRPr b="0" lang="es-ES" sz="1400" spc="-1" strike="noStrike">
              <a:latin typeface="Arial"/>
            </a:endParaRPr>
          </a:p>
        </p:txBody>
      </p:sp>
      <p:sp>
        <p:nvSpPr>
          <p:cNvPr id="368" name="CustomShape 20"/>
          <p:cNvSpPr/>
          <p:nvPr/>
        </p:nvSpPr>
        <p:spPr>
          <a:xfrm>
            <a:off x="6233040" y="4526280"/>
            <a:ext cx="5407560" cy="1643400"/>
          </a:xfrm>
          <a:prstGeom prst="roundRect">
            <a:avLst>
              <a:gd name="adj" fmla="val 6667"/>
            </a:avLst>
          </a:prstGeom>
          <a:solidFill>
            <a:srgbClr val="e8eef5"/>
          </a:solidFill>
          <a:ln>
            <a:noFill/>
          </a:ln>
        </p:spPr>
        <p:style>
          <a:lnRef idx="0"/>
          <a:fillRef idx="0"/>
          <a:effectRef idx="0"/>
          <a:fontRef idx="minor"/>
        </p:style>
      </p:sp>
      <p:sp>
        <p:nvSpPr>
          <p:cNvPr id="369" name="CustomShape 21"/>
          <p:cNvSpPr/>
          <p:nvPr/>
        </p:nvSpPr>
        <p:spPr>
          <a:xfrm>
            <a:off x="6415920" y="5120640"/>
            <a:ext cx="454680" cy="454680"/>
          </a:xfrm>
          <a:prstGeom prst="ellipse">
            <a:avLst/>
          </a:prstGeom>
          <a:solidFill>
            <a:srgbClr val="134074"/>
          </a:solidFill>
          <a:ln>
            <a:noFill/>
          </a:ln>
        </p:spPr>
        <p:style>
          <a:lnRef idx="0"/>
          <a:fillRef idx="0"/>
          <a:effectRef idx="0"/>
          <a:fontRef idx="minor"/>
        </p:style>
      </p:sp>
      <p:pic>
        <p:nvPicPr>
          <p:cNvPr id="370" name="Image 4" descr="preencoded.png"/>
          <p:cNvPicPr/>
          <p:nvPr/>
        </p:nvPicPr>
        <p:blipFill>
          <a:blip r:embed="rId5"/>
          <a:stretch/>
        </p:blipFill>
        <p:spPr>
          <a:xfrm>
            <a:off x="6530040" y="5235120"/>
            <a:ext cx="226080" cy="226080"/>
          </a:xfrm>
          <a:prstGeom prst="rect">
            <a:avLst/>
          </a:prstGeom>
          <a:ln>
            <a:noFill/>
          </a:ln>
        </p:spPr>
      </p:pic>
      <p:sp>
        <p:nvSpPr>
          <p:cNvPr id="371" name="CustomShape 22"/>
          <p:cNvSpPr/>
          <p:nvPr/>
        </p:nvSpPr>
        <p:spPr>
          <a:xfrm>
            <a:off x="7056000" y="4526280"/>
            <a:ext cx="4401720" cy="16434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2545"/>
                </a:solidFill>
                <a:latin typeface="Calibri"/>
                <a:ea typeface="Calibri"/>
              </a:rPr>
              <a:t>IFI (Instant File Initialization): </a:t>
            </a:r>
            <a:r>
              <a:rPr b="0" lang="en-US" sz="1400" spc="-1" strike="noStrike">
                <a:solidFill>
                  <a:srgbClr val="1f2933"/>
                </a:solidFill>
                <a:latin typeface="Calibri"/>
                <a:ea typeface="Calibri"/>
              </a:rPr>
              <a:t>concede "Perform volume maintenance tasks" a la cuenta del servicio para crear y restaurar ficheros de datos mucho más rápido.</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372" name="CustomShape 1"/>
          <p:cNvSpPr/>
          <p:nvPr/>
        </p:nvSpPr>
        <p:spPr>
          <a:xfrm>
            <a:off x="548640" y="365760"/>
            <a:ext cx="167076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ALMACENAMIENTO</a:t>
            </a:r>
            <a:endParaRPr b="0" lang="es-ES" sz="1000" spc="-1" strike="noStrike">
              <a:latin typeface="Arial"/>
            </a:endParaRPr>
          </a:p>
        </p:txBody>
      </p:sp>
      <p:sp>
        <p:nvSpPr>
          <p:cNvPr id="373"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Transaction Log: WAL y VLFs</a:t>
            </a:r>
            <a:endParaRPr b="0" lang="es-ES" sz="3400" spc="-1" strike="noStrike">
              <a:latin typeface="Arial"/>
            </a:endParaRPr>
          </a:p>
        </p:txBody>
      </p:sp>
      <p:sp>
        <p:nvSpPr>
          <p:cNvPr id="374"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375"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1   12</a:t>
            </a:r>
            <a:endParaRPr b="0" lang="es-ES" sz="1000" spc="-1" strike="noStrike">
              <a:latin typeface="Arial"/>
            </a:endParaRPr>
          </a:p>
        </p:txBody>
      </p:sp>
      <p:sp>
        <p:nvSpPr>
          <p:cNvPr id="376" name="CustomShape 5"/>
          <p:cNvSpPr/>
          <p:nvPr/>
        </p:nvSpPr>
        <p:spPr>
          <a:xfrm>
            <a:off x="548640" y="1600200"/>
            <a:ext cx="2531160" cy="2649240"/>
          </a:xfrm>
          <a:prstGeom prst="roundRect">
            <a:avLst>
              <a:gd name="adj" fmla="val 4331"/>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377" name="CustomShape 6"/>
          <p:cNvSpPr/>
          <p:nvPr/>
        </p:nvSpPr>
        <p:spPr>
          <a:xfrm>
            <a:off x="777240" y="1828800"/>
            <a:ext cx="500400" cy="500400"/>
          </a:xfrm>
          <a:prstGeom prst="ellipse">
            <a:avLst/>
          </a:prstGeom>
          <a:solidFill>
            <a:srgbClr val="134074"/>
          </a:solidFill>
          <a:ln>
            <a:noFill/>
          </a:ln>
        </p:spPr>
        <p:style>
          <a:lnRef idx="0"/>
          <a:fillRef idx="0"/>
          <a:effectRef idx="0"/>
          <a:fontRef idx="minor"/>
        </p:style>
      </p:sp>
      <p:sp>
        <p:nvSpPr>
          <p:cNvPr id="378" name="CustomShape 7"/>
          <p:cNvSpPr/>
          <p:nvPr/>
        </p:nvSpPr>
        <p:spPr>
          <a:xfrm>
            <a:off x="77724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1</a:t>
            </a:r>
            <a:endParaRPr b="0" lang="es-ES" sz="1800" spc="-1" strike="noStrike">
              <a:latin typeface="Arial"/>
            </a:endParaRPr>
          </a:p>
        </p:txBody>
      </p:sp>
      <p:sp>
        <p:nvSpPr>
          <p:cNvPr id="379" name="CustomShape 8"/>
          <p:cNvSpPr/>
          <p:nvPr/>
        </p:nvSpPr>
        <p:spPr>
          <a:xfrm>
            <a:off x="777240" y="2468880"/>
            <a:ext cx="207396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Se modifica la página</a:t>
            </a:r>
            <a:endParaRPr b="0" lang="es-ES" sz="1600" spc="-1" strike="noStrike">
              <a:latin typeface="Arial"/>
            </a:endParaRPr>
          </a:p>
        </p:txBody>
      </p:sp>
      <p:sp>
        <p:nvSpPr>
          <p:cNvPr id="380" name="CustomShape 9"/>
          <p:cNvSpPr/>
          <p:nvPr/>
        </p:nvSpPr>
        <p:spPr>
          <a:xfrm>
            <a:off x="777240" y="3154680"/>
            <a:ext cx="2073960" cy="10033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Cambio en el Buffer Pool; la página queda sucia.</a:t>
            </a:r>
            <a:endParaRPr b="0" lang="es-ES" sz="1400" spc="-1" strike="noStrike">
              <a:latin typeface="Arial"/>
            </a:endParaRPr>
          </a:p>
        </p:txBody>
      </p:sp>
      <p:sp>
        <p:nvSpPr>
          <p:cNvPr id="381" name="CustomShape 10"/>
          <p:cNvSpPr/>
          <p:nvPr/>
        </p:nvSpPr>
        <p:spPr>
          <a:xfrm>
            <a:off x="3118680" y="1947600"/>
            <a:ext cx="24444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382" name="CustomShape 11"/>
          <p:cNvSpPr/>
          <p:nvPr/>
        </p:nvSpPr>
        <p:spPr>
          <a:xfrm>
            <a:off x="3402360" y="1600200"/>
            <a:ext cx="2531160" cy="2649240"/>
          </a:xfrm>
          <a:prstGeom prst="roundRect">
            <a:avLst>
              <a:gd name="adj" fmla="val 4331"/>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383" name="CustomShape 12"/>
          <p:cNvSpPr/>
          <p:nvPr/>
        </p:nvSpPr>
        <p:spPr>
          <a:xfrm>
            <a:off x="3630960" y="1828800"/>
            <a:ext cx="500400" cy="500400"/>
          </a:xfrm>
          <a:prstGeom prst="ellipse">
            <a:avLst/>
          </a:prstGeom>
          <a:solidFill>
            <a:srgbClr val="134074"/>
          </a:solidFill>
          <a:ln>
            <a:noFill/>
          </a:ln>
        </p:spPr>
        <p:style>
          <a:lnRef idx="0"/>
          <a:fillRef idx="0"/>
          <a:effectRef idx="0"/>
          <a:fontRef idx="minor"/>
        </p:style>
      </p:sp>
      <p:sp>
        <p:nvSpPr>
          <p:cNvPr id="384" name="CustomShape 13"/>
          <p:cNvSpPr/>
          <p:nvPr/>
        </p:nvSpPr>
        <p:spPr>
          <a:xfrm>
            <a:off x="363096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2</a:t>
            </a:r>
            <a:endParaRPr b="0" lang="es-ES" sz="1800" spc="-1" strike="noStrike">
              <a:latin typeface="Arial"/>
            </a:endParaRPr>
          </a:p>
        </p:txBody>
      </p:sp>
      <p:sp>
        <p:nvSpPr>
          <p:cNvPr id="385" name="CustomShape 14"/>
          <p:cNvSpPr/>
          <p:nvPr/>
        </p:nvSpPr>
        <p:spPr>
          <a:xfrm>
            <a:off x="3630960" y="2468880"/>
            <a:ext cx="207396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Se escribe el log</a:t>
            </a:r>
            <a:endParaRPr b="0" lang="es-ES" sz="1600" spc="-1" strike="noStrike">
              <a:latin typeface="Arial"/>
            </a:endParaRPr>
          </a:p>
        </p:txBody>
      </p:sp>
      <p:sp>
        <p:nvSpPr>
          <p:cNvPr id="386" name="CustomShape 15"/>
          <p:cNvSpPr/>
          <p:nvPr/>
        </p:nvSpPr>
        <p:spPr>
          <a:xfrm>
            <a:off x="3630960" y="3154680"/>
            <a:ext cx="2073960" cy="10033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Registro con LSN en el log buffer.</a:t>
            </a:r>
            <a:endParaRPr b="0" lang="es-ES" sz="1400" spc="-1" strike="noStrike">
              <a:latin typeface="Arial"/>
            </a:endParaRPr>
          </a:p>
        </p:txBody>
      </p:sp>
      <p:sp>
        <p:nvSpPr>
          <p:cNvPr id="387" name="CustomShape 16"/>
          <p:cNvSpPr/>
          <p:nvPr/>
        </p:nvSpPr>
        <p:spPr>
          <a:xfrm>
            <a:off x="5972400" y="1947600"/>
            <a:ext cx="24444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388" name="CustomShape 17"/>
          <p:cNvSpPr/>
          <p:nvPr/>
        </p:nvSpPr>
        <p:spPr>
          <a:xfrm>
            <a:off x="6255720" y="1600200"/>
            <a:ext cx="2531160" cy="2649240"/>
          </a:xfrm>
          <a:prstGeom prst="roundRect">
            <a:avLst>
              <a:gd name="adj" fmla="val 4331"/>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389" name="CustomShape 18"/>
          <p:cNvSpPr/>
          <p:nvPr/>
        </p:nvSpPr>
        <p:spPr>
          <a:xfrm>
            <a:off x="6484320" y="1828800"/>
            <a:ext cx="500400" cy="500400"/>
          </a:xfrm>
          <a:prstGeom prst="ellipse">
            <a:avLst/>
          </a:prstGeom>
          <a:solidFill>
            <a:srgbClr val="134074"/>
          </a:solidFill>
          <a:ln>
            <a:noFill/>
          </a:ln>
        </p:spPr>
        <p:style>
          <a:lnRef idx="0"/>
          <a:fillRef idx="0"/>
          <a:effectRef idx="0"/>
          <a:fontRef idx="minor"/>
        </p:style>
      </p:sp>
      <p:sp>
        <p:nvSpPr>
          <p:cNvPr id="390" name="CustomShape 19"/>
          <p:cNvSpPr/>
          <p:nvPr/>
        </p:nvSpPr>
        <p:spPr>
          <a:xfrm>
            <a:off x="648432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3</a:t>
            </a:r>
            <a:endParaRPr b="0" lang="es-ES" sz="1800" spc="-1" strike="noStrike">
              <a:latin typeface="Arial"/>
            </a:endParaRPr>
          </a:p>
        </p:txBody>
      </p:sp>
      <p:sp>
        <p:nvSpPr>
          <p:cNvPr id="391" name="CustomShape 20"/>
          <p:cNvSpPr/>
          <p:nvPr/>
        </p:nvSpPr>
        <p:spPr>
          <a:xfrm>
            <a:off x="6484320" y="2468880"/>
            <a:ext cx="207396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COMMIT</a:t>
            </a:r>
            <a:endParaRPr b="0" lang="es-ES" sz="1600" spc="-1" strike="noStrike">
              <a:latin typeface="Arial"/>
            </a:endParaRPr>
          </a:p>
        </p:txBody>
      </p:sp>
      <p:sp>
        <p:nvSpPr>
          <p:cNvPr id="392" name="CustomShape 21"/>
          <p:cNvSpPr/>
          <p:nvPr/>
        </p:nvSpPr>
        <p:spPr>
          <a:xfrm>
            <a:off x="6484320" y="3154680"/>
            <a:ext cx="2073960" cy="10033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Flush del log a disco. El cliente recibe OK.</a:t>
            </a:r>
            <a:endParaRPr b="0" lang="es-ES" sz="1400" spc="-1" strike="noStrike">
              <a:latin typeface="Arial"/>
            </a:endParaRPr>
          </a:p>
        </p:txBody>
      </p:sp>
      <p:sp>
        <p:nvSpPr>
          <p:cNvPr id="393" name="CustomShape 22"/>
          <p:cNvSpPr/>
          <p:nvPr/>
        </p:nvSpPr>
        <p:spPr>
          <a:xfrm>
            <a:off x="8826120" y="1947600"/>
            <a:ext cx="24444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394" name="CustomShape 23"/>
          <p:cNvSpPr/>
          <p:nvPr/>
        </p:nvSpPr>
        <p:spPr>
          <a:xfrm>
            <a:off x="9109440" y="1600200"/>
            <a:ext cx="2531160" cy="2649240"/>
          </a:xfrm>
          <a:prstGeom prst="roundRect">
            <a:avLst>
              <a:gd name="adj" fmla="val 4331"/>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395" name="CustomShape 24"/>
          <p:cNvSpPr/>
          <p:nvPr/>
        </p:nvSpPr>
        <p:spPr>
          <a:xfrm>
            <a:off x="9338040" y="1828800"/>
            <a:ext cx="500400" cy="500400"/>
          </a:xfrm>
          <a:prstGeom prst="ellipse">
            <a:avLst/>
          </a:prstGeom>
          <a:solidFill>
            <a:srgbClr val="134074"/>
          </a:solidFill>
          <a:ln>
            <a:noFill/>
          </a:ln>
        </p:spPr>
        <p:style>
          <a:lnRef idx="0"/>
          <a:fillRef idx="0"/>
          <a:effectRef idx="0"/>
          <a:fontRef idx="minor"/>
        </p:style>
      </p:sp>
      <p:sp>
        <p:nvSpPr>
          <p:cNvPr id="396" name="CustomShape 25"/>
          <p:cNvSpPr/>
          <p:nvPr/>
        </p:nvSpPr>
        <p:spPr>
          <a:xfrm>
            <a:off x="933804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4</a:t>
            </a:r>
            <a:endParaRPr b="0" lang="es-ES" sz="1800" spc="-1" strike="noStrike">
              <a:latin typeface="Arial"/>
            </a:endParaRPr>
          </a:p>
        </p:txBody>
      </p:sp>
      <p:sp>
        <p:nvSpPr>
          <p:cNvPr id="397" name="CustomShape 26"/>
          <p:cNvSpPr/>
          <p:nvPr/>
        </p:nvSpPr>
        <p:spPr>
          <a:xfrm>
            <a:off x="9338040" y="2468880"/>
            <a:ext cx="207396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Checkpoint</a:t>
            </a:r>
            <a:endParaRPr b="0" lang="es-ES" sz="1600" spc="-1" strike="noStrike">
              <a:latin typeface="Arial"/>
            </a:endParaRPr>
          </a:p>
        </p:txBody>
      </p:sp>
      <p:sp>
        <p:nvSpPr>
          <p:cNvPr id="398" name="CustomShape 27"/>
          <p:cNvSpPr/>
          <p:nvPr/>
        </p:nvSpPr>
        <p:spPr>
          <a:xfrm>
            <a:off x="9338040" y="3154680"/>
            <a:ext cx="2073960" cy="10033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Más tarde, las páginas sucias se escriben al .mdf.</a:t>
            </a:r>
            <a:endParaRPr b="0" lang="es-ES" sz="1400" spc="-1" strike="noStrike">
              <a:latin typeface="Arial"/>
            </a:endParaRPr>
          </a:p>
        </p:txBody>
      </p:sp>
      <p:sp>
        <p:nvSpPr>
          <p:cNvPr id="399" name="CustomShape 28"/>
          <p:cNvSpPr/>
          <p:nvPr/>
        </p:nvSpPr>
        <p:spPr>
          <a:xfrm>
            <a:off x="548640" y="4526280"/>
            <a:ext cx="6946920" cy="1643400"/>
          </a:xfrm>
          <a:prstGeom prst="roundRect">
            <a:avLst>
              <a:gd name="adj" fmla="val 5556"/>
            </a:avLst>
          </a:prstGeom>
          <a:solidFill>
            <a:srgbClr val="eceff3"/>
          </a:solidFill>
          <a:ln w="9360">
            <a:solidFill>
              <a:srgbClr val="d0d7de"/>
            </a:solidFill>
            <a:round/>
          </a:ln>
        </p:spPr>
        <p:style>
          <a:lnRef idx="0"/>
          <a:fillRef idx="0"/>
          <a:effectRef idx="0"/>
          <a:fontRef idx="minor"/>
        </p:style>
      </p:sp>
      <p:sp>
        <p:nvSpPr>
          <p:cNvPr id="400" name="CustomShape 29"/>
          <p:cNvSpPr/>
          <p:nvPr/>
        </p:nvSpPr>
        <p:spPr>
          <a:xfrm>
            <a:off x="731520" y="461772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VLFS DE LA BD ACTUAL</a:t>
            </a:r>
            <a:endParaRPr b="0" lang="es-ES" sz="1000" spc="-1" strike="noStrike">
              <a:latin typeface="Arial"/>
            </a:endParaRPr>
          </a:p>
        </p:txBody>
      </p:sp>
      <p:sp>
        <p:nvSpPr>
          <p:cNvPr id="401" name="CustomShape 30"/>
          <p:cNvSpPr/>
          <p:nvPr/>
        </p:nvSpPr>
        <p:spPr>
          <a:xfrm>
            <a:off x="731520" y="4892040"/>
            <a:ext cx="6581160" cy="118620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COUNT(*)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vlf_total,</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SUM(</a:t>
            </a:r>
            <a:r>
              <a:rPr b="1" lang="en-US" sz="1200" spc="-1" strike="noStrike">
                <a:solidFill>
                  <a:srgbClr val="1d4ed8"/>
                </a:solidFill>
                <a:latin typeface="Consolas"/>
                <a:ea typeface="Consolas"/>
              </a:rPr>
              <a:t>CASE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WHEN</a:t>
            </a:r>
            <a:r>
              <a:rPr b="0" lang="en-US" sz="1200" spc="-1" strike="noStrike">
                <a:solidFill>
                  <a:srgbClr val="1f2933"/>
                </a:solidFill>
                <a:latin typeface="Consolas"/>
                <a:ea typeface="Consolas"/>
              </a:rPr>
              <a:t> vlf_active = </a:t>
            </a:r>
            <a:r>
              <a:rPr b="0" lang="en-US" sz="1200" spc="-1" strike="noStrike">
                <a:solidFill>
                  <a:srgbClr val="9a3412"/>
                </a:solidFill>
                <a:latin typeface="Consolas"/>
                <a:ea typeface="Consolas"/>
              </a:rPr>
              <a:t>1</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THEN</a:t>
            </a:r>
            <a:r>
              <a:rPr b="0" lang="en-US" sz="1200" spc="-1" strike="noStrike">
                <a:solidFill>
                  <a:srgbClr val="1f2933"/>
                </a:solidFill>
                <a:latin typeface="Consolas"/>
                <a:ea typeface="Consolas"/>
              </a:rPr>
              <a:t> </a:t>
            </a:r>
            <a:r>
              <a:rPr b="0" lang="en-US" sz="1200" spc="-1" strike="noStrike">
                <a:solidFill>
                  <a:srgbClr val="9a3412"/>
                </a:solidFill>
                <a:latin typeface="Consolas"/>
                <a:ea typeface="Consolas"/>
              </a:rPr>
              <a:t>1</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ELSE</a:t>
            </a:r>
            <a:r>
              <a:rPr b="0" lang="en-US" sz="1200" spc="-1" strike="noStrike">
                <a:solidFill>
                  <a:srgbClr val="1f2933"/>
                </a:solidFill>
                <a:latin typeface="Consolas"/>
                <a:ea typeface="Consolas"/>
              </a:rPr>
              <a:t> </a:t>
            </a:r>
            <a:r>
              <a:rPr b="0" lang="en-US" sz="1200" spc="-1" strike="noStrike">
                <a:solidFill>
                  <a:srgbClr val="9a3412"/>
                </a:solidFill>
                <a:latin typeface="Consolas"/>
                <a:ea typeface="Consolas"/>
              </a:rPr>
              <a:t>0</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END</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vlf_activos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sys.dm_db_log_info(DB_ID());</a:t>
            </a:r>
            <a:endParaRPr b="0" lang="es-ES" sz="1200" spc="-1" strike="noStrike">
              <a:latin typeface="Arial"/>
            </a:endParaRPr>
          </a:p>
        </p:txBody>
      </p:sp>
      <p:sp>
        <p:nvSpPr>
          <p:cNvPr id="402" name="CustomShape 31"/>
          <p:cNvSpPr/>
          <p:nvPr/>
        </p:nvSpPr>
        <p:spPr>
          <a:xfrm>
            <a:off x="7772400" y="4526280"/>
            <a:ext cx="3865320" cy="1643400"/>
          </a:xfrm>
          <a:prstGeom prst="roundRect">
            <a:avLst>
              <a:gd name="adj" fmla="val 6667"/>
            </a:avLst>
          </a:prstGeom>
          <a:solidFill>
            <a:srgbClr val="fdede8"/>
          </a:solidFill>
          <a:ln>
            <a:noFill/>
          </a:ln>
        </p:spPr>
        <p:style>
          <a:lnRef idx="0"/>
          <a:fillRef idx="0"/>
          <a:effectRef idx="0"/>
          <a:fontRef idx="minor"/>
        </p:style>
      </p:sp>
      <p:sp>
        <p:nvSpPr>
          <p:cNvPr id="403" name="CustomShape 32"/>
          <p:cNvSpPr/>
          <p:nvPr/>
        </p:nvSpPr>
        <p:spPr>
          <a:xfrm>
            <a:off x="7955280" y="5120640"/>
            <a:ext cx="454680" cy="454680"/>
          </a:xfrm>
          <a:prstGeom prst="ellipse">
            <a:avLst/>
          </a:prstGeom>
          <a:solidFill>
            <a:srgbClr val="d95d39"/>
          </a:solidFill>
          <a:ln>
            <a:noFill/>
          </a:ln>
        </p:spPr>
        <p:style>
          <a:lnRef idx="0"/>
          <a:fillRef idx="0"/>
          <a:effectRef idx="0"/>
          <a:fontRef idx="minor"/>
        </p:style>
      </p:sp>
      <p:pic>
        <p:nvPicPr>
          <p:cNvPr id="404" name="Image 0" descr="preencoded.png"/>
          <p:cNvPicPr/>
          <p:nvPr/>
        </p:nvPicPr>
        <p:blipFill>
          <a:blip r:embed="rId1"/>
          <a:stretch/>
        </p:blipFill>
        <p:spPr>
          <a:xfrm>
            <a:off x="8069760" y="5235120"/>
            <a:ext cx="226080" cy="226080"/>
          </a:xfrm>
          <a:prstGeom prst="rect">
            <a:avLst/>
          </a:prstGeom>
          <a:ln>
            <a:noFill/>
          </a:ln>
        </p:spPr>
      </p:pic>
      <p:sp>
        <p:nvSpPr>
          <p:cNvPr id="405" name="CustomShape 33"/>
          <p:cNvSpPr/>
          <p:nvPr/>
        </p:nvSpPr>
        <p:spPr>
          <a:xfrm>
            <a:off x="8595360" y="4526280"/>
            <a:ext cx="2859480" cy="16434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a8431f"/>
                </a:solidFill>
                <a:latin typeface="Calibri"/>
                <a:ea typeface="Calibri"/>
              </a:rPr>
              <a:t>Miles de VLFs </a:t>
            </a:r>
            <a:r>
              <a:rPr b="0" lang="en-US" sz="1400" spc="-1" strike="noStrike">
                <a:solidFill>
                  <a:srgbClr val="1f2933"/>
                </a:solidFill>
                <a:latin typeface="Calibri"/>
                <a:ea typeface="Calibri"/>
              </a:rPr>
              <a:t>por autogrowths pequeños ralentizan arranque y recuperación. Dimensiona el log de una vez.</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406"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INSTANCIAS</a:t>
            </a:r>
            <a:endParaRPr b="0" lang="es-ES" sz="1000" spc="-1" strike="noStrike">
              <a:latin typeface="Arial"/>
            </a:endParaRPr>
          </a:p>
        </p:txBody>
      </p:sp>
      <p:sp>
        <p:nvSpPr>
          <p:cNvPr id="407"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Instancias: predeterminada y con nombre</a:t>
            </a:r>
            <a:endParaRPr b="0" lang="es-ES" sz="3400" spc="-1" strike="noStrike">
              <a:latin typeface="Arial"/>
            </a:endParaRPr>
          </a:p>
        </p:txBody>
      </p:sp>
      <p:sp>
        <p:nvSpPr>
          <p:cNvPr id="408"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409"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1   13</a:t>
            </a:r>
            <a:endParaRPr b="0" lang="es-ES" sz="1000" spc="-1" strike="noStrike">
              <a:latin typeface="Arial"/>
            </a:endParaRPr>
          </a:p>
        </p:txBody>
      </p:sp>
      <p:sp>
        <p:nvSpPr>
          <p:cNvPr id="410" name="CustomShape 5"/>
          <p:cNvSpPr/>
          <p:nvPr/>
        </p:nvSpPr>
        <p:spPr>
          <a:xfrm>
            <a:off x="548640" y="1600200"/>
            <a:ext cx="5407560" cy="2192040"/>
          </a:xfrm>
          <a:prstGeom prst="roundRect">
            <a:avLst>
              <a:gd name="adj" fmla="val 5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411" name="CustomShape 6"/>
          <p:cNvSpPr/>
          <p:nvPr/>
        </p:nvSpPr>
        <p:spPr>
          <a:xfrm>
            <a:off x="777240" y="1828800"/>
            <a:ext cx="546120" cy="546120"/>
          </a:xfrm>
          <a:prstGeom prst="ellipse">
            <a:avLst/>
          </a:prstGeom>
          <a:solidFill>
            <a:srgbClr val="134074"/>
          </a:solidFill>
          <a:ln>
            <a:noFill/>
          </a:ln>
        </p:spPr>
        <p:style>
          <a:lnRef idx="0"/>
          <a:fillRef idx="0"/>
          <a:effectRef idx="0"/>
          <a:fontRef idx="minor"/>
        </p:style>
      </p:sp>
      <p:pic>
        <p:nvPicPr>
          <p:cNvPr id="412" name="Image 0" descr="preencoded.png"/>
          <p:cNvPicPr/>
          <p:nvPr/>
        </p:nvPicPr>
        <p:blipFill>
          <a:blip r:embed="rId1"/>
          <a:stretch/>
        </p:blipFill>
        <p:spPr>
          <a:xfrm>
            <a:off x="914400" y="1965960"/>
            <a:ext cx="271800" cy="271800"/>
          </a:xfrm>
          <a:prstGeom prst="rect">
            <a:avLst/>
          </a:prstGeom>
          <a:ln>
            <a:noFill/>
          </a:ln>
        </p:spPr>
      </p:pic>
      <p:sp>
        <p:nvSpPr>
          <p:cNvPr id="413" name="CustomShape 7"/>
          <p:cNvSpPr/>
          <p:nvPr/>
        </p:nvSpPr>
        <p:spPr>
          <a:xfrm>
            <a:off x="1463040" y="1828800"/>
            <a:ext cx="426456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Predeterminada</a:t>
            </a:r>
            <a:endParaRPr b="0" lang="es-ES" sz="1700" spc="-1" strike="noStrike">
              <a:latin typeface="Arial"/>
            </a:endParaRPr>
          </a:p>
        </p:txBody>
      </p:sp>
      <p:sp>
        <p:nvSpPr>
          <p:cNvPr id="414" name="CustomShape 8"/>
          <p:cNvSpPr/>
          <p:nvPr/>
        </p:nvSpPr>
        <p:spPr>
          <a:xfrm>
            <a:off x="777240" y="2560320"/>
            <a:ext cx="4950360" cy="10033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Nombre de servicio MSSQLSERVER. Se conecta por nombre de host, puerto TCP 1433.</a:t>
            </a:r>
            <a:endParaRPr b="0" lang="es-ES" sz="1400" spc="-1" strike="noStrike">
              <a:latin typeface="Arial"/>
            </a:endParaRPr>
          </a:p>
        </p:txBody>
      </p:sp>
      <p:sp>
        <p:nvSpPr>
          <p:cNvPr id="415" name="CustomShape 9"/>
          <p:cNvSpPr/>
          <p:nvPr/>
        </p:nvSpPr>
        <p:spPr>
          <a:xfrm>
            <a:off x="6233040" y="1600200"/>
            <a:ext cx="5407560" cy="2192040"/>
          </a:xfrm>
          <a:prstGeom prst="roundRect">
            <a:avLst>
              <a:gd name="adj" fmla="val 5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416" name="CustomShape 10"/>
          <p:cNvSpPr/>
          <p:nvPr/>
        </p:nvSpPr>
        <p:spPr>
          <a:xfrm>
            <a:off x="6461640" y="1828800"/>
            <a:ext cx="546120" cy="546120"/>
          </a:xfrm>
          <a:prstGeom prst="ellipse">
            <a:avLst/>
          </a:prstGeom>
          <a:solidFill>
            <a:srgbClr val="134074"/>
          </a:solidFill>
          <a:ln>
            <a:noFill/>
          </a:ln>
        </p:spPr>
        <p:style>
          <a:lnRef idx="0"/>
          <a:fillRef idx="0"/>
          <a:effectRef idx="0"/>
          <a:fontRef idx="minor"/>
        </p:style>
      </p:sp>
      <p:pic>
        <p:nvPicPr>
          <p:cNvPr id="417" name="Image 1" descr="preencoded.png"/>
          <p:cNvPicPr/>
          <p:nvPr/>
        </p:nvPicPr>
        <p:blipFill>
          <a:blip r:embed="rId2"/>
          <a:stretch/>
        </p:blipFill>
        <p:spPr>
          <a:xfrm>
            <a:off x="6598800" y="1965960"/>
            <a:ext cx="271800" cy="271800"/>
          </a:xfrm>
          <a:prstGeom prst="rect">
            <a:avLst/>
          </a:prstGeom>
          <a:ln>
            <a:noFill/>
          </a:ln>
        </p:spPr>
      </p:pic>
      <p:sp>
        <p:nvSpPr>
          <p:cNvPr id="418" name="CustomShape 11"/>
          <p:cNvSpPr/>
          <p:nvPr/>
        </p:nvSpPr>
        <p:spPr>
          <a:xfrm>
            <a:off x="7147440" y="1828800"/>
            <a:ext cx="426456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Con nombre</a:t>
            </a:r>
            <a:endParaRPr b="0" lang="es-ES" sz="1700" spc="-1" strike="noStrike">
              <a:latin typeface="Arial"/>
            </a:endParaRPr>
          </a:p>
        </p:txBody>
      </p:sp>
      <p:sp>
        <p:nvSpPr>
          <p:cNvPr id="419" name="CustomShape 12"/>
          <p:cNvSpPr/>
          <p:nvPr/>
        </p:nvSpPr>
        <p:spPr>
          <a:xfrm>
            <a:off x="6461640" y="2560320"/>
            <a:ext cx="4950360" cy="10033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SERVIDOR\INSTANCIA. Puerto dinámico resuelto por SQL Server Browser (UDP 1434).</a:t>
            </a:r>
            <a:endParaRPr b="0" lang="es-ES" sz="1400" spc="-1" strike="noStrike">
              <a:latin typeface="Arial"/>
            </a:endParaRPr>
          </a:p>
        </p:txBody>
      </p:sp>
      <p:sp>
        <p:nvSpPr>
          <p:cNvPr id="420" name="CustomShape 13"/>
          <p:cNvSpPr/>
          <p:nvPr/>
        </p:nvSpPr>
        <p:spPr>
          <a:xfrm>
            <a:off x="548640" y="4069080"/>
            <a:ext cx="6581160" cy="2100600"/>
          </a:xfrm>
          <a:prstGeom prst="roundRect">
            <a:avLst>
              <a:gd name="adj" fmla="val 4348"/>
            </a:avLst>
          </a:prstGeom>
          <a:solidFill>
            <a:srgbClr val="eceff3"/>
          </a:solidFill>
          <a:ln w="9360">
            <a:solidFill>
              <a:srgbClr val="d0d7de"/>
            </a:solidFill>
            <a:round/>
          </a:ln>
        </p:spPr>
        <p:style>
          <a:lnRef idx="0"/>
          <a:fillRef idx="0"/>
          <a:effectRef idx="0"/>
          <a:fontRef idx="minor"/>
        </p:style>
      </p:sp>
      <p:sp>
        <p:nvSpPr>
          <p:cNvPr id="421" name="CustomShape 14"/>
          <p:cNvSpPr/>
          <p:nvPr/>
        </p:nvSpPr>
        <p:spPr>
          <a:xfrm>
            <a:off x="731520" y="416052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IDENTIFICAR LA INSTANCIA</a:t>
            </a:r>
            <a:endParaRPr b="0" lang="es-ES" sz="1000" spc="-1" strike="noStrike">
              <a:latin typeface="Arial"/>
            </a:endParaRPr>
          </a:p>
        </p:txBody>
      </p:sp>
      <p:sp>
        <p:nvSpPr>
          <p:cNvPr id="422" name="CustomShape 15"/>
          <p:cNvSpPr/>
          <p:nvPr/>
        </p:nvSpPr>
        <p:spPr>
          <a:xfrm>
            <a:off x="731520" y="4434840"/>
            <a:ext cx="6215400" cy="164340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a:t>
            </a:r>
            <a:r>
              <a:rPr b="0" lang="en-US" sz="1200" spc="-1" strike="noStrike">
                <a:solidFill>
                  <a:srgbClr val="0f766e"/>
                </a:solidFill>
                <a:latin typeface="Consolas"/>
                <a:ea typeface="Consolas"/>
              </a:rPr>
              <a:t>@@SERVERNAME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servidor,</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SERVERPROPERTY(</a:t>
            </a:r>
            <a:r>
              <a:rPr b="0" lang="en-US" sz="1200" spc="-1" strike="noStrike">
                <a:solidFill>
                  <a:srgbClr val="b4441f"/>
                </a:solidFill>
                <a:latin typeface="Consolas"/>
                <a:ea typeface="Consolas"/>
              </a:rPr>
              <a:t>'InstanceName'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instancia,</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SERVERPROPERTY(</a:t>
            </a:r>
            <a:r>
              <a:rPr b="0" lang="en-US" sz="1200" spc="-1" strike="noStrike">
                <a:solidFill>
                  <a:srgbClr val="b4441f"/>
                </a:solidFill>
                <a:latin typeface="Consolas"/>
                <a:ea typeface="Consolas"/>
              </a:rPr>
              <a:t>'Edition'</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edicion,</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SERVERPROPERTY(</a:t>
            </a:r>
            <a:r>
              <a:rPr b="0" lang="en-US" sz="1200" spc="-1" strike="noStrike">
                <a:solidFill>
                  <a:srgbClr val="b4441f"/>
                </a:solidFill>
                <a:latin typeface="Consolas"/>
                <a:ea typeface="Consolas"/>
              </a:rPr>
              <a:t>'ProductVersion'</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version;</a:t>
            </a:r>
            <a:endParaRPr b="0" lang="es-ES" sz="1200" spc="-1" strike="noStrike">
              <a:latin typeface="Arial"/>
            </a:endParaRPr>
          </a:p>
        </p:txBody>
      </p:sp>
      <p:sp>
        <p:nvSpPr>
          <p:cNvPr id="423" name="CustomShape 16"/>
          <p:cNvSpPr/>
          <p:nvPr/>
        </p:nvSpPr>
        <p:spPr>
          <a:xfrm>
            <a:off x="7406640" y="4069080"/>
            <a:ext cx="4231080" cy="2100600"/>
          </a:xfrm>
          <a:prstGeom prst="roundRect">
            <a:avLst>
              <a:gd name="adj" fmla="val 5217"/>
            </a:avLst>
          </a:prstGeom>
          <a:solidFill>
            <a:srgbClr val="e8eef5"/>
          </a:solidFill>
          <a:ln>
            <a:noFill/>
          </a:ln>
        </p:spPr>
        <p:style>
          <a:lnRef idx="0"/>
          <a:fillRef idx="0"/>
          <a:effectRef idx="0"/>
          <a:fontRef idx="minor"/>
        </p:style>
      </p:sp>
      <p:sp>
        <p:nvSpPr>
          <p:cNvPr id="424" name="CustomShape 17"/>
          <p:cNvSpPr/>
          <p:nvPr/>
        </p:nvSpPr>
        <p:spPr>
          <a:xfrm>
            <a:off x="7589520" y="4892040"/>
            <a:ext cx="454680" cy="454680"/>
          </a:xfrm>
          <a:prstGeom prst="ellipse">
            <a:avLst/>
          </a:prstGeom>
          <a:solidFill>
            <a:srgbClr val="134074"/>
          </a:solidFill>
          <a:ln>
            <a:noFill/>
          </a:ln>
        </p:spPr>
        <p:style>
          <a:lnRef idx="0"/>
          <a:fillRef idx="0"/>
          <a:effectRef idx="0"/>
          <a:fontRef idx="minor"/>
        </p:style>
      </p:sp>
      <p:pic>
        <p:nvPicPr>
          <p:cNvPr id="425" name="Image 2" descr="preencoded.png"/>
          <p:cNvPicPr/>
          <p:nvPr/>
        </p:nvPicPr>
        <p:blipFill>
          <a:blip r:embed="rId3"/>
          <a:stretch/>
        </p:blipFill>
        <p:spPr>
          <a:xfrm>
            <a:off x="7704000" y="5006520"/>
            <a:ext cx="226080" cy="226080"/>
          </a:xfrm>
          <a:prstGeom prst="rect">
            <a:avLst/>
          </a:prstGeom>
          <a:ln>
            <a:noFill/>
          </a:ln>
        </p:spPr>
      </p:pic>
      <p:sp>
        <p:nvSpPr>
          <p:cNvPr id="426" name="CustomShape 18"/>
          <p:cNvSpPr/>
          <p:nvPr/>
        </p:nvSpPr>
        <p:spPr>
          <a:xfrm>
            <a:off x="8229600" y="4069080"/>
            <a:ext cx="3225240" cy="21006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2545"/>
                </a:solidFill>
                <a:latin typeface="Calibri"/>
                <a:ea typeface="Calibri"/>
              </a:rPr>
              <a:t>En producción: </a:t>
            </a:r>
            <a:r>
              <a:rPr b="0" lang="en-US" sz="1400" spc="-1" strike="noStrike">
                <a:solidFill>
                  <a:srgbClr val="1f2933"/>
                </a:solidFill>
                <a:latin typeface="Calibri"/>
                <a:ea typeface="Calibri"/>
              </a:rPr>
              <a:t>fija puertos estáticos, usa cuentas de servicio dedicadas (gMSA) y configura max server memory en cada instancia.</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427"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INSTANCIAS</a:t>
            </a:r>
            <a:endParaRPr b="0" lang="es-ES" sz="1000" spc="-1" strike="noStrike">
              <a:latin typeface="Arial"/>
            </a:endParaRPr>
          </a:p>
        </p:txBody>
      </p:sp>
      <p:sp>
        <p:nvSpPr>
          <p:cNvPr id="428"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Bases de datos del sistema</a:t>
            </a:r>
            <a:endParaRPr b="0" lang="es-ES" sz="3400" spc="-1" strike="noStrike">
              <a:latin typeface="Arial"/>
            </a:endParaRPr>
          </a:p>
        </p:txBody>
      </p:sp>
      <p:sp>
        <p:nvSpPr>
          <p:cNvPr id="429"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430"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1   14</a:t>
            </a:r>
            <a:endParaRPr b="0" lang="es-ES" sz="1000" spc="-1" strike="noStrike">
              <a:latin typeface="Arial"/>
            </a:endParaRPr>
          </a:p>
        </p:txBody>
      </p:sp>
      <p:sp>
        <p:nvSpPr>
          <p:cNvPr id="431" name="CustomShape 5"/>
          <p:cNvSpPr/>
          <p:nvPr/>
        </p:nvSpPr>
        <p:spPr>
          <a:xfrm>
            <a:off x="548640" y="1600200"/>
            <a:ext cx="3512880" cy="2146320"/>
          </a:xfrm>
          <a:prstGeom prst="roundRect">
            <a:avLst>
              <a:gd name="adj" fmla="val 51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432" name="CustomShape 6"/>
          <p:cNvSpPr/>
          <p:nvPr/>
        </p:nvSpPr>
        <p:spPr>
          <a:xfrm>
            <a:off x="777240" y="1828800"/>
            <a:ext cx="546120" cy="546120"/>
          </a:xfrm>
          <a:prstGeom prst="ellipse">
            <a:avLst/>
          </a:prstGeom>
          <a:solidFill>
            <a:srgbClr val="134074"/>
          </a:solidFill>
          <a:ln>
            <a:noFill/>
          </a:ln>
        </p:spPr>
        <p:style>
          <a:lnRef idx="0"/>
          <a:fillRef idx="0"/>
          <a:effectRef idx="0"/>
          <a:fontRef idx="minor"/>
        </p:style>
      </p:sp>
      <p:pic>
        <p:nvPicPr>
          <p:cNvPr id="433" name="Image 0" descr="preencoded.png"/>
          <p:cNvPicPr/>
          <p:nvPr/>
        </p:nvPicPr>
        <p:blipFill>
          <a:blip r:embed="rId1"/>
          <a:stretch/>
        </p:blipFill>
        <p:spPr>
          <a:xfrm>
            <a:off x="914400" y="1965960"/>
            <a:ext cx="271800" cy="271800"/>
          </a:xfrm>
          <a:prstGeom prst="rect">
            <a:avLst/>
          </a:prstGeom>
          <a:ln>
            <a:noFill/>
          </a:ln>
        </p:spPr>
      </p:pic>
      <p:sp>
        <p:nvSpPr>
          <p:cNvPr id="434" name="CustomShape 7"/>
          <p:cNvSpPr/>
          <p:nvPr/>
        </p:nvSpPr>
        <p:spPr>
          <a:xfrm>
            <a:off x="1463040" y="1828800"/>
            <a:ext cx="236988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master</a:t>
            </a:r>
            <a:endParaRPr b="0" lang="es-ES" sz="1700" spc="-1" strike="noStrike">
              <a:latin typeface="Arial"/>
            </a:endParaRPr>
          </a:p>
        </p:txBody>
      </p:sp>
      <p:sp>
        <p:nvSpPr>
          <p:cNvPr id="435" name="CustomShape 8"/>
          <p:cNvSpPr/>
          <p:nvPr/>
        </p:nvSpPr>
        <p:spPr>
          <a:xfrm>
            <a:off x="777240" y="2560320"/>
            <a:ext cx="3055680" cy="957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Catálogo de la instancia: logins, configuración, ubicación de las BD. Sin ella no arranca.</a:t>
            </a:r>
            <a:endParaRPr b="0" lang="es-ES" sz="1400" spc="-1" strike="noStrike">
              <a:latin typeface="Arial"/>
            </a:endParaRPr>
          </a:p>
        </p:txBody>
      </p:sp>
      <p:sp>
        <p:nvSpPr>
          <p:cNvPr id="436" name="CustomShape 9"/>
          <p:cNvSpPr/>
          <p:nvPr/>
        </p:nvSpPr>
        <p:spPr>
          <a:xfrm>
            <a:off x="4338360" y="1600200"/>
            <a:ext cx="3512880" cy="2146320"/>
          </a:xfrm>
          <a:prstGeom prst="roundRect">
            <a:avLst>
              <a:gd name="adj" fmla="val 51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437" name="CustomShape 10"/>
          <p:cNvSpPr/>
          <p:nvPr/>
        </p:nvSpPr>
        <p:spPr>
          <a:xfrm>
            <a:off x="4566960" y="1828800"/>
            <a:ext cx="546120" cy="546120"/>
          </a:xfrm>
          <a:prstGeom prst="ellipse">
            <a:avLst/>
          </a:prstGeom>
          <a:solidFill>
            <a:srgbClr val="134074"/>
          </a:solidFill>
          <a:ln>
            <a:noFill/>
          </a:ln>
        </p:spPr>
        <p:style>
          <a:lnRef idx="0"/>
          <a:fillRef idx="0"/>
          <a:effectRef idx="0"/>
          <a:fontRef idx="minor"/>
        </p:style>
      </p:sp>
      <p:pic>
        <p:nvPicPr>
          <p:cNvPr id="438" name="Image 1" descr="preencoded.png"/>
          <p:cNvPicPr/>
          <p:nvPr/>
        </p:nvPicPr>
        <p:blipFill>
          <a:blip r:embed="rId2"/>
          <a:stretch/>
        </p:blipFill>
        <p:spPr>
          <a:xfrm>
            <a:off x="4704120" y="1965960"/>
            <a:ext cx="271800" cy="271800"/>
          </a:xfrm>
          <a:prstGeom prst="rect">
            <a:avLst/>
          </a:prstGeom>
          <a:ln>
            <a:noFill/>
          </a:ln>
        </p:spPr>
      </p:pic>
      <p:sp>
        <p:nvSpPr>
          <p:cNvPr id="439" name="CustomShape 11"/>
          <p:cNvSpPr/>
          <p:nvPr/>
        </p:nvSpPr>
        <p:spPr>
          <a:xfrm>
            <a:off x="5252760" y="1828800"/>
            <a:ext cx="236988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model</a:t>
            </a:r>
            <a:endParaRPr b="0" lang="es-ES" sz="1700" spc="-1" strike="noStrike">
              <a:latin typeface="Arial"/>
            </a:endParaRPr>
          </a:p>
        </p:txBody>
      </p:sp>
      <p:sp>
        <p:nvSpPr>
          <p:cNvPr id="440" name="CustomShape 12"/>
          <p:cNvSpPr/>
          <p:nvPr/>
        </p:nvSpPr>
        <p:spPr>
          <a:xfrm>
            <a:off x="4566960" y="2560320"/>
            <a:ext cx="3055680" cy="957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Plantilla de las nuevas BD y de tempdb en cada arranque.</a:t>
            </a:r>
            <a:endParaRPr b="0" lang="es-ES" sz="1400" spc="-1" strike="noStrike">
              <a:latin typeface="Arial"/>
            </a:endParaRPr>
          </a:p>
        </p:txBody>
      </p:sp>
      <p:sp>
        <p:nvSpPr>
          <p:cNvPr id="441" name="CustomShape 13"/>
          <p:cNvSpPr/>
          <p:nvPr/>
        </p:nvSpPr>
        <p:spPr>
          <a:xfrm>
            <a:off x="8127720" y="1600200"/>
            <a:ext cx="3512880" cy="2146320"/>
          </a:xfrm>
          <a:prstGeom prst="roundRect">
            <a:avLst>
              <a:gd name="adj" fmla="val 51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442" name="CustomShape 14"/>
          <p:cNvSpPr/>
          <p:nvPr/>
        </p:nvSpPr>
        <p:spPr>
          <a:xfrm>
            <a:off x="8356320" y="1828800"/>
            <a:ext cx="546120" cy="546120"/>
          </a:xfrm>
          <a:prstGeom prst="ellipse">
            <a:avLst/>
          </a:prstGeom>
          <a:solidFill>
            <a:srgbClr val="134074"/>
          </a:solidFill>
          <a:ln>
            <a:noFill/>
          </a:ln>
        </p:spPr>
        <p:style>
          <a:lnRef idx="0"/>
          <a:fillRef idx="0"/>
          <a:effectRef idx="0"/>
          <a:fontRef idx="minor"/>
        </p:style>
      </p:sp>
      <p:pic>
        <p:nvPicPr>
          <p:cNvPr id="443" name="Image 2" descr="preencoded.png"/>
          <p:cNvPicPr/>
          <p:nvPr/>
        </p:nvPicPr>
        <p:blipFill>
          <a:blip r:embed="rId3"/>
          <a:stretch/>
        </p:blipFill>
        <p:spPr>
          <a:xfrm>
            <a:off x="8493480" y="1965960"/>
            <a:ext cx="271800" cy="271800"/>
          </a:xfrm>
          <a:prstGeom prst="rect">
            <a:avLst/>
          </a:prstGeom>
          <a:ln>
            <a:noFill/>
          </a:ln>
        </p:spPr>
      </p:pic>
      <p:sp>
        <p:nvSpPr>
          <p:cNvPr id="444" name="CustomShape 15"/>
          <p:cNvSpPr/>
          <p:nvPr/>
        </p:nvSpPr>
        <p:spPr>
          <a:xfrm>
            <a:off x="9042120" y="1828800"/>
            <a:ext cx="236988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msdb</a:t>
            </a:r>
            <a:endParaRPr b="0" lang="es-ES" sz="1700" spc="-1" strike="noStrike">
              <a:latin typeface="Arial"/>
            </a:endParaRPr>
          </a:p>
        </p:txBody>
      </p:sp>
      <p:sp>
        <p:nvSpPr>
          <p:cNvPr id="445" name="CustomShape 16"/>
          <p:cNvSpPr/>
          <p:nvPr/>
        </p:nvSpPr>
        <p:spPr>
          <a:xfrm>
            <a:off x="8356320" y="2560320"/>
            <a:ext cx="3055680" cy="957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Agent: jobs y alertas; historial de backups; Database Mail.</a:t>
            </a:r>
            <a:endParaRPr b="0" lang="es-ES" sz="1400" spc="-1" strike="noStrike">
              <a:latin typeface="Arial"/>
            </a:endParaRPr>
          </a:p>
        </p:txBody>
      </p:sp>
      <p:sp>
        <p:nvSpPr>
          <p:cNvPr id="446" name="CustomShape 17"/>
          <p:cNvSpPr/>
          <p:nvPr/>
        </p:nvSpPr>
        <p:spPr>
          <a:xfrm>
            <a:off x="548640" y="4023360"/>
            <a:ext cx="3512880" cy="2146320"/>
          </a:xfrm>
          <a:prstGeom prst="roundRect">
            <a:avLst>
              <a:gd name="adj" fmla="val 51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447" name="CustomShape 18"/>
          <p:cNvSpPr/>
          <p:nvPr/>
        </p:nvSpPr>
        <p:spPr>
          <a:xfrm>
            <a:off x="777240" y="4251960"/>
            <a:ext cx="546120" cy="546120"/>
          </a:xfrm>
          <a:prstGeom prst="ellipse">
            <a:avLst/>
          </a:prstGeom>
          <a:solidFill>
            <a:srgbClr val="134074"/>
          </a:solidFill>
          <a:ln>
            <a:noFill/>
          </a:ln>
        </p:spPr>
        <p:style>
          <a:lnRef idx="0"/>
          <a:fillRef idx="0"/>
          <a:effectRef idx="0"/>
          <a:fontRef idx="minor"/>
        </p:style>
      </p:sp>
      <p:pic>
        <p:nvPicPr>
          <p:cNvPr id="448" name="Image 3" descr="preencoded.png"/>
          <p:cNvPicPr/>
          <p:nvPr/>
        </p:nvPicPr>
        <p:blipFill>
          <a:blip r:embed="rId4"/>
          <a:stretch/>
        </p:blipFill>
        <p:spPr>
          <a:xfrm>
            <a:off x="914400" y="4389120"/>
            <a:ext cx="271800" cy="271800"/>
          </a:xfrm>
          <a:prstGeom prst="rect">
            <a:avLst/>
          </a:prstGeom>
          <a:ln>
            <a:noFill/>
          </a:ln>
        </p:spPr>
      </p:pic>
      <p:sp>
        <p:nvSpPr>
          <p:cNvPr id="449" name="CustomShape 19"/>
          <p:cNvSpPr/>
          <p:nvPr/>
        </p:nvSpPr>
        <p:spPr>
          <a:xfrm>
            <a:off x="1463040" y="4251960"/>
            <a:ext cx="236988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tempdb</a:t>
            </a:r>
            <a:endParaRPr b="0" lang="es-ES" sz="1700" spc="-1" strike="noStrike">
              <a:latin typeface="Arial"/>
            </a:endParaRPr>
          </a:p>
        </p:txBody>
      </p:sp>
      <p:sp>
        <p:nvSpPr>
          <p:cNvPr id="450" name="CustomShape 20"/>
          <p:cNvSpPr/>
          <p:nvPr/>
        </p:nvSpPr>
        <p:spPr>
          <a:xfrm>
            <a:off x="777240" y="4983480"/>
            <a:ext cx="3055680" cy="957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Objetos temporales, spills y version store. Se recrea al arrancar. Sin backup.</a:t>
            </a:r>
            <a:endParaRPr b="0" lang="es-ES" sz="1400" spc="-1" strike="noStrike">
              <a:latin typeface="Arial"/>
            </a:endParaRPr>
          </a:p>
        </p:txBody>
      </p:sp>
      <p:sp>
        <p:nvSpPr>
          <p:cNvPr id="451" name="CustomShape 21"/>
          <p:cNvSpPr/>
          <p:nvPr/>
        </p:nvSpPr>
        <p:spPr>
          <a:xfrm>
            <a:off x="4338360" y="4023360"/>
            <a:ext cx="3512880" cy="2146320"/>
          </a:xfrm>
          <a:prstGeom prst="roundRect">
            <a:avLst>
              <a:gd name="adj" fmla="val 51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452" name="CustomShape 22"/>
          <p:cNvSpPr/>
          <p:nvPr/>
        </p:nvSpPr>
        <p:spPr>
          <a:xfrm>
            <a:off x="4566960" y="4251960"/>
            <a:ext cx="546120" cy="546120"/>
          </a:xfrm>
          <a:prstGeom prst="ellipse">
            <a:avLst/>
          </a:prstGeom>
          <a:solidFill>
            <a:srgbClr val="134074"/>
          </a:solidFill>
          <a:ln>
            <a:noFill/>
          </a:ln>
        </p:spPr>
        <p:style>
          <a:lnRef idx="0"/>
          <a:fillRef idx="0"/>
          <a:effectRef idx="0"/>
          <a:fontRef idx="minor"/>
        </p:style>
      </p:sp>
      <p:pic>
        <p:nvPicPr>
          <p:cNvPr id="453" name="Image 4" descr="preencoded.png"/>
          <p:cNvPicPr/>
          <p:nvPr/>
        </p:nvPicPr>
        <p:blipFill>
          <a:blip r:embed="rId5"/>
          <a:stretch/>
        </p:blipFill>
        <p:spPr>
          <a:xfrm>
            <a:off x="4704120" y="4389120"/>
            <a:ext cx="271800" cy="271800"/>
          </a:xfrm>
          <a:prstGeom prst="rect">
            <a:avLst/>
          </a:prstGeom>
          <a:ln>
            <a:noFill/>
          </a:ln>
        </p:spPr>
      </p:pic>
      <p:sp>
        <p:nvSpPr>
          <p:cNvPr id="454" name="CustomShape 23"/>
          <p:cNvSpPr/>
          <p:nvPr/>
        </p:nvSpPr>
        <p:spPr>
          <a:xfrm>
            <a:off x="5252760" y="4251960"/>
            <a:ext cx="236988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mssqlsystemresource</a:t>
            </a:r>
            <a:endParaRPr b="0" lang="es-ES" sz="1700" spc="-1" strike="noStrike">
              <a:latin typeface="Arial"/>
            </a:endParaRPr>
          </a:p>
        </p:txBody>
      </p:sp>
      <p:sp>
        <p:nvSpPr>
          <p:cNvPr id="455" name="CustomShape 24"/>
          <p:cNvSpPr/>
          <p:nvPr/>
        </p:nvSpPr>
        <p:spPr>
          <a:xfrm>
            <a:off x="4566960" y="4983480"/>
            <a:ext cx="3055680" cy="957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Sólo lectura y oculta. Contiene los objetos del sistema (sys.*).</a:t>
            </a:r>
            <a:endParaRPr b="0" lang="es-ES" sz="1400" spc="-1" strike="noStrike">
              <a:latin typeface="Arial"/>
            </a:endParaRPr>
          </a:p>
        </p:txBody>
      </p:sp>
      <p:sp>
        <p:nvSpPr>
          <p:cNvPr id="456" name="CustomShape 25"/>
          <p:cNvSpPr/>
          <p:nvPr/>
        </p:nvSpPr>
        <p:spPr>
          <a:xfrm>
            <a:off x="8127720" y="4023360"/>
            <a:ext cx="3512880" cy="2146320"/>
          </a:xfrm>
          <a:prstGeom prst="roundRect">
            <a:avLst>
              <a:gd name="adj" fmla="val 5106"/>
            </a:avLst>
          </a:prstGeom>
          <a:solidFill>
            <a:srgbClr val="134074"/>
          </a:solidFill>
          <a:ln>
            <a:noFill/>
          </a:ln>
        </p:spPr>
        <p:style>
          <a:lnRef idx="0"/>
          <a:fillRef idx="0"/>
          <a:effectRef idx="0"/>
          <a:fontRef idx="minor"/>
        </p:style>
      </p:sp>
      <p:sp>
        <p:nvSpPr>
          <p:cNvPr id="457" name="CustomShape 26"/>
          <p:cNvSpPr/>
          <p:nvPr/>
        </p:nvSpPr>
        <p:spPr>
          <a:xfrm>
            <a:off x="8356320" y="4251960"/>
            <a:ext cx="546120" cy="546120"/>
          </a:xfrm>
          <a:prstGeom prst="ellipse">
            <a:avLst/>
          </a:prstGeom>
          <a:solidFill>
            <a:srgbClr val="d95d39"/>
          </a:solidFill>
          <a:ln>
            <a:noFill/>
          </a:ln>
        </p:spPr>
        <p:style>
          <a:lnRef idx="0"/>
          <a:fillRef idx="0"/>
          <a:effectRef idx="0"/>
          <a:fontRef idx="minor"/>
        </p:style>
      </p:sp>
      <p:pic>
        <p:nvPicPr>
          <p:cNvPr id="458" name="Image 5" descr="preencoded.png"/>
          <p:cNvPicPr/>
          <p:nvPr/>
        </p:nvPicPr>
        <p:blipFill>
          <a:blip r:embed="rId6"/>
          <a:stretch/>
        </p:blipFill>
        <p:spPr>
          <a:xfrm>
            <a:off x="8493480" y="4389120"/>
            <a:ext cx="271800" cy="271800"/>
          </a:xfrm>
          <a:prstGeom prst="rect">
            <a:avLst/>
          </a:prstGeom>
          <a:ln>
            <a:noFill/>
          </a:ln>
        </p:spPr>
      </p:pic>
      <p:sp>
        <p:nvSpPr>
          <p:cNvPr id="459" name="CustomShape 27"/>
          <p:cNvSpPr/>
          <p:nvPr/>
        </p:nvSpPr>
        <p:spPr>
          <a:xfrm>
            <a:off x="9042120" y="4251960"/>
            <a:ext cx="236988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ffffff"/>
                </a:solidFill>
                <a:latin typeface="Calibri"/>
                <a:ea typeface="Calibri"/>
              </a:rPr>
              <a:t>Backup obligatorio</a:t>
            </a:r>
            <a:endParaRPr b="0" lang="es-ES" sz="1700" spc="-1" strike="noStrike">
              <a:latin typeface="Arial"/>
            </a:endParaRPr>
          </a:p>
        </p:txBody>
      </p:sp>
      <p:sp>
        <p:nvSpPr>
          <p:cNvPr id="460" name="CustomShape 28"/>
          <p:cNvSpPr/>
          <p:nvPr/>
        </p:nvSpPr>
        <p:spPr>
          <a:xfrm>
            <a:off x="8356320" y="4983480"/>
            <a:ext cx="3055680" cy="957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e6eef8"/>
                </a:solidFill>
                <a:latin typeface="Calibri"/>
                <a:ea typeface="Calibri"/>
              </a:rPr>
              <a:t>master, model y msdb. tempdb y Resource no se respaldan.</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461" name="CustomShape 1"/>
          <p:cNvSpPr/>
          <p:nvPr/>
        </p:nvSpPr>
        <p:spPr>
          <a:xfrm>
            <a:off x="548640" y="365760"/>
            <a:ext cx="167076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LICENCIAMIENTO</a:t>
            </a:r>
            <a:endParaRPr b="0" lang="es-ES" sz="1000" spc="-1" strike="noStrike">
              <a:latin typeface="Arial"/>
            </a:endParaRPr>
          </a:p>
        </p:txBody>
      </p:sp>
      <p:sp>
        <p:nvSpPr>
          <p:cNvPr id="462"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Ediciones de SQL Server 2025</a:t>
            </a:r>
            <a:endParaRPr b="0" lang="es-ES" sz="3400" spc="-1" strike="noStrike">
              <a:latin typeface="Arial"/>
            </a:endParaRPr>
          </a:p>
        </p:txBody>
      </p:sp>
      <p:sp>
        <p:nvSpPr>
          <p:cNvPr id="463"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464"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1   15</a:t>
            </a:r>
            <a:endParaRPr b="0" lang="es-ES" sz="1000" spc="-1" strike="noStrike">
              <a:latin typeface="Arial"/>
            </a:endParaRPr>
          </a:p>
        </p:txBody>
      </p:sp>
      <p:graphicFrame>
        <p:nvGraphicFramePr>
          <p:cNvPr id="465" name="Table 5"/>
          <p:cNvGraphicFramePr/>
          <p:nvPr/>
        </p:nvGraphicFramePr>
        <p:xfrm>
          <a:off x="548640" y="1600200"/>
          <a:ext cx="11093760" cy="2407320"/>
        </p:xfrm>
        <a:graphic>
          <a:graphicData uri="http://schemas.openxmlformats.org/drawingml/2006/table">
            <a:tbl>
              <a:tblPr/>
              <a:tblGrid>
                <a:gridCol w="1375200"/>
                <a:gridCol w="2567160"/>
                <a:gridCol w="2017080"/>
                <a:gridCol w="2017080"/>
                <a:gridCol w="3117600"/>
              </a:tblGrid>
              <a:tr h="609480">
                <a:tc>
                  <a:txBody>
                    <a:bodyPr lIns="109440" rIns="109440">
                      <a:noAutofit/>
                    </a:bodyPr>
                    <a:p>
                      <a:pPr>
                        <a:lnSpc>
                          <a:spcPct val="100000"/>
                        </a:lnSpc>
                        <a:tabLst>
                          <a:tab algn="l" pos="0"/>
                        </a:tabLst>
                      </a:pPr>
                      <a:r>
                        <a:rPr b="1" lang="en-US" sz="1400" spc="-1" strike="noStrike">
                          <a:solidFill>
                            <a:srgbClr val="ffffff"/>
                          </a:solidFill>
                          <a:latin typeface="Calibri"/>
                          <a:ea typeface="Calibri"/>
                        </a:rPr>
                        <a:t>Edición</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c>
                  <a:txBody>
                    <a:bodyPr lIns="109440" rIns="109440">
                      <a:noAutofit/>
                    </a:bodyPr>
                    <a:p>
                      <a:pPr>
                        <a:lnSpc>
                          <a:spcPct val="100000"/>
                        </a:lnSpc>
                        <a:tabLst>
                          <a:tab algn="l" pos="0"/>
                        </a:tabLst>
                      </a:pPr>
                      <a:r>
                        <a:rPr b="1" lang="en-US" sz="1400" spc="-1" strike="noStrike">
                          <a:solidFill>
                            <a:srgbClr val="ffffff"/>
                          </a:solidFill>
                          <a:latin typeface="Calibri"/>
                          <a:ea typeface="Calibri"/>
                        </a:rPr>
                        <a:t>Uso típico</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c>
                  <a:txBody>
                    <a:bodyPr lIns="109440" rIns="109440">
                      <a:noAutofit/>
                    </a:bodyPr>
                    <a:p>
                      <a:pPr>
                        <a:lnSpc>
                          <a:spcPct val="100000"/>
                        </a:lnSpc>
                        <a:tabLst>
                          <a:tab algn="l" pos="0"/>
                        </a:tabLst>
                      </a:pPr>
                      <a:r>
                        <a:rPr b="1" lang="en-US" sz="1400" spc="-1" strike="noStrike">
                          <a:solidFill>
                            <a:srgbClr val="ffffff"/>
                          </a:solidFill>
                          <a:latin typeface="Calibri"/>
                          <a:ea typeface="Calibri"/>
                        </a:rPr>
                        <a:t>Cómputo</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c>
                  <a:txBody>
                    <a:bodyPr lIns="109440" rIns="109440">
                      <a:noAutofit/>
                    </a:bodyPr>
                    <a:p>
                      <a:pPr>
                        <a:lnSpc>
                          <a:spcPct val="100000"/>
                        </a:lnSpc>
                        <a:tabLst>
                          <a:tab algn="l" pos="0"/>
                        </a:tabLst>
                      </a:pPr>
                      <a:r>
                        <a:rPr b="1" lang="en-US" sz="1400" spc="-1" strike="noStrike">
                          <a:solidFill>
                            <a:srgbClr val="ffffff"/>
                          </a:solidFill>
                          <a:latin typeface="Calibri"/>
                          <a:ea typeface="Calibri"/>
                        </a:rPr>
                        <a:t>Memoria (Buffer Pool)</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c>
                  <a:txBody>
                    <a:bodyPr lIns="109440" rIns="109440">
                      <a:noAutofit/>
                    </a:bodyPr>
                    <a:p>
                      <a:pPr>
                        <a:lnSpc>
                          <a:spcPct val="100000"/>
                        </a:lnSpc>
                        <a:tabLst>
                          <a:tab algn="l" pos="0"/>
                        </a:tabLst>
                      </a:pPr>
                      <a:r>
                        <a:rPr b="1" lang="en-US" sz="1400" spc="-1" strike="noStrike">
                          <a:solidFill>
                            <a:srgbClr val="ffffff"/>
                          </a:solidFill>
                          <a:latin typeface="Calibri"/>
                          <a:ea typeface="Calibri"/>
                        </a:rPr>
                        <a:t>Claves</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r>
              <a:tr h="396000">
                <a:tc>
                  <a:txBody>
                    <a:bodyPr lIns="109440" rIns="109440">
                      <a:noAutofit/>
                    </a:bodyPr>
                    <a:p>
                      <a:pPr>
                        <a:lnSpc>
                          <a:spcPct val="100000"/>
                        </a:lnSpc>
                        <a:tabLst>
                          <a:tab algn="l" pos="0"/>
                        </a:tabLst>
                      </a:pPr>
                      <a:r>
                        <a:rPr b="1" lang="en-US" sz="1400" spc="-1" strike="noStrike">
                          <a:solidFill>
                            <a:srgbClr val="0b2545"/>
                          </a:solidFill>
                          <a:latin typeface="Calibri"/>
                          <a:ea typeface="Calibri"/>
                        </a:rPr>
                        <a:t>Express</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Apps pequeñas, aprendizaje</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1 socket o 4 cores</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1,4 GB</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Gratuita · 10 GB/BD · sin Agent</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r h="396000">
                <a:tc>
                  <a:txBody>
                    <a:bodyPr lIns="109440" rIns="109440">
                      <a:noAutofit/>
                    </a:bodyPr>
                    <a:p>
                      <a:pPr>
                        <a:lnSpc>
                          <a:spcPct val="100000"/>
                        </a:lnSpc>
                        <a:tabLst>
                          <a:tab algn="l" pos="0"/>
                        </a:tabLst>
                      </a:pPr>
                      <a:r>
                        <a:rPr b="1" lang="en-US" sz="1400" spc="-1" strike="noStrike">
                          <a:solidFill>
                            <a:srgbClr val="0b2545"/>
                          </a:solidFill>
                          <a:latin typeface="Calibri"/>
                          <a:ea typeface="Calibri"/>
                        </a:rPr>
                        <a:t>Standard</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Cargas departamentales</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4 sockets o 24 cores</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128 GB</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Basic AG · backup comprimido</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r>
              <a:tr h="609480">
                <a:tc>
                  <a:txBody>
                    <a:bodyPr lIns="109440" rIns="109440">
                      <a:noAutofit/>
                    </a:bodyPr>
                    <a:p>
                      <a:pPr>
                        <a:lnSpc>
                          <a:spcPct val="100000"/>
                        </a:lnSpc>
                        <a:tabLst>
                          <a:tab algn="l" pos="0"/>
                        </a:tabLst>
                      </a:pPr>
                      <a:r>
                        <a:rPr b="1" lang="en-US" sz="1400" spc="-1" strike="noStrike">
                          <a:solidFill>
                            <a:srgbClr val="0b2545"/>
                          </a:solidFill>
                          <a:latin typeface="Calibri"/>
                          <a:ea typeface="Calibri"/>
                        </a:rPr>
                        <a:t>Enterprise</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Misión crítica y alta carga</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Máximo del SO</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Máximo del SO</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AG completos · online · particionado</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r h="396720">
                <a:tc>
                  <a:txBody>
                    <a:bodyPr lIns="109440" rIns="109440">
                      <a:noAutofit/>
                    </a:bodyPr>
                    <a:p>
                      <a:pPr>
                        <a:lnSpc>
                          <a:spcPct val="100000"/>
                        </a:lnSpc>
                        <a:tabLst>
                          <a:tab algn="l" pos="0"/>
                        </a:tabLst>
                      </a:pPr>
                      <a:r>
                        <a:rPr b="1" lang="en-US" sz="1400" spc="-1" strike="noStrike">
                          <a:solidFill>
                            <a:srgbClr val="0b2545"/>
                          </a:solidFill>
                          <a:latin typeface="Calibri"/>
                          <a:ea typeface="Calibri"/>
                        </a:rPr>
                        <a:t>Developer</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Desarrollo y laboratorio</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Como Enterprise</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Como Enterprise</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Gratis · prohibido en producción</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r>
            </a:tbl>
          </a:graphicData>
        </a:graphic>
      </p:graphicFrame>
      <p:sp>
        <p:nvSpPr>
          <p:cNvPr id="466" name="CustomShape 6"/>
          <p:cNvSpPr/>
          <p:nvPr/>
        </p:nvSpPr>
        <p:spPr>
          <a:xfrm>
            <a:off x="548640" y="5029200"/>
            <a:ext cx="11091960" cy="1094760"/>
          </a:xfrm>
          <a:prstGeom prst="roundRect">
            <a:avLst>
              <a:gd name="adj" fmla="val 10000"/>
            </a:avLst>
          </a:prstGeom>
          <a:solidFill>
            <a:srgbClr val="e8eef5"/>
          </a:solidFill>
          <a:ln>
            <a:noFill/>
          </a:ln>
        </p:spPr>
        <p:style>
          <a:lnRef idx="0"/>
          <a:fillRef idx="0"/>
          <a:effectRef idx="0"/>
          <a:fontRef idx="minor"/>
        </p:style>
      </p:sp>
      <p:sp>
        <p:nvSpPr>
          <p:cNvPr id="467" name="CustomShape 7"/>
          <p:cNvSpPr/>
          <p:nvPr/>
        </p:nvSpPr>
        <p:spPr>
          <a:xfrm>
            <a:off x="731520" y="5349240"/>
            <a:ext cx="454680" cy="454680"/>
          </a:xfrm>
          <a:prstGeom prst="ellipse">
            <a:avLst/>
          </a:prstGeom>
          <a:solidFill>
            <a:srgbClr val="134074"/>
          </a:solidFill>
          <a:ln>
            <a:noFill/>
          </a:ln>
        </p:spPr>
        <p:style>
          <a:lnRef idx="0"/>
          <a:fillRef idx="0"/>
          <a:effectRef idx="0"/>
          <a:fontRef idx="minor"/>
        </p:style>
      </p:sp>
      <p:pic>
        <p:nvPicPr>
          <p:cNvPr id="468" name="Image 0" descr="preencoded.png"/>
          <p:cNvPicPr/>
          <p:nvPr/>
        </p:nvPicPr>
        <p:blipFill>
          <a:blip r:embed="rId1"/>
          <a:stretch/>
        </p:blipFill>
        <p:spPr>
          <a:xfrm>
            <a:off x="846000" y="5463720"/>
            <a:ext cx="226080" cy="226080"/>
          </a:xfrm>
          <a:prstGeom prst="rect">
            <a:avLst/>
          </a:prstGeom>
          <a:ln>
            <a:noFill/>
          </a:ln>
        </p:spPr>
      </p:pic>
      <p:sp>
        <p:nvSpPr>
          <p:cNvPr id="469" name="CustomShape 8"/>
          <p:cNvSpPr/>
          <p:nvPr/>
        </p:nvSpPr>
        <p:spPr>
          <a:xfrm>
            <a:off x="1371600" y="5029200"/>
            <a:ext cx="10086120" cy="109476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2545"/>
                </a:solidFill>
                <a:latin typeface="Calibri"/>
                <a:ea typeface="Calibri"/>
              </a:rPr>
              <a:t>Regla práctica: </a:t>
            </a:r>
            <a:r>
              <a:rPr b="0" lang="en-US" sz="1400" spc="-1" strike="noStrike">
                <a:solidFill>
                  <a:srgbClr val="1f2933"/>
                </a:solidFill>
                <a:latin typeface="Calibri"/>
                <a:ea typeface="Calibri"/>
              </a:rPr>
              <a:t>empieza por Standard y justifica Enterprise con una función concreta. Developer para pruebas, nunca para producción.</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470" name="CustomShape 1"/>
          <p:cNvSpPr/>
          <p:nvPr/>
        </p:nvSpPr>
        <p:spPr>
          <a:xfrm>
            <a:off x="548640" y="365760"/>
            <a:ext cx="167076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LICENCIAMIENTO</a:t>
            </a:r>
            <a:endParaRPr b="0" lang="es-ES" sz="1000" spc="-1" strike="noStrike">
              <a:latin typeface="Arial"/>
            </a:endParaRPr>
          </a:p>
        </p:txBody>
      </p:sp>
      <p:sp>
        <p:nvSpPr>
          <p:cNvPr id="471"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Modelos de licencia: Core vs Server + CAL</a:t>
            </a:r>
            <a:endParaRPr b="0" lang="es-ES" sz="3400" spc="-1" strike="noStrike">
              <a:latin typeface="Arial"/>
            </a:endParaRPr>
          </a:p>
        </p:txBody>
      </p:sp>
      <p:sp>
        <p:nvSpPr>
          <p:cNvPr id="472"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473"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1   16</a:t>
            </a:r>
            <a:endParaRPr b="0" lang="es-ES" sz="1000" spc="-1" strike="noStrike">
              <a:latin typeface="Arial"/>
            </a:endParaRPr>
          </a:p>
        </p:txBody>
      </p:sp>
      <p:sp>
        <p:nvSpPr>
          <p:cNvPr id="474" name="CustomShape 5"/>
          <p:cNvSpPr/>
          <p:nvPr/>
        </p:nvSpPr>
        <p:spPr>
          <a:xfrm>
            <a:off x="548640" y="1600200"/>
            <a:ext cx="5407560" cy="2649240"/>
          </a:xfrm>
          <a:prstGeom prst="roundRect">
            <a:avLst>
              <a:gd name="adj" fmla="val 4138"/>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475" name="CustomShape 6"/>
          <p:cNvSpPr/>
          <p:nvPr/>
        </p:nvSpPr>
        <p:spPr>
          <a:xfrm>
            <a:off x="777240" y="1828800"/>
            <a:ext cx="546120" cy="546120"/>
          </a:xfrm>
          <a:prstGeom prst="ellipse">
            <a:avLst/>
          </a:prstGeom>
          <a:solidFill>
            <a:srgbClr val="134074"/>
          </a:solidFill>
          <a:ln>
            <a:noFill/>
          </a:ln>
        </p:spPr>
        <p:style>
          <a:lnRef idx="0"/>
          <a:fillRef idx="0"/>
          <a:effectRef idx="0"/>
          <a:fontRef idx="minor"/>
        </p:style>
      </p:sp>
      <p:pic>
        <p:nvPicPr>
          <p:cNvPr id="476" name="Image 0" descr="preencoded.png"/>
          <p:cNvPicPr/>
          <p:nvPr/>
        </p:nvPicPr>
        <p:blipFill>
          <a:blip r:embed="rId1"/>
          <a:stretch/>
        </p:blipFill>
        <p:spPr>
          <a:xfrm>
            <a:off x="914400" y="1965960"/>
            <a:ext cx="271800" cy="271800"/>
          </a:xfrm>
          <a:prstGeom prst="rect">
            <a:avLst/>
          </a:prstGeom>
          <a:ln>
            <a:noFill/>
          </a:ln>
        </p:spPr>
      </p:pic>
      <p:sp>
        <p:nvSpPr>
          <p:cNvPr id="477" name="CustomShape 7"/>
          <p:cNvSpPr/>
          <p:nvPr/>
        </p:nvSpPr>
        <p:spPr>
          <a:xfrm>
            <a:off x="1463040" y="1828800"/>
            <a:ext cx="426456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Per Core (por núcleo)</a:t>
            </a:r>
            <a:endParaRPr b="0" lang="es-ES" sz="1700" spc="-1" strike="noStrike">
              <a:latin typeface="Arial"/>
            </a:endParaRPr>
          </a:p>
        </p:txBody>
      </p:sp>
      <p:sp>
        <p:nvSpPr>
          <p:cNvPr id="478" name="CustomShape 8"/>
          <p:cNvSpPr/>
          <p:nvPr/>
        </p:nvSpPr>
        <p:spPr>
          <a:xfrm>
            <a:off x="777240" y="2560320"/>
            <a:ext cx="4950360" cy="146052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Standard y Enterprise</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Usuarios y dispositivos ilimitados</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Mínimo 4 núcleos por procesador y VM</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Paquetes de 2 núcleos</a:t>
            </a:r>
            <a:endParaRPr b="0" lang="es-ES" sz="1400" spc="-1" strike="noStrike">
              <a:latin typeface="Arial"/>
            </a:endParaRPr>
          </a:p>
        </p:txBody>
      </p:sp>
      <p:sp>
        <p:nvSpPr>
          <p:cNvPr id="479" name="CustomShape 9"/>
          <p:cNvSpPr/>
          <p:nvPr/>
        </p:nvSpPr>
        <p:spPr>
          <a:xfrm>
            <a:off x="6233040" y="1600200"/>
            <a:ext cx="5407560" cy="2649240"/>
          </a:xfrm>
          <a:prstGeom prst="roundRect">
            <a:avLst>
              <a:gd name="adj" fmla="val 4138"/>
            </a:avLst>
          </a:prstGeom>
          <a:solidFill>
            <a:srgbClr val="e8eef5"/>
          </a:solidFill>
          <a:ln>
            <a:noFill/>
          </a:ln>
        </p:spPr>
        <p:style>
          <a:lnRef idx="0"/>
          <a:fillRef idx="0"/>
          <a:effectRef idx="0"/>
          <a:fontRef idx="minor"/>
        </p:style>
      </p:sp>
      <p:sp>
        <p:nvSpPr>
          <p:cNvPr id="480" name="CustomShape 10"/>
          <p:cNvSpPr/>
          <p:nvPr/>
        </p:nvSpPr>
        <p:spPr>
          <a:xfrm>
            <a:off x="6461640" y="1828800"/>
            <a:ext cx="546120" cy="546120"/>
          </a:xfrm>
          <a:prstGeom prst="ellipse">
            <a:avLst/>
          </a:prstGeom>
          <a:solidFill>
            <a:srgbClr val="134074"/>
          </a:solidFill>
          <a:ln>
            <a:noFill/>
          </a:ln>
        </p:spPr>
        <p:style>
          <a:lnRef idx="0"/>
          <a:fillRef idx="0"/>
          <a:effectRef idx="0"/>
          <a:fontRef idx="minor"/>
        </p:style>
      </p:sp>
      <p:pic>
        <p:nvPicPr>
          <p:cNvPr id="481" name="Image 1" descr="preencoded.png"/>
          <p:cNvPicPr/>
          <p:nvPr/>
        </p:nvPicPr>
        <p:blipFill>
          <a:blip r:embed="rId2"/>
          <a:stretch/>
        </p:blipFill>
        <p:spPr>
          <a:xfrm>
            <a:off x="6598800" y="1965960"/>
            <a:ext cx="271800" cy="271800"/>
          </a:xfrm>
          <a:prstGeom prst="rect">
            <a:avLst/>
          </a:prstGeom>
          <a:ln>
            <a:noFill/>
          </a:ln>
        </p:spPr>
      </p:pic>
      <p:sp>
        <p:nvSpPr>
          <p:cNvPr id="482" name="CustomShape 11"/>
          <p:cNvSpPr/>
          <p:nvPr/>
        </p:nvSpPr>
        <p:spPr>
          <a:xfrm>
            <a:off x="7147440" y="1828800"/>
            <a:ext cx="426456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Server + CAL</a:t>
            </a:r>
            <a:endParaRPr b="0" lang="es-ES" sz="1700" spc="-1" strike="noStrike">
              <a:latin typeface="Arial"/>
            </a:endParaRPr>
          </a:p>
        </p:txBody>
      </p:sp>
      <p:sp>
        <p:nvSpPr>
          <p:cNvPr id="483" name="CustomShape 12"/>
          <p:cNvSpPr/>
          <p:nvPr/>
        </p:nvSpPr>
        <p:spPr>
          <a:xfrm>
            <a:off x="6461640" y="2560320"/>
            <a:ext cx="4950360" cy="146052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Sólo Standard</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Licencia de servidor + CAL por usuario o dispositivo</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Conviene con pocos usuarios identificados</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No válido para acceso masivo desde internet</a:t>
            </a:r>
            <a:endParaRPr b="0" lang="es-ES" sz="1400" spc="-1" strike="noStrike">
              <a:latin typeface="Arial"/>
            </a:endParaRPr>
          </a:p>
        </p:txBody>
      </p:sp>
      <p:sp>
        <p:nvSpPr>
          <p:cNvPr id="484" name="CustomShape 13"/>
          <p:cNvSpPr/>
          <p:nvPr/>
        </p:nvSpPr>
        <p:spPr>
          <a:xfrm>
            <a:off x="548640" y="4526280"/>
            <a:ext cx="3512880" cy="1643400"/>
          </a:xfrm>
          <a:prstGeom prst="roundRect">
            <a:avLst>
              <a:gd name="adj" fmla="val 6667"/>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485" name="CustomShape 14"/>
          <p:cNvSpPr/>
          <p:nvPr/>
        </p:nvSpPr>
        <p:spPr>
          <a:xfrm>
            <a:off x="731520" y="4663440"/>
            <a:ext cx="3147120" cy="8204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4000" spc="-1" strike="noStrike">
                <a:solidFill>
                  <a:srgbClr val="d95d39"/>
                </a:solidFill>
                <a:latin typeface="Calibri"/>
                <a:ea typeface="Calibri"/>
              </a:rPr>
              <a:t>4</a:t>
            </a:r>
            <a:endParaRPr b="0" lang="es-ES" sz="4000" spc="-1" strike="noStrike">
              <a:latin typeface="Arial"/>
            </a:endParaRPr>
          </a:p>
        </p:txBody>
      </p:sp>
      <p:sp>
        <p:nvSpPr>
          <p:cNvPr id="486" name="CustomShape 15"/>
          <p:cNvSpPr/>
          <p:nvPr/>
        </p:nvSpPr>
        <p:spPr>
          <a:xfrm>
            <a:off x="731520" y="5431680"/>
            <a:ext cx="3147120" cy="65592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300" spc="-1" strike="noStrike">
                <a:solidFill>
                  <a:srgbClr val="5c6b7a"/>
                </a:solidFill>
                <a:latin typeface="Calibri"/>
                <a:ea typeface="Calibri"/>
              </a:rPr>
              <a:t>núcleos mínimos por procesador</a:t>
            </a:r>
            <a:endParaRPr b="0" lang="es-ES" sz="1300" spc="-1" strike="noStrike">
              <a:latin typeface="Arial"/>
            </a:endParaRPr>
          </a:p>
        </p:txBody>
      </p:sp>
      <p:sp>
        <p:nvSpPr>
          <p:cNvPr id="487" name="CustomShape 16"/>
          <p:cNvSpPr/>
          <p:nvPr/>
        </p:nvSpPr>
        <p:spPr>
          <a:xfrm>
            <a:off x="4338360" y="4526280"/>
            <a:ext cx="3512880" cy="1643400"/>
          </a:xfrm>
          <a:prstGeom prst="roundRect">
            <a:avLst>
              <a:gd name="adj" fmla="val 6667"/>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488" name="CustomShape 17"/>
          <p:cNvSpPr/>
          <p:nvPr/>
        </p:nvSpPr>
        <p:spPr>
          <a:xfrm>
            <a:off x="4521240" y="4663440"/>
            <a:ext cx="3147120" cy="8204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4000" spc="-1" strike="noStrike">
                <a:solidFill>
                  <a:srgbClr val="d95d39"/>
                </a:solidFill>
                <a:latin typeface="Calibri"/>
                <a:ea typeface="Calibri"/>
              </a:rPr>
              <a:t>2</a:t>
            </a:r>
            <a:endParaRPr b="0" lang="es-ES" sz="4000" spc="-1" strike="noStrike">
              <a:latin typeface="Arial"/>
            </a:endParaRPr>
          </a:p>
        </p:txBody>
      </p:sp>
      <p:sp>
        <p:nvSpPr>
          <p:cNvPr id="489" name="CustomShape 18"/>
          <p:cNvSpPr/>
          <p:nvPr/>
        </p:nvSpPr>
        <p:spPr>
          <a:xfrm>
            <a:off x="4521240" y="5431680"/>
            <a:ext cx="3147120" cy="65592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300" spc="-1" strike="noStrike">
                <a:solidFill>
                  <a:srgbClr val="5c6b7a"/>
                </a:solidFill>
                <a:latin typeface="Calibri"/>
                <a:ea typeface="Calibri"/>
              </a:rPr>
              <a:t>núcleos por paquete de licencia</a:t>
            </a:r>
            <a:endParaRPr b="0" lang="es-ES" sz="1300" spc="-1" strike="noStrike">
              <a:latin typeface="Arial"/>
            </a:endParaRPr>
          </a:p>
        </p:txBody>
      </p:sp>
      <p:sp>
        <p:nvSpPr>
          <p:cNvPr id="490" name="CustomShape 19"/>
          <p:cNvSpPr/>
          <p:nvPr/>
        </p:nvSpPr>
        <p:spPr>
          <a:xfrm>
            <a:off x="8127720" y="4526280"/>
            <a:ext cx="3512880" cy="1643400"/>
          </a:xfrm>
          <a:prstGeom prst="roundRect">
            <a:avLst>
              <a:gd name="adj" fmla="val 6667"/>
            </a:avLst>
          </a:prstGeom>
          <a:solidFill>
            <a:srgbClr val="0b2545"/>
          </a:solidFill>
          <a:ln>
            <a:noFill/>
          </a:ln>
        </p:spPr>
        <p:style>
          <a:lnRef idx="0"/>
          <a:fillRef idx="0"/>
          <a:effectRef idx="0"/>
          <a:fontRef idx="minor"/>
        </p:style>
      </p:sp>
      <p:sp>
        <p:nvSpPr>
          <p:cNvPr id="491" name="CustomShape 20"/>
          <p:cNvSpPr/>
          <p:nvPr/>
        </p:nvSpPr>
        <p:spPr>
          <a:xfrm>
            <a:off x="8310600" y="4663440"/>
            <a:ext cx="3147120" cy="8204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4000" spc="-1" strike="noStrike">
                <a:solidFill>
                  <a:srgbClr val="ffffff"/>
                </a:solidFill>
                <a:latin typeface="Calibri"/>
                <a:ea typeface="Calibri"/>
              </a:rPr>
              <a:t>SA</a:t>
            </a:r>
            <a:endParaRPr b="0" lang="es-ES" sz="4000" spc="-1" strike="noStrike">
              <a:latin typeface="Arial"/>
            </a:endParaRPr>
          </a:p>
        </p:txBody>
      </p:sp>
      <p:sp>
        <p:nvSpPr>
          <p:cNvPr id="492" name="CustomShape 21"/>
          <p:cNvSpPr/>
          <p:nvPr/>
        </p:nvSpPr>
        <p:spPr>
          <a:xfrm>
            <a:off x="8310600" y="5431680"/>
            <a:ext cx="3147120" cy="65592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300" spc="-1" strike="noStrike">
                <a:solidFill>
                  <a:srgbClr val="dce6f2"/>
                </a:solidFill>
                <a:latin typeface="Calibri"/>
                <a:ea typeface="Calibri"/>
              </a:rPr>
              <a:t>Software Assurance: derechos de failover</a:t>
            </a:r>
            <a:endParaRPr b="0" lang="es-ES" sz="13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493" name="CustomShape 1"/>
          <p:cNvSpPr/>
          <p:nvPr/>
        </p:nvSpPr>
        <p:spPr>
          <a:xfrm>
            <a:off x="548640" y="365760"/>
            <a:ext cx="149724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HERRAMIENTAS</a:t>
            </a:r>
            <a:endParaRPr b="0" lang="es-ES" sz="1000" spc="-1" strike="noStrike">
              <a:latin typeface="Arial"/>
            </a:endParaRPr>
          </a:p>
        </p:txBody>
      </p:sp>
      <p:sp>
        <p:nvSpPr>
          <p:cNvPr id="494"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Herramientas de administración</a:t>
            </a:r>
            <a:endParaRPr b="0" lang="es-ES" sz="3400" spc="-1" strike="noStrike">
              <a:latin typeface="Arial"/>
            </a:endParaRPr>
          </a:p>
        </p:txBody>
      </p:sp>
      <p:sp>
        <p:nvSpPr>
          <p:cNvPr id="495"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496"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1   17</a:t>
            </a:r>
            <a:endParaRPr b="0" lang="es-ES" sz="1000" spc="-1" strike="noStrike">
              <a:latin typeface="Arial"/>
            </a:endParaRPr>
          </a:p>
        </p:txBody>
      </p:sp>
      <p:sp>
        <p:nvSpPr>
          <p:cNvPr id="497" name="CustomShape 5"/>
          <p:cNvSpPr/>
          <p:nvPr/>
        </p:nvSpPr>
        <p:spPr>
          <a:xfrm>
            <a:off x="548640" y="1600200"/>
            <a:ext cx="5407560" cy="2146320"/>
          </a:xfrm>
          <a:prstGeom prst="roundRect">
            <a:avLst>
              <a:gd name="adj" fmla="val 51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498" name="CustomShape 6"/>
          <p:cNvSpPr/>
          <p:nvPr/>
        </p:nvSpPr>
        <p:spPr>
          <a:xfrm>
            <a:off x="777240" y="1828800"/>
            <a:ext cx="546120" cy="546120"/>
          </a:xfrm>
          <a:prstGeom prst="ellipse">
            <a:avLst/>
          </a:prstGeom>
          <a:solidFill>
            <a:srgbClr val="134074"/>
          </a:solidFill>
          <a:ln>
            <a:noFill/>
          </a:ln>
        </p:spPr>
        <p:style>
          <a:lnRef idx="0"/>
          <a:fillRef idx="0"/>
          <a:effectRef idx="0"/>
          <a:fontRef idx="minor"/>
        </p:style>
      </p:sp>
      <p:pic>
        <p:nvPicPr>
          <p:cNvPr id="499" name="Image 0" descr="preencoded.png"/>
          <p:cNvPicPr/>
          <p:nvPr/>
        </p:nvPicPr>
        <p:blipFill>
          <a:blip r:embed="rId1"/>
          <a:stretch/>
        </p:blipFill>
        <p:spPr>
          <a:xfrm>
            <a:off x="914400" y="1965960"/>
            <a:ext cx="271800" cy="271800"/>
          </a:xfrm>
          <a:prstGeom prst="rect">
            <a:avLst/>
          </a:prstGeom>
          <a:ln>
            <a:noFill/>
          </a:ln>
        </p:spPr>
      </p:pic>
      <p:sp>
        <p:nvSpPr>
          <p:cNvPr id="500" name="CustomShape 7"/>
          <p:cNvSpPr/>
          <p:nvPr/>
        </p:nvSpPr>
        <p:spPr>
          <a:xfrm>
            <a:off x="1463040" y="1828800"/>
            <a:ext cx="426456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SSMS</a:t>
            </a:r>
            <a:endParaRPr b="0" lang="es-ES" sz="1700" spc="-1" strike="noStrike">
              <a:latin typeface="Arial"/>
            </a:endParaRPr>
          </a:p>
        </p:txBody>
      </p:sp>
      <p:sp>
        <p:nvSpPr>
          <p:cNvPr id="501" name="CustomShape 8"/>
          <p:cNvSpPr/>
          <p:nvPr/>
        </p:nvSpPr>
        <p:spPr>
          <a:xfrm>
            <a:off x="777240" y="2560320"/>
            <a:ext cx="4950360" cy="957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Referencia en Windows: objetos, planes gráficos, Agent, asistentes de backup/restore.</a:t>
            </a:r>
            <a:endParaRPr b="0" lang="es-ES" sz="1400" spc="-1" strike="noStrike">
              <a:latin typeface="Arial"/>
            </a:endParaRPr>
          </a:p>
        </p:txBody>
      </p:sp>
      <p:sp>
        <p:nvSpPr>
          <p:cNvPr id="502" name="CustomShape 9"/>
          <p:cNvSpPr/>
          <p:nvPr/>
        </p:nvSpPr>
        <p:spPr>
          <a:xfrm>
            <a:off x="6233040" y="1600200"/>
            <a:ext cx="5407560" cy="2146320"/>
          </a:xfrm>
          <a:prstGeom prst="roundRect">
            <a:avLst>
              <a:gd name="adj" fmla="val 51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503" name="CustomShape 10"/>
          <p:cNvSpPr/>
          <p:nvPr/>
        </p:nvSpPr>
        <p:spPr>
          <a:xfrm>
            <a:off x="6461640" y="1828800"/>
            <a:ext cx="546120" cy="546120"/>
          </a:xfrm>
          <a:prstGeom prst="ellipse">
            <a:avLst/>
          </a:prstGeom>
          <a:solidFill>
            <a:srgbClr val="134074"/>
          </a:solidFill>
          <a:ln>
            <a:noFill/>
          </a:ln>
        </p:spPr>
        <p:style>
          <a:lnRef idx="0"/>
          <a:fillRef idx="0"/>
          <a:effectRef idx="0"/>
          <a:fontRef idx="minor"/>
        </p:style>
      </p:sp>
      <p:pic>
        <p:nvPicPr>
          <p:cNvPr id="504" name="Image 1" descr="preencoded.png"/>
          <p:cNvPicPr/>
          <p:nvPr/>
        </p:nvPicPr>
        <p:blipFill>
          <a:blip r:embed="rId2"/>
          <a:stretch/>
        </p:blipFill>
        <p:spPr>
          <a:xfrm>
            <a:off x="6598800" y="1965960"/>
            <a:ext cx="271800" cy="271800"/>
          </a:xfrm>
          <a:prstGeom prst="rect">
            <a:avLst/>
          </a:prstGeom>
          <a:ln>
            <a:noFill/>
          </a:ln>
        </p:spPr>
      </p:pic>
      <p:sp>
        <p:nvSpPr>
          <p:cNvPr id="505" name="CustomShape 11"/>
          <p:cNvSpPr/>
          <p:nvPr/>
        </p:nvSpPr>
        <p:spPr>
          <a:xfrm>
            <a:off x="7147440" y="1828800"/>
            <a:ext cx="426456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VS Code + extensión MSSQL</a:t>
            </a:r>
            <a:endParaRPr b="0" lang="es-ES" sz="1700" spc="-1" strike="noStrike">
              <a:latin typeface="Arial"/>
            </a:endParaRPr>
          </a:p>
        </p:txBody>
      </p:sp>
      <p:sp>
        <p:nvSpPr>
          <p:cNvPr id="506" name="CustomShape 12"/>
          <p:cNvSpPr/>
          <p:nvPr/>
        </p:nvSpPr>
        <p:spPr>
          <a:xfrm>
            <a:off x="6461640" y="2560320"/>
            <a:ext cx="4950360" cy="957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Multiplataforma, notebooks y Git. Sustituye a Azure Data Studio.</a:t>
            </a:r>
            <a:endParaRPr b="0" lang="es-ES" sz="1400" spc="-1" strike="noStrike">
              <a:latin typeface="Arial"/>
            </a:endParaRPr>
          </a:p>
        </p:txBody>
      </p:sp>
      <p:sp>
        <p:nvSpPr>
          <p:cNvPr id="507" name="CustomShape 13"/>
          <p:cNvSpPr/>
          <p:nvPr/>
        </p:nvSpPr>
        <p:spPr>
          <a:xfrm>
            <a:off x="548640" y="4023360"/>
            <a:ext cx="5407560" cy="2146320"/>
          </a:xfrm>
          <a:prstGeom prst="roundRect">
            <a:avLst>
              <a:gd name="adj" fmla="val 51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508" name="CustomShape 14"/>
          <p:cNvSpPr/>
          <p:nvPr/>
        </p:nvSpPr>
        <p:spPr>
          <a:xfrm>
            <a:off x="777240" y="4251960"/>
            <a:ext cx="546120" cy="546120"/>
          </a:xfrm>
          <a:prstGeom prst="ellipse">
            <a:avLst/>
          </a:prstGeom>
          <a:solidFill>
            <a:srgbClr val="134074"/>
          </a:solidFill>
          <a:ln>
            <a:noFill/>
          </a:ln>
        </p:spPr>
        <p:style>
          <a:lnRef idx="0"/>
          <a:fillRef idx="0"/>
          <a:effectRef idx="0"/>
          <a:fontRef idx="minor"/>
        </p:style>
      </p:sp>
      <p:pic>
        <p:nvPicPr>
          <p:cNvPr id="509" name="Image 2" descr="preencoded.png"/>
          <p:cNvPicPr/>
          <p:nvPr/>
        </p:nvPicPr>
        <p:blipFill>
          <a:blip r:embed="rId3"/>
          <a:stretch/>
        </p:blipFill>
        <p:spPr>
          <a:xfrm>
            <a:off x="914400" y="4389120"/>
            <a:ext cx="271800" cy="271800"/>
          </a:xfrm>
          <a:prstGeom prst="rect">
            <a:avLst/>
          </a:prstGeom>
          <a:ln>
            <a:noFill/>
          </a:ln>
        </p:spPr>
      </p:pic>
      <p:sp>
        <p:nvSpPr>
          <p:cNvPr id="510" name="CustomShape 15"/>
          <p:cNvSpPr/>
          <p:nvPr/>
        </p:nvSpPr>
        <p:spPr>
          <a:xfrm>
            <a:off x="1463040" y="4251960"/>
            <a:ext cx="426456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sqlcmd</a:t>
            </a:r>
            <a:endParaRPr b="0" lang="es-ES" sz="1700" spc="-1" strike="noStrike">
              <a:latin typeface="Arial"/>
            </a:endParaRPr>
          </a:p>
        </p:txBody>
      </p:sp>
      <p:sp>
        <p:nvSpPr>
          <p:cNvPr id="511" name="CustomShape 16"/>
          <p:cNvSpPr/>
          <p:nvPr/>
        </p:nvSpPr>
        <p:spPr>
          <a:xfrm>
            <a:off x="777240" y="4983480"/>
            <a:ext cx="4950360" cy="957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Línea de comandos para scripts, CI y automatización.</a:t>
            </a:r>
            <a:endParaRPr b="0" lang="es-ES" sz="1400" spc="-1" strike="noStrike">
              <a:latin typeface="Arial"/>
            </a:endParaRPr>
          </a:p>
        </p:txBody>
      </p:sp>
      <p:sp>
        <p:nvSpPr>
          <p:cNvPr id="512" name="CustomShape 17"/>
          <p:cNvSpPr/>
          <p:nvPr/>
        </p:nvSpPr>
        <p:spPr>
          <a:xfrm>
            <a:off x="6233040" y="4023360"/>
            <a:ext cx="5407560" cy="2146320"/>
          </a:xfrm>
          <a:prstGeom prst="roundRect">
            <a:avLst>
              <a:gd name="adj" fmla="val 51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513" name="CustomShape 18"/>
          <p:cNvSpPr/>
          <p:nvPr/>
        </p:nvSpPr>
        <p:spPr>
          <a:xfrm>
            <a:off x="6461640" y="4251960"/>
            <a:ext cx="546120" cy="546120"/>
          </a:xfrm>
          <a:prstGeom prst="ellipse">
            <a:avLst/>
          </a:prstGeom>
          <a:solidFill>
            <a:srgbClr val="134074"/>
          </a:solidFill>
          <a:ln>
            <a:noFill/>
          </a:ln>
        </p:spPr>
        <p:style>
          <a:lnRef idx="0"/>
          <a:fillRef idx="0"/>
          <a:effectRef idx="0"/>
          <a:fontRef idx="minor"/>
        </p:style>
      </p:sp>
      <p:pic>
        <p:nvPicPr>
          <p:cNvPr id="514" name="Image 3" descr="preencoded.png"/>
          <p:cNvPicPr/>
          <p:nvPr/>
        </p:nvPicPr>
        <p:blipFill>
          <a:blip r:embed="rId4"/>
          <a:stretch/>
        </p:blipFill>
        <p:spPr>
          <a:xfrm>
            <a:off x="6598800" y="4389120"/>
            <a:ext cx="271800" cy="271800"/>
          </a:xfrm>
          <a:prstGeom prst="rect">
            <a:avLst/>
          </a:prstGeom>
          <a:ln>
            <a:noFill/>
          </a:ln>
        </p:spPr>
      </p:pic>
      <p:sp>
        <p:nvSpPr>
          <p:cNvPr id="515" name="CustomShape 19"/>
          <p:cNvSpPr/>
          <p:nvPr/>
        </p:nvSpPr>
        <p:spPr>
          <a:xfrm>
            <a:off x="7147440" y="4251960"/>
            <a:ext cx="426456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Extended Events</a:t>
            </a:r>
            <a:endParaRPr b="0" lang="es-ES" sz="1700" spc="-1" strike="noStrike">
              <a:latin typeface="Arial"/>
            </a:endParaRPr>
          </a:p>
        </p:txBody>
      </p:sp>
      <p:sp>
        <p:nvSpPr>
          <p:cNvPr id="516" name="CustomShape 20"/>
          <p:cNvSpPr/>
          <p:nvPr/>
        </p:nvSpPr>
        <p:spPr>
          <a:xfrm>
            <a:off x="6461640" y="4983480"/>
            <a:ext cx="4950360" cy="957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Trazas ligeras. Sustituyen a SQL Server Profiler (obsoleto).</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517" name="CustomShape 1"/>
          <p:cNvSpPr/>
          <p:nvPr/>
        </p:nvSpPr>
        <p:spPr>
          <a:xfrm>
            <a:off x="548640" y="365760"/>
            <a:ext cx="149724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HERRAMIENTAS</a:t>
            </a:r>
            <a:endParaRPr b="0" lang="es-ES" sz="1000" spc="-1" strike="noStrike">
              <a:latin typeface="Arial"/>
            </a:endParaRPr>
          </a:p>
        </p:txBody>
      </p:sp>
      <p:sp>
        <p:nvSpPr>
          <p:cNvPr id="518"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sqlcmd y Extended Events básicos</a:t>
            </a:r>
            <a:endParaRPr b="0" lang="es-ES" sz="3400" spc="-1" strike="noStrike">
              <a:latin typeface="Arial"/>
            </a:endParaRPr>
          </a:p>
        </p:txBody>
      </p:sp>
      <p:sp>
        <p:nvSpPr>
          <p:cNvPr id="519"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520"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1   18</a:t>
            </a:r>
            <a:endParaRPr b="0" lang="es-ES" sz="1000" spc="-1" strike="noStrike">
              <a:latin typeface="Arial"/>
            </a:endParaRPr>
          </a:p>
        </p:txBody>
      </p:sp>
      <p:sp>
        <p:nvSpPr>
          <p:cNvPr id="521" name="CustomShape 5"/>
          <p:cNvSpPr/>
          <p:nvPr/>
        </p:nvSpPr>
        <p:spPr>
          <a:xfrm>
            <a:off x="548640" y="1600200"/>
            <a:ext cx="4935240" cy="2192040"/>
          </a:xfrm>
          <a:prstGeom prst="roundRect">
            <a:avLst>
              <a:gd name="adj" fmla="val 4167"/>
            </a:avLst>
          </a:prstGeom>
          <a:solidFill>
            <a:srgbClr val="eceff3"/>
          </a:solidFill>
          <a:ln w="9360">
            <a:solidFill>
              <a:srgbClr val="d0d7de"/>
            </a:solidFill>
            <a:round/>
          </a:ln>
        </p:spPr>
        <p:style>
          <a:lnRef idx="0"/>
          <a:fillRef idx="0"/>
          <a:effectRef idx="0"/>
          <a:fontRef idx="minor"/>
        </p:style>
      </p:sp>
      <p:sp>
        <p:nvSpPr>
          <p:cNvPr id="522" name="CustomShape 6"/>
          <p:cNvSpPr/>
          <p:nvPr/>
        </p:nvSpPr>
        <p:spPr>
          <a:xfrm>
            <a:off x="73152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BASH · SQLCMD</a:t>
            </a:r>
            <a:endParaRPr b="0" lang="es-ES" sz="1000" spc="-1" strike="noStrike">
              <a:latin typeface="Arial"/>
            </a:endParaRPr>
          </a:p>
        </p:txBody>
      </p:sp>
      <p:sp>
        <p:nvSpPr>
          <p:cNvPr id="523" name="CustomShape 7"/>
          <p:cNvSpPr/>
          <p:nvPr/>
        </p:nvSpPr>
        <p:spPr>
          <a:xfrm>
            <a:off x="731520" y="1965960"/>
            <a:ext cx="4569480" cy="173484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0" lang="en-US" sz="1200" spc="-1" strike="noStrike">
                <a:solidFill>
                  <a:srgbClr val="1f2933"/>
                </a:solidFill>
                <a:latin typeface="Consolas"/>
                <a:ea typeface="Consolas"/>
              </a:rPr>
              <a:t>sqlcmd -S localhost,</a:t>
            </a:r>
            <a:r>
              <a:rPr b="0" lang="en-US" sz="1200" spc="-1" strike="noStrike">
                <a:solidFill>
                  <a:srgbClr val="9a3412"/>
                </a:solidFill>
                <a:latin typeface="Consolas"/>
                <a:ea typeface="Consolas"/>
              </a:rPr>
              <a:t>1433</a:t>
            </a:r>
            <a:r>
              <a:rPr b="0" lang="en-US" sz="1200" spc="-1" strike="noStrike">
                <a:solidFill>
                  <a:srgbClr val="1f2933"/>
                </a:solidFill>
                <a:latin typeface="Consolas"/>
                <a:ea typeface="Consolas"/>
              </a:rPr>
              <a:t> -U sa -C \</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-P "Curso#SQL2025!" \</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-Q "</a:t>
            </a: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a:t>
            </a:r>
            <a:r>
              <a:rPr b="0" lang="en-US" sz="1200" spc="-1" strike="noStrike">
                <a:solidFill>
                  <a:srgbClr val="0f766e"/>
                </a:solidFill>
                <a:latin typeface="Consolas"/>
                <a:ea typeface="Consolas"/>
              </a:rPr>
              <a:t>@@VERSION</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sqlcmd -S .\SQLEXPRESS -E -b \</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-i script.sql -o salida.txt</a:t>
            </a:r>
            <a:endParaRPr b="0" lang="es-ES" sz="1200" spc="-1" strike="noStrike">
              <a:latin typeface="Arial"/>
            </a:endParaRPr>
          </a:p>
        </p:txBody>
      </p:sp>
      <p:sp>
        <p:nvSpPr>
          <p:cNvPr id="524" name="CustomShape 8"/>
          <p:cNvSpPr/>
          <p:nvPr/>
        </p:nvSpPr>
        <p:spPr>
          <a:xfrm>
            <a:off x="5760720" y="1600200"/>
            <a:ext cx="5877000" cy="3563640"/>
          </a:xfrm>
          <a:prstGeom prst="roundRect">
            <a:avLst>
              <a:gd name="adj" fmla="val 2564"/>
            </a:avLst>
          </a:prstGeom>
          <a:solidFill>
            <a:srgbClr val="eceff3"/>
          </a:solidFill>
          <a:ln w="9360">
            <a:solidFill>
              <a:srgbClr val="d0d7de"/>
            </a:solidFill>
            <a:round/>
          </a:ln>
        </p:spPr>
        <p:style>
          <a:lnRef idx="0"/>
          <a:fillRef idx="0"/>
          <a:effectRef idx="0"/>
          <a:fontRef idx="minor"/>
        </p:style>
      </p:sp>
      <p:sp>
        <p:nvSpPr>
          <p:cNvPr id="525" name="CustomShape 9"/>
          <p:cNvSpPr/>
          <p:nvPr/>
        </p:nvSpPr>
        <p:spPr>
          <a:xfrm>
            <a:off x="594360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EXTENDED EVENTS</a:t>
            </a:r>
            <a:endParaRPr b="0" lang="es-ES" sz="1000" spc="-1" strike="noStrike">
              <a:latin typeface="Arial"/>
            </a:endParaRPr>
          </a:p>
        </p:txBody>
      </p:sp>
      <p:sp>
        <p:nvSpPr>
          <p:cNvPr id="526" name="CustomShape 10"/>
          <p:cNvSpPr/>
          <p:nvPr/>
        </p:nvSpPr>
        <p:spPr>
          <a:xfrm>
            <a:off x="5943600" y="1965960"/>
            <a:ext cx="5511240" cy="310644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000" spc="-1" strike="noStrike">
                <a:solidFill>
                  <a:srgbClr val="999999"/>
                </a:solidFill>
                <a:latin typeface="Consolas"/>
                <a:ea typeface="Consolas"/>
              </a:rPr>
              <a:t>-- 1. Creamos la sesión en el servidor</a:t>
            </a:r>
            <a:endParaRPr b="0" lang="es-ES" sz="1000" spc="-1" strike="noStrike">
              <a:latin typeface="Arial"/>
            </a:endParaRPr>
          </a:p>
          <a:p>
            <a:pPr>
              <a:lnSpc>
                <a:spcPct val="100000"/>
              </a:lnSpc>
              <a:tabLst>
                <a:tab algn="l" pos="0"/>
              </a:tabLst>
            </a:pPr>
            <a:r>
              <a:rPr b="1" lang="en-US" sz="1200" spc="-1" strike="noStrike">
                <a:solidFill>
                  <a:srgbClr val="1d4ed8"/>
                </a:solidFill>
                <a:latin typeface="Consolas"/>
                <a:ea typeface="Consolas"/>
              </a:rPr>
              <a:t>CREATE</a:t>
            </a:r>
            <a:r>
              <a:rPr b="0" lang="en-US" sz="1200" spc="-1" strike="noStrike">
                <a:solidFill>
                  <a:srgbClr val="1f2933"/>
                </a:solidFill>
                <a:latin typeface="Consolas"/>
                <a:ea typeface="Consolas"/>
              </a:rPr>
              <a:t> EVENT SESSION [lentas]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 SERVER</a:t>
            </a:r>
            <a:br/>
            <a:r>
              <a:rPr b="1" lang="en-US" sz="1000" spc="-1" strike="noStrike">
                <a:solidFill>
                  <a:srgbClr val="999999"/>
                </a:solidFill>
                <a:latin typeface="Consolas"/>
                <a:ea typeface="Consolas"/>
              </a:rPr>
              <a:t>-- 2. Añadimos el Evento (en este caso, cuando termina un comando SQL)</a:t>
            </a:r>
            <a:endParaRPr b="0" lang="es-ES" sz="1000" spc="-1" strike="noStrike">
              <a:latin typeface="Arial"/>
            </a:endParaRPr>
          </a:p>
          <a:p>
            <a:pPr>
              <a:lnSpc>
                <a:spcPct val="100000"/>
              </a:lnSpc>
              <a:tabLst>
                <a:tab algn="l" pos="0"/>
              </a:tabLst>
            </a:pPr>
            <a:r>
              <a:rPr b="1" lang="en-US" sz="1200" spc="-1" strike="noStrike">
                <a:solidFill>
                  <a:srgbClr val="1d4ed8"/>
                </a:solidFill>
                <a:latin typeface="Consolas"/>
                <a:ea typeface="Consolas"/>
              </a:rPr>
              <a:t>ADD</a:t>
            </a:r>
            <a:r>
              <a:rPr b="0" lang="en-US" sz="1200" spc="-1" strike="noStrike">
                <a:solidFill>
                  <a:srgbClr val="1f2933"/>
                </a:solidFill>
                <a:latin typeface="Consolas"/>
                <a:ea typeface="Consolas"/>
              </a:rPr>
              <a:t> EVENT sqlserver.sql_statement_completed(</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a:t>
            </a:r>
            <a:r>
              <a:rPr b="1" lang="en-US" sz="1000" spc="-1" strike="noStrike">
                <a:solidFill>
                  <a:srgbClr val="999999"/>
                </a:solidFill>
                <a:latin typeface="Consolas"/>
                <a:ea typeface="Consolas"/>
              </a:rPr>
              <a:t>- Acciones: Datos extra que queremos adjuntar a la captura</a:t>
            </a:r>
            <a:endParaRPr b="0" lang="es-ES" sz="10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ACTION</a:t>
            </a:r>
            <a:r>
              <a:rPr b="0" lang="en-US" sz="1200" spc="-1" strike="noStrike">
                <a:solidFill>
                  <a:srgbClr val="1f2933"/>
                </a:solidFill>
                <a:latin typeface="Consolas"/>
                <a:ea typeface="Consolas"/>
              </a:rPr>
              <a:t> (sqlserver.database_name, </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sqlserver.username,</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sqlserver.sql_text)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WHERE</a:t>
            </a:r>
            <a:r>
              <a:rPr b="0" lang="en-US" sz="1200" spc="-1" strike="noStrike">
                <a:solidFill>
                  <a:srgbClr val="1f2933"/>
                </a:solidFill>
                <a:latin typeface="Consolas"/>
                <a:ea typeface="Consolas"/>
              </a:rPr>
              <a:t> (duration &gt; </a:t>
            </a:r>
            <a:r>
              <a:rPr b="0" lang="en-US" sz="1200" spc="-1" strike="noStrike">
                <a:solidFill>
                  <a:srgbClr val="9a3412"/>
                </a:solidFill>
                <a:latin typeface="Consolas"/>
                <a:ea typeface="Consolas"/>
              </a:rPr>
              <a:t>1000000) </a:t>
            </a:r>
            <a:r>
              <a:rPr b="1" lang="en-US" sz="1000" spc="-1" strike="noStrike">
                <a:solidFill>
                  <a:srgbClr val="999999"/>
                </a:solidFill>
                <a:latin typeface="Consolas"/>
                <a:ea typeface="Consolas"/>
              </a:rPr>
              <a:t>--&gt; 1 s (µs)</a:t>
            </a:r>
            <a:endParaRPr b="0" lang="es-ES" sz="10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ADD</a:t>
            </a:r>
            <a:r>
              <a:rPr b="0" lang="en-US" sz="1200" spc="-1" strike="noStrike">
                <a:solidFill>
                  <a:srgbClr val="1f2933"/>
                </a:solidFill>
                <a:latin typeface="Consolas"/>
                <a:ea typeface="Consolas"/>
              </a:rPr>
              <a:t> TARGET package0.event_file </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 </a:t>
            </a:r>
            <a:r>
              <a:rPr b="1" lang="en-US" sz="1000" spc="-1" strike="noStrike">
                <a:solidFill>
                  <a:srgbClr val="999999"/>
                </a:solidFill>
                <a:latin typeface="Consolas"/>
                <a:ea typeface="Consolas"/>
              </a:rPr>
              <a:t>package0.ring_buffer (SET max_memory = 4096); -- En Kilobytes</a:t>
            </a:r>
            <a:endParaRPr b="0" lang="es-ES" sz="10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a:t>
            </a:r>
            <a:r>
              <a:rPr b="1" lang="en-US" sz="1200" spc="-1" strike="noStrike">
                <a:solidFill>
                  <a:srgbClr val="1d4ed8"/>
                </a:solidFill>
                <a:latin typeface="Consolas"/>
                <a:ea typeface="Consolas"/>
              </a:rPr>
              <a:t>SET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filename</a:t>
            </a:r>
            <a:r>
              <a:rPr b="0" lang="en-US" sz="1200" spc="-1" strike="noStrike">
                <a:solidFill>
                  <a:srgbClr val="1f2933"/>
                </a:solidFill>
                <a:latin typeface="Consolas"/>
                <a:ea typeface="Consolas"/>
              </a:rPr>
              <a:t> = </a:t>
            </a:r>
            <a:r>
              <a:rPr b="0" lang="en-US" sz="1200" spc="-1" strike="noStrike">
                <a:solidFill>
                  <a:srgbClr val="b4441f"/>
                </a:solidFill>
                <a:latin typeface="Consolas"/>
                <a:ea typeface="Consolas"/>
              </a:rPr>
              <a:t>N'lentas.xel'</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(STARTUP_STATE = </a:t>
            </a:r>
            <a:r>
              <a:rPr b="1" lang="en-US" sz="1200" spc="-1" strike="noStrike">
                <a:solidFill>
                  <a:srgbClr val="1d4ed8"/>
                </a:solidFill>
                <a:latin typeface="Consolas"/>
                <a:ea typeface="Consolas"/>
              </a:rPr>
              <a:t>OFF</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GO</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ALTER</a:t>
            </a:r>
            <a:r>
              <a:rPr b="0" lang="en-US" sz="1200" spc="-1" strike="noStrike">
                <a:solidFill>
                  <a:srgbClr val="1f2933"/>
                </a:solidFill>
                <a:latin typeface="Consolas"/>
                <a:ea typeface="Consolas"/>
              </a:rPr>
              <a:t> EVENT SESSION [lentas]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 SERVER</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STATE = START;</a:t>
            </a:r>
            <a:endParaRPr b="0" lang="es-ES" sz="1200" spc="-1" strike="noStrike">
              <a:latin typeface="Arial"/>
            </a:endParaRPr>
          </a:p>
        </p:txBody>
      </p:sp>
      <p:sp>
        <p:nvSpPr>
          <p:cNvPr id="527" name="CustomShape 11"/>
          <p:cNvSpPr/>
          <p:nvPr/>
        </p:nvSpPr>
        <p:spPr>
          <a:xfrm>
            <a:off x="548640" y="4069080"/>
            <a:ext cx="4935240" cy="2100600"/>
          </a:xfrm>
          <a:prstGeom prst="roundRect">
            <a:avLst>
              <a:gd name="adj" fmla="val 5217"/>
            </a:avLst>
          </a:prstGeom>
          <a:solidFill>
            <a:srgbClr val="e8eef5"/>
          </a:solidFill>
          <a:ln>
            <a:noFill/>
          </a:ln>
        </p:spPr>
        <p:style>
          <a:lnRef idx="0"/>
          <a:fillRef idx="0"/>
          <a:effectRef idx="0"/>
          <a:fontRef idx="minor"/>
        </p:style>
      </p:sp>
      <p:sp>
        <p:nvSpPr>
          <p:cNvPr id="528" name="CustomShape 12"/>
          <p:cNvSpPr/>
          <p:nvPr/>
        </p:nvSpPr>
        <p:spPr>
          <a:xfrm>
            <a:off x="731520" y="4892040"/>
            <a:ext cx="454680" cy="454680"/>
          </a:xfrm>
          <a:prstGeom prst="ellipse">
            <a:avLst/>
          </a:prstGeom>
          <a:solidFill>
            <a:srgbClr val="134074"/>
          </a:solidFill>
          <a:ln>
            <a:noFill/>
          </a:ln>
        </p:spPr>
        <p:style>
          <a:lnRef idx="0"/>
          <a:fillRef idx="0"/>
          <a:effectRef idx="0"/>
          <a:fontRef idx="minor"/>
        </p:style>
      </p:sp>
      <p:pic>
        <p:nvPicPr>
          <p:cNvPr id="529" name="Image 0" descr="preencoded.png"/>
          <p:cNvPicPr/>
          <p:nvPr/>
        </p:nvPicPr>
        <p:blipFill>
          <a:blip r:embed="rId1"/>
          <a:stretch/>
        </p:blipFill>
        <p:spPr>
          <a:xfrm>
            <a:off x="846000" y="5006520"/>
            <a:ext cx="226080" cy="226080"/>
          </a:xfrm>
          <a:prstGeom prst="rect">
            <a:avLst/>
          </a:prstGeom>
          <a:ln>
            <a:noFill/>
          </a:ln>
        </p:spPr>
      </p:pic>
      <p:sp>
        <p:nvSpPr>
          <p:cNvPr id="530" name="CustomShape 13"/>
          <p:cNvSpPr/>
          <p:nvPr/>
        </p:nvSpPr>
        <p:spPr>
          <a:xfrm>
            <a:off x="1371600" y="4069080"/>
            <a:ext cx="3929400" cy="21006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2545"/>
                </a:solidFill>
                <a:latin typeface="Calibri"/>
                <a:ea typeface="Calibri"/>
              </a:rPr>
              <a:t>system_health </a:t>
            </a:r>
            <a:r>
              <a:rPr b="0" lang="en-US" sz="1400" spc="-1" strike="noStrike">
                <a:solidFill>
                  <a:srgbClr val="1f2933"/>
                </a:solidFill>
                <a:latin typeface="Calibri"/>
                <a:ea typeface="Calibri"/>
              </a:rPr>
              <a:t>ya está activa por defecto y recoge deadlocks y errores graves. Mírala primero tras un incidente.</a:t>
            </a:r>
            <a:endParaRPr b="0" lang="es-ES" sz="1400" spc="-1" strike="noStrike">
              <a:latin typeface="Arial"/>
            </a:endParaRPr>
          </a:p>
        </p:txBody>
      </p:sp>
      <p:sp>
        <p:nvSpPr>
          <p:cNvPr id="531" name="CustomShape 14"/>
          <p:cNvSpPr/>
          <p:nvPr/>
        </p:nvSpPr>
        <p:spPr>
          <a:xfrm>
            <a:off x="5760720" y="5394960"/>
            <a:ext cx="5877000" cy="774720"/>
          </a:xfrm>
          <a:prstGeom prst="roundRect">
            <a:avLst>
              <a:gd name="adj" fmla="val 14118"/>
            </a:avLst>
          </a:prstGeom>
          <a:solidFill>
            <a:srgbClr val="fdede8"/>
          </a:solidFill>
          <a:ln>
            <a:noFill/>
          </a:ln>
        </p:spPr>
        <p:style>
          <a:lnRef idx="0"/>
          <a:fillRef idx="0"/>
          <a:effectRef idx="0"/>
          <a:fontRef idx="minor"/>
        </p:style>
      </p:sp>
      <p:sp>
        <p:nvSpPr>
          <p:cNvPr id="532" name="CustomShape 15"/>
          <p:cNvSpPr/>
          <p:nvPr/>
        </p:nvSpPr>
        <p:spPr>
          <a:xfrm>
            <a:off x="5943600" y="5555160"/>
            <a:ext cx="454680" cy="454680"/>
          </a:xfrm>
          <a:prstGeom prst="ellipse">
            <a:avLst/>
          </a:prstGeom>
          <a:solidFill>
            <a:srgbClr val="d95d39"/>
          </a:solidFill>
          <a:ln>
            <a:noFill/>
          </a:ln>
        </p:spPr>
        <p:style>
          <a:lnRef idx="0"/>
          <a:fillRef idx="0"/>
          <a:effectRef idx="0"/>
          <a:fontRef idx="minor"/>
        </p:style>
      </p:sp>
      <p:pic>
        <p:nvPicPr>
          <p:cNvPr id="533" name="Image 1" descr="preencoded.png"/>
          <p:cNvPicPr/>
          <p:nvPr/>
        </p:nvPicPr>
        <p:blipFill>
          <a:blip r:embed="rId2"/>
          <a:stretch/>
        </p:blipFill>
        <p:spPr>
          <a:xfrm>
            <a:off x="6058080" y="5669280"/>
            <a:ext cx="226080" cy="226080"/>
          </a:xfrm>
          <a:prstGeom prst="rect">
            <a:avLst/>
          </a:prstGeom>
          <a:ln>
            <a:noFill/>
          </a:ln>
        </p:spPr>
      </p:pic>
      <p:sp>
        <p:nvSpPr>
          <p:cNvPr id="534" name="CustomShape 16"/>
          <p:cNvSpPr/>
          <p:nvPr/>
        </p:nvSpPr>
        <p:spPr>
          <a:xfrm>
            <a:off x="6583680" y="5394960"/>
            <a:ext cx="4871160" cy="7747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400" spc="-1" strike="noStrike">
                <a:solidFill>
                  <a:srgbClr val="1f2933"/>
                </a:solidFill>
                <a:latin typeface="Calibri"/>
                <a:ea typeface="Calibri"/>
              </a:rPr>
              <a:t>Filtra siempre con predicados para limitar la sobrecarga.</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535" name="CustomShape 1"/>
          <p:cNvSpPr/>
          <p:nvPr/>
        </p:nvSpPr>
        <p:spPr>
          <a:xfrm>
            <a:off x="548640" y="365760"/>
            <a:ext cx="2800080" cy="271800"/>
          </a:xfrm>
          <a:prstGeom prst="roundRect">
            <a:avLst>
              <a:gd name="adj" fmla="val 50000"/>
            </a:avLst>
          </a:prstGeom>
          <a:solidFill>
            <a:srgbClr val="d95d39"/>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LABORATORIO · BASE DE DATOS</a:t>
            </a:r>
            <a:endParaRPr b="0" lang="es-ES" sz="1000" spc="-1" strike="noStrike">
              <a:latin typeface="Arial"/>
            </a:endParaRPr>
          </a:p>
        </p:txBody>
      </p:sp>
      <p:sp>
        <p:nvSpPr>
          <p:cNvPr id="536"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Lab 1 (I): BD con ficheros y filegroups</a:t>
            </a:r>
            <a:endParaRPr b="0" lang="es-ES" sz="3400" spc="-1" strike="noStrike">
              <a:latin typeface="Arial"/>
            </a:endParaRPr>
          </a:p>
        </p:txBody>
      </p:sp>
      <p:sp>
        <p:nvSpPr>
          <p:cNvPr id="537"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538"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1   19</a:t>
            </a:r>
            <a:endParaRPr b="0" lang="es-ES" sz="1000" spc="-1" strike="noStrike">
              <a:latin typeface="Arial"/>
            </a:endParaRPr>
          </a:p>
        </p:txBody>
      </p:sp>
      <p:sp>
        <p:nvSpPr>
          <p:cNvPr id="539" name="CustomShape 5"/>
          <p:cNvSpPr/>
          <p:nvPr/>
        </p:nvSpPr>
        <p:spPr>
          <a:xfrm>
            <a:off x="548640" y="1600200"/>
            <a:ext cx="6946920" cy="4569480"/>
          </a:xfrm>
          <a:prstGeom prst="roundRect">
            <a:avLst>
              <a:gd name="adj" fmla="val 2000"/>
            </a:avLst>
          </a:prstGeom>
          <a:solidFill>
            <a:srgbClr val="eceff3"/>
          </a:solidFill>
          <a:ln w="9360">
            <a:solidFill>
              <a:srgbClr val="d0d7de"/>
            </a:solidFill>
            <a:round/>
          </a:ln>
        </p:spPr>
        <p:style>
          <a:lnRef idx="0"/>
          <a:fillRef idx="0"/>
          <a:effectRef idx="0"/>
          <a:fontRef idx="minor"/>
        </p:style>
      </p:sp>
      <p:sp>
        <p:nvSpPr>
          <p:cNvPr id="540" name="CustomShape 6"/>
          <p:cNvSpPr/>
          <p:nvPr/>
        </p:nvSpPr>
        <p:spPr>
          <a:xfrm>
            <a:off x="73152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LABORATORIO 1</a:t>
            </a:r>
            <a:endParaRPr b="0" lang="es-ES" sz="1000" spc="-1" strike="noStrike">
              <a:latin typeface="Arial"/>
            </a:endParaRPr>
          </a:p>
        </p:txBody>
      </p:sp>
      <p:sp>
        <p:nvSpPr>
          <p:cNvPr id="541" name="CustomShape 7"/>
          <p:cNvSpPr/>
          <p:nvPr/>
        </p:nvSpPr>
        <p:spPr>
          <a:xfrm>
            <a:off x="731520" y="1965960"/>
            <a:ext cx="6581160" cy="411228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CREATE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DATABASE</a:t>
            </a:r>
            <a:r>
              <a:rPr b="0" lang="en-US" sz="1200" spc="-1" strike="noStrike">
                <a:solidFill>
                  <a:srgbClr val="1f2933"/>
                </a:solidFill>
                <a:latin typeface="Consolas"/>
                <a:ea typeface="Consolas"/>
              </a:rPr>
              <a:t> Ventas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PRIMARY</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a:t>
            </a:r>
            <a:r>
              <a:rPr b="1" lang="en-US" sz="1200" spc="-1" strike="noStrike">
                <a:solidFill>
                  <a:srgbClr val="1d4ed8"/>
                </a:solidFill>
                <a:latin typeface="Consolas"/>
                <a:ea typeface="Consolas"/>
              </a:rPr>
              <a:t>NAME</a:t>
            </a:r>
            <a:r>
              <a:rPr b="0" lang="en-US" sz="1200" spc="-1" strike="noStrike">
                <a:solidFill>
                  <a:srgbClr val="1f2933"/>
                </a:solidFill>
                <a:latin typeface="Consolas"/>
                <a:ea typeface="Consolas"/>
              </a:rPr>
              <a:t> = Ventas_sys, </a:t>
            </a:r>
            <a:r>
              <a:rPr b="1" lang="en-US" sz="1200" spc="-1" strike="noStrike">
                <a:solidFill>
                  <a:srgbClr val="1d4ed8"/>
                </a:solidFill>
                <a:latin typeface="Consolas"/>
                <a:ea typeface="Consolas"/>
              </a:rPr>
              <a:t>FILENAME</a:t>
            </a:r>
            <a:r>
              <a:rPr b="0" lang="en-US" sz="1200" spc="-1" strike="noStrike">
                <a:solidFill>
                  <a:srgbClr val="1f2933"/>
                </a:solidFill>
                <a:latin typeface="Consolas"/>
                <a:ea typeface="Consolas"/>
              </a:rPr>
              <a:t> = </a:t>
            </a:r>
            <a:r>
              <a:rPr b="0" lang="en-US" sz="1200" spc="-1" strike="noStrike">
                <a:solidFill>
                  <a:srgbClr val="b4441f"/>
                </a:solidFill>
                <a:latin typeface="Consolas"/>
                <a:ea typeface="Consolas"/>
              </a:rPr>
              <a:t>'/var/opt/mssql/data/Ventas.mdf'</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SIZE</a:t>
            </a:r>
            <a:r>
              <a:rPr b="0" lang="en-US" sz="1200" spc="-1" strike="noStrike">
                <a:solidFill>
                  <a:srgbClr val="1f2933"/>
                </a:solidFill>
                <a:latin typeface="Consolas"/>
                <a:ea typeface="Consolas"/>
              </a:rPr>
              <a:t> = 64MB,  </a:t>
            </a:r>
            <a:r>
              <a:rPr b="1" lang="en-US" sz="1200" spc="-1" strike="noStrike">
                <a:solidFill>
                  <a:srgbClr val="1d4ed8"/>
                </a:solidFill>
                <a:latin typeface="Consolas"/>
                <a:ea typeface="Consolas"/>
              </a:rPr>
              <a:t>FILEGROWTH</a:t>
            </a:r>
            <a:r>
              <a:rPr b="0" lang="en-US" sz="1200" spc="-1" strike="noStrike">
                <a:solidFill>
                  <a:srgbClr val="1f2933"/>
                </a:solidFill>
                <a:latin typeface="Consolas"/>
                <a:ea typeface="Consolas"/>
              </a:rPr>
              <a:t> = 64MB),</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FILEGROUP</a:t>
            </a:r>
            <a:r>
              <a:rPr b="0" lang="en-US" sz="1200" spc="-1" strike="noStrike">
                <a:solidFill>
                  <a:srgbClr val="1f2933"/>
                </a:solidFill>
                <a:latin typeface="Consolas"/>
                <a:ea typeface="Consolas"/>
              </a:rPr>
              <a:t> FG_DATOS</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a:t>
            </a:r>
            <a:r>
              <a:rPr b="1" lang="en-US" sz="1200" spc="-1" strike="noStrike">
                <a:solidFill>
                  <a:srgbClr val="1d4ed8"/>
                </a:solidFill>
                <a:latin typeface="Consolas"/>
                <a:ea typeface="Consolas"/>
              </a:rPr>
              <a:t>NAME</a:t>
            </a:r>
            <a:r>
              <a:rPr b="0" lang="en-US" sz="1200" spc="-1" strike="noStrike">
                <a:solidFill>
                  <a:srgbClr val="1f2933"/>
                </a:solidFill>
                <a:latin typeface="Consolas"/>
                <a:ea typeface="Consolas"/>
              </a:rPr>
              <a:t> = Ventas_d1,  </a:t>
            </a:r>
            <a:r>
              <a:rPr b="1" lang="en-US" sz="1200" spc="-1" strike="noStrike">
                <a:solidFill>
                  <a:srgbClr val="1d4ed8"/>
                </a:solidFill>
                <a:latin typeface="Consolas"/>
                <a:ea typeface="Consolas"/>
              </a:rPr>
              <a:t>FILENAME</a:t>
            </a:r>
            <a:r>
              <a:rPr b="0" lang="en-US" sz="1200" spc="-1" strike="noStrike">
                <a:solidFill>
                  <a:srgbClr val="1f2933"/>
                </a:solidFill>
                <a:latin typeface="Consolas"/>
                <a:ea typeface="Consolas"/>
              </a:rPr>
              <a:t> = </a:t>
            </a:r>
            <a:r>
              <a:rPr b="0" lang="en-US" sz="1200" spc="-1" strike="noStrike">
                <a:solidFill>
                  <a:srgbClr val="b4441f"/>
                </a:solidFill>
                <a:latin typeface="Consolas"/>
                <a:ea typeface="Consolas"/>
              </a:rPr>
              <a:t>'/var/opt/mssql/data/Ventas_d1.ndf'</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SIZE</a:t>
            </a:r>
            <a:r>
              <a:rPr b="0" lang="en-US" sz="1200" spc="-1" strike="noStrike">
                <a:solidFill>
                  <a:srgbClr val="1f2933"/>
                </a:solidFill>
                <a:latin typeface="Consolas"/>
                <a:ea typeface="Consolas"/>
              </a:rPr>
              <a:t> = 256MB, </a:t>
            </a:r>
            <a:r>
              <a:rPr b="1" lang="en-US" sz="1200" spc="-1" strike="noStrike">
                <a:solidFill>
                  <a:srgbClr val="1d4ed8"/>
                </a:solidFill>
                <a:latin typeface="Consolas"/>
                <a:ea typeface="Consolas"/>
              </a:rPr>
              <a:t>FILEGROWTH</a:t>
            </a:r>
            <a:r>
              <a:rPr b="0" lang="en-US" sz="1200" spc="-1" strike="noStrike">
                <a:solidFill>
                  <a:srgbClr val="1f2933"/>
                </a:solidFill>
                <a:latin typeface="Consolas"/>
                <a:ea typeface="Consolas"/>
              </a:rPr>
              <a:t> = 128MB),</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a:t>
            </a:r>
            <a:r>
              <a:rPr b="1" lang="en-US" sz="1200" spc="-1" strike="noStrike">
                <a:solidFill>
                  <a:srgbClr val="1d4ed8"/>
                </a:solidFill>
                <a:latin typeface="Consolas"/>
                <a:ea typeface="Consolas"/>
              </a:rPr>
              <a:t>NAME</a:t>
            </a:r>
            <a:r>
              <a:rPr b="0" lang="en-US" sz="1200" spc="-1" strike="noStrike">
                <a:solidFill>
                  <a:srgbClr val="1f2933"/>
                </a:solidFill>
                <a:latin typeface="Consolas"/>
                <a:ea typeface="Consolas"/>
              </a:rPr>
              <a:t> = Ventas_d2,  </a:t>
            </a:r>
            <a:r>
              <a:rPr b="1" lang="en-US" sz="1200" spc="-1" strike="noStrike">
                <a:solidFill>
                  <a:srgbClr val="1d4ed8"/>
                </a:solidFill>
                <a:latin typeface="Consolas"/>
                <a:ea typeface="Consolas"/>
              </a:rPr>
              <a:t>FILENAME</a:t>
            </a:r>
            <a:r>
              <a:rPr b="0" lang="en-US" sz="1200" spc="-1" strike="noStrike">
                <a:solidFill>
                  <a:srgbClr val="1f2933"/>
                </a:solidFill>
                <a:latin typeface="Consolas"/>
                <a:ea typeface="Consolas"/>
              </a:rPr>
              <a:t> = </a:t>
            </a:r>
            <a:r>
              <a:rPr b="0" lang="en-US" sz="1200" spc="-1" strike="noStrike">
                <a:solidFill>
                  <a:srgbClr val="b4441f"/>
                </a:solidFill>
                <a:latin typeface="Consolas"/>
                <a:ea typeface="Consolas"/>
              </a:rPr>
              <a:t>'/var/opt/mssql/data/Ventas_d2.ndf'</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SIZE</a:t>
            </a:r>
            <a:r>
              <a:rPr b="0" lang="en-US" sz="1200" spc="-1" strike="noStrike">
                <a:solidFill>
                  <a:srgbClr val="1f2933"/>
                </a:solidFill>
                <a:latin typeface="Consolas"/>
                <a:ea typeface="Consolas"/>
              </a:rPr>
              <a:t> = 256MB, </a:t>
            </a:r>
            <a:r>
              <a:rPr b="1" lang="en-US" sz="1200" spc="-1" strike="noStrike">
                <a:solidFill>
                  <a:srgbClr val="1d4ed8"/>
                </a:solidFill>
                <a:latin typeface="Consolas"/>
                <a:ea typeface="Consolas"/>
              </a:rPr>
              <a:t>FILEGROWTH</a:t>
            </a:r>
            <a:r>
              <a:rPr b="0" lang="en-US" sz="1200" spc="-1" strike="noStrike">
                <a:solidFill>
                  <a:srgbClr val="1f2933"/>
                </a:solidFill>
                <a:latin typeface="Consolas"/>
                <a:ea typeface="Consolas"/>
              </a:rPr>
              <a:t> = 128MB)</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LOG </a:t>
            </a:r>
            <a:r>
              <a:rPr b="1" lang="en-US" sz="1200" spc="-1" strike="noStrike">
                <a:solidFill>
                  <a:srgbClr val="1d4ed8"/>
                </a:solidFill>
                <a:latin typeface="Consolas"/>
                <a:ea typeface="Consolas"/>
              </a:rPr>
              <a:t>ON</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a:t>
            </a:r>
            <a:r>
              <a:rPr b="1" lang="en-US" sz="1200" spc="-1" strike="noStrike">
                <a:solidFill>
                  <a:srgbClr val="1d4ed8"/>
                </a:solidFill>
                <a:latin typeface="Consolas"/>
                <a:ea typeface="Consolas"/>
              </a:rPr>
              <a:t>NAME</a:t>
            </a:r>
            <a:r>
              <a:rPr b="0" lang="en-US" sz="1200" spc="-1" strike="noStrike">
                <a:solidFill>
                  <a:srgbClr val="1f2933"/>
                </a:solidFill>
                <a:latin typeface="Consolas"/>
                <a:ea typeface="Consolas"/>
              </a:rPr>
              <a:t> = Ventas_log, </a:t>
            </a:r>
            <a:r>
              <a:rPr b="1" lang="en-US" sz="1200" spc="-1" strike="noStrike">
                <a:solidFill>
                  <a:srgbClr val="1d4ed8"/>
                </a:solidFill>
                <a:latin typeface="Consolas"/>
                <a:ea typeface="Consolas"/>
              </a:rPr>
              <a:t>FILENAME</a:t>
            </a:r>
            <a:r>
              <a:rPr b="0" lang="en-US" sz="1200" spc="-1" strike="noStrike">
                <a:solidFill>
                  <a:srgbClr val="1f2933"/>
                </a:solidFill>
                <a:latin typeface="Consolas"/>
                <a:ea typeface="Consolas"/>
              </a:rPr>
              <a:t> = </a:t>
            </a:r>
            <a:r>
              <a:rPr b="0" lang="en-US" sz="1200" spc="-1" strike="noStrike">
                <a:solidFill>
                  <a:srgbClr val="b4441f"/>
                </a:solidFill>
                <a:latin typeface="Consolas"/>
                <a:ea typeface="Consolas"/>
              </a:rPr>
              <a:t>'/var/opt/mssql/log/Ventas.ldf'</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SIZE</a:t>
            </a:r>
            <a:r>
              <a:rPr b="0" lang="en-US" sz="1200" spc="-1" strike="noStrike">
                <a:solidFill>
                  <a:srgbClr val="1f2933"/>
                </a:solidFill>
                <a:latin typeface="Consolas"/>
                <a:ea typeface="Consolas"/>
              </a:rPr>
              <a:t> = 128MB, </a:t>
            </a:r>
            <a:r>
              <a:rPr b="1" lang="en-US" sz="1200" spc="-1" strike="noStrike">
                <a:solidFill>
                  <a:srgbClr val="1d4ed8"/>
                </a:solidFill>
                <a:latin typeface="Consolas"/>
                <a:ea typeface="Consolas"/>
              </a:rPr>
              <a:t>FILEGROWTH</a:t>
            </a:r>
            <a:r>
              <a:rPr b="0" lang="en-US" sz="1200" spc="-1" strike="noStrike">
                <a:solidFill>
                  <a:srgbClr val="1f2933"/>
                </a:solidFill>
                <a:latin typeface="Consolas"/>
                <a:ea typeface="Consolas"/>
              </a:rPr>
              <a:t> = 64MB);</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GO</a:t>
            </a:r>
            <a:endParaRPr b="0" lang="es-ES" sz="1200" spc="-1" strike="noStrike">
              <a:latin typeface="Arial"/>
            </a:endParaRPr>
          </a:p>
        </p:txBody>
      </p:sp>
      <p:sp>
        <p:nvSpPr>
          <p:cNvPr id="542" name="CustomShape 8"/>
          <p:cNvSpPr/>
          <p:nvPr/>
        </p:nvSpPr>
        <p:spPr>
          <a:xfrm>
            <a:off x="7818120" y="1600200"/>
            <a:ext cx="3819600" cy="4569480"/>
          </a:xfrm>
          <a:prstGeom prst="roundRect">
            <a:avLst>
              <a:gd name="adj" fmla="val 2871"/>
            </a:avLst>
          </a:prstGeom>
          <a:solidFill>
            <a:srgbClr val="e8eef5"/>
          </a:solidFill>
          <a:ln>
            <a:noFill/>
          </a:ln>
        </p:spPr>
        <p:style>
          <a:lnRef idx="0"/>
          <a:fillRef idx="0"/>
          <a:effectRef idx="0"/>
          <a:fontRef idx="minor"/>
        </p:style>
      </p:sp>
      <p:sp>
        <p:nvSpPr>
          <p:cNvPr id="543" name="CustomShape 9"/>
          <p:cNvSpPr/>
          <p:nvPr/>
        </p:nvSpPr>
        <p:spPr>
          <a:xfrm>
            <a:off x="8046720" y="1828800"/>
            <a:ext cx="546120" cy="546120"/>
          </a:xfrm>
          <a:prstGeom prst="ellipse">
            <a:avLst/>
          </a:prstGeom>
          <a:solidFill>
            <a:srgbClr val="134074"/>
          </a:solidFill>
          <a:ln>
            <a:noFill/>
          </a:ln>
        </p:spPr>
        <p:style>
          <a:lnRef idx="0"/>
          <a:fillRef idx="0"/>
          <a:effectRef idx="0"/>
          <a:fontRef idx="minor"/>
        </p:style>
      </p:sp>
      <p:pic>
        <p:nvPicPr>
          <p:cNvPr id="544" name="Image 0" descr="preencoded.png"/>
          <p:cNvPicPr/>
          <p:nvPr/>
        </p:nvPicPr>
        <p:blipFill>
          <a:blip r:embed="rId1"/>
          <a:stretch/>
        </p:blipFill>
        <p:spPr>
          <a:xfrm>
            <a:off x="8183880" y="1965960"/>
            <a:ext cx="271800" cy="271800"/>
          </a:xfrm>
          <a:prstGeom prst="rect">
            <a:avLst/>
          </a:prstGeom>
          <a:ln>
            <a:noFill/>
          </a:ln>
        </p:spPr>
      </p:pic>
      <p:sp>
        <p:nvSpPr>
          <p:cNvPr id="545" name="CustomShape 10"/>
          <p:cNvSpPr/>
          <p:nvPr/>
        </p:nvSpPr>
        <p:spPr>
          <a:xfrm>
            <a:off x="8732520" y="1828800"/>
            <a:ext cx="267660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Enunciado</a:t>
            </a:r>
            <a:endParaRPr b="0" lang="es-ES" sz="1700" spc="-1" strike="noStrike">
              <a:latin typeface="Arial"/>
            </a:endParaRPr>
          </a:p>
        </p:txBody>
      </p:sp>
      <p:sp>
        <p:nvSpPr>
          <p:cNvPr id="546" name="CustomShape 11"/>
          <p:cNvSpPr/>
          <p:nvPr/>
        </p:nvSpPr>
        <p:spPr>
          <a:xfrm>
            <a:off x="8046720" y="2560320"/>
            <a:ext cx="3362400" cy="338076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Crea la BD Ventas con los ficheros indicados</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Dos ficheros del mismo tamaño en FG_DATOS</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Autogrowth en MB, nunca en %</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Comprueba el resultado en SSMS (Propiedades → Archivos)</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547" name="CustomShape 1"/>
          <p:cNvSpPr/>
          <p:nvPr/>
        </p:nvSpPr>
        <p:spPr>
          <a:xfrm>
            <a:off x="548640" y="365760"/>
            <a:ext cx="2800080" cy="271800"/>
          </a:xfrm>
          <a:prstGeom prst="roundRect">
            <a:avLst>
              <a:gd name="adj" fmla="val 50000"/>
            </a:avLst>
          </a:prstGeom>
          <a:solidFill>
            <a:srgbClr val="d95d39"/>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LABORATORIO · BASE DE DATOS</a:t>
            </a:r>
            <a:endParaRPr b="0" lang="es-ES" sz="1000" spc="-1" strike="noStrike">
              <a:latin typeface="Arial"/>
            </a:endParaRPr>
          </a:p>
        </p:txBody>
      </p:sp>
      <p:sp>
        <p:nvSpPr>
          <p:cNvPr id="548"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Lab 1 (II): verificar y hacer crecer</a:t>
            </a:r>
            <a:endParaRPr b="0" lang="es-ES" sz="3400" spc="-1" strike="noStrike">
              <a:latin typeface="Arial"/>
            </a:endParaRPr>
          </a:p>
        </p:txBody>
      </p:sp>
      <p:sp>
        <p:nvSpPr>
          <p:cNvPr id="549"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550"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1   20</a:t>
            </a:r>
            <a:endParaRPr b="0" lang="es-ES" sz="1000" spc="-1" strike="noStrike">
              <a:latin typeface="Arial"/>
            </a:endParaRPr>
          </a:p>
        </p:txBody>
      </p:sp>
      <p:sp>
        <p:nvSpPr>
          <p:cNvPr id="551" name="CustomShape 5"/>
          <p:cNvSpPr/>
          <p:nvPr/>
        </p:nvSpPr>
        <p:spPr>
          <a:xfrm>
            <a:off x="548640" y="1600200"/>
            <a:ext cx="6764040" cy="2923560"/>
          </a:xfrm>
          <a:prstGeom prst="roundRect">
            <a:avLst>
              <a:gd name="adj" fmla="val 3125"/>
            </a:avLst>
          </a:prstGeom>
          <a:solidFill>
            <a:srgbClr val="eceff3"/>
          </a:solidFill>
          <a:ln w="9360">
            <a:solidFill>
              <a:srgbClr val="d0d7de"/>
            </a:solidFill>
            <a:round/>
          </a:ln>
        </p:spPr>
        <p:style>
          <a:lnRef idx="0"/>
          <a:fillRef idx="0"/>
          <a:effectRef idx="0"/>
          <a:fontRef idx="minor"/>
        </p:style>
      </p:sp>
      <p:sp>
        <p:nvSpPr>
          <p:cNvPr id="552" name="CustomShape 6"/>
          <p:cNvSpPr/>
          <p:nvPr/>
        </p:nvSpPr>
        <p:spPr>
          <a:xfrm>
            <a:off x="73152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VERIFICACIÓN</a:t>
            </a:r>
            <a:endParaRPr b="0" lang="es-ES" sz="1000" spc="-1" strike="noStrike">
              <a:latin typeface="Arial"/>
            </a:endParaRPr>
          </a:p>
        </p:txBody>
      </p:sp>
      <p:sp>
        <p:nvSpPr>
          <p:cNvPr id="553" name="CustomShape 7"/>
          <p:cNvSpPr/>
          <p:nvPr/>
        </p:nvSpPr>
        <p:spPr>
          <a:xfrm>
            <a:off x="731520" y="1965960"/>
            <a:ext cx="6398280" cy="246636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ALTER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DATABASE</a:t>
            </a:r>
            <a:r>
              <a:rPr b="0" lang="en-US" sz="1200" spc="-1" strike="noStrike">
                <a:solidFill>
                  <a:srgbClr val="1f2933"/>
                </a:solidFill>
                <a:latin typeface="Consolas"/>
                <a:ea typeface="Consolas"/>
              </a:rPr>
              <a:t> Ventas MODIFY </a:t>
            </a:r>
            <a:r>
              <a:rPr b="1" lang="en-US" sz="1200" spc="-1" strike="noStrike">
                <a:solidFill>
                  <a:srgbClr val="1d4ed8"/>
                </a:solidFill>
                <a:latin typeface="Consolas"/>
                <a:ea typeface="Consolas"/>
              </a:rPr>
              <a:t>FILEGROUP</a:t>
            </a:r>
            <a:r>
              <a:rPr b="0" lang="en-US" sz="1200" spc="-1" strike="noStrike">
                <a:solidFill>
                  <a:srgbClr val="1f2933"/>
                </a:solidFill>
                <a:latin typeface="Consolas"/>
                <a:ea typeface="Consolas"/>
              </a:rPr>
              <a:t> FG_DATOS </a:t>
            </a:r>
            <a:r>
              <a:rPr b="1" lang="en-US" sz="1200" spc="-1" strike="noStrike">
                <a:solidFill>
                  <a:srgbClr val="1d4ed8"/>
                </a:solidFill>
                <a:latin typeface="Consolas"/>
                <a:ea typeface="Consolas"/>
              </a:rPr>
              <a:t>DEFAULT</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GO</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name</a:t>
            </a:r>
            <a:r>
              <a:rPr b="0" lang="en-US" sz="1200" spc="-1" strike="noStrike">
                <a:solidFill>
                  <a:srgbClr val="1f2933"/>
                </a:solidFill>
                <a:latin typeface="Consolas"/>
                <a:ea typeface="Consolas"/>
              </a:rPr>
              <a:t>, physical_name, </a:t>
            </a:r>
            <a:r>
              <a:rPr b="1" lang="en-US" sz="1200" spc="-1" strike="noStrike">
                <a:solidFill>
                  <a:srgbClr val="1d4ed8"/>
                </a:solidFill>
                <a:latin typeface="Consolas"/>
                <a:ea typeface="Consolas"/>
              </a:rPr>
              <a:t>size</a:t>
            </a:r>
            <a:r>
              <a:rPr b="0" lang="en-US" sz="1200" spc="-1" strike="noStrike">
                <a:solidFill>
                  <a:srgbClr val="1f2933"/>
                </a:solidFill>
                <a:latin typeface="Consolas"/>
                <a:ea typeface="Consolas"/>
              </a:rPr>
              <a:t>*</a:t>
            </a:r>
            <a:r>
              <a:rPr b="0" lang="en-US" sz="1200" spc="-1" strike="noStrike">
                <a:solidFill>
                  <a:srgbClr val="9a3412"/>
                </a:solidFill>
                <a:latin typeface="Consolas"/>
                <a:ea typeface="Consolas"/>
              </a:rPr>
              <a:t>8</a:t>
            </a:r>
            <a:r>
              <a:rPr b="0" lang="en-US" sz="1200" spc="-1" strike="noStrike">
                <a:solidFill>
                  <a:srgbClr val="1f2933"/>
                </a:solidFill>
                <a:latin typeface="Consolas"/>
                <a:ea typeface="Consolas"/>
              </a:rPr>
              <a:t>/</a:t>
            </a:r>
            <a:r>
              <a:rPr b="0" lang="en-US" sz="1200" spc="-1" strike="noStrike">
                <a:solidFill>
                  <a:srgbClr val="9a3412"/>
                </a:solidFill>
                <a:latin typeface="Consolas"/>
                <a:ea typeface="Consolas"/>
              </a:rPr>
              <a:t>1024</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size_mb,</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growth*</a:t>
            </a:r>
            <a:r>
              <a:rPr b="0" lang="en-US" sz="1200" spc="-1" strike="noStrike">
                <a:solidFill>
                  <a:srgbClr val="9a3412"/>
                </a:solidFill>
                <a:latin typeface="Consolas"/>
                <a:ea typeface="Consolas"/>
              </a:rPr>
              <a:t>8</a:t>
            </a:r>
            <a:r>
              <a:rPr b="0" lang="en-US" sz="1200" spc="-1" strike="noStrike">
                <a:solidFill>
                  <a:srgbClr val="1f2933"/>
                </a:solidFill>
                <a:latin typeface="Consolas"/>
                <a:ea typeface="Consolas"/>
              </a:rPr>
              <a:t>/</a:t>
            </a:r>
            <a:r>
              <a:rPr b="0" lang="en-US" sz="1200" spc="-1" strike="noStrike">
                <a:solidFill>
                  <a:srgbClr val="9a3412"/>
                </a:solidFill>
                <a:latin typeface="Consolas"/>
                <a:ea typeface="Consolas"/>
              </a:rPr>
              <a:t>1024</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growth_mb, is_percent_growth</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Ventas.sys.database_files;</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name</a:t>
            </a:r>
            <a:r>
              <a:rPr b="0" lang="en-US" sz="1200" spc="-1" strike="noStrike">
                <a:solidFill>
                  <a:srgbClr val="1f2933"/>
                </a:solidFill>
                <a:latin typeface="Consolas"/>
                <a:ea typeface="Consolas"/>
              </a:rPr>
              <a:t>, is_default </a:t>
            </a: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Ventas.sys.filegroups;</a:t>
            </a:r>
            <a:endParaRPr b="0" lang="es-ES" sz="1200" spc="-1" strike="noStrike">
              <a:latin typeface="Arial"/>
            </a:endParaRPr>
          </a:p>
        </p:txBody>
      </p:sp>
      <p:sp>
        <p:nvSpPr>
          <p:cNvPr id="554" name="CustomShape 8"/>
          <p:cNvSpPr/>
          <p:nvPr/>
        </p:nvSpPr>
        <p:spPr>
          <a:xfrm>
            <a:off x="7589520" y="1600200"/>
            <a:ext cx="1908720" cy="2923560"/>
          </a:xfrm>
          <a:prstGeom prst="roundRect">
            <a:avLst>
              <a:gd name="adj" fmla="val 5742"/>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555" name="CustomShape 9"/>
          <p:cNvSpPr/>
          <p:nvPr/>
        </p:nvSpPr>
        <p:spPr>
          <a:xfrm>
            <a:off x="7818120" y="1828800"/>
            <a:ext cx="546120" cy="546120"/>
          </a:xfrm>
          <a:prstGeom prst="ellipse">
            <a:avLst/>
          </a:prstGeom>
          <a:solidFill>
            <a:srgbClr val="134074"/>
          </a:solidFill>
          <a:ln>
            <a:noFill/>
          </a:ln>
        </p:spPr>
        <p:style>
          <a:lnRef idx="0"/>
          <a:fillRef idx="0"/>
          <a:effectRef idx="0"/>
          <a:fontRef idx="minor"/>
        </p:style>
      </p:sp>
      <p:pic>
        <p:nvPicPr>
          <p:cNvPr id="556" name="Image 0" descr="preencoded.png"/>
          <p:cNvPicPr/>
          <p:nvPr/>
        </p:nvPicPr>
        <p:blipFill>
          <a:blip r:embed="rId1"/>
          <a:stretch/>
        </p:blipFill>
        <p:spPr>
          <a:xfrm>
            <a:off x="7955280" y="1965960"/>
            <a:ext cx="271800" cy="271800"/>
          </a:xfrm>
          <a:prstGeom prst="rect">
            <a:avLst/>
          </a:prstGeom>
          <a:ln>
            <a:noFill/>
          </a:ln>
        </p:spPr>
      </p:pic>
      <p:sp>
        <p:nvSpPr>
          <p:cNvPr id="557" name="CustomShape 10"/>
          <p:cNvSpPr/>
          <p:nvPr/>
        </p:nvSpPr>
        <p:spPr>
          <a:xfrm>
            <a:off x="8503920" y="1828800"/>
            <a:ext cx="76572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600" spc="-1" strike="noStrike">
                <a:solidFill>
                  <a:srgbClr val="0b2545"/>
                </a:solidFill>
                <a:latin typeface="Calibri"/>
                <a:ea typeface="Calibri"/>
              </a:rPr>
              <a:t>Comprueba</a:t>
            </a:r>
            <a:endParaRPr b="0" lang="es-ES" sz="1600" spc="-1" strike="noStrike">
              <a:latin typeface="Arial"/>
            </a:endParaRPr>
          </a:p>
        </p:txBody>
      </p:sp>
      <p:sp>
        <p:nvSpPr>
          <p:cNvPr id="558" name="CustomShape 11"/>
          <p:cNvSpPr/>
          <p:nvPr/>
        </p:nvSpPr>
        <p:spPr>
          <a:xfrm>
            <a:off x="7818120" y="2560320"/>
            <a:ext cx="1451520" cy="17348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Cuatro ficheros, dos filegroups, FG_DATOS predeterminado.</a:t>
            </a:r>
            <a:endParaRPr b="0" lang="es-ES" sz="1400" spc="-1" strike="noStrike">
              <a:latin typeface="Arial"/>
            </a:endParaRPr>
          </a:p>
        </p:txBody>
      </p:sp>
      <p:sp>
        <p:nvSpPr>
          <p:cNvPr id="559" name="CustomShape 12"/>
          <p:cNvSpPr/>
          <p:nvPr/>
        </p:nvSpPr>
        <p:spPr>
          <a:xfrm>
            <a:off x="9729360" y="1600200"/>
            <a:ext cx="1908720" cy="2923560"/>
          </a:xfrm>
          <a:prstGeom prst="roundRect">
            <a:avLst>
              <a:gd name="adj" fmla="val 5742"/>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560" name="CustomShape 13"/>
          <p:cNvSpPr/>
          <p:nvPr/>
        </p:nvSpPr>
        <p:spPr>
          <a:xfrm>
            <a:off x="9957960" y="1828800"/>
            <a:ext cx="546120" cy="546120"/>
          </a:xfrm>
          <a:prstGeom prst="ellipse">
            <a:avLst/>
          </a:prstGeom>
          <a:solidFill>
            <a:srgbClr val="134074"/>
          </a:solidFill>
          <a:ln>
            <a:noFill/>
          </a:ln>
        </p:spPr>
        <p:style>
          <a:lnRef idx="0"/>
          <a:fillRef idx="0"/>
          <a:effectRef idx="0"/>
          <a:fontRef idx="minor"/>
        </p:style>
      </p:sp>
      <p:pic>
        <p:nvPicPr>
          <p:cNvPr id="561" name="Image 1" descr="preencoded.png"/>
          <p:cNvPicPr/>
          <p:nvPr/>
        </p:nvPicPr>
        <p:blipFill>
          <a:blip r:embed="rId2"/>
          <a:stretch/>
        </p:blipFill>
        <p:spPr>
          <a:xfrm>
            <a:off x="10095120" y="1965960"/>
            <a:ext cx="271800" cy="271800"/>
          </a:xfrm>
          <a:prstGeom prst="rect">
            <a:avLst/>
          </a:prstGeom>
          <a:ln>
            <a:noFill/>
          </a:ln>
        </p:spPr>
      </p:pic>
      <p:sp>
        <p:nvSpPr>
          <p:cNvPr id="562" name="CustomShape 14"/>
          <p:cNvSpPr/>
          <p:nvPr/>
        </p:nvSpPr>
        <p:spPr>
          <a:xfrm>
            <a:off x="10643760" y="1828800"/>
            <a:ext cx="76572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600" spc="-1" strike="noStrike">
                <a:solidFill>
                  <a:srgbClr val="0b2545"/>
                </a:solidFill>
                <a:latin typeface="Calibri"/>
                <a:ea typeface="Calibri"/>
              </a:rPr>
              <a:t>Vigila</a:t>
            </a:r>
            <a:endParaRPr b="0" lang="es-ES" sz="1600" spc="-1" strike="noStrike">
              <a:latin typeface="Arial"/>
            </a:endParaRPr>
          </a:p>
        </p:txBody>
      </p:sp>
      <p:sp>
        <p:nvSpPr>
          <p:cNvPr id="563" name="CustomShape 15"/>
          <p:cNvSpPr/>
          <p:nvPr/>
        </p:nvSpPr>
        <p:spPr>
          <a:xfrm>
            <a:off x="9957960" y="2560320"/>
            <a:ext cx="1451520" cy="17348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is_percent_growth = 0 en todos los ficheros.</a:t>
            </a:r>
            <a:endParaRPr b="0" lang="es-ES" sz="1400" spc="-1" strike="noStrike">
              <a:latin typeface="Arial"/>
            </a:endParaRPr>
          </a:p>
        </p:txBody>
      </p:sp>
      <p:sp>
        <p:nvSpPr>
          <p:cNvPr id="564" name="CustomShape 16"/>
          <p:cNvSpPr/>
          <p:nvPr/>
        </p:nvSpPr>
        <p:spPr>
          <a:xfrm>
            <a:off x="548640" y="4754880"/>
            <a:ext cx="11091960" cy="1369080"/>
          </a:xfrm>
          <a:prstGeom prst="roundRect">
            <a:avLst>
              <a:gd name="adj" fmla="val 8000"/>
            </a:avLst>
          </a:prstGeom>
          <a:solidFill>
            <a:srgbClr val="e8eef5"/>
          </a:solidFill>
          <a:ln>
            <a:noFill/>
          </a:ln>
        </p:spPr>
        <p:style>
          <a:lnRef idx="0"/>
          <a:fillRef idx="0"/>
          <a:effectRef idx="0"/>
          <a:fontRef idx="minor"/>
        </p:style>
      </p:sp>
      <p:sp>
        <p:nvSpPr>
          <p:cNvPr id="565" name="CustomShape 17"/>
          <p:cNvSpPr/>
          <p:nvPr/>
        </p:nvSpPr>
        <p:spPr>
          <a:xfrm>
            <a:off x="731520" y="5212080"/>
            <a:ext cx="454680" cy="454680"/>
          </a:xfrm>
          <a:prstGeom prst="ellipse">
            <a:avLst/>
          </a:prstGeom>
          <a:solidFill>
            <a:srgbClr val="134074"/>
          </a:solidFill>
          <a:ln>
            <a:noFill/>
          </a:ln>
        </p:spPr>
        <p:style>
          <a:lnRef idx="0"/>
          <a:fillRef idx="0"/>
          <a:effectRef idx="0"/>
          <a:fontRef idx="minor"/>
        </p:style>
      </p:sp>
      <p:pic>
        <p:nvPicPr>
          <p:cNvPr id="566" name="Image 2" descr="preencoded.png"/>
          <p:cNvPicPr/>
          <p:nvPr/>
        </p:nvPicPr>
        <p:blipFill>
          <a:blip r:embed="rId3"/>
          <a:stretch/>
        </p:blipFill>
        <p:spPr>
          <a:xfrm>
            <a:off x="846000" y="5326560"/>
            <a:ext cx="226080" cy="226080"/>
          </a:xfrm>
          <a:prstGeom prst="rect">
            <a:avLst/>
          </a:prstGeom>
          <a:ln>
            <a:noFill/>
          </a:ln>
        </p:spPr>
      </p:pic>
      <p:sp>
        <p:nvSpPr>
          <p:cNvPr id="567" name="CustomShape 18"/>
          <p:cNvSpPr/>
          <p:nvPr/>
        </p:nvSpPr>
        <p:spPr>
          <a:xfrm>
            <a:off x="1371600" y="4754880"/>
            <a:ext cx="10086120" cy="1369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2545"/>
                </a:solidFill>
                <a:latin typeface="Calibri"/>
                <a:ea typeface="Calibri"/>
              </a:rPr>
              <a:t>Cierre del módulo: </a:t>
            </a:r>
            <a:r>
              <a:rPr b="0" lang="en-US" sz="1400" spc="-1" strike="noStrike">
                <a:solidFill>
                  <a:srgbClr val="1f2933"/>
                </a:solidFill>
                <a:latin typeface="Calibri"/>
                <a:ea typeface="Calibri"/>
              </a:rPr>
              <a:t>Buffer Pool, páginas y extensiones, Transaction Log (WAL) y tempdb explican la mayoría de incidencias que veremos en los módulos siguientes.</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1528"/>
        </a:solidFill>
      </p:bgPr>
    </p:bg>
    <p:spTree>
      <p:nvGrpSpPr>
        <p:cNvPr id="1" name=""/>
        <p:cNvGrpSpPr/>
        <p:nvPr/>
      </p:nvGrpSpPr>
      <p:grpSpPr>
        <a:xfrm>
          <a:off x="0" y="0"/>
          <a:ext cx="0" cy="0"/>
          <a:chOff x="0" y="0"/>
          <a:chExt cx="0" cy="0"/>
        </a:xfrm>
      </p:grpSpPr>
      <p:sp>
        <p:nvSpPr>
          <p:cNvPr id="568" name="CustomShape 1"/>
          <p:cNvSpPr/>
          <p:nvPr/>
        </p:nvSpPr>
        <p:spPr>
          <a:xfrm>
            <a:off x="731520" y="822960"/>
            <a:ext cx="5026680" cy="18262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2000" spc="-1" strike="noStrike">
                <a:solidFill>
                  <a:srgbClr val="1e5aa8"/>
                </a:solidFill>
                <a:latin typeface="Calibri"/>
                <a:ea typeface="Calibri"/>
              </a:rPr>
              <a:t>02</a:t>
            </a:r>
            <a:endParaRPr b="0" lang="es-ES" sz="12000" spc="-1" strike="noStrike">
              <a:latin typeface="Arial"/>
            </a:endParaRPr>
          </a:p>
        </p:txBody>
      </p:sp>
      <p:sp>
        <p:nvSpPr>
          <p:cNvPr id="569" name="CustomShape 2"/>
          <p:cNvSpPr/>
          <p:nvPr/>
        </p:nvSpPr>
        <p:spPr>
          <a:xfrm>
            <a:off x="731520" y="2880360"/>
            <a:ext cx="2649240" cy="326520"/>
          </a:xfrm>
          <a:prstGeom prst="roundRect">
            <a:avLst>
              <a:gd name="adj" fmla="val 50000"/>
            </a:avLst>
          </a:prstGeom>
          <a:solidFill>
            <a:srgbClr val="d95d39"/>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100" spc="80" strike="noStrike">
                <a:solidFill>
                  <a:srgbClr val="ffffff"/>
                </a:solidFill>
                <a:latin typeface="Calibri"/>
                <a:ea typeface="Calibri"/>
              </a:rPr>
              <a:t>MÓDULO 2 · 5,5 h</a:t>
            </a:r>
            <a:endParaRPr b="0" lang="es-ES" sz="1100" spc="-1" strike="noStrike">
              <a:latin typeface="Arial"/>
            </a:endParaRPr>
          </a:p>
        </p:txBody>
      </p:sp>
      <p:sp>
        <p:nvSpPr>
          <p:cNvPr id="570" name="CustomShape 3"/>
          <p:cNvSpPr/>
          <p:nvPr/>
        </p:nvSpPr>
        <p:spPr>
          <a:xfrm>
            <a:off x="731520" y="3383280"/>
            <a:ext cx="5392440" cy="15519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3800" spc="-1" strike="noStrike">
                <a:solidFill>
                  <a:srgbClr val="ffffff"/>
                </a:solidFill>
                <a:latin typeface="Calibri"/>
                <a:ea typeface="Calibri"/>
              </a:rPr>
              <a:t>Gestión y Seguridad</a:t>
            </a:r>
            <a:endParaRPr b="0" lang="es-ES" sz="3800" spc="-1" strike="noStrike">
              <a:latin typeface="Arial"/>
            </a:endParaRPr>
          </a:p>
        </p:txBody>
      </p:sp>
      <p:sp>
        <p:nvSpPr>
          <p:cNvPr id="571" name="CustomShape 4"/>
          <p:cNvSpPr/>
          <p:nvPr/>
        </p:nvSpPr>
        <p:spPr>
          <a:xfrm>
            <a:off x="731520" y="4983480"/>
            <a:ext cx="5392440" cy="8204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600" spc="-1" strike="noStrike">
                <a:solidFill>
                  <a:srgbClr val="8da9c4"/>
                </a:solidFill>
                <a:latin typeface="Calibri"/>
                <a:ea typeface="Calibri"/>
              </a:rPr>
              <a:t>DDL, DML y modelo de seguridad de SQL Server</a:t>
            </a:r>
            <a:endParaRPr b="0" lang="es-ES" sz="1600" spc="-1" strike="noStrike">
              <a:latin typeface="Arial"/>
            </a:endParaRPr>
          </a:p>
        </p:txBody>
      </p:sp>
      <p:sp>
        <p:nvSpPr>
          <p:cNvPr id="572" name="CustomShape 5"/>
          <p:cNvSpPr/>
          <p:nvPr/>
        </p:nvSpPr>
        <p:spPr>
          <a:xfrm>
            <a:off x="6675120" y="1051560"/>
            <a:ext cx="4935240" cy="664920"/>
          </a:xfrm>
          <a:prstGeom prst="roundRect">
            <a:avLst>
              <a:gd name="adj" fmla="val 13699"/>
            </a:avLst>
          </a:prstGeom>
          <a:solidFill>
            <a:srgbClr val="ffffff">
              <a:alpha val="8000"/>
            </a:srgbClr>
          </a:solidFill>
          <a:ln>
            <a:noFill/>
          </a:ln>
        </p:spPr>
        <p:style>
          <a:lnRef idx="0"/>
          <a:fillRef idx="0"/>
          <a:effectRef idx="0"/>
          <a:fontRef idx="minor"/>
        </p:style>
      </p:sp>
      <p:sp>
        <p:nvSpPr>
          <p:cNvPr id="573" name="CustomShape 6"/>
          <p:cNvSpPr/>
          <p:nvPr/>
        </p:nvSpPr>
        <p:spPr>
          <a:xfrm>
            <a:off x="6812280" y="1166040"/>
            <a:ext cx="454680" cy="454680"/>
          </a:xfrm>
          <a:prstGeom prst="ellipse">
            <a:avLst/>
          </a:prstGeom>
          <a:solidFill>
            <a:srgbClr val="d95d39"/>
          </a:solidFill>
          <a:ln>
            <a:noFill/>
          </a:ln>
        </p:spPr>
        <p:style>
          <a:lnRef idx="0"/>
          <a:fillRef idx="0"/>
          <a:effectRef idx="0"/>
          <a:fontRef idx="minor"/>
        </p:style>
      </p:sp>
      <p:pic>
        <p:nvPicPr>
          <p:cNvPr id="574" name="Image 0" descr="preencoded.png"/>
          <p:cNvPicPr/>
          <p:nvPr/>
        </p:nvPicPr>
        <p:blipFill>
          <a:blip r:embed="rId1"/>
          <a:stretch/>
        </p:blipFill>
        <p:spPr>
          <a:xfrm>
            <a:off x="6926760" y="1280160"/>
            <a:ext cx="226080" cy="226080"/>
          </a:xfrm>
          <a:prstGeom prst="rect">
            <a:avLst/>
          </a:prstGeom>
          <a:ln>
            <a:noFill/>
          </a:ln>
        </p:spPr>
      </p:pic>
      <p:sp>
        <p:nvSpPr>
          <p:cNvPr id="575" name="CustomShape 7"/>
          <p:cNvSpPr/>
          <p:nvPr/>
        </p:nvSpPr>
        <p:spPr>
          <a:xfrm>
            <a:off x="7452360" y="1051560"/>
            <a:ext cx="4020840" cy="6649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600" spc="-1" strike="noStrike">
                <a:solidFill>
                  <a:srgbClr val="ffffff"/>
                </a:solidFill>
                <a:latin typeface="Calibri"/>
                <a:ea typeface="Calibri"/>
              </a:rPr>
              <a:t>Tablas, restricciones y vistas</a:t>
            </a:r>
            <a:endParaRPr b="0" lang="es-ES" sz="1600" spc="-1" strike="noStrike">
              <a:latin typeface="Arial"/>
            </a:endParaRPr>
          </a:p>
        </p:txBody>
      </p:sp>
      <p:sp>
        <p:nvSpPr>
          <p:cNvPr id="576" name="CustomShape 8"/>
          <p:cNvSpPr/>
          <p:nvPr/>
        </p:nvSpPr>
        <p:spPr>
          <a:xfrm>
            <a:off x="6675120" y="1828800"/>
            <a:ext cx="4935240" cy="664920"/>
          </a:xfrm>
          <a:prstGeom prst="roundRect">
            <a:avLst>
              <a:gd name="adj" fmla="val 13699"/>
            </a:avLst>
          </a:prstGeom>
          <a:solidFill>
            <a:srgbClr val="ffffff">
              <a:alpha val="8000"/>
            </a:srgbClr>
          </a:solidFill>
          <a:ln>
            <a:noFill/>
          </a:ln>
        </p:spPr>
        <p:style>
          <a:lnRef idx="0"/>
          <a:fillRef idx="0"/>
          <a:effectRef idx="0"/>
          <a:fontRef idx="minor"/>
        </p:style>
      </p:sp>
      <p:sp>
        <p:nvSpPr>
          <p:cNvPr id="577" name="CustomShape 9"/>
          <p:cNvSpPr/>
          <p:nvPr/>
        </p:nvSpPr>
        <p:spPr>
          <a:xfrm>
            <a:off x="6812280" y="1943280"/>
            <a:ext cx="454680" cy="454680"/>
          </a:xfrm>
          <a:prstGeom prst="ellipse">
            <a:avLst/>
          </a:prstGeom>
          <a:solidFill>
            <a:srgbClr val="d95d39"/>
          </a:solidFill>
          <a:ln>
            <a:noFill/>
          </a:ln>
        </p:spPr>
        <p:style>
          <a:lnRef idx="0"/>
          <a:fillRef idx="0"/>
          <a:effectRef idx="0"/>
          <a:fontRef idx="minor"/>
        </p:style>
      </p:sp>
      <p:pic>
        <p:nvPicPr>
          <p:cNvPr id="578" name="Image 1" descr="preencoded.png"/>
          <p:cNvPicPr/>
          <p:nvPr/>
        </p:nvPicPr>
        <p:blipFill>
          <a:blip r:embed="rId2"/>
          <a:stretch/>
        </p:blipFill>
        <p:spPr>
          <a:xfrm>
            <a:off x="6926760" y="2057400"/>
            <a:ext cx="226080" cy="226080"/>
          </a:xfrm>
          <a:prstGeom prst="rect">
            <a:avLst/>
          </a:prstGeom>
          <a:ln>
            <a:noFill/>
          </a:ln>
        </p:spPr>
      </p:pic>
      <p:sp>
        <p:nvSpPr>
          <p:cNvPr id="579" name="CustomShape 10"/>
          <p:cNvSpPr/>
          <p:nvPr/>
        </p:nvSpPr>
        <p:spPr>
          <a:xfrm>
            <a:off x="7452360" y="1828800"/>
            <a:ext cx="4020840" cy="6649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600" spc="-1" strike="noStrike">
                <a:solidFill>
                  <a:srgbClr val="ffffff"/>
                </a:solidFill>
                <a:latin typeface="Calibri"/>
                <a:ea typeface="Calibri"/>
              </a:rPr>
              <a:t>Procedimientos almacenados y plan cache</a:t>
            </a:r>
            <a:endParaRPr b="0" lang="es-ES" sz="1600" spc="-1" strike="noStrike">
              <a:latin typeface="Arial"/>
            </a:endParaRPr>
          </a:p>
        </p:txBody>
      </p:sp>
      <p:sp>
        <p:nvSpPr>
          <p:cNvPr id="580" name="CustomShape 11"/>
          <p:cNvSpPr/>
          <p:nvPr/>
        </p:nvSpPr>
        <p:spPr>
          <a:xfrm>
            <a:off x="6675120" y="2606040"/>
            <a:ext cx="4935240" cy="664920"/>
          </a:xfrm>
          <a:prstGeom prst="roundRect">
            <a:avLst>
              <a:gd name="adj" fmla="val 13699"/>
            </a:avLst>
          </a:prstGeom>
          <a:solidFill>
            <a:srgbClr val="ffffff">
              <a:alpha val="8000"/>
            </a:srgbClr>
          </a:solidFill>
          <a:ln>
            <a:noFill/>
          </a:ln>
        </p:spPr>
        <p:style>
          <a:lnRef idx="0"/>
          <a:fillRef idx="0"/>
          <a:effectRef idx="0"/>
          <a:fontRef idx="minor"/>
        </p:style>
      </p:sp>
      <p:sp>
        <p:nvSpPr>
          <p:cNvPr id="581" name="CustomShape 12"/>
          <p:cNvSpPr/>
          <p:nvPr/>
        </p:nvSpPr>
        <p:spPr>
          <a:xfrm>
            <a:off x="6812280" y="2720520"/>
            <a:ext cx="454680" cy="454680"/>
          </a:xfrm>
          <a:prstGeom prst="ellipse">
            <a:avLst/>
          </a:prstGeom>
          <a:solidFill>
            <a:srgbClr val="d95d39"/>
          </a:solidFill>
          <a:ln>
            <a:noFill/>
          </a:ln>
        </p:spPr>
        <p:style>
          <a:lnRef idx="0"/>
          <a:fillRef idx="0"/>
          <a:effectRef idx="0"/>
          <a:fontRef idx="minor"/>
        </p:style>
      </p:sp>
      <p:pic>
        <p:nvPicPr>
          <p:cNvPr id="582" name="Image 2" descr="preencoded.png"/>
          <p:cNvPicPr/>
          <p:nvPr/>
        </p:nvPicPr>
        <p:blipFill>
          <a:blip r:embed="rId3"/>
          <a:stretch/>
        </p:blipFill>
        <p:spPr>
          <a:xfrm>
            <a:off x="6926760" y="2834640"/>
            <a:ext cx="226080" cy="226080"/>
          </a:xfrm>
          <a:prstGeom prst="rect">
            <a:avLst/>
          </a:prstGeom>
          <a:ln>
            <a:noFill/>
          </a:ln>
        </p:spPr>
      </p:pic>
      <p:sp>
        <p:nvSpPr>
          <p:cNvPr id="583" name="CustomShape 13"/>
          <p:cNvSpPr/>
          <p:nvPr/>
        </p:nvSpPr>
        <p:spPr>
          <a:xfrm>
            <a:off x="7452360" y="2606040"/>
            <a:ext cx="4020840" cy="6649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600" spc="-1" strike="noStrike">
                <a:solidFill>
                  <a:srgbClr val="ffffff"/>
                </a:solidFill>
                <a:latin typeface="Calibri"/>
                <a:ea typeface="Calibri"/>
              </a:rPr>
              <a:t>JOINs, window functions y tablas vectoriales</a:t>
            </a:r>
            <a:endParaRPr b="0" lang="es-ES" sz="1600" spc="-1" strike="noStrike">
              <a:latin typeface="Arial"/>
            </a:endParaRPr>
          </a:p>
        </p:txBody>
      </p:sp>
      <p:sp>
        <p:nvSpPr>
          <p:cNvPr id="584" name="CustomShape 14"/>
          <p:cNvSpPr/>
          <p:nvPr/>
        </p:nvSpPr>
        <p:spPr>
          <a:xfrm>
            <a:off x="6675120" y="3383280"/>
            <a:ext cx="4935240" cy="664920"/>
          </a:xfrm>
          <a:prstGeom prst="roundRect">
            <a:avLst>
              <a:gd name="adj" fmla="val 13699"/>
            </a:avLst>
          </a:prstGeom>
          <a:solidFill>
            <a:srgbClr val="ffffff">
              <a:alpha val="8000"/>
            </a:srgbClr>
          </a:solidFill>
          <a:ln>
            <a:noFill/>
          </a:ln>
        </p:spPr>
        <p:style>
          <a:lnRef idx="0"/>
          <a:fillRef idx="0"/>
          <a:effectRef idx="0"/>
          <a:fontRef idx="minor"/>
        </p:style>
      </p:sp>
      <p:sp>
        <p:nvSpPr>
          <p:cNvPr id="585" name="CustomShape 15"/>
          <p:cNvSpPr/>
          <p:nvPr/>
        </p:nvSpPr>
        <p:spPr>
          <a:xfrm>
            <a:off x="6812280" y="3497760"/>
            <a:ext cx="454680" cy="454680"/>
          </a:xfrm>
          <a:prstGeom prst="ellipse">
            <a:avLst/>
          </a:prstGeom>
          <a:solidFill>
            <a:srgbClr val="d95d39"/>
          </a:solidFill>
          <a:ln>
            <a:noFill/>
          </a:ln>
        </p:spPr>
        <p:style>
          <a:lnRef idx="0"/>
          <a:fillRef idx="0"/>
          <a:effectRef idx="0"/>
          <a:fontRef idx="minor"/>
        </p:style>
      </p:sp>
      <p:pic>
        <p:nvPicPr>
          <p:cNvPr id="586" name="Image 3" descr="preencoded.png"/>
          <p:cNvPicPr/>
          <p:nvPr/>
        </p:nvPicPr>
        <p:blipFill>
          <a:blip r:embed="rId4"/>
          <a:stretch/>
        </p:blipFill>
        <p:spPr>
          <a:xfrm>
            <a:off x="6926760" y="3611880"/>
            <a:ext cx="226080" cy="226080"/>
          </a:xfrm>
          <a:prstGeom prst="rect">
            <a:avLst/>
          </a:prstGeom>
          <a:ln>
            <a:noFill/>
          </a:ln>
        </p:spPr>
      </p:pic>
      <p:sp>
        <p:nvSpPr>
          <p:cNvPr id="587" name="CustomShape 16"/>
          <p:cNvSpPr/>
          <p:nvPr/>
        </p:nvSpPr>
        <p:spPr>
          <a:xfrm>
            <a:off x="7452360" y="3383280"/>
            <a:ext cx="4020840" cy="6649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600" spc="-1" strike="noStrike">
                <a:solidFill>
                  <a:srgbClr val="ffffff"/>
                </a:solidFill>
                <a:latin typeface="Calibri"/>
                <a:ea typeface="Calibri"/>
              </a:rPr>
              <a:t>Logins, users, roles y permisos</a:t>
            </a:r>
            <a:endParaRPr b="0" lang="es-ES" sz="1600" spc="-1" strike="noStrike">
              <a:latin typeface="Arial"/>
            </a:endParaRPr>
          </a:p>
        </p:txBody>
      </p:sp>
      <p:sp>
        <p:nvSpPr>
          <p:cNvPr id="588" name="CustomShape 17"/>
          <p:cNvSpPr/>
          <p:nvPr/>
        </p:nvSpPr>
        <p:spPr>
          <a:xfrm>
            <a:off x="6675120" y="4160520"/>
            <a:ext cx="4935240" cy="664920"/>
          </a:xfrm>
          <a:prstGeom prst="roundRect">
            <a:avLst>
              <a:gd name="adj" fmla="val 13699"/>
            </a:avLst>
          </a:prstGeom>
          <a:solidFill>
            <a:srgbClr val="ffffff">
              <a:alpha val="8000"/>
            </a:srgbClr>
          </a:solidFill>
          <a:ln>
            <a:noFill/>
          </a:ln>
        </p:spPr>
        <p:style>
          <a:lnRef idx="0"/>
          <a:fillRef idx="0"/>
          <a:effectRef idx="0"/>
          <a:fontRef idx="minor"/>
        </p:style>
      </p:sp>
      <p:sp>
        <p:nvSpPr>
          <p:cNvPr id="589" name="CustomShape 18"/>
          <p:cNvSpPr/>
          <p:nvPr/>
        </p:nvSpPr>
        <p:spPr>
          <a:xfrm>
            <a:off x="6812280" y="4275000"/>
            <a:ext cx="454680" cy="454680"/>
          </a:xfrm>
          <a:prstGeom prst="ellipse">
            <a:avLst/>
          </a:prstGeom>
          <a:solidFill>
            <a:srgbClr val="d95d39"/>
          </a:solidFill>
          <a:ln>
            <a:noFill/>
          </a:ln>
        </p:spPr>
        <p:style>
          <a:lnRef idx="0"/>
          <a:fillRef idx="0"/>
          <a:effectRef idx="0"/>
          <a:fontRef idx="minor"/>
        </p:style>
      </p:sp>
      <p:pic>
        <p:nvPicPr>
          <p:cNvPr id="590" name="Image 4" descr="preencoded.png"/>
          <p:cNvPicPr/>
          <p:nvPr/>
        </p:nvPicPr>
        <p:blipFill>
          <a:blip r:embed="rId5"/>
          <a:stretch/>
        </p:blipFill>
        <p:spPr>
          <a:xfrm>
            <a:off x="6926760" y="4389120"/>
            <a:ext cx="226080" cy="226080"/>
          </a:xfrm>
          <a:prstGeom prst="rect">
            <a:avLst/>
          </a:prstGeom>
          <a:ln>
            <a:noFill/>
          </a:ln>
        </p:spPr>
      </p:pic>
      <p:sp>
        <p:nvSpPr>
          <p:cNvPr id="591" name="CustomShape 19"/>
          <p:cNvSpPr/>
          <p:nvPr/>
        </p:nvSpPr>
        <p:spPr>
          <a:xfrm>
            <a:off x="7452360" y="4160520"/>
            <a:ext cx="4020840" cy="6649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600" spc="-1" strike="noStrike">
                <a:solidFill>
                  <a:srgbClr val="ffffff"/>
                </a:solidFill>
                <a:latin typeface="Calibri"/>
                <a:ea typeface="Calibri"/>
              </a:rPr>
              <a:t>Ownership chaining y mínimo privilegio</a:t>
            </a:r>
            <a:endParaRPr b="0" lang="es-ES" sz="1600" spc="-1" strike="noStrike">
              <a:latin typeface="Arial"/>
            </a:endParaRPr>
          </a:p>
        </p:txBody>
      </p:sp>
      <p:sp>
        <p:nvSpPr>
          <p:cNvPr id="592" name="CustomShape 20"/>
          <p:cNvSpPr/>
          <p:nvPr/>
        </p:nvSpPr>
        <p:spPr>
          <a:xfrm>
            <a:off x="6675120" y="4937760"/>
            <a:ext cx="4935240" cy="664920"/>
          </a:xfrm>
          <a:prstGeom prst="roundRect">
            <a:avLst>
              <a:gd name="adj" fmla="val 13699"/>
            </a:avLst>
          </a:prstGeom>
          <a:solidFill>
            <a:srgbClr val="ffffff">
              <a:alpha val="8000"/>
            </a:srgbClr>
          </a:solidFill>
          <a:ln>
            <a:noFill/>
          </a:ln>
        </p:spPr>
        <p:style>
          <a:lnRef idx="0"/>
          <a:fillRef idx="0"/>
          <a:effectRef idx="0"/>
          <a:fontRef idx="minor"/>
        </p:style>
      </p:sp>
      <p:sp>
        <p:nvSpPr>
          <p:cNvPr id="593" name="CustomShape 21"/>
          <p:cNvSpPr/>
          <p:nvPr/>
        </p:nvSpPr>
        <p:spPr>
          <a:xfrm>
            <a:off x="6812280" y="5052240"/>
            <a:ext cx="454680" cy="454680"/>
          </a:xfrm>
          <a:prstGeom prst="ellipse">
            <a:avLst/>
          </a:prstGeom>
          <a:solidFill>
            <a:srgbClr val="d95d39"/>
          </a:solidFill>
          <a:ln>
            <a:noFill/>
          </a:ln>
        </p:spPr>
        <p:style>
          <a:lnRef idx="0"/>
          <a:fillRef idx="0"/>
          <a:effectRef idx="0"/>
          <a:fontRef idx="minor"/>
        </p:style>
      </p:sp>
      <p:pic>
        <p:nvPicPr>
          <p:cNvPr id="594" name="Image 5" descr="preencoded.png"/>
          <p:cNvPicPr/>
          <p:nvPr/>
        </p:nvPicPr>
        <p:blipFill>
          <a:blip r:embed="rId6"/>
          <a:stretch/>
        </p:blipFill>
        <p:spPr>
          <a:xfrm>
            <a:off x="6926760" y="5166360"/>
            <a:ext cx="226080" cy="226080"/>
          </a:xfrm>
          <a:prstGeom prst="rect">
            <a:avLst/>
          </a:prstGeom>
          <a:ln>
            <a:noFill/>
          </a:ln>
        </p:spPr>
      </p:pic>
      <p:sp>
        <p:nvSpPr>
          <p:cNvPr id="595" name="CustomShape 22"/>
          <p:cNvSpPr/>
          <p:nvPr/>
        </p:nvSpPr>
        <p:spPr>
          <a:xfrm>
            <a:off x="7452360" y="4937760"/>
            <a:ext cx="4020840" cy="6649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600" spc="-1" strike="noStrike">
                <a:solidFill>
                  <a:srgbClr val="ffffff"/>
                </a:solidFill>
                <a:latin typeface="Calibri"/>
                <a:ea typeface="Calibri"/>
              </a:rPr>
              <a:t>Laboratorio 2: consultas y permisos</a:t>
            </a:r>
            <a:endParaRPr b="0" lang="es-ES" sz="1600" spc="-1" strike="noStrike">
              <a:latin typeface="Arial"/>
            </a:endParaRPr>
          </a:p>
        </p:txBody>
      </p:sp>
      <p:sp>
        <p:nvSpPr>
          <p:cNvPr id="596" name="CustomShape 2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8da9c4"/>
                </a:solidFill>
                <a:latin typeface="Calibri"/>
                <a:ea typeface="Calibri"/>
              </a:rPr>
              <a:t>Curso de Administración de SQL Server · 20 h</a:t>
            </a:r>
            <a:endParaRPr b="0" lang="es-ES" sz="1000" spc="-1" strike="noStrike">
              <a:latin typeface="Arial"/>
            </a:endParaRPr>
          </a:p>
        </p:txBody>
      </p:sp>
      <p:sp>
        <p:nvSpPr>
          <p:cNvPr id="597" name="CustomShape 2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8da9c4"/>
                </a:solidFill>
                <a:latin typeface="Calibri"/>
                <a:ea typeface="Calibri"/>
              </a:rPr>
              <a:t>Módulo 2   21</a:t>
            </a:r>
            <a:endParaRPr b="0" lang="es-ES" sz="100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598"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DDL</a:t>
            </a:r>
            <a:endParaRPr b="0" lang="es-ES" sz="1000" spc="-1" strike="noStrike">
              <a:latin typeface="Arial"/>
            </a:endParaRPr>
          </a:p>
        </p:txBody>
      </p:sp>
      <p:sp>
        <p:nvSpPr>
          <p:cNvPr id="599"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Creación de tablas y restricciones</a:t>
            </a:r>
            <a:endParaRPr b="0" lang="es-ES" sz="3400" spc="-1" strike="noStrike">
              <a:latin typeface="Arial"/>
            </a:endParaRPr>
          </a:p>
        </p:txBody>
      </p:sp>
      <p:sp>
        <p:nvSpPr>
          <p:cNvPr id="600"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601"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2   22</a:t>
            </a:r>
            <a:endParaRPr b="0" lang="es-ES" sz="1000" spc="-1" strike="noStrike">
              <a:latin typeface="Arial"/>
            </a:endParaRPr>
          </a:p>
        </p:txBody>
      </p:sp>
      <p:sp>
        <p:nvSpPr>
          <p:cNvPr id="602" name="CustomShape 5"/>
          <p:cNvSpPr/>
          <p:nvPr/>
        </p:nvSpPr>
        <p:spPr>
          <a:xfrm>
            <a:off x="548640" y="1600200"/>
            <a:ext cx="6764040" cy="4569480"/>
          </a:xfrm>
          <a:prstGeom prst="roundRect">
            <a:avLst>
              <a:gd name="adj" fmla="val 2000"/>
            </a:avLst>
          </a:prstGeom>
          <a:solidFill>
            <a:srgbClr val="eceff3"/>
          </a:solidFill>
          <a:ln w="9360">
            <a:solidFill>
              <a:srgbClr val="d0d7de"/>
            </a:solidFill>
            <a:round/>
          </a:ln>
        </p:spPr>
        <p:style>
          <a:lnRef idx="0"/>
          <a:fillRef idx="0"/>
          <a:effectRef idx="0"/>
          <a:fontRef idx="minor"/>
        </p:style>
      </p:sp>
      <p:sp>
        <p:nvSpPr>
          <p:cNvPr id="603" name="CustomShape 6"/>
          <p:cNvSpPr/>
          <p:nvPr/>
        </p:nvSpPr>
        <p:spPr>
          <a:xfrm>
            <a:off x="73152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BD Ventas</a:t>
            </a:r>
            <a:endParaRPr b="0" lang="es-ES" sz="1000" spc="-1" strike="noStrike">
              <a:latin typeface="Arial"/>
            </a:endParaRPr>
          </a:p>
        </p:txBody>
      </p:sp>
      <p:sp>
        <p:nvSpPr>
          <p:cNvPr id="604" name="CustomShape 7"/>
          <p:cNvSpPr/>
          <p:nvPr/>
        </p:nvSpPr>
        <p:spPr>
          <a:xfrm>
            <a:off x="731520" y="1893960"/>
            <a:ext cx="6398280" cy="411228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CREATE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TABLE</a:t>
            </a:r>
            <a:r>
              <a:rPr b="0" lang="en-US" sz="1200" spc="-1" strike="noStrike">
                <a:solidFill>
                  <a:srgbClr val="1f2933"/>
                </a:solidFill>
                <a:latin typeface="Consolas"/>
                <a:ea typeface="Consolas"/>
              </a:rPr>
              <a:t> dbo.Cliente (</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ClienteId </a:t>
            </a:r>
            <a:r>
              <a:rPr b="0" lang="en-US" sz="1200" spc="-1" strike="noStrike">
                <a:solidFill>
                  <a:srgbClr val="7c3aed"/>
                </a:solidFill>
                <a:latin typeface="Consolas"/>
                <a:ea typeface="Consolas"/>
              </a:rPr>
              <a:t>INT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IDENTITY</a:t>
            </a:r>
            <a:r>
              <a:rPr b="0" lang="en-US" sz="1200" spc="-1" strike="noStrike">
                <a:solidFill>
                  <a:srgbClr val="1f2933"/>
                </a:solidFill>
                <a:latin typeface="Consolas"/>
                <a:ea typeface="Consolas"/>
              </a:rPr>
              <a:t>(</a:t>
            </a:r>
            <a:r>
              <a:rPr b="0" lang="en-US" sz="1200" spc="-1" strike="noStrike">
                <a:solidFill>
                  <a:srgbClr val="9a3412"/>
                </a:solidFill>
                <a:latin typeface="Consolas"/>
                <a:ea typeface="Consolas"/>
              </a:rPr>
              <a:t>1</a:t>
            </a:r>
            <a:r>
              <a:rPr b="0" lang="en-US" sz="1200" spc="-1" strike="noStrike">
                <a:solidFill>
                  <a:srgbClr val="1f2933"/>
                </a:solidFill>
                <a:latin typeface="Consolas"/>
                <a:ea typeface="Consolas"/>
              </a:rPr>
              <a:t>,</a:t>
            </a:r>
            <a:r>
              <a:rPr b="0" lang="en-US" sz="1200" spc="-1" strike="noStrike">
                <a:solidFill>
                  <a:srgbClr val="9a3412"/>
                </a:solidFill>
                <a:latin typeface="Consolas"/>
                <a:ea typeface="Consolas"/>
              </a:rPr>
              <a:t>1</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NOT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NULL</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Email     </a:t>
            </a:r>
            <a:r>
              <a:rPr b="0" lang="en-US" sz="1200" spc="-1" strike="noStrike">
                <a:solidFill>
                  <a:srgbClr val="7c3aed"/>
                </a:solidFill>
                <a:latin typeface="Consolas"/>
                <a:ea typeface="Consolas"/>
              </a:rPr>
              <a:t>VARCHAR</a:t>
            </a:r>
            <a:r>
              <a:rPr b="0" lang="en-US" sz="1200" spc="-1" strike="noStrike">
                <a:solidFill>
                  <a:srgbClr val="1f2933"/>
                </a:solidFill>
                <a:latin typeface="Consolas"/>
                <a:ea typeface="Consolas"/>
              </a:rPr>
              <a:t>(</a:t>
            </a:r>
            <a:r>
              <a:rPr b="0" lang="en-US" sz="1200" spc="-1" strike="noStrike">
                <a:solidFill>
                  <a:srgbClr val="9a3412"/>
                </a:solidFill>
                <a:latin typeface="Consolas"/>
                <a:ea typeface="Consolas"/>
              </a:rPr>
              <a:t>254</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NOT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NULL</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Nombre    </a:t>
            </a:r>
            <a:r>
              <a:rPr b="0" lang="en-US" sz="1200" spc="-1" strike="noStrike">
                <a:solidFill>
                  <a:srgbClr val="7c3aed"/>
                </a:solidFill>
                <a:latin typeface="Consolas"/>
                <a:ea typeface="Consolas"/>
              </a:rPr>
              <a:t>NVARCHAR</a:t>
            </a:r>
            <a:r>
              <a:rPr b="0" lang="en-US" sz="1200" spc="-1" strike="noStrike">
                <a:solidFill>
                  <a:srgbClr val="1f2933"/>
                </a:solidFill>
                <a:latin typeface="Consolas"/>
                <a:ea typeface="Consolas"/>
              </a:rPr>
              <a:t>(</a:t>
            </a:r>
            <a:r>
              <a:rPr b="0" lang="en-US" sz="1200" spc="-1" strike="noStrike">
                <a:solidFill>
                  <a:srgbClr val="9a3412"/>
                </a:solidFill>
                <a:latin typeface="Consolas"/>
                <a:ea typeface="Consolas"/>
              </a:rPr>
              <a:t>100</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NOT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NULL</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Alta      </a:t>
            </a:r>
            <a:r>
              <a:rPr b="0" lang="en-US" sz="1200" spc="-1" strike="noStrike">
                <a:solidFill>
                  <a:srgbClr val="7c3aed"/>
                </a:solidFill>
                <a:latin typeface="Consolas"/>
                <a:ea typeface="Consolas"/>
              </a:rPr>
              <a:t>DATETIME2</a:t>
            </a:r>
            <a:r>
              <a:rPr b="0" lang="en-US" sz="1200" spc="-1" strike="noStrike">
                <a:solidFill>
                  <a:srgbClr val="1f2933"/>
                </a:solidFill>
                <a:latin typeface="Consolas"/>
                <a:ea typeface="Consolas"/>
              </a:rPr>
              <a:t>(</a:t>
            </a:r>
            <a:r>
              <a:rPr b="0" lang="en-US" sz="1200" spc="-1" strike="noStrike">
                <a:solidFill>
                  <a:srgbClr val="9a3412"/>
                </a:solidFill>
                <a:latin typeface="Consolas"/>
                <a:ea typeface="Consolas"/>
              </a:rPr>
              <a:t>0</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CONSTRAINT</a:t>
            </a:r>
            <a:r>
              <a:rPr b="0" lang="en-US" sz="1200" spc="-1" strike="noStrike">
                <a:solidFill>
                  <a:srgbClr val="1f2933"/>
                </a:solidFill>
                <a:latin typeface="Consolas"/>
                <a:ea typeface="Consolas"/>
              </a:rPr>
              <a:t> DF_Cliente_Alta </a:t>
            </a:r>
            <a:r>
              <a:rPr b="1" lang="en-US" sz="1200" spc="-1" strike="noStrike">
                <a:solidFill>
                  <a:srgbClr val="1d4ed8"/>
                </a:solidFill>
                <a:latin typeface="Consolas"/>
                <a:ea typeface="Consolas"/>
              </a:rPr>
              <a:t>DEFAULT</a:t>
            </a:r>
            <a:r>
              <a:rPr b="0" lang="en-US" sz="1200" spc="-1" strike="noStrike">
                <a:solidFill>
                  <a:srgbClr val="1f2933"/>
                </a:solidFill>
                <a:latin typeface="Consolas"/>
                <a:ea typeface="Consolas"/>
              </a:rPr>
              <a:t> SYSDATETIME()</a:t>
            </a:r>
            <a:r>
              <a:rPr b="1" lang="en-US" sz="1200" spc="-1" strike="noStrike">
                <a:solidFill>
                  <a:srgbClr val="1d4ed8"/>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CONSTRAINT</a:t>
            </a:r>
            <a:r>
              <a:rPr b="0" lang="en-US" sz="1200" spc="-1" strike="noStrike">
                <a:solidFill>
                  <a:srgbClr val="1f2933"/>
                </a:solidFill>
                <a:latin typeface="Consolas"/>
                <a:ea typeface="Consolas"/>
              </a:rPr>
              <a:t> PK_Cliente </a:t>
            </a:r>
            <a:r>
              <a:rPr b="1" lang="en-US" sz="1200" spc="-1" strike="noStrike">
                <a:solidFill>
                  <a:srgbClr val="1d4ed8"/>
                </a:solidFill>
                <a:latin typeface="Consolas"/>
                <a:ea typeface="Consolas"/>
              </a:rPr>
              <a:t>PRIMARY</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KEY</a:t>
            </a:r>
            <a:r>
              <a:rPr b="0" lang="en-US" sz="1200" spc="-1" strike="noStrike">
                <a:solidFill>
                  <a:srgbClr val="1f2933"/>
                </a:solidFill>
                <a:latin typeface="Consolas"/>
                <a:ea typeface="Consolas"/>
              </a:rPr>
              <a:t> (ClienteId),</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CONSTRAINT</a:t>
            </a:r>
            <a:r>
              <a:rPr b="0" lang="en-US" sz="1200" spc="-1" strike="noStrike">
                <a:solidFill>
                  <a:srgbClr val="1f2933"/>
                </a:solidFill>
                <a:latin typeface="Consolas"/>
                <a:ea typeface="Consolas"/>
              </a:rPr>
              <a:t> UQ_Cliente_Email </a:t>
            </a:r>
            <a:r>
              <a:rPr b="1" lang="en-US" sz="1200" spc="-1" strike="noStrike">
                <a:solidFill>
                  <a:srgbClr val="1d4ed8"/>
                </a:solidFill>
                <a:latin typeface="Consolas"/>
                <a:ea typeface="Consolas"/>
              </a:rPr>
              <a:t>UNIQUE</a:t>
            </a:r>
            <a:r>
              <a:rPr b="0" lang="en-US" sz="1200" spc="-1" strike="noStrike">
                <a:solidFill>
                  <a:srgbClr val="1f2933"/>
                </a:solidFill>
                <a:latin typeface="Consolas"/>
                <a:ea typeface="Consolas"/>
              </a:rPr>
              <a:t> (Email)</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CREATE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TABLE</a:t>
            </a:r>
            <a:r>
              <a:rPr b="0" lang="en-US" sz="1200" spc="-1" strike="noStrike">
                <a:solidFill>
                  <a:srgbClr val="1f2933"/>
                </a:solidFill>
                <a:latin typeface="Consolas"/>
                <a:ea typeface="Consolas"/>
              </a:rPr>
              <a:t> dbo.Pedido (</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PedidoId  </a:t>
            </a:r>
            <a:r>
              <a:rPr b="0" lang="en-US" sz="1200" spc="-1" strike="noStrike">
                <a:solidFill>
                  <a:srgbClr val="7c3aed"/>
                </a:solidFill>
                <a:latin typeface="Consolas"/>
                <a:ea typeface="Consolas"/>
              </a:rPr>
              <a:t>INT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IDENTITY</a:t>
            </a:r>
            <a:r>
              <a:rPr b="0" lang="en-US" sz="1200" spc="-1" strike="noStrike">
                <a:solidFill>
                  <a:srgbClr val="1f2933"/>
                </a:solidFill>
                <a:latin typeface="Consolas"/>
                <a:ea typeface="Consolas"/>
              </a:rPr>
              <a:t>(</a:t>
            </a:r>
            <a:r>
              <a:rPr b="0" lang="en-US" sz="1200" spc="-1" strike="noStrike">
                <a:solidFill>
                  <a:srgbClr val="9a3412"/>
                </a:solidFill>
                <a:latin typeface="Consolas"/>
                <a:ea typeface="Consolas"/>
              </a:rPr>
              <a:t>1</a:t>
            </a:r>
            <a:r>
              <a:rPr b="0" lang="en-US" sz="1200" spc="-1" strike="noStrike">
                <a:solidFill>
                  <a:srgbClr val="1f2933"/>
                </a:solidFill>
                <a:latin typeface="Consolas"/>
                <a:ea typeface="Consolas"/>
              </a:rPr>
              <a:t>,</a:t>
            </a:r>
            <a:r>
              <a:rPr b="0" lang="en-US" sz="1200" spc="-1" strike="noStrike">
                <a:solidFill>
                  <a:srgbClr val="9a3412"/>
                </a:solidFill>
                <a:latin typeface="Consolas"/>
                <a:ea typeface="Consolas"/>
              </a:rPr>
              <a:t>1</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NOT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NULL</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ClienteId </a:t>
            </a:r>
            <a:r>
              <a:rPr b="0" lang="en-US" sz="1200" spc="-1" strike="noStrike">
                <a:solidFill>
                  <a:srgbClr val="7c3aed"/>
                </a:solidFill>
                <a:latin typeface="Consolas"/>
                <a:ea typeface="Consolas"/>
              </a:rPr>
              <a:t>INT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NOT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NULL</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Fecha     </a:t>
            </a:r>
            <a:r>
              <a:rPr b="0" lang="en-US" sz="1200" spc="-1" strike="noStrike">
                <a:solidFill>
                  <a:srgbClr val="7c3aed"/>
                </a:solidFill>
                <a:latin typeface="Consolas"/>
                <a:ea typeface="Consolas"/>
              </a:rPr>
              <a:t>DATE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NOT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NULL</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Total     </a:t>
            </a:r>
            <a:r>
              <a:rPr b="0" lang="en-US" sz="1200" spc="-1" strike="noStrike">
                <a:solidFill>
                  <a:srgbClr val="7c3aed"/>
                </a:solidFill>
                <a:latin typeface="Consolas"/>
                <a:ea typeface="Consolas"/>
              </a:rPr>
              <a:t>DECIMAL</a:t>
            </a:r>
            <a:r>
              <a:rPr b="0" lang="en-US" sz="1200" spc="-1" strike="noStrike">
                <a:solidFill>
                  <a:srgbClr val="1f2933"/>
                </a:solidFill>
                <a:latin typeface="Consolas"/>
                <a:ea typeface="Consolas"/>
              </a:rPr>
              <a:t>(</a:t>
            </a:r>
            <a:r>
              <a:rPr b="0" lang="en-US" sz="1200" spc="-1" strike="noStrike">
                <a:solidFill>
                  <a:srgbClr val="9a3412"/>
                </a:solidFill>
                <a:latin typeface="Consolas"/>
                <a:ea typeface="Consolas"/>
              </a:rPr>
              <a:t>12</a:t>
            </a:r>
            <a:r>
              <a:rPr b="0" lang="en-US" sz="1200" spc="-1" strike="noStrike">
                <a:solidFill>
                  <a:srgbClr val="1f2933"/>
                </a:solidFill>
                <a:latin typeface="Consolas"/>
                <a:ea typeface="Consolas"/>
              </a:rPr>
              <a:t>,</a:t>
            </a:r>
            <a:r>
              <a:rPr b="0" lang="en-US" sz="1200" spc="-1" strike="noStrike">
                <a:solidFill>
                  <a:srgbClr val="9a3412"/>
                </a:solidFill>
                <a:latin typeface="Consolas"/>
                <a:ea typeface="Consolas"/>
              </a:rPr>
              <a:t>2</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NOT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NULL</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CONSTRAINT</a:t>
            </a:r>
            <a:r>
              <a:rPr b="0" lang="en-US" sz="1200" spc="-1" strike="noStrike">
                <a:solidFill>
                  <a:srgbClr val="1f2933"/>
                </a:solidFill>
                <a:latin typeface="Consolas"/>
                <a:ea typeface="Consolas"/>
              </a:rPr>
              <a:t> PK_Pedido </a:t>
            </a:r>
            <a:r>
              <a:rPr b="1" lang="en-US" sz="1200" spc="-1" strike="noStrike">
                <a:solidFill>
                  <a:srgbClr val="1d4ed8"/>
                </a:solidFill>
                <a:latin typeface="Consolas"/>
                <a:ea typeface="Consolas"/>
              </a:rPr>
              <a:t>PRIMARY</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KEY</a:t>
            </a:r>
            <a:r>
              <a:rPr b="0" lang="en-US" sz="1200" spc="-1" strike="noStrike">
                <a:solidFill>
                  <a:srgbClr val="1f2933"/>
                </a:solidFill>
                <a:latin typeface="Consolas"/>
                <a:ea typeface="Consolas"/>
              </a:rPr>
              <a:t> (PedidoId),</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CONSTRAINT</a:t>
            </a:r>
            <a:r>
              <a:rPr b="0" lang="en-US" sz="1200" spc="-1" strike="noStrike">
                <a:solidFill>
                  <a:srgbClr val="1f2933"/>
                </a:solidFill>
                <a:latin typeface="Consolas"/>
                <a:ea typeface="Consolas"/>
              </a:rPr>
              <a:t> FK_Pedido_Cliente </a:t>
            </a:r>
            <a:r>
              <a:rPr b="1" lang="en-US" sz="1200" spc="-1" strike="noStrike">
                <a:solidFill>
                  <a:srgbClr val="1d4ed8"/>
                </a:solidFill>
                <a:latin typeface="Consolas"/>
                <a:ea typeface="Consolas"/>
              </a:rPr>
              <a:t>FOREIGN</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KEY</a:t>
            </a:r>
            <a:r>
              <a:rPr b="0" lang="en-US" sz="1200" spc="-1" strike="noStrike">
                <a:solidFill>
                  <a:srgbClr val="1f2933"/>
                </a:solidFill>
                <a:latin typeface="Consolas"/>
                <a:ea typeface="Consolas"/>
              </a:rPr>
              <a:t> (ClienteId)</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REFERENCES</a:t>
            </a:r>
            <a:r>
              <a:rPr b="0" lang="en-US" sz="1200" spc="-1" strike="noStrike">
                <a:solidFill>
                  <a:srgbClr val="1f2933"/>
                </a:solidFill>
                <a:latin typeface="Consolas"/>
                <a:ea typeface="Consolas"/>
              </a:rPr>
              <a:t> dbo.Cliente (ClienteId),</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CONSTRAINT</a:t>
            </a:r>
            <a:r>
              <a:rPr b="0" lang="en-US" sz="1200" spc="-1" strike="noStrike">
                <a:solidFill>
                  <a:srgbClr val="1f2933"/>
                </a:solidFill>
                <a:latin typeface="Consolas"/>
                <a:ea typeface="Consolas"/>
              </a:rPr>
              <a:t> CK_Pedido_Total </a:t>
            </a:r>
            <a:r>
              <a:rPr b="1" lang="en-US" sz="1200" spc="-1" strike="noStrike">
                <a:solidFill>
                  <a:srgbClr val="1d4ed8"/>
                </a:solidFill>
                <a:latin typeface="Consolas"/>
                <a:ea typeface="Consolas"/>
              </a:rPr>
              <a:t>CHECK</a:t>
            </a:r>
            <a:r>
              <a:rPr b="0" lang="en-US" sz="1200" spc="-1" strike="noStrike">
                <a:solidFill>
                  <a:srgbClr val="1f2933"/>
                </a:solidFill>
                <a:latin typeface="Consolas"/>
                <a:ea typeface="Consolas"/>
              </a:rPr>
              <a:t> (Total &gt;= </a:t>
            </a:r>
            <a:r>
              <a:rPr b="0" lang="en-US" sz="1200" spc="-1" strike="noStrike">
                <a:solidFill>
                  <a:srgbClr val="9a3412"/>
                </a:solidFill>
                <a:latin typeface="Consolas"/>
                <a:ea typeface="Consolas"/>
              </a:rPr>
              <a:t>0</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INDEX</a:t>
            </a:r>
            <a:r>
              <a:rPr b="0" lang="en-US" sz="1200" spc="-1" strike="noStrike">
                <a:solidFill>
                  <a:srgbClr val="1f2933"/>
                </a:solidFill>
                <a:latin typeface="Consolas"/>
                <a:ea typeface="Consolas"/>
              </a:rPr>
              <a:t> IX_Pedido_ClienteId </a:t>
            </a:r>
            <a:r>
              <a:rPr b="1" lang="en-US" sz="1200" spc="-1" strike="noStrike">
                <a:solidFill>
                  <a:srgbClr val="1d4ed8"/>
                </a:solidFill>
                <a:latin typeface="Consolas"/>
                <a:ea typeface="Consolas"/>
              </a:rPr>
              <a:t>NONCLUSTERED</a:t>
            </a:r>
            <a:r>
              <a:rPr b="0" lang="en-US" sz="1200" spc="-1" strike="noStrike">
                <a:solidFill>
                  <a:srgbClr val="1f2933"/>
                </a:solidFill>
                <a:latin typeface="Consolas"/>
                <a:ea typeface="Consolas"/>
              </a:rPr>
              <a:t> (ClienteId)</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a:t>
            </a:r>
            <a:endParaRPr b="0" lang="es-ES" sz="1200" spc="-1" strike="noStrike">
              <a:latin typeface="Arial"/>
            </a:endParaRPr>
          </a:p>
        </p:txBody>
      </p:sp>
      <p:sp>
        <p:nvSpPr>
          <p:cNvPr id="605" name="CustomShape 8"/>
          <p:cNvSpPr/>
          <p:nvPr/>
        </p:nvSpPr>
        <p:spPr>
          <a:xfrm>
            <a:off x="7589520" y="1600200"/>
            <a:ext cx="4048200" cy="4569480"/>
          </a:xfrm>
          <a:prstGeom prst="roundRect">
            <a:avLst>
              <a:gd name="adj" fmla="val 2709"/>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606" name="CustomShape 9"/>
          <p:cNvSpPr/>
          <p:nvPr/>
        </p:nvSpPr>
        <p:spPr>
          <a:xfrm>
            <a:off x="7818120" y="1828800"/>
            <a:ext cx="546120" cy="546120"/>
          </a:xfrm>
          <a:prstGeom prst="ellipse">
            <a:avLst/>
          </a:prstGeom>
          <a:solidFill>
            <a:srgbClr val="134074"/>
          </a:solidFill>
          <a:ln>
            <a:noFill/>
          </a:ln>
        </p:spPr>
        <p:style>
          <a:lnRef idx="0"/>
          <a:fillRef idx="0"/>
          <a:effectRef idx="0"/>
          <a:fontRef idx="minor"/>
        </p:style>
      </p:sp>
      <p:pic>
        <p:nvPicPr>
          <p:cNvPr id="607" name="Image 0" descr="preencoded.png"/>
          <p:cNvPicPr/>
          <p:nvPr/>
        </p:nvPicPr>
        <p:blipFill>
          <a:blip r:embed="rId1"/>
          <a:stretch/>
        </p:blipFill>
        <p:spPr>
          <a:xfrm>
            <a:off x="7955280" y="1965960"/>
            <a:ext cx="271800" cy="271800"/>
          </a:xfrm>
          <a:prstGeom prst="rect">
            <a:avLst/>
          </a:prstGeom>
          <a:ln>
            <a:noFill/>
          </a:ln>
        </p:spPr>
      </p:pic>
      <p:sp>
        <p:nvSpPr>
          <p:cNvPr id="608" name="CustomShape 10"/>
          <p:cNvSpPr/>
          <p:nvPr/>
        </p:nvSpPr>
        <p:spPr>
          <a:xfrm>
            <a:off x="8503920" y="1828800"/>
            <a:ext cx="290520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Las cinco restricciones</a:t>
            </a:r>
            <a:endParaRPr b="0" lang="es-ES" sz="1700" spc="-1" strike="noStrike">
              <a:latin typeface="Arial"/>
            </a:endParaRPr>
          </a:p>
        </p:txBody>
      </p:sp>
      <p:sp>
        <p:nvSpPr>
          <p:cNvPr id="609" name="CustomShape 11"/>
          <p:cNvSpPr/>
          <p:nvPr/>
        </p:nvSpPr>
        <p:spPr>
          <a:xfrm>
            <a:off x="7818120" y="2560320"/>
            <a:ext cx="3591000" cy="338076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PK: </a:t>
            </a:r>
            <a:r>
              <a:rPr b="0" lang="en-US" sz="1400" spc="-1" strike="noStrike">
                <a:solidFill>
                  <a:srgbClr val="1f2933"/>
                </a:solidFill>
                <a:latin typeface="Calibri"/>
                <a:ea typeface="Calibri"/>
              </a:rPr>
              <a:t>identifica la fila; crea índice clustered</a:t>
            </a:r>
            <a:endParaRPr b="0" lang="es-ES" sz="1400" spc="-1" strike="noStrike">
              <a:latin typeface="Arial"/>
            </a:endParaRPr>
          </a:p>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FK: </a:t>
            </a:r>
            <a:r>
              <a:rPr b="0" lang="en-US" sz="1400" spc="-1" strike="noStrike">
                <a:solidFill>
                  <a:srgbClr val="1f2933"/>
                </a:solidFill>
                <a:latin typeface="Calibri"/>
                <a:ea typeface="Calibri"/>
              </a:rPr>
              <a:t>integridad referencial; sin índice automático</a:t>
            </a:r>
            <a:endParaRPr b="0" lang="es-ES" sz="1400" spc="-1" strike="noStrike">
              <a:latin typeface="Arial"/>
            </a:endParaRPr>
          </a:p>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UNIQUE: </a:t>
            </a:r>
            <a:r>
              <a:rPr b="0" lang="en-US" sz="1400" spc="-1" strike="noStrike">
                <a:solidFill>
                  <a:srgbClr val="1f2933"/>
                </a:solidFill>
                <a:latin typeface="Calibri"/>
                <a:ea typeface="Calibri"/>
              </a:rPr>
              <a:t>valores no repetidos (índice único)</a:t>
            </a:r>
            <a:endParaRPr b="0" lang="es-ES" sz="1400" spc="-1" strike="noStrike">
              <a:latin typeface="Arial"/>
            </a:endParaRPr>
          </a:p>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CHECK: </a:t>
            </a:r>
            <a:r>
              <a:rPr b="0" lang="en-US" sz="1400" spc="-1" strike="noStrike">
                <a:solidFill>
                  <a:srgbClr val="1f2933"/>
                </a:solidFill>
                <a:latin typeface="Calibri"/>
                <a:ea typeface="Calibri"/>
              </a:rPr>
              <a:t>regla de dominio por fila</a:t>
            </a:r>
            <a:endParaRPr b="0" lang="es-ES" sz="1400" spc="-1" strike="noStrike">
              <a:latin typeface="Arial"/>
            </a:endParaRPr>
          </a:p>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DEFAULT: </a:t>
            </a:r>
            <a:r>
              <a:rPr b="0" lang="en-US" sz="1400" spc="-1" strike="noStrike">
                <a:solidFill>
                  <a:srgbClr val="1f2933"/>
                </a:solidFill>
                <a:latin typeface="Calibri"/>
                <a:ea typeface="Calibri"/>
              </a:rPr>
              <a:t>valor si se omite la columna</a:t>
            </a:r>
            <a:endParaRPr b="0" lang="es-ES" sz="1400" spc="-1" strike="noStrike">
              <a:latin typeface="Arial"/>
            </a:endParaRPr>
          </a:p>
          <a:p>
            <a:pPr marL="203040" indent="-200520">
              <a:lnSpc>
                <a:spcPct val="100000"/>
              </a:lnSpc>
              <a:spcAft>
                <a:spcPts val="400"/>
              </a:spcAft>
              <a:buClr>
                <a:srgbClr val="0b2545"/>
              </a:buClr>
              <a:buFont typeface="Symbol"/>
              <a:buChar char=""/>
            </a:pPr>
            <a:r>
              <a:rPr b="1" lang="en-US" sz="1400" spc="-1" strike="noStrike">
                <a:solidFill>
                  <a:srgbClr val="1f2933"/>
                </a:solidFill>
                <a:latin typeface="Calibri"/>
                <a:ea typeface="Calibri"/>
              </a:rPr>
              <a:t>INDEX</a:t>
            </a:r>
            <a:r>
              <a:rPr b="0" lang="en-US" sz="1400" spc="-1" strike="noStrike">
                <a:solidFill>
                  <a:srgbClr val="1f2933"/>
                </a:solidFill>
                <a:latin typeface="Calibri"/>
                <a:ea typeface="Calibri"/>
              </a:rPr>
              <a:t>: indice de tipo not cluestered sobre columna </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610" name="CustomShape 1"/>
          <p:cNvSpPr/>
          <p:nvPr/>
        </p:nvSpPr>
        <p:spPr>
          <a:xfrm>
            <a:off x="548640" y="365760"/>
            <a:ext cx="184464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BUENAS PRÁCTICAS</a:t>
            </a:r>
            <a:endParaRPr b="0" lang="es-ES" sz="1000" spc="-1" strike="noStrike">
              <a:latin typeface="Arial"/>
            </a:endParaRPr>
          </a:p>
        </p:txBody>
      </p:sp>
      <p:sp>
        <p:nvSpPr>
          <p:cNvPr id="611"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Errores comunes en el diseño DDL</a:t>
            </a:r>
            <a:endParaRPr b="0" lang="es-ES" sz="3400" spc="-1" strike="noStrike">
              <a:latin typeface="Arial"/>
            </a:endParaRPr>
          </a:p>
        </p:txBody>
      </p:sp>
      <p:sp>
        <p:nvSpPr>
          <p:cNvPr id="612"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613"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2   23</a:t>
            </a:r>
            <a:endParaRPr b="0" lang="es-ES" sz="1000" spc="-1" strike="noStrike">
              <a:latin typeface="Arial"/>
            </a:endParaRPr>
          </a:p>
        </p:txBody>
      </p:sp>
      <p:sp>
        <p:nvSpPr>
          <p:cNvPr id="614" name="CustomShape 5"/>
          <p:cNvSpPr/>
          <p:nvPr/>
        </p:nvSpPr>
        <p:spPr>
          <a:xfrm>
            <a:off x="548640" y="1600200"/>
            <a:ext cx="3512880" cy="2146320"/>
          </a:xfrm>
          <a:prstGeom prst="roundRect">
            <a:avLst>
              <a:gd name="adj" fmla="val 51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615" name="CustomShape 6"/>
          <p:cNvSpPr/>
          <p:nvPr/>
        </p:nvSpPr>
        <p:spPr>
          <a:xfrm>
            <a:off x="777240" y="1828800"/>
            <a:ext cx="546120" cy="546120"/>
          </a:xfrm>
          <a:prstGeom prst="ellipse">
            <a:avLst/>
          </a:prstGeom>
          <a:solidFill>
            <a:srgbClr val="134074"/>
          </a:solidFill>
          <a:ln>
            <a:noFill/>
          </a:ln>
        </p:spPr>
        <p:style>
          <a:lnRef idx="0"/>
          <a:fillRef idx="0"/>
          <a:effectRef idx="0"/>
          <a:fontRef idx="minor"/>
        </p:style>
      </p:sp>
      <p:pic>
        <p:nvPicPr>
          <p:cNvPr id="616" name="Image 0" descr="preencoded.png"/>
          <p:cNvPicPr/>
          <p:nvPr/>
        </p:nvPicPr>
        <p:blipFill>
          <a:blip r:embed="rId1"/>
          <a:stretch/>
        </p:blipFill>
        <p:spPr>
          <a:xfrm>
            <a:off x="914400" y="1965960"/>
            <a:ext cx="271800" cy="271800"/>
          </a:xfrm>
          <a:prstGeom prst="rect">
            <a:avLst/>
          </a:prstGeom>
          <a:ln>
            <a:noFill/>
          </a:ln>
        </p:spPr>
      </p:pic>
      <p:sp>
        <p:nvSpPr>
          <p:cNvPr id="617" name="CustomShape 7"/>
          <p:cNvSpPr/>
          <p:nvPr/>
        </p:nvSpPr>
        <p:spPr>
          <a:xfrm>
            <a:off x="1463040" y="1828800"/>
            <a:ext cx="236988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600" spc="-1" strike="noStrike">
                <a:solidFill>
                  <a:srgbClr val="0b2545"/>
                </a:solidFill>
                <a:latin typeface="Calibri"/>
                <a:ea typeface="Calibri"/>
              </a:rPr>
              <a:t>Tabla sin clave primaria</a:t>
            </a:r>
            <a:endParaRPr b="0" lang="es-ES" sz="1600" spc="-1" strike="noStrike">
              <a:latin typeface="Arial"/>
            </a:endParaRPr>
          </a:p>
        </p:txBody>
      </p:sp>
      <p:sp>
        <p:nvSpPr>
          <p:cNvPr id="618" name="CustomShape 8"/>
          <p:cNvSpPr/>
          <p:nvPr/>
        </p:nvSpPr>
        <p:spPr>
          <a:xfrm>
            <a:off x="777240" y="2560320"/>
            <a:ext cx="3055680" cy="957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Un heap sin PK admite duplicados y complica replicación y CDC. Define siempre una PK.</a:t>
            </a:r>
            <a:endParaRPr b="0" lang="es-ES" sz="1400" spc="-1" strike="noStrike">
              <a:latin typeface="Arial"/>
            </a:endParaRPr>
          </a:p>
        </p:txBody>
      </p:sp>
      <p:sp>
        <p:nvSpPr>
          <p:cNvPr id="619" name="CustomShape 9"/>
          <p:cNvSpPr/>
          <p:nvPr/>
        </p:nvSpPr>
        <p:spPr>
          <a:xfrm>
            <a:off x="4338360" y="1600200"/>
            <a:ext cx="3512880" cy="2146320"/>
          </a:xfrm>
          <a:prstGeom prst="roundRect">
            <a:avLst>
              <a:gd name="adj" fmla="val 51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620" name="CustomShape 10"/>
          <p:cNvSpPr/>
          <p:nvPr/>
        </p:nvSpPr>
        <p:spPr>
          <a:xfrm>
            <a:off x="4566960" y="1828800"/>
            <a:ext cx="546120" cy="546120"/>
          </a:xfrm>
          <a:prstGeom prst="ellipse">
            <a:avLst/>
          </a:prstGeom>
          <a:solidFill>
            <a:srgbClr val="134074"/>
          </a:solidFill>
          <a:ln>
            <a:noFill/>
          </a:ln>
        </p:spPr>
        <p:style>
          <a:lnRef idx="0"/>
          <a:fillRef idx="0"/>
          <a:effectRef idx="0"/>
          <a:fontRef idx="minor"/>
        </p:style>
      </p:sp>
      <p:pic>
        <p:nvPicPr>
          <p:cNvPr id="621" name="Image 1" descr="preencoded.png"/>
          <p:cNvPicPr/>
          <p:nvPr/>
        </p:nvPicPr>
        <p:blipFill>
          <a:blip r:embed="rId2"/>
          <a:stretch/>
        </p:blipFill>
        <p:spPr>
          <a:xfrm>
            <a:off x="4704120" y="1965960"/>
            <a:ext cx="271800" cy="271800"/>
          </a:xfrm>
          <a:prstGeom prst="rect">
            <a:avLst/>
          </a:prstGeom>
          <a:ln>
            <a:noFill/>
          </a:ln>
        </p:spPr>
      </p:pic>
      <p:sp>
        <p:nvSpPr>
          <p:cNvPr id="622" name="CustomShape 11"/>
          <p:cNvSpPr/>
          <p:nvPr/>
        </p:nvSpPr>
        <p:spPr>
          <a:xfrm>
            <a:off x="5252760" y="1828800"/>
            <a:ext cx="236988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600" spc="-1" strike="noStrike">
                <a:solidFill>
                  <a:srgbClr val="0b2545"/>
                </a:solidFill>
                <a:latin typeface="Calibri"/>
                <a:ea typeface="Calibri"/>
              </a:rPr>
              <a:t>FK sin índice de apoyo</a:t>
            </a:r>
            <a:endParaRPr b="0" lang="es-ES" sz="1600" spc="-1" strike="noStrike">
              <a:latin typeface="Arial"/>
            </a:endParaRPr>
          </a:p>
        </p:txBody>
      </p:sp>
      <p:sp>
        <p:nvSpPr>
          <p:cNvPr id="623" name="CustomShape 12"/>
          <p:cNvSpPr/>
          <p:nvPr/>
        </p:nvSpPr>
        <p:spPr>
          <a:xfrm>
            <a:off x="4566960" y="2560320"/>
            <a:ext cx="3055680" cy="957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SQL Server no indexa la FK: un DELETE en el padre escanea la tabla hija y bloquea.</a:t>
            </a:r>
            <a:endParaRPr b="0" lang="es-ES" sz="1400" spc="-1" strike="noStrike">
              <a:latin typeface="Arial"/>
            </a:endParaRPr>
          </a:p>
        </p:txBody>
      </p:sp>
      <p:sp>
        <p:nvSpPr>
          <p:cNvPr id="624" name="CustomShape 13"/>
          <p:cNvSpPr/>
          <p:nvPr/>
        </p:nvSpPr>
        <p:spPr>
          <a:xfrm>
            <a:off x="8127720" y="1600200"/>
            <a:ext cx="3512880" cy="2146320"/>
          </a:xfrm>
          <a:prstGeom prst="roundRect">
            <a:avLst>
              <a:gd name="adj" fmla="val 51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625" name="CustomShape 14"/>
          <p:cNvSpPr/>
          <p:nvPr/>
        </p:nvSpPr>
        <p:spPr>
          <a:xfrm>
            <a:off x="8356320" y="1828800"/>
            <a:ext cx="546120" cy="546120"/>
          </a:xfrm>
          <a:prstGeom prst="ellipse">
            <a:avLst/>
          </a:prstGeom>
          <a:solidFill>
            <a:srgbClr val="134074"/>
          </a:solidFill>
          <a:ln>
            <a:noFill/>
          </a:ln>
        </p:spPr>
        <p:style>
          <a:lnRef idx="0"/>
          <a:fillRef idx="0"/>
          <a:effectRef idx="0"/>
          <a:fontRef idx="minor"/>
        </p:style>
      </p:sp>
      <p:pic>
        <p:nvPicPr>
          <p:cNvPr id="626" name="Image 2" descr="preencoded.png"/>
          <p:cNvPicPr/>
          <p:nvPr/>
        </p:nvPicPr>
        <p:blipFill>
          <a:blip r:embed="rId3"/>
          <a:stretch/>
        </p:blipFill>
        <p:spPr>
          <a:xfrm>
            <a:off x="8493480" y="1965960"/>
            <a:ext cx="271800" cy="271800"/>
          </a:xfrm>
          <a:prstGeom prst="rect">
            <a:avLst/>
          </a:prstGeom>
          <a:ln>
            <a:noFill/>
          </a:ln>
        </p:spPr>
      </p:pic>
      <p:sp>
        <p:nvSpPr>
          <p:cNvPr id="627" name="CustomShape 15"/>
          <p:cNvSpPr/>
          <p:nvPr/>
        </p:nvSpPr>
        <p:spPr>
          <a:xfrm>
            <a:off x="9042120" y="1828800"/>
            <a:ext cx="236988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600" spc="-1" strike="noStrike">
                <a:solidFill>
                  <a:srgbClr val="0b2545"/>
                </a:solidFill>
                <a:latin typeface="Calibri"/>
                <a:ea typeface="Calibri"/>
              </a:rPr>
              <a:t>Restricciones WITH NOCHECK</a:t>
            </a:r>
            <a:endParaRPr b="0" lang="es-ES" sz="1600" spc="-1" strike="noStrike">
              <a:latin typeface="Arial"/>
            </a:endParaRPr>
          </a:p>
        </p:txBody>
      </p:sp>
      <p:sp>
        <p:nvSpPr>
          <p:cNvPr id="628" name="CustomShape 16"/>
          <p:cNvSpPr/>
          <p:nvPr/>
        </p:nvSpPr>
        <p:spPr>
          <a:xfrm>
            <a:off x="8356320" y="2560320"/>
            <a:ext cx="3055680" cy="957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Solo aceptado con ALTER TABLE.</a:t>
            </a:r>
            <a:br/>
            <a:r>
              <a:rPr b="0" lang="en-US" sz="1400" spc="-1" strike="noStrike">
                <a:solidFill>
                  <a:srgbClr val="1f2933"/>
                </a:solidFill>
                <a:latin typeface="Calibri"/>
                <a:ea typeface="Calibri"/>
              </a:rPr>
              <a:t>La restricción queda «no confiable» y el optimizador deja de aprovecharla.</a:t>
            </a:r>
            <a:endParaRPr b="0" lang="es-ES" sz="1400" spc="-1" strike="noStrike">
              <a:latin typeface="Arial"/>
            </a:endParaRPr>
          </a:p>
        </p:txBody>
      </p:sp>
      <p:sp>
        <p:nvSpPr>
          <p:cNvPr id="629" name="CustomShape 17"/>
          <p:cNvSpPr/>
          <p:nvPr/>
        </p:nvSpPr>
        <p:spPr>
          <a:xfrm>
            <a:off x="548640" y="4023360"/>
            <a:ext cx="3512880" cy="2146320"/>
          </a:xfrm>
          <a:prstGeom prst="roundRect">
            <a:avLst>
              <a:gd name="adj" fmla="val 51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630" name="CustomShape 18"/>
          <p:cNvSpPr/>
          <p:nvPr/>
        </p:nvSpPr>
        <p:spPr>
          <a:xfrm>
            <a:off x="777240" y="4251960"/>
            <a:ext cx="546120" cy="546120"/>
          </a:xfrm>
          <a:prstGeom prst="ellipse">
            <a:avLst/>
          </a:prstGeom>
          <a:solidFill>
            <a:srgbClr val="134074"/>
          </a:solidFill>
          <a:ln>
            <a:noFill/>
          </a:ln>
        </p:spPr>
        <p:style>
          <a:lnRef idx="0"/>
          <a:fillRef idx="0"/>
          <a:effectRef idx="0"/>
          <a:fontRef idx="minor"/>
        </p:style>
      </p:sp>
      <p:pic>
        <p:nvPicPr>
          <p:cNvPr id="631" name="Image 3" descr="preencoded.png"/>
          <p:cNvPicPr/>
          <p:nvPr/>
        </p:nvPicPr>
        <p:blipFill>
          <a:blip r:embed="rId4"/>
          <a:stretch/>
        </p:blipFill>
        <p:spPr>
          <a:xfrm>
            <a:off x="914400" y="4389120"/>
            <a:ext cx="271800" cy="271800"/>
          </a:xfrm>
          <a:prstGeom prst="rect">
            <a:avLst/>
          </a:prstGeom>
          <a:ln>
            <a:noFill/>
          </a:ln>
        </p:spPr>
      </p:pic>
      <p:sp>
        <p:nvSpPr>
          <p:cNvPr id="632" name="CustomShape 19"/>
          <p:cNvSpPr/>
          <p:nvPr/>
        </p:nvSpPr>
        <p:spPr>
          <a:xfrm>
            <a:off x="1463040" y="4251960"/>
            <a:ext cx="236988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600" spc="-1" strike="noStrike">
                <a:solidFill>
                  <a:srgbClr val="0b2545"/>
                </a:solidFill>
                <a:latin typeface="Calibri"/>
                <a:ea typeface="Calibri"/>
              </a:rPr>
              <a:t>VARCHAR mezclado con NVARCHAR</a:t>
            </a:r>
            <a:endParaRPr b="0" lang="es-ES" sz="1600" spc="-1" strike="noStrike">
              <a:latin typeface="Arial"/>
            </a:endParaRPr>
          </a:p>
        </p:txBody>
      </p:sp>
      <p:sp>
        <p:nvSpPr>
          <p:cNvPr id="633" name="CustomShape 20"/>
          <p:cNvSpPr/>
          <p:nvPr/>
        </p:nvSpPr>
        <p:spPr>
          <a:xfrm>
            <a:off x="777240" y="4983480"/>
            <a:ext cx="3055680" cy="957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La conversión implícita puede impedir un Index Seek y dispara la CPU.</a:t>
            </a:r>
            <a:endParaRPr b="0" lang="es-ES" sz="1400" spc="-1" strike="noStrike">
              <a:latin typeface="Arial"/>
            </a:endParaRPr>
          </a:p>
        </p:txBody>
      </p:sp>
      <p:sp>
        <p:nvSpPr>
          <p:cNvPr id="634" name="CustomShape 21"/>
          <p:cNvSpPr/>
          <p:nvPr/>
        </p:nvSpPr>
        <p:spPr>
          <a:xfrm>
            <a:off x="4338360" y="4023360"/>
            <a:ext cx="3512880" cy="2146320"/>
          </a:xfrm>
          <a:prstGeom prst="roundRect">
            <a:avLst>
              <a:gd name="adj" fmla="val 51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635" name="CustomShape 22"/>
          <p:cNvSpPr/>
          <p:nvPr/>
        </p:nvSpPr>
        <p:spPr>
          <a:xfrm>
            <a:off x="4566960" y="4251960"/>
            <a:ext cx="546120" cy="546120"/>
          </a:xfrm>
          <a:prstGeom prst="ellipse">
            <a:avLst/>
          </a:prstGeom>
          <a:solidFill>
            <a:srgbClr val="134074"/>
          </a:solidFill>
          <a:ln>
            <a:noFill/>
          </a:ln>
        </p:spPr>
        <p:style>
          <a:lnRef idx="0"/>
          <a:fillRef idx="0"/>
          <a:effectRef idx="0"/>
          <a:fontRef idx="minor"/>
        </p:style>
      </p:sp>
      <p:pic>
        <p:nvPicPr>
          <p:cNvPr id="636" name="Image 4" descr="preencoded.png"/>
          <p:cNvPicPr/>
          <p:nvPr/>
        </p:nvPicPr>
        <p:blipFill>
          <a:blip r:embed="rId5"/>
          <a:stretch/>
        </p:blipFill>
        <p:spPr>
          <a:xfrm>
            <a:off x="4704120" y="4389120"/>
            <a:ext cx="271800" cy="271800"/>
          </a:xfrm>
          <a:prstGeom prst="rect">
            <a:avLst/>
          </a:prstGeom>
          <a:ln>
            <a:noFill/>
          </a:ln>
        </p:spPr>
      </p:pic>
      <p:sp>
        <p:nvSpPr>
          <p:cNvPr id="637" name="CustomShape 23"/>
          <p:cNvSpPr/>
          <p:nvPr/>
        </p:nvSpPr>
        <p:spPr>
          <a:xfrm>
            <a:off x="5252760" y="4251960"/>
            <a:ext cx="236988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600" spc="-1" strike="noStrike">
                <a:solidFill>
                  <a:srgbClr val="0b2545"/>
                </a:solidFill>
                <a:latin typeface="Calibri"/>
                <a:ea typeface="Calibri"/>
              </a:rPr>
              <a:t>GUID aleatorio como clustered</a:t>
            </a:r>
            <a:endParaRPr b="0" lang="es-ES" sz="1600" spc="-1" strike="noStrike">
              <a:latin typeface="Arial"/>
            </a:endParaRPr>
          </a:p>
        </p:txBody>
      </p:sp>
      <p:sp>
        <p:nvSpPr>
          <p:cNvPr id="638" name="CustomShape 24"/>
          <p:cNvSpPr/>
          <p:nvPr/>
        </p:nvSpPr>
        <p:spPr>
          <a:xfrm>
            <a:off x="4566960" y="4983480"/>
            <a:ext cx="3055680" cy="957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NEWID() fragmenta el índice con Page Splits. Prefiere IDENTITY o NEWSEQUENTIALID().</a:t>
            </a:r>
            <a:endParaRPr b="0" lang="es-ES" sz="1400" spc="-1" strike="noStrike">
              <a:latin typeface="Arial"/>
            </a:endParaRPr>
          </a:p>
        </p:txBody>
      </p:sp>
      <p:sp>
        <p:nvSpPr>
          <p:cNvPr id="639" name="CustomShape 25"/>
          <p:cNvSpPr/>
          <p:nvPr/>
        </p:nvSpPr>
        <p:spPr>
          <a:xfrm>
            <a:off x="8127720" y="4023360"/>
            <a:ext cx="3512880" cy="2146320"/>
          </a:xfrm>
          <a:prstGeom prst="roundRect">
            <a:avLst>
              <a:gd name="adj" fmla="val 51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640" name="CustomShape 26"/>
          <p:cNvSpPr/>
          <p:nvPr/>
        </p:nvSpPr>
        <p:spPr>
          <a:xfrm>
            <a:off x="8356320" y="4251960"/>
            <a:ext cx="546120" cy="546120"/>
          </a:xfrm>
          <a:prstGeom prst="ellipse">
            <a:avLst/>
          </a:prstGeom>
          <a:solidFill>
            <a:srgbClr val="134074"/>
          </a:solidFill>
          <a:ln>
            <a:noFill/>
          </a:ln>
        </p:spPr>
        <p:style>
          <a:lnRef idx="0"/>
          <a:fillRef idx="0"/>
          <a:effectRef idx="0"/>
          <a:fontRef idx="minor"/>
        </p:style>
      </p:sp>
      <p:pic>
        <p:nvPicPr>
          <p:cNvPr id="641" name="Image 5" descr="preencoded.png"/>
          <p:cNvPicPr/>
          <p:nvPr/>
        </p:nvPicPr>
        <p:blipFill>
          <a:blip r:embed="rId6"/>
          <a:stretch/>
        </p:blipFill>
        <p:spPr>
          <a:xfrm>
            <a:off x="8493480" y="4389120"/>
            <a:ext cx="271800" cy="271800"/>
          </a:xfrm>
          <a:prstGeom prst="rect">
            <a:avLst/>
          </a:prstGeom>
          <a:ln>
            <a:noFill/>
          </a:ln>
        </p:spPr>
      </p:pic>
      <p:sp>
        <p:nvSpPr>
          <p:cNvPr id="642" name="CustomShape 27"/>
          <p:cNvSpPr/>
          <p:nvPr/>
        </p:nvSpPr>
        <p:spPr>
          <a:xfrm>
            <a:off x="9042120" y="4251960"/>
            <a:ext cx="236988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600" spc="-1" strike="noStrike">
                <a:solidFill>
                  <a:srgbClr val="0b2545"/>
                </a:solidFill>
                <a:latin typeface="Calibri"/>
                <a:ea typeface="Calibri"/>
              </a:rPr>
              <a:t>Tipos sobredimensionados</a:t>
            </a:r>
            <a:endParaRPr b="0" lang="es-ES" sz="1600" spc="-1" strike="noStrike">
              <a:latin typeface="Arial"/>
            </a:endParaRPr>
          </a:p>
        </p:txBody>
      </p:sp>
      <p:sp>
        <p:nvSpPr>
          <p:cNvPr id="643" name="CustomShape 28"/>
          <p:cNvSpPr/>
          <p:nvPr/>
        </p:nvSpPr>
        <p:spPr>
          <a:xfrm>
            <a:off x="8356320" y="4983480"/>
            <a:ext cx="3055680" cy="957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Más páginas, más I/O y más memoria en el Buffer Pool para el mismo dato.</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644"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VISTAS</a:t>
            </a:r>
            <a:endParaRPr b="0" lang="es-ES" sz="1000" spc="-1" strike="noStrike">
              <a:latin typeface="Arial"/>
            </a:endParaRPr>
          </a:p>
        </p:txBody>
      </p:sp>
      <p:sp>
        <p:nvSpPr>
          <p:cNvPr id="645"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Vistas estándar frente a vistas indexadas</a:t>
            </a:r>
            <a:endParaRPr b="0" lang="es-ES" sz="3400" spc="-1" strike="noStrike">
              <a:latin typeface="Arial"/>
            </a:endParaRPr>
          </a:p>
        </p:txBody>
      </p:sp>
      <p:sp>
        <p:nvSpPr>
          <p:cNvPr id="646"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647"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2   24</a:t>
            </a:r>
            <a:endParaRPr b="0" lang="es-ES" sz="1000" spc="-1" strike="noStrike">
              <a:latin typeface="Arial"/>
            </a:endParaRPr>
          </a:p>
        </p:txBody>
      </p:sp>
      <p:sp>
        <p:nvSpPr>
          <p:cNvPr id="648" name="CustomShape 5"/>
          <p:cNvSpPr/>
          <p:nvPr/>
        </p:nvSpPr>
        <p:spPr>
          <a:xfrm>
            <a:off x="548640" y="1600200"/>
            <a:ext cx="5392440" cy="2923560"/>
          </a:xfrm>
          <a:prstGeom prst="roundRect">
            <a:avLst>
              <a:gd name="adj" fmla="val 375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649" name="CustomShape 6"/>
          <p:cNvSpPr/>
          <p:nvPr/>
        </p:nvSpPr>
        <p:spPr>
          <a:xfrm>
            <a:off x="777240" y="1828800"/>
            <a:ext cx="546120" cy="546120"/>
          </a:xfrm>
          <a:prstGeom prst="ellipse">
            <a:avLst/>
          </a:prstGeom>
          <a:solidFill>
            <a:srgbClr val="134074"/>
          </a:solidFill>
          <a:ln>
            <a:noFill/>
          </a:ln>
        </p:spPr>
        <p:style>
          <a:lnRef idx="0"/>
          <a:fillRef idx="0"/>
          <a:effectRef idx="0"/>
          <a:fontRef idx="minor"/>
        </p:style>
      </p:sp>
      <p:pic>
        <p:nvPicPr>
          <p:cNvPr id="650" name="Image 0" descr="preencoded.png"/>
          <p:cNvPicPr/>
          <p:nvPr/>
        </p:nvPicPr>
        <p:blipFill>
          <a:blip r:embed="rId1"/>
          <a:stretch/>
        </p:blipFill>
        <p:spPr>
          <a:xfrm>
            <a:off x="914400" y="1965960"/>
            <a:ext cx="271800" cy="271800"/>
          </a:xfrm>
          <a:prstGeom prst="rect">
            <a:avLst/>
          </a:prstGeom>
          <a:ln>
            <a:noFill/>
          </a:ln>
        </p:spPr>
      </p:pic>
      <p:sp>
        <p:nvSpPr>
          <p:cNvPr id="651" name="CustomShape 7"/>
          <p:cNvSpPr/>
          <p:nvPr/>
        </p:nvSpPr>
        <p:spPr>
          <a:xfrm>
            <a:off x="1463040" y="1828800"/>
            <a:ext cx="424944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Vista estándar</a:t>
            </a:r>
            <a:endParaRPr b="0" lang="es-ES" sz="1700" spc="-1" strike="noStrike">
              <a:latin typeface="Arial"/>
            </a:endParaRPr>
          </a:p>
        </p:txBody>
      </p:sp>
      <p:sp>
        <p:nvSpPr>
          <p:cNvPr id="652" name="CustomShape 8"/>
          <p:cNvSpPr/>
          <p:nvPr/>
        </p:nvSpPr>
        <p:spPr>
          <a:xfrm>
            <a:off x="777240" y="2560320"/>
            <a:ext cx="4935240" cy="173484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Consulta guardada, sin datos propios</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Se expande dentro de la consulta externa</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Simplifica joins y centraliza permisos</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Coste = el de la consulta subyacente</a:t>
            </a:r>
            <a:endParaRPr b="0" lang="es-ES" sz="1400" spc="-1" strike="noStrike">
              <a:latin typeface="Arial"/>
            </a:endParaRPr>
          </a:p>
        </p:txBody>
      </p:sp>
      <p:sp>
        <p:nvSpPr>
          <p:cNvPr id="653" name="CustomShape 9"/>
          <p:cNvSpPr/>
          <p:nvPr/>
        </p:nvSpPr>
        <p:spPr>
          <a:xfrm>
            <a:off x="6245280" y="1600200"/>
            <a:ext cx="5392440" cy="2923560"/>
          </a:xfrm>
          <a:prstGeom prst="roundRect">
            <a:avLst>
              <a:gd name="adj" fmla="val 3750"/>
            </a:avLst>
          </a:prstGeom>
          <a:solidFill>
            <a:srgbClr val="134074"/>
          </a:solidFill>
          <a:ln>
            <a:noFill/>
          </a:ln>
        </p:spPr>
        <p:style>
          <a:lnRef idx="0"/>
          <a:fillRef idx="0"/>
          <a:effectRef idx="0"/>
          <a:fontRef idx="minor"/>
        </p:style>
      </p:sp>
      <p:sp>
        <p:nvSpPr>
          <p:cNvPr id="654" name="CustomShape 10"/>
          <p:cNvSpPr/>
          <p:nvPr/>
        </p:nvSpPr>
        <p:spPr>
          <a:xfrm>
            <a:off x="6473880" y="1828800"/>
            <a:ext cx="546120" cy="546120"/>
          </a:xfrm>
          <a:prstGeom prst="ellipse">
            <a:avLst/>
          </a:prstGeom>
          <a:solidFill>
            <a:srgbClr val="d95d39"/>
          </a:solidFill>
          <a:ln>
            <a:noFill/>
          </a:ln>
        </p:spPr>
        <p:style>
          <a:lnRef idx="0"/>
          <a:fillRef idx="0"/>
          <a:effectRef idx="0"/>
          <a:fontRef idx="minor"/>
        </p:style>
      </p:sp>
      <p:pic>
        <p:nvPicPr>
          <p:cNvPr id="655" name="Image 1" descr="preencoded.png"/>
          <p:cNvPicPr/>
          <p:nvPr/>
        </p:nvPicPr>
        <p:blipFill>
          <a:blip r:embed="rId2"/>
          <a:stretch/>
        </p:blipFill>
        <p:spPr>
          <a:xfrm>
            <a:off x="6611040" y="1965960"/>
            <a:ext cx="271800" cy="271800"/>
          </a:xfrm>
          <a:prstGeom prst="rect">
            <a:avLst/>
          </a:prstGeom>
          <a:ln>
            <a:noFill/>
          </a:ln>
        </p:spPr>
      </p:pic>
      <p:sp>
        <p:nvSpPr>
          <p:cNvPr id="656" name="CustomShape 11"/>
          <p:cNvSpPr/>
          <p:nvPr/>
        </p:nvSpPr>
        <p:spPr>
          <a:xfrm>
            <a:off x="7159680" y="1828800"/>
            <a:ext cx="424944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ffffff"/>
                </a:solidFill>
                <a:latin typeface="Calibri"/>
                <a:ea typeface="Calibri"/>
              </a:rPr>
              <a:t>Vista indexada</a:t>
            </a:r>
            <a:endParaRPr b="0" lang="es-ES" sz="1700" spc="-1" strike="noStrike">
              <a:latin typeface="Arial"/>
            </a:endParaRPr>
          </a:p>
        </p:txBody>
      </p:sp>
      <p:sp>
        <p:nvSpPr>
          <p:cNvPr id="657" name="CustomShape 12"/>
          <p:cNvSpPr/>
          <p:nvPr/>
        </p:nvSpPr>
        <p:spPr>
          <a:xfrm>
            <a:off x="6473880" y="2560320"/>
            <a:ext cx="4935240" cy="173484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e6eef8"/>
              </a:buClr>
              <a:buFont typeface="Symbol"/>
              <a:buChar char=""/>
            </a:pPr>
            <a:r>
              <a:rPr b="0" lang="en-US" sz="1400" spc="-1" strike="noStrike">
                <a:solidFill>
                  <a:srgbClr val="e6eef8"/>
                </a:solidFill>
                <a:latin typeface="Calibri"/>
                <a:ea typeface="Calibri"/>
              </a:rPr>
              <a:t>Resultado materializado en un índice</a:t>
            </a:r>
            <a:endParaRPr b="0" lang="es-ES" sz="1400" spc="-1" strike="noStrike">
              <a:latin typeface="Arial"/>
            </a:endParaRPr>
          </a:p>
          <a:p>
            <a:pPr marL="203040" indent="-200520">
              <a:lnSpc>
                <a:spcPct val="100000"/>
              </a:lnSpc>
              <a:spcAft>
                <a:spcPts val="400"/>
              </a:spcAft>
              <a:buClr>
                <a:srgbClr val="e6eef8"/>
              </a:buClr>
              <a:buFont typeface="Symbol"/>
              <a:buChar char=""/>
            </a:pPr>
            <a:r>
              <a:rPr b="0" lang="en-US" sz="1400" spc="-1" strike="noStrike">
                <a:solidFill>
                  <a:srgbClr val="e6eef8"/>
                </a:solidFill>
                <a:latin typeface="Calibri"/>
                <a:ea typeface="Calibri"/>
              </a:rPr>
              <a:t>Se mantiene en cada INSERT, UPDATE y DELETE</a:t>
            </a:r>
            <a:endParaRPr b="0" lang="es-ES" sz="1400" spc="-1" strike="noStrike">
              <a:latin typeface="Arial"/>
            </a:endParaRPr>
          </a:p>
          <a:p>
            <a:pPr marL="203040" indent="-200520">
              <a:lnSpc>
                <a:spcPct val="100000"/>
              </a:lnSpc>
              <a:spcAft>
                <a:spcPts val="400"/>
              </a:spcAft>
              <a:buClr>
                <a:srgbClr val="e6eef8"/>
              </a:buClr>
              <a:buFont typeface="Symbol"/>
              <a:buChar char=""/>
            </a:pPr>
            <a:r>
              <a:rPr b="0" lang="en-US" sz="1400" spc="-1" strike="noStrike">
                <a:solidFill>
                  <a:srgbClr val="e6eef8"/>
                </a:solidFill>
                <a:latin typeface="Calibri"/>
                <a:ea typeface="Calibri"/>
              </a:rPr>
              <a:t>Acelera agregaciones repetitivas</a:t>
            </a:r>
            <a:endParaRPr b="0" lang="es-ES" sz="1400" spc="-1" strike="noStrike">
              <a:latin typeface="Arial"/>
            </a:endParaRPr>
          </a:p>
          <a:p>
            <a:pPr marL="203040" indent="-200520">
              <a:lnSpc>
                <a:spcPct val="100000"/>
              </a:lnSpc>
              <a:spcAft>
                <a:spcPts val="400"/>
              </a:spcAft>
              <a:buClr>
                <a:srgbClr val="e6eef8"/>
              </a:buClr>
              <a:buFont typeface="Symbol"/>
              <a:buChar char=""/>
            </a:pPr>
            <a:r>
              <a:rPr b="0" lang="en-US" sz="1400" spc="-1" strike="noStrike">
                <a:solidFill>
                  <a:srgbClr val="e6eef8"/>
                </a:solidFill>
                <a:latin typeface="Calibri"/>
                <a:ea typeface="Calibri"/>
              </a:rPr>
              <a:t>Exige SCHEMABINDING y penaliza escrituras</a:t>
            </a:r>
            <a:endParaRPr b="0" lang="es-ES" sz="1400" spc="-1" strike="noStrike">
              <a:latin typeface="Arial"/>
            </a:endParaRPr>
          </a:p>
        </p:txBody>
      </p:sp>
      <p:sp>
        <p:nvSpPr>
          <p:cNvPr id="658" name="CustomShape 13"/>
          <p:cNvSpPr/>
          <p:nvPr/>
        </p:nvSpPr>
        <p:spPr>
          <a:xfrm>
            <a:off x="548640" y="4800600"/>
            <a:ext cx="11089080" cy="1369080"/>
          </a:xfrm>
          <a:prstGeom prst="roundRect">
            <a:avLst>
              <a:gd name="adj" fmla="val 6667"/>
            </a:avLst>
          </a:prstGeom>
          <a:solidFill>
            <a:srgbClr val="eceff3"/>
          </a:solidFill>
          <a:ln w="9360">
            <a:solidFill>
              <a:srgbClr val="d0d7de"/>
            </a:solidFill>
            <a:round/>
          </a:ln>
        </p:spPr>
        <p:style>
          <a:lnRef idx="0"/>
          <a:fillRef idx="0"/>
          <a:effectRef idx="0"/>
          <a:fontRef idx="minor"/>
        </p:style>
      </p:sp>
      <p:sp>
        <p:nvSpPr>
          <p:cNvPr id="659" name="CustomShape 14"/>
          <p:cNvSpPr/>
          <p:nvPr/>
        </p:nvSpPr>
        <p:spPr>
          <a:xfrm>
            <a:off x="731520" y="48920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vista estándar</a:t>
            </a:r>
            <a:endParaRPr b="0" lang="es-ES" sz="1000" spc="-1" strike="noStrike">
              <a:latin typeface="Arial"/>
            </a:endParaRPr>
          </a:p>
        </p:txBody>
      </p:sp>
      <p:sp>
        <p:nvSpPr>
          <p:cNvPr id="660" name="CustomShape 15"/>
          <p:cNvSpPr/>
          <p:nvPr/>
        </p:nvSpPr>
        <p:spPr>
          <a:xfrm>
            <a:off x="731520" y="5166360"/>
            <a:ext cx="10723320" cy="91188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CREATE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VIEW</a:t>
            </a:r>
            <a:r>
              <a:rPr b="0" lang="en-US" sz="1200" spc="-1" strike="noStrike">
                <a:solidFill>
                  <a:srgbClr val="1f2933"/>
                </a:solidFill>
                <a:latin typeface="Consolas"/>
                <a:ea typeface="Consolas"/>
              </a:rPr>
              <a:t> dbo.vPedidoCliente </a:t>
            </a:r>
            <a:r>
              <a:rPr b="1" lang="en-US" sz="1200" spc="-1" strike="noStrike">
                <a:solidFill>
                  <a:srgbClr val="1d4ed8"/>
                </a:solidFill>
                <a:latin typeface="Consolas"/>
                <a:ea typeface="Consolas"/>
              </a:rPr>
              <a:t>AS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c.ClienteId, c.Nombre, p.PedidoId, p.Fecha, p.Total</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dbo.Cliente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c </a:t>
            </a:r>
            <a:r>
              <a:rPr b="1" lang="en-US" sz="1200" spc="-1" strike="noStrike">
                <a:solidFill>
                  <a:srgbClr val="1d4ed8"/>
                </a:solidFill>
                <a:latin typeface="Consolas"/>
                <a:ea typeface="Consolas"/>
              </a:rPr>
              <a:t>JOIN</a:t>
            </a:r>
            <a:r>
              <a:rPr b="0" lang="en-US" sz="1200" spc="-1" strike="noStrike">
                <a:solidFill>
                  <a:srgbClr val="1f2933"/>
                </a:solidFill>
                <a:latin typeface="Consolas"/>
                <a:ea typeface="Consolas"/>
              </a:rPr>
              <a:t> dbo.Pedido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p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 p.ClienteId = c.ClienteId;</a:t>
            </a:r>
            <a:endParaRPr b="0" lang="es-ES" sz="1200" spc="-1" strike="noStrike">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661"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VISTAS</a:t>
            </a:r>
            <a:endParaRPr b="0" lang="es-ES" sz="1000" spc="-1" strike="noStrike">
              <a:latin typeface="Arial"/>
            </a:endParaRPr>
          </a:p>
        </p:txBody>
      </p:sp>
      <p:sp>
        <p:nvSpPr>
          <p:cNvPr id="662"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Vistas indexadas: SCHEMABINDING y requisitos</a:t>
            </a:r>
            <a:endParaRPr b="0" lang="es-ES" sz="3400" spc="-1" strike="noStrike">
              <a:latin typeface="Arial"/>
            </a:endParaRPr>
          </a:p>
        </p:txBody>
      </p:sp>
      <p:sp>
        <p:nvSpPr>
          <p:cNvPr id="663"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664"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2   25</a:t>
            </a:r>
            <a:endParaRPr b="0" lang="es-ES" sz="1000" spc="-1" strike="noStrike">
              <a:latin typeface="Arial"/>
            </a:endParaRPr>
          </a:p>
        </p:txBody>
      </p:sp>
      <p:sp>
        <p:nvSpPr>
          <p:cNvPr id="665" name="CustomShape 5"/>
          <p:cNvSpPr/>
          <p:nvPr/>
        </p:nvSpPr>
        <p:spPr>
          <a:xfrm>
            <a:off x="548640" y="1600200"/>
            <a:ext cx="6306840" cy="3426480"/>
          </a:xfrm>
          <a:prstGeom prst="roundRect">
            <a:avLst>
              <a:gd name="adj" fmla="val 2667"/>
            </a:avLst>
          </a:prstGeom>
          <a:solidFill>
            <a:srgbClr val="eceff3"/>
          </a:solidFill>
          <a:ln w="9360">
            <a:solidFill>
              <a:srgbClr val="d0d7de"/>
            </a:solidFill>
            <a:round/>
          </a:ln>
        </p:spPr>
        <p:style>
          <a:lnRef idx="0"/>
          <a:fillRef idx="0"/>
          <a:effectRef idx="0"/>
          <a:fontRef idx="minor"/>
        </p:style>
      </p:sp>
      <p:sp>
        <p:nvSpPr>
          <p:cNvPr id="666" name="CustomShape 6"/>
          <p:cNvSpPr/>
          <p:nvPr/>
        </p:nvSpPr>
        <p:spPr>
          <a:xfrm>
            <a:off x="73152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vista indexada</a:t>
            </a:r>
            <a:endParaRPr b="0" lang="es-ES" sz="1000" spc="-1" strike="noStrike">
              <a:latin typeface="Arial"/>
            </a:endParaRPr>
          </a:p>
        </p:txBody>
      </p:sp>
      <p:sp>
        <p:nvSpPr>
          <p:cNvPr id="667" name="CustomShape 7"/>
          <p:cNvSpPr/>
          <p:nvPr/>
        </p:nvSpPr>
        <p:spPr>
          <a:xfrm>
            <a:off x="731520" y="1965960"/>
            <a:ext cx="5941080" cy="296928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300" spc="-1" strike="noStrike">
                <a:solidFill>
                  <a:srgbClr val="1d4ed8"/>
                </a:solidFill>
                <a:latin typeface="Consolas"/>
                <a:ea typeface="Consolas"/>
              </a:rPr>
              <a:t>CREATE</a:t>
            </a: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VIEW</a:t>
            </a:r>
            <a:r>
              <a:rPr b="0" lang="en-US" sz="1300" spc="-1" strike="noStrike">
                <a:solidFill>
                  <a:srgbClr val="1f2933"/>
                </a:solidFill>
                <a:latin typeface="Consolas"/>
                <a:ea typeface="Consolas"/>
              </a:rPr>
              <a:t> dbo.vVentasCliente</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WITH</a:t>
            </a:r>
            <a:r>
              <a:rPr b="0" lang="en-US" sz="1300" spc="-1" strike="noStrike">
                <a:solidFill>
                  <a:srgbClr val="1f2933"/>
                </a:solidFill>
                <a:latin typeface="Consolas"/>
                <a:ea typeface="Consolas"/>
              </a:rPr>
              <a:t> SCHEMABINDING</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AS</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SELECT</a:t>
            </a:r>
            <a:r>
              <a:rPr b="0" lang="en-US" sz="1300" spc="-1" strike="noStrike">
                <a:solidFill>
                  <a:srgbClr val="1f2933"/>
                </a:solidFill>
                <a:latin typeface="Consolas"/>
                <a:ea typeface="Consolas"/>
              </a:rPr>
              <a:t>  p.ClienteId,</a:t>
            </a:r>
            <a:endParaRPr b="0" lang="es-ES" sz="1300" spc="-1" strike="noStrike">
              <a:latin typeface="Arial"/>
            </a:endParaRPr>
          </a:p>
          <a:p>
            <a:pPr>
              <a:lnSpc>
                <a:spcPct val="100000"/>
              </a:lnSpc>
              <a:tabLst>
                <a:tab algn="l" pos="0"/>
              </a:tabLst>
            </a:pPr>
            <a:r>
              <a:rPr b="0" lang="en-US" sz="1300" spc="-1" strike="noStrike">
                <a:solidFill>
                  <a:srgbClr val="1f2933"/>
                </a:solidFill>
                <a:latin typeface="Consolas"/>
                <a:ea typeface="Consolas"/>
              </a:rPr>
              <a:t>        </a:t>
            </a:r>
            <a:r>
              <a:rPr b="0" lang="en-US" sz="1300" spc="-1" strike="noStrike">
                <a:solidFill>
                  <a:srgbClr val="1f2933"/>
                </a:solidFill>
                <a:latin typeface="Consolas"/>
                <a:ea typeface="Consolas"/>
              </a:rPr>
              <a:t>COUNT_BIG(*)  </a:t>
            </a:r>
            <a:r>
              <a:rPr b="1" lang="en-US" sz="1300" spc="-1" strike="noStrike">
                <a:solidFill>
                  <a:srgbClr val="1d4ed8"/>
                </a:solidFill>
                <a:latin typeface="Consolas"/>
                <a:ea typeface="Consolas"/>
              </a:rPr>
              <a:t>AS</a:t>
            </a:r>
            <a:r>
              <a:rPr b="0" lang="en-US" sz="1300" spc="-1" strike="noStrike">
                <a:solidFill>
                  <a:srgbClr val="1f2933"/>
                </a:solidFill>
                <a:latin typeface="Consolas"/>
                <a:ea typeface="Consolas"/>
              </a:rPr>
              <a:t> NumPedidos,</a:t>
            </a:r>
            <a:endParaRPr b="0" lang="es-ES" sz="1300" spc="-1" strike="noStrike">
              <a:latin typeface="Arial"/>
            </a:endParaRPr>
          </a:p>
          <a:p>
            <a:pPr>
              <a:lnSpc>
                <a:spcPct val="100000"/>
              </a:lnSpc>
              <a:tabLst>
                <a:tab algn="l" pos="0"/>
              </a:tabLst>
            </a:pPr>
            <a:r>
              <a:rPr b="0" lang="en-US" sz="1300" spc="-1" strike="noStrike">
                <a:solidFill>
                  <a:srgbClr val="1f2933"/>
                </a:solidFill>
                <a:latin typeface="Consolas"/>
                <a:ea typeface="Consolas"/>
              </a:rPr>
              <a:t>        </a:t>
            </a:r>
            <a:r>
              <a:rPr b="0" lang="en-US" sz="1300" spc="-1" strike="noStrike">
                <a:solidFill>
                  <a:srgbClr val="1f2933"/>
                </a:solidFill>
                <a:latin typeface="Consolas"/>
                <a:ea typeface="Consolas"/>
              </a:rPr>
              <a:t>SUM(p.Total)  </a:t>
            </a:r>
            <a:r>
              <a:rPr b="1" lang="en-US" sz="1300" spc="-1" strike="noStrike">
                <a:solidFill>
                  <a:srgbClr val="1d4ed8"/>
                </a:solidFill>
                <a:latin typeface="Consolas"/>
                <a:ea typeface="Consolas"/>
              </a:rPr>
              <a:t>AS</a:t>
            </a:r>
            <a:r>
              <a:rPr b="0" lang="en-US" sz="1300" spc="-1" strike="noStrike">
                <a:solidFill>
                  <a:srgbClr val="1f2933"/>
                </a:solidFill>
                <a:latin typeface="Consolas"/>
                <a:ea typeface="Consolas"/>
              </a:rPr>
              <a:t> TotalVentas</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FROM</a:t>
            </a:r>
            <a:r>
              <a:rPr b="0" lang="en-US" sz="1300" spc="-1" strike="noStrike">
                <a:solidFill>
                  <a:srgbClr val="1f2933"/>
                </a:solidFill>
                <a:latin typeface="Consolas"/>
                <a:ea typeface="Consolas"/>
              </a:rPr>
              <a:t>    dbo.Pedido </a:t>
            </a:r>
            <a:r>
              <a:rPr b="1" lang="en-US" sz="1300" spc="-1" strike="noStrike">
                <a:solidFill>
                  <a:srgbClr val="1d4ed8"/>
                </a:solidFill>
                <a:latin typeface="Consolas"/>
                <a:ea typeface="Consolas"/>
              </a:rPr>
              <a:t>AS</a:t>
            </a:r>
            <a:r>
              <a:rPr b="0" lang="en-US" sz="1300" spc="-1" strike="noStrike">
                <a:solidFill>
                  <a:srgbClr val="1f2933"/>
                </a:solidFill>
                <a:latin typeface="Consolas"/>
                <a:ea typeface="Consolas"/>
              </a:rPr>
              <a:t> p</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GROUP</a:t>
            </a: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BY</a:t>
            </a:r>
            <a:r>
              <a:rPr b="0" lang="en-US" sz="1300" spc="-1" strike="noStrike">
                <a:solidFill>
                  <a:srgbClr val="1f2933"/>
                </a:solidFill>
                <a:latin typeface="Consolas"/>
                <a:ea typeface="Consolas"/>
              </a:rPr>
              <a:t> p.ClienteId;</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GO</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CREATE</a:t>
            </a: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UNIQUE</a:t>
            </a: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CLUSTERED</a:t>
            </a: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INDEX</a:t>
            </a:r>
            <a:r>
              <a:rPr b="0" lang="en-US" sz="1300" spc="-1" strike="noStrike">
                <a:solidFill>
                  <a:srgbClr val="1f2933"/>
                </a:solidFill>
                <a:latin typeface="Consolas"/>
                <a:ea typeface="Consolas"/>
              </a:rPr>
              <a:t> IX_vVentasCliente</a:t>
            </a:r>
            <a:endParaRPr b="0" lang="es-ES" sz="1300" spc="-1" strike="noStrike">
              <a:latin typeface="Arial"/>
            </a:endParaRPr>
          </a:p>
          <a:p>
            <a:pPr>
              <a:lnSpc>
                <a:spcPct val="100000"/>
              </a:lnSpc>
              <a:tabLst>
                <a:tab algn="l" pos="0"/>
              </a:tabLst>
            </a:pP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ON</a:t>
            </a:r>
            <a:r>
              <a:rPr b="0" lang="en-US" sz="1300" spc="-1" strike="noStrike">
                <a:solidFill>
                  <a:srgbClr val="1f2933"/>
                </a:solidFill>
                <a:latin typeface="Consolas"/>
                <a:ea typeface="Consolas"/>
              </a:rPr>
              <a:t> dbo.vVentasCliente (ClienteId);</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GO</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SELECT</a:t>
            </a:r>
            <a:r>
              <a:rPr b="0" lang="en-US" sz="1300" spc="-1" strike="noStrike">
                <a:solidFill>
                  <a:srgbClr val="1f2933"/>
                </a:solidFill>
                <a:latin typeface="Consolas"/>
                <a:ea typeface="Consolas"/>
              </a:rPr>
              <a:t> * </a:t>
            </a:r>
            <a:r>
              <a:rPr b="1" lang="en-US" sz="1300" spc="-1" strike="noStrike">
                <a:solidFill>
                  <a:srgbClr val="1d4ed8"/>
                </a:solidFill>
                <a:latin typeface="Consolas"/>
                <a:ea typeface="Consolas"/>
              </a:rPr>
              <a:t>FROM</a:t>
            </a:r>
            <a:r>
              <a:rPr b="0" lang="en-US" sz="1300" spc="-1" strike="noStrike">
                <a:solidFill>
                  <a:srgbClr val="1f2933"/>
                </a:solidFill>
                <a:latin typeface="Consolas"/>
                <a:ea typeface="Consolas"/>
              </a:rPr>
              <a:t> dbo.vVentasCliente </a:t>
            </a:r>
            <a:r>
              <a:rPr b="1" lang="en-US" sz="1300" spc="-1" strike="noStrike">
                <a:solidFill>
                  <a:srgbClr val="1d4ed8"/>
                </a:solidFill>
                <a:latin typeface="Consolas"/>
                <a:ea typeface="Consolas"/>
              </a:rPr>
              <a:t>WITH</a:t>
            </a:r>
            <a:r>
              <a:rPr b="0" lang="en-US" sz="1300" spc="-1" strike="noStrike">
                <a:solidFill>
                  <a:srgbClr val="1f2933"/>
                </a:solidFill>
                <a:latin typeface="Consolas"/>
                <a:ea typeface="Consolas"/>
              </a:rPr>
              <a:t> (NOEXPAND);</a:t>
            </a:r>
            <a:endParaRPr b="0" lang="es-ES" sz="1300" spc="-1" strike="noStrike">
              <a:latin typeface="Arial"/>
            </a:endParaRPr>
          </a:p>
        </p:txBody>
      </p:sp>
      <p:sp>
        <p:nvSpPr>
          <p:cNvPr id="668" name="CustomShape 8"/>
          <p:cNvSpPr/>
          <p:nvPr/>
        </p:nvSpPr>
        <p:spPr>
          <a:xfrm>
            <a:off x="548640" y="5303520"/>
            <a:ext cx="6306840" cy="866160"/>
          </a:xfrm>
          <a:prstGeom prst="roundRect">
            <a:avLst>
              <a:gd name="adj" fmla="val 12632"/>
            </a:avLst>
          </a:prstGeom>
          <a:solidFill>
            <a:srgbClr val="fdede8"/>
          </a:solidFill>
          <a:ln>
            <a:noFill/>
          </a:ln>
        </p:spPr>
        <p:style>
          <a:lnRef idx="0"/>
          <a:fillRef idx="0"/>
          <a:effectRef idx="0"/>
          <a:fontRef idx="minor"/>
        </p:style>
      </p:sp>
      <p:sp>
        <p:nvSpPr>
          <p:cNvPr id="669" name="CustomShape 9"/>
          <p:cNvSpPr/>
          <p:nvPr/>
        </p:nvSpPr>
        <p:spPr>
          <a:xfrm>
            <a:off x="731520" y="5509440"/>
            <a:ext cx="454680" cy="454680"/>
          </a:xfrm>
          <a:prstGeom prst="ellipse">
            <a:avLst/>
          </a:prstGeom>
          <a:solidFill>
            <a:srgbClr val="d95d39"/>
          </a:solidFill>
          <a:ln>
            <a:noFill/>
          </a:ln>
        </p:spPr>
        <p:style>
          <a:lnRef idx="0"/>
          <a:fillRef idx="0"/>
          <a:effectRef idx="0"/>
          <a:fontRef idx="minor"/>
        </p:style>
      </p:sp>
      <p:pic>
        <p:nvPicPr>
          <p:cNvPr id="670" name="Image 0" descr="preencoded.png"/>
          <p:cNvPicPr/>
          <p:nvPr/>
        </p:nvPicPr>
        <p:blipFill>
          <a:blip r:embed="rId1"/>
          <a:stretch/>
        </p:blipFill>
        <p:spPr>
          <a:xfrm>
            <a:off x="846000" y="5623560"/>
            <a:ext cx="226080" cy="226080"/>
          </a:xfrm>
          <a:prstGeom prst="rect">
            <a:avLst/>
          </a:prstGeom>
          <a:ln>
            <a:noFill/>
          </a:ln>
        </p:spPr>
      </p:pic>
      <p:sp>
        <p:nvSpPr>
          <p:cNvPr id="671" name="CustomShape 10"/>
          <p:cNvSpPr/>
          <p:nvPr/>
        </p:nvSpPr>
        <p:spPr>
          <a:xfrm>
            <a:off x="1371600" y="5303520"/>
            <a:ext cx="5301000" cy="86616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a8431f"/>
                </a:solidFill>
                <a:latin typeface="Calibri"/>
                <a:ea typeface="Calibri"/>
              </a:rPr>
              <a:t>Coste: </a:t>
            </a:r>
            <a:r>
              <a:rPr b="0" lang="en-US" sz="1400" spc="-1" strike="noStrike">
                <a:solidFill>
                  <a:srgbClr val="1f2933"/>
                </a:solidFill>
                <a:latin typeface="Calibri"/>
                <a:ea typeface="Calibri"/>
              </a:rPr>
              <a:t>cada DML sobre dbo.Pedido también actualiza la vista.</a:t>
            </a:r>
            <a:endParaRPr b="0" lang="es-ES" sz="1400" spc="-1" strike="noStrike">
              <a:latin typeface="Arial"/>
            </a:endParaRPr>
          </a:p>
        </p:txBody>
      </p:sp>
      <p:sp>
        <p:nvSpPr>
          <p:cNvPr id="672" name="CustomShape 11"/>
          <p:cNvSpPr/>
          <p:nvPr/>
        </p:nvSpPr>
        <p:spPr>
          <a:xfrm>
            <a:off x="7132320" y="1600200"/>
            <a:ext cx="4505400" cy="4569480"/>
          </a:xfrm>
          <a:prstGeom prst="roundRect">
            <a:avLst>
              <a:gd name="adj" fmla="val 2434"/>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673" name="CustomShape 12"/>
          <p:cNvSpPr/>
          <p:nvPr/>
        </p:nvSpPr>
        <p:spPr>
          <a:xfrm>
            <a:off x="7360920" y="1828800"/>
            <a:ext cx="546120" cy="546120"/>
          </a:xfrm>
          <a:prstGeom prst="ellipse">
            <a:avLst/>
          </a:prstGeom>
          <a:solidFill>
            <a:srgbClr val="134074"/>
          </a:solidFill>
          <a:ln>
            <a:noFill/>
          </a:ln>
        </p:spPr>
        <p:style>
          <a:lnRef idx="0"/>
          <a:fillRef idx="0"/>
          <a:effectRef idx="0"/>
          <a:fontRef idx="minor"/>
        </p:style>
      </p:sp>
      <p:pic>
        <p:nvPicPr>
          <p:cNvPr id="674" name="Image 1" descr="preencoded.png"/>
          <p:cNvPicPr/>
          <p:nvPr/>
        </p:nvPicPr>
        <p:blipFill>
          <a:blip r:embed="rId2"/>
          <a:stretch/>
        </p:blipFill>
        <p:spPr>
          <a:xfrm>
            <a:off x="7498080" y="1965960"/>
            <a:ext cx="271800" cy="271800"/>
          </a:xfrm>
          <a:prstGeom prst="rect">
            <a:avLst/>
          </a:prstGeom>
          <a:ln>
            <a:noFill/>
          </a:ln>
        </p:spPr>
      </p:pic>
      <p:sp>
        <p:nvSpPr>
          <p:cNvPr id="675" name="CustomShape 13"/>
          <p:cNvSpPr/>
          <p:nvPr/>
        </p:nvSpPr>
        <p:spPr>
          <a:xfrm>
            <a:off x="8046720" y="1828800"/>
            <a:ext cx="336240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Requisitos principales</a:t>
            </a:r>
            <a:endParaRPr b="0" lang="es-ES" sz="1700" spc="-1" strike="noStrike">
              <a:latin typeface="Arial"/>
            </a:endParaRPr>
          </a:p>
        </p:txBody>
      </p:sp>
      <p:sp>
        <p:nvSpPr>
          <p:cNvPr id="676" name="CustomShape 14"/>
          <p:cNvSpPr/>
          <p:nvPr/>
        </p:nvSpPr>
        <p:spPr>
          <a:xfrm>
            <a:off x="7360920" y="2560320"/>
            <a:ext cx="4048200" cy="338076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SCHEMABINDING </a:t>
            </a:r>
            <a:r>
              <a:rPr b="0" lang="en-US" sz="1400" spc="-1" strike="noStrike">
                <a:solidFill>
                  <a:srgbClr val="1f2933"/>
                </a:solidFill>
                <a:latin typeface="Calibri"/>
                <a:ea typeface="Calibri"/>
              </a:rPr>
              <a:t>y nombres de dos partes</a:t>
            </a:r>
            <a:endParaRPr b="0" lang="es-ES" sz="1400" spc="-1" strike="noStrike">
              <a:latin typeface="Arial"/>
            </a:endParaRPr>
          </a:p>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COUNT_BIG(*) </a:t>
            </a:r>
            <a:r>
              <a:rPr b="0" lang="en-US" sz="1400" spc="-1" strike="noStrike">
                <a:solidFill>
                  <a:srgbClr val="1f2933"/>
                </a:solidFill>
                <a:latin typeface="Calibri"/>
                <a:ea typeface="Calibri"/>
              </a:rPr>
              <a:t>si hay GROUP BY</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Sin OUTER JOIN, subconsultas, DISTINCT, TOP, UNION ni MIN/MAX</a:t>
            </a:r>
            <a:endParaRPr b="0" lang="es-ES" sz="1400" spc="-1" strike="noStrike">
              <a:latin typeface="Arial"/>
            </a:endParaRPr>
          </a:p>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Primer índice: </a:t>
            </a:r>
            <a:r>
              <a:rPr b="0" lang="en-US" sz="1400" spc="-1" strike="noStrike">
                <a:solidFill>
                  <a:srgbClr val="1f2933"/>
                </a:solidFill>
                <a:latin typeface="Calibri"/>
                <a:ea typeface="Calibri"/>
              </a:rPr>
              <a:t>UNIQUE CLUSTERED</a:t>
            </a:r>
            <a:endParaRPr b="0" lang="es-ES" sz="1400" spc="-1" strike="noStrike">
              <a:latin typeface="Arial"/>
            </a:endParaRPr>
          </a:p>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Opciones SET</a:t>
            </a:r>
            <a:r>
              <a:rPr b="0" lang="en-US" sz="1400" spc="-1" strike="noStrike">
                <a:solidFill>
                  <a:srgbClr val="1f2933"/>
                </a:solidFill>
                <a:latin typeface="Calibri"/>
                <a:ea typeface="Calibri"/>
              </a:rPr>
              <a:t>: ARITHABORT, ANSI_NULLS y QUOTED_IDENTIFIER en ON</a:t>
            </a:r>
            <a:endParaRPr b="0" lang="es-ES" sz="1400" spc="-1" strike="noStrike">
              <a:latin typeface="Arial"/>
            </a:endParaRPr>
          </a:p>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Standard: </a:t>
            </a:r>
            <a:r>
              <a:rPr b="0" lang="en-US" sz="1400" spc="-1" strike="noStrike">
                <a:solidFill>
                  <a:srgbClr val="1f2933"/>
                </a:solidFill>
                <a:latin typeface="Calibri"/>
                <a:ea typeface="Calibri"/>
              </a:rPr>
              <a:t>usar NOEXPAND</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677" name="CustomShape 1"/>
          <p:cNvSpPr/>
          <p:nvPr/>
        </p:nvSpPr>
        <p:spPr>
          <a:xfrm>
            <a:off x="548640" y="365760"/>
            <a:ext cx="175788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PROGRAMABILIDAD</a:t>
            </a:r>
            <a:endParaRPr b="0" lang="es-ES" sz="1000" spc="-1" strike="noStrike">
              <a:latin typeface="Arial"/>
            </a:endParaRPr>
          </a:p>
        </p:txBody>
      </p:sp>
      <p:sp>
        <p:nvSpPr>
          <p:cNvPr id="678"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Procedimientos almacenados</a:t>
            </a:r>
            <a:endParaRPr b="0" lang="es-ES" sz="3400" spc="-1" strike="noStrike">
              <a:latin typeface="Arial"/>
            </a:endParaRPr>
          </a:p>
        </p:txBody>
      </p:sp>
      <p:sp>
        <p:nvSpPr>
          <p:cNvPr id="679"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680"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2   26</a:t>
            </a:r>
            <a:endParaRPr b="0" lang="es-ES" sz="1000" spc="-1" strike="noStrike">
              <a:latin typeface="Arial"/>
            </a:endParaRPr>
          </a:p>
        </p:txBody>
      </p:sp>
      <p:sp>
        <p:nvSpPr>
          <p:cNvPr id="681" name="CustomShape 5"/>
          <p:cNvSpPr/>
          <p:nvPr/>
        </p:nvSpPr>
        <p:spPr>
          <a:xfrm>
            <a:off x="548640" y="1600200"/>
            <a:ext cx="6764040" cy="4569480"/>
          </a:xfrm>
          <a:prstGeom prst="roundRect">
            <a:avLst>
              <a:gd name="adj" fmla="val 2000"/>
            </a:avLst>
          </a:prstGeom>
          <a:solidFill>
            <a:srgbClr val="eceff3"/>
          </a:solidFill>
          <a:ln w="9360">
            <a:solidFill>
              <a:srgbClr val="d0d7de"/>
            </a:solidFill>
            <a:round/>
          </a:ln>
        </p:spPr>
        <p:style>
          <a:lnRef idx="0"/>
          <a:fillRef idx="0"/>
          <a:effectRef idx="0"/>
          <a:fontRef idx="minor"/>
        </p:style>
      </p:sp>
      <p:sp>
        <p:nvSpPr>
          <p:cNvPr id="682" name="CustomShape 6"/>
          <p:cNvSpPr/>
          <p:nvPr/>
        </p:nvSpPr>
        <p:spPr>
          <a:xfrm>
            <a:off x="73152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procedimiento</a:t>
            </a:r>
            <a:endParaRPr b="0" lang="es-ES" sz="1000" spc="-1" strike="noStrike">
              <a:latin typeface="Arial"/>
            </a:endParaRPr>
          </a:p>
        </p:txBody>
      </p:sp>
      <p:sp>
        <p:nvSpPr>
          <p:cNvPr id="683" name="CustomShape 7"/>
          <p:cNvSpPr/>
          <p:nvPr/>
        </p:nvSpPr>
        <p:spPr>
          <a:xfrm>
            <a:off x="731520" y="1965960"/>
            <a:ext cx="6398280" cy="411228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400" spc="-1" strike="noStrike">
                <a:solidFill>
                  <a:srgbClr val="1d4ed8"/>
                </a:solidFill>
                <a:latin typeface="Consolas"/>
                <a:ea typeface="Consolas"/>
              </a:rPr>
              <a:t>CREATE</a:t>
            </a:r>
            <a:r>
              <a:rPr b="0" lang="en-US" sz="1400" spc="-1" strike="noStrike">
                <a:solidFill>
                  <a:srgbClr val="1f2933"/>
                </a:solidFill>
                <a:latin typeface="Consolas"/>
                <a:ea typeface="Consolas"/>
              </a:rPr>
              <a:t> </a:t>
            </a:r>
            <a:r>
              <a:rPr b="1" lang="en-US" sz="1400" spc="-1" strike="noStrike">
                <a:solidFill>
                  <a:srgbClr val="1d4ed8"/>
                </a:solidFill>
                <a:latin typeface="Consolas"/>
                <a:ea typeface="Consolas"/>
              </a:rPr>
              <a:t>OR</a:t>
            </a:r>
            <a:r>
              <a:rPr b="0" lang="en-US" sz="1400" spc="-1" strike="noStrike">
                <a:solidFill>
                  <a:srgbClr val="1f2933"/>
                </a:solidFill>
                <a:latin typeface="Consolas"/>
                <a:ea typeface="Consolas"/>
              </a:rPr>
              <a:t> </a:t>
            </a:r>
            <a:r>
              <a:rPr b="1" lang="en-US" sz="1400" spc="-1" strike="noStrike">
                <a:solidFill>
                  <a:srgbClr val="1d4ed8"/>
                </a:solidFill>
                <a:latin typeface="Consolas"/>
                <a:ea typeface="Consolas"/>
              </a:rPr>
              <a:t>ALTER</a:t>
            </a:r>
            <a:r>
              <a:rPr b="0" lang="en-US" sz="1400" spc="-1" strike="noStrike">
                <a:solidFill>
                  <a:srgbClr val="1f2933"/>
                </a:solidFill>
                <a:latin typeface="Consolas"/>
                <a:ea typeface="Consolas"/>
              </a:rPr>
              <a:t> </a:t>
            </a:r>
            <a:r>
              <a:rPr b="1" lang="en-US" sz="1400" spc="-1" strike="noStrike">
                <a:solidFill>
                  <a:srgbClr val="1d4ed8"/>
                </a:solidFill>
                <a:latin typeface="Consolas"/>
                <a:ea typeface="Consolas"/>
              </a:rPr>
              <a:t>PROCEDURE</a:t>
            </a:r>
            <a:r>
              <a:rPr b="0" lang="en-US" sz="1400" spc="-1" strike="noStrike">
                <a:solidFill>
                  <a:srgbClr val="1f2933"/>
                </a:solidFill>
                <a:latin typeface="Consolas"/>
                <a:ea typeface="Consolas"/>
              </a:rPr>
              <a:t> dbo.usp_PedidosPorCliente</a:t>
            </a:r>
            <a:endParaRPr b="0" lang="es-ES" sz="1400" spc="-1" strike="noStrike">
              <a:latin typeface="Arial"/>
            </a:endParaRPr>
          </a:p>
          <a:p>
            <a:pPr>
              <a:lnSpc>
                <a:spcPct val="100000"/>
              </a:lnSpc>
              <a:tabLst>
                <a:tab algn="l" pos="0"/>
              </a:tabLst>
            </a:pPr>
            <a:r>
              <a:rPr b="0" lang="en-US" sz="1400" spc="-1" strike="noStrike">
                <a:solidFill>
                  <a:srgbClr val="1f2933"/>
                </a:solidFill>
                <a:latin typeface="Consolas"/>
                <a:ea typeface="Consolas"/>
              </a:rPr>
              <a:t>    </a:t>
            </a:r>
            <a:r>
              <a:rPr b="0" lang="en-US" sz="1400" spc="-1" strike="noStrike">
                <a:solidFill>
                  <a:srgbClr val="0f766e"/>
                </a:solidFill>
                <a:latin typeface="Consolas"/>
                <a:ea typeface="Consolas"/>
              </a:rPr>
              <a:t>@ClienteId</a:t>
            </a:r>
            <a:r>
              <a:rPr b="0" lang="en-US" sz="1400" spc="-1" strike="noStrike">
                <a:solidFill>
                  <a:srgbClr val="1f2933"/>
                </a:solidFill>
                <a:latin typeface="Consolas"/>
                <a:ea typeface="Consolas"/>
              </a:rPr>
              <a:t> </a:t>
            </a:r>
            <a:r>
              <a:rPr b="0" lang="en-US" sz="1400" spc="-1" strike="noStrike">
                <a:solidFill>
                  <a:srgbClr val="7c3aed"/>
                </a:solidFill>
                <a:latin typeface="Consolas"/>
                <a:ea typeface="Consolas"/>
              </a:rPr>
              <a:t>INT</a:t>
            </a:r>
            <a:r>
              <a:rPr b="0" lang="en-US" sz="1400" spc="-1" strike="noStrike">
                <a:solidFill>
                  <a:srgbClr val="1f2933"/>
                </a:solidFill>
                <a:latin typeface="Consolas"/>
                <a:ea typeface="Consolas"/>
              </a:rPr>
              <a:t>,</a:t>
            </a:r>
            <a:endParaRPr b="0" lang="es-ES" sz="1400" spc="-1" strike="noStrike">
              <a:latin typeface="Arial"/>
            </a:endParaRPr>
          </a:p>
          <a:p>
            <a:pPr>
              <a:lnSpc>
                <a:spcPct val="100000"/>
              </a:lnSpc>
              <a:tabLst>
                <a:tab algn="l" pos="0"/>
              </a:tabLst>
            </a:pPr>
            <a:r>
              <a:rPr b="0" lang="en-US" sz="1400" spc="-1" strike="noStrike">
                <a:solidFill>
                  <a:srgbClr val="1f2933"/>
                </a:solidFill>
                <a:latin typeface="Consolas"/>
                <a:ea typeface="Consolas"/>
              </a:rPr>
              <a:t>    </a:t>
            </a:r>
            <a:r>
              <a:rPr b="0" lang="en-US" sz="1400" spc="-1" strike="noStrike">
                <a:solidFill>
                  <a:srgbClr val="0f766e"/>
                </a:solidFill>
                <a:latin typeface="Consolas"/>
                <a:ea typeface="Consolas"/>
              </a:rPr>
              <a:t>@Desde</a:t>
            </a:r>
            <a:r>
              <a:rPr b="0" lang="en-US" sz="1400" spc="-1" strike="noStrike">
                <a:solidFill>
                  <a:srgbClr val="1f2933"/>
                </a:solidFill>
                <a:latin typeface="Consolas"/>
                <a:ea typeface="Consolas"/>
              </a:rPr>
              <a:t>     </a:t>
            </a:r>
            <a:r>
              <a:rPr b="0" lang="en-US" sz="1400" spc="-1" strike="noStrike">
                <a:solidFill>
                  <a:srgbClr val="7c3aed"/>
                </a:solidFill>
                <a:latin typeface="Consolas"/>
                <a:ea typeface="Consolas"/>
              </a:rPr>
              <a:t>DATE</a:t>
            </a:r>
            <a:r>
              <a:rPr b="0" lang="en-US" sz="1400" spc="-1" strike="noStrike">
                <a:solidFill>
                  <a:srgbClr val="1f2933"/>
                </a:solidFill>
                <a:latin typeface="Consolas"/>
                <a:ea typeface="Consolas"/>
              </a:rPr>
              <a:t> = </a:t>
            </a:r>
            <a:r>
              <a:rPr b="0" lang="en-US" sz="1400" spc="-1" strike="noStrike">
                <a:solidFill>
                  <a:srgbClr val="b4441f"/>
                </a:solidFill>
                <a:latin typeface="Consolas"/>
                <a:ea typeface="Consolas"/>
              </a:rPr>
              <a:t>'19000101'</a:t>
            </a:r>
            <a:endParaRPr b="0" lang="es-ES" sz="1400" spc="-1" strike="noStrike">
              <a:latin typeface="Arial"/>
            </a:endParaRPr>
          </a:p>
          <a:p>
            <a:pPr>
              <a:lnSpc>
                <a:spcPct val="100000"/>
              </a:lnSpc>
              <a:tabLst>
                <a:tab algn="l" pos="0"/>
              </a:tabLst>
            </a:pPr>
            <a:r>
              <a:rPr b="1" lang="en-US" sz="1400" spc="-1" strike="noStrike">
                <a:solidFill>
                  <a:srgbClr val="1d4ed8"/>
                </a:solidFill>
                <a:latin typeface="Consolas"/>
                <a:ea typeface="Consolas"/>
              </a:rPr>
              <a:t>AS</a:t>
            </a:r>
            <a:endParaRPr b="0" lang="es-ES" sz="1400" spc="-1" strike="noStrike">
              <a:latin typeface="Arial"/>
            </a:endParaRPr>
          </a:p>
          <a:p>
            <a:pPr>
              <a:lnSpc>
                <a:spcPct val="100000"/>
              </a:lnSpc>
              <a:tabLst>
                <a:tab algn="l" pos="0"/>
              </a:tabLst>
            </a:pPr>
            <a:r>
              <a:rPr b="1" lang="en-US" sz="1400" spc="-1" strike="noStrike">
                <a:solidFill>
                  <a:srgbClr val="1d4ed8"/>
                </a:solidFill>
                <a:latin typeface="Consolas"/>
                <a:ea typeface="Consolas"/>
              </a:rPr>
              <a:t>BEGIN</a:t>
            </a:r>
            <a:endParaRPr b="0" lang="es-ES" sz="1400" spc="-1" strike="noStrike">
              <a:latin typeface="Arial"/>
            </a:endParaRPr>
          </a:p>
          <a:p>
            <a:pPr>
              <a:lnSpc>
                <a:spcPct val="100000"/>
              </a:lnSpc>
              <a:tabLst>
                <a:tab algn="l" pos="0"/>
              </a:tabLst>
            </a:pPr>
            <a:r>
              <a:rPr b="0" lang="en-US" sz="1400" spc="-1" strike="noStrike">
                <a:solidFill>
                  <a:srgbClr val="1f2933"/>
                </a:solidFill>
                <a:latin typeface="Consolas"/>
                <a:ea typeface="Consolas"/>
              </a:rPr>
              <a:t>    </a:t>
            </a:r>
            <a:r>
              <a:rPr b="1" lang="en-US" sz="1400" spc="-1" strike="noStrike">
                <a:solidFill>
                  <a:srgbClr val="1d4ed8"/>
                </a:solidFill>
                <a:latin typeface="Consolas"/>
                <a:ea typeface="Consolas"/>
              </a:rPr>
              <a:t>SET</a:t>
            </a:r>
            <a:r>
              <a:rPr b="0" lang="en-US" sz="1400" spc="-1" strike="noStrike">
                <a:solidFill>
                  <a:srgbClr val="1f2933"/>
                </a:solidFill>
                <a:latin typeface="Consolas"/>
                <a:ea typeface="Consolas"/>
              </a:rPr>
              <a:t> NOCOUNT </a:t>
            </a:r>
            <a:r>
              <a:rPr b="1" lang="en-US" sz="1400" spc="-1" strike="noStrike">
                <a:solidFill>
                  <a:srgbClr val="1d4ed8"/>
                </a:solidFill>
                <a:latin typeface="Consolas"/>
                <a:ea typeface="Consolas"/>
              </a:rPr>
              <a:t>ON</a:t>
            </a:r>
            <a:r>
              <a:rPr b="0" lang="en-US" sz="1400" spc="-1" strike="noStrike">
                <a:solidFill>
                  <a:srgbClr val="1f2933"/>
                </a:solidFill>
                <a:latin typeface="Consolas"/>
                <a:ea typeface="Consolas"/>
              </a:rPr>
              <a:t>;</a:t>
            </a:r>
            <a:endParaRPr b="0" lang="es-ES" sz="1400" spc="-1" strike="noStrike">
              <a:latin typeface="Arial"/>
            </a:endParaRPr>
          </a:p>
          <a:p>
            <a:pPr>
              <a:lnSpc>
                <a:spcPct val="100000"/>
              </a:lnSpc>
              <a:tabLst>
                <a:tab algn="l" pos="0"/>
              </a:tabLst>
            </a:pPr>
            <a:r>
              <a:rPr b="0" lang="en-US" sz="1400" spc="-1" strike="noStrike">
                <a:solidFill>
                  <a:srgbClr val="1f2933"/>
                </a:solidFill>
                <a:latin typeface="Consolas"/>
                <a:ea typeface="Consolas"/>
              </a:rPr>
              <a:t>    </a:t>
            </a:r>
            <a:r>
              <a:rPr b="1" lang="en-US" sz="1400" spc="-1" strike="noStrike">
                <a:solidFill>
                  <a:srgbClr val="1d4ed8"/>
                </a:solidFill>
                <a:latin typeface="Consolas"/>
                <a:ea typeface="Consolas"/>
              </a:rPr>
              <a:t>SELECT</a:t>
            </a:r>
            <a:r>
              <a:rPr b="0" lang="en-US" sz="1400" spc="-1" strike="noStrike">
                <a:solidFill>
                  <a:srgbClr val="1f2933"/>
                </a:solidFill>
                <a:latin typeface="Consolas"/>
                <a:ea typeface="Consolas"/>
              </a:rPr>
              <a:t> p.PedidoId, p.Fecha, p.Total</a:t>
            </a:r>
            <a:endParaRPr b="0" lang="es-ES" sz="1400" spc="-1" strike="noStrike">
              <a:latin typeface="Arial"/>
            </a:endParaRPr>
          </a:p>
          <a:p>
            <a:pPr>
              <a:lnSpc>
                <a:spcPct val="100000"/>
              </a:lnSpc>
              <a:tabLst>
                <a:tab algn="l" pos="0"/>
              </a:tabLst>
            </a:pPr>
            <a:r>
              <a:rPr b="0" lang="en-US" sz="1400" spc="-1" strike="noStrike">
                <a:solidFill>
                  <a:srgbClr val="1f2933"/>
                </a:solidFill>
                <a:latin typeface="Consolas"/>
                <a:ea typeface="Consolas"/>
              </a:rPr>
              <a:t>    </a:t>
            </a:r>
            <a:r>
              <a:rPr b="1" lang="en-US" sz="1400" spc="-1" strike="noStrike">
                <a:solidFill>
                  <a:srgbClr val="1d4ed8"/>
                </a:solidFill>
                <a:latin typeface="Consolas"/>
                <a:ea typeface="Consolas"/>
              </a:rPr>
              <a:t>FROM</a:t>
            </a:r>
            <a:r>
              <a:rPr b="0" lang="en-US" sz="1400" spc="-1" strike="noStrike">
                <a:solidFill>
                  <a:srgbClr val="1f2933"/>
                </a:solidFill>
                <a:latin typeface="Consolas"/>
                <a:ea typeface="Consolas"/>
              </a:rPr>
              <a:t>   dbo.Pedido </a:t>
            </a:r>
            <a:r>
              <a:rPr b="1" lang="en-US" sz="1400" spc="-1" strike="noStrike">
                <a:solidFill>
                  <a:srgbClr val="1d4ed8"/>
                </a:solidFill>
                <a:latin typeface="Consolas"/>
                <a:ea typeface="Consolas"/>
              </a:rPr>
              <a:t>AS</a:t>
            </a:r>
            <a:r>
              <a:rPr b="0" lang="en-US" sz="1400" spc="-1" strike="noStrike">
                <a:solidFill>
                  <a:srgbClr val="1f2933"/>
                </a:solidFill>
                <a:latin typeface="Consolas"/>
                <a:ea typeface="Consolas"/>
              </a:rPr>
              <a:t> p</a:t>
            </a:r>
            <a:endParaRPr b="0" lang="es-ES" sz="1400" spc="-1" strike="noStrike">
              <a:latin typeface="Arial"/>
            </a:endParaRPr>
          </a:p>
          <a:p>
            <a:pPr>
              <a:lnSpc>
                <a:spcPct val="100000"/>
              </a:lnSpc>
              <a:tabLst>
                <a:tab algn="l" pos="0"/>
              </a:tabLst>
            </a:pPr>
            <a:r>
              <a:rPr b="0" lang="en-US" sz="1400" spc="-1" strike="noStrike">
                <a:solidFill>
                  <a:srgbClr val="1f2933"/>
                </a:solidFill>
                <a:latin typeface="Consolas"/>
                <a:ea typeface="Consolas"/>
              </a:rPr>
              <a:t>    </a:t>
            </a:r>
            <a:r>
              <a:rPr b="1" lang="en-US" sz="1400" spc="-1" strike="noStrike">
                <a:solidFill>
                  <a:srgbClr val="1d4ed8"/>
                </a:solidFill>
                <a:latin typeface="Consolas"/>
                <a:ea typeface="Consolas"/>
              </a:rPr>
              <a:t>WHERE</a:t>
            </a:r>
            <a:r>
              <a:rPr b="0" lang="en-US" sz="1400" spc="-1" strike="noStrike">
                <a:solidFill>
                  <a:srgbClr val="1f2933"/>
                </a:solidFill>
                <a:latin typeface="Consolas"/>
                <a:ea typeface="Consolas"/>
              </a:rPr>
              <a:t>  p.ClienteId = </a:t>
            </a:r>
            <a:r>
              <a:rPr b="0" lang="en-US" sz="1400" spc="-1" strike="noStrike">
                <a:solidFill>
                  <a:srgbClr val="0f766e"/>
                </a:solidFill>
                <a:latin typeface="Consolas"/>
                <a:ea typeface="Consolas"/>
              </a:rPr>
              <a:t>@ClienteId</a:t>
            </a:r>
            <a:endParaRPr b="0" lang="es-ES" sz="1400" spc="-1" strike="noStrike">
              <a:latin typeface="Arial"/>
            </a:endParaRPr>
          </a:p>
          <a:p>
            <a:pPr>
              <a:lnSpc>
                <a:spcPct val="100000"/>
              </a:lnSpc>
              <a:tabLst>
                <a:tab algn="l" pos="0"/>
              </a:tabLst>
            </a:pPr>
            <a:r>
              <a:rPr b="0" lang="en-US" sz="1400" spc="-1" strike="noStrike">
                <a:solidFill>
                  <a:srgbClr val="1f2933"/>
                </a:solidFill>
                <a:latin typeface="Consolas"/>
                <a:ea typeface="Consolas"/>
              </a:rPr>
              <a:t>      </a:t>
            </a:r>
            <a:r>
              <a:rPr b="1" lang="en-US" sz="1400" spc="-1" strike="noStrike">
                <a:solidFill>
                  <a:srgbClr val="1d4ed8"/>
                </a:solidFill>
                <a:latin typeface="Consolas"/>
                <a:ea typeface="Consolas"/>
              </a:rPr>
              <a:t>AND</a:t>
            </a:r>
            <a:r>
              <a:rPr b="0" lang="en-US" sz="1400" spc="-1" strike="noStrike">
                <a:solidFill>
                  <a:srgbClr val="1f2933"/>
                </a:solidFill>
                <a:latin typeface="Consolas"/>
                <a:ea typeface="Consolas"/>
              </a:rPr>
              <a:t>  p.Fecha &gt;= </a:t>
            </a:r>
            <a:r>
              <a:rPr b="0" lang="en-US" sz="1400" spc="-1" strike="noStrike">
                <a:solidFill>
                  <a:srgbClr val="0f766e"/>
                </a:solidFill>
                <a:latin typeface="Consolas"/>
                <a:ea typeface="Consolas"/>
              </a:rPr>
              <a:t>@Desde</a:t>
            </a:r>
            <a:endParaRPr b="0" lang="es-ES" sz="1400" spc="-1" strike="noStrike">
              <a:latin typeface="Arial"/>
            </a:endParaRPr>
          </a:p>
          <a:p>
            <a:pPr>
              <a:lnSpc>
                <a:spcPct val="100000"/>
              </a:lnSpc>
              <a:tabLst>
                <a:tab algn="l" pos="0"/>
              </a:tabLst>
            </a:pPr>
            <a:r>
              <a:rPr b="0" lang="en-US" sz="1400" spc="-1" strike="noStrike">
                <a:solidFill>
                  <a:srgbClr val="1f2933"/>
                </a:solidFill>
                <a:latin typeface="Consolas"/>
                <a:ea typeface="Consolas"/>
              </a:rPr>
              <a:t>    </a:t>
            </a:r>
            <a:r>
              <a:rPr b="1" lang="en-US" sz="1400" spc="-1" strike="noStrike">
                <a:solidFill>
                  <a:srgbClr val="1d4ed8"/>
                </a:solidFill>
                <a:latin typeface="Consolas"/>
                <a:ea typeface="Consolas"/>
              </a:rPr>
              <a:t>ORDER</a:t>
            </a:r>
            <a:r>
              <a:rPr b="0" lang="en-US" sz="1400" spc="-1" strike="noStrike">
                <a:solidFill>
                  <a:srgbClr val="1f2933"/>
                </a:solidFill>
                <a:latin typeface="Consolas"/>
                <a:ea typeface="Consolas"/>
              </a:rPr>
              <a:t> </a:t>
            </a:r>
            <a:r>
              <a:rPr b="1" lang="en-US" sz="1400" spc="-1" strike="noStrike">
                <a:solidFill>
                  <a:srgbClr val="1d4ed8"/>
                </a:solidFill>
                <a:latin typeface="Consolas"/>
                <a:ea typeface="Consolas"/>
              </a:rPr>
              <a:t>BY</a:t>
            </a:r>
            <a:r>
              <a:rPr b="0" lang="en-US" sz="1400" spc="-1" strike="noStrike">
                <a:solidFill>
                  <a:srgbClr val="1f2933"/>
                </a:solidFill>
                <a:latin typeface="Consolas"/>
                <a:ea typeface="Consolas"/>
              </a:rPr>
              <a:t> p.Fecha </a:t>
            </a:r>
            <a:r>
              <a:rPr b="1" lang="en-US" sz="1400" spc="-1" strike="noStrike">
                <a:solidFill>
                  <a:srgbClr val="1d4ed8"/>
                </a:solidFill>
                <a:latin typeface="Consolas"/>
                <a:ea typeface="Consolas"/>
              </a:rPr>
              <a:t>DESC</a:t>
            </a:r>
            <a:r>
              <a:rPr b="0" lang="en-US" sz="1400" spc="-1" strike="noStrike">
                <a:solidFill>
                  <a:srgbClr val="1f2933"/>
                </a:solidFill>
                <a:latin typeface="Consolas"/>
                <a:ea typeface="Consolas"/>
              </a:rPr>
              <a:t>;</a:t>
            </a:r>
            <a:endParaRPr b="0" lang="es-ES" sz="1400" spc="-1" strike="noStrike">
              <a:latin typeface="Arial"/>
            </a:endParaRPr>
          </a:p>
          <a:p>
            <a:pPr>
              <a:lnSpc>
                <a:spcPct val="100000"/>
              </a:lnSpc>
              <a:tabLst>
                <a:tab algn="l" pos="0"/>
              </a:tabLst>
            </a:pPr>
            <a:r>
              <a:rPr b="1" lang="en-US" sz="1400" spc="-1" strike="noStrike">
                <a:solidFill>
                  <a:srgbClr val="1d4ed8"/>
                </a:solidFill>
                <a:latin typeface="Consolas"/>
                <a:ea typeface="Consolas"/>
              </a:rPr>
              <a:t>END</a:t>
            </a:r>
            <a:r>
              <a:rPr b="0" lang="en-US" sz="1400" spc="-1" strike="noStrike">
                <a:solidFill>
                  <a:srgbClr val="1f2933"/>
                </a:solidFill>
                <a:latin typeface="Consolas"/>
                <a:ea typeface="Consolas"/>
              </a:rPr>
              <a:t>;</a:t>
            </a:r>
            <a:endParaRPr b="0" lang="es-ES" sz="1400" spc="-1" strike="noStrike">
              <a:latin typeface="Arial"/>
            </a:endParaRPr>
          </a:p>
          <a:p>
            <a:pPr>
              <a:lnSpc>
                <a:spcPct val="100000"/>
              </a:lnSpc>
              <a:tabLst>
                <a:tab algn="l" pos="0"/>
              </a:tabLst>
            </a:pPr>
            <a:r>
              <a:rPr b="1" lang="en-US" sz="1400" spc="-1" strike="noStrike">
                <a:solidFill>
                  <a:srgbClr val="1d4ed8"/>
                </a:solidFill>
                <a:latin typeface="Consolas"/>
                <a:ea typeface="Consolas"/>
              </a:rPr>
              <a:t>GO</a:t>
            </a:r>
            <a:endParaRPr b="0" lang="es-ES" sz="1400" spc="-1" strike="noStrike">
              <a:latin typeface="Arial"/>
            </a:endParaRPr>
          </a:p>
          <a:p>
            <a:pPr>
              <a:lnSpc>
                <a:spcPct val="100000"/>
              </a:lnSpc>
              <a:tabLst>
                <a:tab algn="l" pos="0"/>
              </a:tabLst>
            </a:pPr>
            <a:r>
              <a:rPr b="1" lang="en-US" sz="1400" spc="-1" strike="noStrike">
                <a:solidFill>
                  <a:srgbClr val="1d4ed8"/>
                </a:solidFill>
                <a:latin typeface="Consolas"/>
                <a:ea typeface="Consolas"/>
              </a:rPr>
              <a:t>EXEC</a:t>
            </a:r>
            <a:r>
              <a:rPr b="0" lang="en-US" sz="1400" spc="-1" strike="noStrike">
                <a:solidFill>
                  <a:srgbClr val="1f2933"/>
                </a:solidFill>
                <a:latin typeface="Consolas"/>
                <a:ea typeface="Consolas"/>
              </a:rPr>
              <a:t> dbo.usp_PedidosPorCliente </a:t>
            </a:r>
            <a:r>
              <a:rPr b="0" lang="en-US" sz="1400" spc="-1" strike="noStrike">
                <a:solidFill>
                  <a:srgbClr val="0f766e"/>
                </a:solidFill>
                <a:latin typeface="Consolas"/>
                <a:ea typeface="Consolas"/>
              </a:rPr>
              <a:t>@ClienteId</a:t>
            </a:r>
            <a:r>
              <a:rPr b="0" lang="en-US" sz="1400" spc="-1" strike="noStrike">
                <a:solidFill>
                  <a:srgbClr val="1f2933"/>
                </a:solidFill>
                <a:latin typeface="Consolas"/>
                <a:ea typeface="Consolas"/>
              </a:rPr>
              <a:t> = </a:t>
            </a:r>
            <a:r>
              <a:rPr b="0" lang="en-US" sz="1400" spc="-1" strike="noStrike">
                <a:solidFill>
                  <a:srgbClr val="9a3412"/>
                </a:solidFill>
                <a:latin typeface="Consolas"/>
                <a:ea typeface="Consolas"/>
              </a:rPr>
              <a:t>42</a:t>
            </a:r>
            <a:r>
              <a:rPr b="0" lang="en-US" sz="1400" spc="-1" strike="noStrike">
                <a:solidFill>
                  <a:srgbClr val="1f2933"/>
                </a:solidFill>
                <a:latin typeface="Consolas"/>
                <a:ea typeface="Consolas"/>
              </a:rPr>
              <a:t>;</a:t>
            </a:r>
            <a:endParaRPr b="0" lang="es-ES" sz="1400" spc="-1" strike="noStrike">
              <a:latin typeface="Arial"/>
            </a:endParaRPr>
          </a:p>
        </p:txBody>
      </p:sp>
      <p:sp>
        <p:nvSpPr>
          <p:cNvPr id="684" name="CustomShape 8"/>
          <p:cNvSpPr/>
          <p:nvPr/>
        </p:nvSpPr>
        <p:spPr>
          <a:xfrm>
            <a:off x="7589520" y="1600200"/>
            <a:ext cx="4048200" cy="4569480"/>
          </a:xfrm>
          <a:prstGeom prst="roundRect">
            <a:avLst>
              <a:gd name="adj" fmla="val 2709"/>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685" name="CustomShape 9"/>
          <p:cNvSpPr/>
          <p:nvPr/>
        </p:nvSpPr>
        <p:spPr>
          <a:xfrm>
            <a:off x="7818120" y="1828800"/>
            <a:ext cx="546120" cy="546120"/>
          </a:xfrm>
          <a:prstGeom prst="ellipse">
            <a:avLst/>
          </a:prstGeom>
          <a:solidFill>
            <a:srgbClr val="134074"/>
          </a:solidFill>
          <a:ln>
            <a:noFill/>
          </a:ln>
        </p:spPr>
        <p:style>
          <a:lnRef idx="0"/>
          <a:fillRef idx="0"/>
          <a:effectRef idx="0"/>
          <a:fontRef idx="minor"/>
        </p:style>
      </p:sp>
      <p:pic>
        <p:nvPicPr>
          <p:cNvPr id="686" name="Image 0" descr="preencoded.png"/>
          <p:cNvPicPr/>
          <p:nvPr/>
        </p:nvPicPr>
        <p:blipFill>
          <a:blip r:embed="rId1"/>
          <a:stretch/>
        </p:blipFill>
        <p:spPr>
          <a:xfrm>
            <a:off x="7955280" y="1965960"/>
            <a:ext cx="271800" cy="271800"/>
          </a:xfrm>
          <a:prstGeom prst="rect">
            <a:avLst/>
          </a:prstGeom>
          <a:ln>
            <a:noFill/>
          </a:ln>
        </p:spPr>
      </p:pic>
      <p:sp>
        <p:nvSpPr>
          <p:cNvPr id="687" name="CustomShape 10"/>
          <p:cNvSpPr/>
          <p:nvPr/>
        </p:nvSpPr>
        <p:spPr>
          <a:xfrm>
            <a:off x="8503920" y="1828800"/>
            <a:ext cx="290520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Por qué usarlos</a:t>
            </a:r>
            <a:endParaRPr b="0" lang="es-ES" sz="1700" spc="-1" strike="noStrike">
              <a:latin typeface="Arial"/>
            </a:endParaRPr>
          </a:p>
        </p:txBody>
      </p:sp>
      <p:sp>
        <p:nvSpPr>
          <p:cNvPr id="688" name="CustomShape 11"/>
          <p:cNvSpPr/>
          <p:nvPr/>
        </p:nvSpPr>
        <p:spPr>
          <a:xfrm>
            <a:off x="7818120" y="2560320"/>
            <a:ext cx="3591000" cy="338076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Plan reutilizable en el Plan Cache</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EXECUTE sin dar acceso a las tablas</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Lógica encapsulada con TRY...CATCH</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SET NOCOUNT ON reduce tráfico</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Parámetros tipados frente a SQL concatenado</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689" name="CustomShape 1"/>
          <p:cNvSpPr/>
          <p:nvPr/>
        </p:nvSpPr>
        <p:spPr>
          <a:xfrm>
            <a:off x="548640" y="365760"/>
            <a:ext cx="175788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PROGRAMABILIDAD</a:t>
            </a:r>
            <a:endParaRPr b="0" lang="es-ES" sz="1000" spc="-1" strike="noStrike">
              <a:latin typeface="Arial"/>
            </a:endParaRPr>
          </a:p>
        </p:txBody>
      </p:sp>
      <p:sp>
        <p:nvSpPr>
          <p:cNvPr id="690"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Plan caching, sniffing y recompilaciones</a:t>
            </a:r>
            <a:endParaRPr b="0" lang="es-ES" sz="3400" spc="-1" strike="noStrike">
              <a:latin typeface="Arial"/>
            </a:endParaRPr>
          </a:p>
        </p:txBody>
      </p:sp>
      <p:sp>
        <p:nvSpPr>
          <p:cNvPr id="691"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692"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2   27</a:t>
            </a:r>
            <a:endParaRPr b="0" lang="es-ES" sz="1000" spc="-1" strike="noStrike">
              <a:latin typeface="Arial"/>
            </a:endParaRPr>
          </a:p>
        </p:txBody>
      </p:sp>
      <p:sp>
        <p:nvSpPr>
          <p:cNvPr id="693" name="CustomShape 5"/>
          <p:cNvSpPr/>
          <p:nvPr/>
        </p:nvSpPr>
        <p:spPr>
          <a:xfrm>
            <a:off x="548640" y="1600200"/>
            <a:ext cx="2530440" cy="2694960"/>
          </a:xfrm>
          <a:prstGeom prst="roundRect">
            <a:avLst>
              <a:gd name="adj" fmla="val 4332"/>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694" name="CustomShape 6"/>
          <p:cNvSpPr/>
          <p:nvPr/>
        </p:nvSpPr>
        <p:spPr>
          <a:xfrm>
            <a:off x="777240" y="1828800"/>
            <a:ext cx="500400" cy="500400"/>
          </a:xfrm>
          <a:prstGeom prst="ellipse">
            <a:avLst/>
          </a:prstGeom>
          <a:solidFill>
            <a:srgbClr val="134074"/>
          </a:solidFill>
          <a:ln>
            <a:noFill/>
          </a:ln>
        </p:spPr>
        <p:style>
          <a:lnRef idx="0"/>
          <a:fillRef idx="0"/>
          <a:effectRef idx="0"/>
          <a:fontRef idx="minor"/>
        </p:style>
      </p:sp>
      <p:sp>
        <p:nvSpPr>
          <p:cNvPr id="695" name="CustomShape 7"/>
          <p:cNvSpPr/>
          <p:nvPr/>
        </p:nvSpPr>
        <p:spPr>
          <a:xfrm>
            <a:off x="77724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1</a:t>
            </a:r>
            <a:endParaRPr b="0" lang="es-ES" sz="1800" spc="-1" strike="noStrike">
              <a:latin typeface="Arial"/>
            </a:endParaRPr>
          </a:p>
        </p:txBody>
      </p:sp>
      <p:sp>
        <p:nvSpPr>
          <p:cNvPr id="696" name="CustomShape 8"/>
          <p:cNvSpPr/>
          <p:nvPr/>
        </p:nvSpPr>
        <p:spPr>
          <a:xfrm>
            <a:off x="777240" y="2468880"/>
            <a:ext cx="207324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Compilar</a:t>
            </a:r>
            <a:endParaRPr b="0" lang="es-ES" sz="1600" spc="-1" strike="noStrike">
              <a:latin typeface="Arial"/>
            </a:endParaRPr>
          </a:p>
        </p:txBody>
      </p:sp>
      <p:sp>
        <p:nvSpPr>
          <p:cNvPr id="697" name="CustomShape 9"/>
          <p:cNvSpPr/>
          <p:nvPr/>
        </p:nvSpPr>
        <p:spPr>
          <a:xfrm>
            <a:off x="777240" y="3154680"/>
            <a:ext cx="2073240" cy="1049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El optimizador crea el plan con estadísticas y el valor del parámetro.</a:t>
            </a:r>
            <a:endParaRPr b="0" lang="es-ES" sz="1400" spc="-1" strike="noStrike">
              <a:latin typeface="Arial"/>
            </a:endParaRPr>
          </a:p>
        </p:txBody>
      </p:sp>
      <p:sp>
        <p:nvSpPr>
          <p:cNvPr id="698" name="CustomShape 10"/>
          <p:cNvSpPr/>
          <p:nvPr/>
        </p:nvSpPr>
        <p:spPr>
          <a:xfrm>
            <a:off x="3117960" y="1947600"/>
            <a:ext cx="24444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699" name="CustomShape 11"/>
          <p:cNvSpPr/>
          <p:nvPr/>
        </p:nvSpPr>
        <p:spPr>
          <a:xfrm>
            <a:off x="3401640" y="1600200"/>
            <a:ext cx="2530440" cy="2694960"/>
          </a:xfrm>
          <a:prstGeom prst="roundRect">
            <a:avLst>
              <a:gd name="adj" fmla="val 4332"/>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700" name="CustomShape 12"/>
          <p:cNvSpPr/>
          <p:nvPr/>
        </p:nvSpPr>
        <p:spPr>
          <a:xfrm>
            <a:off x="3630240" y="1828800"/>
            <a:ext cx="500400" cy="500400"/>
          </a:xfrm>
          <a:prstGeom prst="ellipse">
            <a:avLst/>
          </a:prstGeom>
          <a:solidFill>
            <a:srgbClr val="134074"/>
          </a:solidFill>
          <a:ln>
            <a:noFill/>
          </a:ln>
        </p:spPr>
        <p:style>
          <a:lnRef idx="0"/>
          <a:fillRef idx="0"/>
          <a:effectRef idx="0"/>
          <a:fontRef idx="minor"/>
        </p:style>
      </p:sp>
      <p:sp>
        <p:nvSpPr>
          <p:cNvPr id="701" name="CustomShape 13"/>
          <p:cNvSpPr/>
          <p:nvPr/>
        </p:nvSpPr>
        <p:spPr>
          <a:xfrm>
            <a:off x="363024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2</a:t>
            </a:r>
            <a:endParaRPr b="0" lang="es-ES" sz="1800" spc="-1" strike="noStrike">
              <a:latin typeface="Arial"/>
            </a:endParaRPr>
          </a:p>
        </p:txBody>
      </p:sp>
      <p:sp>
        <p:nvSpPr>
          <p:cNvPr id="702" name="CustomShape 14"/>
          <p:cNvSpPr/>
          <p:nvPr/>
        </p:nvSpPr>
        <p:spPr>
          <a:xfrm>
            <a:off x="3630240" y="2468880"/>
            <a:ext cx="207324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Cachear</a:t>
            </a:r>
            <a:endParaRPr b="0" lang="es-ES" sz="1600" spc="-1" strike="noStrike">
              <a:latin typeface="Arial"/>
            </a:endParaRPr>
          </a:p>
        </p:txBody>
      </p:sp>
      <p:sp>
        <p:nvSpPr>
          <p:cNvPr id="703" name="CustomShape 15"/>
          <p:cNvSpPr/>
          <p:nvPr/>
        </p:nvSpPr>
        <p:spPr>
          <a:xfrm>
            <a:off x="3630240" y="3154680"/>
            <a:ext cx="2073240" cy="1049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El plan se guarda en el Plan Cache, localizado por hash del texto.</a:t>
            </a:r>
            <a:endParaRPr b="0" lang="es-ES" sz="1400" spc="-1" strike="noStrike">
              <a:latin typeface="Arial"/>
            </a:endParaRPr>
          </a:p>
        </p:txBody>
      </p:sp>
      <p:sp>
        <p:nvSpPr>
          <p:cNvPr id="704" name="CustomShape 16"/>
          <p:cNvSpPr/>
          <p:nvPr/>
        </p:nvSpPr>
        <p:spPr>
          <a:xfrm>
            <a:off x="5970960" y="1947600"/>
            <a:ext cx="24444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705" name="CustomShape 17"/>
          <p:cNvSpPr/>
          <p:nvPr/>
        </p:nvSpPr>
        <p:spPr>
          <a:xfrm>
            <a:off x="6254640" y="1600200"/>
            <a:ext cx="2530440" cy="2694960"/>
          </a:xfrm>
          <a:prstGeom prst="roundRect">
            <a:avLst>
              <a:gd name="adj" fmla="val 4332"/>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706" name="CustomShape 18"/>
          <p:cNvSpPr/>
          <p:nvPr/>
        </p:nvSpPr>
        <p:spPr>
          <a:xfrm>
            <a:off x="6483240" y="1828800"/>
            <a:ext cx="500400" cy="500400"/>
          </a:xfrm>
          <a:prstGeom prst="ellipse">
            <a:avLst/>
          </a:prstGeom>
          <a:solidFill>
            <a:srgbClr val="134074"/>
          </a:solidFill>
          <a:ln>
            <a:noFill/>
          </a:ln>
        </p:spPr>
        <p:style>
          <a:lnRef idx="0"/>
          <a:fillRef idx="0"/>
          <a:effectRef idx="0"/>
          <a:fontRef idx="minor"/>
        </p:style>
      </p:sp>
      <p:sp>
        <p:nvSpPr>
          <p:cNvPr id="707" name="CustomShape 19"/>
          <p:cNvSpPr/>
          <p:nvPr/>
        </p:nvSpPr>
        <p:spPr>
          <a:xfrm>
            <a:off x="648324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3</a:t>
            </a:r>
            <a:endParaRPr b="0" lang="es-ES" sz="1800" spc="-1" strike="noStrike">
              <a:latin typeface="Arial"/>
            </a:endParaRPr>
          </a:p>
        </p:txBody>
      </p:sp>
      <p:sp>
        <p:nvSpPr>
          <p:cNvPr id="708" name="CustomShape 20"/>
          <p:cNvSpPr/>
          <p:nvPr/>
        </p:nvSpPr>
        <p:spPr>
          <a:xfrm>
            <a:off x="6483240" y="2468880"/>
            <a:ext cx="207324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Reutilizar</a:t>
            </a:r>
            <a:endParaRPr b="0" lang="es-ES" sz="1600" spc="-1" strike="noStrike">
              <a:latin typeface="Arial"/>
            </a:endParaRPr>
          </a:p>
        </p:txBody>
      </p:sp>
      <p:sp>
        <p:nvSpPr>
          <p:cNvPr id="709" name="CustomShape 21"/>
          <p:cNvSpPr/>
          <p:nvPr/>
        </p:nvSpPr>
        <p:spPr>
          <a:xfrm>
            <a:off x="6483240" y="3154680"/>
            <a:ext cx="2073240" cy="1049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Las siguientes ejecuciones se saltan la compilación.</a:t>
            </a:r>
            <a:endParaRPr b="0" lang="es-ES" sz="1400" spc="-1" strike="noStrike">
              <a:latin typeface="Arial"/>
            </a:endParaRPr>
          </a:p>
        </p:txBody>
      </p:sp>
      <p:sp>
        <p:nvSpPr>
          <p:cNvPr id="710" name="CustomShape 22"/>
          <p:cNvSpPr/>
          <p:nvPr/>
        </p:nvSpPr>
        <p:spPr>
          <a:xfrm>
            <a:off x="8823960" y="1947600"/>
            <a:ext cx="24444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711" name="CustomShape 23"/>
          <p:cNvSpPr/>
          <p:nvPr/>
        </p:nvSpPr>
        <p:spPr>
          <a:xfrm>
            <a:off x="9107280" y="1600200"/>
            <a:ext cx="2530440" cy="2694960"/>
          </a:xfrm>
          <a:prstGeom prst="roundRect">
            <a:avLst>
              <a:gd name="adj" fmla="val 4332"/>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712" name="CustomShape 24"/>
          <p:cNvSpPr/>
          <p:nvPr/>
        </p:nvSpPr>
        <p:spPr>
          <a:xfrm>
            <a:off x="9335880" y="1828800"/>
            <a:ext cx="500400" cy="500400"/>
          </a:xfrm>
          <a:prstGeom prst="ellipse">
            <a:avLst/>
          </a:prstGeom>
          <a:solidFill>
            <a:srgbClr val="134074"/>
          </a:solidFill>
          <a:ln>
            <a:noFill/>
          </a:ln>
        </p:spPr>
        <p:style>
          <a:lnRef idx="0"/>
          <a:fillRef idx="0"/>
          <a:effectRef idx="0"/>
          <a:fontRef idx="minor"/>
        </p:style>
      </p:sp>
      <p:sp>
        <p:nvSpPr>
          <p:cNvPr id="713" name="CustomShape 25"/>
          <p:cNvSpPr/>
          <p:nvPr/>
        </p:nvSpPr>
        <p:spPr>
          <a:xfrm>
            <a:off x="933588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4</a:t>
            </a:r>
            <a:endParaRPr b="0" lang="es-ES" sz="1800" spc="-1" strike="noStrike">
              <a:latin typeface="Arial"/>
            </a:endParaRPr>
          </a:p>
        </p:txBody>
      </p:sp>
      <p:sp>
        <p:nvSpPr>
          <p:cNvPr id="714" name="CustomShape 26"/>
          <p:cNvSpPr/>
          <p:nvPr/>
        </p:nvSpPr>
        <p:spPr>
          <a:xfrm>
            <a:off x="9335880" y="2468880"/>
            <a:ext cx="207324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Recompilar</a:t>
            </a:r>
            <a:endParaRPr b="0" lang="es-ES" sz="1600" spc="-1" strike="noStrike">
              <a:latin typeface="Arial"/>
            </a:endParaRPr>
          </a:p>
        </p:txBody>
      </p:sp>
      <p:sp>
        <p:nvSpPr>
          <p:cNvPr id="715" name="CustomShape 27"/>
          <p:cNvSpPr/>
          <p:nvPr/>
        </p:nvSpPr>
        <p:spPr>
          <a:xfrm>
            <a:off x="9335880" y="3154680"/>
            <a:ext cx="2073240" cy="1049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Cambios de esquema, estadísticas o SET options lo invalidan.</a:t>
            </a:r>
            <a:endParaRPr b="0" lang="es-ES" sz="1400" spc="-1" strike="noStrike">
              <a:latin typeface="Arial"/>
            </a:endParaRPr>
          </a:p>
        </p:txBody>
      </p:sp>
      <p:sp>
        <p:nvSpPr>
          <p:cNvPr id="716" name="CustomShape 28"/>
          <p:cNvSpPr/>
          <p:nvPr/>
        </p:nvSpPr>
        <p:spPr>
          <a:xfrm>
            <a:off x="548640" y="4572000"/>
            <a:ext cx="6855480" cy="1597680"/>
          </a:xfrm>
          <a:prstGeom prst="roundRect">
            <a:avLst>
              <a:gd name="adj" fmla="val 5714"/>
            </a:avLst>
          </a:prstGeom>
          <a:solidFill>
            <a:srgbClr val="eceff3"/>
          </a:solidFill>
          <a:ln w="9360">
            <a:solidFill>
              <a:srgbClr val="d0d7de"/>
            </a:solidFill>
            <a:round/>
          </a:ln>
        </p:spPr>
        <p:style>
          <a:lnRef idx="0"/>
          <a:fillRef idx="0"/>
          <a:effectRef idx="0"/>
          <a:fontRef idx="minor"/>
        </p:style>
      </p:sp>
      <p:sp>
        <p:nvSpPr>
          <p:cNvPr id="717" name="CustomShape 29"/>
          <p:cNvSpPr/>
          <p:nvPr/>
        </p:nvSpPr>
        <p:spPr>
          <a:xfrm>
            <a:off x="731520" y="46634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mitigaciones y DMV</a:t>
            </a:r>
            <a:endParaRPr b="0" lang="es-ES" sz="1000" spc="-1" strike="noStrike">
              <a:latin typeface="Arial"/>
            </a:endParaRPr>
          </a:p>
        </p:txBody>
      </p:sp>
      <p:sp>
        <p:nvSpPr>
          <p:cNvPr id="718" name="CustomShape 30"/>
          <p:cNvSpPr/>
          <p:nvPr/>
        </p:nvSpPr>
        <p:spPr>
          <a:xfrm>
            <a:off x="731520" y="4937760"/>
            <a:ext cx="6489720" cy="114048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0" i="1" lang="en-US" sz="1200" spc="-1" strike="noStrike">
                <a:solidFill>
                  <a:srgbClr val="6b7280"/>
                </a:solidFill>
                <a:latin typeface="Consolas"/>
                <a:ea typeface="Consolas"/>
              </a:rPr>
              <a:t>-- Mitigaciones de parameter sniffing</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EXEC</a:t>
            </a:r>
            <a:r>
              <a:rPr b="0" lang="en-US" sz="1200" spc="-1" strike="noStrike">
                <a:solidFill>
                  <a:srgbClr val="1f2933"/>
                </a:solidFill>
                <a:latin typeface="Consolas"/>
                <a:ea typeface="Consolas"/>
              </a:rPr>
              <a:t> dbo.usp_PedidosPorCliente </a:t>
            </a:r>
            <a:r>
              <a:rPr b="0" lang="en-US" sz="1200" spc="-1" strike="noStrike">
                <a:solidFill>
                  <a:srgbClr val="0f766e"/>
                </a:solidFill>
                <a:latin typeface="Consolas"/>
                <a:ea typeface="Consolas"/>
              </a:rPr>
              <a:t>@ClienteId</a:t>
            </a:r>
            <a:r>
              <a:rPr b="0" lang="en-US" sz="1200" spc="-1" strike="noStrike">
                <a:solidFill>
                  <a:srgbClr val="1f2933"/>
                </a:solidFill>
                <a:latin typeface="Consolas"/>
                <a:ea typeface="Consolas"/>
              </a:rPr>
              <a:t> = </a:t>
            </a:r>
            <a:r>
              <a:rPr b="0" lang="en-US" sz="1200" spc="-1" strike="noStrike">
                <a:solidFill>
                  <a:srgbClr val="9a3412"/>
                </a:solidFill>
                <a:latin typeface="Consolas"/>
                <a:ea typeface="Consolas"/>
              </a:rPr>
              <a:t>42</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RECOMPILE</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i="1" lang="en-US" sz="1200" spc="-1" strike="noStrike">
                <a:solidFill>
                  <a:srgbClr val="6b7280"/>
                </a:solidFill>
                <a:latin typeface="Consolas"/>
                <a:ea typeface="Consolas"/>
              </a:rPr>
              <a:t>-- En la consulta: OPTION (RECOMPILE) / OPTION (OPTIMIZE FOR UNKNOWN)</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TOP</a:t>
            </a:r>
            <a:r>
              <a:rPr b="0" lang="en-US" sz="1200" spc="-1" strike="noStrike">
                <a:solidFill>
                  <a:srgbClr val="1f2933"/>
                </a:solidFill>
                <a:latin typeface="Consolas"/>
                <a:ea typeface="Consolas"/>
              </a:rPr>
              <a:t> (</a:t>
            </a:r>
            <a:r>
              <a:rPr b="0" lang="en-US" sz="1200" spc="-1" strike="noStrike">
                <a:solidFill>
                  <a:srgbClr val="9a3412"/>
                </a:solidFill>
                <a:latin typeface="Consolas"/>
                <a:ea typeface="Consolas"/>
              </a:rPr>
              <a:t>5</a:t>
            </a:r>
            <a:r>
              <a:rPr b="0" lang="en-US" sz="1200" spc="-1" strike="noStrike">
                <a:solidFill>
                  <a:srgbClr val="1f2933"/>
                </a:solidFill>
                <a:latin typeface="Consolas"/>
                <a:ea typeface="Consolas"/>
              </a:rPr>
              <a:t>) usecounts, size_in_bytes, objtype</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sys.dm_exec_cached_plans </a:t>
            </a:r>
            <a:r>
              <a:rPr b="1" lang="en-US" sz="1200" spc="-1" strike="noStrike">
                <a:solidFill>
                  <a:srgbClr val="1d4ed8"/>
                </a:solidFill>
                <a:latin typeface="Consolas"/>
                <a:ea typeface="Consolas"/>
              </a:rPr>
              <a:t>ORDER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BY</a:t>
            </a:r>
            <a:r>
              <a:rPr b="0" lang="en-US" sz="1200" spc="-1" strike="noStrike">
                <a:solidFill>
                  <a:srgbClr val="1f2933"/>
                </a:solidFill>
                <a:latin typeface="Consolas"/>
                <a:ea typeface="Consolas"/>
              </a:rPr>
              <a:t> usecounts </a:t>
            </a:r>
            <a:r>
              <a:rPr b="1" lang="en-US" sz="1200" spc="-1" strike="noStrike">
                <a:solidFill>
                  <a:srgbClr val="1d4ed8"/>
                </a:solidFill>
                <a:latin typeface="Consolas"/>
                <a:ea typeface="Consolas"/>
              </a:rPr>
              <a:t>DESC</a:t>
            </a:r>
            <a:r>
              <a:rPr b="0" lang="en-US" sz="1200" spc="-1" strike="noStrike">
                <a:solidFill>
                  <a:srgbClr val="1f2933"/>
                </a:solidFill>
                <a:latin typeface="Consolas"/>
                <a:ea typeface="Consolas"/>
              </a:rPr>
              <a:t>;</a:t>
            </a:r>
            <a:endParaRPr b="0" lang="es-ES" sz="1200" spc="-1" strike="noStrike">
              <a:latin typeface="Arial"/>
            </a:endParaRPr>
          </a:p>
        </p:txBody>
      </p:sp>
      <p:sp>
        <p:nvSpPr>
          <p:cNvPr id="719" name="CustomShape 31"/>
          <p:cNvSpPr/>
          <p:nvPr/>
        </p:nvSpPr>
        <p:spPr>
          <a:xfrm>
            <a:off x="7680960" y="4572000"/>
            <a:ext cx="3956760" cy="1597680"/>
          </a:xfrm>
          <a:prstGeom prst="roundRect">
            <a:avLst>
              <a:gd name="adj" fmla="val 6857"/>
            </a:avLst>
          </a:prstGeom>
          <a:solidFill>
            <a:srgbClr val="fdede8"/>
          </a:solidFill>
          <a:ln>
            <a:noFill/>
          </a:ln>
        </p:spPr>
        <p:style>
          <a:lnRef idx="0"/>
          <a:fillRef idx="0"/>
          <a:effectRef idx="0"/>
          <a:fontRef idx="minor"/>
        </p:style>
      </p:sp>
      <p:sp>
        <p:nvSpPr>
          <p:cNvPr id="720" name="CustomShape 32"/>
          <p:cNvSpPr/>
          <p:nvPr/>
        </p:nvSpPr>
        <p:spPr>
          <a:xfrm>
            <a:off x="7863840" y="5143680"/>
            <a:ext cx="454680" cy="454680"/>
          </a:xfrm>
          <a:prstGeom prst="ellipse">
            <a:avLst/>
          </a:prstGeom>
          <a:solidFill>
            <a:srgbClr val="d95d39"/>
          </a:solidFill>
          <a:ln>
            <a:noFill/>
          </a:ln>
        </p:spPr>
        <p:style>
          <a:lnRef idx="0"/>
          <a:fillRef idx="0"/>
          <a:effectRef idx="0"/>
          <a:fontRef idx="minor"/>
        </p:style>
      </p:sp>
      <p:pic>
        <p:nvPicPr>
          <p:cNvPr id="721" name="Image 0" descr="preencoded.png"/>
          <p:cNvPicPr/>
          <p:nvPr/>
        </p:nvPicPr>
        <p:blipFill>
          <a:blip r:embed="rId1"/>
          <a:stretch/>
        </p:blipFill>
        <p:spPr>
          <a:xfrm>
            <a:off x="7978320" y="5257800"/>
            <a:ext cx="226080" cy="226080"/>
          </a:xfrm>
          <a:prstGeom prst="rect">
            <a:avLst/>
          </a:prstGeom>
          <a:ln>
            <a:noFill/>
          </a:ln>
        </p:spPr>
      </p:pic>
      <p:sp>
        <p:nvSpPr>
          <p:cNvPr id="722" name="CustomShape 33"/>
          <p:cNvSpPr/>
          <p:nvPr/>
        </p:nvSpPr>
        <p:spPr>
          <a:xfrm>
            <a:off x="8503920" y="4572000"/>
            <a:ext cx="2950920" cy="15976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a8431f"/>
                </a:solidFill>
                <a:latin typeface="Calibri"/>
                <a:ea typeface="Calibri"/>
              </a:rPr>
              <a:t>Sniffing: </a:t>
            </a:r>
            <a:r>
              <a:rPr b="0" lang="en-US" sz="1400" spc="-1" strike="noStrike">
                <a:solidFill>
                  <a:srgbClr val="1f2933"/>
                </a:solidFill>
                <a:latin typeface="Calibri"/>
                <a:ea typeface="Calibri"/>
              </a:rPr>
              <a:t>el primer valor compilado fija el plan para todos los demás.</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723" name="CustomShape 1"/>
          <p:cNvSpPr/>
          <p:nvPr/>
        </p:nvSpPr>
        <p:spPr>
          <a:xfrm>
            <a:off x="548640" y="365760"/>
            <a:ext cx="149724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DML AVANZADO</a:t>
            </a:r>
            <a:endParaRPr b="0" lang="es-ES" sz="1000" spc="-1" strike="noStrike">
              <a:latin typeface="Arial"/>
            </a:endParaRPr>
          </a:p>
        </p:txBody>
      </p:sp>
      <p:sp>
        <p:nvSpPr>
          <p:cNvPr id="724"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SELECT complejos: orden lógico de ejecución</a:t>
            </a:r>
            <a:endParaRPr b="0" lang="es-ES" sz="3400" spc="-1" strike="noStrike">
              <a:latin typeface="Arial"/>
            </a:endParaRPr>
          </a:p>
        </p:txBody>
      </p:sp>
      <p:sp>
        <p:nvSpPr>
          <p:cNvPr id="725"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726"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2   28</a:t>
            </a:r>
            <a:endParaRPr b="0" lang="es-ES" sz="1000" spc="-1" strike="noStrike">
              <a:latin typeface="Arial"/>
            </a:endParaRPr>
          </a:p>
        </p:txBody>
      </p:sp>
      <p:sp>
        <p:nvSpPr>
          <p:cNvPr id="727" name="CustomShape 5"/>
          <p:cNvSpPr/>
          <p:nvPr/>
        </p:nvSpPr>
        <p:spPr>
          <a:xfrm>
            <a:off x="548640" y="1600200"/>
            <a:ext cx="1617480" cy="2329200"/>
          </a:xfrm>
          <a:prstGeom prst="roundRect">
            <a:avLst>
              <a:gd name="adj" fmla="val 6773"/>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728" name="CustomShape 6"/>
          <p:cNvSpPr/>
          <p:nvPr/>
        </p:nvSpPr>
        <p:spPr>
          <a:xfrm>
            <a:off x="777240" y="1828800"/>
            <a:ext cx="500400" cy="500400"/>
          </a:xfrm>
          <a:prstGeom prst="ellipse">
            <a:avLst/>
          </a:prstGeom>
          <a:solidFill>
            <a:srgbClr val="134074"/>
          </a:solidFill>
          <a:ln>
            <a:noFill/>
          </a:ln>
        </p:spPr>
        <p:style>
          <a:lnRef idx="0"/>
          <a:fillRef idx="0"/>
          <a:effectRef idx="0"/>
          <a:fontRef idx="minor"/>
        </p:style>
      </p:sp>
      <p:sp>
        <p:nvSpPr>
          <p:cNvPr id="729" name="CustomShape 7"/>
          <p:cNvSpPr/>
          <p:nvPr/>
        </p:nvSpPr>
        <p:spPr>
          <a:xfrm>
            <a:off x="77724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1</a:t>
            </a:r>
            <a:endParaRPr b="0" lang="es-ES" sz="1800" spc="-1" strike="noStrike">
              <a:latin typeface="Arial"/>
            </a:endParaRPr>
          </a:p>
        </p:txBody>
      </p:sp>
      <p:sp>
        <p:nvSpPr>
          <p:cNvPr id="730" name="CustomShape 8"/>
          <p:cNvSpPr/>
          <p:nvPr/>
        </p:nvSpPr>
        <p:spPr>
          <a:xfrm>
            <a:off x="777240" y="2468880"/>
            <a:ext cx="116028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FROM</a:t>
            </a:r>
            <a:endParaRPr b="0" lang="es-ES" sz="1600" spc="-1" strike="noStrike">
              <a:latin typeface="Arial"/>
            </a:endParaRPr>
          </a:p>
        </p:txBody>
      </p:sp>
      <p:sp>
        <p:nvSpPr>
          <p:cNvPr id="731" name="CustomShape 9"/>
          <p:cNvSpPr/>
          <p:nvPr/>
        </p:nvSpPr>
        <p:spPr>
          <a:xfrm>
            <a:off x="777240" y="3154680"/>
            <a:ext cx="1160280" cy="6832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Origen y JOINs</a:t>
            </a:r>
            <a:endParaRPr b="0" lang="es-ES" sz="1400" spc="-1" strike="noStrike">
              <a:latin typeface="Arial"/>
            </a:endParaRPr>
          </a:p>
        </p:txBody>
      </p:sp>
      <p:sp>
        <p:nvSpPr>
          <p:cNvPr id="732" name="CustomShape 10"/>
          <p:cNvSpPr/>
          <p:nvPr/>
        </p:nvSpPr>
        <p:spPr>
          <a:xfrm>
            <a:off x="2205360" y="1947600"/>
            <a:ext cx="19872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733" name="CustomShape 11"/>
          <p:cNvSpPr/>
          <p:nvPr/>
        </p:nvSpPr>
        <p:spPr>
          <a:xfrm>
            <a:off x="2442960" y="1600200"/>
            <a:ext cx="1617480" cy="2329200"/>
          </a:xfrm>
          <a:prstGeom prst="roundRect">
            <a:avLst>
              <a:gd name="adj" fmla="val 6773"/>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734" name="CustomShape 12"/>
          <p:cNvSpPr/>
          <p:nvPr/>
        </p:nvSpPr>
        <p:spPr>
          <a:xfrm>
            <a:off x="2671560" y="1828800"/>
            <a:ext cx="500400" cy="500400"/>
          </a:xfrm>
          <a:prstGeom prst="ellipse">
            <a:avLst/>
          </a:prstGeom>
          <a:solidFill>
            <a:srgbClr val="134074"/>
          </a:solidFill>
          <a:ln>
            <a:noFill/>
          </a:ln>
        </p:spPr>
        <p:style>
          <a:lnRef idx="0"/>
          <a:fillRef idx="0"/>
          <a:effectRef idx="0"/>
          <a:fontRef idx="minor"/>
        </p:style>
      </p:sp>
      <p:sp>
        <p:nvSpPr>
          <p:cNvPr id="735" name="CustomShape 13"/>
          <p:cNvSpPr/>
          <p:nvPr/>
        </p:nvSpPr>
        <p:spPr>
          <a:xfrm>
            <a:off x="267156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2</a:t>
            </a:r>
            <a:endParaRPr b="0" lang="es-ES" sz="1800" spc="-1" strike="noStrike">
              <a:latin typeface="Arial"/>
            </a:endParaRPr>
          </a:p>
        </p:txBody>
      </p:sp>
      <p:sp>
        <p:nvSpPr>
          <p:cNvPr id="736" name="CustomShape 14"/>
          <p:cNvSpPr/>
          <p:nvPr/>
        </p:nvSpPr>
        <p:spPr>
          <a:xfrm>
            <a:off x="2671560" y="2468880"/>
            <a:ext cx="116028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WHERE</a:t>
            </a:r>
            <a:endParaRPr b="0" lang="es-ES" sz="1600" spc="-1" strike="noStrike">
              <a:latin typeface="Arial"/>
            </a:endParaRPr>
          </a:p>
        </p:txBody>
      </p:sp>
      <p:sp>
        <p:nvSpPr>
          <p:cNvPr id="737" name="CustomShape 15"/>
          <p:cNvSpPr/>
          <p:nvPr/>
        </p:nvSpPr>
        <p:spPr>
          <a:xfrm>
            <a:off x="2671560" y="3154680"/>
            <a:ext cx="1160280" cy="6832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Filtra filas</a:t>
            </a:r>
            <a:endParaRPr b="0" lang="es-ES" sz="1400" spc="-1" strike="noStrike">
              <a:latin typeface="Arial"/>
            </a:endParaRPr>
          </a:p>
        </p:txBody>
      </p:sp>
      <p:sp>
        <p:nvSpPr>
          <p:cNvPr id="738" name="CustomShape 16"/>
          <p:cNvSpPr/>
          <p:nvPr/>
        </p:nvSpPr>
        <p:spPr>
          <a:xfrm>
            <a:off x="4099680" y="1947600"/>
            <a:ext cx="19872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739" name="CustomShape 17"/>
          <p:cNvSpPr/>
          <p:nvPr/>
        </p:nvSpPr>
        <p:spPr>
          <a:xfrm>
            <a:off x="4337280" y="1600200"/>
            <a:ext cx="1617480" cy="2329200"/>
          </a:xfrm>
          <a:prstGeom prst="roundRect">
            <a:avLst>
              <a:gd name="adj" fmla="val 6773"/>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740" name="CustomShape 18"/>
          <p:cNvSpPr/>
          <p:nvPr/>
        </p:nvSpPr>
        <p:spPr>
          <a:xfrm>
            <a:off x="4565880" y="1828800"/>
            <a:ext cx="500400" cy="500400"/>
          </a:xfrm>
          <a:prstGeom prst="ellipse">
            <a:avLst/>
          </a:prstGeom>
          <a:solidFill>
            <a:srgbClr val="134074"/>
          </a:solidFill>
          <a:ln>
            <a:noFill/>
          </a:ln>
        </p:spPr>
        <p:style>
          <a:lnRef idx="0"/>
          <a:fillRef idx="0"/>
          <a:effectRef idx="0"/>
          <a:fontRef idx="minor"/>
        </p:style>
      </p:sp>
      <p:sp>
        <p:nvSpPr>
          <p:cNvPr id="741" name="CustomShape 19"/>
          <p:cNvSpPr/>
          <p:nvPr/>
        </p:nvSpPr>
        <p:spPr>
          <a:xfrm>
            <a:off x="456588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3</a:t>
            </a:r>
            <a:endParaRPr b="0" lang="es-ES" sz="1800" spc="-1" strike="noStrike">
              <a:latin typeface="Arial"/>
            </a:endParaRPr>
          </a:p>
        </p:txBody>
      </p:sp>
      <p:sp>
        <p:nvSpPr>
          <p:cNvPr id="742" name="CustomShape 20"/>
          <p:cNvSpPr/>
          <p:nvPr/>
        </p:nvSpPr>
        <p:spPr>
          <a:xfrm>
            <a:off x="4565880" y="2468880"/>
            <a:ext cx="116028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GROUP BY</a:t>
            </a:r>
            <a:endParaRPr b="0" lang="es-ES" sz="1600" spc="-1" strike="noStrike">
              <a:latin typeface="Arial"/>
            </a:endParaRPr>
          </a:p>
        </p:txBody>
      </p:sp>
      <p:sp>
        <p:nvSpPr>
          <p:cNvPr id="743" name="CustomShape 21"/>
          <p:cNvSpPr/>
          <p:nvPr/>
        </p:nvSpPr>
        <p:spPr>
          <a:xfrm>
            <a:off x="4565880" y="3154680"/>
            <a:ext cx="1160280" cy="6832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Agrupa filas</a:t>
            </a:r>
            <a:endParaRPr b="0" lang="es-ES" sz="1400" spc="-1" strike="noStrike">
              <a:latin typeface="Arial"/>
            </a:endParaRPr>
          </a:p>
        </p:txBody>
      </p:sp>
      <p:sp>
        <p:nvSpPr>
          <p:cNvPr id="744" name="CustomShape 22"/>
          <p:cNvSpPr/>
          <p:nvPr/>
        </p:nvSpPr>
        <p:spPr>
          <a:xfrm>
            <a:off x="5994000" y="1947600"/>
            <a:ext cx="19872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745" name="CustomShape 23"/>
          <p:cNvSpPr/>
          <p:nvPr/>
        </p:nvSpPr>
        <p:spPr>
          <a:xfrm>
            <a:off x="6231600" y="1600200"/>
            <a:ext cx="1617480" cy="2329200"/>
          </a:xfrm>
          <a:prstGeom prst="roundRect">
            <a:avLst>
              <a:gd name="adj" fmla="val 6773"/>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746" name="CustomShape 24"/>
          <p:cNvSpPr/>
          <p:nvPr/>
        </p:nvSpPr>
        <p:spPr>
          <a:xfrm>
            <a:off x="6460200" y="1828800"/>
            <a:ext cx="500400" cy="500400"/>
          </a:xfrm>
          <a:prstGeom prst="ellipse">
            <a:avLst/>
          </a:prstGeom>
          <a:solidFill>
            <a:srgbClr val="134074"/>
          </a:solidFill>
          <a:ln>
            <a:noFill/>
          </a:ln>
        </p:spPr>
        <p:style>
          <a:lnRef idx="0"/>
          <a:fillRef idx="0"/>
          <a:effectRef idx="0"/>
          <a:fontRef idx="minor"/>
        </p:style>
      </p:sp>
      <p:sp>
        <p:nvSpPr>
          <p:cNvPr id="747" name="CustomShape 25"/>
          <p:cNvSpPr/>
          <p:nvPr/>
        </p:nvSpPr>
        <p:spPr>
          <a:xfrm>
            <a:off x="646020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4</a:t>
            </a:r>
            <a:endParaRPr b="0" lang="es-ES" sz="1800" spc="-1" strike="noStrike">
              <a:latin typeface="Arial"/>
            </a:endParaRPr>
          </a:p>
        </p:txBody>
      </p:sp>
      <p:sp>
        <p:nvSpPr>
          <p:cNvPr id="748" name="CustomShape 26"/>
          <p:cNvSpPr/>
          <p:nvPr/>
        </p:nvSpPr>
        <p:spPr>
          <a:xfrm>
            <a:off x="6460200" y="2468880"/>
            <a:ext cx="116028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HAVING</a:t>
            </a:r>
            <a:endParaRPr b="0" lang="es-ES" sz="1600" spc="-1" strike="noStrike">
              <a:latin typeface="Arial"/>
            </a:endParaRPr>
          </a:p>
        </p:txBody>
      </p:sp>
      <p:sp>
        <p:nvSpPr>
          <p:cNvPr id="749" name="CustomShape 27"/>
          <p:cNvSpPr/>
          <p:nvPr/>
        </p:nvSpPr>
        <p:spPr>
          <a:xfrm>
            <a:off x="6460200" y="3154680"/>
            <a:ext cx="1160280" cy="6832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Filtra grupos</a:t>
            </a:r>
            <a:endParaRPr b="0" lang="es-ES" sz="1400" spc="-1" strike="noStrike">
              <a:latin typeface="Arial"/>
            </a:endParaRPr>
          </a:p>
        </p:txBody>
      </p:sp>
      <p:sp>
        <p:nvSpPr>
          <p:cNvPr id="750" name="CustomShape 28"/>
          <p:cNvSpPr/>
          <p:nvPr/>
        </p:nvSpPr>
        <p:spPr>
          <a:xfrm>
            <a:off x="7888320" y="1947600"/>
            <a:ext cx="19872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751" name="CustomShape 29"/>
          <p:cNvSpPr/>
          <p:nvPr/>
        </p:nvSpPr>
        <p:spPr>
          <a:xfrm>
            <a:off x="8125920" y="1600200"/>
            <a:ext cx="1617480" cy="2329200"/>
          </a:xfrm>
          <a:prstGeom prst="roundRect">
            <a:avLst>
              <a:gd name="adj" fmla="val 6773"/>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752" name="CustomShape 30"/>
          <p:cNvSpPr/>
          <p:nvPr/>
        </p:nvSpPr>
        <p:spPr>
          <a:xfrm>
            <a:off x="8354520" y="1828800"/>
            <a:ext cx="500400" cy="500400"/>
          </a:xfrm>
          <a:prstGeom prst="ellipse">
            <a:avLst/>
          </a:prstGeom>
          <a:solidFill>
            <a:srgbClr val="134074"/>
          </a:solidFill>
          <a:ln>
            <a:noFill/>
          </a:ln>
        </p:spPr>
        <p:style>
          <a:lnRef idx="0"/>
          <a:fillRef idx="0"/>
          <a:effectRef idx="0"/>
          <a:fontRef idx="minor"/>
        </p:style>
      </p:sp>
      <p:sp>
        <p:nvSpPr>
          <p:cNvPr id="753" name="CustomShape 31"/>
          <p:cNvSpPr/>
          <p:nvPr/>
        </p:nvSpPr>
        <p:spPr>
          <a:xfrm>
            <a:off x="835452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5</a:t>
            </a:r>
            <a:endParaRPr b="0" lang="es-ES" sz="1800" spc="-1" strike="noStrike">
              <a:latin typeface="Arial"/>
            </a:endParaRPr>
          </a:p>
        </p:txBody>
      </p:sp>
      <p:sp>
        <p:nvSpPr>
          <p:cNvPr id="754" name="CustomShape 32"/>
          <p:cNvSpPr/>
          <p:nvPr/>
        </p:nvSpPr>
        <p:spPr>
          <a:xfrm>
            <a:off x="8354520" y="2468880"/>
            <a:ext cx="116028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SELECT</a:t>
            </a:r>
            <a:endParaRPr b="0" lang="es-ES" sz="1600" spc="-1" strike="noStrike">
              <a:latin typeface="Arial"/>
            </a:endParaRPr>
          </a:p>
        </p:txBody>
      </p:sp>
      <p:sp>
        <p:nvSpPr>
          <p:cNvPr id="755" name="CustomShape 33"/>
          <p:cNvSpPr/>
          <p:nvPr/>
        </p:nvSpPr>
        <p:spPr>
          <a:xfrm>
            <a:off x="8354520" y="3154680"/>
            <a:ext cx="1160280" cy="6832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Columnas y OVER</a:t>
            </a:r>
            <a:endParaRPr b="0" lang="es-ES" sz="1400" spc="-1" strike="noStrike">
              <a:latin typeface="Arial"/>
            </a:endParaRPr>
          </a:p>
        </p:txBody>
      </p:sp>
      <p:sp>
        <p:nvSpPr>
          <p:cNvPr id="756" name="CustomShape 34"/>
          <p:cNvSpPr/>
          <p:nvPr/>
        </p:nvSpPr>
        <p:spPr>
          <a:xfrm>
            <a:off x="9782640" y="1947600"/>
            <a:ext cx="19872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757" name="CustomShape 35"/>
          <p:cNvSpPr/>
          <p:nvPr/>
        </p:nvSpPr>
        <p:spPr>
          <a:xfrm>
            <a:off x="10020240" y="1600200"/>
            <a:ext cx="1617480" cy="2329200"/>
          </a:xfrm>
          <a:prstGeom prst="roundRect">
            <a:avLst>
              <a:gd name="adj" fmla="val 6773"/>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758" name="CustomShape 36"/>
          <p:cNvSpPr/>
          <p:nvPr/>
        </p:nvSpPr>
        <p:spPr>
          <a:xfrm>
            <a:off x="10248840" y="1828800"/>
            <a:ext cx="500400" cy="500400"/>
          </a:xfrm>
          <a:prstGeom prst="ellipse">
            <a:avLst/>
          </a:prstGeom>
          <a:solidFill>
            <a:srgbClr val="134074"/>
          </a:solidFill>
          <a:ln>
            <a:noFill/>
          </a:ln>
        </p:spPr>
        <p:style>
          <a:lnRef idx="0"/>
          <a:fillRef idx="0"/>
          <a:effectRef idx="0"/>
          <a:fontRef idx="minor"/>
        </p:style>
      </p:sp>
      <p:sp>
        <p:nvSpPr>
          <p:cNvPr id="759" name="CustomShape 37"/>
          <p:cNvSpPr/>
          <p:nvPr/>
        </p:nvSpPr>
        <p:spPr>
          <a:xfrm>
            <a:off x="1024884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6</a:t>
            </a:r>
            <a:endParaRPr b="0" lang="es-ES" sz="1800" spc="-1" strike="noStrike">
              <a:latin typeface="Arial"/>
            </a:endParaRPr>
          </a:p>
        </p:txBody>
      </p:sp>
      <p:sp>
        <p:nvSpPr>
          <p:cNvPr id="760" name="CustomShape 38"/>
          <p:cNvSpPr/>
          <p:nvPr/>
        </p:nvSpPr>
        <p:spPr>
          <a:xfrm>
            <a:off x="10248840" y="2468880"/>
            <a:ext cx="116028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ORDER BY</a:t>
            </a:r>
            <a:endParaRPr b="0" lang="es-ES" sz="1600" spc="-1" strike="noStrike">
              <a:latin typeface="Arial"/>
            </a:endParaRPr>
          </a:p>
        </p:txBody>
      </p:sp>
      <p:sp>
        <p:nvSpPr>
          <p:cNvPr id="761" name="CustomShape 39"/>
          <p:cNvSpPr/>
          <p:nvPr/>
        </p:nvSpPr>
        <p:spPr>
          <a:xfrm>
            <a:off x="10248840" y="3154680"/>
            <a:ext cx="1160280" cy="6832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Ordena y TOP</a:t>
            </a:r>
            <a:endParaRPr b="0" lang="es-ES" sz="1400" spc="-1" strike="noStrike">
              <a:latin typeface="Arial"/>
            </a:endParaRPr>
          </a:p>
        </p:txBody>
      </p:sp>
      <p:sp>
        <p:nvSpPr>
          <p:cNvPr id="762" name="CustomShape 40"/>
          <p:cNvSpPr/>
          <p:nvPr/>
        </p:nvSpPr>
        <p:spPr>
          <a:xfrm>
            <a:off x="548640" y="4206240"/>
            <a:ext cx="7038360" cy="1963440"/>
          </a:xfrm>
          <a:prstGeom prst="roundRect">
            <a:avLst>
              <a:gd name="adj" fmla="val 4651"/>
            </a:avLst>
          </a:prstGeom>
          <a:solidFill>
            <a:srgbClr val="eceff3"/>
          </a:solidFill>
          <a:ln w="9360">
            <a:solidFill>
              <a:srgbClr val="d0d7de"/>
            </a:solidFill>
            <a:round/>
          </a:ln>
        </p:spPr>
        <p:style>
          <a:lnRef idx="0"/>
          <a:fillRef idx="0"/>
          <a:effectRef idx="0"/>
          <a:fontRef idx="minor"/>
        </p:style>
      </p:sp>
      <p:sp>
        <p:nvSpPr>
          <p:cNvPr id="763" name="CustomShape 41"/>
          <p:cNvSpPr/>
          <p:nvPr/>
        </p:nvSpPr>
        <p:spPr>
          <a:xfrm>
            <a:off x="731520" y="429768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ventas por cliente y año</a:t>
            </a:r>
            <a:endParaRPr b="0" lang="es-ES" sz="1000" spc="-1" strike="noStrike">
              <a:latin typeface="Arial"/>
            </a:endParaRPr>
          </a:p>
        </p:txBody>
      </p:sp>
      <p:sp>
        <p:nvSpPr>
          <p:cNvPr id="764" name="CustomShape 42"/>
          <p:cNvSpPr/>
          <p:nvPr/>
        </p:nvSpPr>
        <p:spPr>
          <a:xfrm>
            <a:off x="731520" y="4572000"/>
            <a:ext cx="6672600" cy="150624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c.Nombre, YEAR(p.Fecha)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Anio, SUM(p.Total)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Ventas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dbo.Cliente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c</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JOIN</a:t>
            </a:r>
            <a:r>
              <a:rPr b="0" lang="en-US" sz="1200" spc="-1" strike="noStrike">
                <a:solidFill>
                  <a:srgbClr val="1f2933"/>
                </a:solidFill>
                <a:latin typeface="Consolas"/>
                <a:ea typeface="Consolas"/>
              </a:rPr>
              <a:t>     dbo.Pedido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p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 p.ClienteId = c.ClienteId</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WHERE</a:t>
            </a:r>
            <a:r>
              <a:rPr b="0" lang="en-US" sz="1200" spc="-1" strike="noStrike">
                <a:solidFill>
                  <a:srgbClr val="1f2933"/>
                </a:solidFill>
                <a:latin typeface="Consolas"/>
                <a:ea typeface="Consolas"/>
              </a:rPr>
              <a:t>    p.Fecha &gt;= </a:t>
            </a:r>
            <a:r>
              <a:rPr b="0" lang="en-US" sz="1200" spc="-1" strike="noStrike">
                <a:solidFill>
                  <a:srgbClr val="b4441f"/>
                </a:solidFill>
                <a:latin typeface="Consolas"/>
                <a:ea typeface="Consolas"/>
              </a:rPr>
              <a:t>'20240101'</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GROUP</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BY</a:t>
            </a:r>
            <a:r>
              <a:rPr b="0" lang="en-US" sz="1200" spc="-1" strike="noStrike">
                <a:solidFill>
                  <a:srgbClr val="1f2933"/>
                </a:solidFill>
                <a:latin typeface="Consolas"/>
                <a:ea typeface="Consolas"/>
              </a:rPr>
              <a:t> c.Nombre, YEAR(p.Fecha)</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HAVING</a:t>
            </a:r>
            <a:r>
              <a:rPr b="0" lang="en-US" sz="1200" spc="-1" strike="noStrike">
                <a:solidFill>
                  <a:srgbClr val="1f2933"/>
                </a:solidFill>
                <a:latin typeface="Consolas"/>
                <a:ea typeface="Consolas"/>
              </a:rPr>
              <a:t>   SUM(p.Total) &gt; </a:t>
            </a:r>
            <a:r>
              <a:rPr b="0" lang="en-US" sz="1200" spc="-1" strike="noStrike">
                <a:solidFill>
                  <a:srgbClr val="9a3412"/>
                </a:solidFill>
                <a:latin typeface="Consolas"/>
                <a:ea typeface="Consolas"/>
              </a:rPr>
              <a:t>1000</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ORDER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BY</a:t>
            </a:r>
            <a:r>
              <a:rPr b="0" lang="en-US" sz="1200" spc="-1" strike="noStrike">
                <a:solidFill>
                  <a:srgbClr val="1f2933"/>
                </a:solidFill>
                <a:latin typeface="Consolas"/>
                <a:ea typeface="Consolas"/>
              </a:rPr>
              <a:t> Ventas </a:t>
            </a:r>
            <a:r>
              <a:rPr b="1" lang="en-US" sz="1200" spc="-1" strike="noStrike">
                <a:solidFill>
                  <a:srgbClr val="1d4ed8"/>
                </a:solidFill>
                <a:latin typeface="Consolas"/>
                <a:ea typeface="Consolas"/>
              </a:rPr>
              <a:t>DESC</a:t>
            </a:r>
            <a:r>
              <a:rPr b="0" lang="en-US" sz="1200" spc="-1" strike="noStrike">
                <a:solidFill>
                  <a:srgbClr val="1f2933"/>
                </a:solidFill>
                <a:latin typeface="Consolas"/>
                <a:ea typeface="Consolas"/>
              </a:rPr>
              <a:t>;</a:t>
            </a:r>
            <a:endParaRPr b="0" lang="es-ES" sz="1200" spc="-1" strike="noStrike">
              <a:latin typeface="Arial"/>
            </a:endParaRPr>
          </a:p>
        </p:txBody>
      </p:sp>
      <p:sp>
        <p:nvSpPr>
          <p:cNvPr id="765" name="CustomShape 43"/>
          <p:cNvSpPr/>
          <p:nvPr/>
        </p:nvSpPr>
        <p:spPr>
          <a:xfrm>
            <a:off x="7863840" y="4206240"/>
            <a:ext cx="3773880" cy="1963440"/>
          </a:xfrm>
          <a:prstGeom prst="roundRect">
            <a:avLst>
              <a:gd name="adj" fmla="val 5581"/>
            </a:avLst>
          </a:prstGeom>
          <a:solidFill>
            <a:srgbClr val="e8eef5"/>
          </a:solidFill>
          <a:ln>
            <a:noFill/>
          </a:ln>
        </p:spPr>
        <p:style>
          <a:lnRef idx="0"/>
          <a:fillRef idx="0"/>
          <a:effectRef idx="0"/>
          <a:fontRef idx="minor"/>
        </p:style>
      </p:sp>
      <p:sp>
        <p:nvSpPr>
          <p:cNvPr id="766" name="CustomShape 44"/>
          <p:cNvSpPr/>
          <p:nvPr/>
        </p:nvSpPr>
        <p:spPr>
          <a:xfrm>
            <a:off x="8046720" y="4960800"/>
            <a:ext cx="454680" cy="454680"/>
          </a:xfrm>
          <a:prstGeom prst="ellipse">
            <a:avLst/>
          </a:prstGeom>
          <a:solidFill>
            <a:srgbClr val="134074"/>
          </a:solidFill>
          <a:ln>
            <a:noFill/>
          </a:ln>
        </p:spPr>
        <p:style>
          <a:lnRef idx="0"/>
          <a:fillRef idx="0"/>
          <a:effectRef idx="0"/>
          <a:fontRef idx="minor"/>
        </p:style>
      </p:sp>
      <p:pic>
        <p:nvPicPr>
          <p:cNvPr id="767" name="Image 0" descr="preencoded.png"/>
          <p:cNvPicPr/>
          <p:nvPr/>
        </p:nvPicPr>
        <p:blipFill>
          <a:blip r:embed="rId1"/>
          <a:stretch/>
        </p:blipFill>
        <p:spPr>
          <a:xfrm>
            <a:off x="8161200" y="5074920"/>
            <a:ext cx="226080" cy="226080"/>
          </a:xfrm>
          <a:prstGeom prst="rect">
            <a:avLst/>
          </a:prstGeom>
          <a:ln>
            <a:noFill/>
          </a:ln>
        </p:spPr>
      </p:pic>
      <p:sp>
        <p:nvSpPr>
          <p:cNvPr id="768" name="CustomShape 45"/>
          <p:cNvSpPr/>
          <p:nvPr/>
        </p:nvSpPr>
        <p:spPr>
          <a:xfrm>
            <a:off x="8686800" y="4206240"/>
            <a:ext cx="2768040" cy="196344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2545"/>
                </a:solidFill>
                <a:latin typeface="Calibri"/>
                <a:ea typeface="Calibri"/>
              </a:rPr>
              <a:t>Alias: </a:t>
            </a:r>
            <a:r>
              <a:rPr b="0" lang="en-US" sz="1400" spc="-1" strike="noStrike">
                <a:solidFill>
                  <a:srgbClr val="1f2933"/>
                </a:solidFill>
                <a:latin typeface="Calibri"/>
                <a:ea typeface="Calibri"/>
              </a:rPr>
              <a:t>ORDER BY puede usar alias de SELECT porque se evalúa después; WHERE no.</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769" name="CustomShape 1"/>
          <p:cNvSpPr/>
          <p:nvPr/>
        </p:nvSpPr>
        <p:spPr>
          <a:xfrm>
            <a:off x="548640" y="365760"/>
            <a:ext cx="149724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DML AVANZADO</a:t>
            </a:r>
            <a:endParaRPr b="0" lang="es-ES" sz="1000" spc="-1" strike="noStrike">
              <a:latin typeface="Arial"/>
            </a:endParaRPr>
          </a:p>
        </p:txBody>
      </p:sp>
      <p:sp>
        <p:nvSpPr>
          <p:cNvPr id="770"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JOINs: tipos lógicos y trampas habituales</a:t>
            </a:r>
            <a:endParaRPr b="0" lang="es-ES" sz="3400" spc="-1" strike="noStrike">
              <a:latin typeface="Arial"/>
            </a:endParaRPr>
          </a:p>
        </p:txBody>
      </p:sp>
      <p:sp>
        <p:nvSpPr>
          <p:cNvPr id="771"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772"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2   29</a:t>
            </a:r>
            <a:endParaRPr b="0" lang="es-ES" sz="1000" spc="-1" strike="noStrike">
              <a:latin typeface="Arial"/>
            </a:endParaRPr>
          </a:p>
        </p:txBody>
      </p:sp>
      <p:graphicFrame>
        <p:nvGraphicFramePr>
          <p:cNvPr id="773" name="Table 5"/>
          <p:cNvGraphicFramePr/>
          <p:nvPr/>
        </p:nvGraphicFramePr>
        <p:xfrm>
          <a:off x="548640" y="1600200"/>
          <a:ext cx="6217560" cy="2285280"/>
        </p:xfrm>
        <a:graphic>
          <a:graphicData uri="http://schemas.openxmlformats.org/drawingml/2006/table">
            <a:tbl>
              <a:tblPr/>
              <a:tblGrid>
                <a:gridCol w="1097280"/>
                <a:gridCol w="2468880"/>
                <a:gridCol w="2651760"/>
              </a:tblGrid>
              <a:tr h="380880">
                <a:tc>
                  <a:txBody>
                    <a:bodyPr lIns="109440" rIns="109440">
                      <a:noAutofit/>
                    </a:bodyPr>
                    <a:p>
                      <a:pPr>
                        <a:lnSpc>
                          <a:spcPct val="100000"/>
                        </a:lnSpc>
                        <a:tabLst>
                          <a:tab algn="l" pos="0"/>
                        </a:tabLst>
                      </a:pPr>
                      <a:r>
                        <a:rPr b="1" lang="en-US" sz="1300" spc="-1" strike="noStrike">
                          <a:solidFill>
                            <a:srgbClr val="ffffff"/>
                          </a:solidFill>
                          <a:latin typeface="Calibri"/>
                          <a:ea typeface="Calibri"/>
                        </a:rPr>
                        <a:t>Tipo</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c>
                  <a:txBody>
                    <a:bodyPr lIns="109440" rIns="109440">
                      <a:noAutofit/>
                    </a:bodyPr>
                    <a:p>
                      <a:pPr>
                        <a:lnSpc>
                          <a:spcPct val="100000"/>
                        </a:lnSpc>
                        <a:tabLst>
                          <a:tab algn="l" pos="0"/>
                        </a:tabLst>
                      </a:pPr>
                      <a:r>
                        <a:rPr b="1" lang="en-US" sz="1300" spc="-1" strike="noStrike">
                          <a:solidFill>
                            <a:srgbClr val="ffffff"/>
                          </a:solidFill>
                          <a:latin typeface="Calibri"/>
                          <a:ea typeface="Calibri"/>
                        </a:rPr>
                        <a:t>Devuelve</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c>
                  <a:txBody>
                    <a:bodyPr lIns="109440" rIns="109440">
                      <a:noAutofit/>
                    </a:bodyPr>
                    <a:p>
                      <a:pPr>
                        <a:lnSpc>
                          <a:spcPct val="100000"/>
                        </a:lnSpc>
                        <a:tabLst>
                          <a:tab algn="l" pos="0"/>
                        </a:tabLst>
                      </a:pPr>
                      <a:r>
                        <a:rPr b="1" lang="en-US" sz="1300" spc="-1" strike="noStrike">
                          <a:solidFill>
                            <a:srgbClr val="ffffff"/>
                          </a:solidFill>
                          <a:latin typeface="Calibri"/>
                          <a:ea typeface="Calibri"/>
                        </a:rPr>
                        <a:t>Uso típico</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r>
              <a:tr h="380880">
                <a:tc>
                  <a:txBody>
                    <a:bodyPr lIns="109440" rIns="109440">
                      <a:noAutofit/>
                    </a:bodyPr>
                    <a:p>
                      <a:pPr>
                        <a:lnSpc>
                          <a:spcPct val="100000"/>
                        </a:lnSpc>
                        <a:tabLst>
                          <a:tab algn="l" pos="0"/>
                        </a:tabLst>
                      </a:pPr>
                      <a:r>
                        <a:rPr b="1" lang="en-US" sz="1300" spc="-1" strike="noStrike">
                          <a:solidFill>
                            <a:srgbClr val="0b2545"/>
                          </a:solidFill>
                          <a:latin typeface="Calibri"/>
                          <a:ea typeface="Calibri"/>
                        </a:rPr>
                        <a:t>INNER</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Sólo coincidencias</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Pedidos con su cliente</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r h="380880">
                <a:tc>
                  <a:txBody>
                    <a:bodyPr lIns="109440" rIns="109440">
                      <a:noAutofit/>
                    </a:bodyPr>
                    <a:p>
                      <a:pPr>
                        <a:lnSpc>
                          <a:spcPct val="100000"/>
                        </a:lnSpc>
                        <a:tabLst>
                          <a:tab algn="l" pos="0"/>
                        </a:tabLst>
                      </a:pPr>
                      <a:r>
                        <a:rPr b="1" lang="en-US" sz="1300" spc="-1" strike="noStrike">
                          <a:solidFill>
                            <a:srgbClr val="0b2545"/>
                          </a:solidFill>
                          <a:latin typeface="Calibri"/>
                          <a:ea typeface="Calibri"/>
                        </a:rPr>
                        <a:t>LEFT</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Toda la izquierda + NULL</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Clientes sin pedidos</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r>
              <a:tr h="380880">
                <a:tc>
                  <a:txBody>
                    <a:bodyPr lIns="109440" rIns="109440">
                      <a:noAutofit/>
                    </a:bodyPr>
                    <a:p>
                      <a:pPr>
                        <a:lnSpc>
                          <a:spcPct val="100000"/>
                        </a:lnSpc>
                        <a:tabLst>
                          <a:tab algn="l" pos="0"/>
                        </a:tabLst>
                      </a:pPr>
                      <a:r>
                        <a:rPr b="1" lang="en-US" sz="1300" spc="-1" strike="noStrike">
                          <a:solidFill>
                            <a:srgbClr val="0b2545"/>
                          </a:solidFill>
                          <a:latin typeface="Calibri"/>
                          <a:ea typeface="Calibri"/>
                        </a:rPr>
                        <a:t>RIGHT</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Toda la derecha + NULL</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Poco usado (invertir)</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r h="380880">
                <a:tc>
                  <a:txBody>
                    <a:bodyPr lIns="109440" rIns="109440">
                      <a:noAutofit/>
                    </a:bodyPr>
                    <a:p>
                      <a:pPr>
                        <a:lnSpc>
                          <a:spcPct val="100000"/>
                        </a:lnSpc>
                        <a:tabLst>
                          <a:tab algn="l" pos="0"/>
                        </a:tabLst>
                      </a:pPr>
                      <a:r>
                        <a:rPr b="1" lang="en-US" sz="1300" spc="-1" strike="noStrike">
                          <a:solidFill>
                            <a:srgbClr val="0b2545"/>
                          </a:solidFill>
                          <a:latin typeface="Calibri"/>
                          <a:ea typeface="Calibri"/>
                        </a:rPr>
                        <a:t>FULL</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Ambos lados completos</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Conciliaciones</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r>
              <a:tr h="381240">
                <a:tc>
                  <a:txBody>
                    <a:bodyPr lIns="109440" rIns="109440">
                      <a:noAutofit/>
                    </a:bodyPr>
                    <a:p>
                      <a:pPr>
                        <a:lnSpc>
                          <a:spcPct val="100000"/>
                        </a:lnSpc>
                        <a:tabLst>
                          <a:tab algn="l" pos="0"/>
                        </a:tabLst>
                      </a:pPr>
                      <a:r>
                        <a:rPr b="1" lang="en-US" sz="1300" spc="-1" strike="noStrike">
                          <a:solidFill>
                            <a:srgbClr val="0b2545"/>
                          </a:solidFill>
                          <a:latin typeface="Calibri"/>
                          <a:ea typeface="Calibri"/>
                        </a:rPr>
                        <a:t>CROSS</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Producto cartesiano</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Calendarios, combinaciones</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bl>
          </a:graphicData>
        </a:graphic>
      </p:graphicFrame>
      <p:sp>
        <p:nvSpPr>
          <p:cNvPr id="774" name="CustomShape 6"/>
          <p:cNvSpPr/>
          <p:nvPr/>
        </p:nvSpPr>
        <p:spPr>
          <a:xfrm>
            <a:off x="548640" y="5074920"/>
            <a:ext cx="6215400" cy="1094760"/>
          </a:xfrm>
          <a:prstGeom prst="roundRect">
            <a:avLst>
              <a:gd name="adj" fmla="val 10000"/>
            </a:avLst>
          </a:prstGeom>
          <a:solidFill>
            <a:srgbClr val="fdede8"/>
          </a:solidFill>
          <a:ln>
            <a:noFill/>
          </a:ln>
        </p:spPr>
        <p:style>
          <a:lnRef idx="0"/>
          <a:fillRef idx="0"/>
          <a:effectRef idx="0"/>
          <a:fontRef idx="minor"/>
        </p:style>
      </p:sp>
      <p:sp>
        <p:nvSpPr>
          <p:cNvPr id="775" name="CustomShape 7"/>
          <p:cNvSpPr/>
          <p:nvPr/>
        </p:nvSpPr>
        <p:spPr>
          <a:xfrm>
            <a:off x="731520" y="5394960"/>
            <a:ext cx="454680" cy="454680"/>
          </a:xfrm>
          <a:prstGeom prst="ellipse">
            <a:avLst/>
          </a:prstGeom>
          <a:solidFill>
            <a:srgbClr val="d95d39"/>
          </a:solidFill>
          <a:ln>
            <a:noFill/>
          </a:ln>
        </p:spPr>
        <p:style>
          <a:lnRef idx="0"/>
          <a:fillRef idx="0"/>
          <a:effectRef idx="0"/>
          <a:fontRef idx="minor"/>
        </p:style>
      </p:sp>
      <p:pic>
        <p:nvPicPr>
          <p:cNvPr id="776" name="Image 0" descr="preencoded.png"/>
          <p:cNvPicPr/>
          <p:nvPr/>
        </p:nvPicPr>
        <p:blipFill>
          <a:blip r:embed="rId1"/>
          <a:stretch/>
        </p:blipFill>
        <p:spPr>
          <a:xfrm>
            <a:off x="846000" y="5509440"/>
            <a:ext cx="226080" cy="226080"/>
          </a:xfrm>
          <a:prstGeom prst="rect">
            <a:avLst/>
          </a:prstGeom>
          <a:ln>
            <a:noFill/>
          </a:ln>
        </p:spPr>
      </p:pic>
      <p:sp>
        <p:nvSpPr>
          <p:cNvPr id="777" name="CustomShape 8"/>
          <p:cNvSpPr/>
          <p:nvPr/>
        </p:nvSpPr>
        <p:spPr>
          <a:xfrm>
            <a:off x="1371600" y="5074920"/>
            <a:ext cx="5209560" cy="109476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a8431f"/>
                </a:solidFill>
                <a:latin typeface="Calibri"/>
                <a:ea typeface="Calibri"/>
              </a:rPr>
              <a:t>Trampa: </a:t>
            </a:r>
            <a:r>
              <a:rPr b="0" lang="en-US" sz="1400" spc="-1" strike="noStrike">
                <a:solidFill>
                  <a:srgbClr val="1f2933"/>
                </a:solidFill>
                <a:latin typeface="Calibri"/>
                <a:ea typeface="Calibri"/>
              </a:rPr>
              <a:t>filtrar la tabla derecha en el WHERE convierte el LEFT JOIN en INNER.</a:t>
            </a:r>
            <a:endParaRPr b="0" lang="es-ES" sz="1400" spc="-1" strike="noStrike">
              <a:latin typeface="Arial"/>
            </a:endParaRPr>
          </a:p>
        </p:txBody>
      </p:sp>
      <p:sp>
        <p:nvSpPr>
          <p:cNvPr id="778" name="CustomShape 9"/>
          <p:cNvSpPr/>
          <p:nvPr/>
        </p:nvSpPr>
        <p:spPr>
          <a:xfrm>
            <a:off x="7040880" y="1600200"/>
            <a:ext cx="4596840" cy="4569480"/>
          </a:xfrm>
          <a:prstGeom prst="roundRect">
            <a:avLst>
              <a:gd name="adj" fmla="val 2000"/>
            </a:avLst>
          </a:prstGeom>
          <a:solidFill>
            <a:srgbClr val="eceff3"/>
          </a:solidFill>
          <a:ln w="9360">
            <a:solidFill>
              <a:srgbClr val="d0d7de"/>
            </a:solidFill>
            <a:round/>
          </a:ln>
        </p:spPr>
        <p:style>
          <a:lnRef idx="0"/>
          <a:fillRef idx="0"/>
          <a:effectRef idx="0"/>
          <a:fontRef idx="minor"/>
        </p:style>
      </p:sp>
      <p:sp>
        <p:nvSpPr>
          <p:cNvPr id="779" name="CustomShape 10"/>
          <p:cNvSpPr/>
          <p:nvPr/>
        </p:nvSpPr>
        <p:spPr>
          <a:xfrm>
            <a:off x="722376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LEFT JOIN</a:t>
            </a:r>
            <a:endParaRPr b="0" lang="es-ES" sz="1000" spc="-1" strike="noStrike">
              <a:latin typeface="Arial"/>
            </a:endParaRPr>
          </a:p>
        </p:txBody>
      </p:sp>
      <p:sp>
        <p:nvSpPr>
          <p:cNvPr id="780" name="CustomShape 11"/>
          <p:cNvSpPr/>
          <p:nvPr/>
        </p:nvSpPr>
        <p:spPr>
          <a:xfrm>
            <a:off x="7223760" y="1965960"/>
            <a:ext cx="4231080" cy="411228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0" i="1" lang="en-US" sz="1300" spc="-1" strike="noStrike">
                <a:solidFill>
                  <a:srgbClr val="6b7280"/>
                </a:solidFill>
                <a:latin typeface="Consolas"/>
                <a:ea typeface="Consolas"/>
              </a:rPr>
              <a:t>-- 1) Anti-join: clientes sin pedidos</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SELECT</a:t>
            </a:r>
            <a:r>
              <a:rPr b="0" lang="en-US" sz="1300" spc="-1" strike="noStrike">
                <a:solidFill>
                  <a:srgbClr val="1f2933"/>
                </a:solidFill>
                <a:latin typeface="Consolas"/>
                <a:ea typeface="Consolas"/>
              </a:rPr>
              <a:t> c.ClienteId, c.Nombre</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FROM</a:t>
            </a:r>
            <a:r>
              <a:rPr b="0" lang="en-US" sz="1300" spc="-1" strike="noStrike">
                <a:solidFill>
                  <a:srgbClr val="1f2933"/>
                </a:solidFill>
                <a:latin typeface="Consolas"/>
                <a:ea typeface="Consolas"/>
              </a:rPr>
              <a:t>   dbo.Cliente </a:t>
            </a:r>
            <a:r>
              <a:rPr b="1" lang="en-US" sz="1300" spc="-1" strike="noStrike">
                <a:solidFill>
                  <a:srgbClr val="1d4ed8"/>
                </a:solidFill>
                <a:latin typeface="Consolas"/>
                <a:ea typeface="Consolas"/>
              </a:rPr>
              <a:t>AS</a:t>
            </a:r>
            <a:r>
              <a:rPr b="0" lang="en-US" sz="1300" spc="-1" strike="noStrike">
                <a:solidFill>
                  <a:srgbClr val="1f2933"/>
                </a:solidFill>
                <a:latin typeface="Consolas"/>
                <a:ea typeface="Consolas"/>
              </a:rPr>
              <a:t> c</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LEFT</a:t>
            </a: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JOIN</a:t>
            </a:r>
            <a:r>
              <a:rPr b="0" lang="en-US" sz="1300" spc="-1" strike="noStrike">
                <a:solidFill>
                  <a:srgbClr val="1f2933"/>
                </a:solidFill>
                <a:latin typeface="Consolas"/>
                <a:ea typeface="Consolas"/>
              </a:rPr>
              <a:t> dbo.Pedido </a:t>
            </a:r>
            <a:r>
              <a:rPr b="1" lang="en-US" sz="1300" spc="-1" strike="noStrike">
                <a:solidFill>
                  <a:srgbClr val="1d4ed8"/>
                </a:solidFill>
                <a:latin typeface="Consolas"/>
                <a:ea typeface="Consolas"/>
              </a:rPr>
              <a:t>AS</a:t>
            </a:r>
            <a:r>
              <a:rPr b="0" lang="en-US" sz="1300" spc="-1" strike="noStrike">
                <a:solidFill>
                  <a:srgbClr val="1f2933"/>
                </a:solidFill>
                <a:latin typeface="Consolas"/>
                <a:ea typeface="Consolas"/>
              </a:rPr>
              <a:t> p</a:t>
            </a:r>
            <a:endParaRPr b="0" lang="es-ES" sz="1300" spc="-1" strike="noStrike">
              <a:latin typeface="Arial"/>
            </a:endParaRPr>
          </a:p>
          <a:p>
            <a:pPr>
              <a:lnSpc>
                <a:spcPct val="100000"/>
              </a:lnSpc>
              <a:tabLst>
                <a:tab algn="l" pos="0"/>
              </a:tabLst>
            </a:pP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ON</a:t>
            </a:r>
            <a:r>
              <a:rPr b="0" lang="en-US" sz="1300" spc="-1" strike="noStrike">
                <a:solidFill>
                  <a:srgbClr val="1f2933"/>
                </a:solidFill>
                <a:latin typeface="Consolas"/>
                <a:ea typeface="Consolas"/>
              </a:rPr>
              <a:t> p.ClienteId = c.ClienteId</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WHERE</a:t>
            </a:r>
            <a:r>
              <a:rPr b="0" lang="en-US" sz="1300" spc="-1" strike="noStrike">
                <a:solidFill>
                  <a:srgbClr val="1f2933"/>
                </a:solidFill>
                <a:latin typeface="Consolas"/>
                <a:ea typeface="Consolas"/>
              </a:rPr>
              <a:t>  p.PedidoId </a:t>
            </a:r>
            <a:r>
              <a:rPr b="1" lang="en-US" sz="1300" spc="-1" strike="noStrike">
                <a:solidFill>
                  <a:srgbClr val="1d4ed8"/>
                </a:solidFill>
                <a:latin typeface="Consolas"/>
                <a:ea typeface="Consolas"/>
              </a:rPr>
              <a:t>IS</a:t>
            </a: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NULL</a:t>
            </a:r>
            <a:r>
              <a:rPr b="0" lang="en-US" sz="1300" spc="-1" strike="noStrike">
                <a:solidFill>
                  <a:srgbClr val="1f2933"/>
                </a:solidFill>
                <a:latin typeface="Consolas"/>
                <a:ea typeface="Consolas"/>
              </a:rPr>
              <a:t>;</a:t>
            </a:r>
            <a:endParaRPr b="0" lang="es-ES" sz="1300" spc="-1" strike="noStrike">
              <a:latin typeface="Arial"/>
            </a:endParaRPr>
          </a:p>
          <a:p>
            <a:pPr>
              <a:lnSpc>
                <a:spcPct val="100000"/>
              </a:lnSpc>
              <a:tabLst>
                <a:tab algn="l" pos="0"/>
              </a:tabLst>
            </a:pPr>
            <a:r>
              <a:rPr b="0" lang="en-US" sz="1300" spc="-1" strike="noStrike">
                <a:solidFill>
                  <a:srgbClr val="1f2933"/>
                </a:solidFill>
                <a:latin typeface="Consolas"/>
                <a:ea typeface="Consolas"/>
              </a:rPr>
              <a:t> </a:t>
            </a:r>
            <a:endParaRPr b="0" lang="es-ES" sz="1300" spc="-1" strike="noStrike">
              <a:latin typeface="Arial"/>
            </a:endParaRPr>
          </a:p>
          <a:p>
            <a:pPr>
              <a:lnSpc>
                <a:spcPct val="100000"/>
              </a:lnSpc>
              <a:tabLst>
                <a:tab algn="l" pos="0"/>
              </a:tabLst>
            </a:pPr>
            <a:r>
              <a:rPr b="0" i="1" lang="en-US" sz="1300" spc="-1" strike="noStrike">
                <a:solidFill>
                  <a:srgbClr val="6b7280"/>
                </a:solidFill>
                <a:latin typeface="Consolas"/>
                <a:ea typeface="Consolas"/>
              </a:rPr>
              <a:t>-- 2) Filtra la tabla derecha en el ON</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SELECT</a:t>
            </a:r>
            <a:r>
              <a:rPr b="0" lang="en-US" sz="1300" spc="-1" strike="noStrike">
                <a:solidFill>
                  <a:srgbClr val="1f2933"/>
                </a:solidFill>
                <a:latin typeface="Consolas"/>
                <a:ea typeface="Consolas"/>
              </a:rPr>
              <a:t> c.Nombre, p.PedidoId</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FROM</a:t>
            </a:r>
            <a:r>
              <a:rPr b="0" lang="en-US" sz="1300" spc="-1" strike="noStrike">
                <a:solidFill>
                  <a:srgbClr val="1f2933"/>
                </a:solidFill>
                <a:latin typeface="Consolas"/>
                <a:ea typeface="Consolas"/>
              </a:rPr>
              <a:t>   dbo.Cliente </a:t>
            </a:r>
            <a:r>
              <a:rPr b="1" lang="en-US" sz="1300" spc="-1" strike="noStrike">
                <a:solidFill>
                  <a:srgbClr val="1d4ed8"/>
                </a:solidFill>
                <a:latin typeface="Consolas"/>
                <a:ea typeface="Consolas"/>
              </a:rPr>
              <a:t>AS</a:t>
            </a:r>
            <a:r>
              <a:rPr b="0" lang="en-US" sz="1300" spc="-1" strike="noStrike">
                <a:solidFill>
                  <a:srgbClr val="1f2933"/>
                </a:solidFill>
                <a:latin typeface="Consolas"/>
                <a:ea typeface="Consolas"/>
              </a:rPr>
              <a:t> c</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LEFT</a:t>
            </a: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JOIN</a:t>
            </a:r>
            <a:r>
              <a:rPr b="0" lang="en-US" sz="1300" spc="-1" strike="noStrike">
                <a:solidFill>
                  <a:srgbClr val="1f2933"/>
                </a:solidFill>
                <a:latin typeface="Consolas"/>
                <a:ea typeface="Consolas"/>
              </a:rPr>
              <a:t> dbo.Pedido </a:t>
            </a:r>
            <a:r>
              <a:rPr b="1" lang="en-US" sz="1300" spc="-1" strike="noStrike">
                <a:solidFill>
                  <a:srgbClr val="1d4ed8"/>
                </a:solidFill>
                <a:latin typeface="Consolas"/>
                <a:ea typeface="Consolas"/>
              </a:rPr>
              <a:t>AS</a:t>
            </a:r>
            <a:r>
              <a:rPr b="0" lang="en-US" sz="1300" spc="-1" strike="noStrike">
                <a:solidFill>
                  <a:srgbClr val="1f2933"/>
                </a:solidFill>
                <a:latin typeface="Consolas"/>
                <a:ea typeface="Consolas"/>
              </a:rPr>
              <a:t> p</a:t>
            </a:r>
            <a:endParaRPr b="0" lang="es-ES" sz="1300" spc="-1" strike="noStrike">
              <a:latin typeface="Arial"/>
            </a:endParaRPr>
          </a:p>
          <a:p>
            <a:pPr>
              <a:lnSpc>
                <a:spcPct val="100000"/>
              </a:lnSpc>
              <a:tabLst>
                <a:tab algn="l" pos="0"/>
              </a:tabLst>
            </a:pP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ON</a:t>
            </a:r>
            <a:r>
              <a:rPr b="0" lang="en-US" sz="1300" spc="-1" strike="noStrike">
                <a:solidFill>
                  <a:srgbClr val="1f2933"/>
                </a:solidFill>
                <a:latin typeface="Consolas"/>
                <a:ea typeface="Consolas"/>
              </a:rPr>
              <a:t> p.ClienteId = c.ClienteId</a:t>
            </a:r>
            <a:endParaRPr b="0" lang="es-ES" sz="1300" spc="-1" strike="noStrike">
              <a:latin typeface="Arial"/>
            </a:endParaRPr>
          </a:p>
          <a:p>
            <a:pPr>
              <a:lnSpc>
                <a:spcPct val="100000"/>
              </a:lnSpc>
              <a:tabLst>
                <a:tab algn="l" pos="0"/>
              </a:tabLst>
            </a:pP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AND</a:t>
            </a:r>
            <a:r>
              <a:rPr b="0" lang="en-US" sz="1300" spc="-1" strike="noStrike">
                <a:solidFill>
                  <a:srgbClr val="1f2933"/>
                </a:solidFill>
                <a:latin typeface="Consolas"/>
                <a:ea typeface="Consolas"/>
              </a:rPr>
              <a:t> p.Fecha &gt;= </a:t>
            </a:r>
            <a:r>
              <a:rPr b="0" lang="en-US" sz="1300" spc="-1" strike="noStrike">
                <a:solidFill>
                  <a:srgbClr val="b4441f"/>
                </a:solidFill>
                <a:latin typeface="Consolas"/>
                <a:ea typeface="Consolas"/>
              </a:rPr>
              <a:t>'20240101'</a:t>
            </a:r>
            <a:r>
              <a:rPr b="0" lang="en-US" sz="1300" spc="-1" strike="noStrike">
                <a:solidFill>
                  <a:srgbClr val="1f2933"/>
                </a:solidFill>
                <a:latin typeface="Consolas"/>
                <a:ea typeface="Consolas"/>
              </a:rPr>
              <a:t>;</a:t>
            </a:r>
            <a:endParaRPr b="0" lang="es-ES" sz="1300" spc="-1" strike="noStrike">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781" name="CustomShape 1"/>
          <p:cNvSpPr/>
          <p:nvPr/>
        </p:nvSpPr>
        <p:spPr>
          <a:xfrm>
            <a:off x="548640" y="365760"/>
            <a:ext cx="149724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DML AVANZADO</a:t>
            </a:r>
            <a:endParaRPr b="0" lang="es-ES" sz="1000" spc="-1" strike="noStrike">
              <a:latin typeface="Arial"/>
            </a:endParaRPr>
          </a:p>
        </p:txBody>
      </p:sp>
      <p:sp>
        <p:nvSpPr>
          <p:cNvPr id="782"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JOINs: algoritmos físicos del optimizador</a:t>
            </a:r>
            <a:endParaRPr b="0" lang="es-ES" sz="3400" spc="-1" strike="noStrike">
              <a:latin typeface="Arial"/>
            </a:endParaRPr>
          </a:p>
        </p:txBody>
      </p:sp>
      <p:sp>
        <p:nvSpPr>
          <p:cNvPr id="783"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784"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2   30</a:t>
            </a:r>
            <a:endParaRPr b="0" lang="es-ES" sz="1000" spc="-1" strike="noStrike">
              <a:latin typeface="Arial"/>
            </a:endParaRPr>
          </a:p>
        </p:txBody>
      </p:sp>
      <p:sp>
        <p:nvSpPr>
          <p:cNvPr id="785" name="CustomShape 5"/>
          <p:cNvSpPr/>
          <p:nvPr/>
        </p:nvSpPr>
        <p:spPr>
          <a:xfrm>
            <a:off x="548640" y="1600200"/>
            <a:ext cx="3511800" cy="3472200"/>
          </a:xfrm>
          <a:prstGeom prst="roundRect">
            <a:avLst>
              <a:gd name="adj" fmla="val 3158"/>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786" name="CustomShape 6"/>
          <p:cNvSpPr/>
          <p:nvPr/>
        </p:nvSpPr>
        <p:spPr>
          <a:xfrm>
            <a:off x="777240" y="1828800"/>
            <a:ext cx="546120" cy="546120"/>
          </a:xfrm>
          <a:prstGeom prst="ellipse">
            <a:avLst/>
          </a:prstGeom>
          <a:solidFill>
            <a:srgbClr val="134074"/>
          </a:solidFill>
          <a:ln>
            <a:noFill/>
          </a:ln>
        </p:spPr>
        <p:style>
          <a:lnRef idx="0"/>
          <a:fillRef idx="0"/>
          <a:effectRef idx="0"/>
          <a:fontRef idx="minor"/>
        </p:style>
      </p:sp>
      <p:pic>
        <p:nvPicPr>
          <p:cNvPr id="787" name="Image 0" descr="preencoded.png"/>
          <p:cNvPicPr/>
          <p:nvPr/>
        </p:nvPicPr>
        <p:blipFill>
          <a:blip r:embed="rId1"/>
          <a:stretch/>
        </p:blipFill>
        <p:spPr>
          <a:xfrm>
            <a:off x="914400" y="1965960"/>
            <a:ext cx="271800" cy="271800"/>
          </a:xfrm>
          <a:prstGeom prst="rect">
            <a:avLst/>
          </a:prstGeom>
          <a:ln>
            <a:noFill/>
          </a:ln>
        </p:spPr>
      </p:pic>
      <p:sp>
        <p:nvSpPr>
          <p:cNvPr id="788" name="CustomShape 7"/>
          <p:cNvSpPr/>
          <p:nvPr/>
        </p:nvSpPr>
        <p:spPr>
          <a:xfrm>
            <a:off x="1463040" y="1828800"/>
            <a:ext cx="236880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Nested Loops</a:t>
            </a:r>
            <a:endParaRPr b="0" lang="es-ES" sz="1700" spc="-1" strike="noStrike">
              <a:latin typeface="Arial"/>
            </a:endParaRPr>
          </a:p>
        </p:txBody>
      </p:sp>
      <p:sp>
        <p:nvSpPr>
          <p:cNvPr id="789" name="CustomShape 8"/>
          <p:cNvSpPr/>
          <p:nvPr/>
        </p:nvSpPr>
        <p:spPr>
          <a:xfrm>
            <a:off x="777240" y="2560320"/>
            <a:ext cx="3054600" cy="228348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Por cada fila externa busca en la interna</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Ideal: externa pequeña + Index Seek</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Típico en OLTP</a:t>
            </a:r>
            <a:endParaRPr b="0" lang="es-ES" sz="1400" spc="-1" strike="noStrike">
              <a:latin typeface="Arial"/>
            </a:endParaRPr>
          </a:p>
        </p:txBody>
      </p:sp>
      <p:sp>
        <p:nvSpPr>
          <p:cNvPr id="790" name="CustomShape 9"/>
          <p:cNvSpPr/>
          <p:nvPr/>
        </p:nvSpPr>
        <p:spPr>
          <a:xfrm>
            <a:off x="4337280" y="1600200"/>
            <a:ext cx="3511800" cy="3472200"/>
          </a:xfrm>
          <a:prstGeom prst="roundRect">
            <a:avLst>
              <a:gd name="adj" fmla="val 3158"/>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791" name="CustomShape 10"/>
          <p:cNvSpPr/>
          <p:nvPr/>
        </p:nvSpPr>
        <p:spPr>
          <a:xfrm>
            <a:off x="4565880" y="1828800"/>
            <a:ext cx="546120" cy="546120"/>
          </a:xfrm>
          <a:prstGeom prst="ellipse">
            <a:avLst/>
          </a:prstGeom>
          <a:solidFill>
            <a:srgbClr val="134074"/>
          </a:solidFill>
          <a:ln>
            <a:noFill/>
          </a:ln>
        </p:spPr>
        <p:style>
          <a:lnRef idx="0"/>
          <a:fillRef idx="0"/>
          <a:effectRef idx="0"/>
          <a:fontRef idx="minor"/>
        </p:style>
      </p:sp>
      <p:pic>
        <p:nvPicPr>
          <p:cNvPr id="792" name="Image 1" descr="preencoded.png"/>
          <p:cNvPicPr/>
          <p:nvPr/>
        </p:nvPicPr>
        <p:blipFill>
          <a:blip r:embed="rId2"/>
          <a:stretch/>
        </p:blipFill>
        <p:spPr>
          <a:xfrm>
            <a:off x="4703040" y="1965960"/>
            <a:ext cx="271800" cy="271800"/>
          </a:xfrm>
          <a:prstGeom prst="rect">
            <a:avLst/>
          </a:prstGeom>
          <a:ln>
            <a:noFill/>
          </a:ln>
        </p:spPr>
      </p:pic>
      <p:sp>
        <p:nvSpPr>
          <p:cNvPr id="793" name="CustomShape 11"/>
          <p:cNvSpPr/>
          <p:nvPr/>
        </p:nvSpPr>
        <p:spPr>
          <a:xfrm>
            <a:off x="5251680" y="1828800"/>
            <a:ext cx="236880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Merge Join</a:t>
            </a:r>
            <a:endParaRPr b="0" lang="es-ES" sz="1700" spc="-1" strike="noStrike">
              <a:latin typeface="Arial"/>
            </a:endParaRPr>
          </a:p>
        </p:txBody>
      </p:sp>
      <p:sp>
        <p:nvSpPr>
          <p:cNvPr id="794" name="CustomShape 12"/>
          <p:cNvSpPr/>
          <p:nvPr/>
        </p:nvSpPr>
        <p:spPr>
          <a:xfrm>
            <a:off x="4565880" y="2560320"/>
            <a:ext cx="3054600" cy="228348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Recorre dos entradas ordenadas</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Exige igualdad y orden (índice o Sort)</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Eficiente con grandes volúmenes</a:t>
            </a:r>
            <a:endParaRPr b="0" lang="es-ES" sz="1400" spc="-1" strike="noStrike">
              <a:latin typeface="Arial"/>
            </a:endParaRPr>
          </a:p>
        </p:txBody>
      </p:sp>
      <p:sp>
        <p:nvSpPr>
          <p:cNvPr id="795" name="CustomShape 13"/>
          <p:cNvSpPr/>
          <p:nvPr/>
        </p:nvSpPr>
        <p:spPr>
          <a:xfrm>
            <a:off x="8125920" y="1600200"/>
            <a:ext cx="3511800" cy="3472200"/>
          </a:xfrm>
          <a:prstGeom prst="roundRect">
            <a:avLst>
              <a:gd name="adj" fmla="val 3158"/>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796" name="CustomShape 14"/>
          <p:cNvSpPr/>
          <p:nvPr/>
        </p:nvSpPr>
        <p:spPr>
          <a:xfrm>
            <a:off x="8354520" y="1828800"/>
            <a:ext cx="546120" cy="546120"/>
          </a:xfrm>
          <a:prstGeom prst="ellipse">
            <a:avLst/>
          </a:prstGeom>
          <a:solidFill>
            <a:srgbClr val="134074"/>
          </a:solidFill>
          <a:ln>
            <a:noFill/>
          </a:ln>
        </p:spPr>
        <p:style>
          <a:lnRef idx="0"/>
          <a:fillRef idx="0"/>
          <a:effectRef idx="0"/>
          <a:fontRef idx="minor"/>
        </p:style>
      </p:sp>
      <p:pic>
        <p:nvPicPr>
          <p:cNvPr id="797" name="Image 2" descr="preencoded.png"/>
          <p:cNvPicPr/>
          <p:nvPr/>
        </p:nvPicPr>
        <p:blipFill>
          <a:blip r:embed="rId3"/>
          <a:stretch/>
        </p:blipFill>
        <p:spPr>
          <a:xfrm>
            <a:off x="8491680" y="1965960"/>
            <a:ext cx="271800" cy="271800"/>
          </a:xfrm>
          <a:prstGeom prst="rect">
            <a:avLst/>
          </a:prstGeom>
          <a:ln>
            <a:noFill/>
          </a:ln>
        </p:spPr>
      </p:pic>
      <p:sp>
        <p:nvSpPr>
          <p:cNvPr id="798" name="CustomShape 15"/>
          <p:cNvSpPr/>
          <p:nvPr/>
        </p:nvSpPr>
        <p:spPr>
          <a:xfrm>
            <a:off x="9040320" y="1828800"/>
            <a:ext cx="236880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Hash Match</a:t>
            </a:r>
            <a:endParaRPr b="0" lang="es-ES" sz="1700" spc="-1" strike="noStrike">
              <a:latin typeface="Arial"/>
            </a:endParaRPr>
          </a:p>
        </p:txBody>
      </p:sp>
      <p:sp>
        <p:nvSpPr>
          <p:cNvPr id="799" name="CustomShape 16"/>
          <p:cNvSpPr/>
          <p:nvPr/>
        </p:nvSpPr>
        <p:spPr>
          <a:xfrm>
            <a:off x="8354520" y="2560320"/>
            <a:ext cx="3054600" cy="228348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Tabla hash con la entrada pequeña</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No exige índices ni orden</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Usa memory grant; puede derramar a tempdb</a:t>
            </a:r>
            <a:endParaRPr b="0" lang="es-ES" sz="1400" spc="-1" strike="noStrike">
              <a:latin typeface="Arial"/>
            </a:endParaRPr>
          </a:p>
        </p:txBody>
      </p:sp>
      <p:sp>
        <p:nvSpPr>
          <p:cNvPr id="800" name="CustomShape 17"/>
          <p:cNvSpPr/>
          <p:nvPr/>
        </p:nvSpPr>
        <p:spPr>
          <a:xfrm>
            <a:off x="548640" y="5349240"/>
            <a:ext cx="11089080" cy="820440"/>
          </a:xfrm>
          <a:prstGeom prst="roundRect">
            <a:avLst>
              <a:gd name="adj" fmla="val 13333"/>
            </a:avLst>
          </a:prstGeom>
          <a:solidFill>
            <a:srgbClr val="e8eef5"/>
          </a:solidFill>
          <a:ln>
            <a:noFill/>
          </a:ln>
        </p:spPr>
        <p:style>
          <a:lnRef idx="0"/>
          <a:fillRef idx="0"/>
          <a:effectRef idx="0"/>
          <a:fontRef idx="minor"/>
        </p:style>
      </p:sp>
      <p:sp>
        <p:nvSpPr>
          <p:cNvPr id="801" name="CustomShape 18"/>
          <p:cNvSpPr/>
          <p:nvPr/>
        </p:nvSpPr>
        <p:spPr>
          <a:xfrm>
            <a:off x="731520" y="5532120"/>
            <a:ext cx="454680" cy="454680"/>
          </a:xfrm>
          <a:prstGeom prst="ellipse">
            <a:avLst/>
          </a:prstGeom>
          <a:solidFill>
            <a:srgbClr val="134074"/>
          </a:solidFill>
          <a:ln>
            <a:noFill/>
          </a:ln>
        </p:spPr>
        <p:style>
          <a:lnRef idx="0"/>
          <a:fillRef idx="0"/>
          <a:effectRef idx="0"/>
          <a:fontRef idx="minor"/>
        </p:style>
      </p:sp>
      <p:pic>
        <p:nvPicPr>
          <p:cNvPr id="802" name="Image 3" descr="preencoded.png"/>
          <p:cNvPicPr/>
          <p:nvPr/>
        </p:nvPicPr>
        <p:blipFill>
          <a:blip r:embed="rId4"/>
          <a:stretch/>
        </p:blipFill>
        <p:spPr>
          <a:xfrm>
            <a:off x="846000" y="5646600"/>
            <a:ext cx="226080" cy="226080"/>
          </a:xfrm>
          <a:prstGeom prst="rect">
            <a:avLst/>
          </a:prstGeom>
          <a:ln>
            <a:noFill/>
          </a:ln>
        </p:spPr>
      </p:pic>
      <p:sp>
        <p:nvSpPr>
          <p:cNvPr id="803" name="CustomShape 19"/>
          <p:cNvSpPr/>
          <p:nvPr/>
        </p:nvSpPr>
        <p:spPr>
          <a:xfrm>
            <a:off x="1371600" y="5349240"/>
            <a:ext cx="10083240" cy="82044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2545"/>
                </a:solidFill>
                <a:latin typeface="Calibri"/>
                <a:ea typeface="Calibri"/>
              </a:rPr>
              <a:t>En el plan: </a:t>
            </a:r>
            <a:r>
              <a:rPr b="0" lang="en-US" sz="1400" spc="-1" strike="noStrike">
                <a:solidFill>
                  <a:srgbClr val="1f2933"/>
                </a:solidFill>
                <a:latin typeface="Calibri"/>
                <a:ea typeface="Calibri"/>
              </a:rPr>
              <a:t>compara Estimated frente a Actual Rows. Estadísticas obsoletas provocan joins inadecuados.</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804" name="CustomShape 1"/>
          <p:cNvSpPr/>
          <p:nvPr/>
        </p:nvSpPr>
        <p:spPr>
          <a:xfrm>
            <a:off x="548640" y="365760"/>
            <a:ext cx="149724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DML AVANZADO</a:t>
            </a:r>
            <a:endParaRPr b="0" lang="es-ES" sz="1000" spc="-1" strike="noStrike">
              <a:latin typeface="Arial"/>
            </a:endParaRPr>
          </a:p>
        </p:txBody>
      </p:sp>
      <p:sp>
        <p:nvSpPr>
          <p:cNvPr id="805"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Subconsultas, EXISTS y CTE</a:t>
            </a:r>
            <a:endParaRPr b="0" lang="es-ES" sz="3400" spc="-1" strike="noStrike">
              <a:latin typeface="Arial"/>
            </a:endParaRPr>
          </a:p>
        </p:txBody>
      </p:sp>
      <p:sp>
        <p:nvSpPr>
          <p:cNvPr id="806"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807"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2   31</a:t>
            </a:r>
            <a:endParaRPr b="0" lang="es-ES" sz="1000" spc="-1" strike="noStrike">
              <a:latin typeface="Arial"/>
            </a:endParaRPr>
          </a:p>
        </p:txBody>
      </p:sp>
      <p:sp>
        <p:nvSpPr>
          <p:cNvPr id="808" name="CustomShape 5"/>
          <p:cNvSpPr/>
          <p:nvPr/>
        </p:nvSpPr>
        <p:spPr>
          <a:xfrm>
            <a:off x="548640" y="1600200"/>
            <a:ext cx="5392440" cy="3243600"/>
          </a:xfrm>
          <a:prstGeom prst="roundRect">
            <a:avLst>
              <a:gd name="adj" fmla="val 2817"/>
            </a:avLst>
          </a:prstGeom>
          <a:solidFill>
            <a:srgbClr val="eceff3"/>
          </a:solidFill>
          <a:ln w="9360">
            <a:solidFill>
              <a:srgbClr val="d0d7de"/>
            </a:solidFill>
            <a:round/>
          </a:ln>
        </p:spPr>
        <p:style>
          <a:lnRef idx="0"/>
          <a:fillRef idx="0"/>
          <a:effectRef idx="0"/>
          <a:fontRef idx="minor"/>
        </p:style>
      </p:sp>
      <p:sp>
        <p:nvSpPr>
          <p:cNvPr id="809" name="CustomShape 6"/>
          <p:cNvSpPr/>
          <p:nvPr/>
        </p:nvSpPr>
        <p:spPr>
          <a:xfrm>
            <a:off x="73152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subconsulta y EXISTS</a:t>
            </a:r>
            <a:endParaRPr b="0" lang="es-ES" sz="1000" spc="-1" strike="noStrike">
              <a:latin typeface="Arial"/>
            </a:endParaRPr>
          </a:p>
        </p:txBody>
      </p:sp>
      <p:sp>
        <p:nvSpPr>
          <p:cNvPr id="810" name="CustomShape 7"/>
          <p:cNvSpPr/>
          <p:nvPr/>
        </p:nvSpPr>
        <p:spPr>
          <a:xfrm>
            <a:off x="731520" y="1965960"/>
            <a:ext cx="5026680" cy="278640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0" i="1" lang="en-US" sz="1200" spc="-1" strike="noStrike">
                <a:solidFill>
                  <a:srgbClr val="6b7280"/>
                </a:solidFill>
                <a:latin typeface="Consolas"/>
                <a:ea typeface="Consolas"/>
              </a:rPr>
              <a:t>-- Subconsulta escalar</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PedidoId, Total</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dbo.Pedido</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WHERE</a:t>
            </a:r>
            <a:r>
              <a:rPr b="0" lang="en-US" sz="1200" spc="-1" strike="noStrike">
                <a:solidFill>
                  <a:srgbClr val="1f2933"/>
                </a:solidFill>
                <a:latin typeface="Consolas"/>
                <a:ea typeface="Consolas"/>
              </a:rPr>
              <a:t>  Total &gt; (</a:t>
            </a: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AVG(Total)</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dbo.Pedido);</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0" i="1" lang="en-US" sz="1200" spc="-1" strike="noStrike">
                <a:solidFill>
                  <a:srgbClr val="6b7280"/>
                </a:solidFill>
                <a:latin typeface="Consolas"/>
                <a:ea typeface="Consolas"/>
              </a:rPr>
              <a:t>-- EXISTS (correlacionada)</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c.Nombre</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dbo.Cliente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c</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WHERE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EXISTS</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a:t>
            </a:r>
            <a:r>
              <a:rPr b="0" lang="en-US" sz="1200" spc="-1" strike="noStrike">
                <a:solidFill>
                  <a:srgbClr val="9a3412"/>
                </a:solidFill>
                <a:latin typeface="Consolas"/>
                <a:ea typeface="Consolas"/>
              </a:rPr>
              <a:t>1</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dbo.Pedido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p</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WHERE</a:t>
            </a:r>
            <a:r>
              <a:rPr b="0" lang="en-US" sz="1200" spc="-1" strike="noStrike">
                <a:solidFill>
                  <a:srgbClr val="1f2933"/>
                </a:solidFill>
                <a:latin typeface="Consolas"/>
                <a:ea typeface="Consolas"/>
              </a:rPr>
              <a:t> p.ClienteId = c.ClienteId);</a:t>
            </a:r>
            <a:endParaRPr b="0" lang="es-ES" sz="1200" spc="-1" strike="noStrike">
              <a:latin typeface="Arial"/>
            </a:endParaRPr>
          </a:p>
        </p:txBody>
      </p:sp>
      <p:sp>
        <p:nvSpPr>
          <p:cNvPr id="811" name="CustomShape 8"/>
          <p:cNvSpPr/>
          <p:nvPr/>
        </p:nvSpPr>
        <p:spPr>
          <a:xfrm>
            <a:off x="6245280" y="1600200"/>
            <a:ext cx="5392440" cy="3243600"/>
          </a:xfrm>
          <a:prstGeom prst="roundRect">
            <a:avLst>
              <a:gd name="adj" fmla="val 2817"/>
            </a:avLst>
          </a:prstGeom>
          <a:solidFill>
            <a:srgbClr val="eceff3"/>
          </a:solidFill>
          <a:ln w="9360">
            <a:solidFill>
              <a:srgbClr val="d0d7de"/>
            </a:solidFill>
            <a:round/>
          </a:ln>
        </p:spPr>
        <p:style>
          <a:lnRef idx="0"/>
          <a:fillRef idx="0"/>
          <a:effectRef idx="0"/>
          <a:fontRef idx="minor"/>
        </p:style>
      </p:sp>
      <p:sp>
        <p:nvSpPr>
          <p:cNvPr id="812" name="CustomShape 9"/>
          <p:cNvSpPr/>
          <p:nvPr/>
        </p:nvSpPr>
        <p:spPr>
          <a:xfrm>
            <a:off x="642816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CTE</a:t>
            </a:r>
            <a:endParaRPr b="0" lang="es-ES" sz="1000" spc="-1" strike="noStrike">
              <a:latin typeface="Arial"/>
            </a:endParaRPr>
          </a:p>
        </p:txBody>
      </p:sp>
      <p:sp>
        <p:nvSpPr>
          <p:cNvPr id="813" name="CustomShape 10"/>
          <p:cNvSpPr/>
          <p:nvPr/>
        </p:nvSpPr>
        <p:spPr>
          <a:xfrm>
            <a:off x="6428160" y="1965960"/>
            <a:ext cx="5026680" cy="278640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VentasCliente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ClienteId, SUM(Total)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Ventas</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dbo.Pedido</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GROUP</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BY</a:t>
            </a:r>
            <a:r>
              <a:rPr b="0" lang="en-US" sz="1200" spc="-1" strike="noStrike">
                <a:solidFill>
                  <a:srgbClr val="1f2933"/>
                </a:solidFill>
                <a:latin typeface="Consolas"/>
                <a:ea typeface="Consolas"/>
              </a:rPr>
              <a:t> ClienteId</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TOP</a:t>
            </a:r>
            <a:r>
              <a:rPr b="0" lang="en-US" sz="1200" spc="-1" strike="noStrike">
                <a:solidFill>
                  <a:srgbClr val="1f2933"/>
                </a:solidFill>
                <a:latin typeface="Consolas"/>
                <a:ea typeface="Consolas"/>
              </a:rPr>
              <a:t> (</a:t>
            </a:r>
            <a:r>
              <a:rPr b="0" lang="en-US" sz="1200" spc="-1" strike="noStrike">
                <a:solidFill>
                  <a:srgbClr val="9a3412"/>
                </a:solidFill>
                <a:latin typeface="Consolas"/>
                <a:ea typeface="Consolas"/>
              </a:rPr>
              <a:t>5</a:t>
            </a:r>
            <a:r>
              <a:rPr b="0" lang="en-US" sz="1200" spc="-1" strike="noStrike">
                <a:solidFill>
                  <a:srgbClr val="1f2933"/>
                </a:solidFill>
                <a:latin typeface="Consolas"/>
                <a:ea typeface="Consolas"/>
              </a:rPr>
              <a:t>) c.Nombre, v.Ventas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VentasCliente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v</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JOIN</a:t>
            </a:r>
            <a:r>
              <a:rPr b="0" lang="en-US" sz="1200" spc="-1" strike="noStrike">
                <a:solidFill>
                  <a:srgbClr val="1f2933"/>
                </a:solidFill>
                <a:latin typeface="Consolas"/>
                <a:ea typeface="Consolas"/>
              </a:rPr>
              <a:t>   dbo.Cliente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c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 c.ClienteId = v.ClienteId</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ORDER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BY</a:t>
            </a:r>
            <a:r>
              <a:rPr b="0" lang="en-US" sz="1200" spc="-1" strike="noStrike">
                <a:solidFill>
                  <a:srgbClr val="1f2933"/>
                </a:solidFill>
                <a:latin typeface="Consolas"/>
                <a:ea typeface="Consolas"/>
              </a:rPr>
              <a:t> v.Ventas </a:t>
            </a:r>
            <a:r>
              <a:rPr b="1" lang="en-US" sz="1200" spc="-1" strike="noStrike">
                <a:solidFill>
                  <a:srgbClr val="1d4ed8"/>
                </a:solidFill>
                <a:latin typeface="Consolas"/>
                <a:ea typeface="Consolas"/>
              </a:rPr>
              <a:t>DESC</a:t>
            </a:r>
            <a:r>
              <a:rPr b="0" lang="en-US" sz="1200" spc="-1" strike="noStrike">
                <a:solidFill>
                  <a:srgbClr val="1f2933"/>
                </a:solidFill>
                <a:latin typeface="Consolas"/>
                <a:ea typeface="Consolas"/>
              </a:rPr>
              <a:t>;</a:t>
            </a:r>
            <a:endParaRPr b="0" lang="es-ES" sz="1200" spc="-1" strike="noStrike">
              <a:latin typeface="Arial"/>
            </a:endParaRPr>
          </a:p>
        </p:txBody>
      </p:sp>
      <p:sp>
        <p:nvSpPr>
          <p:cNvPr id="814" name="CustomShape 11"/>
          <p:cNvSpPr/>
          <p:nvPr/>
        </p:nvSpPr>
        <p:spPr>
          <a:xfrm>
            <a:off x="548640" y="5120640"/>
            <a:ext cx="11089080" cy="1049040"/>
          </a:xfrm>
          <a:prstGeom prst="roundRect">
            <a:avLst>
              <a:gd name="adj" fmla="val 10435"/>
            </a:avLst>
          </a:prstGeom>
          <a:solidFill>
            <a:srgbClr val="e8eef5"/>
          </a:solidFill>
          <a:ln>
            <a:noFill/>
          </a:ln>
        </p:spPr>
        <p:style>
          <a:lnRef idx="0"/>
          <a:fillRef idx="0"/>
          <a:effectRef idx="0"/>
          <a:fontRef idx="minor"/>
        </p:style>
      </p:sp>
      <p:sp>
        <p:nvSpPr>
          <p:cNvPr id="815" name="CustomShape 12"/>
          <p:cNvSpPr/>
          <p:nvPr/>
        </p:nvSpPr>
        <p:spPr>
          <a:xfrm>
            <a:off x="731520" y="5418000"/>
            <a:ext cx="454680" cy="454680"/>
          </a:xfrm>
          <a:prstGeom prst="ellipse">
            <a:avLst/>
          </a:prstGeom>
          <a:solidFill>
            <a:srgbClr val="134074"/>
          </a:solidFill>
          <a:ln>
            <a:noFill/>
          </a:ln>
        </p:spPr>
        <p:style>
          <a:lnRef idx="0"/>
          <a:fillRef idx="0"/>
          <a:effectRef idx="0"/>
          <a:fontRef idx="minor"/>
        </p:style>
      </p:sp>
      <p:pic>
        <p:nvPicPr>
          <p:cNvPr id="816" name="Image 0" descr="preencoded.png"/>
          <p:cNvPicPr/>
          <p:nvPr/>
        </p:nvPicPr>
        <p:blipFill>
          <a:blip r:embed="rId1"/>
          <a:stretch/>
        </p:blipFill>
        <p:spPr>
          <a:xfrm>
            <a:off x="846000" y="5532120"/>
            <a:ext cx="226080" cy="226080"/>
          </a:xfrm>
          <a:prstGeom prst="rect">
            <a:avLst/>
          </a:prstGeom>
          <a:ln>
            <a:noFill/>
          </a:ln>
        </p:spPr>
      </p:pic>
      <p:sp>
        <p:nvSpPr>
          <p:cNvPr id="817" name="CustomShape 13"/>
          <p:cNvSpPr/>
          <p:nvPr/>
        </p:nvSpPr>
        <p:spPr>
          <a:xfrm>
            <a:off x="1371600" y="5120640"/>
            <a:ext cx="10083240" cy="104904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2545"/>
                </a:solidFill>
                <a:latin typeface="Calibri"/>
                <a:ea typeface="Calibri"/>
              </a:rPr>
              <a:t>Recuerda: </a:t>
            </a:r>
            <a:r>
              <a:rPr b="0" lang="en-US" sz="1400" spc="-1" strike="noStrike">
                <a:solidFill>
                  <a:srgbClr val="1f2933"/>
                </a:solidFill>
                <a:latin typeface="Calibri"/>
                <a:ea typeface="Calibri"/>
              </a:rPr>
              <a:t>NOT IN con algún NULL devuelve cero filas: usa NOT EXISTS. Una CTE no materializa datos: se expande como una vista en línea.</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818" name="CustomShape 1"/>
          <p:cNvSpPr/>
          <p:nvPr/>
        </p:nvSpPr>
        <p:spPr>
          <a:xfrm>
            <a:off x="548640" y="365760"/>
            <a:ext cx="149724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DML AVANZADO</a:t>
            </a:r>
            <a:endParaRPr b="0" lang="es-ES" sz="1000" spc="-1" strike="noStrike">
              <a:latin typeface="Arial"/>
            </a:endParaRPr>
          </a:p>
        </p:txBody>
      </p:sp>
      <p:sp>
        <p:nvSpPr>
          <p:cNvPr id="819"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Agregados y window functions básicas</a:t>
            </a:r>
            <a:endParaRPr b="0" lang="es-ES" sz="3400" spc="-1" strike="noStrike">
              <a:latin typeface="Arial"/>
            </a:endParaRPr>
          </a:p>
        </p:txBody>
      </p:sp>
      <p:sp>
        <p:nvSpPr>
          <p:cNvPr id="820"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821"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2   32</a:t>
            </a:r>
            <a:endParaRPr b="0" lang="es-ES" sz="1000" spc="-1" strike="noStrike">
              <a:latin typeface="Arial"/>
            </a:endParaRPr>
          </a:p>
        </p:txBody>
      </p:sp>
      <p:sp>
        <p:nvSpPr>
          <p:cNvPr id="822" name="CustomShape 5"/>
          <p:cNvSpPr/>
          <p:nvPr/>
        </p:nvSpPr>
        <p:spPr>
          <a:xfrm>
            <a:off x="548640" y="1600200"/>
            <a:ext cx="6672600" cy="3289320"/>
          </a:xfrm>
          <a:prstGeom prst="roundRect">
            <a:avLst>
              <a:gd name="adj" fmla="val 2778"/>
            </a:avLst>
          </a:prstGeom>
          <a:solidFill>
            <a:srgbClr val="eceff3"/>
          </a:solidFill>
          <a:ln w="9360">
            <a:solidFill>
              <a:srgbClr val="d0d7de"/>
            </a:solidFill>
            <a:round/>
          </a:ln>
        </p:spPr>
        <p:style>
          <a:lnRef idx="0"/>
          <a:fillRef idx="0"/>
          <a:effectRef idx="0"/>
          <a:fontRef idx="minor"/>
        </p:style>
      </p:sp>
      <p:sp>
        <p:nvSpPr>
          <p:cNvPr id="823" name="CustomShape 6"/>
          <p:cNvSpPr/>
          <p:nvPr/>
        </p:nvSpPr>
        <p:spPr>
          <a:xfrm>
            <a:off x="73152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window functions</a:t>
            </a:r>
            <a:endParaRPr b="0" lang="es-ES" sz="1000" spc="-1" strike="noStrike">
              <a:latin typeface="Arial"/>
            </a:endParaRPr>
          </a:p>
        </p:txBody>
      </p:sp>
      <p:sp>
        <p:nvSpPr>
          <p:cNvPr id="824" name="CustomShape 7"/>
          <p:cNvSpPr/>
          <p:nvPr/>
        </p:nvSpPr>
        <p:spPr>
          <a:xfrm>
            <a:off x="731520" y="1965960"/>
            <a:ext cx="6306840" cy="283212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ClienteId, Fecha, Total,</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ROW_NUMBER() </a:t>
            </a:r>
            <a:r>
              <a:rPr b="1" lang="en-US" sz="1200" spc="-1" strike="noStrike">
                <a:solidFill>
                  <a:srgbClr val="1d4ed8"/>
                </a:solidFill>
                <a:latin typeface="Consolas"/>
                <a:ea typeface="Consolas"/>
              </a:rPr>
              <a:t>OVER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PARTITION</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BY</a:t>
            </a:r>
            <a:r>
              <a:rPr b="0" lang="en-US" sz="1200" spc="-1" strike="noStrike">
                <a:solidFill>
                  <a:srgbClr val="1f2933"/>
                </a:solidFill>
                <a:latin typeface="Consolas"/>
                <a:ea typeface="Consolas"/>
              </a:rPr>
              <a:t> ClienteId</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ORDER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BY</a:t>
            </a:r>
            <a:r>
              <a:rPr b="0" lang="en-US" sz="1200" spc="-1" strike="noStrike">
                <a:solidFill>
                  <a:srgbClr val="1f2933"/>
                </a:solidFill>
                <a:latin typeface="Consolas"/>
                <a:ea typeface="Consolas"/>
              </a:rPr>
              <a:t> Fecha </a:t>
            </a:r>
            <a:r>
              <a:rPr b="1" lang="en-US" sz="1200" spc="-1" strike="noStrike">
                <a:solidFill>
                  <a:srgbClr val="1d4ed8"/>
                </a:solidFill>
                <a:latin typeface="Consolas"/>
                <a:ea typeface="Consolas"/>
              </a:rPr>
              <a:t>DESC</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rn,</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RANK()       </a:t>
            </a:r>
            <a:r>
              <a:rPr b="1" lang="en-US" sz="1200" spc="-1" strike="noStrike">
                <a:solidFill>
                  <a:srgbClr val="1d4ed8"/>
                </a:solidFill>
                <a:latin typeface="Consolas"/>
                <a:ea typeface="Consolas"/>
              </a:rPr>
              <a:t>OVER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ORDER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BY</a:t>
            </a:r>
            <a:r>
              <a:rPr b="0" lang="en-US" sz="1200" spc="-1" strike="noStrike">
                <a:solidFill>
                  <a:srgbClr val="1f2933"/>
                </a:solidFill>
                <a:latin typeface="Consolas"/>
                <a:ea typeface="Consolas"/>
              </a:rPr>
              <a:t> Total </a:t>
            </a:r>
            <a:r>
              <a:rPr b="1" lang="en-US" sz="1200" spc="-1" strike="noStrike">
                <a:solidFill>
                  <a:srgbClr val="1d4ed8"/>
                </a:solidFill>
                <a:latin typeface="Consolas"/>
                <a:ea typeface="Consolas"/>
              </a:rPr>
              <a:t>DESC</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ranking,</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SUM(Total)   </a:t>
            </a:r>
            <a:r>
              <a:rPr b="1" lang="en-US" sz="1200" spc="-1" strike="noStrike">
                <a:solidFill>
                  <a:srgbClr val="1d4ed8"/>
                </a:solidFill>
                <a:latin typeface="Consolas"/>
                <a:ea typeface="Consolas"/>
              </a:rPr>
              <a:t>OVER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PARTITION</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BY</a:t>
            </a:r>
            <a:r>
              <a:rPr b="0" lang="en-US" sz="1200" spc="-1" strike="noStrike">
                <a:solidFill>
                  <a:srgbClr val="1f2933"/>
                </a:solidFill>
                <a:latin typeface="Consolas"/>
                <a:ea typeface="Consolas"/>
              </a:rPr>
              <a:t> ClienteId</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ORDER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BY</a:t>
            </a:r>
            <a:r>
              <a:rPr b="0" lang="en-US" sz="1200" spc="-1" strike="noStrike">
                <a:solidFill>
                  <a:srgbClr val="1f2933"/>
                </a:solidFill>
                <a:latin typeface="Consolas"/>
                <a:ea typeface="Consolas"/>
              </a:rPr>
              <a:t> Fecha</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ROWS</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UNBOUNDED</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PRECEDING</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acumulado,</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LAG(Total)   </a:t>
            </a:r>
            <a:r>
              <a:rPr b="1" lang="en-US" sz="1200" spc="-1" strike="noStrike">
                <a:solidFill>
                  <a:srgbClr val="1d4ed8"/>
                </a:solidFill>
                <a:latin typeface="Consolas"/>
                <a:ea typeface="Consolas"/>
              </a:rPr>
              <a:t>OVER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PARTITION</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BY</a:t>
            </a:r>
            <a:r>
              <a:rPr b="0" lang="en-US" sz="1200" spc="-1" strike="noStrike">
                <a:solidFill>
                  <a:srgbClr val="1f2933"/>
                </a:solidFill>
                <a:latin typeface="Consolas"/>
                <a:ea typeface="Consolas"/>
              </a:rPr>
              <a:t> ClienteId</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ORDER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BY</a:t>
            </a:r>
            <a:r>
              <a:rPr b="0" lang="en-US" sz="1200" spc="-1" strike="noStrike">
                <a:solidFill>
                  <a:srgbClr val="1f2933"/>
                </a:solidFill>
                <a:latin typeface="Consolas"/>
                <a:ea typeface="Consolas"/>
              </a:rPr>
              <a:t> Fecha)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anterior</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dbo.Pedido;</a:t>
            </a:r>
            <a:endParaRPr b="0" lang="es-ES" sz="1200" spc="-1" strike="noStrike">
              <a:latin typeface="Arial"/>
            </a:endParaRPr>
          </a:p>
        </p:txBody>
      </p:sp>
      <p:graphicFrame>
        <p:nvGraphicFramePr>
          <p:cNvPr id="825" name="Table 8"/>
          <p:cNvGraphicFramePr/>
          <p:nvPr/>
        </p:nvGraphicFramePr>
        <p:xfrm>
          <a:off x="7498080" y="1600200"/>
          <a:ext cx="4141800" cy="2102400"/>
        </p:xfrm>
        <a:graphic>
          <a:graphicData uri="http://schemas.openxmlformats.org/drawingml/2006/table">
            <a:tbl>
              <a:tblPr/>
              <a:tblGrid>
                <a:gridCol w="1371600"/>
                <a:gridCol w="2770560"/>
              </a:tblGrid>
              <a:tr h="380880">
                <a:tc>
                  <a:txBody>
                    <a:bodyPr lIns="109440" rIns="109440">
                      <a:noAutofit/>
                    </a:bodyPr>
                    <a:p>
                      <a:pPr>
                        <a:lnSpc>
                          <a:spcPct val="100000"/>
                        </a:lnSpc>
                        <a:tabLst>
                          <a:tab algn="l" pos="0"/>
                        </a:tabLst>
                      </a:pPr>
                      <a:r>
                        <a:rPr b="1" lang="en-US" sz="1300" spc="-1" strike="noStrike">
                          <a:solidFill>
                            <a:srgbClr val="ffffff"/>
                          </a:solidFill>
                          <a:latin typeface="Calibri"/>
                          <a:ea typeface="Calibri"/>
                        </a:rPr>
                        <a:t>Función</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c>
                  <a:txBody>
                    <a:bodyPr lIns="109440" rIns="109440">
                      <a:noAutofit/>
                    </a:bodyPr>
                    <a:p>
                      <a:pPr>
                        <a:lnSpc>
                          <a:spcPct val="100000"/>
                        </a:lnSpc>
                        <a:tabLst>
                          <a:tab algn="l" pos="0"/>
                        </a:tabLst>
                      </a:pPr>
                      <a:r>
                        <a:rPr b="1" lang="en-US" sz="1300" spc="-1" strike="noStrike">
                          <a:solidFill>
                            <a:srgbClr val="ffffff"/>
                          </a:solidFill>
                          <a:latin typeface="Calibri"/>
                          <a:ea typeface="Calibri"/>
                        </a:rPr>
                        <a:t>Resultado</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r>
              <a:tr h="380880">
                <a:tc>
                  <a:txBody>
                    <a:bodyPr lIns="109440" rIns="109440">
                      <a:noAutofit/>
                    </a:bodyPr>
                    <a:p>
                      <a:pPr>
                        <a:lnSpc>
                          <a:spcPct val="100000"/>
                        </a:lnSpc>
                        <a:tabLst>
                          <a:tab algn="l" pos="0"/>
                        </a:tabLst>
                      </a:pPr>
                      <a:r>
                        <a:rPr b="1" lang="en-US" sz="1300" spc="-1" strike="noStrike">
                          <a:solidFill>
                            <a:srgbClr val="0b2545"/>
                          </a:solidFill>
                          <a:latin typeface="Calibri"/>
                          <a:ea typeface="Calibri"/>
                        </a:rPr>
                        <a:t>ROW_NUMBER</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1, 2, 3 sin empates</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r h="578880">
                <a:tc>
                  <a:txBody>
                    <a:bodyPr lIns="109440" rIns="109440">
                      <a:noAutofit/>
                    </a:bodyPr>
                    <a:p>
                      <a:pPr>
                        <a:lnSpc>
                          <a:spcPct val="100000"/>
                        </a:lnSpc>
                        <a:tabLst>
                          <a:tab algn="l" pos="0"/>
                        </a:tabLst>
                      </a:pPr>
                      <a:r>
                        <a:rPr b="1" lang="en-US" sz="1300" spc="-1" strike="noStrike">
                          <a:solidFill>
                            <a:srgbClr val="0b2545"/>
                          </a:solidFill>
                          <a:latin typeface="Calibri"/>
                          <a:ea typeface="Calibri"/>
                        </a:rPr>
                        <a:t>RANK</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Empates comparten puesto; hay huecos</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r>
              <a:tr h="380880">
                <a:tc>
                  <a:txBody>
                    <a:bodyPr lIns="109440" rIns="109440">
                      <a:noAutofit/>
                    </a:bodyPr>
                    <a:p>
                      <a:pPr>
                        <a:lnSpc>
                          <a:spcPct val="100000"/>
                        </a:lnSpc>
                        <a:tabLst>
                          <a:tab algn="l" pos="0"/>
                        </a:tabLst>
                      </a:pPr>
                      <a:r>
                        <a:rPr b="1" lang="en-US" sz="1300" spc="-1" strike="noStrike">
                          <a:solidFill>
                            <a:srgbClr val="0b2545"/>
                          </a:solidFill>
                          <a:latin typeface="Calibri"/>
                          <a:ea typeface="Calibri"/>
                        </a:rPr>
                        <a:t>SUM OVER</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Total acumulado por cliente</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r h="381240">
                <a:tc>
                  <a:txBody>
                    <a:bodyPr lIns="109440" rIns="109440">
                      <a:noAutofit/>
                    </a:bodyPr>
                    <a:p>
                      <a:pPr>
                        <a:lnSpc>
                          <a:spcPct val="100000"/>
                        </a:lnSpc>
                        <a:tabLst>
                          <a:tab algn="l" pos="0"/>
                        </a:tabLst>
                      </a:pPr>
                      <a:r>
                        <a:rPr b="1" lang="en-US" sz="1300" spc="-1" strike="noStrike">
                          <a:solidFill>
                            <a:srgbClr val="0b2545"/>
                          </a:solidFill>
                          <a:latin typeface="Calibri"/>
                          <a:ea typeface="Calibri"/>
                        </a:rPr>
                        <a:t>LAG</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Valor de la fila anterior</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r>
            </a:tbl>
          </a:graphicData>
        </a:graphic>
      </p:graphicFrame>
      <p:sp>
        <p:nvSpPr>
          <p:cNvPr id="826" name="CustomShape 9"/>
          <p:cNvSpPr/>
          <p:nvPr/>
        </p:nvSpPr>
        <p:spPr>
          <a:xfrm>
            <a:off x="548640" y="5166360"/>
            <a:ext cx="11089080" cy="1003320"/>
          </a:xfrm>
          <a:prstGeom prst="roundRect">
            <a:avLst>
              <a:gd name="adj" fmla="val 10909"/>
            </a:avLst>
          </a:prstGeom>
          <a:solidFill>
            <a:srgbClr val="e8eef5"/>
          </a:solidFill>
          <a:ln>
            <a:noFill/>
          </a:ln>
        </p:spPr>
        <p:style>
          <a:lnRef idx="0"/>
          <a:fillRef idx="0"/>
          <a:effectRef idx="0"/>
          <a:fontRef idx="minor"/>
        </p:style>
      </p:sp>
      <p:sp>
        <p:nvSpPr>
          <p:cNvPr id="827" name="CustomShape 10"/>
          <p:cNvSpPr/>
          <p:nvPr/>
        </p:nvSpPr>
        <p:spPr>
          <a:xfrm>
            <a:off x="731520" y="5440680"/>
            <a:ext cx="454680" cy="454680"/>
          </a:xfrm>
          <a:prstGeom prst="ellipse">
            <a:avLst/>
          </a:prstGeom>
          <a:solidFill>
            <a:srgbClr val="134074"/>
          </a:solidFill>
          <a:ln>
            <a:noFill/>
          </a:ln>
        </p:spPr>
        <p:style>
          <a:lnRef idx="0"/>
          <a:fillRef idx="0"/>
          <a:effectRef idx="0"/>
          <a:fontRef idx="minor"/>
        </p:style>
      </p:sp>
      <p:pic>
        <p:nvPicPr>
          <p:cNvPr id="828" name="Image 0" descr="preencoded.png"/>
          <p:cNvPicPr/>
          <p:nvPr/>
        </p:nvPicPr>
        <p:blipFill>
          <a:blip r:embed="rId1"/>
          <a:stretch/>
        </p:blipFill>
        <p:spPr>
          <a:xfrm>
            <a:off x="846000" y="5555160"/>
            <a:ext cx="226080" cy="226080"/>
          </a:xfrm>
          <a:prstGeom prst="rect">
            <a:avLst/>
          </a:prstGeom>
          <a:ln>
            <a:noFill/>
          </a:ln>
        </p:spPr>
      </p:pic>
      <p:sp>
        <p:nvSpPr>
          <p:cNvPr id="829" name="CustomShape 11"/>
          <p:cNvSpPr/>
          <p:nvPr/>
        </p:nvSpPr>
        <p:spPr>
          <a:xfrm>
            <a:off x="1371600" y="5166360"/>
            <a:ext cx="10083240" cy="10033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2545"/>
                </a:solidFill>
                <a:latin typeface="Calibri"/>
                <a:ea typeface="Calibri"/>
              </a:rPr>
              <a:t>GROUP BY vs OVER: </a:t>
            </a:r>
            <a:r>
              <a:rPr b="0" lang="en-US" sz="1400" spc="-1" strike="noStrike">
                <a:solidFill>
                  <a:srgbClr val="1f2933"/>
                </a:solidFill>
                <a:latin typeface="Calibri"/>
                <a:ea typeface="Calibri"/>
              </a:rPr>
              <a:t>GROUP BY colapsa filas; OVER mantiene el detalle. Indica ROWS en el frame para evitar el worktable de RANGE.</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830" name="CustomShape 1"/>
          <p:cNvSpPr/>
          <p:nvPr/>
        </p:nvSpPr>
        <p:spPr>
          <a:xfrm>
            <a:off x="548640" y="365760"/>
            <a:ext cx="149724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DML AVANZADO</a:t>
            </a:r>
            <a:endParaRPr b="0" lang="es-ES" sz="1000" spc="-1" strike="noStrike">
              <a:latin typeface="Arial"/>
            </a:endParaRPr>
          </a:p>
        </p:txBody>
      </p:sp>
      <p:sp>
        <p:nvSpPr>
          <p:cNvPr id="831"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SQL Server 2025: Tablas vectoriales y RAG</a:t>
            </a:r>
            <a:endParaRPr b="0" lang="es-ES" sz="3400" spc="-1" strike="noStrike">
              <a:latin typeface="Arial"/>
            </a:endParaRPr>
          </a:p>
        </p:txBody>
      </p:sp>
      <p:sp>
        <p:nvSpPr>
          <p:cNvPr id="832"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833"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2   33</a:t>
            </a:r>
            <a:endParaRPr b="0" lang="es-ES" sz="1000" spc="-1" strike="noStrike">
              <a:latin typeface="Arial"/>
            </a:endParaRPr>
          </a:p>
        </p:txBody>
      </p:sp>
      <p:sp>
        <p:nvSpPr>
          <p:cNvPr id="834" name="CustomShape 5"/>
          <p:cNvSpPr/>
          <p:nvPr/>
        </p:nvSpPr>
        <p:spPr>
          <a:xfrm>
            <a:off x="548640" y="1600200"/>
            <a:ext cx="6215400" cy="3472200"/>
          </a:xfrm>
          <a:prstGeom prst="roundRect">
            <a:avLst>
              <a:gd name="adj" fmla="val 2632"/>
            </a:avLst>
          </a:prstGeom>
          <a:solidFill>
            <a:srgbClr val="eceff3"/>
          </a:solidFill>
          <a:ln w="9360">
            <a:solidFill>
              <a:srgbClr val="d0d7de"/>
            </a:solidFill>
            <a:round/>
          </a:ln>
        </p:spPr>
        <p:style>
          <a:lnRef idx="0"/>
          <a:fillRef idx="0"/>
          <a:effectRef idx="0"/>
          <a:fontRef idx="minor"/>
        </p:style>
      </p:sp>
      <p:sp>
        <p:nvSpPr>
          <p:cNvPr id="835" name="CustomShape 6"/>
          <p:cNvSpPr/>
          <p:nvPr/>
        </p:nvSpPr>
        <p:spPr>
          <a:xfrm>
            <a:off x="73152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TABLAS VECTORIALES (SQL 2025)</a:t>
            </a:r>
            <a:endParaRPr b="0" lang="es-ES" sz="1000" spc="-1" strike="noStrike">
              <a:latin typeface="Arial"/>
            </a:endParaRPr>
          </a:p>
        </p:txBody>
      </p:sp>
      <p:sp>
        <p:nvSpPr>
          <p:cNvPr id="836" name="CustomShape 7"/>
          <p:cNvSpPr/>
          <p:nvPr/>
        </p:nvSpPr>
        <p:spPr>
          <a:xfrm>
            <a:off x="731520" y="1965960"/>
            <a:ext cx="5849640" cy="301500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0" i="1" lang="en-US" sz="1100" spc="-1" strike="noStrike">
                <a:solidFill>
                  <a:srgbClr val="6b7280"/>
                </a:solidFill>
                <a:latin typeface="Consolas"/>
                <a:ea typeface="Consolas"/>
              </a:rPr>
              <a:t>-- Tabla con columna vectorial nativa (dimensión fija)</a:t>
            </a:r>
            <a:endParaRPr b="0" lang="es-ES" sz="1100" spc="-1" strike="noStrike">
              <a:latin typeface="Arial"/>
            </a:endParaRPr>
          </a:p>
          <a:p>
            <a:pPr>
              <a:lnSpc>
                <a:spcPct val="100000"/>
              </a:lnSpc>
              <a:tabLst>
                <a:tab algn="l" pos="0"/>
              </a:tabLst>
            </a:pPr>
            <a:r>
              <a:rPr b="1" lang="en-US" sz="1100" spc="-1" strike="noStrike">
                <a:solidFill>
                  <a:srgbClr val="1d4ed8"/>
                </a:solidFill>
                <a:latin typeface="Consolas"/>
                <a:ea typeface="Consolas"/>
              </a:rPr>
              <a:t>CREATE</a:t>
            </a:r>
            <a:r>
              <a:rPr b="0" lang="en-US" sz="1100" spc="-1" strike="noStrike">
                <a:solidFill>
                  <a:srgbClr val="1f2933"/>
                </a:solidFill>
                <a:latin typeface="Consolas"/>
                <a:ea typeface="Consolas"/>
              </a:rPr>
              <a:t> </a:t>
            </a:r>
            <a:r>
              <a:rPr b="1" lang="en-US" sz="1100" spc="-1" strike="noStrike">
                <a:solidFill>
                  <a:srgbClr val="1d4ed8"/>
                </a:solidFill>
                <a:latin typeface="Consolas"/>
                <a:ea typeface="Consolas"/>
              </a:rPr>
              <a:t>TABLE</a:t>
            </a:r>
            <a:r>
              <a:rPr b="0" lang="en-US" sz="1100" spc="-1" strike="noStrike">
                <a:solidFill>
                  <a:srgbClr val="1f2933"/>
                </a:solidFill>
                <a:latin typeface="Consolas"/>
                <a:ea typeface="Consolas"/>
              </a:rPr>
              <a:t> dbo.BaseConocimiento (</a:t>
            </a:r>
            <a:endParaRPr b="0" lang="es-ES" sz="1100" spc="-1" strike="noStrike">
              <a:latin typeface="Arial"/>
            </a:endParaRPr>
          </a:p>
          <a:p>
            <a:pPr>
              <a:lnSpc>
                <a:spcPct val="100000"/>
              </a:lnSpc>
              <a:tabLst>
                <a:tab algn="l" pos="0"/>
              </a:tabLst>
            </a:pPr>
            <a:r>
              <a:rPr b="0" lang="en-US" sz="1100" spc="-1" strike="noStrike">
                <a:solidFill>
                  <a:srgbClr val="1f2933"/>
                </a:solidFill>
                <a:latin typeface="Consolas"/>
                <a:ea typeface="Consolas"/>
              </a:rPr>
              <a:t>    </a:t>
            </a:r>
            <a:r>
              <a:rPr b="0" lang="en-US" sz="1100" spc="-1" strike="noStrike">
                <a:solidFill>
                  <a:srgbClr val="1f2933"/>
                </a:solidFill>
                <a:latin typeface="Consolas"/>
                <a:ea typeface="Consolas"/>
              </a:rPr>
              <a:t>DocumentoID   </a:t>
            </a:r>
            <a:r>
              <a:rPr b="0" lang="en-US" sz="1100" spc="-1" strike="noStrike">
                <a:solidFill>
                  <a:srgbClr val="7c3aed"/>
                </a:solidFill>
                <a:latin typeface="Consolas"/>
                <a:ea typeface="Consolas"/>
              </a:rPr>
              <a:t>INT</a:t>
            </a:r>
            <a:r>
              <a:rPr b="0" lang="en-US" sz="1100" spc="-1" strike="noStrike">
                <a:solidFill>
                  <a:srgbClr val="1f2933"/>
                </a:solidFill>
                <a:latin typeface="Consolas"/>
                <a:ea typeface="Consolas"/>
              </a:rPr>
              <a:t> </a:t>
            </a:r>
            <a:r>
              <a:rPr b="1" lang="en-US" sz="1100" spc="-1" strike="noStrike">
                <a:solidFill>
                  <a:srgbClr val="1d4ed8"/>
                </a:solidFill>
                <a:latin typeface="Consolas"/>
                <a:ea typeface="Consolas"/>
              </a:rPr>
              <a:t>IDENTITY</a:t>
            </a:r>
            <a:r>
              <a:rPr b="0" lang="en-US" sz="1100" spc="-1" strike="noStrike">
                <a:solidFill>
                  <a:srgbClr val="1f2933"/>
                </a:solidFill>
                <a:latin typeface="Consolas"/>
                <a:ea typeface="Consolas"/>
              </a:rPr>
              <a:t>(</a:t>
            </a:r>
            <a:r>
              <a:rPr b="0" lang="en-US" sz="1100" spc="-1" strike="noStrike">
                <a:solidFill>
                  <a:srgbClr val="9a3412"/>
                </a:solidFill>
                <a:latin typeface="Consolas"/>
                <a:ea typeface="Consolas"/>
              </a:rPr>
              <a:t>1</a:t>
            </a:r>
            <a:r>
              <a:rPr b="0" lang="en-US" sz="1100" spc="-1" strike="noStrike">
                <a:solidFill>
                  <a:srgbClr val="1f2933"/>
                </a:solidFill>
                <a:latin typeface="Consolas"/>
                <a:ea typeface="Consolas"/>
              </a:rPr>
              <a:t>,</a:t>
            </a:r>
            <a:r>
              <a:rPr b="0" lang="en-US" sz="1100" spc="-1" strike="noStrike">
                <a:solidFill>
                  <a:srgbClr val="9a3412"/>
                </a:solidFill>
                <a:latin typeface="Consolas"/>
                <a:ea typeface="Consolas"/>
              </a:rPr>
              <a:t>1</a:t>
            </a:r>
            <a:r>
              <a:rPr b="0" lang="en-US" sz="1100" spc="-1" strike="noStrike">
                <a:solidFill>
                  <a:srgbClr val="1f2933"/>
                </a:solidFill>
                <a:latin typeface="Consolas"/>
                <a:ea typeface="Consolas"/>
              </a:rPr>
              <a:t>) </a:t>
            </a:r>
            <a:r>
              <a:rPr b="1" lang="en-US" sz="1100" spc="-1" strike="noStrike">
                <a:solidFill>
                  <a:srgbClr val="1d4ed8"/>
                </a:solidFill>
                <a:latin typeface="Consolas"/>
                <a:ea typeface="Consolas"/>
              </a:rPr>
              <a:t>PRIMARY</a:t>
            </a:r>
            <a:r>
              <a:rPr b="0" lang="en-US" sz="1100" spc="-1" strike="noStrike">
                <a:solidFill>
                  <a:srgbClr val="1f2933"/>
                </a:solidFill>
                <a:latin typeface="Consolas"/>
                <a:ea typeface="Consolas"/>
              </a:rPr>
              <a:t> </a:t>
            </a:r>
            <a:r>
              <a:rPr b="1" lang="en-US" sz="1100" spc="-1" strike="noStrike">
                <a:solidFill>
                  <a:srgbClr val="1d4ed8"/>
                </a:solidFill>
                <a:latin typeface="Consolas"/>
                <a:ea typeface="Consolas"/>
              </a:rPr>
              <a:t>KEY</a:t>
            </a:r>
            <a:r>
              <a:rPr b="0" lang="en-US" sz="1100" spc="-1" strike="noStrike">
                <a:solidFill>
                  <a:srgbClr val="1f2933"/>
                </a:solidFill>
                <a:latin typeface="Consolas"/>
                <a:ea typeface="Consolas"/>
              </a:rPr>
              <a:t>,</a:t>
            </a:r>
            <a:endParaRPr b="0" lang="es-ES" sz="1100" spc="-1" strike="noStrike">
              <a:latin typeface="Arial"/>
            </a:endParaRPr>
          </a:p>
          <a:p>
            <a:pPr>
              <a:lnSpc>
                <a:spcPct val="100000"/>
              </a:lnSpc>
              <a:tabLst>
                <a:tab algn="l" pos="0"/>
              </a:tabLst>
            </a:pPr>
            <a:r>
              <a:rPr b="0" lang="en-US" sz="1100" spc="-1" strike="noStrike">
                <a:solidFill>
                  <a:srgbClr val="1f2933"/>
                </a:solidFill>
                <a:latin typeface="Consolas"/>
                <a:ea typeface="Consolas"/>
              </a:rPr>
              <a:t>    </a:t>
            </a:r>
            <a:r>
              <a:rPr b="0" lang="en-US" sz="1100" spc="-1" strike="noStrike">
                <a:solidFill>
                  <a:srgbClr val="1f2933"/>
                </a:solidFill>
                <a:latin typeface="Consolas"/>
                <a:ea typeface="Consolas"/>
              </a:rPr>
              <a:t>Titulo        </a:t>
            </a:r>
            <a:r>
              <a:rPr b="0" lang="en-US" sz="1100" spc="-1" strike="noStrike">
                <a:solidFill>
                  <a:srgbClr val="7c3aed"/>
                </a:solidFill>
                <a:latin typeface="Consolas"/>
                <a:ea typeface="Consolas"/>
              </a:rPr>
              <a:t>NVARCHAR</a:t>
            </a:r>
            <a:r>
              <a:rPr b="0" lang="en-US" sz="1100" spc="-1" strike="noStrike">
                <a:solidFill>
                  <a:srgbClr val="1f2933"/>
                </a:solidFill>
                <a:latin typeface="Consolas"/>
                <a:ea typeface="Consolas"/>
              </a:rPr>
              <a:t>(</a:t>
            </a:r>
            <a:r>
              <a:rPr b="0" lang="en-US" sz="1100" spc="-1" strike="noStrike">
                <a:solidFill>
                  <a:srgbClr val="9a3412"/>
                </a:solidFill>
                <a:latin typeface="Consolas"/>
                <a:ea typeface="Consolas"/>
              </a:rPr>
              <a:t>200</a:t>
            </a:r>
            <a:r>
              <a:rPr b="0" lang="en-US" sz="1100" spc="-1" strike="noStrike">
                <a:solidFill>
                  <a:srgbClr val="1f2933"/>
                </a:solidFill>
                <a:latin typeface="Consolas"/>
                <a:ea typeface="Consolas"/>
              </a:rPr>
              <a:t>) </a:t>
            </a:r>
            <a:r>
              <a:rPr b="1" lang="en-US" sz="1100" spc="-1" strike="noStrike">
                <a:solidFill>
                  <a:srgbClr val="1d4ed8"/>
                </a:solidFill>
                <a:latin typeface="Consolas"/>
                <a:ea typeface="Consolas"/>
              </a:rPr>
              <a:t>NOT</a:t>
            </a:r>
            <a:r>
              <a:rPr b="0" lang="en-US" sz="1100" spc="-1" strike="noStrike">
                <a:solidFill>
                  <a:srgbClr val="1f2933"/>
                </a:solidFill>
                <a:latin typeface="Consolas"/>
                <a:ea typeface="Consolas"/>
              </a:rPr>
              <a:t> </a:t>
            </a:r>
            <a:r>
              <a:rPr b="1" lang="en-US" sz="1100" spc="-1" strike="noStrike">
                <a:solidFill>
                  <a:srgbClr val="1d4ed8"/>
                </a:solidFill>
                <a:latin typeface="Consolas"/>
                <a:ea typeface="Consolas"/>
              </a:rPr>
              <a:t>NULL</a:t>
            </a:r>
            <a:r>
              <a:rPr b="0" lang="en-US" sz="1100" spc="-1" strike="noStrike">
                <a:solidFill>
                  <a:srgbClr val="1f2933"/>
                </a:solidFill>
                <a:latin typeface="Consolas"/>
                <a:ea typeface="Consolas"/>
              </a:rPr>
              <a:t>,</a:t>
            </a:r>
            <a:endParaRPr b="0" lang="es-ES" sz="1100" spc="-1" strike="noStrike">
              <a:latin typeface="Arial"/>
            </a:endParaRPr>
          </a:p>
          <a:p>
            <a:pPr>
              <a:lnSpc>
                <a:spcPct val="100000"/>
              </a:lnSpc>
              <a:tabLst>
                <a:tab algn="l" pos="0"/>
              </a:tabLst>
            </a:pPr>
            <a:r>
              <a:rPr b="0" lang="en-US" sz="1100" spc="-1" strike="noStrike">
                <a:solidFill>
                  <a:srgbClr val="1f2933"/>
                </a:solidFill>
                <a:latin typeface="Consolas"/>
                <a:ea typeface="Consolas"/>
              </a:rPr>
              <a:t>    </a:t>
            </a:r>
            <a:r>
              <a:rPr b="0" lang="en-US" sz="1100" spc="-1" strike="noStrike">
                <a:solidFill>
                  <a:srgbClr val="1f2933"/>
                </a:solidFill>
                <a:latin typeface="Consolas"/>
                <a:ea typeface="Consolas"/>
              </a:rPr>
              <a:t>Contenido     </a:t>
            </a:r>
            <a:r>
              <a:rPr b="0" lang="en-US" sz="1100" spc="-1" strike="noStrike">
                <a:solidFill>
                  <a:srgbClr val="7c3aed"/>
                </a:solidFill>
                <a:latin typeface="Consolas"/>
                <a:ea typeface="Consolas"/>
              </a:rPr>
              <a:t>NVARCHAR</a:t>
            </a:r>
            <a:r>
              <a:rPr b="0" lang="en-US" sz="1100" spc="-1" strike="noStrike">
                <a:solidFill>
                  <a:srgbClr val="1f2933"/>
                </a:solidFill>
                <a:latin typeface="Consolas"/>
                <a:ea typeface="Consolas"/>
              </a:rPr>
              <a:t>(</a:t>
            </a:r>
            <a:r>
              <a:rPr b="0" lang="en-US" sz="1100" spc="-1" strike="noStrike">
                <a:solidFill>
                  <a:srgbClr val="7c3aed"/>
                </a:solidFill>
                <a:latin typeface="Consolas"/>
                <a:ea typeface="Consolas"/>
              </a:rPr>
              <a:t>MAX</a:t>
            </a:r>
            <a:r>
              <a:rPr b="0" lang="en-US" sz="1100" spc="-1" strike="noStrike">
                <a:solidFill>
                  <a:srgbClr val="1f2933"/>
                </a:solidFill>
                <a:latin typeface="Consolas"/>
                <a:ea typeface="Consolas"/>
              </a:rPr>
              <a:t>) </a:t>
            </a:r>
            <a:r>
              <a:rPr b="1" lang="en-US" sz="1100" spc="-1" strike="noStrike">
                <a:solidFill>
                  <a:srgbClr val="1d4ed8"/>
                </a:solidFill>
                <a:latin typeface="Consolas"/>
                <a:ea typeface="Consolas"/>
              </a:rPr>
              <a:t>NOT</a:t>
            </a:r>
            <a:r>
              <a:rPr b="0" lang="en-US" sz="1100" spc="-1" strike="noStrike">
                <a:solidFill>
                  <a:srgbClr val="1f2933"/>
                </a:solidFill>
                <a:latin typeface="Consolas"/>
                <a:ea typeface="Consolas"/>
              </a:rPr>
              <a:t> </a:t>
            </a:r>
            <a:r>
              <a:rPr b="1" lang="en-US" sz="1100" spc="-1" strike="noStrike">
                <a:solidFill>
                  <a:srgbClr val="1d4ed8"/>
                </a:solidFill>
                <a:latin typeface="Consolas"/>
                <a:ea typeface="Consolas"/>
              </a:rPr>
              <a:t>NULL</a:t>
            </a:r>
            <a:r>
              <a:rPr b="0" lang="en-US" sz="1100" spc="-1" strike="noStrike">
                <a:solidFill>
                  <a:srgbClr val="1f2933"/>
                </a:solidFill>
                <a:latin typeface="Consolas"/>
                <a:ea typeface="Consolas"/>
              </a:rPr>
              <a:t>,</a:t>
            </a:r>
            <a:endParaRPr b="0" lang="es-ES" sz="1100" spc="-1" strike="noStrike">
              <a:latin typeface="Arial"/>
            </a:endParaRPr>
          </a:p>
          <a:p>
            <a:pPr>
              <a:lnSpc>
                <a:spcPct val="100000"/>
              </a:lnSpc>
              <a:tabLst>
                <a:tab algn="l" pos="0"/>
              </a:tabLst>
            </a:pPr>
            <a:r>
              <a:rPr b="0" lang="en-US" sz="1100" spc="-1" strike="noStrike">
                <a:solidFill>
                  <a:srgbClr val="1f2933"/>
                </a:solidFill>
                <a:latin typeface="Consolas"/>
                <a:ea typeface="Consolas"/>
              </a:rPr>
              <a:t>    </a:t>
            </a:r>
            <a:r>
              <a:rPr b="0" lang="en-US" sz="1100" spc="-1" strike="noStrike">
                <a:solidFill>
                  <a:srgbClr val="1f2933"/>
                </a:solidFill>
                <a:latin typeface="Consolas"/>
                <a:ea typeface="Consolas"/>
              </a:rPr>
              <a:t>Embedding     VECTOR(</a:t>
            </a:r>
            <a:r>
              <a:rPr b="0" lang="en-US" sz="1100" spc="-1" strike="noStrike">
                <a:solidFill>
                  <a:srgbClr val="9a3412"/>
                </a:solidFill>
                <a:latin typeface="Consolas"/>
                <a:ea typeface="Consolas"/>
              </a:rPr>
              <a:t>1536</a:t>
            </a:r>
            <a:r>
              <a:rPr b="0" lang="en-US" sz="1100" spc="-1" strike="noStrike">
                <a:solidFill>
                  <a:srgbClr val="1f2933"/>
                </a:solidFill>
                <a:latin typeface="Consolas"/>
                <a:ea typeface="Consolas"/>
              </a:rPr>
              <a:t>) </a:t>
            </a:r>
            <a:r>
              <a:rPr b="1" lang="en-US" sz="1100" spc="-1" strike="noStrike">
                <a:solidFill>
                  <a:srgbClr val="1d4ed8"/>
                </a:solidFill>
                <a:latin typeface="Consolas"/>
                <a:ea typeface="Consolas"/>
              </a:rPr>
              <a:t>NOT</a:t>
            </a:r>
            <a:r>
              <a:rPr b="0" lang="en-US" sz="1100" spc="-1" strike="noStrike">
                <a:solidFill>
                  <a:srgbClr val="1f2933"/>
                </a:solidFill>
                <a:latin typeface="Consolas"/>
                <a:ea typeface="Consolas"/>
              </a:rPr>
              <a:t> </a:t>
            </a:r>
            <a:r>
              <a:rPr b="1" lang="en-US" sz="1100" spc="-1" strike="noStrike">
                <a:solidFill>
                  <a:srgbClr val="1d4ed8"/>
                </a:solidFill>
                <a:latin typeface="Consolas"/>
                <a:ea typeface="Consolas"/>
              </a:rPr>
              <a:t>NULL</a:t>
            </a:r>
            <a:endParaRPr b="0" lang="es-ES" sz="1100" spc="-1" strike="noStrike">
              <a:latin typeface="Arial"/>
            </a:endParaRPr>
          </a:p>
          <a:p>
            <a:pPr>
              <a:lnSpc>
                <a:spcPct val="100000"/>
              </a:lnSpc>
              <a:tabLst>
                <a:tab algn="l" pos="0"/>
              </a:tabLst>
            </a:pPr>
            <a:r>
              <a:rPr b="0" lang="en-US" sz="1100" spc="-1" strike="noStrike">
                <a:solidFill>
                  <a:srgbClr val="1f2933"/>
                </a:solidFill>
                <a:latin typeface="Consolas"/>
                <a:ea typeface="Consolas"/>
              </a:rPr>
              <a:t>);</a:t>
            </a:r>
            <a:endParaRPr b="0" lang="es-ES" sz="1100" spc="-1" strike="noStrike">
              <a:latin typeface="Arial"/>
            </a:endParaRPr>
          </a:p>
          <a:p>
            <a:pPr>
              <a:lnSpc>
                <a:spcPct val="100000"/>
              </a:lnSpc>
              <a:tabLst>
                <a:tab algn="l" pos="0"/>
              </a:tabLst>
            </a:pPr>
            <a:r>
              <a:rPr b="0" lang="en-US" sz="1100" spc="-1" strike="noStrike">
                <a:solidFill>
                  <a:srgbClr val="1f2933"/>
                </a:solidFill>
                <a:latin typeface="Consolas"/>
                <a:ea typeface="Consolas"/>
              </a:rPr>
              <a:t> </a:t>
            </a:r>
            <a:endParaRPr b="0" lang="es-ES" sz="1100" spc="-1" strike="noStrike">
              <a:latin typeface="Arial"/>
            </a:endParaRPr>
          </a:p>
          <a:p>
            <a:pPr>
              <a:lnSpc>
                <a:spcPct val="100000"/>
              </a:lnSpc>
              <a:tabLst>
                <a:tab algn="l" pos="0"/>
              </a:tabLst>
            </a:pPr>
            <a:r>
              <a:rPr b="0" i="1" lang="en-US" sz="1100" spc="-1" strike="noStrike">
                <a:solidFill>
                  <a:srgbClr val="6b7280"/>
                </a:solidFill>
                <a:latin typeface="Consolas"/>
                <a:ea typeface="Consolas"/>
              </a:rPr>
              <a:t>-- Búsqueda semántica usando similitud de coseno</a:t>
            </a:r>
            <a:endParaRPr b="0" lang="es-ES" sz="1100" spc="-1" strike="noStrike">
              <a:latin typeface="Arial"/>
            </a:endParaRPr>
          </a:p>
          <a:p>
            <a:pPr>
              <a:lnSpc>
                <a:spcPct val="100000"/>
              </a:lnSpc>
              <a:tabLst>
                <a:tab algn="l" pos="0"/>
              </a:tabLst>
            </a:pPr>
            <a:r>
              <a:rPr b="1" lang="en-US" sz="1100" spc="-1" strike="noStrike">
                <a:solidFill>
                  <a:srgbClr val="1d4ed8"/>
                </a:solidFill>
                <a:latin typeface="Consolas"/>
                <a:ea typeface="Consolas"/>
              </a:rPr>
              <a:t>DECLARE</a:t>
            </a:r>
            <a:r>
              <a:rPr b="0" lang="en-US" sz="1100" spc="-1" strike="noStrike">
                <a:solidFill>
                  <a:srgbClr val="1f2933"/>
                </a:solidFill>
                <a:latin typeface="Consolas"/>
                <a:ea typeface="Consolas"/>
              </a:rPr>
              <a:t> </a:t>
            </a:r>
            <a:r>
              <a:rPr b="0" lang="en-US" sz="1100" spc="-1" strike="noStrike">
                <a:solidFill>
                  <a:srgbClr val="0f766e"/>
                </a:solidFill>
                <a:latin typeface="Consolas"/>
                <a:ea typeface="Consolas"/>
              </a:rPr>
              <a:t>@VectorPregunta</a:t>
            </a:r>
            <a:r>
              <a:rPr b="0" lang="en-US" sz="1100" spc="-1" strike="noStrike">
                <a:solidFill>
                  <a:srgbClr val="1f2933"/>
                </a:solidFill>
                <a:latin typeface="Consolas"/>
                <a:ea typeface="Consolas"/>
              </a:rPr>
              <a:t> VECTOR(</a:t>
            </a:r>
            <a:r>
              <a:rPr b="0" lang="en-US" sz="1100" spc="-1" strike="noStrike">
                <a:solidFill>
                  <a:srgbClr val="9a3412"/>
                </a:solidFill>
                <a:latin typeface="Consolas"/>
                <a:ea typeface="Consolas"/>
              </a:rPr>
              <a:t>1536</a:t>
            </a:r>
            <a:r>
              <a:rPr b="0" lang="en-US" sz="1100" spc="-1" strike="noStrike">
                <a:solidFill>
                  <a:srgbClr val="1f2933"/>
                </a:solidFill>
                <a:latin typeface="Consolas"/>
                <a:ea typeface="Consolas"/>
              </a:rPr>
              <a:t>) = CAST(</a:t>
            </a:r>
            <a:r>
              <a:rPr b="0" lang="en-US" sz="1100" spc="-1" strike="noStrike">
                <a:solidFill>
                  <a:srgbClr val="b4441f"/>
                </a:solidFill>
                <a:latin typeface="Consolas"/>
                <a:ea typeface="Consolas"/>
              </a:rPr>
              <a:t>'[...]'</a:t>
            </a:r>
            <a:r>
              <a:rPr b="0" lang="en-US" sz="1100" spc="-1" strike="noStrike">
                <a:solidFill>
                  <a:srgbClr val="1f2933"/>
                </a:solidFill>
                <a:latin typeface="Consolas"/>
                <a:ea typeface="Consolas"/>
              </a:rPr>
              <a:t> </a:t>
            </a:r>
            <a:r>
              <a:rPr b="1" lang="en-US" sz="1100" spc="-1" strike="noStrike">
                <a:solidFill>
                  <a:srgbClr val="1d4ed8"/>
                </a:solidFill>
                <a:latin typeface="Consolas"/>
                <a:ea typeface="Consolas"/>
              </a:rPr>
              <a:t>AS</a:t>
            </a:r>
            <a:r>
              <a:rPr b="0" lang="en-US" sz="1100" spc="-1" strike="noStrike">
                <a:solidFill>
                  <a:srgbClr val="1f2933"/>
                </a:solidFill>
                <a:latin typeface="Consolas"/>
                <a:ea typeface="Consolas"/>
              </a:rPr>
              <a:t> VECTOR(</a:t>
            </a:r>
            <a:r>
              <a:rPr b="0" lang="en-US" sz="1100" spc="-1" strike="noStrike">
                <a:solidFill>
                  <a:srgbClr val="9a3412"/>
                </a:solidFill>
                <a:latin typeface="Consolas"/>
                <a:ea typeface="Consolas"/>
              </a:rPr>
              <a:t>1536</a:t>
            </a:r>
            <a:r>
              <a:rPr b="0" lang="en-US" sz="1100" spc="-1" strike="noStrike">
                <a:solidFill>
                  <a:srgbClr val="1f2933"/>
                </a:solidFill>
                <a:latin typeface="Consolas"/>
                <a:ea typeface="Consolas"/>
              </a:rPr>
              <a:t>));</a:t>
            </a:r>
            <a:endParaRPr b="0" lang="es-ES" sz="1100" spc="-1" strike="noStrike">
              <a:latin typeface="Arial"/>
            </a:endParaRPr>
          </a:p>
          <a:p>
            <a:pPr>
              <a:lnSpc>
                <a:spcPct val="100000"/>
              </a:lnSpc>
              <a:tabLst>
                <a:tab algn="l" pos="0"/>
              </a:tabLst>
            </a:pPr>
            <a:r>
              <a:rPr b="0" lang="en-US" sz="1100" spc="-1" strike="noStrike">
                <a:solidFill>
                  <a:srgbClr val="1f2933"/>
                </a:solidFill>
                <a:latin typeface="Consolas"/>
                <a:ea typeface="Consolas"/>
              </a:rPr>
              <a:t> </a:t>
            </a:r>
            <a:endParaRPr b="0" lang="es-ES" sz="1100" spc="-1" strike="noStrike">
              <a:latin typeface="Arial"/>
            </a:endParaRPr>
          </a:p>
          <a:p>
            <a:pPr>
              <a:lnSpc>
                <a:spcPct val="100000"/>
              </a:lnSpc>
              <a:tabLst>
                <a:tab algn="l" pos="0"/>
              </a:tabLst>
            </a:pPr>
            <a:r>
              <a:rPr b="1" lang="en-US" sz="1100" spc="-1" strike="noStrike">
                <a:solidFill>
                  <a:srgbClr val="1d4ed8"/>
                </a:solidFill>
                <a:latin typeface="Consolas"/>
                <a:ea typeface="Consolas"/>
              </a:rPr>
              <a:t>SELECT</a:t>
            </a:r>
            <a:r>
              <a:rPr b="0" lang="en-US" sz="1100" spc="-1" strike="noStrike">
                <a:solidFill>
                  <a:srgbClr val="1f2933"/>
                </a:solidFill>
                <a:latin typeface="Consolas"/>
                <a:ea typeface="Consolas"/>
              </a:rPr>
              <a:t> </a:t>
            </a:r>
            <a:r>
              <a:rPr b="1" lang="en-US" sz="1100" spc="-1" strike="noStrike">
                <a:solidFill>
                  <a:srgbClr val="1d4ed8"/>
                </a:solidFill>
                <a:latin typeface="Consolas"/>
                <a:ea typeface="Consolas"/>
              </a:rPr>
              <a:t>TOP</a:t>
            </a:r>
            <a:r>
              <a:rPr b="0" lang="en-US" sz="1100" spc="-1" strike="noStrike">
                <a:solidFill>
                  <a:srgbClr val="1f2933"/>
                </a:solidFill>
                <a:latin typeface="Consolas"/>
                <a:ea typeface="Consolas"/>
              </a:rPr>
              <a:t> </a:t>
            </a:r>
            <a:r>
              <a:rPr b="0" lang="en-US" sz="1100" spc="-1" strike="noStrike">
                <a:solidFill>
                  <a:srgbClr val="9a3412"/>
                </a:solidFill>
                <a:latin typeface="Consolas"/>
                <a:ea typeface="Consolas"/>
              </a:rPr>
              <a:t>3</a:t>
            </a:r>
            <a:r>
              <a:rPr b="0" lang="en-US" sz="1100" spc="-1" strike="noStrike">
                <a:solidFill>
                  <a:srgbClr val="1f2933"/>
                </a:solidFill>
                <a:latin typeface="Consolas"/>
                <a:ea typeface="Consolas"/>
              </a:rPr>
              <a:t> Titulo, Contenido,</a:t>
            </a:r>
            <a:endParaRPr b="0" lang="es-ES" sz="1100" spc="-1" strike="noStrike">
              <a:latin typeface="Arial"/>
            </a:endParaRPr>
          </a:p>
          <a:p>
            <a:pPr>
              <a:lnSpc>
                <a:spcPct val="100000"/>
              </a:lnSpc>
              <a:tabLst>
                <a:tab algn="l" pos="0"/>
              </a:tabLst>
            </a:pPr>
            <a:r>
              <a:rPr b="0" lang="en-US" sz="1100" spc="-1" strike="noStrike">
                <a:solidFill>
                  <a:srgbClr val="1f2933"/>
                </a:solidFill>
                <a:latin typeface="Consolas"/>
                <a:ea typeface="Consolas"/>
              </a:rPr>
              <a:t>    </a:t>
            </a:r>
            <a:r>
              <a:rPr b="0" lang="en-US" sz="1100" spc="-1" strike="noStrike">
                <a:solidFill>
                  <a:srgbClr val="1f2933"/>
                </a:solidFill>
                <a:latin typeface="Consolas"/>
                <a:ea typeface="Consolas"/>
              </a:rPr>
              <a:t>VECTOR_DISTANCE(</a:t>
            </a:r>
            <a:r>
              <a:rPr b="0" lang="en-US" sz="1100" spc="-1" strike="noStrike">
                <a:solidFill>
                  <a:srgbClr val="b4441f"/>
                </a:solidFill>
                <a:latin typeface="Consolas"/>
                <a:ea typeface="Consolas"/>
              </a:rPr>
              <a:t>'cosine'</a:t>
            </a:r>
            <a:r>
              <a:rPr b="0" lang="en-US" sz="1100" spc="-1" strike="noStrike">
                <a:solidFill>
                  <a:srgbClr val="1f2933"/>
                </a:solidFill>
                <a:latin typeface="Consolas"/>
                <a:ea typeface="Consolas"/>
              </a:rPr>
              <a:t>, Embedding, </a:t>
            </a:r>
            <a:r>
              <a:rPr b="0" lang="en-US" sz="1100" spc="-1" strike="noStrike">
                <a:solidFill>
                  <a:srgbClr val="0f766e"/>
                </a:solidFill>
                <a:latin typeface="Consolas"/>
                <a:ea typeface="Consolas"/>
              </a:rPr>
              <a:t>@VectorPregunta</a:t>
            </a:r>
            <a:r>
              <a:rPr b="0" lang="en-US" sz="1100" spc="-1" strike="noStrike">
                <a:solidFill>
                  <a:srgbClr val="1f2933"/>
                </a:solidFill>
                <a:latin typeface="Consolas"/>
                <a:ea typeface="Consolas"/>
              </a:rPr>
              <a:t>) </a:t>
            </a:r>
            <a:r>
              <a:rPr b="1" lang="en-US" sz="1100" spc="-1" strike="noStrike">
                <a:solidFill>
                  <a:srgbClr val="1d4ed8"/>
                </a:solidFill>
                <a:latin typeface="Consolas"/>
                <a:ea typeface="Consolas"/>
              </a:rPr>
              <a:t>AS</a:t>
            </a:r>
            <a:r>
              <a:rPr b="0" lang="en-US" sz="1100" spc="-1" strike="noStrike">
                <a:solidFill>
                  <a:srgbClr val="1f2933"/>
                </a:solidFill>
                <a:latin typeface="Consolas"/>
                <a:ea typeface="Consolas"/>
              </a:rPr>
              <a:t> Distancia</a:t>
            </a:r>
            <a:endParaRPr b="0" lang="es-ES" sz="1100" spc="-1" strike="noStrike">
              <a:latin typeface="Arial"/>
            </a:endParaRPr>
          </a:p>
          <a:p>
            <a:pPr>
              <a:lnSpc>
                <a:spcPct val="100000"/>
              </a:lnSpc>
              <a:tabLst>
                <a:tab algn="l" pos="0"/>
              </a:tabLst>
            </a:pPr>
            <a:r>
              <a:rPr b="1" lang="en-US" sz="1100" spc="-1" strike="noStrike">
                <a:solidFill>
                  <a:srgbClr val="1d4ed8"/>
                </a:solidFill>
                <a:latin typeface="Consolas"/>
                <a:ea typeface="Consolas"/>
              </a:rPr>
              <a:t>FROM</a:t>
            </a:r>
            <a:r>
              <a:rPr b="0" lang="en-US" sz="1100" spc="-1" strike="noStrike">
                <a:solidFill>
                  <a:srgbClr val="1f2933"/>
                </a:solidFill>
                <a:latin typeface="Consolas"/>
                <a:ea typeface="Consolas"/>
              </a:rPr>
              <a:t> dbo.BaseConocimiento</a:t>
            </a:r>
            <a:endParaRPr b="0" lang="es-ES" sz="1100" spc="-1" strike="noStrike">
              <a:latin typeface="Arial"/>
            </a:endParaRPr>
          </a:p>
          <a:p>
            <a:pPr>
              <a:lnSpc>
                <a:spcPct val="100000"/>
              </a:lnSpc>
              <a:tabLst>
                <a:tab algn="l" pos="0"/>
              </a:tabLst>
            </a:pPr>
            <a:r>
              <a:rPr b="1" lang="en-US" sz="1100" spc="-1" strike="noStrike">
                <a:solidFill>
                  <a:srgbClr val="1d4ed8"/>
                </a:solidFill>
                <a:latin typeface="Consolas"/>
                <a:ea typeface="Consolas"/>
              </a:rPr>
              <a:t>ORDER</a:t>
            </a:r>
            <a:r>
              <a:rPr b="0" lang="en-US" sz="1100" spc="-1" strike="noStrike">
                <a:solidFill>
                  <a:srgbClr val="1f2933"/>
                </a:solidFill>
                <a:latin typeface="Consolas"/>
                <a:ea typeface="Consolas"/>
              </a:rPr>
              <a:t> </a:t>
            </a:r>
            <a:r>
              <a:rPr b="1" lang="en-US" sz="1100" spc="-1" strike="noStrike">
                <a:solidFill>
                  <a:srgbClr val="1d4ed8"/>
                </a:solidFill>
                <a:latin typeface="Consolas"/>
                <a:ea typeface="Consolas"/>
              </a:rPr>
              <a:t>BY</a:t>
            </a:r>
            <a:r>
              <a:rPr b="0" lang="en-US" sz="1100" spc="-1" strike="noStrike">
                <a:solidFill>
                  <a:srgbClr val="1f2933"/>
                </a:solidFill>
                <a:latin typeface="Consolas"/>
                <a:ea typeface="Consolas"/>
              </a:rPr>
              <a:t> Distancia </a:t>
            </a:r>
            <a:r>
              <a:rPr b="1" lang="en-US" sz="1100" spc="-1" strike="noStrike">
                <a:solidFill>
                  <a:srgbClr val="1d4ed8"/>
                </a:solidFill>
                <a:latin typeface="Consolas"/>
                <a:ea typeface="Consolas"/>
              </a:rPr>
              <a:t>ASC</a:t>
            </a:r>
            <a:r>
              <a:rPr b="0" lang="en-US" sz="1100" spc="-1" strike="noStrike">
                <a:solidFill>
                  <a:srgbClr val="1f2933"/>
                </a:solidFill>
                <a:latin typeface="Consolas"/>
                <a:ea typeface="Consolas"/>
              </a:rPr>
              <a:t>;</a:t>
            </a:r>
            <a:endParaRPr b="0" lang="es-ES" sz="1100" spc="-1" strike="noStrike">
              <a:latin typeface="Arial"/>
            </a:endParaRPr>
          </a:p>
          <a:p>
            <a:pPr>
              <a:lnSpc>
                <a:spcPct val="100000"/>
              </a:lnSpc>
              <a:tabLst>
                <a:tab algn="l" pos="0"/>
              </a:tabLst>
            </a:pPr>
            <a:r>
              <a:rPr b="1" lang="en-US" sz="1100" spc="-1" strike="noStrike">
                <a:solidFill>
                  <a:srgbClr val="1d4ed8"/>
                </a:solidFill>
                <a:latin typeface="Consolas"/>
                <a:ea typeface="Consolas"/>
              </a:rPr>
              <a:t>GO</a:t>
            </a:r>
            <a:endParaRPr b="0" lang="es-ES" sz="1100" spc="-1" strike="noStrike">
              <a:latin typeface="Arial"/>
            </a:endParaRPr>
          </a:p>
        </p:txBody>
      </p:sp>
      <p:sp>
        <p:nvSpPr>
          <p:cNvPr id="837" name="CustomShape 8"/>
          <p:cNvSpPr/>
          <p:nvPr/>
        </p:nvSpPr>
        <p:spPr>
          <a:xfrm>
            <a:off x="7040880" y="1600200"/>
            <a:ext cx="4596840" cy="2146320"/>
          </a:xfrm>
          <a:prstGeom prst="roundRect">
            <a:avLst>
              <a:gd name="adj" fmla="val 5106"/>
            </a:avLst>
          </a:prstGeom>
          <a:solidFill>
            <a:srgbClr val="e8eef5"/>
          </a:solidFill>
          <a:ln>
            <a:noFill/>
          </a:ln>
        </p:spPr>
        <p:style>
          <a:lnRef idx="0"/>
          <a:fillRef idx="0"/>
          <a:effectRef idx="0"/>
          <a:fontRef idx="minor"/>
        </p:style>
      </p:sp>
      <p:sp>
        <p:nvSpPr>
          <p:cNvPr id="838" name="CustomShape 9"/>
          <p:cNvSpPr/>
          <p:nvPr/>
        </p:nvSpPr>
        <p:spPr>
          <a:xfrm>
            <a:off x="7269480" y="1828800"/>
            <a:ext cx="546120" cy="546120"/>
          </a:xfrm>
          <a:prstGeom prst="ellipse">
            <a:avLst/>
          </a:prstGeom>
          <a:solidFill>
            <a:srgbClr val="134074"/>
          </a:solidFill>
          <a:ln>
            <a:noFill/>
          </a:ln>
        </p:spPr>
        <p:style>
          <a:lnRef idx="0"/>
          <a:fillRef idx="0"/>
          <a:effectRef idx="0"/>
          <a:fontRef idx="minor"/>
        </p:style>
      </p:sp>
      <p:pic>
        <p:nvPicPr>
          <p:cNvPr id="839" name="Image 0" descr="preencoded.png"/>
          <p:cNvPicPr/>
          <p:nvPr/>
        </p:nvPicPr>
        <p:blipFill>
          <a:blip r:embed="rId1"/>
          <a:stretch/>
        </p:blipFill>
        <p:spPr>
          <a:xfrm>
            <a:off x="7406640" y="1965960"/>
            <a:ext cx="271800" cy="271800"/>
          </a:xfrm>
          <a:prstGeom prst="rect">
            <a:avLst/>
          </a:prstGeom>
          <a:ln>
            <a:noFill/>
          </a:ln>
        </p:spPr>
      </p:pic>
      <p:sp>
        <p:nvSpPr>
          <p:cNvPr id="840" name="CustomShape 10"/>
          <p:cNvSpPr/>
          <p:nvPr/>
        </p:nvSpPr>
        <p:spPr>
          <a:xfrm>
            <a:off x="7955280" y="1828800"/>
            <a:ext cx="345384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Tipo nativo VECTOR</a:t>
            </a:r>
            <a:endParaRPr b="0" lang="es-ES" sz="1700" spc="-1" strike="noStrike">
              <a:latin typeface="Arial"/>
            </a:endParaRPr>
          </a:p>
        </p:txBody>
      </p:sp>
      <p:sp>
        <p:nvSpPr>
          <p:cNvPr id="841" name="CustomShape 11"/>
          <p:cNvSpPr/>
          <p:nvPr/>
        </p:nvSpPr>
        <p:spPr>
          <a:xfrm>
            <a:off x="7269480" y="2560320"/>
            <a:ext cx="4139640" cy="95760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1f2933"/>
              </a:buClr>
              <a:buFont typeface="Symbol"/>
              <a:buChar char=""/>
            </a:pPr>
            <a:r>
              <a:rPr b="0" lang="en-US" sz="1200" spc="-1" strike="noStrike">
                <a:solidFill>
                  <a:srgbClr val="1f2933"/>
                </a:solidFill>
                <a:latin typeface="Calibri"/>
                <a:ea typeface="Calibri"/>
              </a:rPr>
              <a:t>Embeddings densos para texto, imágenes o audio</a:t>
            </a:r>
            <a:endParaRPr b="0" lang="es-ES" sz="1200" spc="-1" strike="noStrike">
              <a:latin typeface="Arial"/>
            </a:endParaRPr>
          </a:p>
          <a:p>
            <a:pPr marL="203040" indent="-200520">
              <a:lnSpc>
                <a:spcPct val="100000"/>
              </a:lnSpc>
              <a:spcAft>
                <a:spcPts val="400"/>
              </a:spcAft>
              <a:buClr>
                <a:srgbClr val="1f2933"/>
              </a:buClr>
              <a:buFont typeface="Symbol"/>
              <a:buChar char=""/>
            </a:pPr>
            <a:r>
              <a:rPr b="0" lang="en-US" sz="1200" spc="-1" strike="noStrike">
                <a:solidFill>
                  <a:srgbClr val="1f2933"/>
                </a:solidFill>
                <a:latin typeface="Calibri"/>
                <a:ea typeface="Calibri"/>
              </a:rPr>
              <a:t>Almacenamiento de floats de 32 bits (4 bytes/dim)</a:t>
            </a:r>
            <a:endParaRPr b="0" lang="es-ES" sz="1200" spc="-1" strike="noStrike">
              <a:latin typeface="Arial"/>
            </a:endParaRPr>
          </a:p>
          <a:p>
            <a:pPr marL="203040" indent="-200520">
              <a:lnSpc>
                <a:spcPct val="100000"/>
              </a:lnSpc>
              <a:spcAft>
                <a:spcPts val="400"/>
              </a:spcAft>
              <a:buClr>
                <a:srgbClr val="1f2933"/>
              </a:buClr>
              <a:buFont typeface="Symbol"/>
              <a:buChar char=""/>
            </a:pPr>
            <a:r>
              <a:rPr b="0" lang="en-US" sz="1200" spc="-1" strike="noStrike">
                <a:solidFill>
                  <a:srgbClr val="1f2933"/>
                </a:solidFill>
                <a:latin typeface="Calibri"/>
                <a:ea typeface="Calibri"/>
              </a:rPr>
              <a:t>Métricas de distancia: cosine, euclidean, dot</a:t>
            </a:r>
            <a:endParaRPr b="0" lang="es-ES" sz="1200" spc="-1" strike="noStrike">
              <a:latin typeface="Arial"/>
            </a:endParaRPr>
          </a:p>
        </p:txBody>
      </p:sp>
      <p:sp>
        <p:nvSpPr>
          <p:cNvPr id="842" name="CustomShape 12"/>
          <p:cNvSpPr/>
          <p:nvPr/>
        </p:nvSpPr>
        <p:spPr>
          <a:xfrm>
            <a:off x="7040880" y="3886200"/>
            <a:ext cx="4596840" cy="2237760"/>
          </a:xfrm>
          <a:prstGeom prst="roundRect">
            <a:avLst>
              <a:gd name="adj" fmla="val 4898"/>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843" name="CustomShape 13"/>
          <p:cNvSpPr/>
          <p:nvPr/>
        </p:nvSpPr>
        <p:spPr>
          <a:xfrm>
            <a:off x="7269480" y="4114800"/>
            <a:ext cx="546120" cy="546120"/>
          </a:xfrm>
          <a:prstGeom prst="ellipse">
            <a:avLst/>
          </a:prstGeom>
          <a:solidFill>
            <a:srgbClr val="134074"/>
          </a:solidFill>
          <a:ln>
            <a:noFill/>
          </a:ln>
        </p:spPr>
        <p:style>
          <a:lnRef idx="0"/>
          <a:fillRef idx="0"/>
          <a:effectRef idx="0"/>
          <a:fontRef idx="minor"/>
        </p:style>
      </p:sp>
      <p:pic>
        <p:nvPicPr>
          <p:cNvPr id="844" name="Image 1" descr="preencoded.png"/>
          <p:cNvPicPr/>
          <p:nvPr/>
        </p:nvPicPr>
        <p:blipFill>
          <a:blip r:embed="rId2"/>
          <a:stretch/>
        </p:blipFill>
        <p:spPr>
          <a:xfrm>
            <a:off x="7406640" y="4251960"/>
            <a:ext cx="271800" cy="271800"/>
          </a:xfrm>
          <a:prstGeom prst="rect">
            <a:avLst/>
          </a:prstGeom>
          <a:ln>
            <a:noFill/>
          </a:ln>
        </p:spPr>
      </p:pic>
      <p:sp>
        <p:nvSpPr>
          <p:cNvPr id="845" name="CustomShape 14"/>
          <p:cNvSpPr/>
          <p:nvPr/>
        </p:nvSpPr>
        <p:spPr>
          <a:xfrm>
            <a:off x="7955280" y="4114800"/>
            <a:ext cx="345384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Consultas Híbridas y RAG</a:t>
            </a:r>
            <a:endParaRPr b="0" lang="es-ES" sz="1700" spc="-1" strike="noStrike">
              <a:latin typeface="Arial"/>
            </a:endParaRPr>
          </a:p>
        </p:txBody>
      </p:sp>
      <p:sp>
        <p:nvSpPr>
          <p:cNvPr id="846" name="CustomShape 15"/>
          <p:cNvSpPr/>
          <p:nvPr/>
        </p:nvSpPr>
        <p:spPr>
          <a:xfrm>
            <a:off x="7269480" y="4846320"/>
            <a:ext cx="4139640" cy="104904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1f2933"/>
              </a:buClr>
              <a:buFont typeface="Symbol"/>
              <a:buChar char=""/>
            </a:pPr>
            <a:r>
              <a:rPr b="0" lang="en-US" sz="1200" spc="-1" strike="noStrike">
                <a:solidFill>
                  <a:srgbClr val="1f2933"/>
                </a:solidFill>
                <a:latin typeface="Calibri"/>
                <a:ea typeface="Calibri"/>
              </a:rPr>
              <a:t>Filtros relacionales (WHERE) y similitud semántica</a:t>
            </a:r>
            <a:endParaRPr b="0" lang="es-ES" sz="1200" spc="-1" strike="noStrike">
              <a:latin typeface="Arial"/>
            </a:endParaRPr>
          </a:p>
          <a:p>
            <a:pPr marL="203040" indent="-200520">
              <a:lnSpc>
                <a:spcPct val="100000"/>
              </a:lnSpc>
              <a:spcAft>
                <a:spcPts val="400"/>
              </a:spcAft>
              <a:buClr>
                <a:srgbClr val="1f2933"/>
              </a:buClr>
              <a:buFont typeface="Symbol"/>
              <a:buChar char=""/>
            </a:pPr>
            <a:r>
              <a:rPr b="0" lang="en-US" sz="1200" spc="-1" strike="noStrike">
                <a:solidFill>
                  <a:srgbClr val="1f2933"/>
                </a:solidFill>
                <a:latin typeface="Calibri"/>
                <a:ea typeface="Calibri"/>
              </a:rPr>
              <a:t>Contexto directo para LLMs en arquitecturas RAG</a:t>
            </a:r>
            <a:endParaRPr b="0" lang="es-ES" sz="1200" spc="-1" strike="noStrike">
              <a:latin typeface="Arial"/>
            </a:endParaRPr>
          </a:p>
          <a:p>
            <a:pPr marL="203040" indent="-200520">
              <a:lnSpc>
                <a:spcPct val="100000"/>
              </a:lnSpc>
              <a:spcAft>
                <a:spcPts val="400"/>
              </a:spcAft>
              <a:buClr>
                <a:srgbClr val="1f2933"/>
              </a:buClr>
              <a:buFont typeface="Symbol"/>
              <a:buChar char=""/>
            </a:pPr>
            <a:r>
              <a:rPr b="0" lang="en-US" sz="1200" spc="-1" strike="noStrike">
                <a:solidFill>
                  <a:srgbClr val="1f2933"/>
                </a:solidFill>
                <a:latin typeface="Calibri"/>
                <a:ea typeface="Calibri"/>
              </a:rPr>
              <a:t>Demostración práctica: labs/lab115-vector-table</a:t>
            </a:r>
            <a:endParaRPr b="0" lang="es-ES" sz="1200" spc="-1" strike="noStrike">
              <a:latin typeface="Arial"/>
            </a:endParaRPr>
          </a:p>
        </p:txBody>
      </p:sp>
      <p:sp>
        <p:nvSpPr>
          <p:cNvPr id="847" name="CustomShape 16"/>
          <p:cNvSpPr/>
          <p:nvPr/>
        </p:nvSpPr>
        <p:spPr>
          <a:xfrm>
            <a:off x="548640" y="4754880"/>
            <a:ext cx="6215400" cy="1369080"/>
          </a:xfrm>
          <a:prstGeom prst="roundRect">
            <a:avLst>
              <a:gd name="adj" fmla="val 8000"/>
            </a:avLst>
          </a:prstGeom>
          <a:solidFill>
            <a:srgbClr val="e8eef5"/>
          </a:solidFill>
          <a:ln>
            <a:noFill/>
          </a:ln>
        </p:spPr>
        <p:style>
          <a:lnRef idx="0"/>
          <a:fillRef idx="0"/>
          <a:effectRef idx="0"/>
          <a:fontRef idx="minor"/>
        </p:style>
      </p:sp>
      <p:sp>
        <p:nvSpPr>
          <p:cNvPr id="848" name="CustomShape 17"/>
          <p:cNvSpPr/>
          <p:nvPr/>
        </p:nvSpPr>
        <p:spPr>
          <a:xfrm>
            <a:off x="731520" y="5212080"/>
            <a:ext cx="454680" cy="454680"/>
          </a:xfrm>
          <a:prstGeom prst="ellipse">
            <a:avLst/>
          </a:prstGeom>
          <a:solidFill>
            <a:srgbClr val="134074"/>
          </a:solidFill>
          <a:ln>
            <a:noFill/>
          </a:ln>
        </p:spPr>
        <p:style>
          <a:lnRef idx="0"/>
          <a:fillRef idx="0"/>
          <a:effectRef idx="0"/>
          <a:fontRef idx="minor"/>
        </p:style>
      </p:sp>
      <p:pic>
        <p:nvPicPr>
          <p:cNvPr id="849" name="Image 2" descr="preencoded.png"/>
          <p:cNvPicPr/>
          <p:nvPr/>
        </p:nvPicPr>
        <p:blipFill>
          <a:blip r:embed="rId3"/>
          <a:stretch/>
        </p:blipFill>
        <p:spPr>
          <a:xfrm>
            <a:off x="846000" y="5326560"/>
            <a:ext cx="226080" cy="226080"/>
          </a:xfrm>
          <a:prstGeom prst="rect">
            <a:avLst/>
          </a:prstGeom>
          <a:ln>
            <a:noFill/>
          </a:ln>
        </p:spPr>
      </p:pic>
      <p:sp>
        <p:nvSpPr>
          <p:cNvPr id="850" name="CustomShape 18"/>
          <p:cNvSpPr/>
          <p:nvPr/>
        </p:nvSpPr>
        <p:spPr>
          <a:xfrm>
            <a:off x="1371600" y="4754880"/>
            <a:ext cx="5209560" cy="1369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2545"/>
                </a:solidFill>
                <a:latin typeface="Calibri"/>
                <a:ea typeface="Calibri"/>
              </a:rPr>
              <a:t>RAG sin bases externas: </a:t>
            </a:r>
            <a:r>
              <a:rPr b="0" lang="en-US" sz="1400" spc="-1" strike="noStrike">
                <a:solidFill>
                  <a:srgbClr val="1f2933"/>
                </a:solidFill>
                <a:latin typeface="Calibri"/>
                <a:ea typeface="Calibri"/>
              </a:rPr>
              <a:t>Los embeddings se benefician del modelo ACID, cifrado TDE, Row-Level Security y backups de SQL Server sin pipelines ETL a bases de datos de terceros.</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851" name="CustomShape 1"/>
          <p:cNvSpPr/>
          <p:nvPr/>
        </p:nvSpPr>
        <p:spPr>
          <a:xfrm>
            <a:off x="548640" y="365760"/>
            <a:ext cx="2886840" cy="271800"/>
          </a:xfrm>
          <a:prstGeom prst="roundRect">
            <a:avLst>
              <a:gd name="adj" fmla="val 50000"/>
            </a:avLst>
          </a:prstGeom>
          <a:solidFill>
            <a:srgbClr val="d95d39"/>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LABORATORIO · CONSULTAS Y SP</a:t>
            </a:r>
            <a:endParaRPr b="0" lang="es-ES" sz="1000" spc="-1" strike="noStrike">
              <a:latin typeface="Arial"/>
            </a:endParaRPr>
          </a:p>
        </p:txBody>
      </p:sp>
      <p:sp>
        <p:nvSpPr>
          <p:cNvPr id="852"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Laboratorio 2A: consultas y procedimientos</a:t>
            </a:r>
            <a:endParaRPr b="0" lang="es-ES" sz="3400" spc="-1" strike="noStrike">
              <a:latin typeface="Arial"/>
            </a:endParaRPr>
          </a:p>
        </p:txBody>
      </p:sp>
      <p:sp>
        <p:nvSpPr>
          <p:cNvPr id="853"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854"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2   34</a:t>
            </a:r>
            <a:endParaRPr b="0" lang="es-ES" sz="1000" spc="-1" strike="noStrike">
              <a:latin typeface="Arial"/>
            </a:endParaRPr>
          </a:p>
        </p:txBody>
      </p:sp>
      <p:sp>
        <p:nvSpPr>
          <p:cNvPr id="855" name="CustomShape 5"/>
          <p:cNvSpPr/>
          <p:nvPr/>
        </p:nvSpPr>
        <p:spPr>
          <a:xfrm>
            <a:off x="548640" y="1600200"/>
            <a:ext cx="2530440" cy="2694960"/>
          </a:xfrm>
          <a:prstGeom prst="roundRect">
            <a:avLst>
              <a:gd name="adj" fmla="val 4332"/>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856" name="CustomShape 6"/>
          <p:cNvSpPr/>
          <p:nvPr/>
        </p:nvSpPr>
        <p:spPr>
          <a:xfrm>
            <a:off x="777240" y="1828800"/>
            <a:ext cx="500400" cy="500400"/>
          </a:xfrm>
          <a:prstGeom prst="ellipse">
            <a:avLst/>
          </a:prstGeom>
          <a:solidFill>
            <a:srgbClr val="134074"/>
          </a:solidFill>
          <a:ln>
            <a:noFill/>
          </a:ln>
        </p:spPr>
        <p:style>
          <a:lnRef idx="0"/>
          <a:fillRef idx="0"/>
          <a:effectRef idx="0"/>
          <a:fontRef idx="minor"/>
        </p:style>
      </p:sp>
      <p:sp>
        <p:nvSpPr>
          <p:cNvPr id="857" name="CustomShape 7"/>
          <p:cNvSpPr/>
          <p:nvPr/>
        </p:nvSpPr>
        <p:spPr>
          <a:xfrm>
            <a:off x="77724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1</a:t>
            </a:r>
            <a:endParaRPr b="0" lang="es-ES" sz="1800" spc="-1" strike="noStrike">
              <a:latin typeface="Arial"/>
            </a:endParaRPr>
          </a:p>
        </p:txBody>
      </p:sp>
      <p:sp>
        <p:nvSpPr>
          <p:cNvPr id="858" name="CustomShape 8"/>
          <p:cNvSpPr/>
          <p:nvPr/>
        </p:nvSpPr>
        <p:spPr>
          <a:xfrm>
            <a:off x="777240" y="2468880"/>
            <a:ext cx="207324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Preparar datos</a:t>
            </a:r>
            <a:endParaRPr b="0" lang="es-ES" sz="1600" spc="-1" strike="noStrike">
              <a:latin typeface="Arial"/>
            </a:endParaRPr>
          </a:p>
        </p:txBody>
      </p:sp>
      <p:sp>
        <p:nvSpPr>
          <p:cNvPr id="859" name="CustomShape 9"/>
          <p:cNvSpPr/>
          <p:nvPr/>
        </p:nvSpPr>
        <p:spPr>
          <a:xfrm>
            <a:off x="777240" y="3154680"/>
            <a:ext cx="2073240" cy="1049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Crea Ventas con Cliente y Pedido y carga 50 000 pedidos sesgados.</a:t>
            </a:r>
            <a:endParaRPr b="0" lang="es-ES" sz="1400" spc="-1" strike="noStrike">
              <a:latin typeface="Arial"/>
            </a:endParaRPr>
          </a:p>
        </p:txBody>
      </p:sp>
      <p:sp>
        <p:nvSpPr>
          <p:cNvPr id="860" name="CustomShape 10"/>
          <p:cNvSpPr/>
          <p:nvPr/>
        </p:nvSpPr>
        <p:spPr>
          <a:xfrm>
            <a:off x="3117960" y="1947600"/>
            <a:ext cx="24444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861" name="CustomShape 11"/>
          <p:cNvSpPr/>
          <p:nvPr/>
        </p:nvSpPr>
        <p:spPr>
          <a:xfrm>
            <a:off x="3401640" y="1600200"/>
            <a:ext cx="2530440" cy="2694960"/>
          </a:xfrm>
          <a:prstGeom prst="roundRect">
            <a:avLst>
              <a:gd name="adj" fmla="val 4332"/>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862" name="CustomShape 12"/>
          <p:cNvSpPr/>
          <p:nvPr/>
        </p:nvSpPr>
        <p:spPr>
          <a:xfrm>
            <a:off x="3630240" y="1828800"/>
            <a:ext cx="500400" cy="500400"/>
          </a:xfrm>
          <a:prstGeom prst="ellipse">
            <a:avLst/>
          </a:prstGeom>
          <a:solidFill>
            <a:srgbClr val="134074"/>
          </a:solidFill>
          <a:ln>
            <a:noFill/>
          </a:ln>
        </p:spPr>
        <p:style>
          <a:lnRef idx="0"/>
          <a:fillRef idx="0"/>
          <a:effectRef idx="0"/>
          <a:fontRef idx="minor"/>
        </p:style>
      </p:sp>
      <p:sp>
        <p:nvSpPr>
          <p:cNvPr id="863" name="CustomShape 13"/>
          <p:cNvSpPr/>
          <p:nvPr/>
        </p:nvSpPr>
        <p:spPr>
          <a:xfrm>
            <a:off x="363024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2</a:t>
            </a:r>
            <a:endParaRPr b="0" lang="es-ES" sz="1800" spc="-1" strike="noStrike">
              <a:latin typeface="Arial"/>
            </a:endParaRPr>
          </a:p>
        </p:txBody>
      </p:sp>
      <p:sp>
        <p:nvSpPr>
          <p:cNvPr id="864" name="CustomShape 14"/>
          <p:cNvSpPr/>
          <p:nvPr/>
        </p:nvSpPr>
        <p:spPr>
          <a:xfrm>
            <a:off x="3630240" y="2468880"/>
            <a:ext cx="207324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Consulta analítica</a:t>
            </a:r>
            <a:endParaRPr b="0" lang="es-ES" sz="1600" spc="-1" strike="noStrike">
              <a:latin typeface="Arial"/>
            </a:endParaRPr>
          </a:p>
        </p:txBody>
      </p:sp>
      <p:sp>
        <p:nvSpPr>
          <p:cNvPr id="865" name="CustomShape 15"/>
          <p:cNvSpPr/>
          <p:nvPr/>
        </p:nvSpPr>
        <p:spPr>
          <a:xfrm>
            <a:off x="3630240" y="3154680"/>
            <a:ext cx="2073240" cy="1049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Top 3 pedidos por cliente con ROW_NUMBER y SUM OVER.</a:t>
            </a:r>
            <a:endParaRPr b="0" lang="es-ES" sz="1400" spc="-1" strike="noStrike">
              <a:latin typeface="Arial"/>
            </a:endParaRPr>
          </a:p>
        </p:txBody>
      </p:sp>
      <p:sp>
        <p:nvSpPr>
          <p:cNvPr id="866" name="CustomShape 16"/>
          <p:cNvSpPr/>
          <p:nvPr/>
        </p:nvSpPr>
        <p:spPr>
          <a:xfrm>
            <a:off x="5970960" y="1947600"/>
            <a:ext cx="24444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867" name="CustomShape 17"/>
          <p:cNvSpPr/>
          <p:nvPr/>
        </p:nvSpPr>
        <p:spPr>
          <a:xfrm>
            <a:off x="6254640" y="1600200"/>
            <a:ext cx="2530440" cy="2694960"/>
          </a:xfrm>
          <a:prstGeom prst="roundRect">
            <a:avLst>
              <a:gd name="adj" fmla="val 4332"/>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868" name="CustomShape 18"/>
          <p:cNvSpPr/>
          <p:nvPr/>
        </p:nvSpPr>
        <p:spPr>
          <a:xfrm>
            <a:off x="6483240" y="1828800"/>
            <a:ext cx="500400" cy="500400"/>
          </a:xfrm>
          <a:prstGeom prst="ellipse">
            <a:avLst/>
          </a:prstGeom>
          <a:solidFill>
            <a:srgbClr val="134074"/>
          </a:solidFill>
          <a:ln>
            <a:noFill/>
          </a:ln>
        </p:spPr>
        <p:style>
          <a:lnRef idx="0"/>
          <a:fillRef idx="0"/>
          <a:effectRef idx="0"/>
          <a:fontRef idx="minor"/>
        </p:style>
      </p:sp>
      <p:sp>
        <p:nvSpPr>
          <p:cNvPr id="869" name="CustomShape 19"/>
          <p:cNvSpPr/>
          <p:nvPr/>
        </p:nvSpPr>
        <p:spPr>
          <a:xfrm>
            <a:off x="648324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3</a:t>
            </a:r>
            <a:endParaRPr b="0" lang="es-ES" sz="1800" spc="-1" strike="noStrike">
              <a:latin typeface="Arial"/>
            </a:endParaRPr>
          </a:p>
        </p:txBody>
      </p:sp>
      <p:sp>
        <p:nvSpPr>
          <p:cNvPr id="870" name="CustomShape 20"/>
          <p:cNvSpPr/>
          <p:nvPr/>
        </p:nvSpPr>
        <p:spPr>
          <a:xfrm>
            <a:off x="6483240" y="2468880"/>
            <a:ext cx="207324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Procedimiento</a:t>
            </a:r>
            <a:endParaRPr b="0" lang="es-ES" sz="1600" spc="-1" strike="noStrike">
              <a:latin typeface="Arial"/>
            </a:endParaRPr>
          </a:p>
        </p:txBody>
      </p:sp>
      <p:sp>
        <p:nvSpPr>
          <p:cNvPr id="871" name="CustomShape 21"/>
          <p:cNvSpPr/>
          <p:nvPr/>
        </p:nvSpPr>
        <p:spPr>
          <a:xfrm>
            <a:off x="6483240" y="3154680"/>
            <a:ext cx="2073240" cy="1049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Crea usp_TopPedidosCliente con parámetros y SET NOCOUNT ON.</a:t>
            </a:r>
            <a:endParaRPr b="0" lang="es-ES" sz="1400" spc="-1" strike="noStrike">
              <a:latin typeface="Arial"/>
            </a:endParaRPr>
          </a:p>
        </p:txBody>
      </p:sp>
      <p:sp>
        <p:nvSpPr>
          <p:cNvPr id="872" name="CustomShape 22"/>
          <p:cNvSpPr/>
          <p:nvPr/>
        </p:nvSpPr>
        <p:spPr>
          <a:xfrm>
            <a:off x="8823960" y="1947600"/>
            <a:ext cx="24444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873" name="CustomShape 23"/>
          <p:cNvSpPr/>
          <p:nvPr/>
        </p:nvSpPr>
        <p:spPr>
          <a:xfrm>
            <a:off x="9107280" y="1600200"/>
            <a:ext cx="2530440" cy="2694960"/>
          </a:xfrm>
          <a:prstGeom prst="roundRect">
            <a:avLst>
              <a:gd name="adj" fmla="val 4332"/>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874" name="CustomShape 24"/>
          <p:cNvSpPr/>
          <p:nvPr/>
        </p:nvSpPr>
        <p:spPr>
          <a:xfrm>
            <a:off x="9335880" y="1828800"/>
            <a:ext cx="500400" cy="500400"/>
          </a:xfrm>
          <a:prstGeom prst="ellipse">
            <a:avLst/>
          </a:prstGeom>
          <a:solidFill>
            <a:srgbClr val="134074"/>
          </a:solidFill>
          <a:ln>
            <a:noFill/>
          </a:ln>
        </p:spPr>
        <p:style>
          <a:lnRef idx="0"/>
          <a:fillRef idx="0"/>
          <a:effectRef idx="0"/>
          <a:fontRef idx="minor"/>
        </p:style>
      </p:sp>
      <p:sp>
        <p:nvSpPr>
          <p:cNvPr id="875" name="CustomShape 25"/>
          <p:cNvSpPr/>
          <p:nvPr/>
        </p:nvSpPr>
        <p:spPr>
          <a:xfrm>
            <a:off x="933588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4</a:t>
            </a:r>
            <a:endParaRPr b="0" lang="es-ES" sz="1800" spc="-1" strike="noStrike">
              <a:latin typeface="Arial"/>
            </a:endParaRPr>
          </a:p>
        </p:txBody>
      </p:sp>
      <p:sp>
        <p:nvSpPr>
          <p:cNvPr id="876" name="CustomShape 26"/>
          <p:cNvSpPr/>
          <p:nvPr/>
        </p:nvSpPr>
        <p:spPr>
          <a:xfrm>
            <a:off x="9335880" y="2468880"/>
            <a:ext cx="207324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Plan y sniffing</a:t>
            </a:r>
            <a:endParaRPr b="0" lang="es-ES" sz="1600" spc="-1" strike="noStrike">
              <a:latin typeface="Arial"/>
            </a:endParaRPr>
          </a:p>
        </p:txBody>
      </p:sp>
      <p:sp>
        <p:nvSpPr>
          <p:cNvPr id="877" name="CustomShape 27"/>
          <p:cNvSpPr/>
          <p:nvPr/>
        </p:nvSpPr>
        <p:spPr>
          <a:xfrm>
            <a:off x="9335880" y="3154680"/>
            <a:ext cx="2073240" cy="1049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Ejecuta con cliente 1 y con otro; compara planes con Ctrl+M.</a:t>
            </a:r>
            <a:endParaRPr b="0" lang="es-ES" sz="1400" spc="-1" strike="noStrike">
              <a:latin typeface="Arial"/>
            </a:endParaRPr>
          </a:p>
        </p:txBody>
      </p:sp>
      <p:sp>
        <p:nvSpPr>
          <p:cNvPr id="878" name="CustomShape 28"/>
          <p:cNvSpPr/>
          <p:nvPr/>
        </p:nvSpPr>
        <p:spPr>
          <a:xfrm>
            <a:off x="548640" y="4572000"/>
            <a:ext cx="6855480" cy="1597680"/>
          </a:xfrm>
          <a:prstGeom prst="roundRect">
            <a:avLst>
              <a:gd name="adj" fmla="val 5714"/>
            </a:avLst>
          </a:prstGeom>
          <a:solidFill>
            <a:srgbClr val="eceff3"/>
          </a:solidFill>
          <a:ln w="9360">
            <a:solidFill>
              <a:srgbClr val="d0d7de"/>
            </a:solidFill>
            <a:round/>
          </a:ln>
        </p:spPr>
        <p:style>
          <a:lnRef idx="0"/>
          <a:fillRef idx="0"/>
          <a:effectRef idx="0"/>
          <a:fontRef idx="minor"/>
        </p:style>
      </p:sp>
      <p:sp>
        <p:nvSpPr>
          <p:cNvPr id="879" name="CustomShape 29"/>
          <p:cNvSpPr/>
          <p:nvPr/>
        </p:nvSpPr>
        <p:spPr>
          <a:xfrm>
            <a:off x="731520" y="46634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punto de partida del paso 2</a:t>
            </a:r>
            <a:endParaRPr b="0" lang="es-ES" sz="1000" spc="-1" strike="noStrike">
              <a:latin typeface="Arial"/>
            </a:endParaRPr>
          </a:p>
        </p:txBody>
      </p:sp>
      <p:sp>
        <p:nvSpPr>
          <p:cNvPr id="880" name="CustomShape 30"/>
          <p:cNvSpPr/>
          <p:nvPr/>
        </p:nvSpPr>
        <p:spPr>
          <a:xfrm>
            <a:off x="731520" y="4937760"/>
            <a:ext cx="6489720" cy="114048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R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ClienteId, PedidoId, Total,</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ROW_NUMBER() </a:t>
            </a:r>
            <a:r>
              <a:rPr b="1" lang="en-US" sz="1200" spc="-1" strike="noStrike">
                <a:solidFill>
                  <a:srgbClr val="1d4ed8"/>
                </a:solidFill>
                <a:latin typeface="Consolas"/>
                <a:ea typeface="Consolas"/>
              </a:rPr>
              <a:t>OVER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PARTITION</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BY</a:t>
            </a:r>
            <a:r>
              <a:rPr b="0" lang="en-US" sz="1200" spc="-1" strike="noStrike">
                <a:solidFill>
                  <a:srgbClr val="1f2933"/>
                </a:solidFill>
                <a:latin typeface="Consolas"/>
                <a:ea typeface="Consolas"/>
              </a:rPr>
              <a:t> ClienteId</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ORDER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BY</a:t>
            </a:r>
            <a:r>
              <a:rPr b="0" lang="en-US" sz="1200" spc="-1" strike="noStrike">
                <a:solidFill>
                  <a:srgbClr val="1f2933"/>
                </a:solidFill>
                <a:latin typeface="Consolas"/>
                <a:ea typeface="Consolas"/>
              </a:rPr>
              <a:t> Total </a:t>
            </a:r>
            <a:r>
              <a:rPr b="1" lang="en-US" sz="1200" spc="-1" strike="noStrike">
                <a:solidFill>
                  <a:srgbClr val="1d4ed8"/>
                </a:solidFill>
                <a:latin typeface="Consolas"/>
                <a:ea typeface="Consolas"/>
              </a:rPr>
              <a:t>DESC</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rn</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dbo.Pedido)</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 </a:t>
            </a: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R </a:t>
            </a:r>
            <a:r>
              <a:rPr b="1" lang="en-US" sz="1200" spc="-1" strike="noStrike">
                <a:solidFill>
                  <a:srgbClr val="1d4ed8"/>
                </a:solidFill>
                <a:latin typeface="Consolas"/>
                <a:ea typeface="Consolas"/>
              </a:rPr>
              <a:t>WHERE</a:t>
            </a:r>
            <a:r>
              <a:rPr b="0" lang="en-US" sz="1200" spc="-1" strike="noStrike">
                <a:solidFill>
                  <a:srgbClr val="1f2933"/>
                </a:solidFill>
                <a:latin typeface="Consolas"/>
                <a:ea typeface="Consolas"/>
              </a:rPr>
              <a:t> rn &lt;= </a:t>
            </a:r>
            <a:r>
              <a:rPr b="0" lang="en-US" sz="1200" spc="-1" strike="noStrike">
                <a:solidFill>
                  <a:srgbClr val="9a3412"/>
                </a:solidFill>
                <a:latin typeface="Consolas"/>
                <a:ea typeface="Consolas"/>
              </a:rPr>
              <a:t>3</a:t>
            </a:r>
            <a:r>
              <a:rPr b="0" lang="en-US" sz="1200" spc="-1" strike="noStrike">
                <a:solidFill>
                  <a:srgbClr val="1f2933"/>
                </a:solidFill>
                <a:latin typeface="Consolas"/>
                <a:ea typeface="Consolas"/>
              </a:rPr>
              <a:t>;</a:t>
            </a:r>
            <a:endParaRPr b="0" lang="es-ES" sz="1200" spc="-1" strike="noStrike">
              <a:latin typeface="Arial"/>
            </a:endParaRPr>
          </a:p>
        </p:txBody>
      </p:sp>
      <p:sp>
        <p:nvSpPr>
          <p:cNvPr id="881" name="CustomShape 31"/>
          <p:cNvSpPr/>
          <p:nvPr/>
        </p:nvSpPr>
        <p:spPr>
          <a:xfrm>
            <a:off x="7680960" y="4572000"/>
            <a:ext cx="3956760" cy="1597680"/>
          </a:xfrm>
          <a:prstGeom prst="roundRect">
            <a:avLst>
              <a:gd name="adj" fmla="val 6857"/>
            </a:avLst>
          </a:prstGeom>
          <a:solidFill>
            <a:srgbClr val="fdede8"/>
          </a:solidFill>
          <a:ln>
            <a:noFill/>
          </a:ln>
        </p:spPr>
        <p:style>
          <a:lnRef idx="0"/>
          <a:fillRef idx="0"/>
          <a:effectRef idx="0"/>
          <a:fontRef idx="minor"/>
        </p:style>
      </p:sp>
      <p:sp>
        <p:nvSpPr>
          <p:cNvPr id="882" name="CustomShape 32"/>
          <p:cNvSpPr/>
          <p:nvPr/>
        </p:nvSpPr>
        <p:spPr>
          <a:xfrm>
            <a:off x="7863840" y="5143680"/>
            <a:ext cx="454680" cy="454680"/>
          </a:xfrm>
          <a:prstGeom prst="ellipse">
            <a:avLst/>
          </a:prstGeom>
          <a:solidFill>
            <a:srgbClr val="d95d39"/>
          </a:solidFill>
          <a:ln>
            <a:noFill/>
          </a:ln>
        </p:spPr>
        <p:style>
          <a:lnRef idx="0"/>
          <a:fillRef idx="0"/>
          <a:effectRef idx="0"/>
          <a:fontRef idx="minor"/>
        </p:style>
      </p:sp>
      <p:pic>
        <p:nvPicPr>
          <p:cNvPr id="883" name="Image 0" descr="preencoded.png"/>
          <p:cNvPicPr/>
          <p:nvPr/>
        </p:nvPicPr>
        <p:blipFill>
          <a:blip r:embed="rId1"/>
          <a:stretch/>
        </p:blipFill>
        <p:spPr>
          <a:xfrm>
            <a:off x="7978320" y="5257800"/>
            <a:ext cx="226080" cy="226080"/>
          </a:xfrm>
          <a:prstGeom prst="rect">
            <a:avLst/>
          </a:prstGeom>
          <a:ln>
            <a:noFill/>
          </a:ln>
        </p:spPr>
      </p:pic>
      <p:sp>
        <p:nvSpPr>
          <p:cNvPr id="884" name="CustomShape 33"/>
          <p:cNvSpPr/>
          <p:nvPr/>
        </p:nvSpPr>
        <p:spPr>
          <a:xfrm>
            <a:off x="8503920" y="4572000"/>
            <a:ext cx="2950920" cy="15976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a8431f"/>
                </a:solidFill>
                <a:latin typeface="Calibri"/>
                <a:ea typeface="Calibri"/>
              </a:rPr>
              <a:t>Trampa: </a:t>
            </a:r>
            <a:r>
              <a:rPr b="0" lang="en-US" sz="1400" spc="-1" strike="noStrike">
                <a:solidFill>
                  <a:srgbClr val="1f2933"/>
                </a:solidFill>
                <a:latin typeface="Calibri"/>
                <a:ea typeface="Calibri"/>
              </a:rPr>
              <a:t>no puedes filtrar rn en el mismo SELECT; envuélvelo en una CTE.</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885"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SEGURIDAD</a:t>
            </a:r>
            <a:endParaRPr b="0" lang="es-ES" sz="1000" spc="-1" strike="noStrike">
              <a:latin typeface="Arial"/>
            </a:endParaRPr>
          </a:p>
        </p:txBody>
      </p:sp>
      <p:sp>
        <p:nvSpPr>
          <p:cNvPr id="886"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Modelo de seguridad de SQL Server</a:t>
            </a:r>
            <a:endParaRPr b="0" lang="es-ES" sz="3400" spc="-1" strike="noStrike">
              <a:latin typeface="Arial"/>
            </a:endParaRPr>
          </a:p>
        </p:txBody>
      </p:sp>
      <p:sp>
        <p:nvSpPr>
          <p:cNvPr id="887"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888"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2   35</a:t>
            </a:r>
            <a:endParaRPr b="0" lang="es-ES" sz="1000" spc="-1" strike="noStrike">
              <a:latin typeface="Arial"/>
            </a:endParaRPr>
          </a:p>
        </p:txBody>
      </p:sp>
      <p:sp>
        <p:nvSpPr>
          <p:cNvPr id="889" name="CustomShape 5"/>
          <p:cNvSpPr/>
          <p:nvPr/>
        </p:nvSpPr>
        <p:spPr>
          <a:xfrm>
            <a:off x="548640" y="2103120"/>
            <a:ext cx="4296960" cy="3335040"/>
          </a:xfrm>
          <a:prstGeom prst="roundRect">
            <a:avLst>
              <a:gd name="adj" fmla="val 3288"/>
            </a:avLst>
          </a:prstGeom>
          <a:solidFill>
            <a:srgbClr val="e8eef5"/>
          </a:solidFill>
          <a:ln>
            <a:noFill/>
          </a:ln>
        </p:spPr>
        <p:style>
          <a:lnRef idx="0"/>
          <a:fillRef idx="0"/>
          <a:effectRef idx="0"/>
          <a:fontRef idx="minor"/>
        </p:style>
      </p:sp>
      <p:sp>
        <p:nvSpPr>
          <p:cNvPr id="890" name="CustomShape 6"/>
          <p:cNvSpPr/>
          <p:nvPr/>
        </p:nvSpPr>
        <p:spPr>
          <a:xfrm>
            <a:off x="5213880" y="2103120"/>
            <a:ext cx="6423840" cy="3335040"/>
          </a:xfrm>
          <a:prstGeom prst="roundRect">
            <a:avLst>
              <a:gd name="adj" fmla="val 3288"/>
            </a:avLst>
          </a:prstGeom>
          <a:solidFill>
            <a:srgbClr val="dde7f3"/>
          </a:solidFill>
          <a:ln>
            <a:noFill/>
          </a:ln>
        </p:spPr>
        <p:style>
          <a:lnRef idx="0"/>
          <a:fillRef idx="0"/>
          <a:effectRef idx="0"/>
          <a:fontRef idx="minor"/>
        </p:style>
      </p:sp>
      <p:sp>
        <p:nvSpPr>
          <p:cNvPr id="891" name="CustomShape 7"/>
          <p:cNvSpPr/>
          <p:nvPr/>
        </p:nvSpPr>
        <p:spPr>
          <a:xfrm>
            <a:off x="548640" y="1600200"/>
            <a:ext cx="4296960" cy="3632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300" spc="-1" strike="noStrike">
                <a:solidFill>
                  <a:srgbClr val="0b2545"/>
                </a:solidFill>
                <a:latin typeface="Calibri"/>
                <a:ea typeface="Calibri"/>
              </a:rPr>
              <a:t>NIVEL DE INSTANCIA (servidor)</a:t>
            </a:r>
            <a:endParaRPr b="0" lang="es-ES" sz="1300" spc="-1" strike="noStrike">
              <a:latin typeface="Arial"/>
            </a:endParaRPr>
          </a:p>
        </p:txBody>
      </p:sp>
      <p:sp>
        <p:nvSpPr>
          <p:cNvPr id="892" name="CustomShape 8"/>
          <p:cNvSpPr/>
          <p:nvPr/>
        </p:nvSpPr>
        <p:spPr>
          <a:xfrm>
            <a:off x="5213880" y="1600200"/>
            <a:ext cx="6423840" cy="3632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300" spc="-1" strike="noStrike">
                <a:solidFill>
                  <a:srgbClr val="0b2545"/>
                </a:solidFill>
                <a:latin typeface="Calibri"/>
                <a:ea typeface="Calibri"/>
              </a:rPr>
              <a:t>NIVEL DE BASE DE DATOS</a:t>
            </a:r>
            <a:endParaRPr b="0" lang="es-ES" sz="1300" spc="-1" strike="noStrike">
              <a:latin typeface="Arial"/>
            </a:endParaRPr>
          </a:p>
        </p:txBody>
      </p:sp>
      <p:sp>
        <p:nvSpPr>
          <p:cNvPr id="893" name="CustomShape 9"/>
          <p:cNvSpPr/>
          <p:nvPr/>
        </p:nvSpPr>
        <p:spPr>
          <a:xfrm>
            <a:off x="731520" y="2377440"/>
            <a:ext cx="1804320" cy="2786400"/>
          </a:xfrm>
          <a:prstGeom prst="roundRect">
            <a:avLst>
              <a:gd name="adj" fmla="val 6073"/>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894" name="CustomShape 10"/>
          <p:cNvSpPr/>
          <p:nvPr/>
        </p:nvSpPr>
        <p:spPr>
          <a:xfrm>
            <a:off x="1315080" y="2560320"/>
            <a:ext cx="637560" cy="637560"/>
          </a:xfrm>
          <a:prstGeom prst="ellipse">
            <a:avLst/>
          </a:prstGeom>
          <a:solidFill>
            <a:srgbClr val="134074"/>
          </a:solidFill>
          <a:ln>
            <a:noFill/>
          </a:ln>
        </p:spPr>
        <p:style>
          <a:lnRef idx="0"/>
          <a:fillRef idx="0"/>
          <a:effectRef idx="0"/>
          <a:fontRef idx="minor"/>
        </p:style>
      </p:sp>
      <p:pic>
        <p:nvPicPr>
          <p:cNvPr id="895" name="Image 0" descr="preencoded.png"/>
          <p:cNvPicPr/>
          <p:nvPr/>
        </p:nvPicPr>
        <p:blipFill>
          <a:blip r:embed="rId1"/>
          <a:stretch/>
        </p:blipFill>
        <p:spPr>
          <a:xfrm>
            <a:off x="1474920" y="2720520"/>
            <a:ext cx="317520" cy="317520"/>
          </a:xfrm>
          <a:prstGeom prst="rect">
            <a:avLst/>
          </a:prstGeom>
          <a:ln>
            <a:noFill/>
          </a:ln>
        </p:spPr>
      </p:pic>
      <p:sp>
        <p:nvSpPr>
          <p:cNvPr id="896" name="CustomShape 11"/>
          <p:cNvSpPr/>
          <p:nvPr/>
        </p:nvSpPr>
        <p:spPr>
          <a:xfrm>
            <a:off x="822960" y="3337560"/>
            <a:ext cx="1621440" cy="59184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1" lang="en-US" sz="1600" spc="-1" strike="noStrike">
                <a:solidFill>
                  <a:srgbClr val="0b2545"/>
                </a:solidFill>
                <a:latin typeface="Calibri"/>
                <a:ea typeface="Calibri"/>
              </a:rPr>
              <a:t>Autenticación</a:t>
            </a:r>
            <a:endParaRPr b="0" lang="es-ES" sz="1600" spc="-1" strike="noStrike">
              <a:latin typeface="Arial"/>
            </a:endParaRPr>
          </a:p>
        </p:txBody>
      </p:sp>
      <p:sp>
        <p:nvSpPr>
          <p:cNvPr id="897" name="CustomShape 12"/>
          <p:cNvSpPr/>
          <p:nvPr/>
        </p:nvSpPr>
        <p:spPr>
          <a:xfrm>
            <a:off x="822960" y="3977640"/>
            <a:ext cx="1621440" cy="82044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300" spc="-1" strike="noStrike">
                <a:solidFill>
                  <a:srgbClr val="1f2933"/>
                </a:solidFill>
                <a:latin typeface="Calibri"/>
                <a:ea typeface="Calibri"/>
              </a:rPr>
              <a:t>Windows o SQL Server</a:t>
            </a:r>
            <a:endParaRPr b="0" lang="es-ES" sz="1300" spc="-1" strike="noStrike">
              <a:latin typeface="Arial"/>
            </a:endParaRPr>
          </a:p>
        </p:txBody>
      </p:sp>
      <p:sp>
        <p:nvSpPr>
          <p:cNvPr id="898" name="CustomShape 13"/>
          <p:cNvSpPr/>
          <p:nvPr/>
        </p:nvSpPr>
        <p:spPr>
          <a:xfrm>
            <a:off x="2561400" y="2697480"/>
            <a:ext cx="27180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899" name="CustomShape 14"/>
          <p:cNvSpPr/>
          <p:nvPr/>
        </p:nvSpPr>
        <p:spPr>
          <a:xfrm>
            <a:off x="2858400" y="2377440"/>
            <a:ext cx="1804320" cy="2786400"/>
          </a:xfrm>
          <a:prstGeom prst="roundRect">
            <a:avLst>
              <a:gd name="adj" fmla="val 6073"/>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900" name="CustomShape 15"/>
          <p:cNvSpPr/>
          <p:nvPr/>
        </p:nvSpPr>
        <p:spPr>
          <a:xfrm>
            <a:off x="3441960" y="2560320"/>
            <a:ext cx="637560" cy="637560"/>
          </a:xfrm>
          <a:prstGeom prst="ellipse">
            <a:avLst/>
          </a:prstGeom>
          <a:solidFill>
            <a:srgbClr val="134074"/>
          </a:solidFill>
          <a:ln>
            <a:noFill/>
          </a:ln>
        </p:spPr>
        <p:style>
          <a:lnRef idx="0"/>
          <a:fillRef idx="0"/>
          <a:effectRef idx="0"/>
          <a:fontRef idx="minor"/>
        </p:style>
      </p:sp>
      <p:pic>
        <p:nvPicPr>
          <p:cNvPr id="901" name="Image 1" descr="preencoded.png"/>
          <p:cNvPicPr/>
          <p:nvPr/>
        </p:nvPicPr>
        <p:blipFill>
          <a:blip r:embed="rId2"/>
          <a:stretch/>
        </p:blipFill>
        <p:spPr>
          <a:xfrm>
            <a:off x="3601800" y="2720520"/>
            <a:ext cx="317520" cy="317520"/>
          </a:xfrm>
          <a:prstGeom prst="rect">
            <a:avLst/>
          </a:prstGeom>
          <a:ln>
            <a:noFill/>
          </a:ln>
        </p:spPr>
      </p:pic>
      <p:sp>
        <p:nvSpPr>
          <p:cNvPr id="902" name="CustomShape 16"/>
          <p:cNvSpPr/>
          <p:nvPr/>
        </p:nvSpPr>
        <p:spPr>
          <a:xfrm>
            <a:off x="2949840" y="3337560"/>
            <a:ext cx="1621440" cy="59184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1" lang="en-US" sz="1600" spc="-1" strike="noStrike">
                <a:solidFill>
                  <a:srgbClr val="0b2545"/>
                </a:solidFill>
                <a:latin typeface="Calibri"/>
                <a:ea typeface="Calibri"/>
              </a:rPr>
              <a:t>Login</a:t>
            </a:r>
            <a:endParaRPr b="0" lang="es-ES" sz="1600" spc="-1" strike="noStrike">
              <a:latin typeface="Arial"/>
            </a:endParaRPr>
          </a:p>
        </p:txBody>
      </p:sp>
      <p:sp>
        <p:nvSpPr>
          <p:cNvPr id="903" name="CustomShape 17"/>
          <p:cNvSpPr/>
          <p:nvPr/>
        </p:nvSpPr>
        <p:spPr>
          <a:xfrm>
            <a:off x="2949840" y="3977640"/>
            <a:ext cx="1621440" cy="82044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300" spc="-1" strike="noStrike">
                <a:solidFill>
                  <a:srgbClr val="1f2933"/>
                </a:solidFill>
                <a:latin typeface="Calibri"/>
                <a:ea typeface="Calibri"/>
              </a:rPr>
              <a:t>Principal de servidor</a:t>
            </a:r>
            <a:endParaRPr b="0" lang="es-ES" sz="1300" spc="-1" strike="noStrike">
              <a:latin typeface="Arial"/>
            </a:endParaRPr>
          </a:p>
        </p:txBody>
      </p:sp>
      <p:sp>
        <p:nvSpPr>
          <p:cNvPr id="904" name="CustomShape 18"/>
          <p:cNvSpPr/>
          <p:nvPr/>
        </p:nvSpPr>
        <p:spPr>
          <a:xfrm>
            <a:off x="4893840" y="2697480"/>
            <a:ext cx="27180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905" name="CustomShape 19"/>
          <p:cNvSpPr/>
          <p:nvPr/>
        </p:nvSpPr>
        <p:spPr>
          <a:xfrm>
            <a:off x="5396760" y="2377440"/>
            <a:ext cx="1804320" cy="2786400"/>
          </a:xfrm>
          <a:prstGeom prst="roundRect">
            <a:avLst>
              <a:gd name="adj" fmla="val 6073"/>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906" name="CustomShape 20"/>
          <p:cNvSpPr/>
          <p:nvPr/>
        </p:nvSpPr>
        <p:spPr>
          <a:xfrm>
            <a:off x="5980320" y="2560320"/>
            <a:ext cx="637560" cy="637560"/>
          </a:xfrm>
          <a:prstGeom prst="ellipse">
            <a:avLst/>
          </a:prstGeom>
          <a:solidFill>
            <a:srgbClr val="0b2545"/>
          </a:solidFill>
          <a:ln>
            <a:noFill/>
          </a:ln>
        </p:spPr>
        <p:style>
          <a:lnRef idx="0"/>
          <a:fillRef idx="0"/>
          <a:effectRef idx="0"/>
          <a:fontRef idx="minor"/>
        </p:style>
      </p:sp>
      <p:pic>
        <p:nvPicPr>
          <p:cNvPr id="907" name="Image 2" descr="preencoded.png"/>
          <p:cNvPicPr/>
          <p:nvPr/>
        </p:nvPicPr>
        <p:blipFill>
          <a:blip r:embed="rId3"/>
          <a:stretch/>
        </p:blipFill>
        <p:spPr>
          <a:xfrm>
            <a:off x="6140160" y="2720520"/>
            <a:ext cx="317520" cy="317520"/>
          </a:xfrm>
          <a:prstGeom prst="rect">
            <a:avLst/>
          </a:prstGeom>
          <a:ln>
            <a:noFill/>
          </a:ln>
        </p:spPr>
      </p:pic>
      <p:sp>
        <p:nvSpPr>
          <p:cNvPr id="908" name="CustomShape 21"/>
          <p:cNvSpPr/>
          <p:nvPr/>
        </p:nvSpPr>
        <p:spPr>
          <a:xfrm>
            <a:off x="5488200" y="3337560"/>
            <a:ext cx="1621440" cy="59184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1" lang="en-US" sz="1600" spc="-1" strike="noStrike">
                <a:solidFill>
                  <a:srgbClr val="0b2545"/>
                </a:solidFill>
                <a:latin typeface="Calibri"/>
                <a:ea typeface="Calibri"/>
              </a:rPr>
              <a:t>User</a:t>
            </a:r>
            <a:endParaRPr b="0" lang="es-ES" sz="1600" spc="-1" strike="noStrike">
              <a:latin typeface="Arial"/>
            </a:endParaRPr>
          </a:p>
        </p:txBody>
      </p:sp>
      <p:sp>
        <p:nvSpPr>
          <p:cNvPr id="909" name="CustomShape 22"/>
          <p:cNvSpPr/>
          <p:nvPr/>
        </p:nvSpPr>
        <p:spPr>
          <a:xfrm>
            <a:off x="5488200" y="3977640"/>
            <a:ext cx="1621440" cy="82044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300" spc="-1" strike="noStrike">
                <a:solidFill>
                  <a:srgbClr val="1f2933"/>
                </a:solidFill>
                <a:latin typeface="Calibri"/>
                <a:ea typeface="Calibri"/>
              </a:rPr>
              <a:t>Principal de base de datos</a:t>
            </a:r>
            <a:endParaRPr b="0" lang="es-ES" sz="1300" spc="-1" strike="noStrike">
              <a:latin typeface="Arial"/>
            </a:endParaRPr>
          </a:p>
        </p:txBody>
      </p:sp>
      <p:sp>
        <p:nvSpPr>
          <p:cNvPr id="910" name="CustomShape 23"/>
          <p:cNvSpPr/>
          <p:nvPr/>
        </p:nvSpPr>
        <p:spPr>
          <a:xfrm>
            <a:off x="7226640" y="2697480"/>
            <a:ext cx="27180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911" name="CustomShape 24"/>
          <p:cNvSpPr/>
          <p:nvPr/>
        </p:nvSpPr>
        <p:spPr>
          <a:xfrm>
            <a:off x="7523640" y="2377440"/>
            <a:ext cx="1804320" cy="2786400"/>
          </a:xfrm>
          <a:prstGeom prst="roundRect">
            <a:avLst>
              <a:gd name="adj" fmla="val 6073"/>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912" name="CustomShape 25"/>
          <p:cNvSpPr/>
          <p:nvPr/>
        </p:nvSpPr>
        <p:spPr>
          <a:xfrm>
            <a:off x="8107200" y="2560320"/>
            <a:ext cx="637560" cy="637560"/>
          </a:xfrm>
          <a:prstGeom prst="ellipse">
            <a:avLst/>
          </a:prstGeom>
          <a:solidFill>
            <a:srgbClr val="0b2545"/>
          </a:solidFill>
          <a:ln>
            <a:noFill/>
          </a:ln>
        </p:spPr>
        <p:style>
          <a:lnRef idx="0"/>
          <a:fillRef idx="0"/>
          <a:effectRef idx="0"/>
          <a:fontRef idx="minor"/>
        </p:style>
      </p:sp>
      <p:pic>
        <p:nvPicPr>
          <p:cNvPr id="913" name="Image 3" descr="preencoded.png"/>
          <p:cNvPicPr/>
          <p:nvPr/>
        </p:nvPicPr>
        <p:blipFill>
          <a:blip r:embed="rId4"/>
          <a:stretch/>
        </p:blipFill>
        <p:spPr>
          <a:xfrm>
            <a:off x="8267040" y="2720520"/>
            <a:ext cx="317520" cy="317520"/>
          </a:xfrm>
          <a:prstGeom prst="rect">
            <a:avLst/>
          </a:prstGeom>
          <a:ln>
            <a:noFill/>
          </a:ln>
        </p:spPr>
      </p:pic>
      <p:sp>
        <p:nvSpPr>
          <p:cNvPr id="914" name="CustomShape 26"/>
          <p:cNvSpPr/>
          <p:nvPr/>
        </p:nvSpPr>
        <p:spPr>
          <a:xfrm>
            <a:off x="7615080" y="3337560"/>
            <a:ext cx="1621440" cy="59184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1" lang="en-US" sz="1600" spc="-1" strike="noStrike">
                <a:solidFill>
                  <a:srgbClr val="0b2545"/>
                </a:solidFill>
                <a:latin typeface="Calibri"/>
                <a:ea typeface="Calibri"/>
              </a:rPr>
              <a:t>Roles y permisos</a:t>
            </a:r>
            <a:endParaRPr b="0" lang="es-ES" sz="1600" spc="-1" strike="noStrike">
              <a:latin typeface="Arial"/>
            </a:endParaRPr>
          </a:p>
        </p:txBody>
      </p:sp>
      <p:sp>
        <p:nvSpPr>
          <p:cNvPr id="915" name="CustomShape 27"/>
          <p:cNvSpPr/>
          <p:nvPr/>
        </p:nvSpPr>
        <p:spPr>
          <a:xfrm>
            <a:off x="7615080" y="3977640"/>
            <a:ext cx="1621440" cy="82044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300" spc="-1" strike="noStrike">
                <a:solidFill>
                  <a:srgbClr val="1f2933"/>
                </a:solidFill>
                <a:latin typeface="Calibri"/>
                <a:ea typeface="Calibri"/>
              </a:rPr>
              <a:t>GRANT · DENY · REVOKE</a:t>
            </a:r>
            <a:endParaRPr b="0" lang="es-ES" sz="1300" spc="-1" strike="noStrike">
              <a:latin typeface="Arial"/>
            </a:endParaRPr>
          </a:p>
        </p:txBody>
      </p:sp>
      <p:sp>
        <p:nvSpPr>
          <p:cNvPr id="916" name="CustomShape 28"/>
          <p:cNvSpPr/>
          <p:nvPr/>
        </p:nvSpPr>
        <p:spPr>
          <a:xfrm>
            <a:off x="9353520" y="2697480"/>
            <a:ext cx="27180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917" name="CustomShape 29"/>
          <p:cNvSpPr/>
          <p:nvPr/>
        </p:nvSpPr>
        <p:spPr>
          <a:xfrm>
            <a:off x="9650520" y="2377440"/>
            <a:ext cx="1804320" cy="2786400"/>
          </a:xfrm>
          <a:prstGeom prst="roundRect">
            <a:avLst>
              <a:gd name="adj" fmla="val 6073"/>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918" name="CustomShape 30"/>
          <p:cNvSpPr/>
          <p:nvPr/>
        </p:nvSpPr>
        <p:spPr>
          <a:xfrm>
            <a:off x="10234080" y="2560320"/>
            <a:ext cx="637560" cy="637560"/>
          </a:xfrm>
          <a:prstGeom prst="ellipse">
            <a:avLst/>
          </a:prstGeom>
          <a:solidFill>
            <a:srgbClr val="0b2545"/>
          </a:solidFill>
          <a:ln>
            <a:noFill/>
          </a:ln>
        </p:spPr>
        <p:style>
          <a:lnRef idx="0"/>
          <a:fillRef idx="0"/>
          <a:effectRef idx="0"/>
          <a:fontRef idx="minor"/>
        </p:style>
      </p:sp>
      <p:pic>
        <p:nvPicPr>
          <p:cNvPr id="919" name="Image 4" descr="preencoded.png"/>
          <p:cNvPicPr/>
          <p:nvPr/>
        </p:nvPicPr>
        <p:blipFill>
          <a:blip r:embed="rId5"/>
          <a:stretch/>
        </p:blipFill>
        <p:spPr>
          <a:xfrm>
            <a:off x="10393920" y="2720520"/>
            <a:ext cx="317520" cy="317520"/>
          </a:xfrm>
          <a:prstGeom prst="rect">
            <a:avLst/>
          </a:prstGeom>
          <a:ln>
            <a:noFill/>
          </a:ln>
        </p:spPr>
      </p:pic>
      <p:sp>
        <p:nvSpPr>
          <p:cNvPr id="920" name="CustomShape 31"/>
          <p:cNvSpPr/>
          <p:nvPr/>
        </p:nvSpPr>
        <p:spPr>
          <a:xfrm>
            <a:off x="9741960" y="3337560"/>
            <a:ext cx="1621440" cy="59184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1" lang="en-US" sz="1600" spc="-1" strike="noStrike">
                <a:solidFill>
                  <a:srgbClr val="0b2545"/>
                </a:solidFill>
                <a:latin typeface="Calibri"/>
                <a:ea typeface="Calibri"/>
              </a:rPr>
              <a:t>Objetos</a:t>
            </a:r>
            <a:endParaRPr b="0" lang="es-ES" sz="1600" spc="-1" strike="noStrike">
              <a:latin typeface="Arial"/>
            </a:endParaRPr>
          </a:p>
        </p:txBody>
      </p:sp>
      <p:sp>
        <p:nvSpPr>
          <p:cNvPr id="921" name="CustomShape 32"/>
          <p:cNvSpPr/>
          <p:nvPr/>
        </p:nvSpPr>
        <p:spPr>
          <a:xfrm>
            <a:off x="9741960" y="3977640"/>
            <a:ext cx="1621440" cy="82044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300" spc="-1" strike="noStrike">
                <a:solidFill>
                  <a:srgbClr val="1f2933"/>
                </a:solidFill>
                <a:latin typeface="Calibri"/>
                <a:ea typeface="Calibri"/>
              </a:rPr>
              <a:t>Schemas, tablas, SP, vistas</a:t>
            </a:r>
            <a:endParaRPr b="0" lang="es-ES" sz="1300" spc="-1" strike="noStrike">
              <a:latin typeface="Arial"/>
            </a:endParaRPr>
          </a:p>
        </p:txBody>
      </p:sp>
      <p:sp>
        <p:nvSpPr>
          <p:cNvPr id="922" name="CustomShape 33"/>
          <p:cNvSpPr/>
          <p:nvPr/>
        </p:nvSpPr>
        <p:spPr>
          <a:xfrm>
            <a:off x="548640" y="5486400"/>
            <a:ext cx="11089080" cy="683280"/>
          </a:xfrm>
          <a:prstGeom prst="roundRect">
            <a:avLst>
              <a:gd name="adj" fmla="val 16000"/>
            </a:avLst>
          </a:prstGeom>
          <a:solidFill>
            <a:srgbClr val="e8eef5"/>
          </a:solidFill>
          <a:ln>
            <a:noFill/>
          </a:ln>
        </p:spPr>
        <p:style>
          <a:lnRef idx="0"/>
          <a:fillRef idx="0"/>
          <a:effectRef idx="0"/>
          <a:fontRef idx="minor"/>
        </p:style>
      </p:sp>
      <p:sp>
        <p:nvSpPr>
          <p:cNvPr id="923" name="CustomShape 34"/>
          <p:cNvSpPr/>
          <p:nvPr/>
        </p:nvSpPr>
        <p:spPr>
          <a:xfrm>
            <a:off x="731520" y="5600880"/>
            <a:ext cx="454680" cy="454680"/>
          </a:xfrm>
          <a:prstGeom prst="ellipse">
            <a:avLst/>
          </a:prstGeom>
          <a:solidFill>
            <a:srgbClr val="134074"/>
          </a:solidFill>
          <a:ln>
            <a:noFill/>
          </a:ln>
        </p:spPr>
        <p:style>
          <a:lnRef idx="0"/>
          <a:fillRef idx="0"/>
          <a:effectRef idx="0"/>
          <a:fontRef idx="minor"/>
        </p:style>
      </p:sp>
      <p:pic>
        <p:nvPicPr>
          <p:cNvPr id="924" name="Image 5" descr="preencoded.png"/>
          <p:cNvPicPr/>
          <p:nvPr/>
        </p:nvPicPr>
        <p:blipFill>
          <a:blip r:embed="rId6"/>
          <a:stretch/>
        </p:blipFill>
        <p:spPr>
          <a:xfrm>
            <a:off x="846000" y="5715000"/>
            <a:ext cx="226080" cy="226080"/>
          </a:xfrm>
          <a:prstGeom prst="rect">
            <a:avLst/>
          </a:prstGeom>
          <a:ln>
            <a:noFill/>
          </a:ln>
        </p:spPr>
      </p:pic>
      <p:sp>
        <p:nvSpPr>
          <p:cNvPr id="925" name="CustomShape 35"/>
          <p:cNvSpPr/>
          <p:nvPr/>
        </p:nvSpPr>
        <p:spPr>
          <a:xfrm>
            <a:off x="1371600" y="5486400"/>
            <a:ext cx="1008324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2545"/>
                </a:solidFill>
                <a:latin typeface="Calibri"/>
                <a:ea typeface="Calibri"/>
              </a:rPr>
              <a:t>Recuerda: </a:t>
            </a:r>
            <a:r>
              <a:rPr b="0" lang="en-US" sz="1400" spc="-1" strike="noStrike">
                <a:solidFill>
                  <a:srgbClr val="1f2933"/>
                </a:solidFill>
                <a:latin typeface="Calibri"/>
                <a:ea typeface="Calibri"/>
              </a:rPr>
              <a:t>un login abre la puerta de la instancia; los permisos los decide el user en cada base de datos.</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926"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SEGURIDAD</a:t>
            </a:r>
            <a:endParaRPr b="0" lang="es-ES" sz="1000" spc="-1" strike="noStrike">
              <a:latin typeface="Arial"/>
            </a:endParaRPr>
          </a:p>
        </p:txBody>
      </p:sp>
      <p:sp>
        <p:nvSpPr>
          <p:cNvPr id="927"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Autenticación: Windows frente a SQL Server</a:t>
            </a:r>
            <a:endParaRPr b="0" lang="es-ES" sz="3400" spc="-1" strike="noStrike">
              <a:latin typeface="Arial"/>
            </a:endParaRPr>
          </a:p>
        </p:txBody>
      </p:sp>
      <p:sp>
        <p:nvSpPr>
          <p:cNvPr id="928"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929"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2   36</a:t>
            </a:r>
            <a:endParaRPr b="0" lang="es-ES" sz="1000" spc="-1" strike="noStrike">
              <a:latin typeface="Arial"/>
            </a:endParaRPr>
          </a:p>
        </p:txBody>
      </p:sp>
      <p:graphicFrame>
        <p:nvGraphicFramePr>
          <p:cNvPr id="930" name="Table 5"/>
          <p:cNvGraphicFramePr/>
          <p:nvPr/>
        </p:nvGraphicFramePr>
        <p:xfrm>
          <a:off x="548640" y="1600200"/>
          <a:ext cx="11090880" cy="1584360"/>
        </p:xfrm>
        <a:graphic>
          <a:graphicData uri="http://schemas.openxmlformats.org/drawingml/2006/table">
            <a:tbl>
              <a:tblPr/>
              <a:tblGrid>
                <a:gridCol w="1649880"/>
                <a:gridCol w="4674960"/>
                <a:gridCol w="4766400"/>
              </a:tblGrid>
              <a:tr h="396000">
                <a:tc>
                  <a:txBody>
                    <a:bodyPr lIns="109440" rIns="109440">
                      <a:noAutofit/>
                    </a:bodyPr>
                    <a:p>
                      <a:pPr>
                        <a:lnSpc>
                          <a:spcPct val="100000"/>
                        </a:lnSpc>
                        <a:tabLst>
                          <a:tab algn="l" pos="0"/>
                        </a:tabLst>
                      </a:pPr>
                      <a:r>
                        <a:rPr b="1" lang="en-US" sz="1400" spc="-1" strike="noStrike">
                          <a:solidFill>
                            <a:srgbClr val="ffffff"/>
                          </a:solidFill>
                          <a:latin typeface="Calibri"/>
                          <a:ea typeface="Calibri"/>
                        </a:rPr>
                        <a:t>Aspecto</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c>
                  <a:txBody>
                    <a:bodyPr lIns="109440" rIns="109440">
                      <a:noAutofit/>
                    </a:bodyPr>
                    <a:p>
                      <a:pPr>
                        <a:lnSpc>
                          <a:spcPct val="100000"/>
                        </a:lnSpc>
                        <a:tabLst>
                          <a:tab algn="l" pos="0"/>
                        </a:tabLst>
                      </a:pPr>
                      <a:r>
                        <a:rPr b="1" lang="en-US" sz="1400" spc="-1" strike="noStrike">
                          <a:solidFill>
                            <a:srgbClr val="ffffff"/>
                          </a:solidFill>
                          <a:latin typeface="Calibri"/>
                          <a:ea typeface="Calibri"/>
                        </a:rPr>
                        <a:t>Autenticación de Windows</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c>
                  <a:txBody>
                    <a:bodyPr lIns="109440" rIns="109440">
                      <a:noAutofit/>
                    </a:bodyPr>
                    <a:p>
                      <a:pPr>
                        <a:lnSpc>
                          <a:spcPct val="100000"/>
                        </a:lnSpc>
                        <a:tabLst>
                          <a:tab algn="l" pos="0"/>
                        </a:tabLst>
                      </a:pPr>
                      <a:r>
                        <a:rPr b="1" lang="en-US" sz="1400" spc="-1" strike="noStrike">
                          <a:solidFill>
                            <a:srgbClr val="ffffff"/>
                          </a:solidFill>
                          <a:latin typeface="Calibri"/>
                          <a:ea typeface="Calibri"/>
                        </a:rPr>
                        <a:t>Autenticación de SQL Server</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r>
              <a:tr h="396000">
                <a:tc>
                  <a:txBody>
                    <a:bodyPr lIns="109440" rIns="109440">
                      <a:noAutofit/>
                    </a:bodyPr>
                    <a:p>
                      <a:pPr>
                        <a:lnSpc>
                          <a:spcPct val="100000"/>
                        </a:lnSpc>
                        <a:tabLst>
                          <a:tab algn="l" pos="0"/>
                        </a:tabLst>
                      </a:pPr>
                      <a:r>
                        <a:rPr b="1" lang="en-US" sz="1400" spc="-1" strike="noStrike">
                          <a:solidFill>
                            <a:srgbClr val="0b2545"/>
                          </a:solidFill>
                          <a:latin typeface="Calibri"/>
                          <a:ea typeface="Calibri"/>
                        </a:rPr>
                        <a:t>Identidad</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Cuenta o grupo de Active Directory</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Login y contraseña guardados en master</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r h="396000">
                <a:tc>
                  <a:txBody>
                    <a:bodyPr lIns="109440" rIns="109440">
                      <a:noAutofit/>
                    </a:bodyPr>
                    <a:p>
                      <a:pPr>
                        <a:lnSpc>
                          <a:spcPct val="100000"/>
                        </a:lnSpc>
                        <a:tabLst>
                          <a:tab algn="l" pos="0"/>
                        </a:tabLst>
                      </a:pPr>
                      <a:r>
                        <a:rPr b="1" lang="en-US" sz="1400" spc="-1" strike="noStrike">
                          <a:solidFill>
                            <a:srgbClr val="0b2545"/>
                          </a:solidFill>
                          <a:latin typeface="Calibri"/>
                          <a:ea typeface="Calibri"/>
                        </a:rPr>
                        <a:t>Seguridad</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Kerberos/NTLM, caducidad y MFA en AD</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CHECK_POLICY; riesgo de fuerza bruta (sa)</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r>
              <a:tr h="396720">
                <a:tc>
                  <a:txBody>
                    <a:bodyPr lIns="109440" rIns="109440">
                      <a:noAutofit/>
                    </a:bodyPr>
                    <a:p>
                      <a:pPr>
                        <a:lnSpc>
                          <a:spcPct val="100000"/>
                        </a:lnSpc>
                        <a:tabLst>
                          <a:tab algn="l" pos="0"/>
                        </a:tabLst>
                      </a:pPr>
                      <a:r>
                        <a:rPr b="1" lang="en-US" sz="1400" spc="-1" strike="noStrike">
                          <a:solidFill>
                            <a:srgbClr val="0b2545"/>
                          </a:solidFill>
                          <a:latin typeface="Calibri"/>
                          <a:ea typeface="Calibri"/>
                        </a:rPr>
                        <a:t>Recomendado</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Opción preferida</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Apps heredadas, Linux/Docker, fuera de dominio</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bl>
          </a:graphicData>
        </a:graphic>
      </p:graphicFrame>
      <p:sp>
        <p:nvSpPr>
          <p:cNvPr id="931" name="CustomShape 6"/>
          <p:cNvSpPr/>
          <p:nvPr/>
        </p:nvSpPr>
        <p:spPr>
          <a:xfrm>
            <a:off x="548640" y="4526280"/>
            <a:ext cx="6672600" cy="1643400"/>
          </a:xfrm>
          <a:prstGeom prst="roundRect">
            <a:avLst>
              <a:gd name="adj" fmla="val 5556"/>
            </a:avLst>
          </a:prstGeom>
          <a:solidFill>
            <a:srgbClr val="eceff3"/>
          </a:solidFill>
          <a:ln w="9360">
            <a:solidFill>
              <a:srgbClr val="d0d7de"/>
            </a:solidFill>
            <a:round/>
          </a:ln>
        </p:spPr>
        <p:style>
          <a:lnRef idx="0"/>
          <a:fillRef idx="0"/>
          <a:effectRef idx="0"/>
          <a:fontRef idx="minor"/>
        </p:style>
      </p:sp>
      <p:sp>
        <p:nvSpPr>
          <p:cNvPr id="932" name="CustomShape 7"/>
          <p:cNvSpPr/>
          <p:nvPr/>
        </p:nvSpPr>
        <p:spPr>
          <a:xfrm>
            <a:off x="731520" y="461772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modo y política</a:t>
            </a:r>
            <a:endParaRPr b="0" lang="es-ES" sz="1000" spc="-1" strike="noStrike">
              <a:latin typeface="Arial"/>
            </a:endParaRPr>
          </a:p>
        </p:txBody>
      </p:sp>
      <p:sp>
        <p:nvSpPr>
          <p:cNvPr id="933" name="CustomShape 8"/>
          <p:cNvSpPr/>
          <p:nvPr/>
        </p:nvSpPr>
        <p:spPr>
          <a:xfrm>
            <a:off x="731520" y="4892040"/>
            <a:ext cx="6306840" cy="118620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0" i="1" lang="en-US" sz="1200" spc="-1" strike="noStrike">
                <a:solidFill>
                  <a:srgbClr val="6b7280"/>
                </a:solidFill>
                <a:latin typeface="Consolas"/>
                <a:ea typeface="Consolas"/>
              </a:rPr>
              <a:t>-- 1 = sólo Windows, 0 = modo mixto</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SERVERPROPERTY(</a:t>
            </a:r>
            <a:r>
              <a:rPr b="0" lang="en-US" sz="1200" spc="-1" strike="noStrike">
                <a:solidFill>
                  <a:srgbClr val="b4441f"/>
                </a:solidFill>
                <a:latin typeface="Consolas"/>
                <a:ea typeface="Consolas"/>
              </a:rPr>
              <a:t>'IsIntegratedSecurityOnly'</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SoloWindows;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name</a:t>
            </a:r>
            <a:r>
              <a:rPr b="0" lang="en-US" sz="1200" spc="-1" strike="noStrike">
                <a:solidFill>
                  <a:srgbClr val="1f2933"/>
                </a:solidFill>
                <a:latin typeface="Consolas"/>
                <a:ea typeface="Consolas"/>
              </a:rPr>
              <a:t>, is_policy_checked, is_expiration_checked</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sys.sql_logins;</a:t>
            </a:r>
            <a:endParaRPr b="0" lang="es-ES" sz="1200" spc="-1" strike="noStrike">
              <a:latin typeface="Arial"/>
            </a:endParaRPr>
          </a:p>
        </p:txBody>
      </p:sp>
      <p:sp>
        <p:nvSpPr>
          <p:cNvPr id="934" name="CustomShape 9"/>
          <p:cNvSpPr/>
          <p:nvPr/>
        </p:nvSpPr>
        <p:spPr>
          <a:xfrm>
            <a:off x="7498080" y="4526280"/>
            <a:ext cx="4139640" cy="1643400"/>
          </a:xfrm>
          <a:prstGeom prst="roundRect">
            <a:avLst>
              <a:gd name="adj" fmla="val 6667"/>
            </a:avLst>
          </a:prstGeom>
          <a:solidFill>
            <a:srgbClr val="fdede8"/>
          </a:solidFill>
          <a:ln>
            <a:noFill/>
          </a:ln>
        </p:spPr>
        <p:style>
          <a:lnRef idx="0"/>
          <a:fillRef idx="0"/>
          <a:effectRef idx="0"/>
          <a:fontRef idx="minor"/>
        </p:style>
      </p:sp>
      <p:sp>
        <p:nvSpPr>
          <p:cNvPr id="935" name="CustomShape 10"/>
          <p:cNvSpPr/>
          <p:nvPr/>
        </p:nvSpPr>
        <p:spPr>
          <a:xfrm>
            <a:off x="7680960" y="5120640"/>
            <a:ext cx="454680" cy="454680"/>
          </a:xfrm>
          <a:prstGeom prst="ellipse">
            <a:avLst/>
          </a:prstGeom>
          <a:solidFill>
            <a:srgbClr val="d95d39"/>
          </a:solidFill>
          <a:ln>
            <a:noFill/>
          </a:ln>
        </p:spPr>
        <p:style>
          <a:lnRef idx="0"/>
          <a:fillRef idx="0"/>
          <a:effectRef idx="0"/>
          <a:fontRef idx="minor"/>
        </p:style>
      </p:sp>
      <p:pic>
        <p:nvPicPr>
          <p:cNvPr id="936" name="Image 0" descr="preencoded.png"/>
          <p:cNvPicPr/>
          <p:nvPr/>
        </p:nvPicPr>
        <p:blipFill>
          <a:blip r:embed="rId1"/>
          <a:stretch/>
        </p:blipFill>
        <p:spPr>
          <a:xfrm>
            <a:off x="7795440" y="5235120"/>
            <a:ext cx="226080" cy="226080"/>
          </a:xfrm>
          <a:prstGeom prst="rect">
            <a:avLst/>
          </a:prstGeom>
          <a:ln>
            <a:noFill/>
          </a:ln>
        </p:spPr>
      </p:pic>
      <p:sp>
        <p:nvSpPr>
          <p:cNvPr id="937" name="CustomShape 11"/>
          <p:cNvSpPr/>
          <p:nvPr/>
        </p:nvSpPr>
        <p:spPr>
          <a:xfrm>
            <a:off x="8321040" y="4526280"/>
            <a:ext cx="3133800" cy="16434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a8431f"/>
                </a:solidFill>
                <a:latin typeface="Calibri"/>
                <a:ea typeface="Calibri"/>
              </a:rPr>
              <a:t>Modo mixto: </a:t>
            </a:r>
            <a:r>
              <a:rPr b="0" lang="en-US" sz="1400" spc="-1" strike="noStrike">
                <a:solidFill>
                  <a:srgbClr val="1f2933"/>
                </a:solidFill>
                <a:latin typeface="Calibri"/>
                <a:ea typeface="Calibri"/>
              </a:rPr>
              <a:t>requiere reiniciar el servicio y deja sa expuesta: deshabilítala.</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938"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SEGURIDAD</a:t>
            </a:r>
            <a:endParaRPr b="0" lang="es-ES" sz="1000" spc="-1" strike="noStrike">
              <a:latin typeface="Arial"/>
            </a:endParaRPr>
          </a:p>
        </p:txBody>
      </p:sp>
      <p:sp>
        <p:nvSpPr>
          <p:cNvPr id="939"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Logins, Users y Schemas</a:t>
            </a:r>
            <a:endParaRPr b="0" lang="es-ES" sz="3400" spc="-1" strike="noStrike">
              <a:latin typeface="Arial"/>
            </a:endParaRPr>
          </a:p>
        </p:txBody>
      </p:sp>
      <p:sp>
        <p:nvSpPr>
          <p:cNvPr id="940"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941"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2   37</a:t>
            </a:r>
            <a:endParaRPr b="0" lang="es-ES" sz="1000" spc="-1" strike="noStrike">
              <a:latin typeface="Arial"/>
            </a:endParaRPr>
          </a:p>
        </p:txBody>
      </p:sp>
      <p:sp>
        <p:nvSpPr>
          <p:cNvPr id="942" name="CustomShape 5"/>
          <p:cNvSpPr/>
          <p:nvPr/>
        </p:nvSpPr>
        <p:spPr>
          <a:xfrm>
            <a:off x="548640" y="1600200"/>
            <a:ext cx="4478040" cy="820440"/>
          </a:xfrm>
          <a:prstGeom prst="roundRect">
            <a:avLst>
              <a:gd name="adj" fmla="val 8889"/>
            </a:avLst>
          </a:prstGeom>
          <a:solidFill>
            <a:srgbClr val="134074"/>
          </a:solidFill>
          <a:ln>
            <a:noFill/>
          </a:ln>
          <a:effectLst>
            <a:outerShdw algn="bl" blurRad="101600" dir="5400000" dist="25560" kx="0" ky="0" rotWithShape="0" sx="100000" sy="100000">
              <a:srgbClr val="000000">
                <a:alpha val="14000"/>
              </a:srgbClr>
            </a:outerShdw>
          </a:effectLst>
        </p:spPr>
        <p:style>
          <a:lnRef idx="0"/>
          <a:fillRef idx="0"/>
          <a:effectRef idx="0"/>
          <a:fontRef idx="minor"/>
        </p:style>
        <p:txBody>
          <a:bodyPr lIns="360" rIns="1080" tIns="1080" bIns="360" anchor="ctr">
            <a:noAutofit/>
          </a:bodyPr>
          <a:p>
            <a:pPr algn="ctr">
              <a:lnSpc>
                <a:spcPct val="100000"/>
              </a:lnSpc>
              <a:tabLst>
                <a:tab algn="l" pos="0"/>
              </a:tabLst>
            </a:pPr>
            <a:r>
              <a:rPr b="1" lang="en-US" sz="1400" spc="-1" strike="noStrike">
                <a:solidFill>
                  <a:srgbClr val="ffffff"/>
                </a:solidFill>
                <a:latin typeface="Calibri"/>
                <a:ea typeface="Calibri"/>
              </a:rPr>
              <a:t>LOGIN lg_analista</a:t>
            </a:r>
            <a:endParaRPr b="0" lang="es-ES" sz="1400" spc="-1" strike="noStrike">
              <a:latin typeface="Arial"/>
            </a:endParaRPr>
          </a:p>
          <a:p>
            <a:pPr algn="ctr">
              <a:lnSpc>
                <a:spcPct val="100000"/>
              </a:lnSpc>
              <a:tabLst>
                <a:tab algn="l" pos="0"/>
              </a:tabLst>
            </a:pPr>
            <a:r>
              <a:rPr b="1" lang="en-US" sz="1400" spc="-1" strike="noStrike">
                <a:solidFill>
                  <a:srgbClr val="ffffff"/>
                </a:solidFill>
                <a:latin typeface="Calibri"/>
                <a:ea typeface="Calibri"/>
              </a:rPr>
              <a:t>Nivel de instancia (master)</a:t>
            </a:r>
            <a:endParaRPr b="0" lang="es-ES" sz="1400" spc="-1" strike="noStrike">
              <a:latin typeface="Arial"/>
            </a:endParaRPr>
          </a:p>
        </p:txBody>
      </p:sp>
      <p:sp>
        <p:nvSpPr>
          <p:cNvPr id="943" name="Line 6"/>
          <p:cNvSpPr/>
          <p:nvPr/>
        </p:nvSpPr>
        <p:spPr>
          <a:xfrm>
            <a:off x="2788920" y="2423160"/>
            <a:ext cx="0" cy="365760"/>
          </a:xfrm>
          <a:prstGeom prst="line">
            <a:avLst/>
          </a:prstGeom>
          <a:ln w="28440">
            <a:solidFill>
              <a:srgbClr val="d95d39"/>
            </a:solidFill>
            <a:round/>
            <a:tailEnd len="med" type="triangle" w="med"/>
          </a:ln>
        </p:spPr>
        <p:style>
          <a:lnRef idx="0"/>
          <a:fillRef idx="0"/>
          <a:effectRef idx="0"/>
          <a:fontRef idx="minor"/>
        </p:style>
      </p:sp>
      <p:sp>
        <p:nvSpPr>
          <p:cNvPr id="944" name="CustomShape 7"/>
          <p:cNvSpPr/>
          <p:nvPr/>
        </p:nvSpPr>
        <p:spPr>
          <a:xfrm>
            <a:off x="548640" y="2788920"/>
            <a:ext cx="4478040" cy="820440"/>
          </a:xfrm>
          <a:prstGeom prst="roundRect">
            <a:avLst>
              <a:gd name="adj" fmla="val 8889"/>
            </a:avLst>
          </a:prstGeom>
          <a:solidFill>
            <a:srgbClr val="0b2545"/>
          </a:solidFill>
          <a:ln>
            <a:noFill/>
          </a:ln>
          <a:effectLst>
            <a:outerShdw algn="bl" blurRad="101600" dir="5400000" dist="25560" kx="0" ky="0" rotWithShape="0" sx="100000" sy="100000">
              <a:srgbClr val="000000">
                <a:alpha val="14000"/>
              </a:srgbClr>
            </a:outerShdw>
          </a:effectLst>
        </p:spPr>
        <p:style>
          <a:lnRef idx="0"/>
          <a:fillRef idx="0"/>
          <a:effectRef idx="0"/>
          <a:fontRef idx="minor"/>
        </p:style>
        <p:txBody>
          <a:bodyPr lIns="360" rIns="1080" tIns="1080" bIns="360" anchor="ctr">
            <a:noAutofit/>
          </a:bodyPr>
          <a:p>
            <a:pPr algn="ctr">
              <a:lnSpc>
                <a:spcPct val="100000"/>
              </a:lnSpc>
              <a:tabLst>
                <a:tab algn="l" pos="0"/>
              </a:tabLst>
            </a:pPr>
            <a:r>
              <a:rPr b="1" lang="en-US" sz="1400" spc="-1" strike="noStrike">
                <a:solidFill>
                  <a:srgbClr val="ffffff"/>
                </a:solidFill>
                <a:latin typeface="Calibri"/>
                <a:ea typeface="Calibri"/>
              </a:rPr>
              <a:t>USER analista</a:t>
            </a:r>
            <a:endParaRPr b="0" lang="es-ES" sz="1400" spc="-1" strike="noStrike">
              <a:latin typeface="Arial"/>
            </a:endParaRPr>
          </a:p>
          <a:p>
            <a:pPr algn="ctr">
              <a:lnSpc>
                <a:spcPct val="100000"/>
              </a:lnSpc>
              <a:tabLst>
                <a:tab algn="l" pos="0"/>
              </a:tabLst>
            </a:pPr>
            <a:r>
              <a:rPr b="1" lang="en-US" sz="1400" spc="-1" strike="noStrike">
                <a:solidFill>
                  <a:srgbClr val="ffffff"/>
                </a:solidFill>
                <a:latin typeface="Calibri"/>
                <a:ea typeface="Calibri"/>
              </a:rPr>
              <a:t>Nivel de BD: Ventas, mismo SID</a:t>
            </a:r>
            <a:endParaRPr b="0" lang="es-ES" sz="1400" spc="-1" strike="noStrike">
              <a:latin typeface="Arial"/>
            </a:endParaRPr>
          </a:p>
        </p:txBody>
      </p:sp>
      <p:sp>
        <p:nvSpPr>
          <p:cNvPr id="945" name="Line 8"/>
          <p:cNvSpPr/>
          <p:nvPr/>
        </p:nvSpPr>
        <p:spPr>
          <a:xfrm>
            <a:off x="2788920" y="3611880"/>
            <a:ext cx="0" cy="365760"/>
          </a:xfrm>
          <a:prstGeom prst="line">
            <a:avLst/>
          </a:prstGeom>
          <a:ln w="28440">
            <a:solidFill>
              <a:srgbClr val="d95d39"/>
            </a:solidFill>
            <a:round/>
            <a:tailEnd len="med" type="triangle" w="med"/>
          </a:ln>
        </p:spPr>
        <p:style>
          <a:lnRef idx="0"/>
          <a:fillRef idx="0"/>
          <a:effectRef idx="0"/>
          <a:fontRef idx="minor"/>
        </p:style>
      </p:sp>
      <p:sp>
        <p:nvSpPr>
          <p:cNvPr id="946" name="CustomShape 9"/>
          <p:cNvSpPr/>
          <p:nvPr/>
        </p:nvSpPr>
        <p:spPr>
          <a:xfrm>
            <a:off x="548640" y="3977640"/>
            <a:ext cx="4478040" cy="820440"/>
          </a:xfrm>
          <a:prstGeom prst="roundRect">
            <a:avLst>
              <a:gd name="adj" fmla="val 8889"/>
            </a:avLst>
          </a:prstGeom>
          <a:solidFill>
            <a:srgbClr val="0b2545"/>
          </a:solidFill>
          <a:ln>
            <a:noFill/>
          </a:ln>
          <a:effectLst>
            <a:outerShdw algn="bl" blurRad="101600" dir="5400000" dist="25560" kx="0" ky="0" rotWithShape="0" sx="100000" sy="100000">
              <a:srgbClr val="000000">
                <a:alpha val="14000"/>
              </a:srgbClr>
            </a:outerShdw>
          </a:effectLst>
        </p:spPr>
        <p:style>
          <a:lnRef idx="0"/>
          <a:fillRef idx="0"/>
          <a:effectRef idx="0"/>
          <a:fontRef idx="minor"/>
        </p:style>
        <p:txBody>
          <a:bodyPr lIns="360" rIns="1080" tIns="1080" bIns="360" anchor="ctr">
            <a:noAutofit/>
          </a:bodyPr>
          <a:p>
            <a:pPr algn="ctr">
              <a:lnSpc>
                <a:spcPct val="100000"/>
              </a:lnSpc>
              <a:tabLst>
                <a:tab algn="l" pos="0"/>
              </a:tabLst>
            </a:pPr>
            <a:r>
              <a:rPr b="1" lang="en-US" sz="1400" spc="-1" strike="noStrike">
                <a:solidFill>
                  <a:srgbClr val="ffffff"/>
                </a:solidFill>
                <a:latin typeface="Calibri"/>
                <a:ea typeface="Calibri"/>
              </a:rPr>
              <a:t>ROL rol_lectura_rpt</a:t>
            </a:r>
            <a:endParaRPr b="0" lang="es-ES" sz="1400" spc="-1" strike="noStrike">
              <a:latin typeface="Arial"/>
            </a:endParaRPr>
          </a:p>
          <a:p>
            <a:pPr algn="ctr">
              <a:lnSpc>
                <a:spcPct val="100000"/>
              </a:lnSpc>
              <a:tabLst>
                <a:tab algn="l" pos="0"/>
              </a:tabLst>
            </a:pPr>
            <a:r>
              <a:rPr b="1" lang="en-US" sz="1400" spc="-1" strike="noStrike">
                <a:solidFill>
                  <a:srgbClr val="ffffff"/>
                </a:solidFill>
                <a:latin typeface="Calibri"/>
                <a:ea typeface="Calibri"/>
              </a:rPr>
              <a:t>Agrupa permisos</a:t>
            </a:r>
            <a:endParaRPr b="0" lang="es-ES" sz="1400" spc="-1" strike="noStrike">
              <a:latin typeface="Arial"/>
            </a:endParaRPr>
          </a:p>
        </p:txBody>
      </p:sp>
      <p:sp>
        <p:nvSpPr>
          <p:cNvPr id="947" name="Line 10"/>
          <p:cNvSpPr/>
          <p:nvPr/>
        </p:nvSpPr>
        <p:spPr>
          <a:xfrm>
            <a:off x="2788920" y="4800600"/>
            <a:ext cx="0" cy="365760"/>
          </a:xfrm>
          <a:prstGeom prst="line">
            <a:avLst/>
          </a:prstGeom>
          <a:ln w="28440">
            <a:solidFill>
              <a:srgbClr val="d95d39"/>
            </a:solidFill>
            <a:round/>
            <a:tailEnd len="med" type="triangle" w="med"/>
          </a:ln>
        </p:spPr>
        <p:style>
          <a:lnRef idx="0"/>
          <a:fillRef idx="0"/>
          <a:effectRef idx="0"/>
          <a:fontRef idx="minor"/>
        </p:style>
      </p:sp>
      <p:sp>
        <p:nvSpPr>
          <p:cNvPr id="948" name="CustomShape 11"/>
          <p:cNvSpPr/>
          <p:nvPr/>
        </p:nvSpPr>
        <p:spPr>
          <a:xfrm>
            <a:off x="548640" y="5166360"/>
            <a:ext cx="4478040" cy="820440"/>
          </a:xfrm>
          <a:prstGeom prst="roundRect">
            <a:avLst>
              <a:gd name="adj" fmla="val 8889"/>
            </a:avLst>
          </a:prstGeom>
          <a:solidFill>
            <a:srgbClr val="134074"/>
          </a:solidFill>
          <a:ln>
            <a:noFill/>
          </a:ln>
          <a:effectLst>
            <a:outerShdw algn="bl" blurRad="101600" dir="5400000" dist="25560" kx="0" ky="0" rotWithShape="0" sx="100000" sy="100000">
              <a:srgbClr val="000000">
                <a:alpha val="14000"/>
              </a:srgbClr>
            </a:outerShdw>
          </a:effectLst>
        </p:spPr>
        <p:style>
          <a:lnRef idx="0"/>
          <a:fillRef idx="0"/>
          <a:effectRef idx="0"/>
          <a:fontRef idx="minor"/>
        </p:style>
        <p:txBody>
          <a:bodyPr lIns="360" rIns="1080" tIns="1080" bIns="360" anchor="ctr">
            <a:noAutofit/>
          </a:bodyPr>
          <a:p>
            <a:pPr algn="ctr">
              <a:lnSpc>
                <a:spcPct val="100000"/>
              </a:lnSpc>
              <a:tabLst>
                <a:tab algn="l" pos="0"/>
              </a:tabLst>
            </a:pPr>
            <a:r>
              <a:rPr b="1" lang="en-US" sz="1400" spc="-1" strike="noStrike">
                <a:solidFill>
                  <a:srgbClr val="ffffff"/>
                </a:solidFill>
                <a:latin typeface="Calibri"/>
                <a:ea typeface="Calibri"/>
              </a:rPr>
              <a:t>SCHEMA rpt</a:t>
            </a:r>
            <a:endParaRPr b="0" lang="es-ES" sz="1400" spc="-1" strike="noStrike">
              <a:latin typeface="Arial"/>
            </a:endParaRPr>
          </a:p>
          <a:p>
            <a:pPr algn="ctr">
              <a:lnSpc>
                <a:spcPct val="100000"/>
              </a:lnSpc>
              <a:tabLst>
                <a:tab algn="l" pos="0"/>
              </a:tabLst>
            </a:pPr>
            <a:r>
              <a:rPr b="1" lang="en-US" sz="1400" spc="-1" strike="noStrike">
                <a:solidFill>
                  <a:srgbClr val="ffffff"/>
                </a:solidFill>
                <a:latin typeface="Calibri"/>
                <a:ea typeface="Calibri"/>
              </a:rPr>
              <a:t>Objetos y permisos</a:t>
            </a:r>
            <a:endParaRPr b="0" lang="es-ES" sz="1400" spc="-1" strike="noStrike">
              <a:latin typeface="Arial"/>
            </a:endParaRPr>
          </a:p>
        </p:txBody>
      </p:sp>
      <p:sp>
        <p:nvSpPr>
          <p:cNvPr id="949" name="CustomShape 12"/>
          <p:cNvSpPr/>
          <p:nvPr/>
        </p:nvSpPr>
        <p:spPr>
          <a:xfrm>
            <a:off x="5303520" y="1600200"/>
            <a:ext cx="6334200" cy="3426480"/>
          </a:xfrm>
          <a:prstGeom prst="roundRect">
            <a:avLst>
              <a:gd name="adj" fmla="val 2667"/>
            </a:avLst>
          </a:prstGeom>
          <a:solidFill>
            <a:srgbClr val="eceff3"/>
          </a:solidFill>
          <a:ln w="9360">
            <a:solidFill>
              <a:srgbClr val="d0d7de"/>
            </a:solidFill>
            <a:round/>
          </a:ln>
        </p:spPr>
        <p:style>
          <a:lnRef idx="0"/>
          <a:fillRef idx="0"/>
          <a:effectRef idx="0"/>
          <a:fontRef idx="minor"/>
        </p:style>
      </p:sp>
      <p:sp>
        <p:nvSpPr>
          <p:cNvPr id="950" name="CustomShape 13"/>
          <p:cNvSpPr/>
          <p:nvPr/>
        </p:nvSpPr>
        <p:spPr>
          <a:xfrm>
            <a:off x="548640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login, schema y user</a:t>
            </a:r>
            <a:endParaRPr b="0" lang="es-ES" sz="1000" spc="-1" strike="noStrike">
              <a:latin typeface="Arial"/>
            </a:endParaRPr>
          </a:p>
        </p:txBody>
      </p:sp>
      <p:sp>
        <p:nvSpPr>
          <p:cNvPr id="951" name="CustomShape 14"/>
          <p:cNvSpPr/>
          <p:nvPr/>
        </p:nvSpPr>
        <p:spPr>
          <a:xfrm>
            <a:off x="5486400" y="1965960"/>
            <a:ext cx="5968440" cy="296928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0" i="1" lang="en-US" sz="1200" spc="-1" strike="noStrike">
                <a:solidFill>
                  <a:srgbClr val="6b7280"/>
                </a:solidFill>
                <a:latin typeface="Consolas"/>
                <a:ea typeface="Consolas"/>
              </a:rPr>
              <a:t>-- 1) Instancia: el login</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CREATE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LOGIN</a:t>
            </a:r>
            <a:r>
              <a:rPr b="0" lang="en-US" sz="1200" spc="-1" strike="noStrike">
                <a:solidFill>
                  <a:srgbClr val="1f2933"/>
                </a:solidFill>
                <a:latin typeface="Consolas"/>
                <a:ea typeface="Consolas"/>
              </a:rPr>
              <a:t> lg_analista</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PASSWORD = </a:t>
            </a:r>
            <a:r>
              <a:rPr b="0" lang="en-US" sz="1200" spc="-1" strike="noStrike">
                <a:solidFill>
                  <a:srgbClr val="b4441f"/>
                </a:solidFill>
                <a:latin typeface="Consolas"/>
                <a:ea typeface="Consolas"/>
              </a:rPr>
              <a:t>N'C0mpl3ja!2024'</a:t>
            </a:r>
            <a:r>
              <a:rPr b="0" lang="en-US" sz="1200" spc="-1" strike="noStrike">
                <a:solidFill>
                  <a:srgbClr val="1f2933"/>
                </a:solidFill>
                <a:latin typeface="Consolas"/>
                <a:ea typeface="Consolas"/>
              </a:rPr>
              <a:t>, CHECK_POLICY =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0" i="1" lang="en-US" sz="1200" spc="-1" strike="noStrike">
                <a:solidFill>
                  <a:srgbClr val="6b7280"/>
                </a:solidFill>
                <a:latin typeface="Consolas"/>
                <a:ea typeface="Consolas"/>
              </a:rPr>
              <a:t>-- 2) Base de datos: schema y user mapeado</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USE</a:t>
            </a:r>
            <a:r>
              <a:rPr b="0" lang="en-US" sz="1200" spc="-1" strike="noStrike">
                <a:solidFill>
                  <a:srgbClr val="1f2933"/>
                </a:solidFill>
                <a:latin typeface="Consolas"/>
                <a:ea typeface="Consolas"/>
              </a:rPr>
              <a:t> Ventas;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GO</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CREATE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SCHEMA</a:t>
            </a:r>
            <a:r>
              <a:rPr b="0" lang="en-US" sz="1200" spc="-1" strike="noStrike">
                <a:solidFill>
                  <a:srgbClr val="1f2933"/>
                </a:solidFill>
                <a:latin typeface="Consolas"/>
                <a:ea typeface="Consolas"/>
              </a:rPr>
              <a:t> rpt </a:t>
            </a:r>
            <a:r>
              <a:rPr b="1" lang="en-US" sz="1200" spc="-1" strike="noStrike">
                <a:solidFill>
                  <a:srgbClr val="1d4ed8"/>
                </a:solidFill>
                <a:latin typeface="Consolas"/>
                <a:ea typeface="Consolas"/>
              </a:rPr>
              <a:t>AUTHORIZATION</a:t>
            </a:r>
            <a:r>
              <a:rPr b="0" lang="en-US" sz="1200" spc="-1" strike="noStrike">
                <a:solidFill>
                  <a:srgbClr val="1f2933"/>
                </a:solidFill>
                <a:latin typeface="Consolas"/>
                <a:ea typeface="Consolas"/>
              </a:rPr>
              <a:t> dbo;</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GO</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CREATE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USER</a:t>
            </a:r>
            <a:r>
              <a:rPr b="0" lang="en-US" sz="1200" spc="-1" strike="noStrike">
                <a:solidFill>
                  <a:srgbClr val="1f2933"/>
                </a:solidFill>
                <a:latin typeface="Consolas"/>
                <a:ea typeface="Consolas"/>
              </a:rPr>
              <a:t> analista </a:t>
            </a:r>
            <a:r>
              <a:rPr b="1" lang="en-US" sz="1200" spc="-1" strike="noStrike">
                <a:solidFill>
                  <a:srgbClr val="1d4ed8"/>
                </a:solidFill>
                <a:latin typeface="Consolas"/>
                <a:ea typeface="Consolas"/>
              </a:rPr>
              <a:t>FOR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LOGIN</a:t>
            </a:r>
            <a:r>
              <a:rPr b="0" lang="en-US" sz="1200" spc="-1" strike="noStrike">
                <a:solidFill>
                  <a:srgbClr val="1f2933"/>
                </a:solidFill>
                <a:latin typeface="Consolas"/>
                <a:ea typeface="Consolas"/>
              </a:rPr>
              <a:t> lg_analista</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DEFAULT_SCHEMA = rpt;</a:t>
            </a:r>
            <a:endParaRPr b="0" lang="es-ES" sz="1200" spc="-1" strike="noStrike">
              <a:latin typeface="Arial"/>
            </a:endParaRPr>
          </a:p>
        </p:txBody>
      </p:sp>
      <p:sp>
        <p:nvSpPr>
          <p:cNvPr id="952" name="CustomShape 15"/>
          <p:cNvSpPr/>
          <p:nvPr/>
        </p:nvSpPr>
        <p:spPr>
          <a:xfrm>
            <a:off x="5303520" y="5303520"/>
            <a:ext cx="6334200" cy="866160"/>
          </a:xfrm>
          <a:prstGeom prst="roundRect">
            <a:avLst>
              <a:gd name="adj" fmla="val 12632"/>
            </a:avLst>
          </a:prstGeom>
          <a:solidFill>
            <a:srgbClr val="fdede8"/>
          </a:solidFill>
          <a:ln>
            <a:noFill/>
          </a:ln>
        </p:spPr>
        <p:style>
          <a:lnRef idx="0"/>
          <a:fillRef idx="0"/>
          <a:effectRef idx="0"/>
          <a:fontRef idx="minor"/>
        </p:style>
      </p:sp>
      <p:sp>
        <p:nvSpPr>
          <p:cNvPr id="953" name="CustomShape 16"/>
          <p:cNvSpPr/>
          <p:nvPr/>
        </p:nvSpPr>
        <p:spPr>
          <a:xfrm>
            <a:off x="5486400" y="5509440"/>
            <a:ext cx="454680" cy="454680"/>
          </a:xfrm>
          <a:prstGeom prst="ellipse">
            <a:avLst/>
          </a:prstGeom>
          <a:solidFill>
            <a:srgbClr val="d95d39"/>
          </a:solidFill>
          <a:ln>
            <a:noFill/>
          </a:ln>
        </p:spPr>
        <p:style>
          <a:lnRef idx="0"/>
          <a:fillRef idx="0"/>
          <a:effectRef idx="0"/>
          <a:fontRef idx="minor"/>
        </p:style>
      </p:sp>
      <p:pic>
        <p:nvPicPr>
          <p:cNvPr id="954" name="Image 0" descr="preencoded.png"/>
          <p:cNvPicPr/>
          <p:nvPr/>
        </p:nvPicPr>
        <p:blipFill>
          <a:blip r:embed="rId1"/>
          <a:stretch/>
        </p:blipFill>
        <p:spPr>
          <a:xfrm>
            <a:off x="5600880" y="5623560"/>
            <a:ext cx="226080" cy="226080"/>
          </a:xfrm>
          <a:prstGeom prst="rect">
            <a:avLst/>
          </a:prstGeom>
          <a:ln>
            <a:noFill/>
          </a:ln>
        </p:spPr>
      </p:pic>
      <p:sp>
        <p:nvSpPr>
          <p:cNvPr id="955" name="CustomShape 17"/>
          <p:cNvSpPr/>
          <p:nvPr/>
        </p:nvSpPr>
        <p:spPr>
          <a:xfrm>
            <a:off x="6126480" y="5303520"/>
            <a:ext cx="5328360" cy="86616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a8431f"/>
                </a:solidFill>
                <a:latin typeface="Calibri"/>
                <a:ea typeface="Calibri"/>
              </a:rPr>
              <a:t>Huérfano: </a:t>
            </a:r>
            <a:r>
              <a:rPr b="0" lang="en-US" sz="1400" spc="-1" strike="noStrike">
                <a:solidFill>
                  <a:srgbClr val="1f2933"/>
                </a:solidFill>
                <a:latin typeface="Calibri"/>
                <a:ea typeface="Calibri"/>
              </a:rPr>
              <a:t>tras un restore, ALTER USER ... WITH LOGIN = ... repara el SID.</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956"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SEGURIDAD</a:t>
            </a:r>
            <a:endParaRPr b="0" lang="es-ES" sz="1000" spc="-1" strike="noStrike">
              <a:latin typeface="Arial"/>
            </a:endParaRPr>
          </a:p>
        </p:txBody>
      </p:sp>
      <p:sp>
        <p:nvSpPr>
          <p:cNvPr id="957"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Roles fijos y roles personalizados</a:t>
            </a:r>
            <a:endParaRPr b="0" lang="es-ES" sz="3400" spc="-1" strike="noStrike">
              <a:latin typeface="Arial"/>
            </a:endParaRPr>
          </a:p>
        </p:txBody>
      </p:sp>
      <p:sp>
        <p:nvSpPr>
          <p:cNvPr id="958"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959"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2   38</a:t>
            </a:r>
            <a:endParaRPr b="0" lang="es-ES" sz="1000" spc="-1" strike="noStrike">
              <a:latin typeface="Arial"/>
            </a:endParaRPr>
          </a:p>
        </p:txBody>
      </p:sp>
      <p:graphicFrame>
        <p:nvGraphicFramePr>
          <p:cNvPr id="960" name="Table 5"/>
          <p:cNvGraphicFramePr/>
          <p:nvPr/>
        </p:nvGraphicFramePr>
        <p:xfrm>
          <a:off x="548640" y="1600200"/>
          <a:ext cx="6857640" cy="2864520"/>
        </p:xfrm>
        <a:graphic>
          <a:graphicData uri="http://schemas.openxmlformats.org/drawingml/2006/table">
            <a:tbl>
              <a:tblPr/>
              <a:tblGrid>
                <a:gridCol w="2651760"/>
                <a:gridCol w="1463040"/>
                <a:gridCol w="2743200"/>
              </a:tblGrid>
              <a:tr h="380880">
                <a:tc>
                  <a:txBody>
                    <a:bodyPr lIns="109440" rIns="109440">
                      <a:noAutofit/>
                    </a:bodyPr>
                    <a:p>
                      <a:pPr>
                        <a:lnSpc>
                          <a:spcPct val="100000"/>
                        </a:lnSpc>
                        <a:tabLst>
                          <a:tab algn="l" pos="0"/>
                        </a:tabLst>
                      </a:pPr>
                      <a:r>
                        <a:rPr b="1" lang="en-US" sz="1300" spc="-1" strike="noStrike">
                          <a:solidFill>
                            <a:srgbClr val="ffffff"/>
                          </a:solidFill>
                          <a:latin typeface="Calibri"/>
                          <a:ea typeface="Calibri"/>
                        </a:rPr>
                        <a:t>Rol</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c>
                  <a:txBody>
                    <a:bodyPr lIns="109440" rIns="109440">
                      <a:noAutofit/>
                    </a:bodyPr>
                    <a:p>
                      <a:pPr>
                        <a:lnSpc>
                          <a:spcPct val="100000"/>
                        </a:lnSpc>
                        <a:tabLst>
                          <a:tab algn="l" pos="0"/>
                        </a:tabLst>
                      </a:pPr>
                      <a:r>
                        <a:rPr b="1" lang="en-US" sz="1300" spc="-1" strike="noStrike">
                          <a:solidFill>
                            <a:srgbClr val="ffffff"/>
                          </a:solidFill>
                          <a:latin typeface="Calibri"/>
                          <a:ea typeface="Calibri"/>
                        </a:rPr>
                        <a:t>Ámbito</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c>
                  <a:txBody>
                    <a:bodyPr lIns="109440" rIns="109440">
                      <a:noAutofit/>
                    </a:bodyPr>
                    <a:p>
                      <a:pPr>
                        <a:lnSpc>
                          <a:spcPct val="100000"/>
                        </a:lnSpc>
                        <a:tabLst>
                          <a:tab algn="l" pos="0"/>
                        </a:tabLst>
                      </a:pPr>
                      <a:r>
                        <a:rPr b="1" lang="en-US" sz="1300" spc="-1" strike="noStrike">
                          <a:solidFill>
                            <a:srgbClr val="ffffff"/>
                          </a:solidFill>
                          <a:latin typeface="Calibri"/>
                          <a:ea typeface="Calibri"/>
                        </a:rPr>
                        <a:t>Capacidad</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r>
              <a:tr h="380880">
                <a:tc>
                  <a:txBody>
                    <a:bodyPr lIns="109440" rIns="109440">
                      <a:noAutofit/>
                    </a:bodyPr>
                    <a:p>
                      <a:pPr>
                        <a:lnSpc>
                          <a:spcPct val="100000"/>
                        </a:lnSpc>
                        <a:tabLst>
                          <a:tab algn="l" pos="0"/>
                        </a:tabLst>
                      </a:pPr>
                      <a:r>
                        <a:rPr b="1" lang="en-US" sz="1300" spc="-1" strike="noStrike">
                          <a:solidFill>
                            <a:srgbClr val="0b2545"/>
                          </a:solidFill>
                          <a:latin typeface="Calibri"/>
                          <a:ea typeface="Calibri"/>
                        </a:rPr>
                        <a:t>sysadmin</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Servidor</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Control total de la instancia</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r h="380880">
                <a:tc>
                  <a:txBody>
                    <a:bodyPr lIns="109440" rIns="109440">
                      <a:noAutofit/>
                    </a:bodyPr>
                    <a:p>
                      <a:pPr>
                        <a:lnSpc>
                          <a:spcPct val="100000"/>
                        </a:lnSpc>
                        <a:tabLst>
                          <a:tab algn="l" pos="0"/>
                        </a:tabLst>
                      </a:pPr>
                      <a:r>
                        <a:rPr b="1" lang="en-US" sz="1300" spc="-1" strike="noStrike">
                          <a:solidFill>
                            <a:srgbClr val="0b2545"/>
                          </a:solidFill>
                          <a:latin typeface="Calibri"/>
                          <a:ea typeface="Calibri"/>
                        </a:rPr>
                        <a:t>securityadmin</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Servidor</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Gestiona logins y permisos</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r>
              <a:tr h="380880">
                <a:tc>
                  <a:txBody>
                    <a:bodyPr lIns="109440" rIns="109440">
                      <a:noAutofit/>
                    </a:bodyPr>
                    <a:p>
                      <a:pPr>
                        <a:lnSpc>
                          <a:spcPct val="100000"/>
                        </a:lnSpc>
                        <a:tabLst>
                          <a:tab algn="l" pos="0"/>
                        </a:tabLst>
                      </a:pPr>
                      <a:r>
                        <a:rPr b="1" lang="en-US" sz="1300" spc="-1" strike="noStrike">
                          <a:solidFill>
                            <a:srgbClr val="0b2545"/>
                          </a:solidFill>
                          <a:latin typeface="Calibri"/>
                          <a:ea typeface="Calibri"/>
                        </a:rPr>
                        <a:t>dbcreator</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Servidor</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Crea y restaura bases de datos</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r h="380880">
                <a:tc>
                  <a:txBody>
                    <a:bodyPr lIns="109440" rIns="109440">
                      <a:noAutofit/>
                    </a:bodyPr>
                    <a:p>
                      <a:pPr>
                        <a:lnSpc>
                          <a:spcPct val="100000"/>
                        </a:lnSpc>
                        <a:tabLst>
                          <a:tab algn="l" pos="0"/>
                        </a:tabLst>
                      </a:pPr>
                      <a:r>
                        <a:rPr b="1" lang="en-US" sz="1300" spc="-1" strike="noStrike">
                          <a:solidFill>
                            <a:srgbClr val="0b2545"/>
                          </a:solidFill>
                          <a:latin typeface="Calibri"/>
                          <a:ea typeface="Calibri"/>
                        </a:rPr>
                        <a:t>db_owner</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Base de datos</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Control total sobre la BD</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r>
              <a:tr h="578880">
                <a:tc>
                  <a:txBody>
                    <a:bodyPr lIns="109440" rIns="109440">
                      <a:noAutofit/>
                    </a:bodyPr>
                    <a:p>
                      <a:pPr>
                        <a:lnSpc>
                          <a:spcPct val="100000"/>
                        </a:lnSpc>
                        <a:tabLst>
                          <a:tab algn="l" pos="0"/>
                        </a:tabLst>
                      </a:pPr>
                      <a:r>
                        <a:rPr b="1" lang="en-US" sz="1300" spc="-1" strike="noStrike">
                          <a:solidFill>
                            <a:srgbClr val="0b2545"/>
                          </a:solidFill>
                          <a:latin typeface="Calibri"/>
                          <a:ea typeface="Calibri"/>
                        </a:rPr>
                        <a:t>db_datareader / db_datawriter</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Base de datos</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SELECT / DML en todas las tablas</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r h="381600">
                <a:tc>
                  <a:txBody>
                    <a:bodyPr lIns="109440" rIns="109440">
                      <a:noAutofit/>
                    </a:bodyPr>
                    <a:p>
                      <a:pPr>
                        <a:lnSpc>
                          <a:spcPct val="100000"/>
                        </a:lnSpc>
                        <a:tabLst>
                          <a:tab algn="l" pos="0"/>
                        </a:tabLst>
                      </a:pPr>
                      <a:r>
                        <a:rPr b="1" lang="en-US" sz="1300" spc="-1" strike="noStrike">
                          <a:solidFill>
                            <a:srgbClr val="0b2545"/>
                          </a:solidFill>
                          <a:latin typeface="Calibri"/>
                          <a:ea typeface="Calibri"/>
                        </a:rPr>
                        <a:t>db_ddladmin</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Base de datos</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Ejecuta DDL (CREATE, ALTER)</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r>
            </a:tbl>
          </a:graphicData>
        </a:graphic>
      </p:graphicFrame>
      <p:sp>
        <p:nvSpPr>
          <p:cNvPr id="961" name="CustomShape 6"/>
          <p:cNvSpPr/>
          <p:nvPr/>
        </p:nvSpPr>
        <p:spPr>
          <a:xfrm>
            <a:off x="7680960" y="1600200"/>
            <a:ext cx="3956760" cy="3472200"/>
          </a:xfrm>
          <a:prstGeom prst="roundRect">
            <a:avLst>
              <a:gd name="adj" fmla="val 2632"/>
            </a:avLst>
          </a:prstGeom>
          <a:solidFill>
            <a:srgbClr val="eceff3"/>
          </a:solidFill>
          <a:ln w="9360">
            <a:solidFill>
              <a:srgbClr val="d0d7de"/>
            </a:solidFill>
            <a:round/>
          </a:ln>
        </p:spPr>
        <p:style>
          <a:lnRef idx="0"/>
          <a:fillRef idx="0"/>
          <a:effectRef idx="0"/>
          <a:fontRef idx="minor"/>
        </p:style>
      </p:sp>
      <p:sp>
        <p:nvSpPr>
          <p:cNvPr id="962" name="CustomShape 7"/>
          <p:cNvSpPr/>
          <p:nvPr/>
        </p:nvSpPr>
        <p:spPr>
          <a:xfrm>
            <a:off x="786384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rol personalizado</a:t>
            </a:r>
            <a:endParaRPr b="0" lang="es-ES" sz="1000" spc="-1" strike="noStrike">
              <a:latin typeface="Arial"/>
            </a:endParaRPr>
          </a:p>
        </p:txBody>
      </p:sp>
      <p:sp>
        <p:nvSpPr>
          <p:cNvPr id="963" name="CustomShape 8"/>
          <p:cNvSpPr/>
          <p:nvPr/>
        </p:nvSpPr>
        <p:spPr>
          <a:xfrm>
            <a:off x="7863840" y="1965960"/>
            <a:ext cx="3591000" cy="301500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CREATE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ROLE</a:t>
            </a:r>
            <a:r>
              <a:rPr b="0" lang="en-US" sz="1200" spc="-1" strike="noStrike">
                <a:solidFill>
                  <a:srgbClr val="1f2933"/>
                </a:solidFill>
                <a:latin typeface="Consolas"/>
                <a:ea typeface="Consolas"/>
              </a:rPr>
              <a:t> rol_lectura_rpt;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GRANT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SCHEMA</a:t>
            </a:r>
            <a:r>
              <a:rPr b="0" lang="en-US" sz="1200" spc="-1" strike="noStrike">
                <a:solidFill>
                  <a:srgbClr val="1f2933"/>
                </a:solidFill>
                <a:latin typeface="Consolas"/>
                <a:ea typeface="Consolas"/>
              </a:rPr>
              <a:t>::rpt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TO rol_lectura_rpt;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CREATE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ROLE</a:t>
            </a:r>
            <a:r>
              <a:rPr b="0" lang="en-US" sz="1200" spc="-1" strike="noStrike">
                <a:solidFill>
                  <a:srgbClr val="1f2933"/>
                </a:solidFill>
                <a:latin typeface="Consolas"/>
                <a:ea typeface="Consolas"/>
              </a:rPr>
              <a:t> rol_operador;</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GRANT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EXECUTE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SCHEMA</a:t>
            </a:r>
            <a:r>
              <a:rPr b="0" lang="en-US" sz="1200" spc="-1" strike="noStrike">
                <a:solidFill>
                  <a:srgbClr val="1f2933"/>
                </a:solidFill>
                <a:latin typeface="Consolas"/>
                <a:ea typeface="Consolas"/>
              </a:rPr>
              <a:t>::app</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TO rol_operador;</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ALTER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ROLE</a:t>
            </a:r>
            <a:r>
              <a:rPr b="0" lang="en-US" sz="1200" spc="-1" strike="noStrike">
                <a:solidFill>
                  <a:srgbClr val="1f2933"/>
                </a:solidFill>
                <a:latin typeface="Consolas"/>
                <a:ea typeface="Consolas"/>
              </a:rPr>
              <a:t> rol_lectura_rpt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ADD</a:t>
            </a:r>
            <a:r>
              <a:rPr b="0" lang="en-US" sz="1200" spc="-1" strike="noStrike">
                <a:solidFill>
                  <a:srgbClr val="1f2933"/>
                </a:solidFill>
                <a:latin typeface="Consolas"/>
                <a:ea typeface="Consolas"/>
              </a:rPr>
              <a:t> MEMBER analista;</a:t>
            </a:r>
            <a:endParaRPr b="0" lang="es-ES" sz="1200" spc="-1" strike="noStrike">
              <a:latin typeface="Arial"/>
            </a:endParaRPr>
          </a:p>
        </p:txBody>
      </p:sp>
      <p:sp>
        <p:nvSpPr>
          <p:cNvPr id="964" name="CustomShape 9"/>
          <p:cNvSpPr/>
          <p:nvPr/>
        </p:nvSpPr>
        <p:spPr>
          <a:xfrm>
            <a:off x="548640" y="5349240"/>
            <a:ext cx="11089080" cy="820440"/>
          </a:xfrm>
          <a:prstGeom prst="roundRect">
            <a:avLst>
              <a:gd name="adj" fmla="val 13333"/>
            </a:avLst>
          </a:prstGeom>
          <a:solidFill>
            <a:srgbClr val="e8eef5"/>
          </a:solidFill>
          <a:ln>
            <a:noFill/>
          </a:ln>
        </p:spPr>
        <p:style>
          <a:lnRef idx="0"/>
          <a:fillRef idx="0"/>
          <a:effectRef idx="0"/>
          <a:fontRef idx="minor"/>
        </p:style>
      </p:sp>
      <p:sp>
        <p:nvSpPr>
          <p:cNvPr id="965" name="CustomShape 10"/>
          <p:cNvSpPr/>
          <p:nvPr/>
        </p:nvSpPr>
        <p:spPr>
          <a:xfrm>
            <a:off x="731520" y="5532120"/>
            <a:ext cx="454680" cy="454680"/>
          </a:xfrm>
          <a:prstGeom prst="ellipse">
            <a:avLst/>
          </a:prstGeom>
          <a:solidFill>
            <a:srgbClr val="134074"/>
          </a:solidFill>
          <a:ln>
            <a:noFill/>
          </a:ln>
        </p:spPr>
        <p:style>
          <a:lnRef idx="0"/>
          <a:fillRef idx="0"/>
          <a:effectRef idx="0"/>
          <a:fontRef idx="minor"/>
        </p:style>
      </p:sp>
      <p:pic>
        <p:nvPicPr>
          <p:cNvPr id="966" name="Image 0" descr="preencoded.png"/>
          <p:cNvPicPr/>
          <p:nvPr/>
        </p:nvPicPr>
        <p:blipFill>
          <a:blip r:embed="rId1"/>
          <a:stretch/>
        </p:blipFill>
        <p:spPr>
          <a:xfrm>
            <a:off x="846000" y="5646600"/>
            <a:ext cx="226080" cy="226080"/>
          </a:xfrm>
          <a:prstGeom prst="rect">
            <a:avLst/>
          </a:prstGeom>
          <a:ln>
            <a:noFill/>
          </a:ln>
        </p:spPr>
      </p:pic>
      <p:sp>
        <p:nvSpPr>
          <p:cNvPr id="967" name="CustomShape 11"/>
          <p:cNvSpPr/>
          <p:nvPr/>
        </p:nvSpPr>
        <p:spPr>
          <a:xfrm>
            <a:off x="1371600" y="5349240"/>
            <a:ext cx="10083240" cy="82044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2545"/>
                </a:solidFill>
                <a:latin typeface="Calibri"/>
                <a:ea typeface="Calibri"/>
              </a:rPr>
              <a:t>Mejor práctica: </a:t>
            </a:r>
            <a:r>
              <a:rPr b="0" lang="en-US" sz="1400" spc="-1" strike="noStrike">
                <a:solidFill>
                  <a:srgbClr val="1f2933"/>
                </a:solidFill>
                <a:latin typeface="Calibri"/>
                <a:ea typeface="Calibri"/>
              </a:rPr>
              <a:t>evita db_owner y sysadmin en aplicaciones; usa roles personalizados con permisos sobre un schema.</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968"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SEGURIDAD</a:t>
            </a:r>
            <a:endParaRPr b="0" lang="es-ES" sz="1000" spc="-1" strike="noStrike">
              <a:latin typeface="Arial"/>
            </a:endParaRPr>
          </a:p>
        </p:txBody>
      </p:sp>
      <p:sp>
        <p:nvSpPr>
          <p:cNvPr id="969"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GRANT, DENY y REVOKE</a:t>
            </a:r>
            <a:endParaRPr b="0" lang="es-ES" sz="3400" spc="-1" strike="noStrike">
              <a:latin typeface="Arial"/>
            </a:endParaRPr>
          </a:p>
        </p:txBody>
      </p:sp>
      <p:sp>
        <p:nvSpPr>
          <p:cNvPr id="970"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971"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2   39</a:t>
            </a:r>
            <a:endParaRPr b="0" lang="es-ES" sz="1000" spc="-1" strike="noStrike">
              <a:latin typeface="Arial"/>
            </a:endParaRPr>
          </a:p>
        </p:txBody>
      </p:sp>
      <p:sp>
        <p:nvSpPr>
          <p:cNvPr id="972" name="CustomShape 5"/>
          <p:cNvSpPr/>
          <p:nvPr/>
        </p:nvSpPr>
        <p:spPr>
          <a:xfrm>
            <a:off x="548640" y="1600200"/>
            <a:ext cx="3511800" cy="2329200"/>
          </a:xfrm>
          <a:prstGeom prst="roundRect">
            <a:avLst>
              <a:gd name="adj" fmla="val 47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973" name="CustomShape 6"/>
          <p:cNvSpPr/>
          <p:nvPr/>
        </p:nvSpPr>
        <p:spPr>
          <a:xfrm>
            <a:off x="777240" y="1828800"/>
            <a:ext cx="546120" cy="546120"/>
          </a:xfrm>
          <a:prstGeom prst="ellipse">
            <a:avLst/>
          </a:prstGeom>
          <a:solidFill>
            <a:srgbClr val="134074"/>
          </a:solidFill>
          <a:ln>
            <a:noFill/>
          </a:ln>
        </p:spPr>
        <p:style>
          <a:lnRef idx="0"/>
          <a:fillRef idx="0"/>
          <a:effectRef idx="0"/>
          <a:fontRef idx="minor"/>
        </p:style>
      </p:sp>
      <p:pic>
        <p:nvPicPr>
          <p:cNvPr id="974" name="Image 0" descr="preencoded.png"/>
          <p:cNvPicPr/>
          <p:nvPr/>
        </p:nvPicPr>
        <p:blipFill>
          <a:blip r:embed="rId1"/>
          <a:stretch/>
        </p:blipFill>
        <p:spPr>
          <a:xfrm>
            <a:off x="914400" y="1965960"/>
            <a:ext cx="271800" cy="271800"/>
          </a:xfrm>
          <a:prstGeom prst="rect">
            <a:avLst/>
          </a:prstGeom>
          <a:ln>
            <a:noFill/>
          </a:ln>
        </p:spPr>
      </p:pic>
      <p:sp>
        <p:nvSpPr>
          <p:cNvPr id="975" name="CustomShape 7"/>
          <p:cNvSpPr/>
          <p:nvPr/>
        </p:nvSpPr>
        <p:spPr>
          <a:xfrm>
            <a:off x="1463040" y="1828800"/>
            <a:ext cx="236880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800" spc="-1" strike="noStrike">
                <a:solidFill>
                  <a:srgbClr val="0b2545"/>
                </a:solidFill>
                <a:latin typeface="Calibri"/>
                <a:ea typeface="Calibri"/>
              </a:rPr>
              <a:t>GRANT</a:t>
            </a:r>
            <a:endParaRPr b="0" lang="es-ES" sz="1800" spc="-1" strike="noStrike">
              <a:latin typeface="Arial"/>
            </a:endParaRPr>
          </a:p>
        </p:txBody>
      </p:sp>
      <p:sp>
        <p:nvSpPr>
          <p:cNvPr id="976" name="CustomShape 8"/>
          <p:cNvSpPr/>
          <p:nvPr/>
        </p:nvSpPr>
        <p:spPr>
          <a:xfrm>
            <a:off x="777240" y="2560320"/>
            <a:ext cx="3054600" cy="11404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Concede un permiso; WITH GRANT OPTION permite delegarlo.</a:t>
            </a:r>
            <a:endParaRPr b="0" lang="es-ES" sz="1400" spc="-1" strike="noStrike">
              <a:latin typeface="Arial"/>
            </a:endParaRPr>
          </a:p>
        </p:txBody>
      </p:sp>
      <p:sp>
        <p:nvSpPr>
          <p:cNvPr id="977" name="CustomShape 9"/>
          <p:cNvSpPr/>
          <p:nvPr/>
        </p:nvSpPr>
        <p:spPr>
          <a:xfrm>
            <a:off x="4337280" y="1600200"/>
            <a:ext cx="3511800" cy="2329200"/>
          </a:xfrm>
          <a:prstGeom prst="roundRect">
            <a:avLst>
              <a:gd name="adj" fmla="val 4706"/>
            </a:avLst>
          </a:prstGeom>
          <a:solidFill>
            <a:srgbClr val="134074"/>
          </a:solidFill>
          <a:ln>
            <a:noFill/>
          </a:ln>
        </p:spPr>
        <p:style>
          <a:lnRef idx="0"/>
          <a:fillRef idx="0"/>
          <a:effectRef idx="0"/>
          <a:fontRef idx="minor"/>
        </p:style>
      </p:sp>
      <p:sp>
        <p:nvSpPr>
          <p:cNvPr id="978" name="CustomShape 10"/>
          <p:cNvSpPr/>
          <p:nvPr/>
        </p:nvSpPr>
        <p:spPr>
          <a:xfrm>
            <a:off x="4565880" y="1828800"/>
            <a:ext cx="546120" cy="546120"/>
          </a:xfrm>
          <a:prstGeom prst="ellipse">
            <a:avLst/>
          </a:prstGeom>
          <a:solidFill>
            <a:srgbClr val="d95d39"/>
          </a:solidFill>
          <a:ln>
            <a:noFill/>
          </a:ln>
        </p:spPr>
        <p:style>
          <a:lnRef idx="0"/>
          <a:fillRef idx="0"/>
          <a:effectRef idx="0"/>
          <a:fontRef idx="minor"/>
        </p:style>
      </p:sp>
      <p:pic>
        <p:nvPicPr>
          <p:cNvPr id="979" name="Image 1" descr="preencoded.png"/>
          <p:cNvPicPr/>
          <p:nvPr/>
        </p:nvPicPr>
        <p:blipFill>
          <a:blip r:embed="rId2"/>
          <a:stretch/>
        </p:blipFill>
        <p:spPr>
          <a:xfrm>
            <a:off x="4703040" y="1965960"/>
            <a:ext cx="271800" cy="271800"/>
          </a:xfrm>
          <a:prstGeom prst="rect">
            <a:avLst/>
          </a:prstGeom>
          <a:ln>
            <a:noFill/>
          </a:ln>
        </p:spPr>
      </p:pic>
      <p:sp>
        <p:nvSpPr>
          <p:cNvPr id="980" name="CustomShape 11"/>
          <p:cNvSpPr/>
          <p:nvPr/>
        </p:nvSpPr>
        <p:spPr>
          <a:xfrm>
            <a:off x="5251680" y="1828800"/>
            <a:ext cx="236880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800" spc="-1" strike="noStrike">
                <a:solidFill>
                  <a:srgbClr val="ffffff"/>
                </a:solidFill>
                <a:latin typeface="Calibri"/>
                <a:ea typeface="Calibri"/>
              </a:rPr>
              <a:t>DENY</a:t>
            </a:r>
            <a:endParaRPr b="0" lang="es-ES" sz="1800" spc="-1" strike="noStrike">
              <a:latin typeface="Arial"/>
            </a:endParaRPr>
          </a:p>
        </p:txBody>
      </p:sp>
      <p:sp>
        <p:nvSpPr>
          <p:cNvPr id="981" name="CustomShape 12"/>
          <p:cNvSpPr/>
          <p:nvPr/>
        </p:nvSpPr>
        <p:spPr>
          <a:xfrm>
            <a:off x="4565880" y="2560320"/>
            <a:ext cx="3054600" cy="11404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e6eef8"/>
                </a:solidFill>
                <a:latin typeface="Calibri"/>
                <a:ea typeface="Calibri"/>
              </a:rPr>
              <a:t>Prohíbe el permiso y gana siempre al GRANT, también el heredado.</a:t>
            </a:r>
            <a:endParaRPr b="0" lang="es-ES" sz="1400" spc="-1" strike="noStrike">
              <a:latin typeface="Arial"/>
            </a:endParaRPr>
          </a:p>
        </p:txBody>
      </p:sp>
      <p:sp>
        <p:nvSpPr>
          <p:cNvPr id="982" name="CustomShape 13"/>
          <p:cNvSpPr/>
          <p:nvPr/>
        </p:nvSpPr>
        <p:spPr>
          <a:xfrm>
            <a:off x="8125920" y="1600200"/>
            <a:ext cx="3511800" cy="2329200"/>
          </a:xfrm>
          <a:prstGeom prst="roundRect">
            <a:avLst>
              <a:gd name="adj" fmla="val 47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983" name="CustomShape 14"/>
          <p:cNvSpPr/>
          <p:nvPr/>
        </p:nvSpPr>
        <p:spPr>
          <a:xfrm>
            <a:off x="8354520" y="1828800"/>
            <a:ext cx="546120" cy="546120"/>
          </a:xfrm>
          <a:prstGeom prst="ellipse">
            <a:avLst/>
          </a:prstGeom>
          <a:solidFill>
            <a:srgbClr val="134074"/>
          </a:solidFill>
          <a:ln>
            <a:noFill/>
          </a:ln>
        </p:spPr>
        <p:style>
          <a:lnRef idx="0"/>
          <a:fillRef idx="0"/>
          <a:effectRef idx="0"/>
          <a:fontRef idx="minor"/>
        </p:style>
      </p:sp>
      <p:pic>
        <p:nvPicPr>
          <p:cNvPr id="984" name="Image 2" descr="preencoded.png"/>
          <p:cNvPicPr/>
          <p:nvPr/>
        </p:nvPicPr>
        <p:blipFill>
          <a:blip r:embed="rId3"/>
          <a:stretch/>
        </p:blipFill>
        <p:spPr>
          <a:xfrm>
            <a:off x="8491680" y="1965960"/>
            <a:ext cx="271800" cy="271800"/>
          </a:xfrm>
          <a:prstGeom prst="rect">
            <a:avLst/>
          </a:prstGeom>
          <a:ln>
            <a:noFill/>
          </a:ln>
        </p:spPr>
      </p:pic>
      <p:sp>
        <p:nvSpPr>
          <p:cNvPr id="985" name="CustomShape 15"/>
          <p:cNvSpPr/>
          <p:nvPr/>
        </p:nvSpPr>
        <p:spPr>
          <a:xfrm>
            <a:off x="9040320" y="1828800"/>
            <a:ext cx="236880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800" spc="-1" strike="noStrike">
                <a:solidFill>
                  <a:srgbClr val="0b2545"/>
                </a:solidFill>
                <a:latin typeface="Calibri"/>
                <a:ea typeface="Calibri"/>
              </a:rPr>
              <a:t>REVOKE</a:t>
            </a:r>
            <a:endParaRPr b="0" lang="es-ES" sz="1800" spc="-1" strike="noStrike">
              <a:latin typeface="Arial"/>
            </a:endParaRPr>
          </a:p>
        </p:txBody>
      </p:sp>
      <p:sp>
        <p:nvSpPr>
          <p:cNvPr id="986" name="CustomShape 16"/>
          <p:cNvSpPr/>
          <p:nvPr/>
        </p:nvSpPr>
        <p:spPr>
          <a:xfrm>
            <a:off x="8354520" y="2560320"/>
            <a:ext cx="3054600" cy="11404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Quita un GRANT o un DENY previo; no equivale a denegar.</a:t>
            </a:r>
            <a:endParaRPr b="0" lang="es-ES" sz="1400" spc="-1" strike="noStrike">
              <a:latin typeface="Arial"/>
            </a:endParaRPr>
          </a:p>
        </p:txBody>
      </p:sp>
      <p:sp>
        <p:nvSpPr>
          <p:cNvPr id="987" name="CustomShape 17"/>
          <p:cNvSpPr/>
          <p:nvPr/>
        </p:nvSpPr>
        <p:spPr>
          <a:xfrm>
            <a:off x="548640" y="4206240"/>
            <a:ext cx="6946920" cy="1963440"/>
          </a:xfrm>
          <a:prstGeom prst="roundRect">
            <a:avLst>
              <a:gd name="adj" fmla="val 4651"/>
            </a:avLst>
          </a:prstGeom>
          <a:solidFill>
            <a:srgbClr val="eceff3"/>
          </a:solidFill>
          <a:ln w="9360">
            <a:solidFill>
              <a:srgbClr val="d0d7de"/>
            </a:solidFill>
            <a:round/>
          </a:ln>
        </p:spPr>
        <p:style>
          <a:lnRef idx="0"/>
          <a:fillRef idx="0"/>
          <a:effectRef idx="0"/>
          <a:fontRef idx="minor"/>
        </p:style>
      </p:sp>
      <p:sp>
        <p:nvSpPr>
          <p:cNvPr id="988" name="CustomShape 18"/>
          <p:cNvSpPr/>
          <p:nvPr/>
        </p:nvSpPr>
        <p:spPr>
          <a:xfrm>
            <a:off x="731520" y="429768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permisos sobre dbo.Pedido</a:t>
            </a:r>
            <a:endParaRPr b="0" lang="es-ES" sz="1000" spc="-1" strike="noStrike">
              <a:latin typeface="Arial"/>
            </a:endParaRPr>
          </a:p>
        </p:txBody>
      </p:sp>
      <p:sp>
        <p:nvSpPr>
          <p:cNvPr id="989" name="CustomShape 19"/>
          <p:cNvSpPr/>
          <p:nvPr/>
        </p:nvSpPr>
        <p:spPr>
          <a:xfrm>
            <a:off x="731520" y="4572000"/>
            <a:ext cx="6581160" cy="150624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GRANT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INSERT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 dbo.Pedido TO rol_operador;</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DENY</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DELETE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 dbo.Pedido TO rol_operador;</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REVOKE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INSERT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 dbo.Pedido </a:t>
            </a: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rol_operador;</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0" i="1" lang="en-US" sz="1200" spc="-1" strike="noStrike">
                <a:solidFill>
                  <a:srgbClr val="6b7280"/>
                </a:solidFill>
                <a:latin typeface="Consolas"/>
                <a:ea typeface="Consolas"/>
              </a:rPr>
              <a:t>-- Permisos efectivos del contexto actual</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 </a:t>
            </a: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sys.fn_my_permissions(</a:t>
            </a:r>
            <a:r>
              <a:rPr b="0" lang="en-US" sz="1200" spc="-1" strike="noStrike">
                <a:solidFill>
                  <a:srgbClr val="b4441f"/>
                </a:solidFill>
                <a:latin typeface="Consolas"/>
                <a:ea typeface="Consolas"/>
              </a:rPr>
              <a:t>N'dbo.Pedido'</a:t>
            </a:r>
            <a:r>
              <a:rPr b="0" lang="en-US" sz="1200" spc="-1" strike="noStrike">
                <a:solidFill>
                  <a:srgbClr val="1f2933"/>
                </a:solidFill>
                <a:latin typeface="Consolas"/>
                <a:ea typeface="Consolas"/>
              </a:rPr>
              <a:t>, </a:t>
            </a:r>
            <a:r>
              <a:rPr b="0" lang="en-US" sz="1200" spc="-1" strike="noStrike">
                <a:solidFill>
                  <a:srgbClr val="b4441f"/>
                </a:solidFill>
                <a:latin typeface="Consolas"/>
                <a:ea typeface="Consolas"/>
              </a:rPr>
              <a:t>N'OBJECT'</a:t>
            </a:r>
            <a:r>
              <a:rPr b="0" lang="en-US" sz="1200" spc="-1" strike="noStrike">
                <a:solidFill>
                  <a:srgbClr val="1f2933"/>
                </a:solidFill>
                <a:latin typeface="Consolas"/>
                <a:ea typeface="Consolas"/>
              </a:rPr>
              <a:t>);</a:t>
            </a:r>
            <a:endParaRPr b="0" lang="es-ES" sz="1200" spc="-1" strike="noStrike">
              <a:latin typeface="Arial"/>
            </a:endParaRPr>
          </a:p>
        </p:txBody>
      </p:sp>
      <p:sp>
        <p:nvSpPr>
          <p:cNvPr id="990" name="CustomShape 20"/>
          <p:cNvSpPr/>
          <p:nvPr/>
        </p:nvSpPr>
        <p:spPr>
          <a:xfrm>
            <a:off x="7772400" y="4206240"/>
            <a:ext cx="3865320" cy="1963440"/>
          </a:xfrm>
          <a:prstGeom prst="roundRect">
            <a:avLst>
              <a:gd name="adj" fmla="val 5581"/>
            </a:avLst>
          </a:prstGeom>
          <a:solidFill>
            <a:srgbClr val="e8eef5"/>
          </a:solidFill>
          <a:ln>
            <a:noFill/>
          </a:ln>
        </p:spPr>
        <p:style>
          <a:lnRef idx="0"/>
          <a:fillRef idx="0"/>
          <a:effectRef idx="0"/>
          <a:fontRef idx="minor"/>
        </p:style>
      </p:sp>
      <p:sp>
        <p:nvSpPr>
          <p:cNvPr id="991" name="CustomShape 21"/>
          <p:cNvSpPr/>
          <p:nvPr/>
        </p:nvSpPr>
        <p:spPr>
          <a:xfrm>
            <a:off x="7955280" y="4960800"/>
            <a:ext cx="454680" cy="454680"/>
          </a:xfrm>
          <a:prstGeom prst="ellipse">
            <a:avLst/>
          </a:prstGeom>
          <a:solidFill>
            <a:srgbClr val="134074"/>
          </a:solidFill>
          <a:ln>
            <a:noFill/>
          </a:ln>
        </p:spPr>
        <p:style>
          <a:lnRef idx="0"/>
          <a:fillRef idx="0"/>
          <a:effectRef idx="0"/>
          <a:fontRef idx="minor"/>
        </p:style>
      </p:sp>
      <p:pic>
        <p:nvPicPr>
          <p:cNvPr id="992" name="Image 3" descr="preencoded.png"/>
          <p:cNvPicPr/>
          <p:nvPr/>
        </p:nvPicPr>
        <p:blipFill>
          <a:blip r:embed="rId4"/>
          <a:stretch/>
        </p:blipFill>
        <p:spPr>
          <a:xfrm>
            <a:off x="8069760" y="5074920"/>
            <a:ext cx="226080" cy="226080"/>
          </a:xfrm>
          <a:prstGeom prst="rect">
            <a:avLst/>
          </a:prstGeom>
          <a:ln>
            <a:noFill/>
          </a:ln>
        </p:spPr>
      </p:pic>
      <p:sp>
        <p:nvSpPr>
          <p:cNvPr id="993" name="CustomShape 22"/>
          <p:cNvSpPr/>
          <p:nvPr/>
        </p:nvSpPr>
        <p:spPr>
          <a:xfrm>
            <a:off x="8595360" y="4206240"/>
            <a:ext cx="2859480" cy="196344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2545"/>
                </a:solidFill>
                <a:latin typeface="Calibri"/>
                <a:ea typeface="Calibri"/>
              </a:rPr>
              <a:t>Precedencia: </a:t>
            </a:r>
            <a:r>
              <a:rPr b="0" lang="en-US" sz="1400" spc="-1" strike="noStrike">
                <a:solidFill>
                  <a:srgbClr val="1f2933"/>
                </a:solidFill>
                <a:latin typeface="Calibri"/>
                <a:ea typeface="Calibri"/>
              </a:rPr>
              <a:t>DENY &gt; GRANT &gt; sin permiso. Los roles se acumulan, salvo DENY.</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994"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SEGURIDAD</a:t>
            </a:r>
            <a:endParaRPr b="0" lang="es-ES" sz="1000" spc="-1" strike="noStrike">
              <a:latin typeface="Arial"/>
            </a:endParaRPr>
          </a:p>
        </p:txBody>
      </p:sp>
      <p:sp>
        <p:nvSpPr>
          <p:cNvPr id="995"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Ownership chaining (cadena de propiedad)</a:t>
            </a:r>
            <a:endParaRPr b="0" lang="es-ES" sz="3400" spc="-1" strike="noStrike">
              <a:latin typeface="Arial"/>
            </a:endParaRPr>
          </a:p>
        </p:txBody>
      </p:sp>
      <p:sp>
        <p:nvSpPr>
          <p:cNvPr id="996"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997"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2   40</a:t>
            </a:r>
            <a:endParaRPr b="0" lang="es-ES" sz="1000" spc="-1" strike="noStrike">
              <a:latin typeface="Arial"/>
            </a:endParaRPr>
          </a:p>
        </p:txBody>
      </p:sp>
      <p:sp>
        <p:nvSpPr>
          <p:cNvPr id="998" name="CustomShape 5"/>
          <p:cNvSpPr/>
          <p:nvPr/>
        </p:nvSpPr>
        <p:spPr>
          <a:xfrm>
            <a:off x="548640" y="1600200"/>
            <a:ext cx="11089080" cy="36324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600" spc="-1" strike="noStrike">
                <a:solidFill>
                  <a:srgbClr val="0b2545"/>
                </a:solidFill>
                <a:latin typeface="Calibri"/>
                <a:ea typeface="Calibri"/>
              </a:rPr>
              <a:t>Cadena intacta (mismo propietario)</a:t>
            </a:r>
            <a:endParaRPr b="0" lang="es-ES" sz="1600" spc="-1" strike="noStrike">
              <a:latin typeface="Arial"/>
            </a:endParaRPr>
          </a:p>
        </p:txBody>
      </p:sp>
      <p:sp>
        <p:nvSpPr>
          <p:cNvPr id="999" name="CustomShape 6"/>
          <p:cNvSpPr/>
          <p:nvPr/>
        </p:nvSpPr>
        <p:spPr>
          <a:xfrm>
            <a:off x="548640" y="2057400"/>
            <a:ext cx="2283480" cy="911880"/>
          </a:xfrm>
          <a:prstGeom prst="roundRect">
            <a:avLst>
              <a:gd name="adj" fmla="val 8000"/>
            </a:avLst>
          </a:prstGeom>
          <a:solidFill>
            <a:srgbClr val="0b2545"/>
          </a:solidFill>
          <a:ln>
            <a:noFill/>
          </a:ln>
          <a:effectLst>
            <a:outerShdw algn="bl" blurRad="101600" dir="5400000" dist="25560" kx="0" ky="0" rotWithShape="0" sx="100000" sy="100000">
              <a:srgbClr val="000000">
                <a:alpha val="14000"/>
              </a:srgbClr>
            </a:outerShdw>
          </a:effectLst>
        </p:spPr>
        <p:style>
          <a:lnRef idx="0"/>
          <a:fillRef idx="0"/>
          <a:effectRef idx="0"/>
          <a:fontRef idx="minor"/>
        </p:style>
        <p:txBody>
          <a:bodyPr lIns="360" rIns="1080" tIns="1080" bIns="360" anchor="ctr">
            <a:noAutofit/>
          </a:bodyPr>
          <a:p>
            <a:pPr algn="ctr">
              <a:lnSpc>
                <a:spcPct val="100000"/>
              </a:lnSpc>
              <a:tabLst>
                <a:tab algn="l" pos="0"/>
              </a:tabLst>
            </a:pPr>
            <a:r>
              <a:rPr b="1" lang="en-US" sz="1400" spc="-1" strike="noStrike">
                <a:solidFill>
                  <a:srgbClr val="ffffff"/>
                </a:solidFill>
                <a:latin typeface="Calibri"/>
                <a:ea typeface="Calibri"/>
              </a:rPr>
              <a:t>Usuario operador</a:t>
            </a:r>
            <a:endParaRPr b="0" lang="es-ES" sz="1400" spc="-1" strike="noStrike">
              <a:latin typeface="Arial"/>
            </a:endParaRPr>
          </a:p>
        </p:txBody>
      </p:sp>
      <p:sp>
        <p:nvSpPr>
          <p:cNvPr id="1000" name="Line 7"/>
          <p:cNvSpPr/>
          <p:nvPr/>
        </p:nvSpPr>
        <p:spPr>
          <a:xfrm>
            <a:off x="2871000" y="2514600"/>
            <a:ext cx="301680" cy="0"/>
          </a:xfrm>
          <a:prstGeom prst="line">
            <a:avLst/>
          </a:prstGeom>
          <a:ln w="28440">
            <a:solidFill>
              <a:srgbClr val="5c6b7a"/>
            </a:solidFill>
            <a:round/>
            <a:tailEnd len="med" type="triangle" w="med"/>
          </a:ln>
        </p:spPr>
        <p:style>
          <a:lnRef idx="0"/>
          <a:fillRef idx="0"/>
          <a:effectRef idx="0"/>
          <a:fontRef idx="minor"/>
        </p:style>
      </p:sp>
      <p:sp>
        <p:nvSpPr>
          <p:cNvPr id="1001" name="CustomShape 8"/>
          <p:cNvSpPr/>
          <p:nvPr/>
        </p:nvSpPr>
        <p:spPr>
          <a:xfrm>
            <a:off x="3209400" y="2057400"/>
            <a:ext cx="3015000" cy="911880"/>
          </a:xfrm>
          <a:prstGeom prst="roundRect">
            <a:avLst>
              <a:gd name="adj" fmla="val 8000"/>
            </a:avLst>
          </a:prstGeom>
          <a:solidFill>
            <a:srgbClr val="134074"/>
          </a:solidFill>
          <a:ln>
            <a:noFill/>
          </a:ln>
          <a:effectLst>
            <a:outerShdw algn="bl" blurRad="101600" dir="5400000" dist="25560" kx="0" ky="0" rotWithShape="0" sx="100000" sy="100000">
              <a:srgbClr val="000000">
                <a:alpha val="14000"/>
              </a:srgbClr>
            </a:outerShdw>
          </a:effectLst>
        </p:spPr>
        <p:style>
          <a:lnRef idx="0"/>
          <a:fillRef idx="0"/>
          <a:effectRef idx="0"/>
          <a:fontRef idx="minor"/>
        </p:style>
        <p:txBody>
          <a:bodyPr lIns="360" rIns="1080" tIns="1080" bIns="360" anchor="ctr">
            <a:noAutofit/>
          </a:bodyPr>
          <a:p>
            <a:pPr algn="ctr">
              <a:lnSpc>
                <a:spcPct val="100000"/>
              </a:lnSpc>
              <a:tabLst>
                <a:tab algn="l" pos="0"/>
              </a:tabLst>
            </a:pPr>
            <a:r>
              <a:rPr b="1" lang="en-US" sz="1400" spc="-1" strike="noStrike">
                <a:solidFill>
                  <a:srgbClr val="ffffff"/>
                </a:solidFill>
                <a:latin typeface="Calibri"/>
                <a:ea typeface="Calibri"/>
              </a:rPr>
              <a:t>app.usp_AltaPedido</a:t>
            </a:r>
            <a:endParaRPr b="0" lang="es-ES" sz="1400" spc="-1" strike="noStrike">
              <a:latin typeface="Arial"/>
            </a:endParaRPr>
          </a:p>
          <a:p>
            <a:pPr algn="ctr">
              <a:lnSpc>
                <a:spcPct val="100000"/>
              </a:lnSpc>
              <a:tabLst>
                <a:tab algn="l" pos="0"/>
              </a:tabLst>
            </a:pPr>
            <a:r>
              <a:rPr b="1" lang="en-US" sz="1400" spc="-1" strike="noStrike">
                <a:solidFill>
                  <a:srgbClr val="ffffff"/>
                </a:solidFill>
                <a:latin typeface="Calibri"/>
                <a:ea typeface="Calibri"/>
              </a:rPr>
              <a:t>owner: dbo</a:t>
            </a:r>
            <a:endParaRPr b="0" lang="es-ES" sz="1400" spc="-1" strike="noStrike">
              <a:latin typeface="Arial"/>
            </a:endParaRPr>
          </a:p>
        </p:txBody>
      </p:sp>
      <p:sp>
        <p:nvSpPr>
          <p:cNvPr id="1002" name="Line 9"/>
          <p:cNvSpPr/>
          <p:nvPr/>
        </p:nvSpPr>
        <p:spPr>
          <a:xfrm>
            <a:off x="6263640" y="2514600"/>
            <a:ext cx="301680" cy="0"/>
          </a:xfrm>
          <a:prstGeom prst="line">
            <a:avLst/>
          </a:prstGeom>
          <a:ln w="28440">
            <a:solidFill>
              <a:srgbClr val="5c6b7a"/>
            </a:solidFill>
            <a:round/>
            <a:tailEnd len="med" type="triangle" w="med"/>
          </a:ln>
        </p:spPr>
        <p:style>
          <a:lnRef idx="0"/>
          <a:fillRef idx="0"/>
          <a:effectRef idx="0"/>
          <a:fontRef idx="minor"/>
        </p:style>
      </p:sp>
      <p:sp>
        <p:nvSpPr>
          <p:cNvPr id="1003" name="CustomShape 10"/>
          <p:cNvSpPr/>
          <p:nvPr/>
        </p:nvSpPr>
        <p:spPr>
          <a:xfrm>
            <a:off x="6602040" y="2057400"/>
            <a:ext cx="2374920" cy="911880"/>
          </a:xfrm>
          <a:prstGeom prst="roundRect">
            <a:avLst>
              <a:gd name="adj" fmla="val 8000"/>
            </a:avLst>
          </a:prstGeom>
          <a:solidFill>
            <a:srgbClr val="134074"/>
          </a:solidFill>
          <a:ln>
            <a:noFill/>
          </a:ln>
          <a:effectLst>
            <a:outerShdw algn="bl" blurRad="101600" dir="5400000" dist="25560" kx="0" ky="0" rotWithShape="0" sx="100000" sy="100000">
              <a:srgbClr val="000000">
                <a:alpha val="14000"/>
              </a:srgbClr>
            </a:outerShdw>
          </a:effectLst>
        </p:spPr>
        <p:style>
          <a:lnRef idx="0"/>
          <a:fillRef idx="0"/>
          <a:effectRef idx="0"/>
          <a:fontRef idx="minor"/>
        </p:style>
        <p:txBody>
          <a:bodyPr lIns="360" rIns="1080" tIns="1080" bIns="360" anchor="ctr">
            <a:noAutofit/>
          </a:bodyPr>
          <a:p>
            <a:pPr algn="ctr">
              <a:lnSpc>
                <a:spcPct val="100000"/>
              </a:lnSpc>
              <a:tabLst>
                <a:tab algn="l" pos="0"/>
              </a:tabLst>
            </a:pPr>
            <a:r>
              <a:rPr b="1" lang="en-US" sz="1400" spc="-1" strike="noStrike">
                <a:solidFill>
                  <a:srgbClr val="ffffff"/>
                </a:solidFill>
                <a:latin typeface="Calibri"/>
                <a:ea typeface="Calibri"/>
              </a:rPr>
              <a:t>dbo.Pedido</a:t>
            </a:r>
            <a:endParaRPr b="0" lang="es-ES" sz="1400" spc="-1" strike="noStrike">
              <a:latin typeface="Arial"/>
            </a:endParaRPr>
          </a:p>
          <a:p>
            <a:pPr algn="ctr">
              <a:lnSpc>
                <a:spcPct val="100000"/>
              </a:lnSpc>
              <a:tabLst>
                <a:tab algn="l" pos="0"/>
              </a:tabLst>
            </a:pPr>
            <a:r>
              <a:rPr b="1" lang="en-US" sz="1400" spc="-1" strike="noStrike">
                <a:solidFill>
                  <a:srgbClr val="ffffff"/>
                </a:solidFill>
                <a:latin typeface="Calibri"/>
                <a:ea typeface="Calibri"/>
              </a:rPr>
              <a:t>owner: dbo</a:t>
            </a:r>
            <a:endParaRPr b="0" lang="es-ES" sz="1400" spc="-1" strike="noStrike">
              <a:latin typeface="Arial"/>
            </a:endParaRPr>
          </a:p>
        </p:txBody>
      </p:sp>
      <p:sp>
        <p:nvSpPr>
          <p:cNvPr id="1004" name="Line 11"/>
          <p:cNvSpPr/>
          <p:nvPr/>
        </p:nvSpPr>
        <p:spPr>
          <a:xfrm>
            <a:off x="9015840" y="2514600"/>
            <a:ext cx="301680" cy="0"/>
          </a:xfrm>
          <a:prstGeom prst="line">
            <a:avLst/>
          </a:prstGeom>
          <a:ln w="28440">
            <a:solidFill>
              <a:srgbClr val="5c6b7a"/>
            </a:solidFill>
            <a:round/>
            <a:tailEnd len="med" type="triangle" w="med"/>
          </a:ln>
        </p:spPr>
        <p:style>
          <a:lnRef idx="0"/>
          <a:fillRef idx="0"/>
          <a:effectRef idx="0"/>
          <a:fontRef idx="minor"/>
        </p:style>
      </p:sp>
      <p:sp>
        <p:nvSpPr>
          <p:cNvPr id="1005" name="CustomShape 12"/>
          <p:cNvSpPr/>
          <p:nvPr/>
        </p:nvSpPr>
        <p:spPr>
          <a:xfrm>
            <a:off x="9354240" y="2057400"/>
            <a:ext cx="2283480" cy="911880"/>
          </a:xfrm>
          <a:prstGeom prst="roundRect">
            <a:avLst>
              <a:gd name="adj" fmla="val 8000"/>
            </a:avLst>
          </a:prstGeom>
          <a:solidFill>
            <a:srgbClr val="2a7f62"/>
          </a:solidFill>
          <a:ln>
            <a:noFill/>
          </a:ln>
          <a:effectLst>
            <a:outerShdw algn="bl" blurRad="101600" dir="5400000" dist="25560" kx="0" ky="0" rotWithShape="0" sx="100000" sy="100000">
              <a:srgbClr val="000000">
                <a:alpha val="14000"/>
              </a:srgbClr>
            </a:outerShdw>
          </a:effectLst>
        </p:spPr>
        <p:style>
          <a:lnRef idx="0"/>
          <a:fillRef idx="0"/>
          <a:effectRef idx="0"/>
          <a:fontRef idx="minor"/>
        </p:style>
        <p:txBody>
          <a:bodyPr lIns="360" rIns="1080" tIns="1080" bIns="360" anchor="ctr">
            <a:noAutofit/>
          </a:bodyPr>
          <a:p>
            <a:pPr algn="ctr">
              <a:lnSpc>
                <a:spcPct val="100000"/>
              </a:lnSpc>
              <a:tabLst>
                <a:tab algn="l" pos="0"/>
              </a:tabLst>
            </a:pPr>
            <a:r>
              <a:rPr b="1" lang="en-US" sz="1400" spc="-1" strike="noStrike">
                <a:solidFill>
                  <a:srgbClr val="ffffff"/>
                </a:solidFill>
                <a:latin typeface="Calibri"/>
                <a:ea typeface="Calibri"/>
              </a:rPr>
              <a:t>Sólo se valida</a:t>
            </a:r>
            <a:endParaRPr b="0" lang="es-ES" sz="1400" spc="-1" strike="noStrike">
              <a:latin typeface="Arial"/>
            </a:endParaRPr>
          </a:p>
          <a:p>
            <a:pPr algn="ctr">
              <a:lnSpc>
                <a:spcPct val="100000"/>
              </a:lnSpc>
              <a:tabLst>
                <a:tab algn="l" pos="0"/>
              </a:tabLst>
            </a:pPr>
            <a:r>
              <a:rPr b="1" lang="en-US" sz="1400" spc="-1" strike="noStrike">
                <a:solidFill>
                  <a:srgbClr val="ffffff"/>
                </a:solidFill>
                <a:latin typeface="Calibri"/>
                <a:ea typeface="Calibri"/>
              </a:rPr>
              <a:t>EXECUTE</a:t>
            </a:r>
            <a:endParaRPr b="0" lang="es-ES" sz="1400" spc="-1" strike="noStrike">
              <a:latin typeface="Arial"/>
            </a:endParaRPr>
          </a:p>
        </p:txBody>
      </p:sp>
      <p:sp>
        <p:nvSpPr>
          <p:cNvPr id="1006" name="CustomShape 13"/>
          <p:cNvSpPr/>
          <p:nvPr/>
        </p:nvSpPr>
        <p:spPr>
          <a:xfrm>
            <a:off x="548640" y="3246120"/>
            <a:ext cx="11089080" cy="36324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600" spc="-1" strike="noStrike">
                <a:solidFill>
                  <a:srgbClr val="0b2545"/>
                </a:solidFill>
                <a:latin typeface="Calibri"/>
                <a:ea typeface="Calibri"/>
              </a:rPr>
              <a:t>Cadena rota (propietarios distintos)</a:t>
            </a:r>
            <a:endParaRPr b="0" lang="es-ES" sz="1600" spc="-1" strike="noStrike">
              <a:latin typeface="Arial"/>
            </a:endParaRPr>
          </a:p>
        </p:txBody>
      </p:sp>
      <p:sp>
        <p:nvSpPr>
          <p:cNvPr id="1007" name="CustomShape 14"/>
          <p:cNvSpPr/>
          <p:nvPr/>
        </p:nvSpPr>
        <p:spPr>
          <a:xfrm>
            <a:off x="548640" y="3703320"/>
            <a:ext cx="2283480" cy="911880"/>
          </a:xfrm>
          <a:prstGeom prst="roundRect">
            <a:avLst>
              <a:gd name="adj" fmla="val 8000"/>
            </a:avLst>
          </a:prstGeom>
          <a:solidFill>
            <a:srgbClr val="0b2545"/>
          </a:solidFill>
          <a:ln>
            <a:noFill/>
          </a:ln>
          <a:effectLst>
            <a:outerShdw algn="bl" blurRad="101600" dir="5400000" dist="25560" kx="0" ky="0" rotWithShape="0" sx="100000" sy="100000">
              <a:srgbClr val="000000">
                <a:alpha val="14000"/>
              </a:srgbClr>
            </a:outerShdw>
          </a:effectLst>
        </p:spPr>
        <p:style>
          <a:lnRef idx="0"/>
          <a:fillRef idx="0"/>
          <a:effectRef idx="0"/>
          <a:fontRef idx="minor"/>
        </p:style>
        <p:txBody>
          <a:bodyPr lIns="360" rIns="1080" tIns="1080" bIns="360" anchor="ctr">
            <a:noAutofit/>
          </a:bodyPr>
          <a:p>
            <a:pPr algn="ctr">
              <a:lnSpc>
                <a:spcPct val="100000"/>
              </a:lnSpc>
              <a:tabLst>
                <a:tab algn="l" pos="0"/>
              </a:tabLst>
            </a:pPr>
            <a:r>
              <a:rPr b="1" lang="en-US" sz="1400" spc="-1" strike="noStrike">
                <a:solidFill>
                  <a:srgbClr val="ffffff"/>
                </a:solidFill>
                <a:latin typeface="Calibri"/>
                <a:ea typeface="Calibri"/>
              </a:rPr>
              <a:t>Usuario operador</a:t>
            </a:r>
            <a:endParaRPr b="0" lang="es-ES" sz="1400" spc="-1" strike="noStrike">
              <a:latin typeface="Arial"/>
            </a:endParaRPr>
          </a:p>
        </p:txBody>
      </p:sp>
      <p:sp>
        <p:nvSpPr>
          <p:cNvPr id="1008" name="Line 15"/>
          <p:cNvSpPr/>
          <p:nvPr/>
        </p:nvSpPr>
        <p:spPr>
          <a:xfrm>
            <a:off x="2871000" y="4160520"/>
            <a:ext cx="301680" cy="0"/>
          </a:xfrm>
          <a:prstGeom prst="line">
            <a:avLst/>
          </a:prstGeom>
          <a:ln w="28440">
            <a:solidFill>
              <a:srgbClr val="5c6b7a"/>
            </a:solidFill>
            <a:round/>
            <a:tailEnd len="med" type="triangle" w="med"/>
          </a:ln>
        </p:spPr>
        <p:style>
          <a:lnRef idx="0"/>
          <a:fillRef idx="0"/>
          <a:effectRef idx="0"/>
          <a:fontRef idx="minor"/>
        </p:style>
      </p:sp>
      <p:sp>
        <p:nvSpPr>
          <p:cNvPr id="1009" name="CustomShape 16"/>
          <p:cNvSpPr/>
          <p:nvPr/>
        </p:nvSpPr>
        <p:spPr>
          <a:xfrm>
            <a:off x="3209400" y="3703320"/>
            <a:ext cx="3015000" cy="911880"/>
          </a:xfrm>
          <a:prstGeom prst="roundRect">
            <a:avLst>
              <a:gd name="adj" fmla="val 8000"/>
            </a:avLst>
          </a:prstGeom>
          <a:solidFill>
            <a:srgbClr val="134074"/>
          </a:solidFill>
          <a:ln>
            <a:noFill/>
          </a:ln>
          <a:effectLst>
            <a:outerShdw algn="bl" blurRad="101600" dir="5400000" dist="25560" kx="0" ky="0" rotWithShape="0" sx="100000" sy="100000">
              <a:srgbClr val="000000">
                <a:alpha val="14000"/>
              </a:srgbClr>
            </a:outerShdw>
          </a:effectLst>
        </p:spPr>
        <p:style>
          <a:lnRef idx="0"/>
          <a:fillRef idx="0"/>
          <a:effectRef idx="0"/>
          <a:fontRef idx="minor"/>
        </p:style>
        <p:txBody>
          <a:bodyPr lIns="360" rIns="1080" tIns="1080" bIns="360" anchor="ctr">
            <a:noAutofit/>
          </a:bodyPr>
          <a:p>
            <a:pPr algn="ctr">
              <a:lnSpc>
                <a:spcPct val="100000"/>
              </a:lnSpc>
              <a:tabLst>
                <a:tab algn="l" pos="0"/>
              </a:tabLst>
            </a:pPr>
            <a:r>
              <a:rPr b="1" lang="en-US" sz="1400" spc="-1" strike="noStrike">
                <a:solidFill>
                  <a:srgbClr val="ffffff"/>
                </a:solidFill>
                <a:latin typeface="Calibri"/>
                <a:ea typeface="Calibri"/>
              </a:rPr>
              <a:t>app.usp_Otro</a:t>
            </a:r>
            <a:endParaRPr b="0" lang="es-ES" sz="1400" spc="-1" strike="noStrike">
              <a:latin typeface="Arial"/>
            </a:endParaRPr>
          </a:p>
          <a:p>
            <a:pPr algn="ctr">
              <a:lnSpc>
                <a:spcPct val="100000"/>
              </a:lnSpc>
              <a:tabLst>
                <a:tab algn="l" pos="0"/>
              </a:tabLst>
            </a:pPr>
            <a:r>
              <a:rPr b="1" lang="en-US" sz="1400" spc="-1" strike="noStrike">
                <a:solidFill>
                  <a:srgbClr val="ffffff"/>
                </a:solidFill>
                <a:latin typeface="Calibri"/>
                <a:ea typeface="Calibri"/>
              </a:rPr>
              <a:t>owner: usr_app</a:t>
            </a:r>
            <a:endParaRPr b="0" lang="es-ES" sz="1400" spc="-1" strike="noStrike">
              <a:latin typeface="Arial"/>
            </a:endParaRPr>
          </a:p>
        </p:txBody>
      </p:sp>
      <p:sp>
        <p:nvSpPr>
          <p:cNvPr id="1010" name="Line 17"/>
          <p:cNvSpPr/>
          <p:nvPr/>
        </p:nvSpPr>
        <p:spPr>
          <a:xfrm>
            <a:off x="6263640" y="4160520"/>
            <a:ext cx="301680" cy="0"/>
          </a:xfrm>
          <a:prstGeom prst="line">
            <a:avLst/>
          </a:prstGeom>
          <a:ln w="28440">
            <a:solidFill>
              <a:srgbClr val="5c6b7a"/>
            </a:solidFill>
            <a:round/>
            <a:tailEnd len="med" type="triangle" w="med"/>
          </a:ln>
        </p:spPr>
        <p:style>
          <a:lnRef idx="0"/>
          <a:fillRef idx="0"/>
          <a:effectRef idx="0"/>
          <a:fontRef idx="minor"/>
        </p:style>
      </p:sp>
      <p:sp>
        <p:nvSpPr>
          <p:cNvPr id="1011" name="CustomShape 18"/>
          <p:cNvSpPr/>
          <p:nvPr/>
        </p:nvSpPr>
        <p:spPr>
          <a:xfrm>
            <a:off x="6602040" y="3703320"/>
            <a:ext cx="2374920" cy="911880"/>
          </a:xfrm>
          <a:prstGeom prst="roundRect">
            <a:avLst>
              <a:gd name="adj" fmla="val 8000"/>
            </a:avLst>
          </a:prstGeom>
          <a:solidFill>
            <a:srgbClr val="134074"/>
          </a:solidFill>
          <a:ln>
            <a:noFill/>
          </a:ln>
          <a:effectLst>
            <a:outerShdw algn="bl" blurRad="101600" dir="5400000" dist="25560" kx="0" ky="0" rotWithShape="0" sx="100000" sy="100000">
              <a:srgbClr val="000000">
                <a:alpha val="14000"/>
              </a:srgbClr>
            </a:outerShdw>
          </a:effectLst>
        </p:spPr>
        <p:style>
          <a:lnRef idx="0"/>
          <a:fillRef idx="0"/>
          <a:effectRef idx="0"/>
          <a:fontRef idx="minor"/>
        </p:style>
        <p:txBody>
          <a:bodyPr lIns="360" rIns="1080" tIns="1080" bIns="360" anchor="ctr">
            <a:noAutofit/>
          </a:bodyPr>
          <a:p>
            <a:pPr algn="ctr">
              <a:lnSpc>
                <a:spcPct val="100000"/>
              </a:lnSpc>
              <a:tabLst>
                <a:tab algn="l" pos="0"/>
              </a:tabLst>
            </a:pPr>
            <a:r>
              <a:rPr b="1" lang="en-US" sz="1400" spc="-1" strike="noStrike">
                <a:solidFill>
                  <a:srgbClr val="ffffff"/>
                </a:solidFill>
                <a:latin typeface="Calibri"/>
                <a:ea typeface="Calibri"/>
              </a:rPr>
              <a:t>dbo.Pedido</a:t>
            </a:r>
            <a:endParaRPr b="0" lang="es-ES" sz="1400" spc="-1" strike="noStrike">
              <a:latin typeface="Arial"/>
            </a:endParaRPr>
          </a:p>
          <a:p>
            <a:pPr algn="ctr">
              <a:lnSpc>
                <a:spcPct val="100000"/>
              </a:lnSpc>
              <a:tabLst>
                <a:tab algn="l" pos="0"/>
              </a:tabLst>
            </a:pPr>
            <a:r>
              <a:rPr b="1" lang="en-US" sz="1400" spc="-1" strike="noStrike">
                <a:solidFill>
                  <a:srgbClr val="ffffff"/>
                </a:solidFill>
                <a:latin typeface="Calibri"/>
                <a:ea typeface="Calibri"/>
              </a:rPr>
              <a:t>owner: dbo</a:t>
            </a:r>
            <a:endParaRPr b="0" lang="es-ES" sz="1400" spc="-1" strike="noStrike">
              <a:latin typeface="Arial"/>
            </a:endParaRPr>
          </a:p>
        </p:txBody>
      </p:sp>
      <p:sp>
        <p:nvSpPr>
          <p:cNvPr id="1012" name="Line 19"/>
          <p:cNvSpPr/>
          <p:nvPr/>
        </p:nvSpPr>
        <p:spPr>
          <a:xfrm>
            <a:off x="9015840" y="4160520"/>
            <a:ext cx="301680" cy="0"/>
          </a:xfrm>
          <a:prstGeom prst="line">
            <a:avLst/>
          </a:prstGeom>
          <a:ln w="28440">
            <a:solidFill>
              <a:srgbClr val="5c6b7a"/>
            </a:solidFill>
            <a:round/>
            <a:tailEnd len="med" type="triangle" w="med"/>
          </a:ln>
        </p:spPr>
        <p:style>
          <a:lnRef idx="0"/>
          <a:fillRef idx="0"/>
          <a:effectRef idx="0"/>
          <a:fontRef idx="minor"/>
        </p:style>
      </p:sp>
      <p:sp>
        <p:nvSpPr>
          <p:cNvPr id="1013" name="CustomShape 20"/>
          <p:cNvSpPr/>
          <p:nvPr/>
        </p:nvSpPr>
        <p:spPr>
          <a:xfrm>
            <a:off x="9354240" y="3703320"/>
            <a:ext cx="2283480" cy="911880"/>
          </a:xfrm>
          <a:prstGeom prst="roundRect">
            <a:avLst>
              <a:gd name="adj" fmla="val 8000"/>
            </a:avLst>
          </a:prstGeom>
          <a:solidFill>
            <a:srgbClr val="d95d39"/>
          </a:solidFill>
          <a:ln>
            <a:noFill/>
          </a:ln>
          <a:effectLst>
            <a:outerShdw algn="bl" blurRad="101600" dir="5400000" dist="25560" kx="0" ky="0" rotWithShape="0" sx="100000" sy="100000">
              <a:srgbClr val="000000">
                <a:alpha val="14000"/>
              </a:srgbClr>
            </a:outerShdw>
          </a:effectLst>
        </p:spPr>
        <p:style>
          <a:lnRef idx="0"/>
          <a:fillRef idx="0"/>
          <a:effectRef idx="0"/>
          <a:fontRef idx="minor"/>
        </p:style>
        <p:txBody>
          <a:bodyPr lIns="360" rIns="1080" tIns="1080" bIns="360" anchor="ctr">
            <a:noAutofit/>
          </a:bodyPr>
          <a:p>
            <a:pPr algn="ctr">
              <a:lnSpc>
                <a:spcPct val="100000"/>
              </a:lnSpc>
              <a:tabLst>
                <a:tab algn="l" pos="0"/>
              </a:tabLst>
            </a:pPr>
            <a:r>
              <a:rPr b="1" lang="en-US" sz="1400" spc="-1" strike="noStrike">
                <a:solidFill>
                  <a:srgbClr val="ffffff"/>
                </a:solidFill>
                <a:latin typeface="Calibri"/>
                <a:ea typeface="Calibri"/>
              </a:rPr>
              <a:t>Se exige permiso</a:t>
            </a:r>
            <a:endParaRPr b="0" lang="es-ES" sz="1400" spc="-1" strike="noStrike">
              <a:latin typeface="Arial"/>
            </a:endParaRPr>
          </a:p>
          <a:p>
            <a:pPr algn="ctr">
              <a:lnSpc>
                <a:spcPct val="100000"/>
              </a:lnSpc>
              <a:tabLst>
                <a:tab algn="l" pos="0"/>
              </a:tabLst>
            </a:pPr>
            <a:r>
              <a:rPr b="1" lang="en-US" sz="1400" spc="-1" strike="noStrike">
                <a:solidFill>
                  <a:srgbClr val="ffffff"/>
                </a:solidFill>
                <a:latin typeface="Calibri"/>
                <a:ea typeface="Calibri"/>
              </a:rPr>
              <a:t>sobre la tabla</a:t>
            </a:r>
            <a:endParaRPr b="0" lang="es-ES" sz="1400" spc="-1" strike="noStrike">
              <a:latin typeface="Arial"/>
            </a:endParaRPr>
          </a:p>
        </p:txBody>
      </p:sp>
      <p:sp>
        <p:nvSpPr>
          <p:cNvPr id="1014" name="CustomShape 21"/>
          <p:cNvSpPr/>
          <p:nvPr/>
        </p:nvSpPr>
        <p:spPr>
          <a:xfrm>
            <a:off x="548640" y="5029200"/>
            <a:ext cx="5392440" cy="1140480"/>
          </a:xfrm>
          <a:prstGeom prst="roundRect">
            <a:avLst>
              <a:gd name="adj" fmla="val 9600"/>
            </a:avLst>
          </a:prstGeom>
          <a:solidFill>
            <a:srgbClr val="e8eef5"/>
          </a:solidFill>
          <a:ln>
            <a:noFill/>
          </a:ln>
        </p:spPr>
        <p:style>
          <a:lnRef idx="0"/>
          <a:fillRef idx="0"/>
          <a:effectRef idx="0"/>
          <a:fontRef idx="minor"/>
        </p:style>
      </p:sp>
      <p:sp>
        <p:nvSpPr>
          <p:cNvPr id="1015" name="CustomShape 22"/>
          <p:cNvSpPr/>
          <p:nvPr/>
        </p:nvSpPr>
        <p:spPr>
          <a:xfrm>
            <a:off x="731520" y="5372280"/>
            <a:ext cx="454680" cy="454680"/>
          </a:xfrm>
          <a:prstGeom prst="ellipse">
            <a:avLst/>
          </a:prstGeom>
          <a:solidFill>
            <a:srgbClr val="134074"/>
          </a:solidFill>
          <a:ln>
            <a:noFill/>
          </a:ln>
        </p:spPr>
        <p:style>
          <a:lnRef idx="0"/>
          <a:fillRef idx="0"/>
          <a:effectRef idx="0"/>
          <a:fontRef idx="minor"/>
        </p:style>
      </p:sp>
      <p:pic>
        <p:nvPicPr>
          <p:cNvPr id="1016" name="Image 0" descr="preencoded.png"/>
          <p:cNvPicPr/>
          <p:nvPr/>
        </p:nvPicPr>
        <p:blipFill>
          <a:blip r:embed="rId1"/>
          <a:stretch/>
        </p:blipFill>
        <p:spPr>
          <a:xfrm>
            <a:off x="846000" y="5486400"/>
            <a:ext cx="226080" cy="226080"/>
          </a:xfrm>
          <a:prstGeom prst="rect">
            <a:avLst/>
          </a:prstGeom>
          <a:ln>
            <a:noFill/>
          </a:ln>
        </p:spPr>
      </p:pic>
      <p:sp>
        <p:nvSpPr>
          <p:cNvPr id="1017" name="CustomShape 23"/>
          <p:cNvSpPr/>
          <p:nvPr/>
        </p:nvSpPr>
        <p:spPr>
          <a:xfrm>
            <a:off x="1371600" y="5029200"/>
            <a:ext cx="4386600" cy="11404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2545"/>
                </a:solidFill>
                <a:latin typeface="Calibri"/>
                <a:ea typeface="Calibri"/>
              </a:rPr>
              <a:t>Utilidad: </a:t>
            </a:r>
            <a:r>
              <a:rPr b="0" lang="en-US" sz="1400" spc="-1" strike="noStrike">
                <a:solidFill>
                  <a:srgbClr val="1f2933"/>
                </a:solidFill>
                <a:latin typeface="Calibri"/>
                <a:ea typeface="Calibri"/>
              </a:rPr>
              <a:t>da EXECUTE sobre el procedimiento, no acceso a las tablas: es una API controlada.</a:t>
            </a:r>
            <a:endParaRPr b="0" lang="es-ES" sz="1400" spc="-1" strike="noStrike">
              <a:latin typeface="Arial"/>
            </a:endParaRPr>
          </a:p>
        </p:txBody>
      </p:sp>
      <p:sp>
        <p:nvSpPr>
          <p:cNvPr id="1018" name="CustomShape 24"/>
          <p:cNvSpPr/>
          <p:nvPr/>
        </p:nvSpPr>
        <p:spPr>
          <a:xfrm>
            <a:off x="6245280" y="5029200"/>
            <a:ext cx="5392440" cy="1140480"/>
          </a:xfrm>
          <a:prstGeom prst="roundRect">
            <a:avLst>
              <a:gd name="adj" fmla="val 9600"/>
            </a:avLst>
          </a:prstGeom>
          <a:solidFill>
            <a:srgbClr val="fdede8"/>
          </a:solidFill>
          <a:ln>
            <a:noFill/>
          </a:ln>
        </p:spPr>
        <p:style>
          <a:lnRef idx="0"/>
          <a:fillRef idx="0"/>
          <a:effectRef idx="0"/>
          <a:fontRef idx="minor"/>
        </p:style>
      </p:sp>
      <p:sp>
        <p:nvSpPr>
          <p:cNvPr id="1019" name="CustomShape 25"/>
          <p:cNvSpPr/>
          <p:nvPr/>
        </p:nvSpPr>
        <p:spPr>
          <a:xfrm>
            <a:off x="6428160" y="5372280"/>
            <a:ext cx="454680" cy="454680"/>
          </a:xfrm>
          <a:prstGeom prst="ellipse">
            <a:avLst/>
          </a:prstGeom>
          <a:solidFill>
            <a:srgbClr val="d95d39"/>
          </a:solidFill>
          <a:ln>
            <a:noFill/>
          </a:ln>
        </p:spPr>
        <p:style>
          <a:lnRef idx="0"/>
          <a:fillRef idx="0"/>
          <a:effectRef idx="0"/>
          <a:fontRef idx="minor"/>
        </p:style>
      </p:sp>
      <p:pic>
        <p:nvPicPr>
          <p:cNvPr id="1020" name="Image 1" descr="preencoded.png"/>
          <p:cNvPicPr/>
          <p:nvPr/>
        </p:nvPicPr>
        <p:blipFill>
          <a:blip r:embed="rId2"/>
          <a:stretch/>
        </p:blipFill>
        <p:spPr>
          <a:xfrm>
            <a:off x="6542640" y="5486400"/>
            <a:ext cx="226080" cy="226080"/>
          </a:xfrm>
          <a:prstGeom prst="rect">
            <a:avLst/>
          </a:prstGeom>
          <a:ln>
            <a:noFill/>
          </a:ln>
        </p:spPr>
      </p:pic>
      <p:sp>
        <p:nvSpPr>
          <p:cNvPr id="1021" name="CustomShape 26"/>
          <p:cNvSpPr/>
          <p:nvPr/>
        </p:nvSpPr>
        <p:spPr>
          <a:xfrm>
            <a:off x="7068240" y="5029200"/>
            <a:ext cx="4386600" cy="11404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a8431f"/>
                </a:solidFill>
                <a:latin typeface="Calibri"/>
                <a:ea typeface="Calibri"/>
              </a:rPr>
              <a:t>Límites: </a:t>
            </a:r>
            <a:r>
              <a:rPr b="0" lang="en-US" sz="1400" spc="-1" strike="noStrike">
                <a:solidFill>
                  <a:srgbClr val="1f2933"/>
                </a:solidFill>
                <a:latin typeface="Calibri"/>
                <a:ea typeface="Calibri"/>
              </a:rPr>
              <a:t>el SQL dinámico rompe la cadena; entre bases de datos exige DB_CHAINING.</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022" name="CustomShape 1"/>
          <p:cNvSpPr/>
          <p:nvPr/>
        </p:nvSpPr>
        <p:spPr>
          <a:xfrm>
            <a:off x="548640" y="365760"/>
            <a:ext cx="184464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BUENAS PRÁCTICAS</a:t>
            </a:r>
            <a:endParaRPr b="0" lang="es-ES" sz="1000" spc="-1" strike="noStrike">
              <a:latin typeface="Arial"/>
            </a:endParaRPr>
          </a:p>
        </p:txBody>
      </p:sp>
      <p:sp>
        <p:nvSpPr>
          <p:cNvPr id="1023"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Mínimo privilegio y auditoría básica</a:t>
            </a:r>
            <a:endParaRPr b="0" lang="es-ES" sz="3400" spc="-1" strike="noStrike">
              <a:latin typeface="Arial"/>
            </a:endParaRPr>
          </a:p>
        </p:txBody>
      </p:sp>
      <p:sp>
        <p:nvSpPr>
          <p:cNvPr id="1024"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025"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2   41</a:t>
            </a:r>
            <a:endParaRPr b="0" lang="es-ES" sz="1000" spc="-1" strike="noStrike">
              <a:latin typeface="Arial"/>
            </a:endParaRPr>
          </a:p>
        </p:txBody>
      </p:sp>
      <p:sp>
        <p:nvSpPr>
          <p:cNvPr id="1026" name="CustomShape 5"/>
          <p:cNvSpPr/>
          <p:nvPr/>
        </p:nvSpPr>
        <p:spPr>
          <a:xfrm>
            <a:off x="548640" y="1600200"/>
            <a:ext cx="5392440" cy="2740680"/>
          </a:xfrm>
          <a:prstGeom prst="roundRect">
            <a:avLst>
              <a:gd name="adj" fmla="val 4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027" name="CustomShape 6"/>
          <p:cNvSpPr/>
          <p:nvPr/>
        </p:nvSpPr>
        <p:spPr>
          <a:xfrm>
            <a:off x="777240" y="1828800"/>
            <a:ext cx="546120" cy="546120"/>
          </a:xfrm>
          <a:prstGeom prst="ellipse">
            <a:avLst/>
          </a:prstGeom>
          <a:solidFill>
            <a:srgbClr val="134074"/>
          </a:solidFill>
          <a:ln>
            <a:noFill/>
          </a:ln>
        </p:spPr>
        <p:style>
          <a:lnRef idx="0"/>
          <a:fillRef idx="0"/>
          <a:effectRef idx="0"/>
          <a:fontRef idx="minor"/>
        </p:style>
      </p:sp>
      <p:pic>
        <p:nvPicPr>
          <p:cNvPr id="1028" name="Image 0" descr="preencoded.png"/>
          <p:cNvPicPr/>
          <p:nvPr/>
        </p:nvPicPr>
        <p:blipFill>
          <a:blip r:embed="rId1"/>
          <a:stretch/>
        </p:blipFill>
        <p:spPr>
          <a:xfrm>
            <a:off x="914400" y="1965960"/>
            <a:ext cx="271800" cy="271800"/>
          </a:xfrm>
          <a:prstGeom prst="rect">
            <a:avLst/>
          </a:prstGeom>
          <a:ln>
            <a:noFill/>
          </a:ln>
        </p:spPr>
      </p:pic>
      <p:sp>
        <p:nvSpPr>
          <p:cNvPr id="1029" name="CustomShape 7"/>
          <p:cNvSpPr/>
          <p:nvPr/>
        </p:nvSpPr>
        <p:spPr>
          <a:xfrm>
            <a:off x="1463040" y="1828800"/>
            <a:ext cx="424944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Mínimo privilegio</a:t>
            </a:r>
            <a:endParaRPr b="0" lang="es-ES" sz="1700" spc="-1" strike="noStrike">
              <a:latin typeface="Arial"/>
            </a:endParaRPr>
          </a:p>
        </p:txBody>
      </p:sp>
      <p:sp>
        <p:nvSpPr>
          <p:cNvPr id="1030" name="CustomShape 8"/>
          <p:cNvSpPr/>
          <p:nvPr/>
        </p:nvSpPr>
        <p:spPr>
          <a:xfrm>
            <a:off x="777240" y="2560320"/>
            <a:ext cx="4935240" cy="155196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Permisos a roles, no a usuarios sueltos</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GRANT sobre schemas o procedimientos</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Cuentas de aplicación ≠ administración</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sa deshabilitada y sysadmin revisado</a:t>
            </a:r>
            <a:endParaRPr b="0" lang="es-ES" sz="1400" spc="-1" strike="noStrike">
              <a:latin typeface="Arial"/>
            </a:endParaRPr>
          </a:p>
        </p:txBody>
      </p:sp>
      <p:sp>
        <p:nvSpPr>
          <p:cNvPr id="1031" name="CustomShape 9"/>
          <p:cNvSpPr/>
          <p:nvPr/>
        </p:nvSpPr>
        <p:spPr>
          <a:xfrm>
            <a:off x="6245280" y="1600200"/>
            <a:ext cx="5392440" cy="2740680"/>
          </a:xfrm>
          <a:prstGeom prst="roundRect">
            <a:avLst>
              <a:gd name="adj" fmla="val 4000"/>
            </a:avLst>
          </a:prstGeom>
          <a:solidFill>
            <a:srgbClr val="134074"/>
          </a:solidFill>
          <a:ln>
            <a:noFill/>
          </a:ln>
        </p:spPr>
        <p:style>
          <a:lnRef idx="0"/>
          <a:fillRef idx="0"/>
          <a:effectRef idx="0"/>
          <a:fontRef idx="minor"/>
        </p:style>
      </p:sp>
      <p:sp>
        <p:nvSpPr>
          <p:cNvPr id="1032" name="CustomShape 10"/>
          <p:cNvSpPr/>
          <p:nvPr/>
        </p:nvSpPr>
        <p:spPr>
          <a:xfrm>
            <a:off x="6473880" y="1828800"/>
            <a:ext cx="546120" cy="546120"/>
          </a:xfrm>
          <a:prstGeom prst="ellipse">
            <a:avLst/>
          </a:prstGeom>
          <a:solidFill>
            <a:srgbClr val="d95d39"/>
          </a:solidFill>
          <a:ln>
            <a:noFill/>
          </a:ln>
        </p:spPr>
        <p:style>
          <a:lnRef idx="0"/>
          <a:fillRef idx="0"/>
          <a:effectRef idx="0"/>
          <a:fontRef idx="minor"/>
        </p:style>
      </p:sp>
      <p:pic>
        <p:nvPicPr>
          <p:cNvPr id="1033" name="Image 1" descr="preencoded.png"/>
          <p:cNvPicPr/>
          <p:nvPr/>
        </p:nvPicPr>
        <p:blipFill>
          <a:blip r:embed="rId2"/>
          <a:stretch/>
        </p:blipFill>
        <p:spPr>
          <a:xfrm>
            <a:off x="6611040" y="1965960"/>
            <a:ext cx="271800" cy="271800"/>
          </a:xfrm>
          <a:prstGeom prst="rect">
            <a:avLst/>
          </a:prstGeom>
          <a:ln>
            <a:noFill/>
          </a:ln>
        </p:spPr>
      </p:pic>
      <p:sp>
        <p:nvSpPr>
          <p:cNvPr id="1034" name="CustomShape 11"/>
          <p:cNvSpPr/>
          <p:nvPr/>
        </p:nvSpPr>
        <p:spPr>
          <a:xfrm>
            <a:off x="7159680" y="1828800"/>
            <a:ext cx="424944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ffffff"/>
                </a:solidFill>
                <a:latin typeface="Calibri"/>
                <a:ea typeface="Calibri"/>
              </a:rPr>
              <a:t>Auditoría básica</a:t>
            </a:r>
            <a:endParaRPr b="0" lang="es-ES" sz="1700" spc="-1" strike="noStrike">
              <a:latin typeface="Arial"/>
            </a:endParaRPr>
          </a:p>
        </p:txBody>
      </p:sp>
      <p:sp>
        <p:nvSpPr>
          <p:cNvPr id="1035" name="CustomShape 12"/>
          <p:cNvSpPr/>
          <p:nvPr/>
        </p:nvSpPr>
        <p:spPr>
          <a:xfrm>
            <a:off x="6473880" y="2560320"/>
            <a:ext cx="4935240" cy="155196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e6eef8"/>
              </a:buClr>
              <a:buFont typeface="Symbol"/>
              <a:buChar char=""/>
            </a:pPr>
            <a:r>
              <a:rPr b="0" lang="en-US" sz="1400" spc="-1" strike="noStrike">
                <a:solidFill>
                  <a:srgbClr val="e6eef8"/>
                </a:solidFill>
                <a:latin typeface="Calibri"/>
                <a:ea typeface="Calibri"/>
              </a:rPr>
              <a:t>SQL Server Audit a archivo o Event Log</a:t>
            </a:r>
            <a:endParaRPr b="0" lang="es-ES" sz="1400" spc="-1" strike="noStrike">
              <a:latin typeface="Arial"/>
            </a:endParaRPr>
          </a:p>
          <a:p>
            <a:pPr marL="203040" indent="-200520">
              <a:lnSpc>
                <a:spcPct val="100000"/>
              </a:lnSpc>
              <a:spcAft>
                <a:spcPts val="400"/>
              </a:spcAft>
              <a:buClr>
                <a:srgbClr val="e6eef8"/>
              </a:buClr>
              <a:buFont typeface="Symbol"/>
              <a:buChar char=""/>
            </a:pPr>
            <a:r>
              <a:rPr b="0" lang="en-US" sz="1400" spc="-1" strike="noStrike">
                <a:solidFill>
                  <a:srgbClr val="e6eef8"/>
                </a:solidFill>
                <a:latin typeface="Calibri"/>
                <a:ea typeface="Calibri"/>
              </a:rPr>
              <a:t>Login auditing: fallos y éxitos</a:t>
            </a:r>
            <a:endParaRPr b="0" lang="es-ES" sz="1400" spc="-1" strike="noStrike">
              <a:latin typeface="Arial"/>
            </a:endParaRPr>
          </a:p>
          <a:p>
            <a:pPr marL="203040" indent="-200520">
              <a:lnSpc>
                <a:spcPct val="100000"/>
              </a:lnSpc>
              <a:spcAft>
                <a:spcPts val="400"/>
              </a:spcAft>
              <a:buClr>
                <a:srgbClr val="e6eef8"/>
              </a:buClr>
              <a:buFont typeface="Symbol"/>
              <a:buChar char=""/>
            </a:pPr>
            <a:r>
              <a:rPr b="0" lang="en-US" sz="1400" spc="-1" strike="noStrike">
                <a:solidFill>
                  <a:srgbClr val="e6eef8"/>
                </a:solidFill>
                <a:latin typeface="Calibri"/>
                <a:ea typeface="Calibri"/>
              </a:rPr>
              <a:t>DMVs: sys.dm_exec_sessions, sys.server_principals</a:t>
            </a:r>
            <a:endParaRPr b="0" lang="es-ES" sz="1400" spc="-1" strike="noStrike">
              <a:latin typeface="Arial"/>
            </a:endParaRPr>
          </a:p>
          <a:p>
            <a:pPr marL="203040" indent="-200520">
              <a:lnSpc>
                <a:spcPct val="100000"/>
              </a:lnSpc>
              <a:spcAft>
                <a:spcPts val="400"/>
              </a:spcAft>
              <a:buClr>
                <a:srgbClr val="e6eef8"/>
              </a:buClr>
              <a:buFont typeface="Symbol"/>
              <a:buChar char=""/>
            </a:pPr>
            <a:r>
              <a:rPr b="0" lang="en-US" sz="1400" spc="-1" strike="noStrike">
                <a:solidFill>
                  <a:srgbClr val="e6eef8"/>
                </a:solidFill>
                <a:latin typeface="Calibri"/>
                <a:ea typeface="Calibri"/>
              </a:rPr>
              <a:t>Triggers DDL / Extended Events</a:t>
            </a:r>
            <a:endParaRPr b="0" lang="es-ES" sz="1400" spc="-1" strike="noStrike">
              <a:latin typeface="Arial"/>
            </a:endParaRPr>
          </a:p>
        </p:txBody>
      </p:sp>
      <p:sp>
        <p:nvSpPr>
          <p:cNvPr id="1036" name="CustomShape 13"/>
          <p:cNvSpPr/>
          <p:nvPr/>
        </p:nvSpPr>
        <p:spPr>
          <a:xfrm>
            <a:off x="548640" y="4617720"/>
            <a:ext cx="7221240" cy="1551960"/>
          </a:xfrm>
          <a:prstGeom prst="roundRect">
            <a:avLst>
              <a:gd name="adj" fmla="val 5882"/>
            </a:avLst>
          </a:prstGeom>
          <a:solidFill>
            <a:srgbClr val="eceff3"/>
          </a:solidFill>
          <a:ln w="9360">
            <a:solidFill>
              <a:srgbClr val="d0d7de"/>
            </a:solidFill>
            <a:round/>
          </a:ln>
        </p:spPr>
        <p:style>
          <a:lnRef idx="0"/>
          <a:fillRef idx="0"/>
          <a:effectRef idx="0"/>
          <a:fontRef idx="minor"/>
        </p:style>
      </p:sp>
      <p:sp>
        <p:nvSpPr>
          <p:cNvPr id="1037" name="CustomShape 14"/>
          <p:cNvSpPr/>
          <p:nvPr/>
        </p:nvSpPr>
        <p:spPr>
          <a:xfrm>
            <a:off x="731520" y="470916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SQL Server Audit</a:t>
            </a:r>
            <a:endParaRPr b="0" lang="es-ES" sz="1000" spc="-1" strike="noStrike">
              <a:latin typeface="Arial"/>
            </a:endParaRPr>
          </a:p>
        </p:txBody>
      </p:sp>
      <p:sp>
        <p:nvSpPr>
          <p:cNvPr id="1038" name="CustomShape 15"/>
          <p:cNvSpPr/>
          <p:nvPr/>
        </p:nvSpPr>
        <p:spPr>
          <a:xfrm>
            <a:off x="731520" y="4983480"/>
            <a:ext cx="6855480" cy="109476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CREATE</a:t>
            </a:r>
            <a:r>
              <a:rPr b="0" lang="en-US" sz="1200" spc="-1" strike="noStrike">
                <a:solidFill>
                  <a:srgbClr val="1f2933"/>
                </a:solidFill>
                <a:latin typeface="Consolas"/>
                <a:ea typeface="Consolas"/>
              </a:rPr>
              <a:t> SERVER AUDIT Aud_Seguridad</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TO </a:t>
            </a:r>
            <a:r>
              <a:rPr b="1" lang="en-US" sz="1200" spc="-1" strike="noStrike">
                <a:solidFill>
                  <a:srgbClr val="1d4ed8"/>
                </a:solidFill>
                <a:latin typeface="Consolas"/>
                <a:ea typeface="Consolas"/>
              </a:rPr>
              <a:t>FILE</a:t>
            </a:r>
            <a:r>
              <a:rPr b="0" lang="en-US" sz="1200" spc="-1" strike="noStrike">
                <a:solidFill>
                  <a:srgbClr val="1f2933"/>
                </a:solidFill>
                <a:latin typeface="Consolas"/>
                <a:ea typeface="Consolas"/>
              </a:rPr>
              <a:t> (FILEPATH = </a:t>
            </a:r>
            <a:r>
              <a:rPr b="0" lang="en-US" sz="1200" spc="-1" strike="noStrike">
                <a:solidFill>
                  <a:srgbClr val="b4441f"/>
                </a:solidFill>
                <a:latin typeface="Consolas"/>
                <a:ea typeface="Consolas"/>
              </a:rPr>
              <a:t>N'/var/opt/mssql/audit/'</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CREATE</a:t>
            </a:r>
            <a:r>
              <a:rPr b="0" lang="en-US" sz="1200" spc="-1" strike="noStrike">
                <a:solidFill>
                  <a:srgbClr val="1f2933"/>
                </a:solidFill>
                <a:latin typeface="Consolas"/>
                <a:ea typeface="Consolas"/>
              </a:rPr>
              <a:t> SERVER AUDIT SPECIFICATION Aud_Seg_Spec</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FOR</a:t>
            </a:r>
            <a:r>
              <a:rPr b="0" lang="en-US" sz="1200" spc="-1" strike="noStrike">
                <a:solidFill>
                  <a:srgbClr val="1f2933"/>
                </a:solidFill>
                <a:latin typeface="Consolas"/>
                <a:ea typeface="Consolas"/>
              </a:rPr>
              <a:t> SERVER AUDIT Aud_Seguridad</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ADD</a:t>
            </a:r>
            <a:r>
              <a:rPr b="0" lang="en-US" sz="1200" spc="-1" strike="noStrike">
                <a:solidFill>
                  <a:srgbClr val="1f2933"/>
                </a:solidFill>
                <a:latin typeface="Consolas"/>
                <a:ea typeface="Consolas"/>
              </a:rPr>
              <a:t> (FAILED_LOGIN_GROUP) </a:t>
            </a: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(STATE =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ALTER</a:t>
            </a:r>
            <a:r>
              <a:rPr b="0" lang="en-US" sz="1200" spc="-1" strike="noStrike">
                <a:solidFill>
                  <a:srgbClr val="1f2933"/>
                </a:solidFill>
                <a:latin typeface="Consolas"/>
                <a:ea typeface="Consolas"/>
              </a:rPr>
              <a:t> SERVER AUDIT Aud_Seguridad </a:t>
            </a: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(STATE =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a:t>
            </a:r>
            <a:endParaRPr b="0" lang="es-ES" sz="1200" spc="-1" strike="noStrike">
              <a:latin typeface="Arial"/>
            </a:endParaRPr>
          </a:p>
        </p:txBody>
      </p:sp>
      <p:sp>
        <p:nvSpPr>
          <p:cNvPr id="1039" name="CustomShape 16"/>
          <p:cNvSpPr/>
          <p:nvPr/>
        </p:nvSpPr>
        <p:spPr>
          <a:xfrm>
            <a:off x="8046720" y="4617720"/>
            <a:ext cx="3591000" cy="1551960"/>
          </a:xfrm>
          <a:prstGeom prst="roundRect">
            <a:avLst>
              <a:gd name="adj" fmla="val 7059"/>
            </a:avLst>
          </a:prstGeom>
          <a:solidFill>
            <a:srgbClr val="e8eef5"/>
          </a:solidFill>
          <a:ln>
            <a:noFill/>
          </a:ln>
        </p:spPr>
        <p:style>
          <a:lnRef idx="0"/>
          <a:fillRef idx="0"/>
          <a:effectRef idx="0"/>
          <a:fontRef idx="minor"/>
        </p:style>
      </p:sp>
      <p:sp>
        <p:nvSpPr>
          <p:cNvPr id="1040" name="CustomShape 17"/>
          <p:cNvSpPr/>
          <p:nvPr/>
        </p:nvSpPr>
        <p:spPr>
          <a:xfrm>
            <a:off x="8229600" y="5166360"/>
            <a:ext cx="454680" cy="454680"/>
          </a:xfrm>
          <a:prstGeom prst="ellipse">
            <a:avLst/>
          </a:prstGeom>
          <a:solidFill>
            <a:srgbClr val="134074"/>
          </a:solidFill>
          <a:ln>
            <a:noFill/>
          </a:ln>
        </p:spPr>
        <p:style>
          <a:lnRef idx="0"/>
          <a:fillRef idx="0"/>
          <a:effectRef idx="0"/>
          <a:fontRef idx="minor"/>
        </p:style>
      </p:sp>
      <p:pic>
        <p:nvPicPr>
          <p:cNvPr id="1041" name="Image 2" descr="preencoded.png"/>
          <p:cNvPicPr/>
          <p:nvPr/>
        </p:nvPicPr>
        <p:blipFill>
          <a:blip r:embed="rId3"/>
          <a:stretch/>
        </p:blipFill>
        <p:spPr>
          <a:xfrm>
            <a:off x="8344080" y="5280840"/>
            <a:ext cx="226080" cy="226080"/>
          </a:xfrm>
          <a:prstGeom prst="rect">
            <a:avLst/>
          </a:prstGeom>
          <a:ln>
            <a:noFill/>
          </a:ln>
        </p:spPr>
      </p:pic>
      <p:sp>
        <p:nvSpPr>
          <p:cNvPr id="1042" name="CustomShape 18"/>
          <p:cNvSpPr/>
          <p:nvPr/>
        </p:nvSpPr>
        <p:spPr>
          <a:xfrm>
            <a:off x="8869680" y="4617720"/>
            <a:ext cx="2585160" cy="155196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2545"/>
                </a:solidFill>
                <a:latin typeface="Calibri"/>
                <a:ea typeface="Calibri"/>
              </a:rPr>
              <a:t>Lectura: </a:t>
            </a:r>
            <a:r>
              <a:rPr b="0" lang="en-US" sz="1400" spc="-1" strike="noStrike">
                <a:solidFill>
                  <a:srgbClr val="1f2933"/>
                </a:solidFill>
                <a:latin typeface="Calibri"/>
                <a:ea typeface="Calibri"/>
              </a:rPr>
              <a:t>consulta los eventos con sys.fn_get_audit_file.</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043" name="CustomShape 1"/>
          <p:cNvSpPr/>
          <p:nvPr/>
        </p:nvSpPr>
        <p:spPr>
          <a:xfrm>
            <a:off x="548640" y="365760"/>
            <a:ext cx="2365920" cy="271800"/>
          </a:xfrm>
          <a:prstGeom prst="roundRect">
            <a:avLst>
              <a:gd name="adj" fmla="val 50000"/>
            </a:avLst>
          </a:prstGeom>
          <a:solidFill>
            <a:srgbClr val="d95d39"/>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LABORATORIO · PERMISOS</a:t>
            </a:r>
            <a:endParaRPr b="0" lang="es-ES" sz="1000" spc="-1" strike="noStrike">
              <a:latin typeface="Arial"/>
            </a:endParaRPr>
          </a:p>
        </p:txBody>
      </p:sp>
      <p:sp>
        <p:nvSpPr>
          <p:cNvPr id="1044"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Laboratorio 2B: permisos segregados</a:t>
            </a:r>
            <a:endParaRPr b="0" lang="es-ES" sz="3400" spc="-1" strike="noStrike">
              <a:latin typeface="Arial"/>
            </a:endParaRPr>
          </a:p>
        </p:txBody>
      </p:sp>
      <p:sp>
        <p:nvSpPr>
          <p:cNvPr id="1045"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046"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2   42</a:t>
            </a:r>
            <a:endParaRPr b="0" lang="es-ES" sz="1000" spc="-1" strike="noStrike">
              <a:latin typeface="Arial"/>
            </a:endParaRPr>
          </a:p>
        </p:txBody>
      </p:sp>
      <p:sp>
        <p:nvSpPr>
          <p:cNvPr id="1047" name="CustomShape 5"/>
          <p:cNvSpPr/>
          <p:nvPr/>
        </p:nvSpPr>
        <p:spPr>
          <a:xfrm>
            <a:off x="548640" y="1600200"/>
            <a:ext cx="2530440" cy="2694960"/>
          </a:xfrm>
          <a:prstGeom prst="roundRect">
            <a:avLst>
              <a:gd name="adj" fmla="val 4332"/>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048" name="CustomShape 6"/>
          <p:cNvSpPr/>
          <p:nvPr/>
        </p:nvSpPr>
        <p:spPr>
          <a:xfrm>
            <a:off x="777240" y="1828800"/>
            <a:ext cx="500400" cy="500400"/>
          </a:xfrm>
          <a:prstGeom prst="ellipse">
            <a:avLst/>
          </a:prstGeom>
          <a:solidFill>
            <a:srgbClr val="134074"/>
          </a:solidFill>
          <a:ln>
            <a:noFill/>
          </a:ln>
        </p:spPr>
        <p:style>
          <a:lnRef idx="0"/>
          <a:fillRef idx="0"/>
          <a:effectRef idx="0"/>
          <a:fontRef idx="minor"/>
        </p:style>
      </p:sp>
      <p:sp>
        <p:nvSpPr>
          <p:cNvPr id="1049" name="CustomShape 7"/>
          <p:cNvSpPr/>
          <p:nvPr/>
        </p:nvSpPr>
        <p:spPr>
          <a:xfrm>
            <a:off x="77724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1</a:t>
            </a:r>
            <a:endParaRPr b="0" lang="es-ES" sz="1800" spc="-1" strike="noStrike">
              <a:latin typeface="Arial"/>
            </a:endParaRPr>
          </a:p>
        </p:txBody>
      </p:sp>
      <p:sp>
        <p:nvSpPr>
          <p:cNvPr id="1050" name="CustomShape 8"/>
          <p:cNvSpPr/>
          <p:nvPr/>
        </p:nvSpPr>
        <p:spPr>
          <a:xfrm>
            <a:off x="777240" y="2468880"/>
            <a:ext cx="207324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Crear principals</a:t>
            </a:r>
            <a:endParaRPr b="0" lang="es-ES" sz="1600" spc="-1" strike="noStrike">
              <a:latin typeface="Arial"/>
            </a:endParaRPr>
          </a:p>
        </p:txBody>
      </p:sp>
      <p:sp>
        <p:nvSpPr>
          <p:cNvPr id="1051" name="CustomShape 9"/>
          <p:cNvSpPr/>
          <p:nvPr/>
        </p:nvSpPr>
        <p:spPr>
          <a:xfrm>
            <a:off x="777240" y="3154680"/>
            <a:ext cx="2073240" cy="1049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Dos logins, sus users en Ventas y los schemas rpt y app.</a:t>
            </a:r>
            <a:endParaRPr b="0" lang="es-ES" sz="1400" spc="-1" strike="noStrike">
              <a:latin typeface="Arial"/>
            </a:endParaRPr>
          </a:p>
        </p:txBody>
      </p:sp>
      <p:sp>
        <p:nvSpPr>
          <p:cNvPr id="1052" name="CustomShape 10"/>
          <p:cNvSpPr/>
          <p:nvPr/>
        </p:nvSpPr>
        <p:spPr>
          <a:xfrm>
            <a:off x="3117960" y="1947600"/>
            <a:ext cx="24444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1053" name="CustomShape 11"/>
          <p:cNvSpPr/>
          <p:nvPr/>
        </p:nvSpPr>
        <p:spPr>
          <a:xfrm>
            <a:off x="3401640" y="1600200"/>
            <a:ext cx="2530440" cy="2694960"/>
          </a:xfrm>
          <a:prstGeom prst="roundRect">
            <a:avLst>
              <a:gd name="adj" fmla="val 4332"/>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054" name="CustomShape 12"/>
          <p:cNvSpPr/>
          <p:nvPr/>
        </p:nvSpPr>
        <p:spPr>
          <a:xfrm>
            <a:off x="3630240" y="1828800"/>
            <a:ext cx="500400" cy="500400"/>
          </a:xfrm>
          <a:prstGeom prst="ellipse">
            <a:avLst/>
          </a:prstGeom>
          <a:solidFill>
            <a:srgbClr val="134074"/>
          </a:solidFill>
          <a:ln>
            <a:noFill/>
          </a:ln>
        </p:spPr>
        <p:style>
          <a:lnRef idx="0"/>
          <a:fillRef idx="0"/>
          <a:effectRef idx="0"/>
          <a:fontRef idx="minor"/>
        </p:style>
      </p:sp>
      <p:sp>
        <p:nvSpPr>
          <p:cNvPr id="1055" name="CustomShape 13"/>
          <p:cNvSpPr/>
          <p:nvPr/>
        </p:nvSpPr>
        <p:spPr>
          <a:xfrm>
            <a:off x="363024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2</a:t>
            </a:r>
            <a:endParaRPr b="0" lang="es-ES" sz="1800" spc="-1" strike="noStrike">
              <a:latin typeface="Arial"/>
            </a:endParaRPr>
          </a:p>
        </p:txBody>
      </p:sp>
      <p:sp>
        <p:nvSpPr>
          <p:cNvPr id="1056" name="CustomShape 14"/>
          <p:cNvSpPr/>
          <p:nvPr/>
        </p:nvSpPr>
        <p:spPr>
          <a:xfrm>
            <a:off x="3630240" y="2468880"/>
            <a:ext cx="207324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Definir roles</a:t>
            </a:r>
            <a:endParaRPr b="0" lang="es-ES" sz="1600" spc="-1" strike="noStrike">
              <a:latin typeface="Arial"/>
            </a:endParaRPr>
          </a:p>
        </p:txBody>
      </p:sp>
      <p:sp>
        <p:nvSpPr>
          <p:cNvPr id="1057" name="CustomShape 15"/>
          <p:cNvSpPr/>
          <p:nvPr/>
        </p:nvSpPr>
        <p:spPr>
          <a:xfrm>
            <a:off x="3630240" y="3154680"/>
            <a:ext cx="2073240" cy="1049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rol_lectura_rpt sobre rpt y rol_operador con EXECUTE sobre app.</a:t>
            </a:r>
            <a:endParaRPr b="0" lang="es-ES" sz="1400" spc="-1" strike="noStrike">
              <a:latin typeface="Arial"/>
            </a:endParaRPr>
          </a:p>
        </p:txBody>
      </p:sp>
      <p:sp>
        <p:nvSpPr>
          <p:cNvPr id="1058" name="CustomShape 16"/>
          <p:cNvSpPr/>
          <p:nvPr/>
        </p:nvSpPr>
        <p:spPr>
          <a:xfrm>
            <a:off x="5970960" y="1947600"/>
            <a:ext cx="24444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1059" name="CustomShape 17"/>
          <p:cNvSpPr/>
          <p:nvPr/>
        </p:nvSpPr>
        <p:spPr>
          <a:xfrm>
            <a:off x="6254640" y="1600200"/>
            <a:ext cx="2530440" cy="2694960"/>
          </a:xfrm>
          <a:prstGeom prst="roundRect">
            <a:avLst>
              <a:gd name="adj" fmla="val 4332"/>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060" name="CustomShape 18"/>
          <p:cNvSpPr/>
          <p:nvPr/>
        </p:nvSpPr>
        <p:spPr>
          <a:xfrm>
            <a:off x="6483240" y="1828800"/>
            <a:ext cx="500400" cy="500400"/>
          </a:xfrm>
          <a:prstGeom prst="ellipse">
            <a:avLst/>
          </a:prstGeom>
          <a:solidFill>
            <a:srgbClr val="134074"/>
          </a:solidFill>
          <a:ln>
            <a:noFill/>
          </a:ln>
        </p:spPr>
        <p:style>
          <a:lnRef idx="0"/>
          <a:fillRef idx="0"/>
          <a:effectRef idx="0"/>
          <a:fontRef idx="minor"/>
        </p:style>
      </p:sp>
      <p:sp>
        <p:nvSpPr>
          <p:cNvPr id="1061" name="CustomShape 19"/>
          <p:cNvSpPr/>
          <p:nvPr/>
        </p:nvSpPr>
        <p:spPr>
          <a:xfrm>
            <a:off x="648324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3</a:t>
            </a:r>
            <a:endParaRPr b="0" lang="es-ES" sz="1800" spc="-1" strike="noStrike">
              <a:latin typeface="Arial"/>
            </a:endParaRPr>
          </a:p>
        </p:txBody>
      </p:sp>
      <p:sp>
        <p:nvSpPr>
          <p:cNvPr id="1062" name="CustomShape 20"/>
          <p:cNvSpPr/>
          <p:nvPr/>
        </p:nvSpPr>
        <p:spPr>
          <a:xfrm>
            <a:off x="6483240" y="2468880"/>
            <a:ext cx="207324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Asignar y denegar</a:t>
            </a:r>
            <a:endParaRPr b="0" lang="es-ES" sz="1600" spc="-1" strike="noStrike">
              <a:latin typeface="Arial"/>
            </a:endParaRPr>
          </a:p>
        </p:txBody>
      </p:sp>
      <p:sp>
        <p:nvSpPr>
          <p:cNvPr id="1063" name="CustomShape 21"/>
          <p:cNvSpPr/>
          <p:nvPr/>
        </p:nvSpPr>
        <p:spPr>
          <a:xfrm>
            <a:off x="6483240" y="3154680"/>
            <a:ext cx="2073240" cy="1049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Añade miembros y un DENY SELECT sobre dbo.Pedido al operador.</a:t>
            </a:r>
            <a:endParaRPr b="0" lang="es-ES" sz="1400" spc="-1" strike="noStrike">
              <a:latin typeface="Arial"/>
            </a:endParaRPr>
          </a:p>
        </p:txBody>
      </p:sp>
      <p:sp>
        <p:nvSpPr>
          <p:cNvPr id="1064" name="CustomShape 22"/>
          <p:cNvSpPr/>
          <p:nvPr/>
        </p:nvSpPr>
        <p:spPr>
          <a:xfrm>
            <a:off x="8823960" y="1947600"/>
            <a:ext cx="24444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1065" name="CustomShape 23"/>
          <p:cNvSpPr/>
          <p:nvPr/>
        </p:nvSpPr>
        <p:spPr>
          <a:xfrm>
            <a:off x="9107280" y="1600200"/>
            <a:ext cx="2530440" cy="2694960"/>
          </a:xfrm>
          <a:prstGeom prst="roundRect">
            <a:avLst>
              <a:gd name="adj" fmla="val 4332"/>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066" name="CustomShape 24"/>
          <p:cNvSpPr/>
          <p:nvPr/>
        </p:nvSpPr>
        <p:spPr>
          <a:xfrm>
            <a:off x="9335880" y="1828800"/>
            <a:ext cx="500400" cy="500400"/>
          </a:xfrm>
          <a:prstGeom prst="ellipse">
            <a:avLst/>
          </a:prstGeom>
          <a:solidFill>
            <a:srgbClr val="134074"/>
          </a:solidFill>
          <a:ln>
            <a:noFill/>
          </a:ln>
        </p:spPr>
        <p:style>
          <a:lnRef idx="0"/>
          <a:fillRef idx="0"/>
          <a:effectRef idx="0"/>
          <a:fontRef idx="minor"/>
        </p:style>
      </p:sp>
      <p:sp>
        <p:nvSpPr>
          <p:cNvPr id="1067" name="CustomShape 25"/>
          <p:cNvSpPr/>
          <p:nvPr/>
        </p:nvSpPr>
        <p:spPr>
          <a:xfrm>
            <a:off x="933588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4</a:t>
            </a:r>
            <a:endParaRPr b="0" lang="es-ES" sz="1800" spc="-1" strike="noStrike">
              <a:latin typeface="Arial"/>
            </a:endParaRPr>
          </a:p>
        </p:txBody>
      </p:sp>
      <p:sp>
        <p:nvSpPr>
          <p:cNvPr id="1068" name="CustomShape 26"/>
          <p:cNvSpPr/>
          <p:nvPr/>
        </p:nvSpPr>
        <p:spPr>
          <a:xfrm>
            <a:off x="9335880" y="2468880"/>
            <a:ext cx="207324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Probar</a:t>
            </a:r>
            <a:endParaRPr b="0" lang="es-ES" sz="1600" spc="-1" strike="noStrike">
              <a:latin typeface="Arial"/>
            </a:endParaRPr>
          </a:p>
        </p:txBody>
      </p:sp>
      <p:sp>
        <p:nvSpPr>
          <p:cNvPr id="1069" name="CustomShape 27"/>
          <p:cNvSpPr/>
          <p:nvPr/>
        </p:nvSpPr>
        <p:spPr>
          <a:xfrm>
            <a:off x="9335880" y="3154680"/>
            <a:ext cx="2073240" cy="10490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EXECUTE AS USER, REVERT y sys.fn_my_permissions.</a:t>
            </a:r>
            <a:endParaRPr b="0" lang="es-ES" sz="1400" spc="-1" strike="noStrike">
              <a:latin typeface="Arial"/>
            </a:endParaRPr>
          </a:p>
        </p:txBody>
      </p:sp>
      <p:sp>
        <p:nvSpPr>
          <p:cNvPr id="1070" name="CustomShape 28"/>
          <p:cNvSpPr/>
          <p:nvPr/>
        </p:nvSpPr>
        <p:spPr>
          <a:xfrm>
            <a:off x="548640" y="4572000"/>
            <a:ext cx="7495560" cy="1597680"/>
          </a:xfrm>
          <a:prstGeom prst="roundRect">
            <a:avLst>
              <a:gd name="adj" fmla="val 5714"/>
            </a:avLst>
          </a:prstGeom>
          <a:solidFill>
            <a:srgbClr val="eceff3"/>
          </a:solidFill>
          <a:ln w="9360">
            <a:solidFill>
              <a:srgbClr val="d0d7de"/>
            </a:solidFill>
            <a:round/>
          </a:ln>
        </p:spPr>
        <p:style>
          <a:lnRef idx="0"/>
          <a:fillRef idx="0"/>
          <a:effectRef idx="0"/>
          <a:fontRef idx="minor"/>
        </p:style>
      </p:sp>
      <p:sp>
        <p:nvSpPr>
          <p:cNvPr id="1071" name="CustomShape 29"/>
          <p:cNvSpPr/>
          <p:nvPr/>
        </p:nvSpPr>
        <p:spPr>
          <a:xfrm>
            <a:off x="731520" y="46634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verificación</a:t>
            </a:r>
            <a:endParaRPr b="0" lang="es-ES" sz="1000" spc="-1" strike="noStrike">
              <a:latin typeface="Arial"/>
            </a:endParaRPr>
          </a:p>
        </p:txBody>
      </p:sp>
      <p:sp>
        <p:nvSpPr>
          <p:cNvPr id="1072" name="CustomShape 30"/>
          <p:cNvSpPr/>
          <p:nvPr/>
        </p:nvSpPr>
        <p:spPr>
          <a:xfrm>
            <a:off x="731520" y="4937760"/>
            <a:ext cx="7129800" cy="114048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EXECUTE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USER</a:t>
            </a:r>
            <a:r>
              <a:rPr b="0" lang="en-US" sz="1200" spc="-1" strike="noStrike">
                <a:solidFill>
                  <a:srgbClr val="1f2933"/>
                </a:solidFill>
                <a:latin typeface="Consolas"/>
                <a:ea typeface="Consolas"/>
              </a:rPr>
              <a:t> = </a:t>
            </a:r>
            <a:r>
              <a:rPr b="0" lang="en-US" sz="1200" spc="-1" strike="noStrike">
                <a:solidFill>
                  <a:srgbClr val="b4441f"/>
                </a:solidFill>
                <a:latin typeface="Consolas"/>
                <a:ea typeface="Consolas"/>
              </a:rPr>
              <a:t>'operador'</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EXEC</a:t>
            </a:r>
            <a:r>
              <a:rPr b="0" lang="en-US" sz="1200" spc="-1" strike="noStrike">
                <a:solidFill>
                  <a:srgbClr val="1f2933"/>
                </a:solidFill>
                <a:latin typeface="Consolas"/>
                <a:ea typeface="Consolas"/>
              </a:rPr>
              <a:t> app.usp_AltaPedido </a:t>
            </a:r>
            <a:r>
              <a:rPr b="0" lang="en-US" sz="1200" spc="-1" strike="noStrike">
                <a:solidFill>
                  <a:srgbClr val="0f766e"/>
                </a:solidFill>
                <a:latin typeface="Consolas"/>
                <a:ea typeface="Consolas"/>
              </a:rPr>
              <a:t>@ClienteId</a:t>
            </a:r>
            <a:r>
              <a:rPr b="0" lang="en-US" sz="1200" spc="-1" strike="noStrike">
                <a:solidFill>
                  <a:srgbClr val="1f2933"/>
                </a:solidFill>
                <a:latin typeface="Consolas"/>
                <a:ea typeface="Consolas"/>
              </a:rPr>
              <a:t> = </a:t>
            </a:r>
            <a:r>
              <a:rPr b="0" lang="en-US" sz="1200" spc="-1" strike="noStrike">
                <a:solidFill>
                  <a:srgbClr val="9a3412"/>
                </a:solidFill>
                <a:latin typeface="Consolas"/>
                <a:ea typeface="Consolas"/>
              </a:rPr>
              <a:t>1</a:t>
            </a:r>
            <a:r>
              <a:rPr b="0" lang="en-US" sz="1200" spc="-1" strike="noStrike">
                <a:solidFill>
                  <a:srgbClr val="1f2933"/>
                </a:solidFill>
                <a:latin typeface="Consolas"/>
                <a:ea typeface="Consolas"/>
              </a:rPr>
              <a:t>, </a:t>
            </a:r>
            <a:r>
              <a:rPr b="0" lang="en-US" sz="1200" spc="-1" strike="noStrike">
                <a:solidFill>
                  <a:srgbClr val="0f766e"/>
                </a:solidFill>
                <a:latin typeface="Consolas"/>
                <a:ea typeface="Consolas"/>
              </a:rPr>
              <a:t>@Total</a:t>
            </a:r>
            <a:r>
              <a:rPr b="0" lang="en-US" sz="1200" spc="-1" strike="noStrike">
                <a:solidFill>
                  <a:srgbClr val="1f2933"/>
                </a:solidFill>
                <a:latin typeface="Consolas"/>
                <a:ea typeface="Consolas"/>
              </a:rPr>
              <a:t> = </a:t>
            </a:r>
            <a:r>
              <a:rPr b="0" lang="en-US" sz="1200" spc="-1" strike="noStrike">
                <a:solidFill>
                  <a:srgbClr val="9a3412"/>
                </a:solidFill>
                <a:latin typeface="Consolas"/>
                <a:ea typeface="Consolas"/>
              </a:rPr>
              <a:t>99.90</a:t>
            </a:r>
            <a:r>
              <a:rPr b="0" lang="en-US" sz="1200" spc="-1" strike="noStrike">
                <a:solidFill>
                  <a:srgbClr val="1f2933"/>
                </a:solidFill>
                <a:latin typeface="Consolas"/>
                <a:ea typeface="Consolas"/>
              </a:rPr>
              <a:t>; </a:t>
            </a:r>
            <a:r>
              <a:rPr b="0" i="1" lang="en-US" sz="1200" spc="-1" strike="noStrike">
                <a:solidFill>
                  <a:srgbClr val="6b7280"/>
                </a:solidFill>
                <a:latin typeface="Consolas"/>
                <a:ea typeface="Consolas"/>
              </a:rPr>
              <a:t>-- OK</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TOP</a:t>
            </a:r>
            <a:r>
              <a:rPr b="0" lang="en-US" sz="1200" spc="-1" strike="noStrike">
                <a:solidFill>
                  <a:srgbClr val="1f2933"/>
                </a:solidFill>
                <a:latin typeface="Consolas"/>
                <a:ea typeface="Consolas"/>
              </a:rPr>
              <a:t> (</a:t>
            </a:r>
            <a:r>
              <a:rPr b="0" lang="en-US" sz="1200" spc="-1" strike="noStrike">
                <a:solidFill>
                  <a:srgbClr val="9a3412"/>
                </a:solidFill>
                <a:latin typeface="Consolas"/>
                <a:ea typeface="Consolas"/>
              </a:rPr>
              <a:t>1</a:t>
            </a:r>
            <a:r>
              <a:rPr b="0" lang="en-US" sz="1200" spc="-1" strike="noStrike">
                <a:solidFill>
                  <a:srgbClr val="1f2933"/>
                </a:solidFill>
                <a:latin typeface="Consolas"/>
                <a:ea typeface="Consolas"/>
              </a:rPr>
              <a:t>) * </a:t>
            </a: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dbo.Pedido;                       </a:t>
            </a:r>
            <a:r>
              <a:rPr b="0" i="1" lang="en-US" sz="1200" spc="-1" strike="noStrike">
                <a:solidFill>
                  <a:srgbClr val="6b7280"/>
                </a:solidFill>
                <a:latin typeface="Consolas"/>
                <a:ea typeface="Consolas"/>
              </a:rPr>
              <a:t>-- error 229</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REVERT;</a:t>
            </a:r>
            <a:endParaRPr b="0" lang="es-ES" sz="1200" spc="-1" strike="noStrike">
              <a:latin typeface="Arial"/>
            </a:endParaRPr>
          </a:p>
        </p:txBody>
      </p:sp>
      <p:sp>
        <p:nvSpPr>
          <p:cNvPr id="1073" name="CustomShape 31"/>
          <p:cNvSpPr/>
          <p:nvPr/>
        </p:nvSpPr>
        <p:spPr>
          <a:xfrm>
            <a:off x="8321040" y="4572000"/>
            <a:ext cx="3316680" cy="1597680"/>
          </a:xfrm>
          <a:prstGeom prst="roundRect">
            <a:avLst>
              <a:gd name="adj" fmla="val 6857"/>
            </a:avLst>
          </a:prstGeom>
          <a:solidFill>
            <a:srgbClr val="fdede8"/>
          </a:solidFill>
          <a:ln>
            <a:noFill/>
          </a:ln>
        </p:spPr>
        <p:style>
          <a:lnRef idx="0"/>
          <a:fillRef idx="0"/>
          <a:effectRef idx="0"/>
          <a:fontRef idx="minor"/>
        </p:style>
      </p:sp>
      <p:sp>
        <p:nvSpPr>
          <p:cNvPr id="1074" name="CustomShape 32"/>
          <p:cNvSpPr/>
          <p:nvPr/>
        </p:nvSpPr>
        <p:spPr>
          <a:xfrm>
            <a:off x="8503920" y="5143680"/>
            <a:ext cx="454680" cy="454680"/>
          </a:xfrm>
          <a:prstGeom prst="ellipse">
            <a:avLst/>
          </a:prstGeom>
          <a:solidFill>
            <a:srgbClr val="d95d39"/>
          </a:solidFill>
          <a:ln>
            <a:noFill/>
          </a:ln>
        </p:spPr>
        <p:style>
          <a:lnRef idx="0"/>
          <a:fillRef idx="0"/>
          <a:effectRef idx="0"/>
          <a:fontRef idx="minor"/>
        </p:style>
      </p:sp>
      <p:pic>
        <p:nvPicPr>
          <p:cNvPr id="1075" name="Image 0" descr="preencoded.png"/>
          <p:cNvPicPr/>
          <p:nvPr/>
        </p:nvPicPr>
        <p:blipFill>
          <a:blip r:embed="rId1"/>
          <a:stretch/>
        </p:blipFill>
        <p:spPr>
          <a:xfrm>
            <a:off x="8618400" y="5257800"/>
            <a:ext cx="226080" cy="226080"/>
          </a:xfrm>
          <a:prstGeom prst="rect">
            <a:avLst/>
          </a:prstGeom>
          <a:ln>
            <a:noFill/>
          </a:ln>
        </p:spPr>
      </p:pic>
      <p:sp>
        <p:nvSpPr>
          <p:cNvPr id="1076" name="CustomShape 33"/>
          <p:cNvSpPr/>
          <p:nvPr/>
        </p:nvSpPr>
        <p:spPr>
          <a:xfrm>
            <a:off x="9144000" y="4572000"/>
            <a:ext cx="2310840" cy="15976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a8431f"/>
                </a:solidFill>
                <a:latin typeface="Calibri"/>
                <a:ea typeface="Calibri"/>
              </a:rPr>
              <a:t>Trampa: </a:t>
            </a:r>
            <a:r>
              <a:rPr b="0" lang="en-US" sz="1400" spc="-1" strike="noStrike">
                <a:solidFill>
                  <a:srgbClr val="1f2933"/>
                </a:solidFill>
                <a:latin typeface="Calibri"/>
                <a:ea typeface="Calibri"/>
              </a:rPr>
              <a:t>olvidar REVERT deja la sesión suplantada.</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077"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RESUMEN</a:t>
            </a:r>
            <a:endParaRPr b="0" lang="es-ES" sz="1000" spc="-1" strike="noStrike">
              <a:latin typeface="Arial"/>
            </a:endParaRPr>
          </a:p>
        </p:txBody>
      </p:sp>
      <p:sp>
        <p:nvSpPr>
          <p:cNvPr id="1078"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Resumen del Módulo 2: puntos clave</a:t>
            </a:r>
            <a:endParaRPr b="0" lang="es-ES" sz="3400" spc="-1" strike="noStrike">
              <a:latin typeface="Arial"/>
            </a:endParaRPr>
          </a:p>
        </p:txBody>
      </p:sp>
      <p:sp>
        <p:nvSpPr>
          <p:cNvPr id="1079"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080"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2   43</a:t>
            </a:r>
            <a:endParaRPr b="0" lang="es-ES" sz="1000" spc="-1" strike="noStrike">
              <a:latin typeface="Arial"/>
            </a:endParaRPr>
          </a:p>
        </p:txBody>
      </p:sp>
      <p:sp>
        <p:nvSpPr>
          <p:cNvPr id="1081" name="CustomShape 5"/>
          <p:cNvSpPr/>
          <p:nvPr/>
        </p:nvSpPr>
        <p:spPr>
          <a:xfrm>
            <a:off x="548640" y="1600200"/>
            <a:ext cx="2564640" cy="3380760"/>
          </a:xfrm>
          <a:prstGeom prst="roundRect">
            <a:avLst>
              <a:gd name="adj" fmla="val 4274"/>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082" name="CustomShape 6"/>
          <p:cNvSpPr/>
          <p:nvPr/>
        </p:nvSpPr>
        <p:spPr>
          <a:xfrm>
            <a:off x="777240" y="1828800"/>
            <a:ext cx="546120" cy="546120"/>
          </a:xfrm>
          <a:prstGeom prst="ellipse">
            <a:avLst/>
          </a:prstGeom>
          <a:solidFill>
            <a:srgbClr val="134074"/>
          </a:solidFill>
          <a:ln>
            <a:noFill/>
          </a:ln>
        </p:spPr>
        <p:style>
          <a:lnRef idx="0"/>
          <a:fillRef idx="0"/>
          <a:effectRef idx="0"/>
          <a:fontRef idx="minor"/>
        </p:style>
      </p:sp>
      <p:pic>
        <p:nvPicPr>
          <p:cNvPr id="1083" name="Image 0" descr="preencoded.png"/>
          <p:cNvPicPr/>
          <p:nvPr/>
        </p:nvPicPr>
        <p:blipFill>
          <a:blip r:embed="rId1"/>
          <a:stretch/>
        </p:blipFill>
        <p:spPr>
          <a:xfrm>
            <a:off x="914400" y="1965960"/>
            <a:ext cx="271800" cy="271800"/>
          </a:xfrm>
          <a:prstGeom prst="rect">
            <a:avLst/>
          </a:prstGeom>
          <a:ln>
            <a:noFill/>
          </a:ln>
        </p:spPr>
      </p:pic>
      <p:sp>
        <p:nvSpPr>
          <p:cNvPr id="1084" name="CustomShape 7"/>
          <p:cNvSpPr/>
          <p:nvPr/>
        </p:nvSpPr>
        <p:spPr>
          <a:xfrm>
            <a:off x="1463040" y="1828800"/>
            <a:ext cx="142164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DDL e integridad</a:t>
            </a:r>
            <a:endParaRPr b="0" lang="es-ES" sz="1700" spc="-1" strike="noStrike">
              <a:latin typeface="Arial"/>
            </a:endParaRPr>
          </a:p>
        </p:txBody>
      </p:sp>
      <p:sp>
        <p:nvSpPr>
          <p:cNvPr id="1085" name="CustomShape 8"/>
          <p:cNvSpPr/>
          <p:nvPr/>
        </p:nvSpPr>
        <p:spPr>
          <a:xfrm>
            <a:off x="777240" y="2560320"/>
            <a:ext cx="2107440" cy="219204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PK, FK, CHECK, UNIQUE, DEFAULT</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FK con índice de apoyo</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Tipos ajustados al dato</a:t>
            </a:r>
            <a:endParaRPr b="0" lang="es-ES" sz="1400" spc="-1" strike="noStrike">
              <a:latin typeface="Arial"/>
            </a:endParaRPr>
          </a:p>
        </p:txBody>
      </p:sp>
      <p:sp>
        <p:nvSpPr>
          <p:cNvPr id="1086" name="CustomShape 9"/>
          <p:cNvSpPr/>
          <p:nvPr/>
        </p:nvSpPr>
        <p:spPr>
          <a:xfrm>
            <a:off x="3390120" y="1600200"/>
            <a:ext cx="2564640" cy="3380760"/>
          </a:xfrm>
          <a:prstGeom prst="roundRect">
            <a:avLst>
              <a:gd name="adj" fmla="val 4274"/>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087" name="CustomShape 10"/>
          <p:cNvSpPr/>
          <p:nvPr/>
        </p:nvSpPr>
        <p:spPr>
          <a:xfrm>
            <a:off x="3618720" y="1828800"/>
            <a:ext cx="546120" cy="546120"/>
          </a:xfrm>
          <a:prstGeom prst="ellipse">
            <a:avLst/>
          </a:prstGeom>
          <a:solidFill>
            <a:srgbClr val="134074"/>
          </a:solidFill>
          <a:ln>
            <a:noFill/>
          </a:ln>
        </p:spPr>
        <p:style>
          <a:lnRef idx="0"/>
          <a:fillRef idx="0"/>
          <a:effectRef idx="0"/>
          <a:fontRef idx="minor"/>
        </p:style>
      </p:sp>
      <p:pic>
        <p:nvPicPr>
          <p:cNvPr id="1088" name="Image 1" descr="preencoded.png"/>
          <p:cNvPicPr/>
          <p:nvPr/>
        </p:nvPicPr>
        <p:blipFill>
          <a:blip r:embed="rId2"/>
          <a:stretch/>
        </p:blipFill>
        <p:spPr>
          <a:xfrm>
            <a:off x="3755880" y="1965960"/>
            <a:ext cx="271800" cy="271800"/>
          </a:xfrm>
          <a:prstGeom prst="rect">
            <a:avLst/>
          </a:prstGeom>
          <a:ln>
            <a:noFill/>
          </a:ln>
        </p:spPr>
      </p:pic>
      <p:sp>
        <p:nvSpPr>
          <p:cNvPr id="1089" name="CustomShape 11"/>
          <p:cNvSpPr/>
          <p:nvPr/>
        </p:nvSpPr>
        <p:spPr>
          <a:xfrm>
            <a:off x="4304520" y="1828800"/>
            <a:ext cx="142164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Vistas y SP</a:t>
            </a:r>
            <a:endParaRPr b="0" lang="es-ES" sz="1700" spc="-1" strike="noStrike">
              <a:latin typeface="Arial"/>
            </a:endParaRPr>
          </a:p>
        </p:txBody>
      </p:sp>
      <p:sp>
        <p:nvSpPr>
          <p:cNvPr id="1090" name="CustomShape 12"/>
          <p:cNvSpPr/>
          <p:nvPr/>
        </p:nvSpPr>
        <p:spPr>
          <a:xfrm>
            <a:off x="3618720" y="2560320"/>
            <a:ext cx="2107440" cy="219204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Vistas indexadas con SCHEMABINDING</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Plan cache y sniffing</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SP como API segura</a:t>
            </a:r>
            <a:endParaRPr b="0" lang="es-ES" sz="1400" spc="-1" strike="noStrike">
              <a:latin typeface="Arial"/>
            </a:endParaRPr>
          </a:p>
        </p:txBody>
      </p:sp>
      <p:sp>
        <p:nvSpPr>
          <p:cNvPr id="1091" name="CustomShape 13"/>
          <p:cNvSpPr/>
          <p:nvPr/>
        </p:nvSpPr>
        <p:spPr>
          <a:xfrm>
            <a:off x="6231600" y="1600200"/>
            <a:ext cx="2564640" cy="3380760"/>
          </a:xfrm>
          <a:prstGeom prst="roundRect">
            <a:avLst>
              <a:gd name="adj" fmla="val 4274"/>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092" name="CustomShape 14"/>
          <p:cNvSpPr/>
          <p:nvPr/>
        </p:nvSpPr>
        <p:spPr>
          <a:xfrm>
            <a:off x="6460200" y="1828800"/>
            <a:ext cx="546120" cy="546120"/>
          </a:xfrm>
          <a:prstGeom prst="ellipse">
            <a:avLst/>
          </a:prstGeom>
          <a:solidFill>
            <a:srgbClr val="134074"/>
          </a:solidFill>
          <a:ln>
            <a:noFill/>
          </a:ln>
        </p:spPr>
        <p:style>
          <a:lnRef idx="0"/>
          <a:fillRef idx="0"/>
          <a:effectRef idx="0"/>
          <a:fontRef idx="minor"/>
        </p:style>
      </p:sp>
      <p:pic>
        <p:nvPicPr>
          <p:cNvPr id="1093" name="Image 2" descr="preencoded.png"/>
          <p:cNvPicPr/>
          <p:nvPr/>
        </p:nvPicPr>
        <p:blipFill>
          <a:blip r:embed="rId3"/>
          <a:stretch/>
        </p:blipFill>
        <p:spPr>
          <a:xfrm>
            <a:off x="6597360" y="1965960"/>
            <a:ext cx="271800" cy="271800"/>
          </a:xfrm>
          <a:prstGeom prst="rect">
            <a:avLst/>
          </a:prstGeom>
          <a:ln>
            <a:noFill/>
          </a:ln>
        </p:spPr>
      </p:pic>
      <p:sp>
        <p:nvSpPr>
          <p:cNvPr id="1094" name="CustomShape 15"/>
          <p:cNvSpPr/>
          <p:nvPr/>
        </p:nvSpPr>
        <p:spPr>
          <a:xfrm>
            <a:off x="7146000" y="1828800"/>
            <a:ext cx="142164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DML analítico</a:t>
            </a:r>
            <a:endParaRPr b="0" lang="es-ES" sz="1700" spc="-1" strike="noStrike">
              <a:latin typeface="Arial"/>
            </a:endParaRPr>
          </a:p>
        </p:txBody>
      </p:sp>
      <p:sp>
        <p:nvSpPr>
          <p:cNvPr id="1095" name="CustomShape 16"/>
          <p:cNvSpPr/>
          <p:nvPr/>
        </p:nvSpPr>
        <p:spPr>
          <a:xfrm>
            <a:off x="6460200" y="2560320"/>
            <a:ext cx="2107440" cy="219204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Orden lógico del SELECT</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Nested, Merge y Hash</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OVER, RANK y LAG</a:t>
            </a:r>
            <a:endParaRPr b="0" lang="es-ES" sz="1400" spc="-1" strike="noStrike">
              <a:latin typeface="Arial"/>
            </a:endParaRPr>
          </a:p>
        </p:txBody>
      </p:sp>
      <p:sp>
        <p:nvSpPr>
          <p:cNvPr id="1096" name="CustomShape 17"/>
          <p:cNvSpPr/>
          <p:nvPr/>
        </p:nvSpPr>
        <p:spPr>
          <a:xfrm>
            <a:off x="9073080" y="1600200"/>
            <a:ext cx="2564640" cy="3380760"/>
          </a:xfrm>
          <a:prstGeom prst="roundRect">
            <a:avLst>
              <a:gd name="adj" fmla="val 4274"/>
            </a:avLst>
          </a:prstGeom>
          <a:solidFill>
            <a:srgbClr val="134074"/>
          </a:solidFill>
          <a:ln>
            <a:noFill/>
          </a:ln>
        </p:spPr>
        <p:style>
          <a:lnRef idx="0"/>
          <a:fillRef idx="0"/>
          <a:effectRef idx="0"/>
          <a:fontRef idx="minor"/>
        </p:style>
      </p:sp>
      <p:sp>
        <p:nvSpPr>
          <p:cNvPr id="1097" name="CustomShape 18"/>
          <p:cNvSpPr/>
          <p:nvPr/>
        </p:nvSpPr>
        <p:spPr>
          <a:xfrm>
            <a:off x="9301680" y="1828800"/>
            <a:ext cx="546120" cy="546120"/>
          </a:xfrm>
          <a:prstGeom prst="ellipse">
            <a:avLst/>
          </a:prstGeom>
          <a:solidFill>
            <a:srgbClr val="d95d39"/>
          </a:solidFill>
          <a:ln>
            <a:noFill/>
          </a:ln>
        </p:spPr>
        <p:style>
          <a:lnRef idx="0"/>
          <a:fillRef idx="0"/>
          <a:effectRef idx="0"/>
          <a:fontRef idx="minor"/>
        </p:style>
      </p:sp>
      <p:pic>
        <p:nvPicPr>
          <p:cNvPr id="1098" name="Image 3" descr="preencoded.png"/>
          <p:cNvPicPr/>
          <p:nvPr/>
        </p:nvPicPr>
        <p:blipFill>
          <a:blip r:embed="rId4"/>
          <a:stretch/>
        </p:blipFill>
        <p:spPr>
          <a:xfrm>
            <a:off x="9438840" y="1965960"/>
            <a:ext cx="271800" cy="271800"/>
          </a:xfrm>
          <a:prstGeom prst="rect">
            <a:avLst/>
          </a:prstGeom>
          <a:ln>
            <a:noFill/>
          </a:ln>
        </p:spPr>
      </p:pic>
      <p:sp>
        <p:nvSpPr>
          <p:cNvPr id="1099" name="CustomShape 19"/>
          <p:cNvSpPr/>
          <p:nvPr/>
        </p:nvSpPr>
        <p:spPr>
          <a:xfrm>
            <a:off x="9987480" y="1828800"/>
            <a:ext cx="142164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ffffff"/>
                </a:solidFill>
                <a:latin typeface="Calibri"/>
                <a:ea typeface="Calibri"/>
              </a:rPr>
              <a:t>Seguridad</a:t>
            </a:r>
            <a:endParaRPr b="0" lang="es-ES" sz="1700" spc="-1" strike="noStrike">
              <a:latin typeface="Arial"/>
            </a:endParaRPr>
          </a:p>
        </p:txBody>
      </p:sp>
      <p:sp>
        <p:nvSpPr>
          <p:cNvPr id="1100" name="CustomShape 20"/>
          <p:cNvSpPr/>
          <p:nvPr/>
        </p:nvSpPr>
        <p:spPr>
          <a:xfrm>
            <a:off x="9301680" y="2560320"/>
            <a:ext cx="2107440" cy="219204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e6eef8"/>
              </a:buClr>
              <a:buFont typeface="Symbol"/>
              <a:buChar char=""/>
            </a:pPr>
            <a:r>
              <a:rPr b="0" lang="en-US" sz="1400" spc="-1" strike="noStrike">
                <a:solidFill>
                  <a:srgbClr val="e6eef8"/>
                </a:solidFill>
                <a:latin typeface="Calibri"/>
                <a:ea typeface="Calibri"/>
              </a:rPr>
              <a:t>Login, user, rol, permiso</a:t>
            </a:r>
            <a:endParaRPr b="0" lang="es-ES" sz="1400" spc="-1" strike="noStrike">
              <a:latin typeface="Arial"/>
            </a:endParaRPr>
          </a:p>
          <a:p>
            <a:pPr marL="203040" indent="-200520">
              <a:lnSpc>
                <a:spcPct val="100000"/>
              </a:lnSpc>
              <a:spcAft>
                <a:spcPts val="400"/>
              </a:spcAft>
              <a:buClr>
                <a:srgbClr val="e6eef8"/>
              </a:buClr>
              <a:buFont typeface="Symbol"/>
              <a:buChar char=""/>
            </a:pPr>
            <a:r>
              <a:rPr b="0" lang="en-US" sz="1400" spc="-1" strike="noStrike">
                <a:solidFill>
                  <a:srgbClr val="e6eef8"/>
                </a:solidFill>
                <a:latin typeface="Calibri"/>
                <a:ea typeface="Calibri"/>
              </a:rPr>
              <a:t>DENY gana a GRANT</a:t>
            </a:r>
            <a:endParaRPr b="0" lang="es-ES" sz="1400" spc="-1" strike="noStrike">
              <a:latin typeface="Arial"/>
            </a:endParaRPr>
          </a:p>
          <a:p>
            <a:pPr marL="203040" indent="-200520">
              <a:lnSpc>
                <a:spcPct val="100000"/>
              </a:lnSpc>
              <a:spcAft>
                <a:spcPts val="400"/>
              </a:spcAft>
              <a:buClr>
                <a:srgbClr val="e6eef8"/>
              </a:buClr>
              <a:buFont typeface="Symbol"/>
              <a:buChar char=""/>
            </a:pPr>
            <a:r>
              <a:rPr b="0" lang="en-US" sz="1400" spc="-1" strike="noStrike">
                <a:solidFill>
                  <a:srgbClr val="e6eef8"/>
                </a:solidFill>
                <a:latin typeface="Calibri"/>
                <a:ea typeface="Calibri"/>
              </a:rPr>
              <a:t>Mínimo privilegio y auditoría</a:t>
            </a:r>
            <a:endParaRPr b="0" lang="es-ES" sz="1400" spc="-1" strike="noStrike">
              <a:latin typeface="Arial"/>
            </a:endParaRPr>
          </a:p>
        </p:txBody>
      </p:sp>
      <p:sp>
        <p:nvSpPr>
          <p:cNvPr id="1101" name="CustomShape 21"/>
          <p:cNvSpPr/>
          <p:nvPr/>
        </p:nvSpPr>
        <p:spPr>
          <a:xfrm>
            <a:off x="548640" y="5257800"/>
            <a:ext cx="11089080" cy="911880"/>
          </a:xfrm>
          <a:prstGeom prst="roundRect">
            <a:avLst>
              <a:gd name="adj" fmla="val 12000"/>
            </a:avLst>
          </a:prstGeom>
          <a:solidFill>
            <a:srgbClr val="e8eef5"/>
          </a:solidFill>
          <a:ln>
            <a:noFill/>
          </a:ln>
        </p:spPr>
        <p:style>
          <a:lnRef idx="0"/>
          <a:fillRef idx="0"/>
          <a:effectRef idx="0"/>
          <a:fontRef idx="minor"/>
        </p:style>
      </p:sp>
      <p:sp>
        <p:nvSpPr>
          <p:cNvPr id="1102" name="CustomShape 22"/>
          <p:cNvSpPr/>
          <p:nvPr/>
        </p:nvSpPr>
        <p:spPr>
          <a:xfrm>
            <a:off x="731520" y="5486400"/>
            <a:ext cx="454680" cy="454680"/>
          </a:xfrm>
          <a:prstGeom prst="ellipse">
            <a:avLst/>
          </a:prstGeom>
          <a:solidFill>
            <a:srgbClr val="134074"/>
          </a:solidFill>
          <a:ln>
            <a:noFill/>
          </a:ln>
        </p:spPr>
        <p:style>
          <a:lnRef idx="0"/>
          <a:fillRef idx="0"/>
          <a:effectRef idx="0"/>
          <a:fontRef idx="minor"/>
        </p:style>
      </p:sp>
      <p:pic>
        <p:nvPicPr>
          <p:cNvPr id="1103" name="Image 4" descr="preencoded.png"/>
          <p:cNvPicPr/>
          <p:nvPr/>
        </p:nvPicPr>
        <p:blipFill>
          <a:blip r:embed="rId5"/>
          <a:stretch/>
        </p:blipFill>
        <p:spPr>
          <a:xfrm>
            <a:off x="846000" y="5600880"/>
            <a:ext cx="226080" cy="226080"/>
          </a:xfrm>
          <a:prstGeom prst="rect">
            <a:avLst/>
          </a:prstGeom>
          <a:ln>
            <a:noFill/>
          </a:ln>
        </p:spPr>
      </p:pic>
      <p:sp>
        <p:nvSpPr>
          <p:cNvPr id="1104" name="CustomShape 23"/>
          <p:cNvSpPr/>
          <p:nvPr/>
        </p:nvSpPr>
        <p:spPr>
          <a:xfrm>
            <a:off x="1371600" y="5257800"/>
            <a:ext cx="10083240" cy="9118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2545"/>
                </a:solidFill>
                <a:latin typeface="Calibri"/>
                <a:ea typeface="Calibri"/>
              </a:rPr>
              <a:t>Siguiente módulo: </a:t>
            </a:r>
            <a:r>
              <a:rPr b="0" lang="en-US" sz="1400" spc="-1" strike="noStrike">
                <a:solidFill>
                  <a:srgbClr val="1f2933"/>
                </a:solidFill>
                <a:latin typeface="Calibri"/>
                <a:ea typeface="Calibri"/>
              </a:rPr>
              <a:t>índices y B-Tree, planes de ejecución, DMVs de rendimiento y alta disponibilidad (RTO/RPO).</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1528"/>
        </a:solidFill>
      </p:bgPr>
    </p:bg>
    <p:spTree>
      <p:nvGrpSpPr>
        <p:cNvPr id="1" name=""/>
        <p:cNvGrpSpPr/>
        <p:nvPr/>
      </p:nvGrpSpPr>
      <p:grpSpPr>
        <a:xfrm>
          <a:off x="0" y="0"/>
          <a:ext cx="0" cy="0"/>
          <a:chOff x="0" y="0"/>
          <a:chExt cx="0" cy="0"/>
        </a:xfrm>
      </p:grpSpPr>
      <p:sp>
        <p:nvSpPr>
          <p:cNvPr id="1105" name="CustomShape 1"/>
          <p:cNvSpPr/>
          <p:nvPr/>
        </p:nvSpPr>
        <p:spPr>
          <a:xfrm>
            <a:off x="731520" y="822960"/>
            <a:ext cx="5026680" cy="18262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2000" spc="-1" strike="noStrike">
                <a:solidFill>
                  <a:srgbClr val="1e5aa8"/>
                </a:solidFill>
                <a:latin typeface="Calibri"/>
                <a:ea typeface="Calibri"/>
              </a:rPr>
              <a:t>03</a:t>
            </a:r>
            <a:endParaRPr b="0" lang="es-ES" sz="12000" spc="-1" strike="noStrike">
              <a:latin typeface="Arial"/>
            </a:endParaRPr>
          </a:p>
        </p:txBody>
      </p:sp>
      <p:sp>
        <p:nvSpPr>
          <p:cNvPr id="1106" name="CustomShape 2"/>
          <p:cNvSpPr/>
          <p:nvPr/>
        </p:nvSpPr>
        <p:spPr>
          <a:xfrm>
            <a:off x="731520" y="2880360"/>
            <a:ext cx="2649240" cy="326520"/>
          </a:xfrm>
          <a:prstGeom prst="roundRect">
            <a:avLst>
              <a:gd name="adj" fmla="val 50000"/>
            </a:avLst>
          </a:prstGeom>
          <a:solidFill>
            <a:srgbClr val="d95d39"/>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100" spc="80" strike="noStrike">
                <a:solidFill>
                  <a:srgbClr val="ffffff"/>
                </a:solidFill>
                <a:latin typeface="Calibri"/>
                <a:ea typeface="Calibri"/>
              </a:rPr>
              <a:t>MÓDULO 3 · 5 h</a:t>
            </a:r>
            <a:endParaRPr b="0" lang="es-ES" sz="1100" spc="-1" strike="noStrike">
              <a:latin typeface="Arial"/>
            </a:endParaRPr>
          </a:p>
        </p:txBody>
      </p:sp>
      <p:sp>
        <p:nvSpPr>
          <p:cNvPr id="1107" name="CustomShape 3"/>
          <p:cNvSpPr/>
          <p:nvPr/>
        </p:nvSpPr>
        <p:spPr>
          <a:xfrm>
            <a:off x="731520" y="3383280"/>
            <a:ext cx="5392440" cy="15519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3800" spc="-1" strike="noStrike">
                <a:solidFill>
                  <a:srgbClr val="ffffff"/>
                </a:solidFill>
                <a:latin typeface="Calibri"/>
                <a:ea typeface="Calibri"/>
              </a:rPr>
              <a:t>Optimización y Alta Disponibilidad</a:t>
            </a:r>
            <a:endParaRPr b="0" lang="es-ES" sz="3800" spc="-1" strike="noStrike">
              <a:latin typeface="Arial"/>
            </a:endParaRPr>
          </a:p>
        </p:txBody>
      </p:sp>
      <p:sp>
        <p:nvSpPr>
          <p:cNvPr id="1108" name="CustomShape 4"/>
          <p:cNvSpPr/>
          <p:nvPr/>
        </p:nvSpPr>
        <p:spPr>
          <a:xfrm>
            <a:off x="731520" y="4983480"/>
            <a:ext cx="5392440" cy="8204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600" spc="-1" strike="noStrike">
                <a:solidFill>
                  <a:srgbClr val="8da9c4"/>
                </a:solidFill>
                <a:latin typeface="Calibri"/>
                <a:ea typeface="Calibri"/>
              </a:rPr>
              <a:t>Índices, planes de ejecución, DMVs y fundamentos de HA/DR</a:t>
            </a:r>
            <a:endParaRPr b="0" lang="es-ES" sz="1600" spc="-1" strike="noStrike">
              <a:latin typeface="Arial"/>
            </a:endParaRPr>
          </a:p>
        </p:txBody>
      </p:sp>
      <p:sp>
        <p:nvSpPr>
          <p:cNvPr id="1109" name="CustomShape 5"/>
          <p:cNvSpPr/>
          <p:nvPr/>
        </p:nvSpPr>
        <p:spPr>
          <a:xfrm>
            <a:off x="6675120" y="1051560"/>
            <a:ext cx="4935240" cy="664920"/>
          </a:xfrm>
          <a:prstGeom prst="roundRect">
            <a:avLst>
              <a:gd name="adj" fmla="val 13699"/>
            </a:avLst>
          </a:prstGeom>
          <a:solidFill>
            <a:srgbClr val="ffffff">
              <a:alpha val="8000"/>
            </a:srgbClr>
          </a:solidFill>
          <a:ln>
            <a:noFill/>
          </a:ln>
        </p:spPr>
        <p:style>
          <a:lnRef idx="0"/>
          <a:fillRef idx="0"/>
          <a:effectRef idx="0"/>
          <a:fontRef idx="minor"/>
        </p:style>
      </p:sp>
      <p:sp>
        <p:nvSpPr>
          <p:cNvPr id="1110" name="CustomShape 6"/>
          <p:cNvSpPr/>
          <p:nvPr/>
        </p:nvSpPr>
        <p:spPr>
          <a:xfrm>
            <a:off x="6812280" y="1166040"/>
            <a:ext cx="454680" cy="454680"/>
          </a:xfrm>
          <a:prstGeom prst="ellipse">
            <a:avLst/>
          </a:prstGeom>
          <a:solidFill>
            <a:srgbClr val="d95d39"/>
          </a:solidFill>
          <a:ln>
            <a:noFill/>
          </a:ln>
        </p:spPr>
        <p:style>
          <a:lnRef idx="0"/>
          <a:fillRef idx="0"/>
          <a:effectRef idx="0"/>
          <a:fontRef idx="minor"/>
        </p:style>
      </p:sp>
      <p:pic>
        <p:nvPicPr>
          <p:cNvPr id="1111" name="Image 0" descr="preencoded.png"/>
          <p:cNvPicPr/>
          <p:nvPr/>
        </p:nvPicPr>
        <p:blipFill>
          <a:blip r:embed="rId1"/>
          <a:stretch/>
        </p:blipFill>
        <p:spPr>
          <a:xfrm>
            <a:off x="6926760" y="1280160"/>
            <a:ext cx="226080" cy="226080"/>
          </a:xfrm>
          <a:prstGeom prst="rect">
            <a:avLst/>
          </a:prstGeom>
          <a:ln>
            <a:noFill/>
          </a:ln>
        </p:spPr>
      </p:pic>
      <p:sp>
        <p:nvSpPr>
          <p:cNvPr id="1112" name="CustomShape 7"/>
          <p:cNvSpPr/>
          <p:nvPr/>
        </p:nvSpPr>
        <p:spPr>
          <a:xfrm>
            <a:off x="7452360" y="1051560"/>
            <a:ext cx="4020840" cy="6649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600" spc="-1" strike="noStrike">
                <a:solidFill>
                  <a:srgbClr val="ffffff"/>
                </a:solidFill>
                <a:latin typeface="Calibri"/>
                <a:ea typeface="Calibri"/>
              </a:rPr>
              <a:t>Arquitectura de índices y B-Tree</a:t>
            </a:r>
            <a:endParaRPr b="0" lang="es-ES" sz="1600" spc="-1" strike="noStrike">
              <a:latin typeface="Arial"/>
            </a:endParaRPr>
          </a:p>
        </p:txBody>
      </p:sp>
      <p:sp>
        <p:nvSpPr>
          <p:cNvPr id="1113" name="CustomShape 8"/>
          <p:cNvSpPr/>
          <p:nvPr/>
        </p:nvSpPr>
        <p:spPr>
          <a:xfrm>
            <a:off x="6675120" y="1828800"/>
            <a:ext cx="4935240" cy="664920"/>
          </a:xfrm>
          <a:prstGeom prst="roundRect">
            <a:avLst>
              <a:gd name="adj" fmla="val 13699"/>
            </a:avLst>
          </a:prstGeom>
          <a:solidFill>
            <a:srgbClr val="ffffff">
              <a:alpha val="8000"/>
            </a:srgbClr>
          </a:solidFill>
          <a:ln>
            <a:noFill/>
          </a:ln>
        </p:spPr>
        <p:style>
          <a:lnRef idx="0"/>
          <a:fillRef idx="0"/>
          <a:effectRef idx="0"/>
          <a:fontRef idx="minor"/>
        </p:style>
      </p:sp>
      <p:sp>
        <p:nvSpPr>
          <p:cNvPr id="1114" name="CustomShape 9"/>
          <p:cNvSpPr/>
          <p:nvPr/>
        </p:nvSpPr>
        <p:spPr>
          <a:xfrm>
            <a:off x="6812280" y="1943280"/>
            <a:ext cx="454680" cy="454680"/>
          </a:xfrm>
          <a:prstGeom prst="ellipse">
            <a:avLst/>
          </a:prstGeom>
          <a:solidFill>
            <a:srgbClr val="d95d39"/>
          </a:solidFill>
          <a:ln>
            <a:noFill/>
          </a:ln>
        </p:spPr>
        <p:style>
          <a:lnRef idx="0"/>
          <a:fillRef idx="0"/>
          <a:effectRef idx="0"/>
          <a:fontRef idx="minor"/>
        </p:style>
      </p:sp>
      <p:pic>
        <p:nvPicPr>
          <p:cNvPr id="1115" name="Image 1" descr="preencoded.png"/>
          <p:cNvPicPr/>
          <p:nvPr/>
        </p:nvPicPr>
        <p:blipFill>
          <a:blip r:embed="rId2"/>
          <a:stretch/>
        </p:blipFill>
        <p:spPr>
          <a:xfrm>
            <a:off x="6926760" y="2057400"/>
            <a:ext cx="226080" cy="226080"/>
          </a:xfrm>
          <a:prstGeom prst="rect">
            <a:avLst/>
          </a:prstGeom>
          <a:ln>
            <a:noFill/>
          </a:ln>
        </p:spPr>
      </p:pic>
      <p:sp>
        <p:nvSpPr>
          <p:cNvPr id="1116" name="CustomShape 10"/>
          <p:cNvSpPr/>
          <p:nvPr/>
        </p:nvSpPr>
        <p:spPr>
          <a:xfrm>
            <a:off x="7452360" y="1828800"/>
            <a:ext cx="4020840" cy="6649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600" spc="-1" strike="noStrike">
                <a:solidFill>
                  <a:srgbClr val="ffffff"/>
                </a:solidFill>
                <a:latin typeface="Calibri"/>
                <a:ea typeface="Calibri"/>
              </a:rPr>
              <a:t>Fragmentación y estadísticas</a:t>
            </a:r>
            <a:endParaRPr b="0" lang="es-ES" sz="1600" spc="-1" strike="noStrike">
              <a:latin typeface="Arial"/>
            </a:endParaRPr>
          </a:p>
        </p:txBody>
      </p:sp>
      <p:sp>
        <p:nvSpPr>
          <p:cNvPr id="1117" name="CustomShape 11"/>
          <p:cNvSpPr/>
          <p:nvPr/>
        </p:nvSpPr>
        <p:spPr>
          <a:xfrm>
            <a:off x="6675120" y="2606040"/>
            <a:ext cx="4935240" cy="664920"/>
          </a:xfrm>
          <a:prstGeom prst="roundRect">
            <a:avLst>
              <a:gd name="adj" fmla="val 13699"/>
            </a:avLst>
          </a:prstGeom>
          <a:solidFill>
            <a:srgbClr val="ffffff">
              <a:alpha val="8000"/>
            </a:srgbClr>
          </a:solidFill>
          <a:ln>
            <a:noFill/>
          </a:ln>
        </p:spPr>
        <p:style>
          <a:lnRef idx="0"/>
          <a:fillRef idx="0"/>
          <a:effectRef idx="0"/>
          <a:fontRef idx="minor"/>
        </p:style>
      </p:sp>
      <p:sp>
        <p:nvSpPr>
          <p:cNvPr id="1118" name="CustomShape 12"/>
          <p:cNvSpPr/>
          <p:nvPr/>
        </p:nvSpPr>
        <p:spPr>
          <a:xfrm>
            <a:off x="6812280" y="2720520"/>
            <a:ext cx="454680" cy="454680"/>
          </a:xfrm>
          <a:prstGeom prst="ellipse">
            <a:avLst/>
          </a:prstGeom>
          <a:solidFill>
            <a:srgbClr val="d95d39"/>
          </a:solidFill>
          <a:ln>
            <a:noFill/>
          </a:ln>
        </p:spPr>
        <p:style>
          <a:lnRef idx="0"/>
          <a:fillRef idx="0"/>
          <a:effectRef idx="0"/>
          <a:fontRef idx="minor"/>
        </p:style>
      </p:sp>
      <p:pic>
        <p:nvPicPr>
          <p:cNvPr id="1119" name="Image 2" descr="preencoded.png"/>
          <p:cNvPicPr/>
          <p:nvPr/>
        </p:nvPicPr>
        <p:blipFill>
          <a:blip r:embed="rId3"/>
          <a:stretch/>
        </p:blipFill>
        <p:spPr>
          <a:xfrm>
            <a:off x="6926760" y="2834640"/>
            <a:ext cx="226080" cy="226080"/>
          </a:xfrm>
          <a:prstGeom prst="rect">
            <a:avLst/>
          </a:prstGeom>
          <a:ln>
            <a:noFill/>
          </a:ln>
        </p:spPr>
      </p:pic>
      <p:sp>
        <p:nvSpPr>
          <p:cNvPr id="1120" name="CustomShape 13"/>
          <p:cNvSpPr/>
          <p:nvPr/>
        </p:nvSpPr>
        <p:spPr>
          <a:xfrm>
            <a:off x="7452360" y="2606040"/>
            <a:ext cx="4020840" cy="6649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600" spc="-1" strike="noStrike">
                <a:solidFill>
                  <a:srgbClr val="ffffff"/>
                </a:solidFill>
                <a:latin typeface="Calibri"/>
                <a:ea typeface="Calibri"/>
              </a:rPr>
              <a:t>Lectura de planes de ejecución</a:t>
            </a:r>
            <a:endParaRPr b="0" lang="es-ES" sz="1600" spc="-1" strike="noStrike">
              <a:latin typeface="Arial"/>
            </a:endParaRPr>
          </a:p>
        </p:txBody>
      </p:sp>
      <p:sp>
        <p:nvSpPr>
          <p:cNvPr id="1121" name="CustomShape 14"/>
          <p:cNvSpPr/>
          <p:nvPr/>
        </p:nvSpPr>
        <p:spPr>
          <a:xfrm>
            <a:off x="6675120" y="3383280"/>
            <a:ext cx="4935240" cy="664920"/>
          </a:xfrm>
          <a:prstGeom prst="roundRect">
            <a:avLst>
              <a:gd name="adj" fmla="val 13699"/>
            </a:avLst>
          </a:prstGeom>
          <a:solidFill>
            <a:srgbClr val="ffffff">
              <a:alpha val="8000"/>
            </a:srgbClr>
          </a:solidFill>
          <a:ln>
            <a:noFill/>
          </a:ln>
        </p:spPr>
        <p:style>
          <a:lnRef idx="0"/>
          <a:fillRef idx="0"/>
          <a:effectRef idx="0"/>
          <a:fontRef idx="minor"/>
        </p:style>
      </p:sp>
      <p:sp>
        <p:nvSpPr>
          <p:cNvPr id="1122" name="CustomShape 15"/>
          <p:cNvSpPr/>
          <p:nvPr/>
        </p:nvSpPr>
        <p:spPr>
          <a:xfrm>
            <a:off x="6812280" y="3497760"/>
            <a:ext cx="454680" cy="454680"/>
          </a:xfrm>
          <a:prstGeom prst="ellipse">
            <a:avLst/>
          </a:prstGeom>
          <a:solidFill>
            <a:srgbClr val="d95d39"/>
          </a:solidFill>
          <a:ln>
            <a:noFill/>
          </a:ln>
        </p:spPr>
        <p:style>
          <a:lnRef idx="0"/>
          <a:fillRef idx="0"/>
          <a:effectRef idx="0"/>
          <a:fontRef idx="minor"/>
        </p:style>
      </p:sp>
      <p:pic>
        <p:nvPicPr>
          <p:cNvPr id="1123" name="Image 3" descr="preencoded.png"/>
          <p:cNvPicPr/>
          <p:nvPr/>
        </p:nvPicPr>
        <p:blipFill>
          <a:blip r:embed="rId4"/>
          <a:stretch/>
        </p:blipFill>
        <p:spPr>
          <a:xfrm>
            <a:off x="6926760" y="3611880"/>
            <a:ext cx="226080" cy="226080"/>
          </a:xfrm>
          <a:prstGeom prst="rect">
            <a:avLst/>
          </a:prstGeom>
          <a:ln>
            <a:noFill/>
          </a:ln>
        </p:spPr>
      </p:pic>
      <p:sp>
        <p:nvSpPr>
          <p:cNvPr id="1124" name="CustomShape 16"/>
          <p:cNvSpPr/>
          <p:nvPr/>
        </p:nvSpPr>
        <p:spPr>
          <a:xfrm>
            <a:off x="7452360" y="3383280"/>
            <a:ext cx="4020840" cy="6649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600" spc="-1" strike="noStrike">
                <a:solidFill>
                  <a:srgbClr val="ffffff"/>
                </a:solidFill>
                <a:latin typeface="Calibri"/>
                <a:ea typeface="Calibri"/>
              </a:rPr>
              <a:t>Monitorización con DMVs</a:t>
            </a:r>
            <a:endParaRPr b="0" lang="es-ES" sz="1600" spc="-1" strike="noStrike">
              <a:latin typeface="Arial"/>
            </a:endParaRPr>
          </a:p>
        </p:txBody>
      </p:sp>
      <p:sp>
        <p:nvSpPr>
          <p:cNvPr id="1125" name="CustomShape 17"/>
          <p:cNvSpPr/>
          <p:nvPr/>
        </p:nvSpPr>
        <p:spPr>
          <a:xfrm>
            <a:off x="6675120" y="4160520"/>
            <a:ext cx="4935240" cy="664920"/>
          </a:xfrm>
          <a:prstGeom prst="roundRect">
            <a:avLst>
              <a:gd name="adj" fmla="val 13699"/>
            </a:avLst>
          </a:prstGeom>
          <a:solidFill>
            <a:srgbClr val="ffffff">
              <a:alpha val="8000"/>
            </a:srgbClr>
          </a:solidFill>
          <a:ln>
            <a:noFill/>
          </a:ln>
        </p:spPr>
        <p:style>
          <a:lnRef idx="0"/>
          <a:fillRef idx="0"/>
          <a:effectRef idx="0"/>
          <a:fontRef idx="minor"/>
        </p:style>
      </p:sp>
      <p:sp>
        <p:nvSpPr>
          <p:cNvPr id="1126" name="CustomShape 18"/>
          <p:cNvSpPr/>
          <p:nvPr/>
        </p:nvSpPr>
        <p:spPr>
          <a:xfrm>
            <a:off x="6812280" y="4275000"/>
            <a:ext cx="454680" cy="454680"/>
          </a:xfrm>
          <a:prstGeom prst="ellipse">
            <a:avLst/>
          </a:prstGeom>
          <a:solidFill>
            <a:srgbClr val="d95d39"/>
          </a:solidFill>
          <a:ln>
            <a:noFill/>
          </a:ln>
        </p:spPr>
        <p:style>
          <a:lnRef idx="0"/>
          <a:fillRef idx="0"/>
          <a:effectRef idx="0"/>
          <a:fontRef idx="minor"/>
        </p:style>
      </p:sp>
      <p:pic>
        <p:nvPicPr>
          <p:cNvPr id="1127" name="Image 4" descr="preencoded.png"/>
          <p:cNvPicPr/>
          <p:nvPr/>
        </p:nvPicPr>
        <p:blipFill>
          <a:blip r:embed="rId5"/>
          <a:stretch/>
        </p:blipFill>
        <p:spPr>
          <a:xfrm>
            <a:off x="6926760" y="4389120"/>
            <a:ext cx="226080" cy="226080"/>
          </a:xfrm>
          <a:prstGeom prst="rect">
            <a:avLst/>
          </a:prstGeom>
          <a:ln>
            <a:noFill/>
          </a:ln>
        </p:spPr>
      </p:pic>
      <p:sp>
        <p:nvSpPr>
          <p:cNvPr id="1128" name="CustomShape 19"/>
          <p:cNvSpPr/>
          <p:nvPr/>
        </p:nvSpPr>
        <p:spPr>
          <a:xfrm>
            <a:off x="7452360" y="4160520"/>
            <a:ext cx="4020840" cy="6649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600" spc="-1" strike="noStrike">
                <a:solidFill>
                  <a:srgbClr val="ffffff"/>
                </a:solidFill>
                <a:latin typeface="Calibri"/>
                <a:ea typeface="Calibri"/>
              </a:rPr>
              <a:t>RTO, RPO y comparativa HA/DR</a:t>
            </a:r>
            <a:endParaRPr b="0" lang="es-ES" sz="1600" spc="-1" strike="noStrike">
              <a:latin typeface="Arial"/>
            </a:endParaRPr>
          </a:p>
        </p:txBody>
      </p:sp>
      <p:sp>
        <p:nvSpPr>
          <p:cNvPr id="1129" name="CustomShape 20"/>
          <p:cNvSpPr/>
          <p:nvPr/>
        </p:nvSpPr>
        <p:spPr>
          <a:xfrm>
            <a:off x="6675120" y="4937760"/>
            <a:ext cx="4935240" cy="664920"/>
          </a:xfrm>
          <a:prstGeom prst="roundRect">
            <a:avLst>
              <a:gd name="adj" fmla="val 13699"/>
            </a:avLst>
          </a:prstGeom>
          <a:solidFill>
            <a:srgbClr val="ffffff">
              <a:alpha val="8000"/>
            </a:srgbClr>
          </a:solidFill>
          <a:ln>
            <a:noFill/>
          </a:ln>
        </p:spPr>
        <p:style>
          <a:lnRef idx="0"/>
          <a:fillRef idx="0"/>
          <a:effectRef idx="0"/>
          <a:fontRef idx="minor"/>
        </p:style>
      </p:sp>
      <p:sp>
        <p:nvSpPr>
          <p:cNvPr id="1130" name="CustomShape 21"/>
          <p:cNvSpPr/>
          <p:nvPr/>
        </p:nvSpPr>
        <p:spPr>
          <a:xfrm>
            <a:off x="6812280" y="5052240"/>
            <a:ext cx="454680" cy="454680"/>
          </a:xfrm>
          <a:prstGeom prst="ellipse">
            <a:avLst/>
          </a:prstGeom>
          <a:solidFill>
            <a:srgbClr val="d95d39"/>
          </a:solidFill>
          <a:ln>
            <a:noFill/>
          </a:ln>
        </p:spPr>
        <p:style>
          <a:lnRef idx="0"/>
          <a:fillRef idx="0"/>
          <a:effectRef idx="0"/>
          <a:fontRef idx="minor"/>
        </p:style>
      </p:sp>
      <p:pic>
        <p:nvPicPr>
          <p:cNvPr id="1131" name="Image 5" descr="preencoded.png"/>
          <p:cNvPicPr/>
          <p:nvPr/>
        </p:nvPicPr>
        <p:blipFill>
          <a:blip r:embed="rId6"/>
          <a:stretch/>
        </p:blipFill>
        <p:spPr>
          <a:xfrm>
            <a:off x="6926760" y="5166360"/>
            <a:ext cx="226080" cy="226080"/>
          </a:xfrm>
          <a:prstGeom prst="rect">
            <a:avLst/>
          </a:prstGeom>
          <a:ln>
            <a:noFill/>
          </a:ln>
        </p:spPr>
      </p:pic>
      <p:sp>
        <p:nvSpPr>
          <p:cNvPr id="1132" name="CustomShape 22"/>
          <p:cNvSpPr/>
          <p:nvPr/>
        </p:nvSpPr>
        <p:spPr>
          <a:xfrm>
            <a:off x="7452360" y="4937760"/>
            <a:ext cx="4020840" cy="6649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600" spc="-1" strike="noStrike">
                <a:solidFill>
                  <a:srgbClr val="ffffff"/>
                </a:solidFill>
                <a:latin typeface="Calibri"/>
                <a:ea typeface="Calibri"/>
              </a:rPr>
              <a:t>Laboratorio 3</a:t>
            </a:r>
            <a:endParaRPr b="0" lang="es-ES" sz="1600" spc="-1" strike="noStrike">
              <a:latin typeface="Arial"/>
            </a:endParaRPr>
          </a:p>
        </p:txBody>
      </p:sp>
      <p:sp>
        <p:nvSpPr>
          <p:cNvPr id="1133" name="CustomShape 2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8da9c4"/>
                </a:solidFill>
                <a:latin typeface="Calibri"/>
                <a:ea typeface="Calibri"/>
              </a:rPr>
              <a:t>Curso de Administración de SQL Server · 20 h</a:t>
            </a:r>
            <a:endParaRPr b="0" lang="es-ES" sz="1000" spc="-1" strike="noStrike">
              <a:latin typeface="Arial"/>
            </a:endParaRPr>
          </a:p>
        </p:txBody>
      </p:sp>
      <p:sp>
        <p:nvSpPr>
          <p:cNvPr id="1134" name="CustomShape 2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8da9c4"/>
                </a:solidFill>
                <a:latin typeface="Calibri"/>
                <a:ea typeface="Calibri"/>
              </a:rPr>
              <a:t>Módulo 3   44</a:t>
            </a:r>
            <a:endParaRPr b="0" lang="es-ES" sz="1000" spc="-1" strike="noStrike">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135"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ÍNDICES</a:t>
            </a:r>
            <a:endParaRPr b="0" lang="es-ES" sz="1000" spc="-1" strike="noStrike">
              <a:latin typeface="Arial"/>
            </a:endParaRPr>
          </a:p>
        </p:txBody>
      </p:sp>
      <p:sp>
        <p:nvSpPr>
          <p:cNvPr id="1136"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Heap vs Clustered Index</a:t>
            </a:r>
            <a:endParaRPr b="0" lang="es-ES" sz="3400" spc="-1" strike="noStrike">
              <a:latin typeface="Arial"/>
            </a:endParaRPr>
          </a:p>
        </p:txBody>
      </p:sp>
      <p:sp>
        <p:nvSpPr>
          <p:cNvPr id="1137"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138"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3   45</a:t>
            </a:r>
            <a:endParaRPr b="0" lang="es-ES" sz="1000" spc="-1" strike="noStrike">
              <a:latin typeface="Arial"/>
            </a:endParaRPr>
          </a:p>
        </p:txBody>
      </p:sp>
      <p:sp>
        <p:nvSpPr>
          <p:cNvPr id="1139" name="CustomShape 5"/>
          <p:cNvSpPr/>
          <p:nvPr/>
        </p:nvSpPr>
        <p:spPr>
          <a:xfrm>
            <a:off x="548640" y="1600200"/>
            <a:ext cx="5406120" cy="3152160"/>
          </a:xfrm>
          <a:prstGeom prst="roundRect">
            <a:avLst>
              <a:gd name="adj" fmla="val 3478"/>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140" name="CustomShape 6"/>
          <p:cNvSpPr/>
          <p:nvPr/>
        </p:nvSpPr>
        <p:spPr>
          <a:xfrm>
            <a:off x="777240" y="1828800"/>
            <a:ext cx="546120" cy="546120"/>
          </a:xfrm>
          <a:prstGeom prst="ellipse">
            <a:avLst/>
          </a:prstGeom>
          <a:solidFill>
            <a:srgbClr val="134074"/>
          </a:solidFill>
          <a:ln>
            <a:noFill/>
          </a:ln>
        </p:spPr>
        <p:style>
          <a:lnRef idx="0"/>
          <a:fillRef idx="0"/>
          <a:effectRef idx="0"/>
          <a:fontRef idx="minor"/>
        </p:style>
      </p:sp>
      <p:pic>
        <p:nvPicPr>
          <p:cNvPr id="1141" name="Image 0" descr="preencoded.png"/>
          <p:cNvPicPr/>
          <p:nvPr/>
        </p:nvPicPr>
        <p:blipFill>
          <a:blip r:embed="rId1"/>
          <a:stretch/>
        </p:blipFill>
        <p:spPr>
          <a:xfrm>
            <a:off x="914400" y="1965960"/>
            <a:ext cx="271800" cy="271800"/>
          </a:xfrm>
          <a:prstGeom prst="rect">
            <a:avLst/>
          </a:prstGeom>
          <a:ln>
            <a:noFill/>
          </a:ln>
        </p:spPr>
      </p:pic>
      <p:sp>
        <p:nvSpPr>
          <p:cNvPr id="1142" name="CustomShape 7"/>
          <p:cNvSpPr/>
          <p:nvPr/>
        </p:nvSpPr>
        <p:spPr>
          <a:xfrm>
            <a:off x="1463040" y="1828800"/>
            <a:ext cx="426312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Heap (sin índice clustered)</a:t>
            </a:r>
            <a:endParaRPr b="0" lang="es-ES" sz="1700" spc="-1" strike="noStrike">
              <a:latin typeface="Arial"/>
            </a:endParaRPr>
          </a:p>
        </p:txBody>
      </p:sp>
      <p:sp>
        <p:nvSpPr>
          <p:cNvPr id="1143" name="CustomShape 8"/>
          <p:cNvSpPr/>
          <p:nvPr/>
        </p:nvSpPr>
        <p:spPr>
          <a:xfrm>
            <a:off x="777240" y="2560320"/>
            <a:ext cx="4948920" cy="196344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Filas en páginas sin orden lógico (se localizan por IAM)</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Lectura completa = Table Scan; búsqueda por RID</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Forwarded Records tras UPDATE que hace crecer la fila</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Útil en staging y cargas masivas puntuales</a:t>
            </a:r>
            <a:endParaRPr b="0" lang="es-ES" sz="1400" spc="-1" strike="noStrike">
              <a:latin typeface="Arial"/>
            </a:endParaRPr>
          </a:p>
        </p:txBody>
      </p:sp>
      <p:sp>
        <p:nvSpPr>
          <p:cNvPr id="1144" name="CustomShape 9"/>
          <p:cNvSpPr/>
          <p:nvPr/>
        </p:nvSpPr>
        <p:spPr>
          <a:xfrm>
            <a:off x="6231600" y="1600200"/>
            <a:ext cx="5406120" cy="3152160"/>
          </a:xfrm>
          <a:prstGeom prst="roundRect">
            <a:avLst>
              <a:gd name="adj" fmla="val 3478"/>
            </a:avLst>
          </a:prstGeom>
          <a:solidFill>
            <a:srgbClr val="134074"/>
          </a:solidFill>
          <a:ln>
            <a:noFill/>
          </a:ln>
        </p:spPr>
        <p:style>
          <a:lnRef idx="0"/>
          <a:fillRef idx="0"/>
          <a:effectRef idx="0"/>
          <a:fontRef idx="minor"/>
        </p:style>
      </p:sp>
      <p:sp>
        <p:nvSpPr>
          <p:cNvPr id="1145" name="CustomShape 10"/>
          <p:cNvSpPr/>
          <p:nvPr/>
        </p:nvSpPr>
        <p:spPr>
          <a:xfrm>
            <a:off x="6460200" y="1828800"/>
            <a:ext cx="546120" cy="546120"/>
          </a:xfrm>
          <a:prstGeom prst="ellipse">
            <a:avLst/>
          </a:prstGeom>
          <a:solidFill>
            <a:srgbClr val="d95d39"/>
          </a:solidFill>
          <a:ln>
            <a:noFill/>
          </a:ln>
        </p:spPr>
        <p:style>
          <a:lnRef idx="0"/>
          <a:fillRef idx="0"/>
          <a:effectRef idx="0"/>
          <a:fontRef idx="minor"/>
        </p:style>
      </p:sp>
      <p:pic>
        <p:nvPicPr>
          <p:cNvPr id="1146" name="Image 1" descr="preencoded.png"/>
          <p:cNvPicPr/>
          <p:nvPr/>
        </p:nvPicPr>
        <p:blipFill>
          <a:blip r:embed="rId2"/>
          <a:stretch/>
        </p:blipFill>
        <p:spPr>
          <a:xfrm>
            <a:off x="6597360" y="1965960"/>
            <a:ext cx="271800" cy="271800"/>
          </a:xfrm>
          <a:prstGeom prst="rect">
            <a:avLst/>
          </a:prstGeom>
          <a:ln>
            <a:noFill/>
          </a:ln>
        </p:spPr>
      </p:pic>
      <p:sp>
        <p:nvSpPr>
          <p:cNvPr id="1147" name="CustomShape 11"/>
          <p:cNvSpPr/>
          <p:nvPr/>
        </p:nvSpPr>
        <p:spPr>
          <a:xfrm>
            <a:off x="7146000" y="1828800"/>
            <a:ext cx="426312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ffffff"/>
                </a:solidFill>
                <a:latin typeface="Calibri"/>
                <a:ea typeface="Calibri"/>
              </a:rPr>
              <a:t>Clustered Index</a:t>
            </a:r>
            <a:endParaRPr b="0" lang="es-ES" sz="1700" spc="-1" strike="noStrike">
              <a:latin typeface="Arial"/>
            </a:endParaRPr>
          </a:p>
        </p:txBody>
      </p:sp>
      <p:sp>
        <p:nvSpPr>
          <p:cNvPr id="1148" name="CustomShape 12"/>
          <p:cNvSpPr/>
          <p:nvPr/>
        </p:nvSpPr>
        <p:spPr>
          <a:xfrm>
            <a:off x="6460200" y="2560320"/>
            <a:ext cx="4948920" cy="196344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e6eef8"/>
              </a:buClr>
              <a:buFont typeface="Symbol"/>
              <a:buChar char=""/>
            </a:pPr>
            <a:r>
              <a:rPr b="0" lang="en-US" sz="1400" spc="-1" strike="noStrike">
                <a:solidFill>
                  <a:srgbClr val="e6eef8"/>
                </a:solidFill>
                <a:latin typeface="Calibri"/>
                <a:ea typeface="Calibri"/>
              </a:rPr>
              <a:t>La hoja del B-Tree contiene las filas, ordenadas por la clave</a:t>
            </a:r>
            <a:endParaRPr b="0" lang="es-ES" sz="1400" spc="-1" strike="noStrike">
              <a:latin typeface="Arial"/>
            </a:endParaRPr>
          </a:p>
          <a:p>
            <a:pPr marL="203040" indent="-200520">
              <a:lnSpc>
                <a:spcPct val="100000"/>
              </a:lnSpc>
              <a:spcAft>
                <a:spcPts val="400"/>
              </a:spcAft>
              <a:buClr>
                <a:srgbClr val="e6eef8"/>
              </a:buClr>
              <a:buFont typeface="Symbol"/>
              <a:buChar char=""/>
            </a:pPr>
            <a:r>
              <a:rPr b="0" lang="en-US" sz="1400" spc="-1" strike="noStrike">
                <a:solidFill>
                  <a:srgbClr val="e6eef8"/>
                </a:solidFill>
                <a:latin typeface="Calibri"/>
                <a:ea typeface="Calibri"/>
              </a:rPr>
              <a:t>Sólo uno por tabla (la PRIMARY KEY lo crea por defecto)</a:t>
            </a:r>
            <a:endParaRPr b="0" lang="es-ES" sz="1400" spc="-1" strike="noStrike">
              <a:latin typeface="Arial"/>
            </a:endParaRPr>
          </a:p>
          <a:p>
            <a:pPr marL="203040" indent="-200520">
              <a:lnSpc>
                <a:spcPct val="100000"/>
              </a:lnSpc>
              <a:spcAft>
                <a:spcPts val="400"/>
              </a:spcAft>
              <a:buClr>
                <a:srgbClr val="e6eef8"/>
              </a:buClr>
              <a:buFont typeface="Symbol"/>
              <a:buChar char=""/>
            </a:pPr>
            <a:r>
              <a:rPr b="0" lang="en-US" sz="1400" spc="-1" strike="noStrike">
                <a:solidFill>
                  <a:srgbClr val="e6eef8"/>
                </a:solidFill>
                <a:latin typeface="Calibri"/>
                <a:ea typeface="Calibri"/>
              </a:rPr>
              <a:t>Clave ideal: estrecha, única, estática y creciente</a:t>
            </a:r>
            <a:endParaRPr b="0" lang="es-ES" sz="1400" spc="-1" strike="noStrike">
              <a:latin typeface="Arial"/>
            </a:endParaRPr>
          </a:p>
          <a:p>
            <a:pPr marL="203040" indent="-200520">
              <a:lnSpc>
                <a:spcPct val="100000"/>
              </a:lnSpc>
              <a:spcAft>
                <a:spcPts val="400"/>
              </a:spcAft>
              <a:buClr>
                <a:srgbClr val="e6eef8"/>
              </a:buClr>
              <a:buFont typeface="Symbol"/>
              <a:buChar char=""/>
            </a:pPr>
            <a:r>
              <a:rPr b="0" lang="en-US" sz="1400" spc="-1" strike="noStrike">
                <a:solidFill>
                  <a:srgbClr val="e6eef8"/>
                </a:solidFill>
                <a:latin typeface="Calibri"/>
                <a:ea typeface="Calibri"/>
              </a:rPr>
              <a:t>Sin Forwarded Records, pero con posibles Page Splits</a:t>
            </a:r>
            <a:endParaRPr b="0" lang="es-ES" sz="1400" spc="-1" strike="noStrike">
              <a:latin typeface="Arial"/>
            </a:endParaRPr>
          </a:p>
        </p:txBody>
      </p:sp>
      <p:sp>
        <p:nvSpPr>
          <p:cNvPr id="1149" name="CustomShape 13"/>
          <p:cNvSpPr/>
          <p:nvPr/>
        </p:nvSpPr>
        <p:spPr>
          <a:xfrm>
            <a:off x="548640" y="5029200"/>
            <a:ext cx="11089080" cy="1140480"/>
          </a:xfrm>
          <a:prstGeom prst="roundRect">
            <a:avLst>
              <a:gd name="adj" fmla="val 9600"/>
            </a:avLst>
          </a:prstGeom>
          <a:solidFill>
            <a:srgbClr val="e8eef5"/>
          </a:solidFill>
          <a:ln>
            <a:noFill/>
          </a:ln>
        </p:spPr>
        <p:style>
          <a:lnRef idx="0"/>
          <a:fillRef idx="0"/>
          <a:effectRef idx="0"/>
          <a:fontRef idx="minor"/>
        </p:style>
      </p:sp>
      <p:sp>
        <p:nvSpPr>
          <p:cNvPr id="1150" name="CustomShape 14"/>
          <p:cNvSpPr/>
          <p:nvPr/>
        </p:nvSpPr>
        <p:spPr>
          <a:xfrm>
            <a:off x="731520" y="5372280"/>
            <a:ext cx="454680" cy="454680"/>
          </a:xfrm>
          <a:prstGeom prst="ellipse">
            <a:avLst/>
          </a:prstGeom>
          <a:solidFill>
            <a:srgbClr val="134074"/>
          </a:solidFill>
          <a:ln>
            <a:noFill/>
          </a:ln>
        </p:spPr>
        <p:style>
          <a:lnRef idx="0"/>
          <a:fillRef idx="0"/>
          <a:effectRef idx="0"/>
          <a:fontRef idx="minor"/>
        </p:style>
      </p:sp>
      <p:pic>
        <p:nvPicPr>
          <p:cNvPr id="1151" name="Image 2" descr="preencoded.png"/>
          <p:cNvPicPr/>
          <p:nvPr/>
        </p:nvPicPr>
        <p:blipFill>
          <a:blip r:embed="rId3"/>
          <a:stretch/>
        </p:blipFill>
        <p:spPr>
          <a:xfrm>
            <a:off x="846000" y="5486400"/>
            <a:ext cx="226080" cy="226080"/>
          </a:xfrm>
          <a:prstGeom prst="rect">
            <a:avLst/>
          </a:prstGeom>
          <a:ln>
            <a:noFill/>
          </a:ln>
        </p:spPr>
      </p:pic>
      <p:sp>
        <p:nvSpPr>
          <p:cNvPr id="1152" name="CustomShape 15"/>
          <p:cNvSpPr/>
          <p:nvPr/>
        </p:nvSpPr>
        <p:spPr>
          <a:xfrm>
            <a:off x="1371600" y="5029200"/>
            <a:ext cx="10083240" cy="11404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500" spc="-1" strike="noStrike">
                <a:solidFill>
                  <a:srgbClr val="0b2545"/>
                </a:solidFill>
                <a:latin typeface="Calibri"/>
                <a:ea typeface="Calibri"/>
              </a:rPr>
              <a:t>Regla práctica: </a:t>
            </a:r>
            <a:r>
              <a:rPr b="0" lang="en-US" sz="1500" spc="-1" strike="noStrike">
                <a:solidFill>
                  <a:srgbClr val="1f2933"/>
                </a:solidFill>
                <a:latin typeface="Calibri"/>
                <a:ea typeface="Calibri"/>
              </a:rPr>
              <a:t>en OLTP casi toda tabla debe tener un Clustered Index estrecho y creciente (por ejemplo INT IDENTITY). Cada columna de esa clave se copia en todos los índices no clustered.</a:t>
            </a:r>
            <a:endParaRPr b="0" lang="es-ES" sz="1500" spc="-1" strike="noStrike">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153"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ÍNDICES</a:t>
            </a:r>
            <a:endParaRPr b="0" lang="es-ES" sz="1000" spc="-1" strike="noStrike">
              <a:latin typeface="Arial"/>
            </a:endParaRPr>
          </a:p>
        </p:txBody>
      </p:sp>
      <p:sp>
        <p:nvSpPr>
          <p:cNvPr id="1154"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Estructura B-Tree de un índice</a:t>
            </a:r>
            <a:endParaRPr b="0" lang="es-ES" sz="3400" spc="-1" strike="noStrike">
              <a:latin typeface="Arial"/>
            </a:endParaRPr>
          </a:p>
        </p:txBody>
      </p:sp>
      <p:sp>
        <p:nvSpPr>
          <p:cNvPr id="1155"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156"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3   46</a:t>
            </a:r>
            <a:endParaRPr b="0" lang="es-ES" sz="1000" spc="-1" strike="noStrike">
              <a:latin typeface="Arial"/>
            </a:endParaRPr>
          </a:p>
        </p:txBody>
      </p:sp>
      <p:sp>
        <p:nvSpPr>
          <p:cNvPr id="1157" name="CustomShape 5"/>
          <p:cNvSpPr/>
          <p:nvPr/>
        </p:nvSpPr>
        <p:spPr>
          <a:xfrm>
            <a:off x="548640" y="2103120"/>
            <a:ext cx="1231920" cy="4546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200" spc="-1" strike="noStrike">
                <a:solidFill>
                  <a:srgbClr val="5c6b7a"/>
                </a:solidFill>
                <a:latin typeface="Calibri"/>
                <a:ea typeface="Calibri"/>
              </a:rPr>
              <a:t>Raíz (Root)</a:t>
            </a:r>
            <a:endParaRPr b="0" lang="es-ES" sz="1200" spc="-1" strike="noStrike">
              <a:latin typeface="Arial"/>
            </a:endParaRPr>
          </a:p>
        </p:txBody>
      </p:sp>
      <p:sp>
        <p:nvSpPr>
          <p:cNvPr id="1158" name="CustomShape 6"/>
          <p:cNvSpPr/>
          <p:nvPr/>
        </p:nvSpPr>
        <p:spPr>
          <a:xfrm>
            <a:off x="548640" y="3291840"/>
            <a:ext cx="1231920" cy="4546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200" spc="-1" strike="noStrike">
                <a:solidFill>
                  <a:srgbClr val="5c6b7a"/>
                </a:solidFill>
                <a:latin typeface="Calibri"/>
                <a:ea typeface="Calibri"/>
              </a:rPr>
              <a:t>Nivel intermedio</a:t>
            </a:r>
            <a:endParaRPr b="0" lang="es-ES" sz="1200" spc="-1" strike="noStrike">
              <a:latin typeface="Arial"/>
            </a:endParaRPr>
          </a:p>
        </p:txBody>
      </p:sp>
      <p:sp>
        <p:nvSpPr>
          <p:cNvPr id="1159" name="CustomShape 7"/>
          <p:cNvSpPr/>
          <p:nvPr/>
        </p:nvSpPr>
        <p:spPr>
          <a:xfrm>
            <a:off x="548640" y="4480560"/>
            <a:ext cx="1231920" cy="82044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200" spc="-1" strike="noStrike">
                <a:solidFill>
                  <a:srgbClr val="5c6b7a"/>
                </a:solidFill>
                <a:latin typeface="Calibri"/>
                <a:ea typeface="Calibri"/>
              </a:rPr>
              <a:t>Nivel hoja (Leaf)</a:t>
            </a:r>
            <a:endParaRPr b="0" lang="es-ES" sz="1200" spc="-1" strike="noStrike">
              <a:latin typeface="Arial"/>
            </a:endParaRPr>
          </a:p>
        </p:txBody>
      </p:sp>
      <p:sp>
        <p:nvSpPr>
          <p:cNvPr id="1160" name="CustomShape 8"/>
          <p:cNvSpPr/>
          <p:nvPr/>
        </p:nvSpPr>
        <p:spPr>
          <a:xfrm>
            <a:off x="1783080" y="1600200"/>
            <a:ext cx="4697640" cy="3632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500" spc="-1" strike="noStrike">
                <a:solidFill>
                  <a:srgbClr val="0b2545"/>
                </a:solidFill>
                <a:latin typeface="Calibri"/>
                <a:ea typeface="Calibri"/>
              </a:rPr>
              <a:t>Clustered Index</a:t>
            </a:r>
            <a:endParaRPr b="0" lang="es-ES" sz="1500" spc="-1" strike="noStrike">
              <a:latin typeface="Arial"/>
            </a:endParaRPr>
          </a:p>
        </p:txBody>
      </p:sp>
      <p:sp>
        <p:nvSpPr>
          <p:cNvPr id="1161" name="CustomShape 9"/>
          <p:cNvSpPr/>
          <p:nvPr/>
        </p:nvSpPr>
        <p:spPr>
          <a:xfrm>
            <a:off x="3493080" y="2103120"/>
            <a:ext cx="1277640" cy="454680"/>
          </a:xfrm>
          <a:prstGeom prst="roundRect">
            <a:avLst>
              <a:gd name="adj" fmla="val 16000"/>
            </a:avLst>
          </a:prstGeom>
          <a:solidFill>
            <a:srgbClr val="0b2545"/>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300" spc="-1" strike="noStrike">
                <a:solidFill>
                  <a:srgbClr val="ffffff"/>
                </a:solidFill>
                <a:latin typeface="Calibri"/>
                <a:ea typeface="Calibri"/>
              </a:rPr>
              <a:t>50 | 100</a:t>
            </a:r>
            <a:endParaRPr b="0" lang="es-ES" sz="1300" spc="-1" strike="noStrike">
              <a:latin typeface="Arial"/>
            </a:endParaRPr>
          </a:p>
        </p:txBody>
      </p:sp>
      <p:sp>
        <p:nvSpPr>
          <p:cNvPr id="1162" name="CustomShape 10"/>
          <p:cNvSpPr/>
          <p:nvPr/>
        </p:nvSpPr>
        <p:spPr>
          <a:xfrm>
            <a:off x="1783080" y="3291840"/>
            <a:ext cx="1369080" cy="454680"/>
          </a:xfrm>
          <a:prstGeom prst="roundRect">
            <a:avLst>
              <a:gd name="adj" fmla="val 16000"/>
            </a:avLst>
          </a:prstGeom>
          <a:solidFill>
            <a:srgbClr val="134074"/>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300" spc="-1" strike="noStrike">
                <a:solidFill>
                  <a:srgbClr val="ffffff"/>
                </a:solidFill>
                <a:latin typeface="Calibri"/>
                <a:ea typeface="Calibri"/>
              </a:rPr>
              <a:t>10 | 30</a:t>
            </a:r>
            <a:endParaRPr b="0" lang="es-ES" sz="1300" spc="-1" strike="noStrike">
              <a:latin typeface="Arial"/>
            </a:endParaRPr>
          </a:p>
        </p:txBody>
      </p:sp>
      <p:sp>
        <p:nvSpPr>
          <p:cNvPr id="1163" name="Line 11"/>
          <p:cNvSpPr/>
          <p:nvPr/>
        </p:nvSpPr>
        <p:spPr>
          <a:xfrm flipH="1">
            <a:off x="2468880" y="2560320"/>
            <a:ext cx="1663920" cy="731520"/>
          </a:xfrm>
          <a:prstGeom prst="line">
            <a:avLst/>
          </a:prstGeom>
          <a:ln w="15840">
            <a:solidFill>
              <a:srgbClr val="5c6b7a"/>
            </a:solidFill>
            <a:round/>
          </a:ln>
        </p:spPr>
        <p:style>
          <a:lnRef idx="0"/>
          <a:fillRef idx="0"/>
          <a:effectRef idx="0"/>
          <a:fontRef idx="minor"/>
        </p:style>
      </p:sp>
      <p:sp>
        <p:nvSpPr>
          <p:cNvPr id="1164" name="CustomShape 12"/>
          <p:cNvSpPr/>
          <p:nvPr/>
        </p:nvSpPr>
        <p:spPr>
          <a:xfrm>
            <a:off x="3447360" y="3291840"/>
            <a:ext cx="1369080" cy="454680"/>
          </a:xfrm>
          <a:prstGeom prst="roundRect">
            <a:avLst>
              <a:gd name="adj" fmla="val 16000"/>
            </a:avLst>
          </a:prstGeom>
          <a:solidFill>
            <a:srgbClr val="134074"/>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300" spc="-1" strike="noStrike">
                <a:solidFill>
                  <a:srgbClr val="ffffff"/>
                </a:solidFill>
                <a:latin typeface="Calibri"/>
                <a:ea typeface="Calibri"/>
              </a:rPr>
              <a:t>60 | 80</a:t>
            </a:r>
            <a:endParaRPr b="0" lang="es-ES" sz="1300" spc="-1" strike="noStrike">
              <a:latin typeface="Arial"/>
            </a:endParaRPr>
          </a:p>
        </p:txBody>
      </p:sp>
      <p:sp>
        <p:nvSpPr>
          <p:cNvPr id="1165" name="Line 13"/>
          <p:cNvSpPr/>
          <p:nvPr/>
        </p:nvSpPr>
        <p:spPr>
          <a:xfrm>
            <a:off x="4132800" y="2560320"/>
            <a:ext cx="0" cy="731520"/>
          </a:xfrm>
          <a:prstGeom prst="line">
            <a:avLst/>
          </a:prstGeom>
          <a:ln w="15840">
            <a:solidFill>
              <a:srgbClr val="5c6b7a"/>
            </a:solidFill>
            <a:round/>
          </a:ln>
        </p:spPr>
        <p:style>
          <a:lnRef idx="0"/>
          <a:fillRef idx="0"/>
          <a:effectRef idx="0"/>
          <a:fontRef idx="minor"/>
        </p:style>
      </p:sp>
      <p:sp>
        <p:nvSpPr>
          <p:cNvPr id="1166" name="CustomShape 14"/>
          <p:cNvSpPr/>
          <p:nvPr/>
        </p:nvSpPr>
        <p:spPr>
          <a:xfrm>
            <a:off x="5111640" y="3291840"/>
            <a:ext cx="1369080" cy="454680"/>
          </a:xfrm>
          <a:prstGeom prst="roundRect">
            <a:avLst>
              <a:gd name="adj" fmla="val 16000"/>
            </a:avLst>
          </a:prstGeom>
          <a:solidFill>
            <a:srgbClr val="134074"/>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300" spc="-1" strike="noStrike">
                <a:solidFill>
                  <a:srgbClr val="ffffff"/>
                </a:solidFill>
                <a:latin typeface="Calibri"/>
                <a:ea typeface="Calibri"/>
              </a:rPr>
              <a:t>110 | 130</a:t>
            </a:r>
            <a:endParaRPr b="0" lang="es-ES" sz="1300" spc="-1" strike="noStrike">
              <a:latin typeface="Arial"/>
            </a:endParaRPr>
          </a:p>
        </p:txBody>
      </p:sp>
      <p:sp>
        <p:nvSpPr>
          <p:cNvPr id="1167" name="Line 15"/>
          <p:cNvSpPr/>
          <p:nvPr/>
        </p:nvSpPr>
        <p:spPr>
          <a:xfrm>
            <a:off x="4132800" y="2560320"/>
            <a:ext cx="1664280" cy="731520"/>
          </a:xfrm>
          <a:prstGeom prst="line">
            <a:avLst/>
          </a:prstGeom>
          <a:ln w="15840">
            <a:solidFill>
              <a:srgbClr val="5c6b7a"/>
            </a:solidFill>
            <a:round/>
          </a:ln>
        </p:spPr>
        <p:style>
          <a:lnRef idx="0"/>
          <a:fillRef idx="0"/>
          <a:effectRef idx="0"/>
          <a:fontRef idx="minor"/>
        </p:style>
      </p:sp>
      <p:sp>
        <p:nvSpPr>
          <p:cNvPr id="1168" name="CustomShape 16"/>
          <p:cNvSpPr/>
          <p:nvPr/>
        </p:nvSpPr>
        <p:spPr>
          <a:xfrm>
            <a:off x="1783080" y="4480560"/>
            <a:ext cx="1021680" cy="820440"/>
          </a:xfrm>
          <a:prstGeom prst="roundRect">
            <a:avLst>
              <a:gd name="adj" fmla="val 6667"/>
            </a:avLst>
          </a:prstGeom>
          <a:solidFill>
            <a:srgbClr val="d95d39"/>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0" lang="en-US" sz="1200" spc="-1" strike="noStrike">
                <a:solidFill>
                  <a:srgbClr val="ffffff"/>
                </a:solidFill>
                <a:latin typeface="Calibri"/>
                <a:ea typeface="Calibri"/>
              </a:rPr>
              <a:t>Filas</a:t>
            </a:r>
            <a:endParaRPr b="0" lang="es-ES" sz="1200" spc="-1" strike="noStrike">
              <a:latin typeface="Arial"/>
            </a:endParaRPr>
          </a:p>
          <a:p>
            <a:pPr algn="ctr">
              <a:lnSpc>
                <a:spcPct val="100000"/>
              </a:lnSpc>
              <a:tabLst>
                <a:tab algn="l" pos="0"/>
              </a:tabLst>
            </a:pPr>
            <a:r>
              <a:rPr b="0" lang="en-US" sz="1200" spc="-1" strike="noStrike">
                <a:solidFill>
                  <a:srgbClr val="ffffff"/>
                </a:solidFill>
                <a:latin typeface="Calibri"/>
                <a:ea typeface="Calibri"/>
              </a:rPr>
              <a:t>1–9</a:t>
            </a:r>
            <a:endParaRPr b="0" lang="es-ES" sz="1200" spc="-1" strike="noStrike">
              <a:latin typeface="Arial"/>
            </a:endParaRPr>
          </a:p>
        </p:txBody>
      </p:sp>
      <p:sp>
        <p:nvSpPr>
          <p:cNvPr id="1169" name="Line 17"/>
          <p:cNvSpPr/>
          <p:nvPr/>
        </p:nvSpPr>
        <p:spPr>
          <a:xfrm flipH="1">
            <a:off x="2295000" y="3749040"/>
            <a:ext cx="173880" cy="731520"/>
          </a:xfrm>
          <a:prstGeom prst="line">
            <a:avLst/>
          </a:prstGeom>
          <a:ln w="15840">
            <a:solidFill>
              <a:srgbClr val="5c6b7a"/>
            </a:solidFill>
            <a:round/>
          </a:ln>
        </p:spPr>
        <p:style>
          <a:lnRef idx="0"/>
          <a:fillRef idx="0"/>
          <a:effectRef idx="0"/>
          <a:fontRef idx="minor"/>
        </p:style>
      </p:sp>
      <p:sp>
        <p:nvSpPr>
          <p:cNvPr id="1170" name="Line 18"/>
          <p:cNvSpPr/>
          <p:nvPr/>
        </p:nvSpPr>
        <p:spPr>
          <a:xfrm>
            <a:off x="2806920" y="4892040"/>
            <a:ext cx="201240" cy="0"/>
          </a:xfrm>
          <a:prstGeom prst="line">
            <a:avLst/>
          </a:prstGeom>
          <a:ln w="19080">
            <a:solidFill>
              <a:srgbClr val="d95d39"/>
            </a:solidFill>
            <a:round/>
            <a:headEnd len="med" type="triangle" w="med"/>
            <a:tailEnd len="med" type="triangle" w="med"/>
          </a:ln>
        </p:spPr>
        <p:style>
          <a:lnRef idx="0"/>
          <a:fillRef idx="0"/>
          <a:effectRef idx="0"/>
          <a:fontRef idx="minor"/>
        </p:style>
      </p:sp>
      <p:sp>
        <p:nvSpPr>
          <p:cNvPr id="1171" name="CustomShape 19"/>
          <p:cNvSpPr/>
          <p:nvPr/>
        </p:nvSpPr>
        <p:spPr>
          <a:xfrm>
            <a:off x="3008520" y="4480560"/>
            <a:ext cx="1021680" cy="820440"/>
          </a:xfrm>
          <a:prstGeom prst="roundRect">
            <a:avLst>
              <a:gd name="adj" fmla="val 6667"/>
            </a:avLst>
          </a:prstGeom>
          <a:solidFill>
            <a:srgbClr val="d95d39"/>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0" lang="en-US" sz="1200" spc="-1" strike="noStrike">
                <a:solidFill>
                  <a:srgbClr val="ffffff"/>
                </a:solidFill>
                <a:latin typeface="Calibri"/>
                <a:ea typeface="Calibri"/>
              </a:rPr>
              <a:t>Filas</a:t>
            </a:r>
            <a:endParaRPr b="0" lang="es-ES" sz="1200" spc="-1" strike="noStrike">
              <a:latin typeface="Arial"/>
            </a:endParaRPr>
          </a:p>
          <a:p>
            <a:pPr algn="ctr">
              <a:lnSpc>
                <a:spcPct val="100000"/>
              </a:lnSpc>
              <a:tabLst>
                <a:tab algn="l" pos="0"/>
              </a:tabLst>
            </a:pPr>
            <a:r>
              <a:rPr b="0" lang="en-US" sz="1200" spc="-1" strike="noStrike">
                <a:solidFill>
                  <a:srgbClr val="ffffff"/>
                </a:solidFill>
                <a:latin typeface="Calibri"/>
                <a:ea typeface="Calibri"/>
              </a:rPr>
              <a:t>10–49</a:t>
            </a:r>
            <a:endParaRPr b="0" lang="es-ES" sz="1200" spc="-1" strike="noStrike">
              <a:latin typeface="Arial"/>
            </a:endParaRPr>
          </a:p>
        </p:txBody>
      </p:sp>
      <p:sp>
        <p:nvSpPr>
          <p:cNvPr id="1172" name="Line 20"/>
          <p:cNvSpPr/>
          <p:nvPr/>
        </p:nvSpPr>
        <p:spPr>
          <a:xfrm>
            <a:off x="2468880" y="3749040"/>
            <a:ext cx="1051560" cy="731520"/>
          </a:xfrm>
          <a:prstGeom prst="line">
            <a:avLst/>
          </a:prstGeom>
          <a:ln w="15840">
            <a:solidFill>
              <a:srgbClr val="5c6b7a"/>
            </a:solidFill>
            <a:round/>
          </a:ln>
        </p:spPr>
        <p:style>
          <a:lnRef idx="0"/>
          <a:fillRef idx="0"/>
          <a:effectRef idx="0"/>
          <a:fontRef idx="minor"/>
        </p:style>
      </p:sp>
      <p:sp>
        <p:nvSpPr>
          <p:cNvPr id="1173" name="Line 21"/>
          <p:cNvSpPr/>
          <p:nvPr/>
        </p:nvSpPr>
        <p:spPr>
          <a:xfrm>
            <a:off x="4032360" y="4892040"/>
            <a:ext cx="201240" cy="0"/>
          </a:xfrm>
          <a:prstGeom prst="line">
            <a:avLst/>
          </a:prstGeom>
          <a:ln w="19080">
            <a:solidFill>
              <a:srgbClr val="d95d39"/>
            </a:solidFill>
            <a:round/>
            <a:headEnd len="med" type="triangle" w="med"/>
            <a:tailEnd len="med" type="triangle" w="med"/>
          </a:ln>
        </p:spPr>
        <p:style>
          <a:lnRef idx="0"/>
          <a:fillRef idx="0"/>
          <a:effectRef idx="0"/>
          <a:fontRef idx="minor"/>
        </p:style>
      </p:sp>
      <p:sp>
        <p:nvSpPr>
          <p:cNvPr id="1174" name="CustomShape 22"/>
          <p:cNvSpPr/>
          <p:nvPr/>
        </p:nvSpPr>
        <p:spPr>
          <a:xfrm>
            <a:off x="4233600" y="4480560"/>
            <a:ext cx="1021680" cy="820440"/>
          </a:xfrm>
          <a:prstGeom prst="roundRect">
            <a:avLst>
              <a:gd name="adj" fmla="val 6667"/>
            </a:avLst>
          </a:prstGeom>
          <a:solidFill>
            <a:srgbClr val="d95d39"/>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0" lang="en-US" sz="1200" spc="-1" strike="noStrike">
                <a:solidFill>
                  <a:srgbClr val="ffffff"/>
                </a:solidFill>
                <a:latin typeface="Calibri"/>
                <a:ea typeface="Calibri"/>
              </a:rPr>
              <a:t>Filas</a:t>
            </a:r>
            <a:endParaRPr b="0" lang="es-ES" sz="1200" spc="-1" strike="noStrike">
              <a:latin typeface="Arial"/>
            </a:endParaRPr>
          </a:p>
          <a:p>
            <a:pPr algn="ctr">
              <a:lnSpc>
                <a:spcPct val="100000"/>
              </a:lnSpc>
              <a:tabLst>
                <a:tab algn="l" pos="0"/>
              </a:tabLst>
            </a:pPr>
            <a:r>
              <a:rPr b="0" lang="en-US" sz="1200" spc="-1" strike="noStrike">
                <a:solidFill>
                  <a:srgbClr val="ffffff"/>
                </a:solidFill>
                <a:latin typeface="Calibri"/>
                <a:ea typeface="Calibri"/>
              </a:rPr>
              <a:t>50–99</a:t>
            </a:r>
            <a:endParaRPr b="0" lang="es-ES" sz="1200" spc="-1" strike="noStrike">
              <a:latin typeface="Arial"/>
            </a:endParaRPr>
          </a:p>
        </p:txBody>
      </p:sp>
      <p:sp>
        <p:nvSpPr>
          <p:cNvPr id="1175" name="Line 23"/>
          <p:cNvSpPr/>
          <p:nvPr/>
        </p:nvSpPr>
        <p:spPr>
          <a:xfrm>
            <a:off x="4132800" y="3749040"/>
            <a:ext cx="612720" cy="731520"/>
          </a:xfrm>
          <a:prstGeom prst="line">
            <a:avLst/>
          </a:prstGeom>
          <a:ln w="15840">
            <a:solidFill>
              <a:srgbClr val="5c6b7a"/>
            </a:solidFill>
            <a:round/>
          </a:ln>
        </p:spPr>
        <p:style>
          <a:lnRef idx="0"/>
          <a:fillRef idx="0"/>
          <a:effectRef idx="0"/>
          <a:fontRef idx="minor"/>
        </p:style>
      </p:sp>
      <p:sp>
        <p:nvSpPr>
          <p:cNvPr id="1176" name="Line 24"/>
          <p:cNvSpPr/>
          <p:nvPr/>
        </p:nvSpPr>
        <p:spPr>
          <a:xfrm>
            <a:off x="5257800" y="4892040"/>
            <a:ext cx="200880" cy="0"/>
          </a:xfrm>
          <a:prstGeom prst="line">
            <a:avLst/>
          </a:prstGeom>
          <a:ln w="19080">
            <a:solidFill>
              <a:srgbClr val="d95d39"/>
            </a:solidFill>
            <a:round/>
            <a:headEnd len="med" type="triangle" w="med"/>
            <a:tailEnd len="med" type="triangle" w="med"/>
          </a:ln>
        </p:spPr>
        <p:style>
          <a:lnRef idx="0"/>
          <a:fillRef idx="0"/>
          <a:effectRef idx="0"/>
          <a:fontRef idx="minor"/>
        </p:style>
      </p:sp>
      <p:sp>
        <p:nvSpPr>
          <p:cNvPr id="1177" name="CustomShape 25"/>
          <p:cNvSpPr/>
          <p:nvPr/>
        </p:nvSpPr>
        <p:spPr>
          <a:xfrm>
            <a:off x="5459040" y="4480560"/>
            <a:ext cx="1021680" cy="820440"/>
          </a:xfrm>
          <a:prstGeom prst="roundRect">
            <a:avLst>
              <a:gd name="adj" fmla="val 6667"/>
            </a:avLst>
          </a:prstGeom>
          <a:solidFill>
            <a:srgbClr val="d95d39"/>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0" lang="en-US" sz="1200" spc="-1" strike="noStrike">
                <a:solidFill>
                  <a:srgbClr val="ffffff"/>
                </a:solidFill>
                <a:latin typeface="Calibri"/>
                <a:ea typeface="Calibri"/>
              </a:rPr>
              <a:t>Filas</a:t>
            </a:r>
            <a:endParaRPr b="0" lang="es-ES" sz="1200" spc="-1" strike="noStrike">
              <a:latin typeface="Arial"/>
            </a:endParaRPr>
          </a:p>
          <a:p>
            <a:pPr algn="ctr">
              <a:lnSpc>
                <a:spcPct val="100000"/>
              </a:lnSpc>
              <a:tabLst>
                <a:tab algn="l" pos="0"/>
              </a:tabLst>
            </a:pPr>
            <a:r>
              <a:rPr b="0" lang="en-US" sz="1200" spc="-1" strike="noStrike">
                <a:solidFill>
                  <a:srgbClr val="ffffff"/>
                </a:solidFill>
                <a:latin typeface="Calibri"/>
                <a:ea typeface="Calibri"/>
              </a:rPr>
              <a:t>100+</a:t>
            </a:r>
            <a:endParaRPr b="0" lang="es-ES" sz="1200" spc="-1" strike="noStrike">
              <a:latin typeface="Arial"/>
            </a:endParaRPr>
          </a:p>
        </p:txBody>
      </p:sp>
      <p:sp>
        <p:nvSpPr>
          <p:cNvPr id="1178" name="Line 26"/>
          <p:cNvSpPr/>
          <p:nvPr/>
        </p:nvSpPr>
        <p:spPr>
          <a:xfrm>
            <a:off x="5797080" y="3749040"/>
            <a:ext cx="173880" cy="731520"/>
          </a:xfrm>
          <a:prstGeom prst="line">
            <a:avLst/>
          </a:prstGeom>
          <a:ln w="15840">
            <a:solidFill>
              <a:srgbClr val="5c6b7a"/>
            </a:solidFill>
            <a:round/>
          </a:ln>
        </p:spPr>
        <p:style>
          <a:lnRef idx="0"/>
          <a:fillRef idx="0"/>
          <a:effectRef idx="0"/>
          <a:fontRef idx="minor"/>
        </p:style>
      </p:sp>
      <p:sp>
        <p:nvSpPr>
          <p:cNvPr id="1179" name="CustomShape 27"/>
          <p:cNvSpPr/>
          <p:nvPr/>
        </p:nvSpPr>
        <p:spPr>
          <a:xfrm>
            <a:off x="6940440" y="1600200"/>
            <a:ext cx="4697640" cy="3632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500" spc="-1" strike="noStrike">
                <a:solidFill>
                  <a:srgbClr val="0b2545"/>
                </a:solidFill>
                <a:latin typeface="Calibri"/>
                <a:ea typeface="Calibri"/>
              </a:rPr>
              <a:t>Non-Clustered Index</a:t>
            </a:r>
            <a:endParaRPr b="0" lang="es-ES" sz="1500" spc="-1" strike="noStrike">
              <a:latin typeface="Arial"/>
            </a:endParaRPr>
          </a:p>
        </p:txBody>
      </p:sp>
      <p:sp>
        <p:nvSpPr>
          <p:cNvPr id="1180" name="CustomShape 28"/>
          <p:cNvSpPr/>
          <p:nvPr/>
        </p:nvSpPr>
        <p:spPr>
          <a:xfrm>
            <a:off x="8650080" y="2103120"/>
            <a:ext cx="1277640" cy="454680"/>
          </a:xfrm>
          <a:prstGeom prst="roundRect">
            <a:avLst>
              <a:gd name="adj" fmla="val 16000"/>
            </a:avLst>
          </a:prstGeom>
          <a:solidFill>
            <a:srgbClr val="0b2545"/>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300" spc="-1" strike="noStrike">
                <a:solidFill>
                  <a:srgbClr val="ffffff"/>
                </a:solidFill>
                <a:latin typeface="Calibri"/>
                <a:ea typeface="Calibri"/>
              </a:rPr>
              <a:t>M | T</a:t>
            </a:r>
            <a:endParaRPr b="0" lang="es-ES" sz="1300" spc="-1" strike="noStrike">
              <a:latin typeface="Arial"/>
            </a:endParaRPr>
          </a:p>
        </p:txBody>
      </p:sp>
      <p:sp>
        <p:nvSpPr>
          <p:cNvPr id="1181" name="CustomShape 29"/>
          <p:cNvSpPr/>
          <p:nvPr/>
        </p:nvSpPr>
        <p:spPr>
          <a:xfrm>
            <a:off x="6940440" y="3291840"/>
            <a:ext cx="1369080" cy="454680"/>
          </a:xfrm>
          <a:prstGeom prst="roundRect">
            <a:avLst>
              <a:gd name="adj" fmla="val 16000"/>
            </a:avLst>
          </a:prstGeom>
          <a:solidFill>
            <a:srgbClr val="134074"/>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300" spc="-1" strike="noStrike">
                <a:solidFill>
                  <a:srgbClr val="ffffff"/>
                </a:solidFill>
                <a:latin typeface="Calibri"/>
                <a:ea typeface="Calibri"/>
              </a:rPr>
              <a:t>A | F</a:t>
            </a:r>
            <a:endParaRPr b="0" lang="es-ES" sz="1300" spc="-1" strike="noStrike">
              <a:latin typeface="Arial"/>
            </a:endParaRPr>
          </a:p>
        </p:txBody>
      </p:sp>
      <p:sp>
        <p:nvSpPr>
          <p:cNvPr id="1182" name="Line 30"/>
          <p:cNvSpPr/>
          <p:nvPr/>
        </p:nvSpPr>
        <p:spPr>
          <a:xfrm flipH="1">
            <a:off x="7625880" y="2560320"/>
            <a:ext cx="1664280" cy="731520"/>
          </a:xfrm>
          <a:prstGeom prst="line">
            <a:avLst/>
          </a:prstGeom>
          <a:ln w="15840">
            <a:solidFill>
              <a:srgbClr val="5c6b7a"/>
            </a:solidFill>
            <a:round/>
          </a:ln>
        </p:spPr>
        <p:style>
          <a:lnRef idx="0"/>
          <a:fillRef idx="0"/>
          <a:effectRef idx="0"/>
          <a:fontRef idx="minor"/>
        </p:style>
      </p:sp>
      <p:sp>
        <p:nvSpPr>
          <p:cNvPr id="1183" name="CustomShape 31"/>
          <p:cNvSpPr/>
          <p:nvPr/>
        </p:nvSpPr>
        <p:spPr>
          <a:xfrm>
            <a:off x="8604360" y="3291840"/>
            <a:ext cx="1369080" cy="454680"/>
          </a:xfrm>
          <a:prstGeom prst="roundRect">
            <a:avLst>
              <a:gd name="adj" fmla="val 16000"/>
            </a:avLst>
          </a:prstGeom>
          <a:solidFill>
            <a:srgbClr val="134074"/>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300" spc="-1" strike="noStrike">
                <a:solidFill>
                  <a:srgbClr val="ffffff"/>
                </a:solidFill>
                <a:latin typeface="Calibri"/>
                <a:ea typeface="Calibri"/>
              </a:rPr>
              <a:t>M | P</a:t>
            </a:r>
            <a:endParaRPr b="0" lang="es-ES" sz="1300" spc="-1" strike="noStrike">
              <a:latin typeface="Arial"/>
            </a:endParaRPr>
          </a:p>
        </p:txBody>
      </p:sp>
      <p:sp>
        <p:nvSpPr>
          <p:cNvPr id="1184" name="Line 32"/>
          <p:cNvSpPr/>
          <p:nvPr/>
        </p:nvSpPr>
        <p:spPr>
          <a:xfrm>
            <a:off x="9290160" y="2560320"/>
            <a:ext cx="0" cy="731520"/>
          </a:xfrm>
          <a:prstGeom prst="line">
            <a:avLst/>
          </a:prstGeom>
          <a:ln w="15840">
            <a:solidFill>
              <a:srgbClr val="5c6b7a"/>
            </a:solidFill>
            <a:round/>
          </a:ln>
        </p:spPr>
        <p:style>
          <a:lnRef idx="0"/>
          <a:fillRef idx="0"/>
          <a:effectRef idx="0"/>
          <a:fontRef idx="minor"/>
        </p:style>
      </p:sp>
      <p:sp>
        <p:nvSpPr>
          <p:cNvPr id="1185" name="CustomShape 33"/>
          <p:cNvSpPr/>
          <p:nvPr/>
        </p:nvSpPr>
        <p:spPr>
          <a:xfrm>
            <a:off x="10268640" y="3291840"/>
            <a:ext cx="1369080" cy="454680"/>
          </a:xfrm>
          <a:prstGeom prst="roundRect">
            <a:avLst>
              <a:gd name="adj" fmla="val 16000"/>
            </a:avLst>
          </a:prstGeom>
          <a:solidFill>
            <a:srgbClr val="134074"/>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300" spc="-1" strike="noStrike">
                <a:solidFill>
                  <a:srgbClr val="ffffff"/>
                </a:solidFill>
                <a:latin typeface="Calibri"/>
                <a:ea typeface="Calibri"/>
              </a:rPr>
              <a:t>T | W</a:t>
            </a:r>
            <a:endParaRPr b="0" lang="es-ES" sz="1300" spc="-1" strike="noStrike">
              <a:latin typeface="Arial"/>
            </a:endParaRPr>
          </a:p>
        </p:txBody>
      </p:sp>
      <p:sp>
        <p:nvSpPr>
          <p:cNvPr id="1186" name="Line 34"/>
          <p:cNvSpPr/>
          <p:nvPr/>
        </p:nvSpPr>
        <p:spPr>
          <a:xfrm>
            <a:off x="9290160" y="2560320"/>
            <a:ext cx="1664280" cy="731520"/>
          </a:xfrm>
          <a:prstGeom prst="line">
            <a:avLst/>
          </a:prstGeom>
          <a:ln w="15840">
            <a:solidFill>
              <a:srgbClr val="5c6b7a"/>
            </a:solidFill>
            <a:round/>
          </a:ln>
        </p:spPr>
        <p:style>
          <a:lnRef idx="0"/>
          <a:fillRef idx="0"/>
          <a:effectRef idx="0"/>
          <a:fontRef idx="minor"/>
        </p:style>
      </p:sp>
      <p:sp>
        <p:nvSpPr>
          <p:cNvPr id="1187" name="CustomShape 35"/>
          <p:cNvSpPr/>
          <p:nvPr/>
        </p:nvSpPr>
        <p:spPr>
          <a:xfrm>
            <a:off x="6940440" y="4480560"/>
            <a:ext cx="1021680" cy="820440"/>
          </a:xfrm>
          <a:prstGeom prst="roundRect">
            <a:avLst>
              <a:gd name="adj" fmla="val 6667"/>
            </a:avLst>
          </a:prstGeom>
          <a:solidFill>
            <a:srgbClr val="2a7f62"/>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0" lang="en-US" sz="1200" spc="-1" strike="noStrike">
                <a:solidFill>
                  <a:srgbClr val="ffffff"/>
                </a:solidFill>
                <a:latin typeface="Calibri"/>
                <a:ea typeface="Calibri"/>
              </a:rPr>
              <a:t>Alonso→17</a:t>
            </a:r>
            <a:endParaRPr b="0" lang="es-ES" sz="1200" spc="-1" strike="noStrike">
              <a:latin typeface="Arial"/>
            </a:endParaRPr>
          </a:p>
          <a:p>
            <a:pPr algn="ctr">
              <a:lnSpc>
                <a:spcPct val="100000"/>
              </a:lnSpc>
              <a:tabLst>
                <a:tab algn="l" pos="0"/>
              </a:tabLst>
            </a:pPr>
            <a:r>
              <a:rPr b="0" lang="en-US" sz="1200" spc="-1" strike="noStrike">
                <a:solidFill>
                  <a:srgbClr val="ffffff"/>
                </a:solidFill>
                <a:latin typeface="Calibri"/>
                <a:ea typeface="Calibri"/>
              </a:rPr>
              <a:t>Bravo→42</a:t>
            </a:r>
            <a:endParaRPr b="0" lang="es-ES" sz="1200" spc="-1" strike="noStrike">
              <a:latin typeface="Arial"/>
            </a:endParaRPr>
          </a:p>
        </p:txBody>
      </p:sp>
      <p:sp>
        <p:nvSpPr>
          <p:cNvPr id="1188" name="Line 36"/>
          <p:cNvSpPr/>
          <p:nvPr/>
        </p:nvSpPr>
        <p:spPr>
          <a:xfrm flipH="1">
            <a:off x="7452360" y="3749040"/>
            <a:ext cx="173520" cy="731520"/>
          </a:xfrm>
          <a:prstGeom prst="line">
            <a:avLst/>
          </a:prstGeom>
          <a:ln w="15840">
            <a:solidFill>
              <a:srgbClr val="5c6b7a"/>
            </a:solidFill>
            <a:round/>
          </a:ln>
        </p:spPr>
        <p:style>
          <a:lnRef idx="0"/>
          <a:fillRef idx="0"/>
          <a:effectRef idx="0"/>
          <a:fontRef idx="minor"/>
        </p:style>
      </p:sp>
      <p:sp>
        <p:nvSpPr>
          <p:cNvPr id="1189" name="Line 37"/>
          <p:cNvSpPr/>
          <p:nvPr/>
        </p:nvSpPr>
        <p:spPr>
          <a:xfrm>
            <a:off x="7964280" y="4892040"/>
            <a:ext cx="201240" cy="0"/>
          </a:xfrm>
          <a:prstGeom prst="line">
            <a:avLst/>
          </a:prstGeom>
          <a:ln w="19080">
            <a:solidFill>
              <a:srgbClr val="d95d39"/>
            </a:solidFill>
            <a:round/>
            <a:headEnd len="med" type="triangle" w="med"/>
            <a:tailEnd len="med" type="triangle" w="med"/>
          </a:ln>
        </p:spPr>
        <p:style>
          <a:lnRef idx="0"/>
          <a:fillRef idx="0"/>
          <a:effectRef idx="0"/>
          <a:fontRef idx="minor"/>
        </p:style>
      </p:sp>
      <p:sp>
        <p:nvSpPr>
          <p:cNvPr id="1190" name="CustomShape 38"/>
          <p:cNvSpPr/>
          <p:nvPr/>
        </p:nvSpPr>
        <p:spPr>
          <a:xfrm>
            <a:off x="8165520" y="4480560"/>
            <a:ext cx="1021680" cy="820440"/>
          </a:xfrm>
          <a:prstGeom prst="roundRect">
            <a:avLst>
              <a:gd name="adj" fmla="val 6667"/>
            </a:avLst>
          </a:prstGeom>
          <a:solidFill>
            <a:srgbClr val="2a7f62"/>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0" lang="en-US" sz="1200" spc="-1" strike="noStrike">
                <a:solidFill>
                  <a:srgbClr val="ffffff"/>
                </a:solidFill>
                <a:latin typeface="Calibri"/>
                <a:ea typeface="Calibri"/>
              </a:rPr>
              <a:t>Casas→8</a:t>
            </a:r>
            <a:endParaRPr b="0" lang="es-ES" sz="1200" spc="-1" strike="noStrike">
              <a:latin typeface="Arial"/>
            </a:endParaRPr>
          </a:p>
          <a:p>
            <a:pPr algn="ctr">
              <a:lnSpc>
                <a:spcPct val="100000"/>
              </a:lnSpc>
              <a:tabLst>
                <a:tab algn="l" pos="0"/>
              </a:tabLst>
            </a:pPr>
            <a:r>
              <a:rPr b="0" lang="en-US" sz="1200" spc="-1" strike="noStrike">
                <a:solidFill>
                  <a:srgbClr val="ffffff"/>
                </a:solidFill>
                <a:latin typeface="Calibri"/>
                <a:ea typeface="Calibri"/>
              </a:rPr>
              <a:t>Díaz→61</a:t>
            </a:r>
            <a:endParaRPr b="0" lang="es-ES" sz="1200" spc="-1" strike="noStrike">
              <a:latin typeface="Arial"/>
            </a:endParaRPr>
          </a:p>
        </p:txBody>
      </p:sp>
      <p:sp>
        <p:nvSpPr>
          <p:cNvPr id="1191" name="Line 39"/>
          <p:cNvSpPr/>
          <p:nvPr/>
        </p:nvSpPr>
        <p:spPr>
          <a:xfrm>
            <a:off x="7625880" y="3749040"/>
            <a:ext cx="1051560" cy="731520"/>
          </a:xfrm>
          <a:prstGeom prst="line">
            <a:avLst/>
          </a:prstGeom>
          <a:ln w="15840">
            <a:solidFill>
              <a:srgbClr val="5c6b7a"/>
            </a:solidFill>
            <a:round/>
          </a:ln>
        </p:spPr>
        <p:style>
          <a:lnRef idx="0"/>
          <a:fillRef idx="0"/>
          <a:effectRef idx="0"/>
          <a:fontRef idx="minor"/>
        </p:style>
      </p:sp>
      <p:sp>
        <p:nvSpPr>
          <p:cNvPr id="1192" name="Line 40"/>
          <p:cNvSpPr/>
          <p:nvPr/>
        </p:nvSpPr>
        <p:spPr>
          <a:xfrm>
            <a:off x="9189720" y="4892040"/>
            <a:ext cx="200880" cy="0"/>
          </a:xfrm>
          <a:prstGeom prst="line">
            <a:avLst/>
          </a:prstGeom>
          <a:ln w="19080">
            <a:solidFill>
              <a:srgbClr val="d95d39"/>
            </a:solidFill>
            <a:round/>
            <a:headEnd len="med" type="triangle" w="med"/>
            <a:tailEnd len="med" type="triangle" w="med"/>
          </a:ln>
        </p:spPr>
        <p:style>
          <a:lnRef idx="0"/>
          <a:fillRef idx="0"/>
          <a:effectRef idx="0"/>
          <a:fontRef idx="minor"/>
        </p:style>
      </p:sp>
      <p:sp>
        <p:nvSpPr>
          <p:cNvPr id="1193" name="CustomShape 41"/>
          <p:cNvSpPr/>
          <p:nvPr/>
        </p:nvSpPr>
        <p:spPr>
          <a:xfrm>
            <a:off x="9390960" y="4480560"/>
            <a:ext cx="1021680" cy="820440"/>
          </a:xfrm>
          <a:prstGeom prst="roundRect">
            <a:avLst>
              <a:gd name="adj" fmla="val 6667"/>
            </a:avLst>
          </a:prstGeom>
          <a:solidFill>
            <a:srgbClr val="2a7f62"/>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0" lang="en-US" sz="1200" spc="-1" strike="noStrike">
                <a:solidFill>
                  <a:srgbClr val="ffffff"/>
                </a:solidFill>
                <a:latin typeface="Calibri"/>
                <a:ea typeface="Calibri"/>
              </a:rPr>
              <a:t>Mora→23</a:t>
            </a:r>
            <a:endParaRPr b="0" lang="es-ES" sz="1200" spc="-1" strike="noStrike">
              <a:latin typeface="Arial"/>
            </a:endParaRPr>
          </a:p>
          <a:p>
            <a:pPr algn="ctr">
              <a:lnSpc>
                <a:spcPct val="100000"/>
              </a:lnSpc>
              <a:tabLst>
                <a:tab algn="l" pos="0"/>
              </a:tabLst>
            </a:pPr>
            <a:r>
              <a:rPr b="0" lang="en-US" sz="1200" spc="-1" strike="noStrike">
                <a:solidFill>
                  <a:srgbClr val="ffffff"/>
                </a:solidFill>
                <a:latin typeface="Calibri"/>
                <a:ea typeface="Calibri"/>
              </a:rPr>
              <a:t>Núñez→5</a:t>
            </a:r>
            <a:endParaRPr b="0" lang="es-ES" sz="1200" spc="-1" strike="noStrike">
              <a:latin typeface="Arial"/>
            </a:endParaRPr>
          </a:p>
        </p:txBody>
      </p:sp>
      <p:sp>
        <p:nvSpPr>
          <p:cNvPr id="1194" name="Line 42"/>
          <p:cNvSpPr/>
          <p:nvPr/>
        </p:nvSpPr>
        <p:spPr>
          <a:xfrm>
            <a:off x="9290160" y="3749040"/>
            <a:ext cx="612720" cy="731520"/>
          </a:xfrm>
          <a:prstGeom prst="line">
            <a:avLst/>
          </a:prstGeom>
          <a:ln w="15840">
            <a:solidFill>
              <a:srgbClr val="5c6b7a"/>
            </a:solidFill>
            <a:round/>
          </a:ln>
        </p:spPr>
        <p:style>
          <a:lnRef idx="0"/>
          <a:fillRef idx="0"/>
          <a:effectRef idx="0"/>
          <a:fontRef idx="minor"/>
        </p:style>
      </p:sp>
      <p:sp>
        <p:nvSpPr>
          <p:cNvPr id="1195" name="Line 43"/>
          <p:cNvSpPr/>
          <p:nvPr/>
        </p:nvSpPr>
        <p:spPr>
          <a:xfrm>
            <a:off x="10414800" y="4892040"/>
            <a:ext cx="201240" cy="0"/>
          </a:xfrm>
          <a:prstGeom prst="line">
            <a:avLst/>
          </a:prstGeom>
          <a:ln w="19080">
            <a:solidFill>
              <a:srgbClr val="d95d39"/>
            </a:solidFill>
            <a:round/>
            <a:headEnd len="med" type="triangle" w="med"/>
            <a:tailEnd len="med" type="triangle" w="med"/>
          </a:ln>
        </p:spPr>
        <p:style>
          <a:lnRef idx="0"/>
          <a:fillRef idx="0"/>
          <a:effectRef idx="0"/>
          <a:fontRef idx="minor"/>
        </p:style>
      </p:sp>
      <p:sp>
        <p:nvSpPr>
          <p:cNvPr id="1196" name="CustomShape 44"/>
          <p:cNvSpPr/>
          <p:nvPr/>
        </p:nvSpPr>
        <p:spPr>
          <a:xfrm>
            <a:off x="10616040" y="4480560"/>
            <a:ext cx="1021680" cy="820440"/>
          </a:xfrm>
          <a:prstGeom prst="roundRect">
            <a:avLst>
              <a:gd name="adj" fmla="val 6667"/>
            </a:avLst>
          </a:prstGeom>
          <a:solidFill>
            <a:srgbClr val="2a7f62"/>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0" lang="en-US" sz="1200" spc="-1" strike="noStrike">
                <a:solidFill>
                  <a:srgbClr val="ffffff"/>
                </a:solidFill>
                <a:latin typeface="Calibri"/>
                <a:ea typeface="Calibri"/>
              </a:rPr>
              <a:t>Torres→90</a:t>
            </a:r>
            <a:endParaRPr b="0" lang="es-ES" sz="1200" spc="-1" strike="noStrike">
              <a:latin typeface="Arial"/>
            </a:endParaRPr>
          </a:p>
          <a:p>
            <a:pPr algn="ctr">
              <a:lnSpc>
                <a:spcPct val="100000"/>
              </a:lnSpc>
              <a:tabLst>
                <a:tab algn="l" pos="0"/>
              </a:tabLst>
            </a:pPr>
            <a:r>
              <a:rPr b="0" lang="en-US" sz="1200" spc="-1" strike="noStrike">
                <a:solidFill>
                  <a:srgbClr val="ffffff"/>
                </a:solidFill>
                <a:latin typeface="Calibri"/>
                <a:ea typeface="Calibri"/>
              </a:rPr>
              <a:t>Vega→33</a:t>
            </a:r>
            <a:endParaRPr b="0" lang="es-ES" sz="1200" spc="-1" strike="noStrike">
              <a:latin typeface="Arial"/>
            </a:endParaRPr>
          </a:p>
        </p:txBody>
      </p:sp>
      <p:sp>
        <p:nvSpPr>
          <p:cNvPr id="1197" name="Line 45"/>
          <p:cNvSpPr/>
          <p:nvPr/>
        </p:nvSpPr>
        <p:spPr>
          <a:xfrm>
            <a:off x="10954440" y="3749040"/>
            <a:ext cx="173520" cy="731520"/>
          </a:xfrm>
          <a:prstGeom prst="line">
            <a:avLst/>
          </a:prstGeom>
          <a:ln w="15840">
            <a:solidFill>
              <a:srgbClr val="5c6b7a"/>
            </a:solidFill>
            <a:round/>
          </a:ln>
        </p:spPr>
        <p:style>
          <a:lnRef idx="0"/>
          <a:fillRef idx="0"/>
          <a:effectRef idx="0"/>
          <a:fontRef idx="minor"/>
        </p:style>
      </p:sp>
      <p:sp>
        <p:nvSpPr>
          <p:cNvPr id="1198" name="CustomShape 46"/>
          <p:cNvSpPr/>
          <p:nvPr/>
        </p:nvSpPr>
        <p:spPr>
          <a:xfrm>
            <a:off x="1783080" y="5440680"/>
            <a:ext cx="4697640" cy="50040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200" spc="-1" strike="noStrike">
                <a:solidFill>
                  <a:srgbClr val="5c6b7a"/>
                </a:solidFill>
                <a:latin typeface="Calibri"/>
                <a:ea typeface="Calibri"/>
              </a:rPr>
              <a:t>La hoja = páginas de datos (la tabla ES el índice). Hojas enlazadas en lista doble.</a:t>
            </a:r>
            <a:endParaRPr b="0" lang="es-ES" sz="1200" spc="-1" strike="noStrike">
              <a:latin typeface="Arial"/>
            </a:endParaRPr>
          </a:p>
        </p:txBody>
      </p:sp>
      <p:sp>
        <p:nvSpPr>
          <p:cNvPr id="1199" name="CustomShape 47"/>
          <p:cNvSpPr/>
          <p:nvPr/>
        </p:nvSpPr>
        <p:spPr>
          <a:xfrm>
            <a:off x="6940440" y="5440680"/>
            <a:ext cx="4697640" cy="50040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200" spc="-1" strike="noStrike">
                <a:solidFill>
                  <a:srgbClr val="5c6b7a"/>
                </a:solidFill>
                <a:latin typeface="Calibri"/>
                <a:ea typeface="Calibri"/>
              </a:rPr>
              <a:t>La hoja guarda clave + puntero (clave clustered o RID) → Key Lookup.</a:t>
            </a:r>
            <a:endParaRPr b="0" lang="es-ES" sz="1200" spc="-1" strike="noStrike">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200"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ÍNDICES</a:t>
            </a:r>
            <a:endParaRPr b="0" lang="es-ES" sz="1000" spc="-1" strike="noStrike">
              <a:latin typeface="Arial"/>
            </a:endParaRPr>
          </a:p>
        </p:txBody>
      </p:sp>
      <p:sp>
        <p:nvSpPr>
          <p:cNvPr id="1201"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Non-Clustered, Key Lookup y covering</a:t>
            </a:r>
            <a:endParaRPr b="0" lang="es-ES" sz="3400" spc="-1" strike="noStrike">
              <a:latin typeface="Arial"/>
            </a:endParaRPr>
          </a:p>
        </p:txBody>
      </p:sp>
      <p:sp>
        <p:nvSpPr>
          <p:cNvPr id="1202"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203"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3   47</a:t>
            </a:r>
            <a:endParaRPr b="0" lang="es-ES" sz="1000" spc="-1" strike="noStrike">
              <a:latin typeface="Arial"/>
            </a:endParaRPr>
          </a:p>
        </p:txBody>
      </p:sp>
      <p:sp>
        <p:nvSpPr>
          <p:cNvPr id="1204" name="CustomShape 5"/>
          <p:cNvSpPr/>
          <p:nvPr/>
        </p:nvSpPr>
        <p:spPr>
          <a:xfrm>
            <a:off x="548640" y="1600200"/>
            <a:ext cx="6581160" cy="3609360"/>
          </a:xfrm>
          <a:prstGeom prst="roundRect">
            <a:avLst>
              <a:gd name="adj" fmla="val 2532"/>
            </a:avLst>
          </a:prstGeom>
          <a:solidFill>
            <a:srgbClr val="eceff3"/>
          </a:solidFill>
          <a:ln w="9360">
            <a:solidFill>
              <a:srgbClr val="d0d7de"/>
            </a:solidFill>
            <a:round/>
          </a:ln>
        </p:spPr>
        <p:style>
          <a:lnRef idx="0"/>
          <a:fillRef idx="0"/>
          <a:effectRef idx="0"/>
          <a:fontRef idx="minor"/>
        </p:style>
      </p:sp>
      <p:sp>
        <p:nvSpPr>
          <p:cNvPr id="1205" name="CustomShape 6"/>
          <p:cNvSpPr/>
          <p:nvPr/>
        </p:nvSpPr>
        <p:spPr>
          <a:xfrm>
            <a:off x="73152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CREAR ÍNDICES</a:t>
            </a:r>
            <a:endParaRPr b="0" lang="es-ES" sz="1000" spc="-1" strike="noStrike">
              <a:latin typeface="Arial"/>
            </a:endParaRPr>
          </a:p>
        </p:txBody>
      </p:sp>
      <p:sp>
        <p:nvSpPr>
          <p:cNvPr id="1206" name="CustomShape 7"/>
          <p:cNvSpPr/>
          <p:nvPr/>
        </p:nvSpPr>
        <p:spPr>
          <a:xfrm>
            <a:off x="731520" y="1965960"/>
            <a:ext cx="6215400" cy="315216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0" i="1" lang="en-US" sz="1300" spc="-1" strike="noStrike">
                <a:solidFill>
                  <a:srgbClr val="6b7280"/>
                </a:solidFill>
                <a:latin typeface="Consolas"/>
                <a:ea typeface="Consolas"/>
              </a:rPr>
              <a:t>-- Consulta frecuente</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SELECT</a:t>
            </a:r>
            <a:r>
              <a:rPr b="0" lang="en-US" sz="1300" spc="-1" strike="noStrike">
                <a:solidFill>
                  <a:srgbClr val="1f2933"/>
                </a:solidFill>
                <a:latin typeface="Consolas"/>
                <a:ea typeface="Consolas"/>
              </a:rPr>
              <a:t> PedidoId, FechaPedido, Total</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FROM</a:t>
            </a:r>
            <a:r>
              <a:rPr b="0" lang="en-US" sz="1300" spc="-1" strike="noStrike">
                <a:solidFill>
                  <a:srgbClr val="1f2933"/>
                </a:solidFill>
                <a:latin typeface="Consolas"/>
                <a:ea typeface="Consolas"/>
              </a:rPr>
              <a:t> dbo.Pedido</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WHERE</a:t>
            </a:r>
            <a:r>
              <a:rPr b="0" lang="en-US" sz="1300" spc="-1" strike="noStrike">
                <a:solidFill>
                  <a:srgbClr val="1f2933"/>
                </a:solidFill>
                <a:latin typeface="Consolas"/>
                <a:ea typeface="Consolas"/>
              </a:rPr>
              <a:t> ClienteId = </a:t>
            </a:r>
            <a:r>
              <a:rPr b="0" lang="en-US" sz="1300" spc="-1" strike="noStrike">
                <a:solidFill>
                  <a:srgbClr val="9a3412"/>
                </a:solidFill>
                <a:latin typeface="Consolas"/>
                <a:ea typeface="Consolas"/>
              </a:rPr>
              <a:t>4217</a:t>
            </a:r>
            <a:r>
              <a:rPr b="0" lang="en-US" sz="1300" spc="-1" strike="noStrike">
                <a:solidFill>
                  <a:srgbClr val="1f2933"/>
                </a:solidFill>
                <a:latin typeface="Consolas"/>
                <a:ea typeface="Consolas"/>
              </a:rPr>
              <a:t>;</a:t>
            </a:r>
            <a:endParaRPr b="0" lang="es-ES" sz="1300" spc="-1" strike="noStrike">
              <a:latin typeface="Arial"/>
            </a:endParaRPr>
          </a:p>
          <a:p>
            <a:pPr>
              <a:lnSpc>
                <a:spcPct val="100000"/>
              </a:lnSpc>
              <a:tabLst>
                <a:tab algn="l" pos="0"/>
              </a:tabLst>
            </a:pPr>
            <a:r>
              <a:rPr b="0" lang="en-US" sz="1300" spc="-1" strike="noStrike">
                <a:solidFill>
                  <a:srgbClr val="1f2933"/>
                </a:solidFill>
                <a:latin typeface="Consolas"/>
                <a:ea typeface="Consolas"/>
              </a:rPr>
              <a:t> </a:t>
            </a:r>
            <a:endParaRPr b="0" lang="es-ES" sz="1300" spc="-1" strike="noStrike">
              <a:latin typeface="Arial"/>
            </a:endParaRPr>
          </a:p>
          <a:p>
            <a:pPr>
              <a:lnSpc>
                <a:spcPct val="100000"/>
              </a:lnSpc>
              <a:tabLst>
                <a:tab algn="l" pos="0"/>
              </a:tabLst>
            </a:pPr>
            <a:r>
              <a:rPr b="0" i="1" lang="en-US" sz="1300" spc="-1" strike="noStrike">
                <a:solidFill>
                  <a:srgbClr val="6b7280"/>
                </a:solidFill>
                <a:latin typeface="Consolas"/>
                <a:ea typeface="Consolas"/>
              </a:rPr>
              <a:t>-- 1) Sólo clave: Seek + Key Lookup por fila</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CREATE</a:t>
            </a: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NONCLUSTERED</a:t>
            </a: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INDEX</a:t>
            </a:r>
            <a:r>
              <a:rPr b="0" lang="en-US" sz="1300" spc="-1" strike="noStrike">
                <a:solidFill>
                  <a:srgbClr val="1f2933"/>
                </a:solidFill>
                <a:latin typeface="Consolas"/>
                <a:ea typeface="Consolas"/>
              </a:rPr>
              <a:t> IX_Pedido_Cliente</a:t>
            </a:r>
            <a:endParaRPr b="0" lang="es-ES" sz="1300" spc="-1" strike="noStrike">
              <a:latin typeface="Arial"/>
            </a:endParaRPr>
          </a:p>
          <a:p>
            <a:pPr>
              <a:lnSpc>
                <a:spcPct val="100000"/>
              </a:lnSpc>
              <a:tabLst>
                <a:tab algn="l" pos="0"/>
              </a:tabLst>
            </a:pP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ON</a:t>
            </a:r>
            <a:r>
              <a:rPr b="0" lang="en-US" sz="1300" spc="-1" strike="noStrike">
                <a:solidFill>
                  <a:srgbClr val="1f2933"/>
                </a:solidFill>
                <a:latin typeface="Consolas"/>
                <a:ea typeface="Consolas"/>
              </a:rPr>
              <a:t> dbo.Pedido (ClienteId);</a:t>
            </a:r>
            <a:endParaRPr b="0" lang="es-ES" sz="1300" spc="-1" strike="noStrike">
              <a:latin typeface="Arial"/>
            </a:endParaRPr>
          </a:p>
          <a:p>
            <a:pPr>
              <a:lnSpc>
                <a:spcPct val="100000"/>
              </a:lnSpc>
              <a:tabLst>
                <a:tab algn="l" pos="0"/>
              </a:tabLst>
            </a:pPr>
            <a:r>
              <a:rPr b="0" lang="en-US" sz="1300" spc="-1" strike="noStrike">
                <a:solidFill>
                  <a:srgbClr val="1f2933"/>
                </a:solidFill>
                <a:latin typeface="Consolas"/>
                <a:ea typeface="Consolas"/>
              </a:rPr>
              <a:t> </a:t>
            </a:r>
            <a:endParaRPr b="0" lang="es-ES" sz="1300" spc="-1" strike="noStrike">
              <a:latin typeface="Arial"/>
            </a:endParaRPr>
          </a:p>
          <a:p>
            <a:pPr>
              <a:lnSpc>
                <a:spcPct val="100000"/>
              </a:lnSpc>
              <a:tabLst>
                <a:tab algn="l" pos="0"/>
              </a:tabLst>
            </a:pPr>
            <a:r>
              <a:rPr b="0" i="1" lang="en-US" sz="1300" spc="-1" strike="noStrike">
                <a:solidFill>
                  <a:srgbClr val="6b7280"/>
                </a:solidFill>
                <a:latin typeface="Consolas"/>
                <a:ea typeface="Consolas"/>
              </a:rPr>
              <a:t>-- 2) Covering: sin Key Lookup</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CREATE</a:t>
            </a: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NONCLUSTERED</a:t>
            </a: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INDEX</a:t>
            </a:r>
            <a:r>
              <a:rPr b="0" lang="en-US" sz="1300" spc="-1" strike="noStrike">
                <a:solidFill>
                  <a:srgbClr val="1f2933"/>
                </a:solidFill>
                <a:latin typeface="Consolas"/>
                <a:ea typeface="Consolas"/>
              </a:rPr>
              <a:t> IX_Pedido_Cliente_Cov</a:t>
            </a:r>
            <a:endParaRPr b="0" lang="es-ES" sz="1300" spc="-1" strike="noStrike">
              <a:latin typeface="Arial"/>
            </a:endParaRPr>
          </a:p>
          <a:p>
            <a:pPr>
              <a:lnSpc>
                <a:spcPct val="100000"/>
              </a:lnSpc>
              <a:tabLst>
                <a:tab algn="l" pos="0"/>
              </a:tabLst>
            </a:pP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ON</a:t>
            </a:r>
            <a:r>
              <a:rPr b="0" lang="en-US" sz="1300" spc="-1" strike="noStrike">
                <a:solidFill>
                  <a:srgbClr val="1f2933"/>
                </a:solidFill>
                <a:latin typeface="Consolas"/>
                <a:ea typeface="Consolas"/>
              </a:rPr>
              <a:t> dbo.Pedido (ClienteId)</a:t>
            </a:r>
            <a:endParaRPr b="0" lang="es-ES" sz="1300" spc="-1" strike="noStrike">
              <a:latin typeface="Arial"/>
            </a:endParaRPr>
          </a:p>
          <a:p>
            <a:pPr>
              <a:lnSpc>
                <a:spcPct val="100000"/>
              </a:lnSpc>
              <a:tabLst>
                <a:tab algn="l" pos="0"/>
              </a:tabLst>
            </a:pP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INCLUDE</a:t>
            </a:r>
            <a:r>
              <a:rPr b="0" lang="en-US" sz="1300" spc="-1" strike="noStrike">
                <a:solidFill>
                  <a:srgbClr val="1f2933"/>
                </a:solidFill>
                <a:latin typeface="Consolas"/>
                <a:ea typeface="Consolas"/>
              </a:rPr>
              <a:t> (FechaPedido, Total);</a:t>
            </a:r>
            <a:endParaRPr b="0" lang="es-ES" sz="1300" spc="-1" strike="noStrike">
              <a:latin typeface="Arial"/>
            </a:endParaRPr>
          </a:p>
        </p:txBody>
      </p:sp>
      <p:sp>
        <p:nvSpPr>
          <p:cNvPr id="1207" name="CustomShape 8"/>
          <p:cNvSpPr/>
          <p:nvPr/>
        </p:nvSpPr>
        <p:spPr>
          <a:xfrm>
            <a:off x="7406640" y="1600200"/>
            <a:ext cx="4231080" cy="3609360"/>
          </a:xfrm>
          <a:prstGeom prst="roundRect">
            <a:avLst>
              <a:gd name="adj" fmla="val 3038"/>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208" name="CustomShape 9"/>
          <p:cNvSpPr/>
          <p:nvPr/>
        </p:nvSpPr>
        <p:spPr>
          <a:xfrm>
            <a:off x="7635240" y="1828800"/>
            <a:ext cx="3773880" cy="2566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700" spc="-1" strike="noStrike">
                <a:solidFill>
                  <a:srgbClr val="0b2545"/>
                </a:solidFill>
                <a:latin typeface="Calibri"/>
                <a:ea typeface="Calibri"/>
              </a:rPr>
              <a:t>Qué ocurre por dentro</a:t>
            </a:r>
            <a:endParaRPr b="0" lang="es-ES" sz="1700" spc="-1" strike="noStrike">
              <a:latin typeface="Arial"/>
            </a:endParaRPr>
          </a:p>
        </p:txBody>
      </p:sp>
      <p:sp>
        <p:nvSpPr>
          <p:cNvPr id="1209" name="CustomShape 10"/>
          <p:cNvSpPr/>
          <p:nvPr/>
        </p:nvSpPr>
        <p:spPr>
          <a:xfrm>
            <a:off x="7635240" y="2197440"/>
            <a:ext cx="3773880" cy="278352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La hoja del NCI guarda clave + puntero a la fila</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Key Lookup: 1 lectura aleatoria por fila</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INCLUDE: columnas sólo en la hoja, sin ordenar</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Más índices = más coste en INSERT/UPDATE/DELETE</a:t>
            </a:r>
            <a:endParaRPr b="0" lang="es-ES" sz="1400" spc="-1" strike="noStrike">
              <a:latin typeface="Arial"/>
            </a:endParaRPr>
          </a:p>
        </p:txBody>
      </p:sp>
      <p:sp>
        <p:nvSpPr>
          <p:cNvPr id="1210" name="CustomShape 11"/>
          <p:cNvSpPr/>
          <p:nvPr/>
        </p:nvSpPr>
        <p:spPr>
          <a:xfrm>
            <a:off x="548640" y="5486400"/>
            <a:ext cx="11089080" cy="683280"/>
          </a:xfrm>
          <a:prstGeom prst="roundRect">
            <a:avLst>
              <a:gd name="adj" fmla="val 16000"/>
            </a:avLst>
          </a:prstGeom>
          <a:solidFill>
            <a:srgbClr val="e8eef5"/>
          </a:solidFill>
          <a:ln>
            <a:noFill/>
          </a:ln>
        </p:spPr>
        <p:style>
          <a:lnRef idx="0"/>
          <a:fillRef idx="0"/>
          <a:effectRef idx="0"/>
          <a:fontRef idx="minor"/>
        </p:style>
      </p:sp>
      <p:sp>
        <p:nvSpPr>
          <p:cNvPr id="1211" name="CustomShape 12"/>
          <p:cNvSpPr/>
          <p:nvPr/>
        </p:nvSpPr>
        <p:spPr>
          <a:xfrm>
            <a:off x="731520" y="5600880"/>
            <a:ext cx="454680" cy="454680"/>
          </a:xfrm>
          <a:prstGeom prst="ellipse">
            <a:avLst/>
          </a:prstGeom>
          <a:solidFill>
            <a:srgbClr val="134074"/>
          </a:solidFill>
          <a:ln>
            <a:noFill/>
          </a:ln>
        </p:spPr>
        <p:style>
          <a:lnRef idx="0"/>
          <a:fillRef idx="0"/>
          <a:effectRef idx="0"/>
          <a:fontRef idx="minor"/>
        </p:style>
      </p:sp>
      <p:pic>
        <p:nvPicPr>
          <p:cNvPr id="1212" name="Image 0" descr="preencoded.png"/>
          <p:cNvPicPr/>
          <p:nvPr/>
        </p:nvPicPr>
        <p:blipFill>
          <a:blip r:embed="rId1"/>
          <a:stretch/>
        </p:blipFill>
        <p:spPr>
          <a:xfrm>
            <a:off x="846000" y="5715000"/>
            <a:ext cx="226080" cy="226080"/>
          </a:xfrm>
          <a:prstGeom prst="rect">
            <a:avLst/>
          </a:prstGeom>
          <a:ln>
            <a:noFill/>
          </a:ln>
        </p:spPr>
      </p:pic>
      <p:sp>
        <p:nvSpPr>
          <p:cNvPr id="1213" name="CustomShape 13"/>
          <p:cNvSpPr/>
          <p:nvPr/>
        </p:nvSpPr>
        <p:spPr>
          <a:xfrm>
            <a:off x="1371600" y="5486400"/>
            <a:ext cx="1008324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2545"/>
                </a:solidFill>
                <a:latin typeface="Calibri"/>
                <a:ea typeface="Calibri"/>
              </a:rPr>
              <a:t>Orden de la clave: </a:t>
            </a:r>
            <a:r>
              <a:rPr b="0" lang="en-US" sz="1400" spc="-1" strike="noStrike">
                <a:solidFill>
                  <a:srgbClr val="1f2933"/>
                </a:solidFill>
                <a:latin typeface="Calibri"/>
                <a:ea typeface="Calibri"/>
              </a:rPr>
              <a:t>igualdad primero, rango después, y columnas de lectura en INCLUDE.</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214"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ÍNDICES</a:t>
            </a:r>
            <a:endParaRPr b="0" lang="es-ES" sz="1000" spc="-1" strike="noStrike">
              <a:latin typeface="Arial"/>
            </a:endParaRPr>
          </a:p>
        </p:txBody>
      </p:sp>
      <p:sp>
        <p:nvSpPr>
          <p:cNvPr id="1215"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Filtered, columnstore y missing indexes</a:t>
            </a:r>
            <a:endParaRPr b="0" lang="es-ES" sz="3400" spc="-1" strike="noStrike">
              <a:latin typeface="Arial"/>
            </a:endParaRPr>
          </a:p>
        </p:txBody>
      </p:sp>
      <p:sp>
        <p:nvSpPr>
          <p:cNvPr id="1216"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217"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3   48</a:t>
            </a:r>
            <a:endParaRPr b="0" lang="es-ES" sz="1000" spc="-1" strike="noStrike">
              <a:latin typeface="Arial"/>
            </a:endParaRPr>
          </a:p>
        </p:txBody>
      </p:sp>
      <p:sp>
        <p:nvSpPr>
          <p:cNvPr id="1218" name="CustomShape 5"/>
          <p:cNvSpPr/>
          <p:nvPr/>
        </p:nvSpPr>
        <p:spPr>
          <a:xfrm>
            <a:off x="548640" y="1600200"/>
            <a:ext cx="5392440" cy="2329200"/>
          </a:xfrm>
          <a:prstGeom prst="roundRect">
            <a:avLst>
              <a:gd name="adj" fmla="val 3922"/>
            </a:avLst>
          </a:prstGeom>
          <a:solidFill>
            <a:srgbClr val="eceff3"/>
          </a:solidFill>
          <a:ln w="9360">
            <a:solidFill>
              <a:srgbClr val="d0d7de"/>
            </a:solidFill>
            <a:round/>
          </a:ln>
        </p:spPr>
        <p:style>
          <a:lnRef idx="0"/>
          <a:fillRef idx="0"/>
          <a:effectRef idx="0"/>
          <a:fontRef idx="minor"/>
        </p:style>
      </p:sp>
      <p:sp>
        <p:nvSpPr>
          <p:cNvPr id="1219" name="CustomShape 6"/>
          <p:cNvSpPr/>
          <p:nvPr/>
        </p:nvSpPr>
        <p:spPr>
          <a:xfrm>
            <a:off x="73152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FILTERED Y COLUMNSTORE</a:t>
            </a:r>
            <a:endParaRPr b="0" lang="es-ES" sz="1000" spc="-1" strike="noStrike">
              <a:latin typeface="Arial"/>
            </a:endParaRPr>
          </a:p>
        </p:txBody>
      </p:sp>
      <p:sp>
        <p:nvSpPr>
          <p:cNvPr id="1220" name="CustomShape 7"/>
          <p:cNvSpPr/>
          <p:nvPr/>
        </p:nvSpPr>
        <p:spPr>
          <a:xfrm>
            <a:off x="731520" y="1965960"/>
            <a:ext cx="5026680" cy="187200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0" i="1" lang="en-US" sz="1200" spc="-1" strike="noStrike">
                <a:solidFill>
                  <a:srgbClr val="6b7280"/>
                </a:solidFill>
                <a:latin typeface="Consolas"/>
                <a:ea typeface="Consolas"/>
              </a:rPr>
              <a:t>-- Filtered: sólo pedidos abiertos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CREATE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NONCLUSTERED</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INDEX</a:t>
            </a:r>
            <a:r>
              <a:rPr b="0" lang="en-US" sz="1200" spc="-1" strike="noStrike">
                <a:solidFill>
                  <a:srgbClr val="1f2933"/>
                </a:solidFill>
                <a:latin typeface="Consolas"/>
                <a:ea typeface="Consolas"/>
              </a:rPr>
              <a:t> IX_Pedido_Abierto</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 dbo.Pedido (FechaPedido)</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INCLUDE</a:t>
            </a:r>
            <a:r>
              <a:rPr b="0" lang="en-US" sz="1200" spc="-1" strike="noStrike">
                <a:solidFill>
                  <a:srgbClr val="1f2933"/>
                </a:solidFill>
                <a:latin typeface="Consolas"/>
                <a:ea typeface="Consolas"/>
              </a:rPr>
              <a:t> (Total)</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WHERE</a:t>
            </a:r>
            <a:r>
              <a:rPr b="0" lang="en-US" sz="1200" spc="-1" strike="noStrike">
                <a:solidFill>
                  <a:srgbClr val="1f2933"/>
                </a:solidFill>
                <a:latin typeface="Consolas"/>
                <a:ea typeface="Consolas"/>
              </a:rPr>
              <a:t> Estado = </a:t>
            </a:r>
            <a:r>
              <a:rPr b="0" lang="en-US" sz="1200" spc="-1" strike="noStrike">
                <a:solidFill>
                  <a:srgbClr val="9a3412"/>
                </a:solidFill>
                <a:latin typeface="Consolas"/>
                <a:ea typeface="Consolas"/>
              </a:rPr>
              <a:t>1</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i="1" lang="en-US" sz="1200" spc="-1" strike="noStrike">
                <a:solidFill>
                  <a:srgbClr val="6b7280"/>
                </a:solidFill>
                <a:latin typeface="Consolas"/>
                <a:ea typeface="Consolas"/>
              </a:rPr>
              <a:t>-- Columnstore (analítica / DW)</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CREATE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NONCLUSTERED</a:t>
            </a:r>
            <a:r>
              <a:rPr b="0" lang="en-US" sz="1200" spc="-1" strike="noStrike">
                <a:solidFill>
                  <a:srgbClr val="1f2933"/>
                </a:solidFill>
                <a:latin typeface="Consolas"/>
                <a:ea typeface="Consolas"/>
              </a:rPr>
              <a:t> COLUMNSTORE </a:t>
            </a:r>
            <a:r>
              <a:rPr b="1" lang="en-US" sz="1200" spc="-1" strike="noStrike">
                <a:solidFill>
                  <a:srgbClr val="1d4ed8"/>
                </a:solidFill>
                <a:latin typeface="Consolas"/>
                <a:ea typeface="Consolas"/>
              </a:rPr>
              <a:t>INDEX</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NCCI_Pedido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 dbo.Pedido (ClienteId, Total);</a:t>
            </a:r>
            <a:endParaRPr b="0" lang="es-ES" sz="1200" spc="-1" strike="noStrike">
              <a:latin typeface="Arial"/>
            </a:endParaRPr>
          </a:p>
        </p:txBody>
      </p:sp>
      <p:sp>
        <p:nvSpPr>
          <p:cNvPr id="1221" name="CustomShape 8"/>
          <p:cNvSpPr/>
          <p:nvPr/>
        </p:nvSpPr>
        <p:spPr>
          <a:xfrm>
            <a:off x="548640" y="4206240"/>
            <a:ext cx="5392440" cy="1963440"/>
          </a:xfrm>
          <a:prstGeom prst="roundRect">
            <a:avLst>
              <a:gd name="adj" fmla="val 5581"/>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222" name="CustomShape 9"/>
          <p:cNvSpPr/>
          <p:nvPr/>
        </p:nvSpPr>
        <p:spPr>
          <a:xfrm>
            <a:off x="777240" y="4434840"/>
            <a:ext cx="4935240" cy="2566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700" spc="-1" strike="noStrike">
                <a:solidFill>
                  <a:srgbClr val="0b2545"/>
                </a:solidFill>
                <a:latin typeface="Calibri"/>
                <a:ea typeface="Calibri"/>
              </a:rPr>
              <a:t>Cuándo usar cada uno</a:t>
            </a:r>
            <a:endParaRPr b="0" lang="es-ES" sz="1700" spc="-1" strike="noStrike">
              <a:latin typeface="Arial"/>
            </a:endParaRPr>
          </a:p>
        </p:txBody>
      </p:sp>
      <p:sp>
        <p:nvSpPr>
          <p:cNvPr id="1223" name="CustomShape 10"/>
          <p:cNvSpPr/>
          <p:nvPr/>
        </p:nvSpPr>
        <p:spPr>
          <a:xfrm>
            <a:off x="777240" y="4803480"/>
            <a:ext cx="4935240" cy="113760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Filtered: subconjuntos pequeños, predicado fijo</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Columnstore: agregaciones sobre millones de filas</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Filtered + parámetros: puede ignorarse sin RECOMPILE</a:t>
            </a:r>
            <a:endParaRPr b="0" lang="es-ES" sz="1400" spc="-1" strike="noStrike">
              <a:latin typeface="Arial"/>
            </a:endParaRPr>
          </a:p>
        </p:txBody>
      </p:sp>
      <p:sp>
        <p:nvSpPr>
          <p:cNvPr id="1224" name="CustomShape 11"/>
          <p:cNvSpPr/>
          <p:nvPr/>
        </p:nvSpPr>
        <p:spPr>
          <a:xfrm>
            <a:off x="6217920" y="1600200"/>
            <a:ext cx="5419800" cy="2923560"/>
          </a:xfrm>
          <a:prstGeom prst="roundRect">
            <a:avLst>
              <a:gd name="adj" fmla="val 3125"/>
            </a:avLst>
          </a:prstGeom>
          <a:solidFill>
            <a:srgbClr val="eceff3"/>
          </a:solidFill>
          <a:ln w="9360">
            <a:solidFill>
              <a:srgbClr val="d0d7de"/>
            </a:solidFill>
            <a:round/>
          </a:ln>
        </p:spPr>
        <p:style>
          <a:lnRef idx="0"/>
          <a:fillRef idx="0"/>
          <a:effectRef idx="0"/>
          <a:fontRef idx="minor"/>
        </p:style>
      </p:sp>
      <p:sp>
        <p:nvSpPr>
          <p:cNvPr id="1225" name="CustomShape 12"/>
          <p:cNvSpPr/>
          <p:nvPr/>
        </p:nvSpPr>
        <p:spPr>
          <a:xfrm>
            <a:off x="640080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MISSING INDEX DMVS</a:t>
            </a:r>
            <a:endParaRPr b="0" lang="es-ES" sz="1000" spc="-1" strike="noStrike">
              <a:latin typeface="Arial"/>
            </a:endParaRPr>
          </a:p>
        </p:txBody>
      </p:sp>
      <p:sp>
        <p:nvSpPr>
          <p:cNvPr id="1226" name="CustomShape 13"/>
          <p:cNvSpPr/>
          <p:nvPr/>
        </p:nvSpPr>
        <p:spPr>
          <a:xfrm>
            <a:off x="6400800" y="1965960"/>
            <a:ext cx="5054040" cy="246636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TOP</a:t>
            </a:r>
            <a:r>
              <a:rPr b="0" lang="en-US" sz="1200" spc="-1" strike="noStrike">
                <a:solidFill>
                  <a:srgbClr val="1f2933"/>
                </a:solidFill>
                <a:latin typeface="Consolas"/>
                <a:ea typeface="Consolas"/>
              </a:rPr>
              <a:t> (</a:t>
            </a:r>
            <a:r>
              <a:rPr b="0" lang="en-US" sz="1200" spc="-1" strike="noStrike">
                <a:solidFill>
                  <a:srgbClr val="9a3412"/>
                </a:solidFill>
                <a:latin typeface="Consolas"/>
                <a:ea typeface="Consolas"/>
              </a:rPr>
              <a:t>5</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d.statement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tabla,</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d.equality_columns, d.inequality_columns,</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d.included_columns,</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s.user_seeks, s.avg_user_impact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sys.dm_db_missing_index_details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d</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JOIN</a:t>
            </a:r>
            <a:r>
              <a:rPr b="0" lang="en-US" sz="1200" spc="-1" strike="noStrike">
                <a:solidFill>
                  <a:srgbClr val="1f2933"/>
                </a:solidFill>
                <a:latin typeface="Consolas"/>
                <a:ea typeface="Consolas"/>
              </a:rPr>
              <a:t> sys.dm_db_missing_index_groups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g</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 g.index_handle = d.index_handle</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JOIN</a:t>
            </a:r>
            <a:r>
              <a:rPr b="0" lang="en-US" sz="1200" spc="-1" strike="noStrike">
                <a:solidFill>
                  <a:srgbClr val="1f2933"/>
                </a:solidFill>
                <a:latin typeface="Consolas"/>
                <a:ea typeface="Consolas"/>
              </a:rPr>
              <a:t> sys.dm_db_missing_index_group_stats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s</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 s.group_handle = g.index_group_handle</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ORDER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BY</a:t>
            </a:r>
            <a:r>
              <a:rPr b="0" lang="en-US" sz="1200" spc="-1" strike="noStrike">
                <a:solidFill>
                  <a:srgbClr val="1f2933"/>
                </a:solidFill>
                <a:latin typeface="Consolas"/>
                <a:ea typeface="Consolas"/>
              </a:rPr>
              <a:t> s.user_seeks * s.avg_user_impact </a:t>
            </a:r>
            <a:r>
              <a:rPr b="1" lang="en-US" sz="1200" spc="-1" strike="noStrike">
                <a:solidFill>
                  <a:srgbClr val="1d4ed8"/>
                </a:solidFill>
                <a:latin typeface="Consolas"/>
                <a:ea typeface="Consolas"/>
              </a:rPr>
              <a:t>DESC</a:t>
            </a:r>
            <a:r>
              <a:rPr b="0" lang="en-US" sz="1200" spc="-1" strike="noStrike">
                <a:solidFill>
                  <a:srgbClr val="1f2933"/>
                </a:solidFill>
                <a:latin typeface="Consolas"/>
                <a:ea typeface="Consolas"/>
              </a:rPr>
              <a:t>;</a:t>
            </a:r>
            <a:endParaRPr b="0" lang="es-ES" sz="1200" spc="-1" strike="noStrike">
              <a:latin typeface="Arial"/>
            </a:endParaRPr>
          </a:p>
        </p:txBody>
      </p:sp>
      <p:sp>
        <p:nvSpPr>
          <p:cNvPr id="1227" name="CustomShape 14"/>
          <p:cNvSpPr/>
          <p:nvPr/>
        </p:nvSpPr>
        <p:spPr>
          <a:xfrm>
            <a:off x="6217920" y="4800600"/>
            <a:ext cx="5419800" cy="1369080"/>
          </a:xfrm>
          <a:prstGeom prst="roundRect">
            <a:avLst>
              <a:gd name="adj" fmla="val 8000"/>
            </a:avLst>
          </a:prstGeom>
          <a:solidFill>
            <a:srgbClr val="fdede8"/>
          </a:solidFill>
          <a:ln>
            <a:noFill/>
          </a:ln>
        </p:spPr>
        <p:style>
          <a:lnRef idx="0"/>
          <a:fillRef idx="0"/>
          <a:effectRef idx="0"/>
          <a:fontRef idx="minor"/>
        </p:style>
      </p:sp>
      <p:sp>
        <p:nvSpPr>
          <p:cNvPr id="1228" name="CustomShape 15"/>
          <p:cNvSpPr/>
          <p:nvPr/>
        </p:nvSpPr>
        <p:spPr>
          <a:xfrm>
            <a:off x="6400800" y="5257800"/>
            <a:ext cx="454680" cy="454680"/>
          </a:xfrm>
          <a:prstGeom prst="ellipse">
            <a:avLst/>
          </a:prstGeom>
          <a:solidFill>
            <a:srgbClr val="d95d39"/>
          </a:solidFill>
          <a:ln>
            <a:noFill/>
          </a:ln>
        </p:spPr>
        <p:style>
          <a:lnRef idx="0"/>
          <a:fillRef idx="0"/>
          <a:effectRef idx="0"/>
          <a:fontRef idx="minor"/>
        </p:style>
      </p:sp>
      <p:pic>
        <p:nvPicPr>
          <p:cNvPr id="1229" name="Image 0" descr="preencoded.png"/>
          <p:cNvPicPr/>
          <p:nvPr/>
        </p:nvPicPr>
        <p:blipFill>
          <a:blip r:embed="rId1"/>
          <a:stretch/>
        </p:blipFill>
        <p:spPr>
          <a:xfrm>
            <a:off x="6515280" y="5372280"/>
            <a:ext cx="226080" cy="226080"/>
          </a:xfrm>
          <a:prstGeom prst="rect">
            <a:avLst/>
          </a:prstGeom>
          <a:ln>
            <a:noFill/>
          </a:ln>
        </p:spPr>
      </p:pic>
      <p:sp>
        <p:nvSpPr>
          <p:cNvPr id="1230" name="CustomShape 16"/>
          <p:cNvSpPr/>
          <p:nvPr/>
        </p:nvSpPr>
        <p:spPr>
          <a:xfrm>
            <a:off x="7040880" y="4800600"/>
            <a:ext cx="4413960" cy="1369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a8431f"/>
                </a:solidFill>
                <a:latin typeface="Calibri"/>
                <a:ea typeface="Calibri"/>
              </a:rPr>
              <a:t>Con cautela: </a:t>
            </a:r>
            <a:r>
              <a:rPr b="0" lang="en-US" sz="1400" spc="-1" strike="noStrike">
                <a:solidFill>
                  <a:srgbClr val="1f2933"/>
                </a:solidFill>
                <a:latin typeface="Calibri"/>
                <a:ea typeface="Calibri"/>
              </a:rPr>
              <a:t>son sugerencias, no órdenes. Pueden duplicar índices y se reinician con el servicio. Valídalas con el plan real.</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231" name="CustomShape 1"/>
          <p:cNvSpPr/>
          <p:nvPr/>
        </p:nvSpPr>
        <p:spPr>
          <a:xfrm>
            <a:off x="548640" y="365760"/>
            <a:ext cx="158400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MANTENIMIENTO</a:t>
            </a:r>
            <a:endParaRPr b="0" lang="es-ES" sz="1000" spc="-1" strike="noStrike">
              <a:latin typeface="Arial"/>
            </a:endParaRPr>
          </a:p>
        </p:txBody>
      </p:sp>
      <p:sp>
        <p:nvSpPr>
          <p:cNvPr id="1232"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Fragmentación, Page Splits y fillfactor</a:t>
            </a:r>
            <a:endParaRPr b="0" lang="es-ES" sz="3400" spc="-1" strike="noStrike">
              <a:latin typeface="Arial"/>
            </a:endParaRPr>
          </a:p>
        </p:txBody>
      </p:sp>
      <p:sp>
        <p:nvSpPr>
          <p:cNvPr id="1233"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234"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3   49</a:t>
            </a:r>
            <a:endParaRPr b="0" lang="es-ES" sz="1000" spc="-1" strike="noStrike">
              <a:latin typeface="Arial"/>
            </a:endParaRPr>
          </a:p>
        </p:txBody>
      </p:sp>
      <p:sp>
        <p:nvSpPr>
          <p:cNvPr id="1235" name="CustomShape 5"/>
          <p:cNvSpPr/>
          <p:nvPr/>
        </p:nvSpPr>
        <p:spPr>
          <a:xfrm>
            <a:off x="548640" y="1600200"/>
            <a:ext cx="6581160" cy="3015000"/>
          </a:xfrm>
          <a:prstGeom prst="roundRect">
            <a:avLst>
              <a:gd name="adj" fmla="val 3030"/>
            </a:avLst>
          </a:prstGeom>
          <a:solidFill>
            <a:srgbClr val="eceff3"/>
          </a:solidFill>
          <a:ln w="9360">
            <a:solidFill>
              <a:srgbClr val="d0d7de"/>
            </a:solidFill>
            <a:round/>
          </a:ln>
        </p:spPr>
        <p:style>
          <a:lnRef idx="0"/>
          <a:fillRef idx="0"/>
          <a:effectRef idx="0"/>
          <a:fontRef idx="minor"/>
        </p:style>
      </p:sp>
      <p:sp>
        <p:nvSpPr>
          <p:cNvPr id="1236" name="CustomShape 6"/>
          <p:cNvSpPr/>
          <p:nvPr/>
        </p:nvSpPr>
        <p:spPr>
          <a:xfrm>
            <a:off x="73152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MEDIR FRAGMENTACIÓN</a:t>
            </a:r>
            <a:endParaRPr b="0" lang="es-ES" sz="1000" spc="-1" strike="noStrike">
              <a:latin typeface="Arial"/>
            </a:endParaRPr>
          </a:p>
        </p:txBody>
      </p:sp>
      <p:sp>
        <p:nvSpPr>
          <p:cNvPr id="1237" name="CustomShape 7"/>
          <p:cNvSpPr/>
          <p:nvPr/>
        </p:nvSpPr>
        <p:spPr>
          <a:xfrm>
            <a:off x="731520" y="1965960"/>
            <a:ext cx="6215400" cy="255780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OBJECT_NAME(ips.object_id)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Tabla,</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i.</a:t>
            </a:r>
            <a:r>
              <a:rPr b="1" lang="en-US" sz="1200" spc="-1" strike="noStrike">
                <a:solidFill>
                  <a:srgbClr val="1d4ed8"/>
                </a:solidFill>
                <a:latin typeface="Consolas"/>
                <a:ea typeface="Consolas"/>
              </a:rPr>
              <a:t>name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Indice,</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ips.avg_fragmentation_in_percent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Frag,</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ips.page_count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sys.dm_db_index_physical_stats</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(DB_ID(), </a:t>
            </a:r>
            <a:r>
              <a:rPr b="1" lang="en-US" sz="1200" spc="-1" strike="noStrike">
                <a:solidFill>
                  <a:srgbClr val="1d4ed8"/>
                </a:solidFill>
                <a:latin typeface="Consolas"/>
                <a:ea typeface="Consolas"/>
              </a:rPr>
              <a:t>NULL</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NULL</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NULL</a:t>
            </a:r>
            <a:r>
              <a:rPr b="0" lang="en-US" sz="1200" spc="-1" strike="noStrike">
                <a:solidFill>
                  <a:srgbClr val="1f2933"/>
                </a:solidFill>
                <a:latin typeface="Consolas"/>
                <a:ea typeface="Consolas"/>
              </a:rPr>
              <a:t>, </a:t>
            </a:r>
            <a:r>
              <a:rPr b="0" lang="en-US" sz="1200" spc="-1" strike="noStrike">
                <a:solidFill>
                  <a:srgbClr val="b4441f"/>
                </a:solidFill>
                <a:latin typeface="Consolas"/>
                <a:ea typeface="Consolas"/>
              </a:rPr>
              <a:t>N'LIMITED'</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ips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JOIN</a:t>
            </a:r>
            <a:r>
              <a:rPr b="0" lang="en-US" sz="1200" spc="-1" strike="noStrike">
                <a:solidFill>
                  <a:srgbClr val="1f2933"/>
                </a:solidFill>
                <a:latin typeface="Consolas"/>
                <a:ea typeface="Consolas"/>
              </a:rPr>
              <a:t> sys.indexes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i</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 i.object_id = ips.object_id</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AND</a:t>
            </a:r>
            <a:r>
              <a:rPr b="0" lang="en-US" sz="1200" spc="-1" strike="noStrike">
                <a:solidFill>
                  <a:srgbClr val="1f2933"/>
                </a:solidFill>
                <a:latin typeface="Consolas"/>
                <a:ea typeface="Consolas"/>
              </a:rPr>
              <a:t> i.index_id = ips.index_id</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WHERE</a:t>
            </a:r>
            <a:r>
              <a:rPr b="0" lang="en-US" sz="1200" spc="-1" strike="noStrike">
                <a:solidFill>
                  <a:srgbClr val="1f2933"/>
                </a:solidFill>
                <a:latin typeface="Consolas"/>
                <a:ea typeface="Consolas"/>
              </a:rPr>
              <a:t> ips.page_count &gt; </a:t>
            </a:r>
            <a:r>
              <a:rPr b="0" lang="en-US" sz="1200" spc="-1" strike="noStrike">
                <a:solidFill>
                  <a:srgbClr val="9a3412"/>
                </a:solidFill>
                <a:latin typeface="Consolas"/>
                <a:ea typeface="Consolas"/>
              </a:rPr>
              <a:t>1000</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AND</a:t>
            </a:r>
            <a:r>
              <a:rPr b="0" lang="en-US" sz="1200" spc="-1" strike="noStrike">
                <a:solidFill>
                  <a:srgbClr val="1f2933"/>
                </a:solidFill>
                <a:latin typeface="Consolas"/>
                <a:ea typeface="Consolas"/>
              </a:rPr>
              <a:t> ips.avg_fragmentation_in_percent &gt; </a:t>
            </a:r>
            <a:r>
              <a:rPr b="0" lang="en-US" sz="1200" spc="-1" strike="noStrike">
                <a:solidFill>
                  <a:srgbClr val="9a3412"/>
                </a:solidFill>
                <a:latin typeface="Consolas"/>
                <a:ea typeface="Consolas"/>
              </a:rPr>
              <a:t>5</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ORDER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BY</a:t>
            </a:r>
            <a:r>
              <a:rPr b="0" lang="en-US" sz="1200" spc="-1" strike="noStrike">
                <a:solidFill>
                  <a:srgbClr val="1f2933"/>
                </a:solidFill>
                <a:latin typeface="Consolas"/>
                <a:ea typeface="Consolas"/>
              </a:rPr>
              <a:t> Frag </a:t>
            </a:r>
            <a:r>
              <a:rPr b="1" lang="en-US" sz="1200" spc="-1" strike="noStrike">
                <a:solidFill>
                  <a:srgbClr val="1d4ed8"/>
                </a:solidFill>
                <a:latin typeface="Consolas"/>
                <a:ea typeface="Consolas"/>
              </a:rPr>
              <a:t>DESC</a:t>
            </a:r>
            <a:r>
              <a:rPr b="0" lang="en-US" sz="1200" spc="-1" strike="noStrike">
                <a:solidFill>
                  <a:srgbClr val="1f2933"/>
                </a:solidFill>
                <a:latin typeface="Consolas"/>
                <a:ea typeface="Consolas"/>
              </a:rPr>
              <a:t>;</a:t>
            </a:r>
            <a:endParaRPr b="0" lang="es-ES" sz="1200" spc="-1" strike="noStrike">
              <a:latin typeface="Arial"/>
            </a:endParaRPr>
          </a:p>
        </p:txBody>
      </p:sp>
      <p:sp>
        <p:nvSpPr>
          <p:cNvPr id="1238" name="CustomShape 8"/>
          <p:cNvSpPr/>
          <p:nvPr/>
        </p:nvSpPr>
        <p:spPr>
          <a:xfrm>
            <a:off x="548640" y="4892040"/>
            <a:ext cx="6581160" cy="1277640"/>
          </a:xfrm>
          <a:prstGeom prst="roundRect">
            <a:avLst>
              <a:gd name="adj" fmla="val 7143"/>
            </a:avLst>
          </a:prstGeom>
          <a:solidFill>
            <a:srgbClr val="eceff3"/>
          </a:solidFill>
          <a:ln w="9360">
            <a:solidFill>
              <a:srgbClr val="d0d7de"/>
            </a:solidFill>
            <a:round/>
          </a:ln>
        </p:spPr>
        <p:style>
          <a:lnRef idx="0"/>
          <a:fillRef idx="0"/>
          <a:effectRef idx="0"/>
          <a:fontRef idx="minor"/>
        </p:style>
      </p:sp>
      <p:sp>
        <p:nvSpPr>
          <p:cNvPr id="1239" name="CustomShape 9"/>
          <p:cNvSpPr/>
          <p:nvPr/>
        </p:nvSpPr>
        <p:spPr>
          <a:xfrm>
            <a:off x="731520" y="498348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REORGANIZE / REBUILD</a:t>
            </a:r>
            <a:endParaRPr b="0" lang="es-ES" sz="1000" spc="-1" strike="noStrike">
              <a:latin typeface="Arial"/>
            </a:endParaRPr>
          </a:p>
        </p:txBody>
      </p:sp>
      <p:sp>
        <p:nvSpPr>
          <p:cNvPr id="1240" name="CustomShape 10"/>
          <p:cNvSpPr/>
          <p:nvPr/>
        </p:nvSpPr>
        <p:spPr>
          <a:xfrm>
            <a:off x="731520" y="5257800"/>
            <a:ext cx="6215400" cy="82044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ALTER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INDEX</a:t>
            </a:r>
            <a:r>
              <a:rPr b="0" lang="en-US" sz="1200" spc="-1" strike="noStrike">
                <a:solidFill>
                  <a:srgbClr val="1f2933"/>
                </a:solidFill>
                <a:latin typeface="Consolas"/>
                <a:ea typeface="Consolas"/>
              </a:rPr>
              <a:t> IX_Pedido_Cliente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 dbo.Pedido </a:t>
            </a:r>
            <a:r>
              <a:rPr b="1" lang="en-US" sz="1200" spc="-1" strike="noStrike">
                <a:solidFill>
                  <a:srgbClr val="1d4ed8"/>
                </a:solidFill>
                <a:latin typeface="Consolas"/>
                <a:ea typeface="Consolas"/>
              </a:rPr>
              <a:t>REORGANIZE</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ALTER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INDEX</a:t>
            </a:r>
            <a:r>
              <a:rPr b="0" lang="en-US" sz="1200" spc="-1" strike="noStrike">
                <a:solidFill>
                  <a:srgbClr val="1f2933"/>
                </a:solidFill>
                <a:latin typeface="Consolas"/>
                <a:ea typeface="Consolas"/>
              </a:rPr>
              <a:t> IX_Pedido_Cliente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 dbo.Pedido</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REBUILD</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(FILLFACTOR = </a:t>
            </a:r>
            <a:r>
              <a:rPr b="0" lang="en-US" sz="1200" spc="-1" strike="noStrike">
                <a:solidFill>
                  <a:srgbClr val="9a3412"/>
                </a:solidFill>
                <a:latin typeface="Consolas"/>
                <a:ea typeface="Consolas"/>
              </a:rPr>
              <a:t>90</a:t>
            </a:r>
            <a:r>
              <a:rPr b="0" lang="en-US" sz="1200" spc="-1" strike="noStrike">
                <a:solidFill>
                  <a:srgbClr val="1f2933"/>
                </a:solidFill>
                <a:latin typeface="Consolas"/>
                <a:ea typeface="Consolas"/>
              </a:rPr>
              <a:t>);</a:t>
            </a:r>
            <a:endParaRPr b="0" lang="es-ES" sz="1200" spc="-1" strike="noStrike">
              <a:latin typeface="Arial"/>
            </a:endParaRPr>
          </a:p>
        </p:txBody>
      </p:sp>
      <p:graphicFrame>
        <p:nvGraphicFramePr>
          <p:cNvPr id="1241" name="Table 11"/>
          <p:cNvGraphicFramePr/>
          <p:nvPr/>
        </p:nvGraphicFramePr>
        <p:xfrm>
          <a:off x="7406640" y="1600200"/>
          <a:ext cx="4233240" cy="1584360"/>
        </p:xfrm>
        <a:graphic>
          <a:graphicData uri="http://schemas.openxmlformats.org/drawingml/2006/table">
            <a:tbl>
              <a:tblPr/>
              <a:tblGrid>
                <a:gridCol w="1840680"/>
                <a:gridCol w="2392920"/>
              </a:tblGrid>
              <a:tr h="396000">
                <a:tc>
                  <a:txBody>
                    <a:bodyPr lIns="109440" rIns="109440">
                      <a:noAutofit/>
                    </a:bodyPr>
                    <a:p>
                      <a:pPr>
                        <a:lnSpc>
                          <a:spcPct val="100000"/>
                        </a:lnSpc>
                        <a:tabLst>
                          <a:tab algn="l" pos="0"/>
                        </a:tabLst>
                      </a:pPr>
                      <a:r>
                        <a:rPr b="1" lang="en-US" sz="1400" spc="-1" strike="noStrike">
                          <a:solidFill>
                            <a:srgbClr val="ffffff"/>
                          </a:solidFill>
                          <a:latin typeface="Calibri"/>
                          <a:ea typeface="Calibri"/>
                        </a:rPr>
                        <a:t>Fragmentación</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c>
                  <a:txBody>
                    <a:bodyPr lIns="109440" rIns="109440">
                      <a:noAutofit/>
                    </a:bodyPr>
                    <a:p>
                      <a:pPr>
                        <a:lnSpc>
                          <a:spcPct val="100000"/>
                        </a:lnSpc>
                        <a:tabLst>
                          <a:tab algn="l" pos="0"/>
                        </a:tabLst>
                      </a:pPr>
                      <a:r>
                        <a:rPr b="1" lang="en-US" sz="1400" spc="-1" strike="noStrike">
                          <a:solidFill>
                            <a:srgbClr val="ffffff"/>
                          </a:solidFill>
                          <a:latin typeface="Calibri"/>
                          <a:ea typeface="Calibri"/>
                        </a:rPr>
                        <a:t>Acción</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r>
              <a:tr h="396000">
                <a:tc>
                  <a:txBody>
                    <a:bodyPr lIns="109440" rIns="109440">
                      <a:noAutofit/>
                    </a:bodyPr>
                    <a:p>
                      <a:pPr>
                        <a:lnSpc>
                          <a:spcPct val="100000"/>
                        </a:lnSpc>
                        <a:tabLst>
                          <a:tab algn="l" pos="0"/>
                        </a:tabLst>
                      </a:pPr>
                      <a:r>
                        <a:rPr b="1" lang="en-US" sz="1400" spc="-1" strike="noStrike">
                          <a:solidFill>
                            <a:srgbClr val="0b2545"/>
                          </a:solidFill>
                          <a:latin typeface="Calibri"/>
                          <a:ea typeface="Calibri"/>
                        </a:rPr>
                        <a:t>&lt; 5 %</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No hacer nada</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r h="396000">
                <a:tc>
                  <a:txBody>
                    <a:bodyPr lIns="109440" rIns="109440">
                      <a:noAutofit/>
                    </a:bodyPr>
                    <a:p>
                      <a:pPr>
                        <a:lnSpc>
                          <a:spcPct val="100000"/>
                        </a:lnSpc>
                        <a:tabLst>
                          <a:tab algn="l" pos="0"/>
                        </a:tabLst>
                      </a:pPr>
                      <a:r>
                        <a:rPr b="1" lang="en-US" sz="1400" spc="-1" strike="noStrike">
                          <a:solidFill>
                            <a:srgbClr val="0b2545"/>
                          </a:solidFill>
                          <a:latin typeface="Calibri"/>
                          <a:ea typeface="Calibri"/>
                        </a:rPr>
                        <a:t>5 – 30 %</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REORGANIZE</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r>
              <a:tr h="396720">
                <a:tc>
                  <a:txBody>
                    <a:bodyPr lIns="109440" rIns="109440">
                      <a:noAutofit/>
                    </a:bodyPr>
                    <a:p>
                      <a:pPr>
                        <a:lnSpc>
                          <a:spcPct val="100000"/>
                        </a:lnSpc>
                        <a:tabLst>
                          <a:tab algn="l" pos="0"/>
                        </a:tabLst>
                      </a:pPr>
                      <a:r>
                        <a:rPr b="1" lang="en-US" sz="1400" spc="-1" strike="noStrike">
                          <a:solidFill>
                            <a:srgbClr val="0b2545"/>
                          </a:solidFill>
                          <a:latin typeface="Calibri"/>
                          <a:ea typeface="Calibri"/>
                        </a:rPr>
                        <a:t>&gt; 30 %</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REBUILD</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bl>
          </a:graphicData>
        </a:graphic>
      </p:graphicFrame>
      <p:sp>
        <p:nvSpPr>
          <p:cNvPr id="1242" name="CustomShape 12"/>
          <p:cNvSpPr/>
          <p:nvPr/>
        </p:nvSpPr>
        <p:spPr>
          <a:xfrm>
            <a:off x="7406640" y="3794760"/>
            <a:ext cx="4231080" cy="2374920"/>
          </a:xfrm>
          <a:prstGeom prst="roundRect">
            <a:avLst>
              <a:gd name="adj" fmla="val 4615"/>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243" name="CustomShape 13"/>
          <p:cNvSpPr/>
          <p:nvPr/>
        </p:nvSpPr>
        <p:spPr>
          <a:xfrm>
            <a:off x="7635240" y="4023360"/>
            <a:ext cx="3773880" cy="2566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700" spc="-1" strike="noStrike">
                <a:solidFill>
                  <a:srgbClr val="0b2545"/>
                </a:solidFill>
                <a:latin typeface="Calibri"/>
                <a:ea typeface="Calibri"/>
              </a:rPr>
              <a:t>Page Split</a:t>
            </a:r>
            <a:endParaRPr b="0" lang="es-ES" sz="1700" spc="-1" strike="noStrike">
              <a:latin typeface="Arial"/>
            </a:endParaRPr>
          </a:p>
        </p:txBody>
      </p:sp>
      <p:sp>
        <p:nvSpPr>
          <p:cNvPr id="1244" name="CustomShape 14"/>
          <p:cNvSpPr/>
          <p:nvPr/>
        </p:nvSpPr>
        <p:spPr>
          <a:xfrm>
            <a:off x="7635240" y="4392000"/>
            <a:ext cx="3773880" cy="154908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Página llena + inserción en medio: se parte en dos</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Deja páginas a medias y genera log extra</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Claves aleatorias (GUID) lo agravan</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245"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OPTIMIZADOR</a:t>
            </a:r>
            <a:endParaRPr b="0" lang="es-ES" sz="1000" spc="-1" strike="noStrike">
              <a:latin typeface="Arial"/>
            </a:endParaRPr>
          </a:p>
        </p:txBody>
      </p:sp>
      <p:sp>
        <p:nvSpPr>
          <p:cNvPr id="1246"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Estadísticas y cardinality estimator</a:t>
            </a:r>
            <a:endParaRPr b="0" lang="es-ES" sz="3400" spc="-1" strike="noStrike">
              <a:latin typeface="Arial"/>
            </a:endParaRPr>
          </a:p>
        </p:txBody>
      </p:sp>
      <p:sp>
        <p:nvSpPr>
          <p:cNvPr id="1247"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248"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3   50</a:t>
            </a:r>
            <a:endParaRPr b="0" lang="es-ES" sz="1000" spc="-1" strike="noStrike">
              <a:latin typeface="Arial"/>
            </a:endParaRPr>
          </a:p>
        </p:txBody>
      </p:sp>
      <p:sp>
        <p:nvSpPr>
          <p:cNvPr id="1249" name="CustomShape 5"/>
          <p:cNvSpPr/>
          <p:nvPr/>
        </p:nvSpPr>
        <p:spPr>
          <a:xfrm>
            <a:off x="548640" y="1600200"/>
            <a:ext cx="6306840" cy="4569480"/>
          </a:xfrm>
          <a:prstGeom prst="roundRect">
            <a:avLst>
              <a:gd name="adj" fmla="val 2000"/>
            </a:avLst>
          </a:prstGeom>
          <a:solidFill>
            <a:srgbClr val="eceff3"/>
          </a:solidFill>
          <a:ln w="9360">
            <a:solidFill>
              <a:srgbClr val="d0d7de"/>
            </a:solidFill>
            <a:round/>
          </a:ln>
        </p:spPr>
        <p:style>
          <a:lnRef idx="0"/>
          <a:fillRef idx="0"/>
          <a:effectRef idx="0"/>
          <a:fontRef idx="minor"/>
        </p:style>
      </p:sp>
      <p:sp>
        <p:nvSpPr>
          <p:cNvPr id="1250" name="CustomShape 6"/>
          <p:cNvSpPr/>
          <p:nvPr/>
        </p:nvSpPr>
        <p:spPr>
          <a:xfrm>
            <a:off x="73152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INSPECCIONAR ESTADÍSTICAS</a:t>
            </a:r>
            <a:endParaRPr b="0" lang="es-ES" sz="1000" spc="-1" strike="noStrike">
              <a:latin typeface="Arial"/>
            </a:endParaRPr>
          </a:p>
        </p:txBody>
      </p:sp>
      <p:sp>
        <p:nvSpPr>
          <p:cNvPr id="1251" name="CustomShape 7"/>
          <p:cNvSpPr/>
          <p:nvPr/>
        </p:nvSpPr>
        <p:spPr>
          <a:xfrm>
            <a:off x="731520" y="1965960"/>
            <a:ext cx="5941080" cy="411228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0" i="1" lang="en-US" sz="1300" spc="-1" strike="noStrike">
                <a:solidFill>
                  <a:srgbClr val="6b7280"/>
                </a:solidFill>
                <a:latin typeface="Consolas"/>
                <a:ea typeface="Consolas"/>
              </a:rPr>
              <a:t>-- Opciones a nivel de base de datos</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SELECT</a:t>
            </a: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name</a:t>
            </a:r>
            <a:r>
              <a:rPr b="0" lang="en-US" sz="1300" spc="-1" strike="noStrike">
                <a:solidFill>
                  <a:srgbClr val="1f2933"/>
                </a:solidFill>
                <a:latin typeface="Consolas"/>
                <a:ea typeface="Consolas"/>
              </a:rPr>
              <a:t>, is_auto_create_stats_on,</a:t>
            </a:r>
            <a:endParaRPr b="0" lang="es-ES" sz="1300" spc="-1" strike="noStrike">
              <a:latin typeface="Arial"/>
            </a:endParaRPr>
          </a:p>
          <a:p>
            <a:pPr>
              <a:lnSpc>
                <a:spcPct val="100000"/>
              </a:lnSpc>
              <a:tabLst>
                <a:tab algn="l" pos="0"/>
              </a:tabLst>
            </a:pPr>
            <a:r>
              <a:rPr b="0" lang="en-US" sz="1300" spc="-1" strike="noStrike">
                <a:solidFill>
                  <a:srgbClr val="1f2933"/>
                </a:solidFill>
                <a:latin typeface="Consolas"/>
                <a:ea typeface="Consolas"/>
              </a:rPr>
              <a:t>       </a:t>
            </a:r>
            <a:r>
              <a:rPr b="0" lang="en-US" sz="1300" spc="-1" strike="noStrike">
                <a:solidFill>
                  <a:srgbClr val="1f2933"/>
                </a:solidFill>
                <a:latin typeface="Consolas"/>
                <a:ea typeface="Consolas"/>
              </a:rPr>
              <a:t>is_auto_update_stats_on,</a:t>
            </a:r>
            <a:endParaRPr b="0" lang="es-ES" sz="1300" spc="-1" strike="noStrike">
              <a:latin typeface="Arial"/>
            </a:endParaRPr>
          </a:p>
          <a:p>
            <a:pPr>
              <a:lnSpc>
                <a:spcPct val="100000"/>
              </a:lnSpc>
              <a:tabLst>
                <a:tab algn="l" pos="0"/>
              </a:tabLst>
            </a:pPr>
            <a:r>
              <a:rPr b="0" lang="en-US" sz="1300" spc="-1" strike="noStrike">
                <a:solidFill>
                  <a:srgbClr val="1f2933"/>
                </a:solidFill>
                <a:latin typeface="Consolas"/>
                <a:ea typeface="Consolas"/>
              </a:rPr>
              <a:t>       </a:t>
            </a:r>
            <a:r>
              <a:rPr b="0" lang="en-US" sz="1300" spc="-1" strike="noStrike">
                <a:solidFill>
                  <a:srgbClr val="1f2933"/>
                </a:solidFill>
                <a:latin typeface="Consolas"/>
                <a:ea typeface="Consolas"/>
              </a:rPr>
              <a:t>is_auto_update_stats_async_on</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FROM</a:t>
            </a:r>
            <a:r>
              <a:rPr b="0" lang="en-US" sz="1300" spc="-1" strike="noStrike">
                <a:solidFill>
                  <a:srgbClr val="1f2933"/>
                </a:solidFill>
                <a:latin typeface="Consolas"/>
                <a:ea typeface="Consolas"/>
              </a:rPr>
              <a:t> sys.databases </a:t>
            </a:r>
            <a:r>
              <a:rPr b="1" lang="en-US" sz="1300" spc="-1" strike="noStrike">
                <a:solidFill>
                  <a:srgbClr val="1d4ed8"/>
                </a:solidFill>
                <a:latin typeface="Consolas"/>
                <a:ea typeface="Consolas"/>
              </a:rPr>
              <a:t>WHERE</a:t>
            </a: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name</a:t>
            </a:r>
            <a:r>
              <a:rPr b="0" lang="en-US" sz="1300" spc="-1" strike="noStrike">
                <a:solidFill>
                  <a:srgbClr val="1f2933"/>
                </a:solidFill>
                <a:latin typeface="Consolas"/>
                <a:ea typeface="Consolas"/>
              </a:rPr>
              <a:t> = </a:t>
            </a:r>
            <a:r>
              <a:rPr b="0" lang="en-US" sz="1300" spc="-1" strike="noStrike">
                <a:solidFill>
                  <a:srgbClr val="b4441f"/>
                </a:solidFill>
                <a:latin typeface="Consolas"/>
                <a:ea typeface="Consolas"/>
              </a:rPr>
              <a:t>N'Ventas'</a:t>
            </a:r>
            <a:r>
              <a:rPr b="0" lang="en-US" sz="1300" spc="-1" strike="noStrike">
                <a:solidFill>
                  <a:srgbClr val="1f2933"/>
                </a:solidFill>
                <a:latin typeface="Consolas"/>
                <a:ea typeface="Consolas"/>
              </a:rPr>
              <a:t>;</a:t>
            </a:r>
            <a:endParaRPr b="0" lang="es-ES" sz="1300" spc="-1" strike="noStrike">
              <a:latin typeface="Arial"/>
            </a:endParaRPr>
          </a:p>
          <a:p>
            <a:pPr>
              <a:lnSpc>
                <a:spcPct val="100000"/>
              </a:lnSpc>
              <a:tabLst>
                <a:tab algn="l" pos="0"/>
              </a:tabLst>
            </a:pPr>
            <a:r>
              <a:rPr b="0" lang="en-US" sz="1300" spc="-1" strike="noStrike">
                <a:solidFill>
                  <a:srgbClr val="1f2933"/>
                </a:solidFill>
                <a:latin typeface="Consolas"/>
                <a:ea typeface="Consolas"/>
              </a:rPr>
              <a:t> </a:t>
            </a:r>
            <a:endParaRPr b="0" lang="es-ES" sz="1300" spc="-1" strike="noStrike">
              <a:latin typeface="Arial"/>
            </a:endParaRPr>
          </a:p>
          <a:p>
            <a:pPr>
              <a:lnSpc>
                <a:spcPct val="100000"/>
              </a:lnSpc>
              <a:tabLst>
                <a:tab algn="l" pos="0"/>
              </a:tabLst>
            </a:pPr>
            <a:r>
              <a:rPr b="0" i="1" lang="en-US" sz="1300" spc="-1" strike="noStrike">
                <a:solidFill>
                  <a:srgbClr val="6b7280"/>
                </a:solidFill>
                <a:latin typeface="Consolas"/>
                <a:ea typeface="Consolas"/>
              </a:rPr>
              <a:t>-- Encabezado, densidad e histograma</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DBCC</a:t>
            </a:r>
            <a:r>
              <a:rPr b="0" lang="en-US" sz="1300" spc="-1" strike="noStrike">
                <a:solidFill>
                  <a:srgbClr val="1f2933"/>
                </a:solidFill>
                <a:latin typeface="Consolas"/>
                <a:ea typeface="Consolas"/>
              </a:rPr>
              <a:t> SHOW_STATISTICS (</a:t>
            </a:r>
            <a:r>
              <a:rPr b="0" lang="en-US" sz="1300" spc="-1" strike="noStrike">
                <a:solidFill>
                  <a:srgbClr val="b4441f"/>
                </a:solidFill>
                <a:latin typeface="Consolas"/>
                <a:ea typeface="Consolas"/>
              </a:rPr>
              <a:t>N'dbo.Pedido'</a:t>
            </a:r>
            <a:r>
              <a:rPr b="0" lang="en-US" sz="1300" spc="-1" strike="noStrike">
                <a:solidFill>
                  <a:srgbClr val="1f2933"/>
                </a:solidFill>
                <a:latin typeface="Consolas"/>
                <a:ea typeface="Consolas"/>
              </a:rPr>
              <a:t>,</a:t>
            </a:r>
            <a:endParaRPr b="0" lang="es-ES" sz="1300" spc="-1" strike="noStrike">
              <a:latin typeface="Arial"/>
            </a:endParaRPr>
          </a:p>
          <a:p>
            <a:pPr>
              <a:lnSpc>
                <a:spcPct val="100000"/>
              </a:lnSpc>
              <a:tabLst>
                <a:tab algn="l" pos="0"/>
              </a:tabLst>
            </a:pPr>
            <a:r>
              <a:rPr b="0" lang="en-US" sz="1300" spc="-1" strike="noStrike">
                <a:solidFill>
                  <a:srgbClr val="1f2933"/>
                </a:solidFill>
                <a:latin typeface="Consolas"/>
                <a:ea typeface="Consolas"/>
              </a:rPr>
              <a:t>                      </a:t>
            </a:r>
            <a:r>
              <a:rPr b="0" lang="en-US" sz="1300" spc="-1" strike="noStrike">
                <a:solidFill>
                  <a:srgbClr val="b4441f"/>
                </a:solidFill>
                <a:latin typeface="Consolas"/>
                <a:ea typeface="Consolas"/>
              </a:rPr>
              <a:t>N'IX_Pedido_Cliente'</a:t>
            </a:r>
            <a:r>
              <a:rPr b="0" lang="en-US" sz="1300" spc="-1" strike="noStrike">
                <a:solidFill>
                  <a:srgbClr val="1f2933"/>
                </a:solidFill>
                <a:latin typeface="Consolas"/>
                <a:ea typeface="Consolas"/>
              </a:rPr>
              <a:t>);</a:t>
            </a:r>
            <a:endParaRPr b="0" lang="es-ES" sz="1300" spc="-1" strike="noStrike">
              <a:latin typeface="Arial"/>
            </a:endParaRPr>
          </a:p>
          <a:p>
            <a:pPr>
              <a:lnSpc>
                <a:spcPct val="100000"/>
              </a:lnSpc>
              <a:tabLst>
                <a:tab algn="l" pos="0"/>
              </a:tabLst>
            </a:pPr>
            <a:r>
              <a:rPr b="0" lang="en-US" sz="1300" spc="-1" strike="noStrike">
                <a:solidFill>
                  <a:srgbClr val="1f2933"/>
                </a:solidFill>
                <a:latin typeface="Consolas"/>
                <a:ea typeface="Consolas"/>
              </a:rPr>
              <a:t> </a:t>
            </a:r>
            <a:endParaRPr b="0" lang="es-ES" sz="1300" spc="-1" strike="noStrike">
              <a:latin typeface="Arial"/>
            </a:endParaRPr>
          </a:p>
          <a:p>
            <a:pPr>
              <a:lnSpc>
                <a:spcPct val="100000"/>
              </a:lnSpc>
              <a:tabLst>
                <a:tab algn="l" pos="0"/>
              </a:tabLst>
            </a:pPr>
            <a:r>
              <a:rPr b="0" i="1" lang="en-US" sz="1300" spc="-1" strike="noStrike">
                <a:solidFill>
                  <a:srgbClr val="6b7280"/>
                </a:solidFill>
                <a:latin typeface="Consolas"/>
                <a:ea typeface="Consolas"/>
              </a:rPr>
              <a:t>-- Actualización manual</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UPDATE</a:t>
            </a: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STATISTICS</a:t>
            </a:r>
            <a:r>
              <a:rPr b="0" lang="en-US" sz="1300" spc="-1" strike="noStrike">
                <a:solidFill>
                  <a:srgbClr val="1f2933"/>
                </a:solidFill>
                <a:latin typeface="Consolas"/>
                <a:ea typeface="Consolas"/>
              </a:rPr>
              <a:t> dbo.Pedido IX_Pedido_Cliente</a:t>
            </a:r>
            <a:endParaRPr b="0" lang="es-ES" sz="1300" spc="-1" strike="noStrike">
              <a:latin typeface="Arial"/>
            </a:endParaRPr>
          </a:p>
          <a:p>
            <a:pPr>
              <a:lnSpc>
                <a:spcPct val="100000"/>
              </a:lnSpc>
              <a:tabLst>
                <a:tab algn="l" pos="0"/>
              </a:tabLst>
            </a:pP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WITH</a:t>
            </a:r>
            <a:r>
              <a:rPr b="0" lang="en-US" sz="1300" spc="-1" strike="noStrike">
                <a:solidFill>
                  <a:srgbClr val="1f2933"/>
                </a:solidFill>
                <a:latin typeface="Consolas"/>
                <a:ea typeface="Consolas"/>
              </a:rPr>
              <a:t> FULLSCAN;</a:t>
            </a:r>
            <a:endParaRPr b="0" lang="es-ES" sz="1300" spc="-1" strike="noStrike">
              <a:latin typeface="Arial"/>
            </a:endParaRPr>
          </a:p>
        </p:txBody>
      </p:sp>
      <p:sp>
        <p:nvSpPr>
          <p:cNvPr id="1252" name="CustomShape 8"/>
          <p:cNvSpPr/>
          <p:nvPr/>
        </p:nvSpPr>
        <p:spPr>
          <a:xfrm>
            <a:off x="7132320" y="1600200"/>
            <a:ext cx="4505400" cy="1369080"/>
          </a:xfrm>
          <a:prstGeom prst="roundRect">
            <a:avLst>
              <a:gd name="adj" fmla="val 8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253" name="CustomShape 9"/>
          <p:cNvSpPr/>
          <p:nvPr/>
        </p:nvSpPr>
        <p:spPr>
          <a:xfrm>
            <a:off x="7360920" y="1828800"/>
            <a:ext cx="4048200" cy="2566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700" spc="-1" strike="noStrike">
                <a:solidFill>
                  <a:srgbClr val="0b2545"/>
                </a:solidFill>
                <a:latin typeface="Calibri"/>
                <a:ea typeface="Calibri"/>
              </a:rPr>
              <a:t>Auto-create / Auto-update</a:t>
            </a:r>
            <a:endParaRPr b="0" lang="es-ES" sz="1700" spc="-1" strike="noStrike">
              <a:latin typeface="Arial"/>
            </a:endParaRPr>
          </a:p>
        </p:txBody>
      </p:sp>
      <p:sp>
        <p:nvSpPr>
          <p:cNvPr id="1254" name="CustomShape 10"/>
          <p:cNvSpPr/>
          <p:nvPr/>
        </p:nvSpPr>
        <p:spPr>
          <a:xfrm>
            <a:off x="7360920" y="2197440"/>
            <a:ext cx="4048200" cy="5432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Se refrescan tras muchos cambios: umbral dinámico √(1000·filas) con compat. 130+.</a:t>
            </a:r>
            <a:endParaRPr b="0" lang="es-ES" sz="1400" spc="-1" strike="noStrike">
              <a:latin typeface="Arial"/>
            </a:endParaRPr>
          </a:p>
        </p:txBody>
      </p:sp>
      <p:sp>
        <p:nvSpPr>
          <p:cNvPr id="1255" name="CustomShape 11"/>
          <p:cNvSpPr/>
          <p:nvPr/>
        </p:nvSpPr>
        <p:spPr>
          <a:xfrm>
            <a:off x="7132320" y="3200400"/>
            <a:ext cx="4505400" cy="1369080"/>
          </a:xfrm>
          <a:prstGeom prst="roundRect">
            <a:avLst>
              <a:gd name="adj" fmla="val 8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256" name="CustomShape 12"/>
          <p:cNvSpPr/>
          <p:nvPr/>
        </p:nvSpPr>
        <p:spPr>
          <a:xfrm>
            <a:off x="7360920" y="3429000"/>
            <a:ext cx="4048200" cy="2566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700" spc="-1" strike="noStrike">
                <a:solidFill>
                  <a:srgbClr val="0b2545"/>
                </a:solidFill>
                <a:latin typeface="Calibri"/>
                <a:ea typeface="Calibri"/>
              </a:rPr>
              <a:t>Histograma</a:t>
            </a:r>
            <a:endParaRPr b="0" lang="es-ES" sz="1700" spc="-1" strike="noStrike">
              <a:latin typeface="Arial"/>
            </a:endParaRPr>
          </a:p>
        </p:txBody>
      </p:sp>
      <p:sp>
        <p:nvSpPr>
          <p:cNvPr id="1257" name="CustomShape 13"/>
          <p:cNvSpPr/>
          <p:nvPr/>
        </p:nvSpPr>
        <p:spPr>
          <a:xfrm>
            <a:off x="7360920" y="3797640"/>
            <a:ext cx="4048200" cy="5432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Hasta 200 pasos sobre la 1.ª columna de la clave: filas estimadas por valor.</a:t>
            </a:r>
            <a:endParaRPr b="0" lang="es-ES" sz="1400" spc="-1" strike="noStrike">
              <a:latin typeface="Arial"/>
            </a:endParaRPr>
          </a:p>
        </p:txBody>
      </p:sp>
      <p:sp>
        <p:nvSpPr>
          <p:cNvPr id="1258" name="CustomShape 14"/>
          <p:cNvSpPr/>
          <p:nvPr/>
        </p:nvSpPr>
        <p:spPr>
          <a:xfrm>
            <a:off x="7132320" y="4800600"/>
            <a:ext cx="4505400" cy="1369080"/>
          </a:xfrm>
          <a:prstGeom prst="roundRect">
            <a:avLst>
              <a:gd name="adj" fmla="val 8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259" name="CustomShape 15"/>
          <p:cNvSpPr/>
          <p:nvPr/>
        </p:nvSpPr>
        <p:spPr>
          <a:xfrm>
            <a:off x="7360920" y="5029200"/>
            <a:ext cx="4048200" cy="2566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700" spc="-1" strike="noStrike">
                <a:solidFill>
                  <a:srgbClr val="0b2545"/>
                </a:solidFill>
                <a:latin typeface="Calibri"/>
                <a:ea typeface="Calibri"/>
              </a:rPr>
              <a:t>Cardinality Estimator</a:t>
            </a:r>
            <a:endParaRPr b="0" lang="es-ES" sz="1700" spc="-1" strike="noStrike">
              <a:latin typeface="Arial"/>
            </a:endParaRPr>
          </a:p>
        </p:txBody>
      </p:sp>
      <p:sp>
        <p:nvSpPr>
          <p:cNvPr id="1260" name="CustomShape 16"/>
          <p:cNvSpPr/>
          <p:nvPr/>
        </p:nvSpPr>
        <p:spPr>
          <a:xfrm>
            <a:off x="7360920" y="5397840"/>
            <a:ext cx="4048200" cy="5432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El CE nuevo (compat. 120+) cambia estimaciones; compara con el Legacy CE.</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261" name="CustomShape 1"/>
          <p:cNvSpPr/>
          <p:nvPr/>
        </p:nvSpPr>
        <p:spPr>
          <a:xfrm>
            <a:off x="548640" y="365760"/>
            <a:ext cx="210528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PLANES DE EJECUCIÓN</a:t>
            </a:r>
            <a:endParaRPr b="0" lang="es-ES" sz="1000" spc="-1" strike="noStrike">
              <a:latin typeface="Arial"/>
            </a:endParaRPr>
          </a:p>
        </p:txBody>
      </p:sp>
      <p:sp>
        <p:nvSpPr>
          <p:cNvPr id="1262"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Planes: Scan, Seek y Key Lookup</a:t>
            </a:r>
            <a:endParaRPr b="0" lang="es-ES" sz="3400" spc="-1" strike="noStrike">
              <a:latin typeface="Arial"/>
            </a:endParaRPr>
          </a:p>
        </p:txBody>
      </p:sp>
      <p:sp>
        <p:nvSpPr>
          <p:cNvPr id="1263"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264"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3   51</a:t>
            </a:r>
            <a:endParaRPr b="0" lang="es-ES" sz="1000" spc="-1" strike="noStrike">
              <a:latin typeface="Arial"/>
            </a:endParaRPr>
          </a:p>
        </p:txBody>
      </p:sp>
      <p:sp>
        <p:nvSpPr>
          <p:cNvPr id="1265" name="CustomShape 5"/>
          <p:cNvSpPr/>
          <p:nvPr/>
        </p:nvSpPr>
        <p:spPr>
          <a:xfrm>
            <a:off x="548640" y="1600200"/>
            <a:ext cx="3511800" cy="3152160"/>
          </a:xfrm>
          <a:prstGeom prst="roundRect">
            <a:avLst>
              <a:gd name="adj" fmla="val 3478"/>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266" name="CustomShape 6"/>
          <p:cNvSpPr/>
          <p:nvPr/>
        </p:nvSpPr>
        <p:spPr>
          <a:xfrm>
            <a:off x="777240" y="1828800"/>
            <a:ext cx="546120" cy="546120"/>
          </a:xfrm>
          <a:prstGeom prst="ellipse">
            <a:avLst/>
          </a:prstGeom>
          <a:solidFill>
            <a:srgbClr val="134074"/>
          </a:solidFill>
          <a:ln>
            <a:noFill/>
          </a:ln>
        </p:spPr>
        <p:style>
          <a:lnRef idx="0"/>
          <a:fillRef idx="0"/>
          <a:effectRef idx="0"/>
          <a:fontRef idx="minor"/>
        </p:style>
      </p:sp>
      <p:pic>
        <p:nvPicPr>
          <p:cNvPr id="1267" name="Image 0" descr="preencoded.png"/>
          <p:cNvPicPr/>
          <p:nvPr/>
        </p:nvPicPr>
        <p:blipFill>
          <a:blip r:embed="rId1"/>
          <a:stretch/>
        </p:blipFill>
        <p:spPr>
          <a:xfrm>
            <a:off x="914400" y="1965960"/>
            <a:ext cx="271800" cy="271800"/>
          </a:xfrm>
          <a:prstGeom prst="rect">
            <a:avLst/>
          </a:prstGeom>
          <a:ln>
            <a:noFill/>
          </a:ln>
        </p:spPr>
      </p:pic>
      <p:sp>
        <p:nvSpPr>
          <p:cNvPr id="1268" name="CustomShape 7"/>
          <p:cNvSpPr/>
          <p:nvPr/>
        </p:nvSpPr>
        <p:spPr>
          <a:xfrm>
            <a:off x="1463040" y="1828800"/>
            <a:ext cx="236880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Scan</a:t>
            </a:r>
            <a:endParaRPr b="0" lang="es-ES" sz="1700" spc="-1" strike="noStrike">
              <a:latin typeface="Arial"/>
            </a:endParaRPr>
          </a:p>
        </p:txBody>
      </p:sp>
      <p:sp>
        <p:nvSpPr>
          <p:cNvPr id="1269" name="CustomShape 8"/>
          <p:cNvSpPr/>
          <p:nvPr/>
        </p:nvSpPr>
        <p:spPr>
          <a:xfrm>
            <a:off x="777240" y="2560320"/>
            <a:ext cx="3054600" cy="196344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Lee todas las páginas del objeto</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Coste proporcional al tamaño (E/S)</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Correcto en tablas pequeñas o lecturas masivas</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Sospechoso: predicado no SARGable</a:t>
            </a:r>
            <a:endParaRPr b="0" lang="es-ES" sz="1400" spc="-1" strike="noStrike">
              <a:latin typeface="Arial"/>
            </a:endParaRPr>
          </a:p>
        </p:txBody>
      </p:sp>
      <p:sp>
        <p:nvSpPr>
          <p:cNvPr id="1270" name="CustomShape 9"/>
          <p:cNvSpPr/>
          <p:nvPr/>
        </p:nvSpPr>
        <p:spPr>
          <a:xfrm>
            <a:off x="4337280" y="1600200"/>
            <a:ext cx="3511800" cy="3152160"/>
          </a:xfrm>
          <a:prstGeom prst="roundRect">
            <a:avLst>
              <a:gd name="adj" fmla="val 3478"/>
            </a:avLst>
          </a:prstGeom>
          <a:solidFill>
            <a:srgbClr val="134074"/>
          </a:solidFill>
          <a:ln>
            <a:noFill/>
          </a:ln>
        </p:spPr>
        <p:style>
          <a:lnRef idx="0"/>
          <a:fillRef idx="0"/>
          <a:effectRef idx="0"/>
          <a:fontRef idx="minor"/>
        </p:style>
      </p:sp>
      <p:sp>
        <p:nvSpPr>
          <p:cNvPr id="1271" name="CustomShape 10"/>
          <p:cNvSpPr/>
          <p:nvPr/>
        </p:nvSpPr>
        <p:spPr>
          <a:xfrm>
            <a:off x="4565880" y="1828800"/>
            <a:ext cx="546120" cy="546120"/>
          </a:xfrm>
          <a:prstGeom prst="ellipse">
            <a:avLst/>
          </a:prstGeom>
          <a:solidFill>
            <a:srgbClr val="d95d39"/>
          </a:solidFill>
          <a:ln>
            <a:noFill/>
          </a:ln>
        </p:spPr>
        <p:style>
          <a:lnRef idx="0"/>
          <a:fillRef idx="0"/>
          <a:effectRef idx="0"/>
          <a:fontRef idx="minor"/>
        </p:style>
      </p:sp>
      <p:pic>
        <p:nvPicPr>
          <p:cNvPr id="1272" name="Image 1" descr="preencoded.png"/>
          <p:cNvPicPr/>
          <p:nvPr/>
        </p:nvPicPr>
        <p:blipFill>
          <a:blip r:embed="rId2"/>
          <a:stretch/>
        </p:blipFill>
        <p:spPr>
          <a:xfrm>
            <a:off x="4703040" y="1965960"/>
            <a:ext cx="271800" cy="271800"/>
          </a:xfrm>
          <a:prstGeom prst="rect">
            <a:avLst/>
          </a:prstGeom>
          <a:ln>
            <a:noFill/>
          </a:ln>
        </p:spPr>
      </p:pic>
      <p:sp>
        <p:nvSpPr>
          <p:cNvPr id="1273" name="CustomShape 11"/>
          <p:cNvSpPr/>
          <p:nvPr/>
        </p:nvSpPr>
        <p:spPr>
          <a:xfrm>
            <a:off x="5251680" y="1828800"/>
            <a:ext cx="236880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ffffff"/>
                </a:solidFill>
                <a:latin typeface="Calibri"/>
                <a:ea typeface="Calibri"/>
              </a:rPr>
              <a:t>Seek</a:t>
            </a:r>
            <a:endParaRPr b="0" lang="es-ES" sz="1700" spc="-1" strike="noStrike">
              <a:latin typeface="Arial"/>
            </a:endParaRPr>
          </a:p>
        </p:txBody>
      </p:sp>
      <p:sp>
        <p:nvSpPr>
          <p:cNvPr id="1274" name="CustomShape 12"/>
          <p:cNvSpPr/>
          <p:nvPr/>
        </p:nvSpPr>
        <p:spPr>
          <a:xfrm>
            <a:off x="4565880" y="2560320"/>
            <a:ext cx="3054600" cy="196344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e6eef8"/>
              </a:buClr>
              <a:buFont typeface="Symbol"/>
              <a:buChar char=""/>
            </a:pPr>
            <a:r>
              <a:rPr b="0" lang="en-US" sz="1400" spc="-1" strike="noStrike">
                <a:solidFill>
                  <a:srgbClr val="e6eef8"/>
                </a:solidFill>
                <a:latin typeface="Calibri"/>
                <a:ea typeface="Calibri"/>
              </a:rPr>
              <a:t>Navega el B-Tree hasta la clave</a:t>
            </a:r>
            <a:endParaRPr b="0" lang="es-ES" sz="1400" spc="-1" strike="noStrike">
              <a:latin typeface="Arial"/>
            </a:endParaRPr>
          </a:p>
          <a:p>
            <a:pPr marL="203040" indent="-200520">
              <a:lnSpc>
                <a:spcPct val="100000"/>
              </a:lnSpc>
              <a:spcAft>
                <a:spcPts val="400"/>
              </a:spcAft>
              <a:buClr>
                <a:srgbClr val="e6eef8"/>
              </a:buClr>
              <a:buFont typeface="Symbol"/>
              <a:buChar char=""/>
            </a:pPr>
            <a:r>
              <a:rPr b="0" lang="en-US" sz="1400" spc="-1" strike="noStrike">
                <a:solidFill>
                  <a:srgbClr val="e6eef8"/>
                </a:solidFill>
                <a:latin typeface="Calibri"/>
                <a:ea typeface="Calibri"/>
              </a:rPr>
              <a:t>Pocas lecturas lógicas</a:t>
            </a:r>
            <a:endParaRPr b="0" lang="es-ES" sz="1400" spc="-1" strike="noStrike">
              <a:latin typeface="Arial"/>
            </a:endParaRPr>
          </a:p>
          <a:p>
            <a:pPr marL="203040" indent="-200520">
              <a:lnSpc>
                <a:spcPct val="100000"/>
              </a:lnSpc>
              <a:spcAft>
                <a:spcPts val="400"/>
              </a:spcAft>
              <a:buClr>
                <a:srgbClr val="e6eef8"/>
              </a:buClr>
              <a:buFont typeface="Symbol"/>
              <a:buChar char=""/>
            </a:pPr>
            <a:r>
              <a:rPr b="0" lang="en-US" sz="1400" spc="-1" strike="noStrike">
                <a:solidFill>
                  <a:srgbClr val="e6eef8"/>
                </a:solidFill>
                <a:latin typeface="Calibri"/>
                <a:ea typeface="Calibri"/>
              </a:rPr>
              <a:t>Ideal con predicados selectivos</a:t>
            </a:r>
            <a:endParaRPr b="0" lang="es-ES" sz="1400" spc="-1" strike="noStrike">
              <a:latin typeface="Arial"/>
            </a:endParaRPr>
          </a:p>
          <a:p>
            <a:pPr marL="203040" indent="-200520">
              <a:lnSpc>
                <a:spcPct val="100000"/>
              </a:lnSpc>
              <a:spcAft>
                <a:spcPts val="400"/>
              </a:spcAft>
              <a:buClr>
                <a:srgbClr val="e6eef8"/>
              </a:buClr>
              <a:buFont typeface="Symbol"/>
              <a:buChar char=""/>
            </a:pPr>
            <a:r>
              <a:rPr b="0" lang="en-US" sz="1400" spc="-1" strike="noStrike">
                <a:solidFill>
                  <a:srgbClr val="e6eef8"/>
                </a:solidFill>
                <a:latin typeface="Calibri"/>
                <a:ea typeface="Calibri"/>
              </a:rPr>
              <a:t>Ojo: devolver millones de filas no es barato</a:t>
            </a:r>
            <a:endParaRPr b="0" lang="es-ES" sz="1400" spc="-1" strike="noStrike">
              <a:latin typeface="Arial"/>
            </a:endParaRPr>
          </a:p>
        </p:txBody>
      </p:sp>
      <p:sp>
        <p:nvSpPr>
          <p:cNvPr id="1275" name="CustomShape 13"/>
          <p:cNvSpPr/>
          <p:nvPr/>
        </p:nvSpPr>
        <p:spPr>
          <a:xfrm>
            <a:off x="8125920" y="1600200"/>
            <a:ext cx="3511800" cy="3152160"/>
          </a:xfrm>
          <a:prstGeom prst="roundRect">
            <a:avLst>
              <a:gd name="adj" fmla="val 3478"/>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276" name="CustomShape 14"/>
          <p:cNvSpPr/>
          <p:nvPr/>
        </p:nvSpPr>
        <p:spPr>
          <a:xfrm>
            <a:off x="8354520" y="1828800"/>
            <a:ext cx="546120" cy="546120"/>
          </a:xfrm>
          <a:prstGeom prst="ellipse">
            <a:avLst/>
          </a:prstGeom>
          <a:solidFill>
            <a:srgbClr val="134074"/>
          </a:solidFill>
          <a:ln>
            <a:noFill/>
          </a:ln>
        </p:spPr>
        <p:style>
          <a:lnRef idx="0"/>
          <a:fillRef idx="0"/>
          <a:effectRef idx="0"/>
          <a:fontRef idx="minor"/>
        </p:style>
      </p:sp>
      <p:pic>
        <p:nvPicPr>
          <p:cNvPr id="1277" name="Image 2" descr="preencoded.png"/>
          <p:cNvPicPr/>
          <p:nvPr/>
        </p:nvPicPr>
        <p:blipFill>
          <a:blip r:embed="rId3"/>
          <a:stretch/>
        </p:blipFill>
        <p:spPr>
          <a:xfrm>
            <a:off x="8491680" y="1965960"/>
            <a:ext cx="271800" cy="271800"/>
          </a:xfrm>
          <a:prstGeom prst="rect">
            <a:avLst/>
          </a:prstGeom>
          <a:ln>
            <a:noFill/>
          </a:ln>
        </p:spPr>
      </p:pic>
      <p:sp>
        <p:nvSpPr>
          <p:cNvPr id="1278" name="CustomShape 15"/>
          <p:cNvSpPr/>
          <p:nvPr/>
        </p:nvSpPr>
        <p:spPr>
          <a:xfrm>
            <a:off x="9040320" y="1828800"/>
            <a:ext cx="236880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Key Lookup</a:t>
            </a:r>
            <a:endParaRPr b="0" lang="es-ES" sz="1700" spc="-1" strike="noStrike">
              <a:latin typeface="Arial"/>
            </a:endParaRPr>
          </a:p>
        </p:txBody>
      </p:sp>
      <p:sp>
        <p:nvSpPr>
          <p:cNvPr id="1279" name="CustomShape 16"/>
          <p:cNvSpPr/>
          <p:nvPr/>
        </p:nvSpPr>
        <p:spPr>
          <a:xfrm>
            <a:off x="8354520" y="2560320"/>
            <a:ext cx="3054600" cy="196344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Un acceso al clustered por fila del NCI</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Lecturas aleatorias que se multiplican</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Plan típico: Nested Loops + Lookup</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Solución: INCLUDE o reescribir la consulta</a:t>
            </a:r>
            <a:endParaRPr b="0" lang="es-ES" sz="1400" spc="-1" strike="noStrike">
              <a:latin typeface="Arial"/>
            </a:endParaRPr>
          </a:p>
        </p:txBody>
      </p:sp>
      <p:sp>
        <p:nvSpPr>
          <p:cNvPr id="1280" name="CustomShape 17"/>
          <p:cNvSpPr/>
          <p:nvPr/>
        </p:nvSpPr>
        <p:spPr>
          <a:xfrm>
            <a:off x="548640" y="4892040"/>
            <a:ext cx="11089080" cy="1231920"/>
          </a:xfrm>
          <a:prstGeom prst="roundRect">
            <a:avLst>
              <a:gd name="adj" fmla="val 8889"/>
            </a:avLst>
          </a:prstGeom>
          <a:solidFill>
            <a:srgbClr val="e8eef5"/>
          </a:solidFill>
          <a:ln>
            <a:noFill/>
          </a:ln>
        </p:spPr>
        <p:style>
          <a:lnRef idx="0"/>
          <a:fillRef idx="0"/>
          <a:effectRef idx="0"/>
          <a:fontRef idx="minor"/>
        </p:style>
      </p:sp>
      <p:sp>
        <p:nvSpPr>
          <p:cNvPr id="1281" name="CustomShape 18"/>
          <p:cNvSpPr/>
          <p:nvPr/>
        </p:nvSpPr>
        <p:spPr>
          <a:xfrm>
            <a:off x="731520" y="5280840"/>
            <a:ext cx="454680" cy="454680"/>
          </a:xfrm>
          <a:prstGeom prst="ellipse">
            <a:avLst/>
          </a:prstGeom>
          <a:solidFill>
            <a:srgbClr val="134074"/>
          </a:solidFill>
          <a:ln>
            <a:noFill/>
          </a:ln>
        </p:spPr>
        <p:style>
          <a:lnRef idx="0"/>
          <a:fillRef idx="0"/>
          <a:effectRef idx="0"/>
          <a:fontRef idx="minor"/>
        </p:style>
      </p:sp>
      <p:pic>
        <p:nvPicPr>
          <p:cNvPr id="1282" name="Image 3" descr="preencoded.png"/>
          <p:cNvPicPr/>
          <p:nvPr/>
        </p:nvPicPr>
        <p:blipFill>
          <a:blip r:embed="rId4"/>
          <a:stretch/>
        </p:blipFill>
        <p:spPr>
          <a:xfrm>
            <a:off x="846000" y="5394960"/>
            <a:ext cx="226080" cy="226080"/>
          </a:xfrm>
          <a:prstGeom prst="rect">
            <a:avLst/>
          </a:prstGeom>
          <a:ln>
            <a:noFill/>
          </a:ln>
        </p:spPr>
      </p:pic>
      <p:sp>
        <p:nvSpPr>
          <p:cNvPr id="1283" name="CustomShape 19"/>
          <p:cNvSpPr/>
          <p:nvPr/>
        </p:nvSpPr>
        <p:spPr>
          <a:xfrm>
            <a:off x="1371600" y="4892040"/>
            <a:ext cx="10083240" cy="12319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500" spc="-1" strike="noStrike">
                <a:solidFill>
                  <a:srgbClr val="0b2545"/>
                </a:solidFill>
                <a:latin typeface="Calibri"/>
                <a:ea typeface="Calibri"/>
              </a:rPr>
              <a:t>Un Scan no es siempre un problema: </a:t>
            </a:r>
            <a:r>
              <a:rPr b="0" lang="en-US" sz="1500" spc="-1" strike="noStrike">
                <a:solidFill>
                  <a:srgbClr val="1f2933"/>
                </a:solidFill>
                <a:latin typeface="Calibri"/>
                <a:ea typeface="Calibri"/>
              </a:rPr>
              <a:t>hay que cruzarlo con el nº de filas, el tamaño de la tabla y las lecturas lógicas reales antes de decidir crear un índice.</a:t>
            </a:r>
            <a:endParaRPr b="0" lang="es-ES" sz="1500" spc="-1" strike="noStrike">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284" name="CustomShape 1"/>
          <p:cNvSpPr/>
          <p:nvPr/>
        </p:nvSpPr>
        <p:spPr>
          <a:xfrm>
            <a:off x="548640" y="365760"/>
            <a:ext cx="210528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PLANES DE EJECUCIÓN</a:t>
            </a:r>
            <a:endParaRPr b="0" lang="es-ES" sz="1000" spc="-1" strike="noStrike">
              <a:latin typeface="Arial"/>
            </a:endParaRPr>
          </a:p>
        </p:txBody>
      </p:sp>
      <p:sp>
        <p:nvSpPr>
          <p:cNvPr id="1285"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Leer un plan: coste, warnings y estimados</a:t>
            </a:r>
            <a:endParaRPr b="0" lang="es-ES" sz="3400" spc="-1" strike="noStrike">
              <a:latin typeface="Arial"/>
            </a:endParaRPr>
          </a:p>
        </p:txBody>
      </p:sp>
      <p:sp>
        <p:nvSpPr>
          <p:cNvPr id="1286"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287"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3   52</a:t>
            </a:r>
            <a:endParaRPr b="0" lang="es-ES" sz="1000" spc="-1" strike="noStrike">
              <a:latin typeface="Arial"/>
            </a:endParaRPr>
          </a:p>
        </p:txBody>
      </p:sp>
      <p:sp>
        <p:nvSpPr>
          <p:cNvPr id="1288" name="CustomShape 5"/>
          <p:cNvSpPr/>
          <p:nvPr/>
        </p:nvSpPr>
        <p:spPr>
          <a:xfrm>
            <a:off x="548640" y="1600200"/>
            <a:ext cx="6032520" cy="3015000"/>
          </a:xfrm>
          <a:prstGeom prst="roundRect">
            <a:avLst>
              <a:gd name="adj" fmla="val 3030"/>
            </a:avLst>
          </a:prstGeom>
          <a:solidFill>
            <a:srgbClr val="eceff3"/>
          </a:solidFill>
          <a:ln w="9360">
            <a:solidFill>
              <a:srgbClr val="d0d7de"/>
            </a:solidFill>
            <a:round/>
          </a:ln>
        </p:spPr>
        <p:style>
          <a:lnRef idx="0"/>
          <a:fillRef idx="0"/>
          <a:effectRef idx="0"/>
          <a:fontRef idx="minor"/>
        </p:style>
      </p:sp>
      <p:sp>
        <p:nvSpPr>
          <p:cNvPr id="1289" name="CustomShape 6"/>
          <p:cNvSpPr/>
          <p:nvPr/>
        </p:nvSpPr>
        <p:spPr>
          <a:xfrm>
            <a:off x="73152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MEDIR E/S Y TIEMPO</a:t>
            </a:r>
            <a:endParaRPr b="0" lang="es-ES" sz="1000" spc="-1" strike="noStrike">
              <a:latin typeface="Arial"/>
            </a:endParaRPr>
          </a:p>
        </p:txBody>
      </p:sp>
      <p:sp>
        <p:nvSpPr>
          <p:cNvPr id="1290" name="CustomShape 7"/>
          <p:cNvSpPr/>
          <p:nvPr/>
        </p:nvSpPr>
        <p:spPr>
          <a:xfrm>
            <a:off x="731520" y="1965960"/>
            <a:ext cx="5666760" cy="255780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300" spc="-1" strike="noStrike">
                <a:solidFill>
                  <a:srgbClr val="1d4ed8"/>
                </a:solidFill>
                <a:latin typeface="Consolas"/>
                <a:ea typeface="Consolas"/>
              </a:rPr>
              <a:t>SET</a:t>
            </a: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STATISTICS</a:t>
            </a:r>
            <a:r>
              <a:rPr b="0" lang="en-US" sz="1300" spc="-1" strike="noStrike">
                <a:solidFill>
                  <a:srgbClr val="1f2933"/>
                </a:solidFill>
                <a:latin typeface="Consolas"/>
                <a:ea typeface="Consolas"/>
              </a:rPr>
              <a:t> IO </a:t>
            </a:r>
            <a:r>
              <a:rPr b="1" lang="en-US" sz="1300" spc="-1" strike="noStrike">
                <a:solidFill>
                  <a:srgbClr val="1d4ed8"/>
                </a:solidFill>
                <a:latin typeface="Consolas"/>
                <a:ea typeface="Consolas"/>
              </a:rPr>
              <a:t>ON</a:t>
            </a:r>
            <a:r>
              <a:rPr b="0" lang="en-US" sz="1300" spc="-1" strike="noStrike">
                <a:solidFill>
                  <a:srgbClr val="1f2933"/>
                </a:solidFill>
                <a:latin typeface="Consolas"/>
                <a:ea typeface="Consolas"/>
              </a:rPr>
              <a:t>;</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SET</a:t>
            </a: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STATISTICS</a:t>
            </a:r>
            <a:r>
              <a:rPr b="0" lang="en-US" sz="1300" spc="-1" strike="noStrike">
                <a:solidFill>
                  <a:srgbClr val="1f2933"/>
                </a:solidFill>
                <a:latin typeface="Consolas"/>
                <a:ea typeface="Consolas"/>
              </a:rPr>
              <a:t> </a:t>
            </a:r>
            <a:r>
              <a:rPr b="0" lang="en-US" sz="1300" spc="-1" strike="noStrike">
                <a:solidFill>
                  <a:srgbClr val="7c3aed"/>
                </a:solidFill>
                <a:latin typeface="Consolas"/>
                <a:ea typeface="Consolas"/>
              </a:rPr>
              <a:t>TIME</a:t>
            </a: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ON</a:t>
            </a:r>
            <a:r>
              <a:rPr b="0" lang="en-US" sz="1300" spc="-1" strike="noStrike">
                <a:solidFill>
                  <a:srgbClr val="1f2933"/>
                </a:solidFill>
                <a:latin typeface="Consolas"/>
                <a:ea typeface="Consolas"/>
              </a:rPr>
              <a:t>;</a:t>
            </a:r>
            <a:endParaRPr b="0" lang="es-ES" sz="1300" spc="-1" strike="noStrike">
              <a:latin typeface="Arial"/>
            </a:endParaRPr>
          </a:p>
          <a:p>
            <a:pPr>
              <a:lnSpc>
                <a:spcPct val="100000"/>
              </a:lnSpc>
              <a:tabLst>
                <a:tab algn="l" pos="0"/>
              </a:tabLst>
            </a:pPr>
            <a:r>
              <a:rPr b="0" lang="en-US" sz="1300" spc="-1" strike="noStrike">
                <a:solidFill>
                  <a:srgbClr val="1f2933"/>
                </a:solidFill>
                <a:latin typeface="Consolas"/>
                <a:ea typeface="Consolas"/>
              </a:rPr>
              <a:t> </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SELECT</a:t>
            </a:r>
            <a:r>
              <a:rPr b="0" lang="en-US" sz="1300" spc="-1" strike="noStrike">
                <a:solidFill>
                  <a:srgbClr val="1f2933"/>
                </a:solidFill>
                <a:latin typeface="Consolas"/>
                <a:ea typeface="Consolas"/>
              </a:rPr>
              <a:t> PedidoId, Total</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FROM</a:t>
            </a:r>
            <a:r>
              <a:rPr b="0" lang="en-US" sz="1300" spc="-1" strike="noStrike">
                <a:solidFill>
                  <a:srgbClr val="1f2933"/>
                </a:solidFill>
                <a:latin typeface="Consolas"/>
                <a:ea typeface="Consolas"/>
              </a:rPr>
              <a:t> dbo.Pedido</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WHERE</a:t>
            </a:r>
            <a:r>
              <a:rPr b="0" lang="en-US" sz="1300" spc="-1" strike="noStrike">
                <a:solidFill>
                  <a:srgbClr val="1f2933"/>
                </a:solidFill>
                <a:latin typeface="Consolas"/>
                <a:ea typeface="Consolas"/>
              </a:rPr>
              <a:t> ClienteId = </a:t>
            </a:r>
            <a:r>
              <a:rPr b="0" lang="en-US" sz="1300" spc="-1" strike="noStrike">
                <a:solidFill>
                  <a:srgbClr val="9a3412"/>
                </a:solidFill>
                <a:latin typeface="Consolas"/>
                <a:ea typeface="Consolas"/>
              </a:rPr>
              <a:t>4217</a:t>
            </a:r>
            <a:r>
              <a:rPr b="0" lang="en-US" sz="1300" spc="-1" strike="noStrike">
                <a:solidFill>
                  <a:srgbClr val="1f2933"/>
                </a:solidFill>
                <a:latin typeface="Consolas"/>
                <a:ea typeface="Consolas"/>
              </a:rPr>
              <a:t>;</a:t>
            </a:r>
            <a:endParaRPr b="0" lang="es-ES" sz="1300" spc="-1" strike="noStrike">
              <a:latin typeface="Arial"/>
            </a:endParaRPr>
          </a:p>
          <a:p>
            <a:pPr>
              <a:lnSpc>
                <a:spcPct val="100000"/>
              </a:lnSpc>
              <a:tabLst>
                <a:tab algn="l" pos="0"/>
              </a:tabLst>
            </a:pPr>
            <a:r>
              <a:rPr b="0" lang="en-US" sz="1300" spc="-1" strike="noStrike">
                <a:solidFill>
                  <a:srgbClr val="1f2933"/>
                </a:solidFill>
                <a:latin typeface="Consolas"/>
                <a:ea typeface="Consolas"/>
              </a:rPr>
              <a:t> </a:t>
            </a:r>
            <a:endParaRPr b="0" lang="es-ES" sz="1300" spc="-1" strike="noStrike">
              <a:latin typeface="Arial"/>
            </a:endParaRPr>
          </a:p>
          <a:p>
            <a:pPr>
              <a:lnSpc>
                <a:spcPct val="100000"/>
              </a:lnSpc>
              <a:tabLst>
                <a:tab algn="l" pos="0"/>
              </a:tabLst>
            </a:pPr>
            <a:r>
              <a:rPr b="0" i="1" lang="en-US" sz="1300" spc="-1" strike="noStrike">
                <a:solidFill>
                  <a:srgbClr val="6b7280"/>
                </a:solidFill>
                <a:latin typeface="Consolas"/>
                <a:ea typeface="Consolas"/>
              </a:rPr>
              <a:t>-- Messages: Table 'Pedido'. Scan count 1,</a:t>
            </a:r>
            <a:endParaRPr b="0" lang="es-ES" sz="1300" spc="-1" strike="noStrike">
              <a:latin typeface="Arial"/>
            </a:endParaRPr>
          </a:p>
          <a:p>
            <a:pPr>
              <a:lnSpc>
                <a:spcPct val="100000"/>
              </a:lnSpc>
              <a:tabLst>
                <a:tab algn="l" pos="0"/>
              </a:tabLst>
            </a:pPr>
            <a:r>
              <a:rPr b="0" i="1" lang="en-US" sz="1300" spc="-1" strike="noStrike">
                <a:solidFill>
                  <a:srgbClr val="6b7280"/>
                </a:solidFill>
                <a:latin typeface="Consolas"/>
                <a:ea typeface="Consolas"/>
              </a:rPr>
              <a:t>--   logical reads 3, physical reads 0</a:t>
            </a:r>
            <a:endParaRPr b="0" lang="es-ES" sz="1300" spc="-1" strike="noStrike">
              <a:latin typeface="Arial"/>
            </a:endParaRPr>
          </a:p>
          <a:p>
            <a:pPr>
              <a:lnSpc>
                <a:spcPct val="100000"/>
              </a:lnSpc>
              <a:tabLst>
                <a:tab algn="l" pos="0"/>
              </a:tabLst>
            </a:pPr>
            <a:r>
              <a:rPr b="0" i="1" lang="en-US" sz="1300" spc="-1" strike="noStrike">
                <a:solidFill>
                  <a:srgbClr val="6b7280"/>
                </a:solidFill>
                <a:latin typeface="Consolas"/>
                <a:ea typeface="Consolas"/>
              </a:rPr>
              <a:t>--   CPU time = 0 ms, elapsed time = 1 ms</a:t>
            </a:r>
            <a:endParaRPr b="0" lang="es-ES" sz="1300" spc="-1" strike="noStrike">
              <a:latin typeface="Arial"/>
            </a:endParaRPr>
          </a:p>
        </p:txBody>
      </p:sp>
      <p:sp>
        <p:nvSpPr>
          <p:cNvPr id="1291" name="CustomShape 8"/>
          <p:cNvSpPr/>
          <p:nvPr/>
        </p:nvSpPr>
        <p:spPr>
          <a:xfrm>
            <a:off x="548640" y="4892040"/>
            <a:ext cx="6032520" cy="1277640"/>
          </a:xfrm>
          <a:prstGeom prst="roundRect">
            <a:avLst>
              <a:gd name="adj" fmla="val 8571"/>
            </a:avLst>
          </a:prstGeom>
          <a:solidFill>
            <a:srgbClr val="e8eef5"/>
          </a:solidFill>
          <a:ln>
            <a:noFill/>
          </a:ln>
        </p:spPr>
        <p:style>
          <a:lnRef idx="0"/>
          <a:fillRef idx="0"/>
          <a:effectRef idx="0"/>
          <a:fontRef idx="minor"/>
        </p:style>
      </p:sp>
      <p:sp>
        <p:nvSpPr>
          <p:cNvPr id="1292" name="CustomShape 9"/>
          <p:cNvSpPr/>
          <p:nvPr/>
        </p:nvSpPr>
        <p:spPr>
          <a:xfrm>
            <a:off x="731520" y="5303520"/>
            <a:ext cx="454680" cy="454680"/>
          </a:xfrm>
          <a:prstGeom prst="ellipse">
            <a:avLst/>
          </a:prstGeom>
          <a:solidFill>
            <a:srgbClr val="134074"/>
          </a:solidFill>
          <a:ln>
            <a:noFill/>
          </a:ln>
        </p:spPr>
        <p:style>
          <a:lnRef idx="0"/>
          <a:fillRef idx="0"/>
          <a:effectRef idx="0"/>
          <a:fontRef idx="minor"/>
        </p:style>
      </p:sp>
      <p:pic>
        <p:nvPicPr>
          <p:cNvPr id="1293" name="Image 0" descr="preencoded.png"/>
          <p:cNvPicPr/>
          <p:nvPr/>
        </p:nvPicPr>
        <p:blipFill>
          <a:blip r:embed="rId1"/>
          <a:stretch/>
        </p:blipFill>
        <p:spPr>
          <a:xfrm>
            <a:off x="846000" y="5418000"/>
            <a:ext cx="226080" cy="226080"/>
          </a:xfrm>
          <a:prstGeom prst="rect">
            <a:avLst/>
          </a:prstGeom>
          <a:ln>
            <a:noFill/>
          </a:ln>
        </p:spPr>
      </p:pic>
      <p:sp>
        <p:nvSpPr>
          <p:cNvPr id="1294" name="CustomShape 10"/>
          <p:cNvSpPr/>
          <p:nvPr/>
        </p:nvSpPr>
        <p:spPr>
          <a:xfrm>
            <a:off x="1371600" y="4892040"/>
            <a:ext cx="5026680" cy="127764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2545"/>
                </a:solidFill>
                <a:latin typeface="Calibri"/>
                <a:ea typeface="Calibri"/>
              </a:rPr>
              <a:t>Métrica clave: </a:t>
            </a:r>
            <a:r>
              <a:rPr b="0" lang="en-US" sz="1400" spc="-1" strike="noStrike">
                <a:solidFill>
                  <a:srgbClr val="1f2933"/>
                </a:solidFill>
                <a:latin typeface="Calibri"/>
                <a:ea typeface="Calibri"/>
              </a:rPr>
              <a:t>las lecturas lógicas son estables; el tiempo varía con la caché y la carga.</a:t>
            </a:r>
            <a:endParaRPr b="0" lang="es-ES" sz="1400" spc="-1" strike="noStrike">
              <a:latin typeface="Arial"/>
            </a:endParaRPr>
          </a:p>
        </p:txBody>
      </p:sp>
      <p:sp>
        <p:nvSpPr>
          <p:cNvPr id="1295" name="CustomShape 11"/>
          <p:cNvSpPr/>
          <p:nvPr/>
        </p:nvSpPr>
        <p:spPr>
          <a:xfrm>
            <a:off x="6858000" y="1600200"/>
            <a:ext cx="4779720" cy="4569480"/>
          </a:xfrm>
          <a:prstGeom prst="roundRect">
            <a:avLst>
              <a:gd name="adj" fmla="val 24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296" name="CustomShape 12"/>
          <p:cNvSpPr/>
          <p:nvPr/>
        </p:nvSpPr>
        <p:spPr>
          <a:xfrm>
            <a:off x="7086600" y="1828800"/>
            <a:ext cx="546120" cy="546120"/>
          </a:xfrm>
          <a:prstGeom prst="ellipse">
            <a:avLst/>
          </a:prstGeom>
          <a:solidFill>
            <a:srgbClr val="134074"/>
          </a:solidFill>
          <a:ln>
            <a:noFill/>
          </a:ln>
        </p:spPr>
        <p:style>
          <a:lnRef idx="0"/>
          <a:fillRef idx="0"/>
          <a:effectRef idx="0"/>
          <a:fontRef idx="minor"/>
        </p:style>
      </p:sp>
      <p:pic>
        <p:nvPicPr>
          <p:cNvPr id="1297" name="Image 1" descr="preencoded.png"/>
          <p:cNvPicPr/>
          <p:nvPr/>
        </p:nvPicPr>
        <p:blipFill>
          <a:blip r:embed="rId2"/>
          <a:stretch/>
        </p:blipFill>
        <p:spPr>
          <a:xfrm>
            <a:off x="7223760" y="1965960"/>
            <a:ext cx="271800" cy="271800"/>
          </a:xfrm>
          <a:prstGeom prst="rect">
            <a:avLst/>
          </a:prstGeom>
          <a:ln>
            <a:noFill/>
          </a:ln>
        </p:spPr>
      </p:pic>
      <p:sp>
        <p:nvSpPr>
          <p:cNvPr id="1298" name="CustomShape 13"/>
          <p:cNvSpPr/>
          <p:nvPr/>
        </p:nvSpPr>
        <p:spPr>
          <a:xfrm>
            <a:off x="7772400" y="1828800"/>
            <a:ext cx="363672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Qué mirar en el plan</a:t>
            </a:r>
            <a:endParaRPr b="0" lang="es-ES" sz="1700" spc="-1" strike="noStrike">
              <a:latin typeface="Arial"/>
            </a:endParaRPr>
          </a:p>
        </p:txBody>
      </p:sp>
      <p:sp>
        <p:nvSpPr>
          <p:cNvPr id="1299" name="CustomShape 14"/>
          <p:cNvSpPr/>
          <p:nvPr/>
        </p:nvSpPr>
        <p:spPr>
          <a:xfrm>
            <a:off x="7086600" y="2560320"/>
            <a:ext cx="4322520" cy="338076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Estimated vs Actual: </a:t>
            </a:r>
            <a:r>
              <a:rPr b="0" lang="en-US" sz="1400" spc="-1" strike="noStrike">
                <a:solidFill>
                  <a:srgbClr val="1f2933"/>
                </a:solidFill>
                <a:latin typeface="Calibri"/>
                <a:ea typeface="Calibri"/>
              </a:rPr>
              <a:t>gran diferencia = estadísticas obsoletas o parameter sniffing</a:t>
            </a:r>
            <a:endParaRPr b="0" lang="es-ES" sz="1400" spc="-1" strike="noStrike">
              <a:latin typeface="Arial"/>
            </a:endParaRPr>
          </a:p>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Warnings: </a:t>
            </a:r>
            <a:r>
              <a:rPr b="0" lang="en-US" sz="1400" spc="-1" strike="noStrike">
                <a:solidFill>
                  <a:srgbClr val="1f2933"/>
                </a:solidFill>
                <a:latin typeface="Calibri"/>
                <a:ea typeface="Calibri"/>
              </a:rPr>
              <a:t>spill a tempdb, conversión implícita, falta de estadísticas</a:t>
            </a:r>
            <a:endParaRPr b="0" lang="es-ES" sz="1400" spc="-1" strike="noStrike">
              <a:latin typeface="Arial"/>
            </a:endParaRPr>
          </a:p>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Coste %: </a:t>
            </a:r>
            <a:r>
              <a:rPr b="0" lang="en-US" sz="1400" spc="-1" strike="noStrike">
                <a:solidFill>
                  <a:srgbClr val="1f2933"/>
                </a:solidFill>
                <a:latin typeface="Calibri"/>
                <a:ea typeface="Calibri"/>
              </a:rPr>
              <a:t>estimación relativa, no tiempo real</a:t>
            </a:r>
            <a:endParaRPr b="0" lang="es-ES" sz="1400" spc="-1" strike="noStrike">
              <a:latin typeface="Arial"/>
            </a:endParaRPr>
          </a:p>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Query Store: </a:t>
            </a:r>
            <a:r>
              <a:rPr b="0" lang="en-US" sz="1400" spc="-1" strike="noStrike">
                <a:solidFill>
                  <a:srgbClr val="1f2933"/>
                </a:solidFill>
                <a:latin typeface="Calibri"/>
                <a:ea typeface="Calibri"/>
              </a:rPr>
              <a:t>planes e historial para detectar regresiones (2016+)</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300" name="CustomShape 1"/>
          <p:cNvSpPr/>
          <p:nvPr/>
        </p:nvSpPr>
        <p:spPr>
          <a:xfrm>
            <a:off x="548640" y="365760"/>
            <a:ext cx="167076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MONITORIZACIÓN</a:t>
            </a:r>
            <a:endParaRPr b="0" lang="es-ES" sz="1000" spc="-1" strike="noStrike">
              <a:latin typeface="Arial"/>
            </a:endParaRPr>
          </a:p>
        </p:txBody>
      </p:sp>
      <p:sp>
        <p:nvSpPr>
          <p:cNvPr id="1301"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DMVs: consultas costosas y sesiones activas</a:t>
            </a:r>
            <a:endParaRPr b="0" lang="es-ES" sz="3400" spc="-1" strike="noStrike">
              <a:latin typeface="Arial"/>
            </a:endParaRPr>
          </a:p>
        </p:txBody>
      </p:sp>
      <p:sp>
        <p:nvSpPr>
          <p:cNvPr id="1302"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303"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3   53</a:t>
            </a:r>
            <a:endParaRPr b="0" lang="es-ES" sz="1000" spc="-1" strike="noStrike">
              <a:latin typeface="Arial"/>
            </a:endParaRPr>
          </a:p>
        </p:txBody>
      </p:sp>
      <p:sp>
        <p:nvSpPr>
          <p:cNvPr id="1304" name="CustomShape 5"/>
          <p:cNvSpPr/>
          <p:nvPr/>
        </p:nvSpPr>
        <p:spPr>
          <a:xfrm>
            <a:off x="548640" y="1600200"/>
            <a:ext cx="5392440" cy="3243600"/>
          </a:xfrm>
          <a:prstGeom prst="roundRect">
            <a:avLst>
              <a:gd name="adj" fmla="val 2817"/>
            </a:avLst>
          </a:prstGeom>
          <a:solidFill>
            <a:srgbClr val="eceff3"/>
          </a:solidFill>
          <a:ln w="9360">
            <a:solidFill>
              <a:srgbClr val="d0d7de"/>
            </a:solidFill>
            <a:round/>
          </a:ln>
        </p:spPr>
        <p:style>
          <a:lnRef idx="0"/>
          <a:fillRef idx="0"/>
          <a:effectRef idx="0"/>
          <a:fontRef idx="minor"/>
        </p:style>
      </p:sp>
      <p:sp>
        <p:nvSpPr>
          <p:cNvPr id="1305" name="CustomShape 6"/>
          <p:cNvSpPr/>
          <p:nvPr/>
        </p:nvSpPr>
        <p:spPr>
          <a:xfrm>
            <a:off x="73152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TOP CONSULTAS POR CPU</a:t>
            </a:r>
            <a:endParaRPr b="0" lang="es-ES" sz="1000" spc="-1" strike="noStrike">
              <a:latin typeface="Arial"/>
            </a:endParaRPr>
          </a:p>
        </p:txBody>
      </p:sp>
      <p:sp>
        <p:nvSpPr>
          <p:cNvPr id="1306" name="CustomShape 7"/>
          <p:cNvSpPr/>
          <p:nvPr/>
        </p:nvSpPr>
        <p:spPr>
          <a:xfrm>
            <a:off x="731520" y="1965960"/>
            <a:ext cx="5026680" cy="278640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TOP</a:t>
            </a:r>
            <a:r>
              <a:rPr b="0" lang="en-US" sz="1200" spc="-1" strike="noStrike">
                <a:solidFill>
                  <a:srgbClr val="1f2933"/>
                </a:solidFill>
                <a:latin typeface="Consolas"/>
                <a:ea typeface="Consolas"/>
              </a:rPr>
              <a:t> (</a:t>
            </a:r>
            <a:r>
              <a:rPr b="0" lang="en-US" sz="1200" spc="-1" strike="noStrike">
                <a:solidFill>
                  <a:srgbClr val="9a3412"/>
                </a:solidFill>
                <a:latin typeface="Consolas"/>
                <a:ea typeface="Consolas"/>
              </a:rPr>
              <a:t>5</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qs.execution_count,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qs.total_worker_time/qs.execution_count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cpu_us,</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qs.total_logical_reads,</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LEFT</a:t>
            </a:r>
            <a:r>
              <a:rPr b="0" lang="en-US" sz="1200" spc="-1" strike="noStrike">
                <a:solidFill>
                  <a:srgbClr val="1f2933"/>
                </a:solidFill>
                <a:latin typeface="Consolas"/>
                <a:ea typeface="Consolas"/>
              </a:rPr>
              <a:t>(st.</a:t>
            </a:r>
            <a:r>
              <a:rPr b="0" lang="en-US" sz="1200" spc="-1" strike="noStrike">
                <a:solidFill>
                  <a:srgbClr val="7c3aed"/>
                </a:solidFill>
                <a:latin typeface="Consolas"/>
                <a:ea typeface="Consolas"/>
              </a:rPr>
              <a:t>text</a:t>
            </a:r>
            <a:r>
              <a:rPr b="0" lang="en-US" sz="1200" spc="-1" strike="noStrike">
                <a:solidFill>
                  <a:srgbClr val="1f2933"/>
                </a:solidFill>
                <a:latin typeface="Consolas"/>
                <a:ea typeface="Consolas"/>
              </a:rPr>
              <a:t>, </a:t>
            </a:r>
            <a:r>
              <a:rPr b="0" lang="en-US" sz="1200" spc="-1" strike="noStrike">
                <a:solidFill>
                  <a:srgbClr val="9a3412"/>
                </a:solidFill>
                <a:latin typeface="Consolas"/>
                <a:ea typeface="Consolas"/>
              </a:rPr>
              <a:t>100</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batch_text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sys.dm_exec_query_stats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qs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CROSS</a:t>
            </a:r>
            <a:r>
              <a:rPr b="0" lang="en-US" sz="1200" spc="-1" strike="noStrike">
                <a:solidFill>
                  <a:srgbClr val="1f2933"/>
                </a:solidFill>
                <a:latin typeface="Consolas"/>
                <a:ea typeface="Consolas"/>
              </a:rPr>
              <a:t> APPLY sys.dm_exec_sql_text(qs.sql_handle) st</a:t>
            </a:r>
            <a:endParaRPr b="0" lang="es-ES" sz="1200" spc="-1" strike="noStrike">
              <a:latin typeface="Arial"/>
            </a:endParaRPr>
          </a:p>
          <a:p>
            <a:pPr>
              <a:lnSpc>
                <a:spcPct val="100000"/>
              </a:lnSpc>
              <a:tabLst>
                <a:tab algn="l" pos="0"/>
              </a:tabLst>
            </a:pPr>
            <a:r>
              <a:rPr b="0" i="1" lang="en-US" sz="1200" spc="-1" strike="noStrike">
                <a:solidFill>
                  <a:srgbClr val="6b7280"/>
                </a:solidFill>
                <a:latin typeface="Consolas"/>
                <a:ea typeface="Consolas"/>
              </a:rPr>
              <a:t>-- Plan: sys.dm_exec_query_plan(qs.plan_handle)</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ORDER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BY</a:t>
            </a:r>
            <a:r>
              <a:rPr b="0" lang="en-US" sz="1200" spc="-1" strike="noStrike">
                <a:solidFill>
                  <a:srgbClr val="1f2933"/>
                </a:solidFill>
                <a:latin typeface="Consolas"/>
                <a:ea typeface="Consolas"/>
              </a:rPr>
              <a:t> qs.total_worker_time </a:t>
            </a:r>
            <a:r>
              <a:rPr b="1" lang="en-US" sz="1200" spc="-1" strike="noStrike">
                <a:solidFill>
                  <a:srgbClr val="1d4ed8"/>
                </a:solidFill>
                <a:latin typeface="Consolas"/>
                <a:ea typeface="Consolas"/>
              </a:rPr>
              <a:t>DESC</a:t>
            </a:r>
            <a:r>
              <a:rPr b="0" lang="en-US" sz="1200" spc="-1" strike="noStrike">
                <a:solidFill>
                  <a:srgbClr val="1f2933"/>
                </a:solidFill>
                <a:latin typeface="Consolas"/>
                <a:ea typeface="Consolas"/>
              </a:rPr>
              <a:t>;</a:t>
            </a:r>
            <a:endParaRPr b="0" lang="es-ES" sz="1200" spc="-1" strike="noStrike">
              <a:latin typeface="Arial"/>
            </a:endParaRPr>
          </a:p>
        </p:txBody>
      </p:sp>
      <p:sp>
        <p:nvSpPr>
          <p:cNvPr id="1307" name="CustomShape 8"/>
          <p:cNvSpPr/>
          <p:nvPr/>
        </p:nvSpPr>
        <p:spPr>
          <a:xfrm>
            <a:off x="6245280" y="1600200"/>
            <a:ext cx="5392440" cy="3243600"/>
          </a:xfrm>
          <a:prstGeom prst="roundRect">
            <a:avLst>
              <a:gd name="adj" fmla="val 2817"/>
            </a:avLst>
          </a:prstGeom>
          <a:solidFill>
            <a:srgbClr val="eceff3"/>
          </a:solidFill>
          <a:ln w="9360">
            <a:solidFill>
              <a:srgbClr val="d0d7de"/>
            </a:solidFill>
            <a:round/>
          </a:ln>
        </p:spPr>
        <p:style>
          <a:lnRef idx="0"/>
          <a:fillRef idx="0"/>
          <a:effectRef idx="0"/>
          <a:fontRef idx="minor"/>
        </p:style>
      </p:sp>
      <p:sp>
        <p:nvSpPr>
          <p:cNvPr id="1308" name="CustomShape 9"/>
          <p:cNvSpPr/>
          <p:nvPr/>
        </p:nvSpPr>
        <p:spPr>
          <a:xfrm>
            <a:off x="642816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PETICIONES ACTIVAS</a:t>
            </a:r>
            <a:endParaRPr b="0" lang="es-ES" sz="1000" spc="-1" strike="noStrike">
              <a:latin typeface="Arial"/>
            </a:endParaRPr>
          </a:p>
        </p:txBody>
      </p:sp>
      <p:sp>
        <p:nvSpPr>
          <p:cNvPr id="1309" name="CustomShape 10"/>
          <p:cNvSpPr/>
          <p:nvPr/>
        </p:nvSpPr>
        <p:spPr>
          <a:xfrm>
            <a:off x="6428160" y="1965960"/>
            <a:ext cx="5026680" cy="278640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r.session_id, r.status, r.command,</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r.wait_type, r.wait_time,</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r.blocking_session_id,</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r.cpu_time, r.logical_reads,</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DB_NAME(r.database_id)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bd,</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LEFT</a:t>
            </a:r>
            <a:r>
              <a:rPr b="0" lang="en-US" sz="1200" spc="-1" strike="noStrike">
                <a:solidFill>
                  <a:srgbClr val="1f2933"/>
                </a:solidFill>
                <a:latin typeface="Consolas"/>
                <a:ea typeface="Consolas"/>
              </a:rPr>
              <a:t>(t.</a:t>
            </a:r>
            <a:r>
              <a:rPr b="0" lang="en-US" sz="1200" spc="-1" strike="noStrike">
                <a:solidFill>
                  <a:srgbClr val="7c3aed"/>
                </a:solidFill>
                <a:latin typeface="Consolas"/>
                <a:ea typeface="Consolas"/>
              </a:rPr>
              <a:t>text</a:t>
            </a:r>
            <a:r>
              <a:rPr b="0" lang="en-US" sz="1200" spc="-1" strike="noStrike">
                <a:solidFill>
                  <a:srgbClr val="1f2933"/>
                </a:solidFill>
                <a:latin typeface="Consolas"/>
                <a:ea typeface="Consolas"/>
              </a:rPr>
              <a:t>, </a:t>
            </a:r>
            <a:r>
              <a:rPr b="0" lang="en-US" sz="1200" spc="-1" strike="noStrike">
                <a:solidFill>
                  <a:srgbClr val="9a3412"/>
                </a:solidFill>
                <a:latin typeface="Consolas"/>
                <a:ea typeface="Consolas"/>
              </a:rPr>
              <a:t>100</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sql_text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sys.dm_exec_requests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r</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CROSS</a:t>
            </a:r>
            <a:r>
              <a:rPr b="0" lang="en-US" sz="1200" spc="-1" strike="noStrike">
                <a:solidFill>
                  <a:srgbClr val="1f2933"/>
                </a:solidFill>
                <a:latin typeface="Consolas"/>
                <a:ea typeface="Consolas"/>
              </a:rPr>
              <a:t> APPLY sys.dm_exec_sql_text(r.sql_handle) 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WHERE</a:t>
            </a:r>
            <a:r>
              <a:rPr b="0" lang="en-US" sz="1200" spc="-1" strike="noStrike">
                <a:solidFill>
                  <a:srgbClr val="1f2933"/>
                </a:solidFill>
                <a:latin typeface="Consolas"/>
                <a:ea typeface="Consolas"/>
              </a:rPr>
              <a:t> r.session_id &lt;&gt; </a:t>
            </a:r>
            <a:r>
              <a:rPr b="0" lang="en-US" sz="1200" spc="-1" strike="noStrike">
                <a:solidFill>
                  <a:srgbClr val="0f766e"/>
                </a:solidFill>
                <a:latin typeface="Consolas"/>
                <a:ea typeface="Consolas"/>
              </a:rPr>
              <a:t>@@SPID</a:t>
            </a:r>
            <a:r>
              <a:rPr b="0" lang="en-US" sz="1200" spc="-1" strike="noStrike">
                <a:solidFill>
                  <a:srgbClr val="1f2933"/>
                </a:solidFill>
                <a:latin typeface="Consolas"/>
                <a:ea typeface="Consolas"/>
              </a:rPr>
              <a:t>;</a:t>
            </a:r>
            <a:endParaRPr b="0" lang="es-ES" sz="1200" spc="-1" strike="noStrike">
              <a:latin typeface="Arial"/>
            </a:endParaRPr>
          </a:p>
        </p:txBody>
      </p:sp>
      <p:sp>
        <p:nvSpPr>
          <p:cNvPr id="1310" name="CustomShape 11"/>
          <p:cNvSpPr/>
          <p:nvPr/>
        </p:nvSpPr>
        <p:spPr>
          <a:xfrm>
            <a:off x="548640" y="5120640"/>
            <a:ext cx="11089080" cy="1049040"/>
          </a:xfrm>
          <a:prstGeom prst="roundRect">
            <a:avLst>
              <a:gd name="adj" fmla="val 10435"/>
            </a:avLst>
          </a:prstGeom>
          <a:solidFill>
            <a:srgbClr val="fdede8"/>
          </a:solidFill>
          <a:ln>
            <a:noFill/>
          </a:ln>
        </p:spPr>
        <p:style>
          <a:lnRef idx="0"/>
          <a:fillRef idx="0"/>
          <a:effectRef idx="0"/>
          <a:fontRef idx="minor"/>
        </p:style>
      </p:sp>
      <p:sp>
        <p:nvSpPr>
          <p:cNvPr id="1311" name="CustomShape 12"/>
          <p:cNvSpPr/>
          <p:nvPr/>
        </p:nvSpPr>
        <p:spPr>
          <a:xfrm>
            <a:off x="731520" y="5418000"/>
            <a:ext cx="454680" cy="454680"/>
          </a:xfrm>
          <a:prstGeom prst="ellipse">
            <a:avLst/>
          </a:prstGeom>
          <a:solidFill>
            <a:srgbClr val="d95d39"/>
          </a:solidFill>
          <a:ln>
            <a:noFill/>
          </a:ln>
        </p:spPr>
        <p:style>
          <a:lnRef idx="0"/>
          <a:fillRef idx="0"/>
          <a:effectRef idx="0"/>
          <a:fontRef idx="minor"/>
        </p:style>
      </p:sp>
      <p:pic>
        <p:nvPicPr>
          <p:cNvPr id="1312" name="Image 0" descr="preencoded.png"/>
          <p:cNvPicPr/>
          <p:nvPr/>
        </p:nvPicPr>
        <p:blipFill>
          <a:blip r:embed="rId1"/>
          <a:stretch/>
        </p:blipFill>
        <p:spPr>
          <a:xfrm>
            <a:off x="846000" y="5532120"/>
            <a:ext cx="226080" cy="226080"/>
          </a:xfrm>
          <a:prstGeom prst="rect">
            <a:avLst/>
          </a:prstGeom>
          <a:ln>
            <a:noFill/>
          </a:ln>
        </p:spPr>
      </p:pic>
      <p:sp>
        <p:nvSpPr>
          <p:cNvPr id="1313" name="CustomShape 13"/>
          <p:cNvSpPr/>
          <p:nvPr/>
        </p:nvSpPr>
        <p:spPr>
          <a:xfrm>
            <a:off x="1371600" y="5120640"/>
            <a:ext cx="10083240" cy="104904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a8431f"/>
                </a:solidFill>
                <a:latin typeface="Calibri"/>
                <a:ea typeface="Calibri"/>
              </a:rPr>
              <a:t>Datos volátiles: </a:t>
            </a:r>
            <a:r>
              <a:rPr b="0" lang="en-US" sz="1400" spc="-1" strike="noStrike">
                <a:solidFill>
                  <a:srgbClr val="1f2933"/>
                </a:solidFill>
                <a:latin typeface="Calibri"/>
                <a:ea typeface="Calibri"/>
              </a:rPr>
              <a:t>las DMVs acumulan desde el último reinicio y query_stats sólo ve planes en caché. Necesitas VIEW SERVER STATE (VIEW SERVER PERFORMANCE STATE en 2022).</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314" name="CustomShape 1"/>
          <p:cNvSpPr/>
          <p:nvPr/>
        </p:nvSpPr>
        <p:spPr>
          <a:xfrm>
            <a:off x="548640" y="365760"/>
            <a:ext cx="167076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MONITORIZACIÓN</a:t>
            </a:r>
            <a:endParaRPr b="0" lang="es-ES" sz="1000" spc="-1" strike="noStrike">
              <a:latin typeface="Arial"/>
            </a:endParaRPr>
          </a:p>
        </p:txBody>
      </p:sp>
      <p:sp>
        <p:nvSpPr>
          <p:cNvPr id="1315"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DMVs: esperas y bloqueos</a:t>
            </a:r>
            <a:endParaRPr b="0" lang="es-ES" sz="3400" spc="-1" strike="noStrike">
              <a:latin typeface="Arial"/>
            </a:endParaRPr>
          </a:p>
        </p:txBody>
      </p:sp>
      <p:sp>
        <p:nvSpPr>
          <p:cNvPr id="1316"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317"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3   54</a:t>
            </a:r>
            <a:endParaRPr b="0" lang="es-ES" sz="1000" spc="-1" strike="noStrike">
              <a:latin typeface="Arial"/>
            </a:endParaRPr>
          </a:p>
        </p:txBody>
      </p:sp>
      <p:sp>
        <p:nvSpPr>
          <p:cNvPr id="1318" name="CustomShape 5"/>
          <p:cNvSpPr/>
          <p:nvPr/>
        </p:nvSpPr>
        <p:spPr>
          <a:xfrm>
            <a:off x="548640" y="1600200"/>
            <a:ext cx="5392440" cy="3289320"/>
          </a:xfrm>
          <a:prstGeom prst="roundRect">
            <a:avLst>
              <a:gd name="adj" fmla="val 2778"/>
            </a:avLst>
          </a:prstGeom>
          <a:solidFill>
            <a:srgbClr val="eceff3"/>
          </a:solidFill>
          <a:ln w="9360">
            <a:solidFill>
              <a:srgbClr val="d0d7de"/>
            </a:solidFill>
            <a:round/>
          </a:ln>
        </p:spPr>
        <p:style>
          <a:lnRef idx="0"/>
          <a:fillRef idx="0"/>
          <a:effectRef idx="0"/>
          <a:fontRef idx="minor"/>
        </p:style>
      </p:sp>
      <p:sp>
        <p:nvSpPr>
          <p:cNvPr id="1319" name="CustomShape 6"/>
          <p:cNvSpPr/>
          <p:nvPr/>
        </p:nvSpPr>
        <p:spPr>
          <a:xfrm>
            <a:off x="73152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TOP WAITS ACUMULADOS</a:t>
            </a:r>
            <a:endParaRPr b="0" lang="es-ES" sz="1000" spc="-1" strike="noStrike">
              <a:latin typeface="Arial"/>
            </a:endParaRPr>
          </a:p>
        </p:txBody>
      </p:sp>
      <p:sp>
        <p:nvSpPr>
          <p:cNvPr id="1320" name="CustomShape 7"/>
          <p:cNvSpPr/>
          <p:nvPr/>
        </p:nvSpPr>
        <p:spPr>
          <a:xfrm>
            <a:off x="731520" y="1965960"/>
            <a:ext cx="5026680" cy="283212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TOP</a:t>
            </a:r>
            <a:r>
              <a:rPr b="0" lang="en-US" sz="1200" spc="-1" strike="noStrike">
                <a:solidFill>
                  <a:srgbClr val="1f2933"/>
                </a:solidFill>
                <a:latin typeface="Consolas"/>
                <a:ea typeface="Consolas"/>
              </a:rPr>
              <a:t> (</a:t>
            </a:r>
            <a:r>
              <a:rPr b="0" lang="en-US" sz="1200" spc="-1" strike="noStrike">
                <a:solidFill>
                  <a:srgbClr val="9a3412"/>
                </a:solidFill>
                <a:latin typeface="Consolas"/>
                <a:ea typeface="Consolas"/>
              </a:rPr>
              <a:t>10</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wait_type,</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waiting_tasks_count,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wait_time_ms,</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signal_wait_time_ms,</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CAST(</a:t>
            </a:r>
            <a:r>
              <a:rPr b="0" lang="en-US" sz="1200" spc="-1" strike="noStrike">
                <a:solidFill>
                  <a:srgbClr val="9a3412"/>
                </a:solidFill>
                <a:latin typeface="Consolas"/>
                <a:ea typeface="Consolas"/>
              </a:rPr>
              <a:t>100.0</a:t>
            </a:r>
            <a:r>
              <a:rPr b="0" lang="en-US" sz="1200" spc="-1" strike="noStrike">
                <a:solidFill>
                  <a:srgbClr val="1f2933"/>
                </a:solidFill>
                <a:latin typeface="Consolas"/>
                <a:ea typeface="Consolas"/>
              </a:rPr>
              <a:t> * wait_time_ms /</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SUM(wait_time_ms) </a:t>
            </a:r>
            <a:r>
              <a:rPr b="1" lang="en-US" sz="1200" spc="-1" strike="noStrike">
                <a:solidFill>
                  <a:srgbClr val="1d4ed8"/>
                </a:solidFill>
                <a:latin typeface="Consolas"/>
                <a:ea typeface="Consolas"/>
              </a:rPr>
              <a:t>OVER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a:t>
            </a:r>
            <a:r>
              <a:rPr b="0" lang="en-US" sz="1200" spc="-1" strike="noStrike">
                <a:solidFill>
                  <a:srgbClr val="7c3aed"/>
                </a:solidFill>
                <a:latin typeface="Consolas"/>
                <a:ea typeface="Consolas"/>
              </a:rPr>
              <a:t>DECIMAL</a:t>
            </a:r>
            <a:r>
              <a:rPr b="0" lang="en-US" sz="1200" spc="-1" strike="noStrike">
                <a:solidFill>
                  <a:srgbClr val="1f2933"/>
                </a:solidFill>
                <a:latin typeface="Consolas"/>
                <a:ea typeface="Consolas"/>
              </a:rPr>
              <a:t>(</a:t>
            </a:r>
            <a:r>
              <a:rPr b="0" lang="en-US" sz="1200" spc="-1" strike="noStrike">
                <a:solidFill>
                  <a:srgbClr val="9a3412"/>
                </a:solidFill>
                <a:latin typeface="Consolas"/>
                <a:ea typeface="Consolas"/>
              </a:rPr>
              <a:t>5</a:t>
            </a:r>
            <a:r>
              <a:rPr b="0" lang="en-US" sz="1200" spc="-1" strike="noStrike">
                <a:solidFill>
                  <a:srgbClr val="1f2933"/>
                </a:solidFill>
                <a:latin typeface="Consolas"/>
                <a:ea typeface="Consolas"/>
              </a:rPr>
              <a:t>,</a:t>
            </a:r>
            <a:r>
              <a:rPr b="0" lang="en-US" sz="1200" spc="-1" strike="noStrike">
                <a:solidFill>
                  <a:srgbClr val="9a3412"/>
                </a:solidFill>
                <a:latin typeface="Consolas"/>
                <a:ea typeface="Consolas"/>
              </a:rPr>
              <a:t>2</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pct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sys.dm_os_wait_stats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WHERE</a:t>
            </a:r>
            <a:r>
              <a:rPr b="0" lang="en-US" sz="1200" spc="-1" strike="noStrike">
                <a:solidFill>
                  <a:srgbClr val="1f2933"/>
                </a:solidFill>
                <a:latin typeface="Consolas"/>
                <a:ea typeface="Consolas"/>
              </a:rPr>
              <a:t> wait_type </a:t>
            </a:r>
            <a:r>
              <a:rPr b="1" lang="en-US" sz="1200" spc="-1" strike="noStrike">
                <a:solidFill>
                  <a:srgbClr val="1d4ed8"/>
                </a:solidFill>
                <a:latin typeface="Consolas"/>
                <a:ea typeface="Consolas"/>
              </a:rPr>
              <a:t>NOT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LIKE</a:t>
            </a:r>
            <a:r>
              <a:rPr b="0" lang="en-US" sz="1200" spc="-1" strike="noStrike">
                <a:solidFill>
                  <a:srgbClr val="1f2933"/>
                </a:solidFill>
                <a:latin typeface="Consolas"/>
                <a:ea typeface="Consolas"/>
              </a:rPr>
              <a:t> </a:t>
            </a:r>
            <a:r>
              <a:rPr b="0" lang="en-US" sz="1200" spc="-1" strike="noStrike">
                <a:solidFill>
                  <a:srgbClr val="b4441f"/>
                </a:solidFill>
                <a:latin typeface="Consolas"/>
                <a:ea typeface="Consolas"/>
              </a:rPr>
              <a:t>N'SLEEP%'</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AND</a:t>
            </a:r>
            <a:r>
              <a:rPr b="0" lang="en-US" sz="1200" spc="-1" strike="noStrike">
                <a:solidFill>
                  <a:srgbClr val="1f2933"/>
                </a:solidFill>
                <a:latin typeface="Consolas"/>
                <a:ea typeface="Consolas"/>
              </a:rPr>
              <a:t> wait_type </a:t>
            </a:r>
            <a:r>
              <a:rPr b="1" lang="en-US" sz="1200" spc="-1" strike="noStrike">
                <a:solidFill>
                  <a:srgbClr val="1d4ed8"/>
                </a:solidFill>
                <a:latin typeface="Consolas"/>
                <a:ea typeface="Consolas"/>
              </a:rPr>
              <a:t>NOT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IN</a:t>
            </a:r>
            <a:r>
              <a:rPr b="0" lang="en-US" sz="1200" spc="-1" strike="noStrike">
                <a:solidFill>
                  <a:srgbClr val="1f2933"/>
                </a:solidFill>
                <a:latin typeface="Consolas"/>
                <a:ea typeface="Consolas"/>
              </a:rPr>
              <a:t> (</a:t>
            </a:r>
            <a:r>
              <a:rPr b="0" lang="en-US" sz="1200" spc="-1" strike="noStrike">
                <a:solidFill>
                  <a:srgbClr val="b4441f"/>
                </a:solidFill>
                <a:latin typeface="Consolas"/>
                <a:ea typeface="Consolas"/>
              </a:rPr>
              <a:t>N'LAZYWRITER_SLEEP'</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b4441f"/>
                </a:solidFill>
                <a:latin typeface="Consolas"/>
                <a:ea typeface="Consolas"/>
              </a:rPr>
              <a:t>N'XE_TIMER_EVENT'</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ORDER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BY</a:t>
            </a:r>
            <a:r>
              <a:rPr b="0" lang="en-US" sz="1200" spc="-1" strike="noStrike">
                <a:solidFill>
                  <a:srgbClr val="1f2933"/>
                </a:solidFill>
                <a:latin typeface="Consolas"/>
                <a:ea typeface="Consolas"/>
              </a:rPr>
              <a:t> wait_time_ms </a:t>
            </a:r>
            <a:r>
              <a:rPr b="1" lang="en-US" sz="1200" spc="-1" strike="noStrike">
                <a:solidFill>
                  <a:srgbClr val="1d4ed8"/>
                </a:solidFill>
                <a:latin typeface="Consolas"/>
                <a:ea typeface="Consolas"/>
              </a:rPr>
              <a:t>DESC</a:t>
            </a:r>
            <a:r>
              <a:rPr b="0" lang="en-US" sz="1200" spc="-1" strike="noStrike">
                <a:solidFill>
                  <a:srgbClr val="1f2933"/>
                </a:solidFill>
                <a:latin typeface="Consolas"/>
                <a:ea typeface="Consolas"/>
              </a:rPr>
              <a:t>;</a:t>
            </a:r>
            <a:endParaRPr b="0" lang="es-ES" sz="1200" spc="-1" strike="noStrike">
              <a:latin typeface="Arial"/>
            </a:endParaRPr>
          </a:p>
        </p:txBody>
      </p:sp>
      <p:sp>
        <p:nvSpPr>
          <p:cNvPr id="1321" name="CustomShape 8"/>
          <p:cNvSpPr/>
          <p:nvPr/>
        </p:nvSpPr>
        <p:spPr>
          <a:xfrm>
            <a:off x="548640" y="5166360"/>
            <a:ext cx="5392440" cy="1003320"/>
          </a:xfrm>
          <a:prstGeom prst="roundRect">
            <a:avLst>
              <a:gd name="adj" fmla="val 10909"/>
            </a:avLst>
          </a:prstGeom>
          <a:solidFill>
            <a:srgbClr val="e8eef5"/>
          </a:solidFill>
          <a:ln>
            <a:noFill/>
          </a:ln>
        </p:spPr>
        <p:style>
          <a:lnRef idx="0"/>
          <a:fillRef idx="0"/>
          <a:effectRef idx="0"/>
          <a:fontRef idx="minor"/>
        </p:style>
      </p:sp>
      <p:sp>
        <p:nvSpPr>
          <p:cNvPr id="1322" name="CustomShape 9"/>
          <p:cNvSpPr/>
          <p:nvPr/>
        </p:nvSpPr>
        <p:spPr>
          <a:xfrm>
            <a:off x="731520" y="5440680"/>
            <a:ext cx="454680" cy="454680"/>
          </a:xfrm>
          <a:prstGeom prst="ellipse">
            <a:avLst/>
          </a:prstGeom>
          <a:solidFill>
            <a:srgbClr val="134074"/>
          </a:solidFill>
          <a:ln>
            <a:noFill/>
          </a:ln>
        </p:spPr>
        <p:style>
          <a:lnRef idx="0"/>
          <a:fillRef idx="0"/>
          <a:effectRef idx="0"/>
          <a:fontRef idx="minor"/>
        </p:style>
      </p:sp>
      <p:pic>
        <p:nvPicPr>
          <p:cNvPr id="1323" name="Image 0" descr="preencoded.png"/>
          <p:cNvPicPr/>
          <p:nvPr/>
        </p:nvPicPr>
        <p:blipFill>
          <a:blip r:embed="rId1"/>
          <a:stretch/>
        </p:blipFill>
        <p:spPr>
          <a:xfrm>
            <a:off x="846000" y="5555160"/>
            <a:ext cx="226080" cy="226080"/>
          </a:xfrm>
          <a:prstGeom prst="rect">
            <a:avLst/>
          </a:prstGeom>
          <a:ln>
            <a:noFill/>
          </a:ln>
        </p:spPr>
      </p:pic>
      <p:sp>
        <p:nvSpPr>
          <p:cNvPr id="1324" name="CustomShape 10"/>
          <p:cNvSpPr/>
          <p:nvPr/>
        </p:nvSpPr>
        <p:spPr>
          <a:xfrm>
            <a:off x="1371600" y="5166360"/>
            <a:ext cx="4386600" cy="10033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2545"/>
                </a:solidFill>
                <a:latin typeface="Calibri"/>
                <a:ea typeface="Calibri"/>
              </a:rPr>
              <a:t>Consejo: </a:t>
            </a:r>
            <a:r>
              <a:rPr b="0" lang="en-US" sz="1400" spc="-1" strike="noStrike">
                <a:solidFill>
                  <a:srgbClr val="1f2933"/>
                </a:solidFill>
                <a:latin typeface="Calibri"/>
                <a:ea typeface="Calibri"/>
              </a:rPr>
              <a:t>toma dos snapshots y calcula la diferencia.</a:t>
            </a:r>
            <a:endParaRPr b="0" lang="es-ES" sz="1400" spc="-1" strike="noStrike">
              <a:latin typeface="Arial"/>
            </a:endParaRPr>
          </a:p>
        </p:txBody>
      </p:sp>
      <p:sp>
        <p:nvSpPr>
          <p:cNvPr id="1325" name="CustomShape 11"/>
          <p:cNvSpPr/>
          <p:nvPr/>
        </p:nvSpPr>
        <p:spPr>
          <a:xfrm>
            <a:off x="6245280" y="1600200"/>
            <a:ext cx="5392440" cy="2283480"/>
          </a:xfrm>
          <a:prstGeom prst="roundRect">
            <a:avLst>
              <a:gd name="adj" fmla="val 4000"/>
            </a:avLst>
          </a:prstGeom>
          <a:solidFill>
            <a:srgbClr val="eceff3"/>
          </a:solidFill>
          <a:ln w="9360">
            <a:solidFill>
              <a:srgbClr val="d0d7de"/>
            </a:solidFill>
            <a:round/>
          </a:ln>
        </p:spPr>
        <p:style>
          <a:lnRef idx="0"/>
          <a:fillRef idx="0"/>
          <a:effectRef idx="0"/>
          <a:fontRef idx="minor"/>
        </p:style>
      </p:sp>
      <p:sp>
        <p:nvSpPr>
          <p:cNvPr id="1326" name="CustomShape 12"/>
          <p:cNvSpPr/>
          <p:nvPr/>
        </p:nvSpPr>
        <p:spPr>
          <a:xfrm>
            <a:off x="642816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TAREAS EN ESPERA AHORA</a:t>
            </a:r>
            <a:endParaRPr b="0" lang="es-ES" sz="1000" spc="-1" strike="noStrike">
              <a:latin typeface="Arial"/>
            </a:endParaRPr>
          </a:p>
        </p:txBody>
      </p:sp>
      <p:sp>
        <p:nvSpPr>
          <p:cNvPr id="1327" name="CustomShape 13"/>
          <p:cNvSpPr/>
          <p:nvPr/>
        </p:nvSpPr>
        <p:spPr>
          <a:xfrm>
            <a:off x="6428160" y="1965960"/>
            <a:ext cx="5026680" cy="182628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wt.session_id, wt.wait_type,</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wt.wait_duration_ms,</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wt.blocking_session_id,</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wt.resource_description</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sys.dm_os_waiting_tasks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wt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WHERE</a:t>
            </a:r>
            <a:r>
              <a:rPr b="0" lang="en-US" sz="1200" spc="-1" strike="noStrike">
                <a:solidFill>
                  <a:srgbClr val="1f2933"/>
                </a:solidFill>
                <a:latin typeface="Consolas"/>
                <a:ea typeface="Consolas"/>
              </a:rPr>
              <a:t> wt.session_id &gt; </a:t>
            </a:r>
            <a:r>
              <a:rPr b="0" lang="en-US" sz="1200" spc="-1" strike="noStrike">
                <a:solidFill>
                  <a:srgbClr val="9a3412"/>
                </a:solidFill>
                <a:latin typeface="Consolas"/>
                <a:ea typeface="Consolas"/>
              </a:rPr>
              <a:t>50</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ORDER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BY</a:t>
            </a:r>
            <a:r>
              <a:rPr b="0" lang="en-US" sz="1200" spc="-1" strike="noStrike">
                <a:solidFill>
                  <a:srgbClr val="1f2933"/>
                </a:solidFill>
                <a:latin typeface="Consolas"/>
                <a:ea typeface="Consolas"/>
              </a:rPr>
              <a:t> wt.wait_duration_ms </a:t>
            </a:r>
            <a:r>
              <a:rPr b="1" lang="en-US" sz="1200" spc="-1" strike="noStrike">
                <a:solidFill>
                  <a:srgbClr val="1d4ed8"/>
                </a:solidFill>
                <a:latin typeface="Consolas"/>
                <a:ea typeface="Consolas"/>
              </a:rPr>
              <a:t>DESC</a:t>
            </a:r>
            <a:r>
              <a:rPr b="0" lang="en-US" sz="1200" spc="-1" strike="noStrike">
                <a:solidFill>
                  <a:srgbClr val="1f2933"/>
                </a:solidFill>
                <a:latin typeface="Consolas"/>
                <a:ea typeface="Consolas"/>
              </a:rPr>
              <a:t>;</a:t>
            </a:r>
            <a:endParaRPr b="0" lang="es-ES" sz="1200" spc="-1" strike="noStrike">
              <a:latin typeface="Arial"/>
            </a:endParaRPr>
          </a:p>
        </p:txBody>
      </p:sp>
      <p:graphicFrame>
        <p:nvGraphicFramePr>
          <p:cNvPr id="1328" name="Table 14"/>
          <p:cNvGraphicFramePr/>
          <p:nvPr/>
        </p:nvGraphicFramePr>
        <p:xfrm>
          <a:off x="6245280" y="4160520"/>
          <a:ext cx="5394600" cy="1904400"/>
        </p:xfrm>
        <a:graphic>
          <a:graphicData uri="http://schemas.openxmlformats.org/drawingml/2006/table">
            <a:tbl>
              <a:tblPr/>
              <a:tblGrid>
                <a:gridCol w="2377440"/>
                <a:gridCol w="3017520"/>
              </a:tblGrid>
              <a:tr h="380880">
                <a:tc>
                  <a:txBody>
                    <a:bodyPr lIns="109440" rIns="109440">
                      <a:noAutofit/>
                    </a:bodyPr>
                    <a:p>
                      <a:pPr>
                        <a:lnSpc>
                          <a:spcPct val="100000"/>
                        </a:lnSpc>
                        <a:tabLst>
                          <a:tab algn="l" pos="0"/>
                        </a:tabLst>
                      </a:pPr>
                      <a:r>
                        <a:rPr b="1" lang="en-US" sz="1300" spc="-1" strike="noStrike">
                          <a:solidFill>
                            <a:srgbClr val="ffffff"/>
                          </a:solidFill>
                          <a:latin typeface="Calibri"/>
                          <a:ea typeface="Calibri"/>
                        </a:rPr>
                        <a:t>Wait type</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c>
                  <a:txBody>
                    <a:bodyPr lIns="109440" rIns="109440">
                      <a:noAutofit/>
                    </a:bodyPr>
                    <a:p>
                      <a:pPr>
                        <a:lnSpc>
                          <a:spcPct val="100000"/>
                        </a:lnSpc>
                        <a:tabLst>
                          <a:tab algn="l" pos="0"/>
                        </a:tabLst>
                      </a:pPr>
                      <a:r>
                        <a:rPr b="1" lang="en-US" sz="1300" spc="-1" strike="noStrike">
                          <a:solidFill>
                            <a:srgbClr val="ffffff"/>
                          </a:solidFill>
                          <a:latin typeface="Calibri"/>
                          <a:ea typeface="Calibri"/>
                        </a:rPr>
                        <a:t>Suele indicar</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r>
              <a:tr h="380880">
                <a:tc>
                  <a:txBody>
                    <a:bodyPr lIns="109440" rIns="109440">
                      <a:noAutofit/>
                    </a:bodyPr>
                    <a:p>
                      <a:pPr>
                        <a:lnSpc>
                          <a:spcPct val="100000"/>
                        </a:lnSpc>
                        <a:tabLst>
                          <a:tab algn="l" pos="0"/>
                        </a:tabLst>
                      </a:pPr>
                      <a:r>
                        <a:rPr b="1" lang="en-US" sz="1300" spc="-1" strike="noStrike">
                          <a:solidFill>
                            <a:srgbClr val="0b2545"/>
                          </a:solidFill>
                          <a:latin typeface="Calibri"/>
                          <a:ea typeface="Calibri"/>
                        </a:rPr>
                        <a:t>PAGEIOLATCH_*</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Lecturas de disco lentas</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r h="380880">
                <a:tc>
                  <a:txBody>
                    <a:bodyPr lIns="109440" rIns="109440">
                      <a:noAutofit/>
                    </a:bodyPr>
                    <a:p>
                      <a:pPr>
                        <a:lnSpc>
                          <a:spcPct val="100000"/>
                        </a:lnSpc>
                        <a:tabLst>
                          <a:tab algn="l" pos="0"/>
                        </a:tabLst>
                      </a:pPr>
                      <a:r>
                        <a:rPr b="1" lang="en-US" sz="1300" spc="-1" strike="noStrike">
                          <a:solidFill>
                            <a:srgbClr val="0b2545"/>
                          </a:solidFill>
                          <a:latin typeface="Calibri"/>
                          <a:ea typeface="Calibri"/>
                        </a:rPr>
                        <a:t>LCK_M_*</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Bloqueos entre sesiones</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r>
              <a:tr h="380880">
                <a:tc>
                  <a:txBody>
                    <a:bodyPr lIns="109440" rIns="109440">
                      <a:noAutofit/>
                    </a:bodyPr>
                    <a:p>
                      <a:pPr>
                        <a:lnSpc>
                          <a:spcPct val="100000"/>
                        </a:lnSpc>
                        <a:tabLst>
                          <a:tab algn="l" pos="0"/>
                        </a:tabLst>
                      </a:pPr>
                      <a:r>
                        <a:rPr b="1" lang="en-US" sz="1300" spc="-1" strike="noStrike">
                          <a:solidFill>
                            <a:srgbClr val="0b2545"/>
                          </a:solidFill>
                          <a:latin typeface="Calibri"/>
                          <a:ea typeface="Calibri"/>
                        </a:rPr>
                        <a:t>SOS_SCHEDULER_YIELD</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Presión de CPU</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r h="381240">
                <a:tc>
                  <a:txBody>
                    <a:bodyPr lIns="109440" rIns="109440">
                      <a:noAutofit/>
                    </a:bodyPr>
                    <a:p>
                      <a:pPr>
                        <a:lnSpc>
                          <a:spcPct val="100000"/>
                        </a:lnSpc>
                        <a:tabLst>
                          <a:tab algn="l" pos="0"/>
                        </a:tabLst>
                      </a:pPr>
                      <a:r>
                        <a:rPr b="1" lang="en-US" sz="1300" spc="-1" strike="noStrike">
                          <a:solidFill>
                            <a:srgbClr val="0b2545"/>
                          </a:solidFill>
                          <a:latin typeface="Calibri"/>
                          <a:ea typeface="Calibri"/>
                        </a:rPr>
                        <a:t>WRITELOG</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Latencia del disco de log</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r>
            </a:tbl>
          </a:graphicData>
        </a:graphic>
      </p:graphicFrame>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329"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HA / DR</a:t>
            </a:r>
            <a:endParaRPr b="0" lang="es-ES" sz="1000" spc="-1" strike="noStrike">
              <a:latin typeface="Arial"/>
            </a:endParaRPr>
          </a:p>
        </p:txBody>
      </p:sp>
      <p:sp>
        <p:nvSpPr>
          <p:cNvPr id="1330"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RTO y RPO: tiempo y datos en juego</a:t>
            </a:r>
            <a:endParaRPr b="0" lang="es-ES" sz="3400" spc="-1" strike="noStrike">
              <a:latin typeface="Arial"/>
            </a:endParaRPr>
          </a:p>
        </p:txBody>
      </p:sp>
      <p:sp>
        <p:nvSpPr>
          <p:cNvPr id="1331"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332"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3   55</a:t>
            </a:r>
            <a:endParaRPr b="0" lang="es-ES" sz="1000" spc="-1" strike="noStrike">
              <a:latin typeface="Arial"/>
            </a:endParaRPr>
          </a:p>
        </p:txBody>
      </p:sp>
      <p:sp>
        <p:nvSpPr>
          <p:cNvPr id="1333" name="Line 5"/>
          <p:cNvSpPr/>
          <p:nvPr/>
        </p:nvSpPr>
        <p:spPr>
          <a:xfrm>
            <a:off x="822960" y="2788920"/>
            <a:ext cx="10561320" cy="0"/>
          </a:xfrm>
          <a:prstGeom prst="line">
            <a:avLst/>
          </a:prstGeom>
          <a:ln w="25560">
            <a:solidFill>
              <a:srgbClr val="5c6b7a"/>
            </a:solidFill>
            <a:round/>
          </a:ln>
        </p:spPr>
        <p:style>
          <a:lnRef idx="0"/>
          <a:fillRef idx="0"/>
          <a:effectRef idx="0"/>
          <a:fontRef idx="minor"/>
        </p:style>
      </p:sp>
      <p:sp>
        <p:nvSpPr>
          <p:cNvPr id="1334" name="Line 6"/>
          <p:cNvSpPr/>
          <p:nvPr/>
        </p:nvSpPr>
        <p:spPr>
          <a:xfrm>
            <a:off x="2194560" y="2194560"/>
            <a:ext cx="3749040" cy="0"/>
          </a:xfrm>
          <a:prstGeom prst="line">
            <a:avLst/>
          </a:prstGeom>
          <a:ln w="31680">
            <a:solidFill>
              <a:srgbClr val="d95d39"/>
            </a:solidFill>
            <a:round/>
            <a:headEnd len="med" type="triangle" w="med"/>
            <a:tailEnd len="med" type="triangle" w="med"/>
          </a:ln>
        </p:spPr>
        <p:style>
          <a:lnRef idx="0"/>
          <a:fillRef idx="0"/>
          <a:effectRef idx="0"/>
          <a:fontRef idx="minor"/>
        </p:style>
      </p:sp>
      <p:sp>
        <p:nvSpPr>
          <p:cNvPr id="1335" name="Line 7"/>
          <p:cNvSpPr/>
          <p:nvPr/>
        </p:nvSpPr>
        <p:spPr>
          <a:xfrm>
            <a:off x="5943600" y="2194560"/>
            <a:ext cx="3749040" cy="0"/>
          </a:xfrm>
          <a:prstGeom prst="line">
            <a:avLst/>
          </a:prstGeom>
          <a:ln w="31680">
            <a:solidFill>
              <a:srgbClr val="134074"/>
            </a:solidFill>
            <a:round/>
            <a:headEnd len="med" type="triangle" w="med"/>
            <a:tailEnd len="med" type="triangle" w="med"/>
          </a:ln>
        </p:spPr>
        <p:style>
          <a:lnRef idx="0"/>
          <a:fillRef idx="0"/>
          <a:effectRef idx="0"/>
          <a:fontRef idx="minor"/>
        </p:style>
      </p:sp>
      <p:sp>
        <p:nvSpPr>
          <p:cNvPr id="1336" name="CustomShape 8"/>
          <p:cNvSpPr/>
          <p:nvPr/>
        </p:nvSpPr>
        <p:spPr>
          <a:xfrm>
            <a:off x="2194560" y="1691640"/>
            <a:ext cx="3746520" cy="3632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600" spc="-1" strike="noStrike">
                <a:solidFill>
                  <a:srgbClr val="d95d39"/>
                </a:solidFill>
                <a:latin typeface="Calibri"/>
                <a:ea typeface="Calibri"/>
              </a:rPr>
              <a:t>RPO: datos que puedes perder</a:t>
            </a:r>
            <a:endParaRPr b="0" lang="es-ES" sz="1600" spc="-1" strike="noStrike">
              <a:latin typeface="Arial"/>
            </a:endParaRPr>
          </a:p>
        </p:txBody>
      </p:sp>
      <p:sp>
        <p:nvSpPr>
          <p:cNvPr id="1337" name="CustomShape 9"/>
          <p:cNvSpPr/>
          <p:nvPr/>
        </p:nvSpPr>
        <p:spPr>
          <a:xfrm>
            <a:off x="5943600" y="1691640"/>
            <a:ext cx="3746520" cy="3632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600" spc="-1" strike="noStrike">
                <a:solidFill>
                  <a:srgbClr val="134074"/>
                </a:solidFill>
                <a:latin typeface="Calibri"/>
                <a:ea typeface="Calibri"/>
              </a:rPr>
              <a:t>RTO: tiempo hasta restablecer</a:t>
            </a:r>
            <a:endParaRPr b="0" lang="es-ES" sz="1600" spc="-1" strike="noStrike">
              <a:latin typeface="Arial"/>
            </a:endParaRPr>
          </a:p>
        </p:txBody>
      </p:sp>
      <p:sp>
        <p:nvSpPr>
          <p:cNvPr id="1338" name="CustomShape 10"/>
          <p:cNvSpPr/>
          <p:nvPr/>
        </p:nvSpPr>
        <p:spPr>
          <a:xfrm>
            <a:off x="2039040" y="2633400"/>
            <a:ext cx="308520" cy="308520"/>
          </a:xfrm>
          <a:prstGeom prst="ellipse">
            <a:avLst/>
          </a:prstGeom>
          <a:solidFill>
            <a:srgbClr val="134074"/>
          </a:solidFill>
          <a:ln>
            <a:noFill/>
          </a:ln>
        </p:spPr>
        <p:style>
          <a:lnRef idx="0"/>
          <a:fillRef idx="0"/>
          <a:effectRef idx="0"/>
          <a:fontRef idx="minor"/>
        </p:style>
      </p:sp>
      <p:sp>
        <p:nvSpPr>
          <p:cNvPr id="1339" name="CustomShape 11"/>
          <p:cNvSpPr/>
          <p:nvPr/>
        </p:nvSpPr>
        <p:spPr>
          <a:xfrm>
            <a:off x="731520" y="3063240"/>
            <a:ext cx="2923560" cy="63756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400" spc="-1" strike="noStrike">
                <a:solidFill>
                  <a:srgbClr val="1f2933"/>
                </a:solidFill>
                <a:latin typeface="Calibri"/>
                <a:ea typeface="Calibri"/>
              </a:rPr>
              <a:t>Último punto recuperable</a:t>
            </a:r>
            <a:endParaRPr b="0" lang="es-ES" sz="1400" spc="-1" strike="noStrike">
              <a:latin typeface="Arial"/>
            </a:endParaRPr>
          </a:p>
          <a:p>
            <a:pPr algn="ctr">
              <a:lnSpc>
                <a:spcPct val="100000"/>
              </a:lnSpc>
              <a:tabLst>
                <a:tab algn="l" pos="0"/>
              </a:tabLst>
            </a:pPr>
            <a:r>
              <a:rPr b="0" lang="en-US" sz="1400" spc="-1" strike="noStrike">
                <a:solidFill>
                  <a:srgbClr val="1f2933"/>
                </a:solidFill>
                <a:latin typeface="Calibri"/>
                <a:ea typeface="Calibri"/>
              </a:rPr>
              <a:t>(commit replicado o backup)</a:t>
            </a:r>
            <a:endParaRPr b="0" lang="es-ES" sz="1400" spc="-1" strike="noStrike">
              <a:latin typeface="Arial"/>
            </a:endParaRPr>
          </a:p>
        </p:txBody>
      </p:sp>
      <p:sp>
        <p:nvSpPr>
          <p:cNvPr id="1340" name="CustomShape 12"/>
          <p:cNvSpPr/>
          <p:nvPr/>
        </p:nvSpPr>
        <p:spPr>
          <a:xfrm>
            <a:off x="5788080" y="2633400"/>
            <a:ext cx="308520" cy="308520"/>
          </a:xfrm>
          <a:prstGeom prst="ellipse">
            <a:avLst/>
          </a:prstGeom>
          <a:solidFill>
            <a:srgbClr val="d95d39"/>
          </a:solidFill>
          <a:ln>
            <a:noFill/>
          </a:ln>
        </p:spPr>
        <p:style>
          <a:lnRef idx="0"/>
          <a:fillRef idx="0"/>
          <a:effectRef idx="0"/>
          <a:fontRef idx="minor"/>
        </p:style>
      </p:sp>
      <p:sp>
        <p:nvSpPr>
          <p:cNvPr id="1341" name="CustomShape 13"/>
          <p:cNvSpPr/>
          <p:nvPr/>
        </p:nvSpPr>
        <p:spPr>
          <a:xfrm>
            <a:off x="4480560" y="3063240"/>
            <a:ext cx="2923560" cy="63756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400" spc="-1" strike="noStrike">
                <a:solidFill>
                  <a:srgbClr val="1f2933"/>
                </a:solidFill>
                <a:latin typeface="Calibri"/>
                <a:ea typeface="Calibri"/>
              </a:rPr>
              <a:t>Fallo</a:t>
            </a:r>
            <a:endParaRPr b="0" lang="es-ES" sz="1400" spc="-1" strike="noStrike">
              <a:latin typeface="Arial"/>
            </a:endParaRPr>
          </a:p>
          <a:p>
            <a:pPr algn="ctr">
              <a:lnSpc>
                <a:spcPct val="100000"/>
              </a:lnSpc>
              <a:tabLst>
                <a:tab algn="l" pos="0"/>
              </a:tabLst>
            </a:pPr>
            <a:r>
              <a:rPr b="0" lang="en-US" sz="1400" spc="-1" strike="noStrike">
                <a:solidFill>
                  <a:srgbClr val="1f2933"/>
                </a:solidFill>
                <a:latin typeface="Calibri"/>
                <a:ea typeface="Calibri"/>
              </a:rPr>
              <a:t>(caída de nodo o sitio)</a:t>
            </a:r>
            <a:endParaRPr b="0" lang="es-ES" sz="1400" spc="-1" strike="noStrike">
              <a:latin typeface="Arial"/>
            </a:endParaRPr>
          </a:p>
        </p:txBody>
      </p:sp>
      <p:sp>
        <p:nvSpPr>
          <p:cNvPr id="1342" name="CustomShape 14"/>
          <p:cNvSpPr/>
          <p:nvPr/>
        </p:nvSpPr>
        <p:spPr>
          <a:xfrm>
            <a:off x="9537120" y="2633400"/>
            <a:ext cx="308520" cy="308520"/>
          </a:xfrm>
          <a:prstGeom prst="ellipse">
            <a:avLst/>
          </a:prstGeom>
          <a:solidFill>
            <a:srgbClr val="134074"/>
          </a:solidFill>
          <a:ln>
            <a:noFill/>
          </a:ln>
        </p:spPr>
        <p:style>
          <a:lnRef idx="0"/>
          <a:fillRef idx="0"/>
          <a:effectRef idx="0"/>
          <a:fontRef idx="minor"/>
        </p:style>
      </p:sp>
      <p:sp>
        <p:nvSpPr>
          <p:cNvPr id="1343" name="CustomShape 15"/>
          <p:cNvSpPr/>
          <p:nvPr/>
        </p:nvSpPr>
        <p:spPr>
          <a:xfrm>
            <a:off x="8229600" y="3063240"/>
            <a:ext cx="2923560" cy="63756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400" spc="-1" strike="noStrike">
                <a:solidFill>
                  <a:srgbClr val="1f2933"/>
                </a:solidFill>
                <a:latin typeface="Calibri"/>
                <a:ea typeface="Calibri"/>
              </a:rPr>
              <a:t>Servicio restablecido</a:t>
            </a:r>
            <a:endParaRPr b="0" lang="es-ES" sz="1400" spc="-1" strike="noStrike">
              <a:latin typeface="Arial"/>
            </a:endParaRPr>
          </a:p>
          <a:p>
            <a:pPr algn="ctr">
              <a:lnSpc>
                <a:spcPct val="100000"/>
              </a:lnSpc>
              <a:tabLst>
                <a:tab algn="l" pos="0"/>
              </a:tabLst>
            </a:pPr>
            <a:r>
              <a:rPr b="0" lang="en-US" sz="1400" spc="-1" strike="noStrike">
                <a:solidFill>
                  <a:srgbClr val="1f2933"/>
                </a:solidFill>
                <a:latin typeface="Calibri"/>
                <a:ea typeface="Calibri"/>
              </a:rPr>
              <a:t>(aplicación operativa)</a:t>
            </a:r>
            <a:endParaRPr b="0" lang="es-ES" sz="1400" spc="-1" strike="noStrike">
              <a:latin typeface="Arial"/>
            </a:endParaRPr>
          </a:p>
        </p:txBody>
      </p:sp>
      <p:sp>
        <p:nvSpPr>
          <p:cNvPr id="1344" name="CustomShape 16"/>
          <p:cNvSpPr/>
          <p:nvPr/>
        </p:nvSpPr>
        <p:spPr>
          <a:xfrm>
            <a:off x="548640" y="3977640"/>
            <a:ext cx="3508920" cy="2192040"/>
          </a:xfrm>
          <a:prstGeom prst="roundRect">
            <a:avLst>
              <a:gd name="adj" fmla="val 5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345" name="CustomShape 17"/>
          <p:cNvSpPr/>
          <p:nvPr/>
        </p:nvSpPr>
        <p:spPr>
          <a:xfrm>
            <a:off x="731520" y="4114800"/>
            <a:ext cx="3143160" cy="109476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3600" spc="-1" strike="noStrike">
                <a:solidFill>
                  <a:srgbClr val="d95d39"/>
                </a:solidFill>
                <a:latin typeface="Calibri"/>
                <a:ea typeface="Calibri"/>
              </a:rPr>
              <a:t>RPO ≈ 0</a:t>
            </a:r>
            <a:endParaRPr b="0" lang="es-ES" sz="3600" spc="-1" strike="noStrike">
              <a:latin typeface="Arial"/>
            </a:endParaRPr>
          </a:p>
        </p:txBody>
      </p:sp>
      <p:sp>
        <p:nvSpPr>
          <p:cNvPr id="1346" name="CustomShape 18"/>
          <p:cNvSpPr/>
          <p:nvPr/>
        </p:nvSpPr>
        <p:spPr>
          <a:xfrm>
            <a:off x="731520" y="5184720"/>
            <a:ext cx="3143160" cy="87516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300" spc="-1" strike="noStrike">
                <a:solidFill>
                  <a:srgbClr val="5c6b7a"/>
                </a:solidFill>
                <a:latin typeface="Calibri"/>
                <a:ea typeface="Calibri"/>
              </a:rPr>
              <a:t>FCI o AG síncrono: ningún commit confirmado se pierde</a:t>
            </a:r>
            <a:endParaRPr b="0" lang="es-ES" sz="1300" spc="-1" strike="noStrike">
              <a:latin typeface="Arial"/>
            </a:endParaRPr>
          </a:p>
        </p:txBody>
      </p:sp>
      <p:sp>
        <p:nvSpPr>
          <p:cNvPr id="1347" name="CustomShape 19"/>
          <p:cNvSpPr/>
          <p:nvPr/>
        </p:nvSpPr>
        <p:spPr>
          <a:xfrm>
            <a:off x="4338720" y="3977640"/>
            <a:ext cx="3508920" cy="2192040"/>
          </a:xfrm>
          <a:prstGeom prst="roundRect">
            <a:avLst>
              <a:gd name="adj" fmla="val 5000"/>
            </a:avLst>
          </a:prstGeom>
          <a:solidFill>
            <a:srgbClr val="0b2545"/>
          </a:solidFill>
          <a:ln>
            <a:noFill/>
          </a:ln>
        </p:spPr>
        <p:style>
          <a:lnRef idx="0"/>
          <a:fillRef idx="0"/>
          <a:effectRef idx="0"/>
          <a:fontRef idx="minor"/>
        </p:style>
      </p:sp>
      <p:sp>
        <p:nvSpPr>
          <p:cNvPr id="1348" name="CustomShape 20"/>
          <p:cNvSpPr/>
          <p:nvPr/>
        </p:nvSpPr>
        <p:spPr>
          <a:xfrm>
            <a:off x="4521600" y="4114800"/>
            <a:ext cx="3143160" cy="109476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3600" spc="-1" strike="noStrike">
                <a:solidFill>
                  <a:srgbClr val="ffffff"/>
                </a:solidFill>
                <a:latin typeface="Calibri"/>
                <a:ea typeface="Calibri"/>
              </a:rPr>
              <a:t>RTO: segundos</a:t>
            </a:r>
            <a:endParaRPr b="0" lang="es-ES" sz="3600" spc="-1" strike="noStrike">
              <a:latin typeface="Arial"/>
            </a:endParaRPr>
          </a:p>
        </p:txBody>
      </p:sp>
      <p:sp>
        <p:nvSpPr>
          <p:cNvPr id="1349" name="CustomShape 21"/>
          <p:cNvSpPr/>
          <p:nvPr/>
        </p:nvSpPr>
        <p:spPr>
          <a:xfrm>
            <a:off x="4521600" y="5184720"/>
            <a:ext cx="3143160" cy="87516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300" spc="-1" strike="noStrike">
                <a:solidFill>
                  <a:srgbClr val="dce6f2"/>
                </a:solidFill>
                <a:latin typeface="Calibri"/>
                <a:ea typeface="Calibri"/>
              </a:rPr>
              <a:t>Failover automático con FCI o AG síncrono y listener</a:t>
            </a:r>
            <a:endParaRPr b="0" lang="es-ES" sz="1300" spc="-1" strike="noStrike">
              <a:latin typeface="Arial"/>
            </a:endParaRPr>
          </a:p>
        </p:txBody>
      </p:sp>
      <p:sp>
        <p:nvSpPr>
          <p:cNvPr id="1350" name="CustomShape 22"/>
          <p:cNvSpPr/>
          <p:nvPr/>
        </p:nvSpPr>
        <p:spPr>
          <a:xfrm>
            <a:off x="8129160" y="3977640"/>
            <a:ext cx="3508920" cy="2192040"/>
          </a:xfrm>
          <a:prstGeom prst="roundRect">
            <a:avLst>
              <a:gd name="adj" fmla="val 5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351" name="CustomShape 23"/>
          <p:cNvSpPr/>
          <p:nvPr/>
        </p:nvSpPr>
        <p:spPr>
          <a:xfrm>
            <a:off x="8312040" y="4114800"/>
            <a:ext cx="3143160" cy="109476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3600" spc="-1" strike="noStrike">
                <a:solidFill>
                  <a:srgbClr val="d95d39"/>
                </a:solidFill>
                <a:latin typeface="Calibri"/>
                <a:ea typeface="Calibri"/>
              </a:rPr>
              <a:t>RPO: minutos</a:t>
            </a:r>
            <a:endParaRPr b="0" lang="es-ES" sz="3600" spc="-1" strike="noStrike">
              <a:latin typeface="Arial"/>
            </a:endParaRPr>
          </a:p>
        </p:txBody>
      </p:sp>
      <p:sp>
        <p:nvSpPr>
          <p:cNvPr id="1352" name="CustomShape 24"/>
          <p:cNvSpPr/>
          <p:nvPr/>
        </p:nvSpPr>
        <p:spPr>
          <a:xfrm>
            <a:off x="8312040" y="5184720"/>
            <a:ext cx="3143160" cy="87516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300" spc="-1" strike="noStrike">
                <a:solidFill>
                  <a:srgbClr val="5c6b7a"/>
                </a:solidFill>
                <a:latin typeface="Calibri"/>
                <a:ea typeface="Calibri"/>
              </a:rPr>
              <a:t>Log Shipping: pérdida = intervalo de backup del log</a:t>
            </a:r>
            <a:endParaRPr b="0" lang="es-ES" sz="1300" spc="-1" strike="noStrike">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353"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HA / DR</a:t>
            </a:r>
            <a:endParaRPr b="0" lang="es-ES" sz="1000" spc="-1" strike="noStrike">
              <a:latin typeface="Arial"/>
            </a:endParaRPr>
          </a:p>
        </p:txBody>
      </p:sp>
      <p:sp>
        <p:nvSpPr>
          <p:cNvPr id="1354"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Comparativa de tecnologías HA/DR</a:t>
            </a:r>
            <a:endParaRPr b="0" lang="es-ES" sz="3400" spc="-1" strike="noStrike">
              <a:latin typeface="Arial"/>
            </a:endParaRPr>
          </a:p>
        </p:txBody>
      </p:sp>
      <p:sp>
        <p:nvSpPr>
          <p:cNvPr id="1355"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356"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3   56</a:t>
            </a:r>
            <a:endParaRPr b="0" lang="es-ES" sz="1000" spc="-1" strike="noStrike">
              <a:latin typeface="Arial"/>
            </a:endParaRPr>
          </a:p>
        </p:txBody>
      </p:sp>
      <p:graphicFrame>
        <p:nvGraphicFramePr>
          <p:cNvPr id="1357" name="Table 5"/>
          <p:cNvGraphicFramePr/>
          <p:nvPr/>
        </p:nvGraphicFramePr>
        <p:xfrm>
          <a:off x="548640" y="1600200"/>
          <a:ext cx="11090880" cy="2833920"/>
        </p:xfrm>
        <a:graphic>
          <a:graphicData uri="http://schemas.openxmlformats.org/drawingml/2006/table">
            <a:tbl>
              <a:tblPr/>
              <a:tblGrid>
                <a:gridCol w="1713240"/>
                <a:gridCol w="1893600"/>
                <a:gridCol w="2163960"/>
                <a:gridCol w="2615040"/>
                <a:gridCol w="2705400"/>
              </a:tblGrid>
              <a:tr h="396000">
                <a:tc>
                  <a:txBody>
                    <a:bodyPr lIns="109440" rIns="109440">
                      <a:noAutofit/>
                    </a:bodyPr>
                    <a:p>
                      <a:pPr>
                        <a:lnSpc>
                          <a:spcPct val="100000"/>
                        </a:lnSpc>
                        <a:tabLst>
                          <a:tab algn="l" pos="0"/>
                        </a:tabLst>
                      </a:pPr>
                      <a:r>
                        <a:rPr b="1" lang="en-US" sz="1400" spc="-1" strike="noStrike">
                          <a:solidFill>
                            <a:srgbClr val="ffffff"/>
                          </a:solidFill>
                          <a:latin typeface="Calibri"/>
                          <a:ea typeface="Calibri"/>
                        </a:rPr>
                        <a:t>Tecnología</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c>
                  <a:txBody>
                    <a:bodyPr lIns="109440" rIns="109440">
                      <a:noAutofit/>
                    </a:bodyPr>
                    <a:p>
                      <a:pPr>
                        <a:lnSpc>
                          <a:spcPct val="100000"/>
                        </a:lnSpc>
                        <a:tabLst>
                          <a:tab algn="l" pos="0"/>
                        </a:tabLst>
                      </a:pPr>
                      <a:r>
                        <a:rPr b="1" lang="en-US" sz="1400" spc="-1" strike="noStrike">
                          <a:solidFill>
                            <a:srgbClr val="ffffff"/>
                          </a:solidFill>
                          <a:latin typeface="Calibri"/>
                          <a:ea typeface="Calibri"/>
                        </a:rPr>
                        <a:t>Alcance</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c>
                  <a:txBody>
                    <a:bodyPr lIns="109440" rIns="109440">
                      <a:noAutofit/>
                    </a:bodyPr>
                    <a:p>
                      <a:pPr>
                        <a:lnSpc>
                          <a:spcPct val="100000"/>
                        </a:lnSpc>
                        <a:tabLst>
                          <a:tab algn="l" pos="0"/>
                        </a:tabLst>
                      </a:pPr>
                      <a:r>
                        <a:rPr b="1" lang="en-US" sz="1400" spc="-1" strike="noStrike">
                          <a:solidFill>
                            <a:srgbClr val="ffffff"/>
                          </a:solidFill>
                          <a:latin typeface="Calibri"/>
                          <a:ea typeface="Calibri"/>
                        </a:rPr>
                        <a:t>Failover</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c>
                  <a:txBody>
                    <a:bodyPr lIns="109440" rIns="109440">
                      <a:noAutofit/>
                    </a:bodyPr>
                    <a:p>
                      <a:pPr>
                        <a:lnSpc>
                          <a:spcPct val="100000"/>
                        </a:lnSpc>
                        <a:tabLst>
                          <a:tab algn="l" pos="0"/>
                        </a:tabLst>
                      </a:pPr>
                      <a:r>
                        <a:rPr b="1" lang="en-US" sz="1400" spc="-1" strike="noStrike">
                          <a:solidFill>
                            <a:srgbClr val="ffffff"/>
                          </a:solidFill>
                          <a:latin typeface="Calibri"/>
                          <a:ea typeface="Calibri"/>
                        </a:rPr>
                        <a:t>Pérdida de datos (RPO)</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c>
                  <a:txBody>
                    <a:bodyPr lIns="109440" rIns="109440">
                      <a:noAutofit/>
                    </a:bodyPr>
                    <a:p>
                      <a:pPr>
                        <a:lnSpc>
                          <a:spcPct val="100000"/>
                        </a:lnSpc>
                        <a:tabLst>
                          <a:tab algn="l" pos="0"/>
                        </a:tabLst>
                      </a:pPr>
                      <a:r>
                        <a:rPr b="1" lang="en-US" sz="1400" spc="-1" strike="noStrike">
                          <a:solidFill>
                            <a:srgbClr val="ffffff"/>
                          </a:solidFill>
                          <a:latin typeface="Calibri"/>
                          <a:ea typeface="Calibri"/>
                        </a:rPr>
                        <a:t>Punto clave</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r>
              <a:tr h="609480">
                <a:tc>
                  <a:txBody>
                    <a:bodyPr lIns="109440" rIns="109440">
                      <a:noAutofit/>
                    </a:bodyPr>
                    <a:p>
                      <a:pPr>
                        <a:lnSpc>
                          <a:spcPct val="100000"/>
                        </a:lnSpc>
                        <a:tabLst>
                          <a:tab algn="l" pos="0"/>
                        </a:tabLst>
                      </a:pPr>
                      <a:r>
                        <a:rPr b="1" lang="en-US" sz="1400" spc="-1" strike="noStrike">
                          <a:solidFill>
                            <a:srgbClr val="0b2545"/>
                          </a:solidFill>
                          <a:latin typeface="Calibri"/>
                          <a:ea typeface="Calibri"/>
                        </a:rPr>
                        <a:t>Log Shipping</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Base de datos</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Manual</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Minutos (intervalo de log backup)</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Simple y barato; secundaria STANDBY</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r h="609480">
                <a:tc>
                  <a:txBody>
                    <a:bodyPr lIns="109440" rIns="109440">
                      <a:noAutofit/>
                    </a:bodyPr>
                    <a:p>
                      <a:pPr>
                        <a:lnSpc>
                          <a:spcPct val="100000"/>
                        </a:lnSpc>
                        <a:tabLst>
                          <a:tab algn="l" pos="0"/>
                        </a:tabLst>
                      </a:pPr>
                      <a:r>
                        <a:rPr b="1" lang="en-US" sz="1400" spc="-1" strike="noStrike">
                          <a:solidFill>
                            <a:srgbClr val="0b2545"/>
                          </a:solidFill>
                          <a:latin typeface="Calibri"/>
                          <a:ea typeface="Calibri"/>
                        </a:rPr>
                        <a:t>Replicación</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Tablas / artículos</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Manual (no es HA)</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Variable (latencia de los agentes)</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Distribuye datos; no es DR completo</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r>
              <a:tr h="609480">
                <a:tc>
                  <a:txBody>
                    <a:bodyPr lIns="109440" rIns="109440">
                      <a:noAutofit/>
                    </a:bodyPr>
                    <a:p>
                      <a:pPr>
                        <a:lnSpc>
                          <a:spcPct val="100000"/>
                        </a:lnSpc>
                        <a:tabLst>
                          <a:tab algn="l" pos="0"/>
                        </a:tabLst>
                      </a:pPr>
                      <a:r>
                        <a:rPr b="1" lang="en-US" sz="1400" spc="-1" strike="noStrike">
                          <a:solidFill>
                            <a:srgbClr val="0b2545"/>
                          </a:solidFill>
                          <a:latin typeface="Calibri"/>
                          <a:ea typeface="Calibri"/>
                        </a:rPr>
                        <a:t>FCI</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Instancia completa</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Automático (WSFC)</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 </a:t>
                      </a:r>
                      <a:r>
                        <a:rPr b="0" lang="en-US" sz="1400" spc="-1" strike="noStrike">
                          <a:solidFill>
                            <a:srgbClr val="1f2933"/>
                          </a:solidFill>
                          <a:latin typeface="Calibri"/>
                          <a:ea typeface="Calibri"/>
                        </a:rPr>
                        <a:t>0 (almacenamiento compartido)</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Requiere SAN; el disco es punto único</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r h="609840">
                <a:tc>
                  <a:txBody>
                    <a:bodyPr lIns="109440" rIns="109440">
                      <a:noAutofit/>
                    </a:bodyPr>
                    <a:p>
                      <a:pPr>
                        <a:lnSpc>
                          <a:spcPct val="100000"/>
                        </a:lnSpc>
                        <a:tabLst>
                          <a:tab algn="l" pos="0"/>
                        </a:tabLst>
                      </a:pPr>
                      <a:r>
                        <a:rPr b="1" lang="en-US" sz="1400" spc="-1" strike="noStrike">
                          <a:solidFill>
                            <a:srgbClr val="0b2545"/>
                          </a:solidFill>
                          <a:latin typeface="Calibri"/>
                          <a:ea typeface="Calibri"/>
                        </a:rPr>
                        <a:t>Always On AG</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Grupo de bases de datos</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Automático (síncrona) o manual</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 </a:t>
                      </a:r>
                      <a:r>
                        <a:rPr b="0" lang="en-US" sz="1400" spc="-1" strike="noStrike">
                          <a:solidFill>
                            <a:srgbClr val="1f2933"/>
                          </a:solidFill>
                          <a:latin typeface="Calibri"/>
                          <a:ea typeface="Calibri"/>
                        </a:rPr>
                        <a:t>0 síncrona · &gt; 0 asíncrona</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Sin disco compartido; réplicas legibles</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r>
            </a:tbl>
          </a:graphicData>
        </a:graphic>
      </p:graphicFrame>
      <p:sp>
        <p:nvSpPr>
          <p:cNvPr id="1358" name="CustomShape 6"/>
          <p:cNvSpPr/>
          <p:nvPr/>
        </p:nvSpPr>
        <p:spPr>
          <a:xfrm>
            <a:off x="548640" y="5257800"/>
            <a:ext cx="11089080" cy="911880"/>
          </a:xfrm>
          <a:prstGeom prst="roundRect">
            <a:avLst>
              <a:gd name="adj" fmla="val 12000"/>
            </a:avLst>
          </a:prstGeom>
          <a:solidFill>
            <a:srgbClr val="e8eef5"/>
          </a:solidFill>
          <a:ln>
            <a:noFill/>
          </a:ln>
        </p:spPr>
        <p:style>
          <a:lnRef idx="0"/>
          <a:fillRef idx="0"/>
          <a:effectRef idx="0"/>
          <a:fontRef idx="minor"/>
        </p:style>
      </p:sp>
      <p:sp>
        <p:nvSpPr>
          <p:cNvPr id="1359" name="CustomShape 7"/>
          <p:cNvSpPr/>
          <p:nvPr/>
        </p:nvSpPr>
        <p:spPr>
          <a:xfrm>
            <a:off x="731520" y="5486400"/>
            <a:ext cx="454680" cy="454680"/>
          </a:xfrm>
          <a:prstGeom prst="ellipse">
            <a:avLst/>
          </a:prstGeom>
          <a:solidFill>
            <a:srgbClr val="134074"/>
          </a:solidFill>
          <a:ln>
            <a:noFill/>
          </a:ln>
        </p:spPr>
        <p:style>
          <a:lnRef idx="0"/>
          <a:fillRef idx="0"/>
          <a:effectRef idx="0"/>
          <a:fontRef idx="minor"/>
        </p:style>
      </p:sp>
      <p:pic>
        <p:nvPicPr>
          <p:cNvPr id="1360" name="Image 0" descr="preencoded.png"/>
          <p:cNvPicPr/>
          <p:nvPr/>
        </p:nvPicPr>
        <p:blipFill>
          <a:blip r:embed="rId1"/>
          <a:stretch/>
        </p:blipFill>
        <p:spPr>
          <a:xfrm>
            <a:off x="846000" y="5600880"/>
            <a:ext cx="226080" cy="226080"/>
          </a:xfrm>
          <a:prstGeom prst="rect">
            <a:avLst/>
          </a:prstGeom>
          <a:ln>
            <a:noFill/>
          </a:ln>
        </p:spPr>
      </p:pic>
      <p:sp>
        <p:nvSpPr>
          <p:cNvPr id="1361" name="CustomShape 8"/>
          <p:cNvSpPr/>
          <p:nvPr/>
        </p:nvSpPr>
        <p:spPr>
          <a:xfrm>
            <a:off x="1371600" y="5257800"/>
            <a:ext cx="10083240" cy="9118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2545"/>
                </a:solidFill>
                <a:latin typeface="Calibri"/>
                <a:ea typeface="Calibri"/>
              </a:rPr>
              <a:t>Elige por RTO/RPO, edición y presupuesto: </a:t>
            </a:r>
            <a:r>
              <a:rPr b="0" lang="en-US" sz="1400" spc="-1" strike="noStrike">
                <a:solidFill>
                  <a:srgbClr val="1f2933"/>
                </a:solidFill>
                <a:latin typeface="Calibri"/>
                <a:ea typeface="Calibri"/>
              </a:rPr>
              <a:t>Standard ofrece Basic AG, FCI de 2 nodos y Log Shipping; Enterprise añade AG completos.</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362"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HA / DR</a:t>
            </a:r>
            <a:endParaRPr b="0" lang="es-ES" sz="1000" spc="-1" strike="noStrike">
              <a:latin typeface="Arial"/>
            </a:endParaRPr>
          </a:p>
        </p:txBody>
      </p:sp>
      <p:sp>
        <p:nvSpPr>
          <p:cNvPr id="1363"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Always On AG: topología y quorum</a:t>
            </a:r>
            <a:endParaRPr b="0" lang="es-ES" sz="3400" spc="-1" strike="noStrike">
              <a:latin typeface="Arial"/>
            </a:endParaRPr>
          </a:p>
        </p:txBody>
      </p:sp>
      <p:sp>
        <p:nvSpPr>
          <p:cNvPr id="1364"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365"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3   57</a:t>
            </a:r>
            <a:endParaRPr b="0" lang="es-ES" sz="1000" spc="-1" strike="noStrike">
              <a:latin typeface="Arial"/>
            </a:endParaRPr>
          </a:p>
        </p:txBody>
      </p:sp>
      <p:sp>
        <p:nvSpPr>
          <p:cNvPr id="1366" name="CustomShape 5"/>
          <p:cNvSpPr/>
          <p:nvPr/>
        </p:nvSpPr>
        <p:spPr>
          <a:xfrm>
            <a:off x="2834640" y="1600200"/>
            <a:ext cx="2374920" cy="408960"/>
          </a:xfrm>
          <a:prstGeom prst="roundRect">
            <a:avLst>
              <a:gd name="adj" fmla="val 17778"/>
            </a:avLst>
          </a:prstGeom>
          <a:solidFill>
            <a:srgbClr val="e8eef5"/>
          </a:solidFill>
          <a:ln w="12600">
            <a:solidFill>
              <a:srgbClr val="d0d7de"/>
            </a:solidFill>
            <a:round/>
          </a:ln>
        </p:spPr>
        <p:style>
          <a:lnRef idx="0"/>
          <a:fillRef idx="0"/>
          <a:effectRef idx="0"/>
          <a:fontRef idx="minor"/>
        </p:style>
        <p:txBody>
          <a:bodyPr lIns="360" rIns="1080" tIns="1080" bIns="360" anchor="ctr">
            <a:noAutofit/>
          </a:bodyPr>
          <a:p>
            <a:pPr algn="ctr">
              <a:lnSpc>
                <a:spcPct val="100000"/>
              </a:lnSpc>
              <a:tabLst>
                <a:tab algn="l" pos="0"/>
              </a:tabLst>
            </a:pPr>
            <a:r>
              <a:rPr b="1" lang="en-US" sz="1400" spc="-1" strike="noStrike">
                <a:solidFill>
                  <a:srgbClr val="0b2545"/>
                </a:solidFill>
                <a:latin typeface="Calibri"/>
                <a:ea typeface="Calibri"/>
              </a:rPr>
              <a:t>Aplicaciones cliente</a:t>
            </a:r>
            <a:endParaRPr b="0" lang="es-ES" sz="1400" spc="-1" strike="noStrike">
              <a:latin typeface="Arial"/>
            </a:endParaRPr>
          </a:p>
        </p:txBody>
      </p:sp>
      <p:sp>
        <p:nvSpPr>
          <p:cNvPr id="1367" name="Line 6"/>
          <p:cNvSpPr/>
          <p:nvPr/>
        </p:nvSpPr>
        <p:spPr>
          <a:xfrm>
            <a:off x="4023360" y="2011680"/>
            <a:ext cx="0" cy="320040"/>
          </a:xfrm>
          <a:prstGeom prst="line">
            <a:avLst/>
          </a:prstGeom>
          <a:ln w="22320">
            <a:solidFill>
              <a:srgbClr val="5c6b7a"/>
            </a:solidFill>
            <a:round/>
            <a:tailEnd len="med" type="triangle" w="med"/>
          </a:ln>
        </p:spPr>
        <p:style>
          <a:lnRef idx="0"/>
          <a:fillRef idx="0"/>
          <a:effectRef idx="0"/>
          <a:fontRef idx="minor"/>
        </p:style>
      </p:sp>
      <p:sp>
        <p:nvSpPr>
          <p:cNvPr id="1368" name="CustomShape 7"/>
          <p:cNvSpPr/>
          <p:nvPr/>
        </p:nvSpPr>
        <p:spPr>
          <a:xfrm>
            <a:off x="2606040" y="2331720"/>
            <a:ext cx="2832120" cy="454680"/>
          </a:xfrm>
          <a:prstGeom prst="roundRect">
            <a:avLst>
              <a:gd name="adj" fmla="val 16000"/>
            </a:avLst>
          </a:prstGeom>
          <a:solidFill>
            <a:srgbClr val="0b2545"/>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400" spc="-1" strike="noStrike">
                <a:solidFill>
                  <a:srgbClr val="ffffff"/>
                </a:solidFill>
                <a:latin typeface="Calibri"/>
                <a:ea typeface="Calibri"/>
              </a:rPr>
              <a:t>Listener (nombre virtual + IP)</a:t>
            </a:r>
            <a:endParaRPr b="0" lang="es-ES" sz="1400" spc="-1" strike="noStrike">
              <a:latin typeface="Arial"/>
            </a:endParaRPr>
          </a:p>
        </p:txBody>
      </p:sp>
      <p:sp>
        <p:nvSpPr>
          <p:cNvPr id="1369" name="Line 8"/>
          <p:cNvSpPr/>
          <p:nvPr/>
        </p:nvSpPr>
        <p:spPr>
          <a:xfrm>
            <a:off x="4023360" y="2788920"/>
            <a:ext cx="0" cy="411480"/>
          </a:xfrm>
          <a:prstGeom prst="line">
            <a:avLst/>
          </a:prstGeom>
          <a:ln w="22320">
            <a:solidFill>
              <a:srgbClr val="5c6b7a"/>
            </a:solidFill>
            <a:round/>
            <a:tailEnd len="med" type="triangle" w="med"/>
          </a:ln>
        </p:spPr>
        <p:style>
          <a:lnRef idx="0"/>
          <a:fillRef idx="0"/>
          <a:effectRef idx="0"/>
          <a:fontRef idx="minor"/>
        </p:style>
      </p:sp>
      <p:sp>
        <p:nvSpPr>
          <p:cNvPr id="1370" name="CustomShape 9"/>
          <p:cNvSpPr/>
          <p:nvPr/>
        </p:nvSpPr>
        <p:spPr>
          <a:xfrm>
            <a:off x="548640" y="3200400"/>
            <a:ext cx="2009160" cy="1094760"/>
          </a:xfrm>
          <a:prstGeom prst="roundRect">
            <a:avLst>
              <a:gd name="adj" fmla="val 6667"/>
            </a:avLst>
          </a:prstGeom>
          <a:solidFill>
            <a:srgbClr val="134074"/>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400" spc="-1" strike="noStrike">
                <a:solidFill>
                  <a:srgbClr val="ffffff"/>
                </a:solidFill>
                <a:latin typeface="Calibri"/>
                <a:ea typeface="Calibri"/>
              </a:rPr>
              <a:t>Secundaria síncrona</a:t>
            </a:r>
            <a:endParaRPr b="0" lang="es-ES" sz="1400" spc="-1" strike="noStrike">
              <a:latin typeface="Arial"/>
            </a:endParaRPr>
          </a:p>
          <a:p>
            <a:pPr algn="ctr">
              <a:lnSpc>
                <a:spcPct val="100000"/>
              </a:lnSpc>
              <a:tabLst>
                <a:tab algn="l" pos="0"/>
              </a:tabLst>
            </a:pPr>
            <a:r>
              <a:rPr b="1" lang="en-US" sz="1400" spc="-1" strike="noStrike">
                <a:solidFill>
                  <a:srgbClr val="ffffff"/>
                </a:solidFill>
                <a:latin typeface="Calibri"/>
                <a:ea typeface="Calibri"/>
              </a:rPr>
              <a:t>SQLNODE2 · legible</a:t>
            </a:r>
            <a:endParaRPr b="0" lang="es-ES" sz="1400" spc="-1" strike="noStrike">
              <a:latin typeface="Arial"/>
            </a:endParaRPr>
          </a:p>
        </p:txBody>
      </p:sp>
      <p:sp>
        <p:nvSpPr>
          <p:cNvPr id="1371" name="CustomShape 10"/>
          <p:cNvSpPr/>
          <p:nvPr/>
        </p:nvSpPr>
        <p:spPr>
          <a:xfrm>
            <a:off x="3017520" y="3200400"/>
            <a:ext cx="2009160" cy="1094760"/>
          </a:xfrm>
          <a:prstGeom prst="roundRect">
            <a:avLst>
              <a:gd name="adj" fmla="val 6667"/>
            </a:avLst>
          </a:prstGeom>
          <a:solidFill>
            <a:srgbClr val="d95d39"/>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400" spc="-1" strike="noStrike">
                <a:solidFill>
                  <a:srgbClr val="ffffff"/>
                </a:solidFill>
                <a:latin typeface="Calibri"/>
                <a:ea typeface="Calibri"/>
              </a:rPr>
              <a:t>Réplica primaria</a:t>
            </a:r>
            <a:endParaRPr b="0" lang="es-ES" sz="1400" spc="-1" strike="noStrike">
              <a:latin typeface="Arial"/>
            </a:endParaRPr>
          </a:p>
          <a:p>
            <a:pPr algn="ctr">
              <a:lnSpc>
                <a:spcPct val="100000"/>
              </a:lnSpc>
              <a:tabLst>
                <a:tab algn="l" pos="0"/>
              </a:tabLst>
            </a:pPr>
            <a:r>
              <a:rPr b="1" lang="en-US" sz="1400" spc="-1" strike="noStrike">
                <a:solidFill>
                  <a:srgbClr val="ffffff"/>
                </a:solidFill>
                <a:latin typeface="Calibri"/>
                <a:ea typeface="Calibri"/>
              </a:rPr>
              <a:t>SQLNODE1 · R/W</a:t>
            </a:r>
            <a:endParaRPr b="0" lang="es-ES" sz="1400" spc="-1" strike="noStrike">
              <a:latin typeface="Arial"/>
            </a:endParaRPr>
          </a:p>
        </p:txBody>
      </p:sp>
      <p:sp>
        <p:nvSpPr>
          <p:cNvPr id="1372" name="CustomShape 11"/>
          <p:cNvSpPr/>
          <p:nvPr/>
        </p:nvSpPr>
        <p:spPr>
          <a:xfrm>
            <a:off x="5486400" y="3200400"/>
            <a:ext cx="2009160" cy="1094760"/>
          </a:xfrm>
          <a:prstGeom prst="roundRect">
            <a:avLst>
              <a:gd name="adj" fmla="val 6667"/>
            </a:avLst>
          </a:prstGeom>
          <a:solidFill>
            <a:srgbClr val="8da9c4"/>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400" spc="-1" strike="noStrike">
                <a:solidFill>
                  <a:srgbClr val="0b2545"/>
                </a:solidFill>
                <a:latin typeface="Calibri"/>
                <a:ea typeface="Calibri"/>
              </a:rPr>
              <a:t>Secundaria asíncrona</a:t>
            </a:r>
            <a:endParaRPr b="0" lang="es-ES" sz="1400" spc="-1" strike="noStrike">
              <a:latin typeface="Arial"/>
            </a:endParaRPr>
          </a:p>
          <a:p>
            <a:pPr algn="ctr">
              <a:lnSpc>
                <a:spcPct val="100000"/>
              </a:lnSpc>
              <a:tabLst>
                <a:tab algn="l" pos="0"/>
              </a:tabLst>
            </a:pPr>
            <a:r>
              <a:rPr b="1" lang="en-US" sz="1400" spc="-1" strike="noStrike">
                <a:solidFill>
                  <a:srgbClr val="0b2545"/>
                </a:solidFill>
                <a:latin typeface="Calibri"/>
                <a:ea typeface="Calibri"/>
              </a:rPr>
              <a:t>SQLNODE3 · DR</a:t>
            </a:r>
            <a:endParaRPr b="0" lang="es-ES" sz="1400" spc="-1" strike="noStrike">
              <a:latin typeface="Arial"/>
            </a:endParaRPr>
          </a:p>
        </p:txBody>
      </p:sp>
      <p:sp>
        <p:nvSpPr>
          <p:cNvPr id="1373" name="Line 12"/>
          <p:cNvSpPr/>
          <p:nvPr/>
        </p:nvSpPr>
        <p:spPr>
          <a:xfrm flipH="1">
            <a:off x="2560320" y="3749040"/>
            <a:ext cx="457200" cy="0"/>
          </a:xfrm>
          <a:prstGeom prst="line">
            <a:avLst/>
          </a:prstGeom>
          <a:ln w="31680">
            <a:solidFill>
              <a:srgbClr val="0b2545"/>
            </a:solidFill>
            <a:round/>
            <a:tailEnd len="med" type="triangle" w="med"/>
          </a:ln>
        </p:spPr>
        <p:style>
          <a:lnRef idx="0"/>
          <a:fillRef idx="0"/>
          <a:effectRef idx="0"/>
          <a:fontRef idx="minor"/>
        </p:style>
      </p:sp>
      <p:sp>
        <p:nvSpPr>
          <p:cNvPr id="1374" name="Line 13"/>
          <p:cNvSpPr/>
          <p:nvPr/>
        </p:nvSpPr>
        <p:spPr>
          <a:xfrm>
            <a:off x="5029200" y="3749040"/>
            <a:ext cx="457200" cy="0"/>
          </a:xfrm>
          <a:prstGeom prst="line">
            <a:avLst/>
          </a:prstGeom>
          <a:ln w="31680">
            <a:solidFill>
              <a:srgbClr val="0b2545"/>
            </a:solidFill>
            <a:prstDash val="dash"/>
            <a:round/>
            <a:tailEnd len="med" type="triangle" w="med"/>
          </a:ln>
        </p:spPr>
        <p:style>
          <a:lnRef idx="0"/>
          <a:fillRef idx="0"/>
          <a:effectRef idx="0"/>
          <a:fontRef idx="minor"/>
        </p:style>
      </p:sp>
      <p:sp>
        <p:nvSpPr>
          <p:cNvPr id="1375" name="CustomShape 14"/>
          <p:cNvSpPr/>
          <p:nvPr/>
        </p:nvSpPr>
        <p:spPr>
          <a:xfrm>
            <a:off x="548640" y="4434840"/>
            <a:ext cx="2009160" cy="54612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300" spc="-1" strike="noStrike">
                <a:solidFill>
                  <a:srgbClr val="1f2933"/>
                </a:solidFill>
                <a:latin typeface="Calibri"/>
                <a:ea typeface="Calibri"/>
              </a:rPr>
              <a:t>Síncrona · RPO = 0</a:t>
            </a:r>
            <a:endParaRPr b="0" lang="es-ES" sz="1300" spc="-1" strike="noStrike">
              <a:latin typeface="Arial"/>
            </a:endParaRPr>
          </a:p>
          <a:p>
            <a:pPr algn="ctr">
              <a:lnSpc>
                <a:spcPct val="100000"/>
              </a:lnSpc>
              <a:tabLst>
                <a:tab algn="l" pos="0"/>
              </a:tabLst>
            </a:pPr>
            <a:r>
              <a:rPr b="0" lang="en-US" sz="1300" spc="-1" strike="noStrike">
                <a:solidFill>
                  <a:srgbClr val="1f2933"/>
                </a:solidFill>
                <a:latin typeface="Calibri"/>
                <a:ea typeface="Calibri"/>
              </a:rPr>
              <a:t>Failover automático</a:t>
            </a:r>
            <a:endParaRPr b="0" lang="es-ES" sz="1300" spc="-1" strike="noStrike">
              <a:latin typeface="Arial"/>
            </a:endParaRPr>
          </a:p>
        </p:txBody>
      </p:sp>
      <p:sp>
        <p:nvSpPr>
          <p:cNvPr id="1376" name="CustomShape 15"/>
          <p:cNvSpPr/>
          <p:nvPr/>
        </p:nvSpPr>
        <p:spPr>
          <a:xfrm>
            <a:off x="3017520" y="4434840"/>
            <a:ext cx="2009160" cy="54612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300" spc="-1" strike="noStrike">
                <a:solidFill>
                  <a:srgbClr val="5c6b7a"/>
                </a:solidFill>
                <a:latin typeface="Calibri"/>
                <a:ea typeface="Calibri"/>
              </a:rPr>
              <a:t>Envía el log de</a:t>
            </a:r>
            <a:endParaRPr b="0" lang="es-ES" sz="1300" spc="-1" strike="noStrike">
              <a:latin typeface="Arial"/>
            </a:endParaRPr>
          </a:p>
          <a:p>
            <a:pPr algn="ctr">
              <a:lnSpc>
                <a:spcPct val="100000"/>
              </a:lnSpc>
              <a:tabLst>
                <a:tab algn="l" pos="0"/>
              </a:tabLst>
            </a:pPr>
            <a:r>
              <a:rPr b="0" lang="en-US" sz="1300" spc="-1" strike="noStrike">
                <a:solidFill>
                  <a:srgbClr val="5c6b7a"/>
                </a:solidFill>
                <a:latin typeface="Calibri"/>
                <a:ea typeface="Calibri"/>
              </a:rPr>
              <a:t>transacciones</a:t>
            </a:r>
            <a:endParaRPr b="0" lang="es-ES" sz="1300" spc="-1" strike="noStrike">
              <a:latin typeface="Arial"/>
            </a:endParaRPr>
          </a:p>
        </p:txBody>
      </p:sp>
      <p:sp>
        <p:nvSpPr>
          <p:cNvPr id="1377" name="CustomShape 16"/>
          <p:cNvSpPr/>
          <p:nvPr/>
        </p:nvSpPr>
        <p:spPr>
          <a:xfrm>
            <a:off x="5486400" y="4434840"/>
            <a:ext cx="2009160" cy="54612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300" spc="-1" strike="noStrike">
                <a:solidFill>
                  <a:srgbClr val="1f2933"/>
                </a:solidFill>
                <a:latin typeface="Calibri"/>
                <a:ea typeface="Calibri"/>
              </a:rPr>
              <a:t>Asíncrona · RPO &gt; 0</a:t>
            </a:r>
            <a:endParaRPr b="0" lang="es-ES" sz="1300" spc="-1" strike="noStrike">
              <a:latin typeface="Arial"/>
            </a:endParaRPr>
          </a:p>
          <a:p>
            <a:pPr algn="ctr">
              <a:lnSpc>
                <a:spcPct val="100000"/>
              </a:lnSpc>
              <a:tabLst>
                <a:tab algn="l" pos="0"/>
              </a:tabLst>
            </a:pPr>
            <a:r>
              <a:rPr b="0" lang="en-US" sz="1300" spc="-1" strike="noStrike">
                <a:solidFill>
                  <a:srgbClr val="1f2933"/>
                </a:solidFill>
                <a:latin typeface="Calibri"/>
                <a:ea typeface="Calibri"/>
              </a:rPr>
              <a:t>Failover manual</a:t>
            </a:r>
            <a:endParaRPr b="0" lang="es-ES" sz="1300" spc="-1" strike="noStrike">
              <a:latin typeface="Arial"/>
            </a:endParaRPr>
          </a:p>
        </p:txBody>
      </p:sp>
      <p:sp>
        <p:nvSpPr>
          <p:cNvPr id="1378" name="CustomShape 17"/>
          <p:cNvSpPr/>
          <p:nvPr/>
        </p:nvSpPr>
        <p:spPr>
          <a:xfrm>
            <a:off x="548640" y="5257800"/>
            <a:ext cx="6946920" cy="911880"/>
          </a:xfrm>
          <a:prstGeom prst="roundRect">
            <a:avLst>
              <a:gd name="adj" fmla="val 8000"/>
            </a:avLst>
          </a:prstGeom>
          <a:solidFill>
            <a:srgbClr val="e8eef5"/>
          </a:solidFill>
          <a:ln w="12600">
            <a:solidFill>
              <a:srgbClr val="d0d7de"/>
            </a:solidFill>
            <a:round/>
          </a:ln>
        </p:spPr>
        <p:style>
          <a:lnRef idx="0"/>
          <a:fillRef idx="0"/>
          <a:effectRef idx="0"/>
          <a:fontRef idx="minor"/>
        </p:style>
        <p:txBody>
          <a:bodyPr lIns="360" rIns="1080" tIns="1080" bIns="360" anchor="ctr">
            <a:noAutofit/>
          </a:bodyPr>
          <a:p>
            <a:pPr algn="ctr">
              <a:lnSpc>
                <a:spcPct val="100000"/>
              </a:lnSpc>
              <a:tabLst>
                <a:tab algn="l" pos="0"/>
              </a:tabLst>
            </a:pPr>
            <a:r>
              <a:rPr b="1" lang="en-US" sz="1400" spc="-1" strike="noStrike">
                <a:solidFill>
                  <a:srgbClr val="0b2545"/>
                </a:solidFill>
                <a:latin typeface="Calibri"/>
                <a:ea typeface="Calibri"/>
              </a:rPr>
              <a:t>Windows Server Failover Cluster (WSFC)</a:t>
            </a:r>
            <a:endParaRPr b="0" lang="es-ES" sz="1400" spc="-1" strike="noStrike">
              <a:latin typeface="Arial"/>
            </a:endParaRPr>
          </a:p>
          <a:p>
            <a:pPr algn="ctr">
              <a:lnSpc>
                <a:spcPct val="100000"/>
              </a:lnSpc>
              <a:tabLst>
                <a:tab algn="l" pos="0"/>
              </a:tabLst>
            </a:pPr>
            <a:r>
              <a:rPr b="1" lang="en-US" sz="1400" spc="-1" strike="noStrike">
                <a:solidFill>
                  <a:srgbClr val="0b2545"/>
                </a:solidFill>
                <a:latin typeface="Calibri"/>
                <a:ea typeface="Calibri"/>
              </a:rPr>
              <a:t>Quorum: voto por nodo + Witness (File Share / Cloud / Disk)</a:t>
            </a:r>
            <a:endParaRPr b="0" lang="es-ES" sz="1400" spc="-1" strike="noStrike">
              <a:latin typeface="Arial"/>
            </a:endParaRPr>
          </a:p>
        </p:txBody>
      </p:sp>
      <p:sp>
        <p:nvSpPr>
          <p:cNvPr id="1379" name="CustomShape 18"/>
          <p:cNvSpPr/>
          <p:nvPr/>
        </p:nvSpPr>
        <p:spPr>
          <a:xfrm>
            <a:off x="7818120" y="1600200"/>
            <a:ext cx="3819600" cy="1369080"/>
          </a:xfrm>
          <a:prstGeom prst="roundRect">
            <a:avLst>
              <a:gd name="adj" fmla="val 8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380" name="CustomShape 19"/>
          <p:cNvSpPr/>
          <p:nvPr/>
        </p:nvSpPr>
        <p:spPr>
          <a:xfrm>
            <a:off x="8046720" y="1828800"/>
            <a:ext cx="3362400" cy="2412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Basic AG (Standard)</a:t>
            </a:r>
            <a:endParaRPr b="0" lang="es-ES" sz="1600" spc="-1" strike="noStrike">
              <a:latin typeface="Arial"/>
            </a:endParaRPr>
          </a:p>
        </p:txBody>
      </p:sp>
      <p:sp>
        <p:nvSpPr>
          <p:cNvPr id="1381" name="CustomShape 20"/>
          <p:cNvSpPr/>
          <p:nvPr/>
        </p:nvSpPr>
        <p:spPr>
          <a:xfrm>
            <a:off x="8046720" y="2182320"/>
            <a:ext cx="3362400" cy="5583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2 réplicas, 1 BD por AG, sin lectura en la secundaria.</a:t>
            </a:r>
            <a:endParaRPr b="0" lang="es-ES" sz="1400" spc="-1" strike="noStrike">
              <a:latin typeface="Arial"/>
            </a:endParaRPr>
          </a:p>
        </p:txBody>
      </p:sp>
      <p:sp>
        <p:nvSpPr>
          <p:cNvPr id="1382" name="CustomShape 21"/>
          <p:cNvSpPr/>
          <p:nvPr/>
        </p:nvSpPr>
        <p:spPr>
          <a:xfrm>
            <a:off x="7818120" y="3200400"/>
            <a:ext cx="3819600" cy="1369080"/>
          </a:xfrm>
          <a:prstGeom prst="roundRect">
            <a:avLst>
              <a:gd name="adj" fmla="val 8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383" name="CustomShape 22"/>
          <p:cNvSpPr/>
          <p:nvPr/>
        </p:nvSpPr>
        <p:spPr>
          <a:xfrm>
            <a:off x="8046720" y="3429000"/>
            <a:ext cx="3362400" cy="2412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Distributed AG</a:t>
            </a:r>
            <a:endParaRPr b="0" lang="es-ES" sz="1600" spc="-1" strike="noStrike">
              <a:latin typeface="Arial"/>
            </a:endParaRPr>
          </a:p>
        </p:txBody>
      </p:sp>
      <p:sp>
        <p:nvSpPr>
          <p:cNvPr id="1384" name="CustomShape 23"/>
          <p:cNvSpPr/>
          <p:nvPr/>
        </p:nvSpPr>
        <p:spPr>
          <a:xfrm>
            <a:off x="8046720" y="3782520"/>
            <a:ext cx="3362400" cy="5583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Une dos AG en clústeres distintos: DR entre sitios y migraciones.</a:t>
            </a:r>
            <a:endParaRPr b="0" lang="es-ES" sz="1400" spc="-1" strike="noStrike">
              <a:latin typeface="Arial"/>
            </a:endParaRPr>
          </a:p>
        </p:txBody>
      </p:sp>
      <p:sp>
        <p:nvSpPr>
          <p:cNvPr id="1385" name="CustomShape 24"/>
          <p:cNvSpPr/>
          <p:nvPr/>
        </p:nvSpPr>
        <p:spPr>
          <a:xfrm>
            <a:off x="7818120" y="4800600"/>
            <a:ext cx="3819600" cy="1369080"/>
          </a:xfrm>
          <a:prstGeom prst="roundRect">
            <a:avLst>
              <a:gd name="adj" fmla="val 8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386" name="CustomShape 25"/>
          <p:cNvSpPr/>
          <p:nvPr/>
        </p:nvSpPr>
        <p:spPr>
          <a:xfrm>
            <a:off x="8046720" y="5029200"/>
            <a:ext cx="3362400" cy="2412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Quorum y Testigo</a:t>
            </a:r>
            <a:endParaRPr b="0" lang="es-ES" sz="1600" spc="-1" strike="noStrike">
              <a:latin typeface="Arial"/>
            </a:endParaRPr>
          </a:p>
        </p:txBody>
      </p:sp>
      <p:sp>
        <p:nvSpPr>
          <p:cNvPr id="1387" name="CustomShape 26"/>
          <p:cNvSpPr/>
          <p:nvPr/>
        </p:nvSpPr>
        <p:spPr>
          <a:xfrm>
            <a:off x="8046720" y="5382720"/>
            <a:ext cx="3362400" cy="5583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Mayoría de votos contra split-brain; testigo en nodos pares.</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388" name="CustomShape 1"/>
          <p:cNvSpPr/>
          <p:nvPr/>
        </p:nvSpPr>
        <p:spPr>
          <a:xfrm>
            <a:off x="548640" y="365760"/>
            <a:ext cx="2973960" cy="271800"/>
          </a:xfrm>
          <a:prstGeom prst="roundRect">
            <a:avLst>
              <a:gd name="adj" fmla="val 50000"/>
            </a:avLst>
          </a:prstGeom>
          <a:solidFill>
            <a:srgbClr val="d95d39"/>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LABORATORIO · LABORATORIO 3.1</a:t>
            </a:r>
            <a:endParaRPr b="0" lang="es-ES" sz="1000" spc="-1" strike="noStrike">
              <a:latin typeface="Arial"/>
            </a:endParaRPr>
          </a:p>
        </p:txBody>
      </p:sp>
      <p:sp>
        <p:nvSpPr>
          <p:cNvPr id="1389"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Lab 3.1 · Índices y medición de lecturas</a:t>
            </a:r>
            <a:endParaRPr b="0" lang="es-ES" sz="3400" spc="-1" strike="noStrike">
              <a:latin typeface="Arial"/>
            </a:endParaRPr>
          </a:p>
        </p:txBody>
      </p:sp>
      <p:sp>
        <p:nvSpPr>
          <p:cNvPr id="1390"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391"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3   58</a:t>
            </a:r>
            <a:endParaRPr b="0" lang="es-ES" sz="1000" spc="-1" strike="noStrike">
              <a:latin typeface="Arial"/>
            </a:endParaRPr>
          </a:p>
        </p:txBody>
      </p:sp>
      <p:sp>
        <p:nvSpPr>
          <p:cNvPr id="1392" name="CustomShape 5"/>
          <p:cNvSpPr/>
          <p:nvPr/>
        </p:nvSpPr>
        <p:spPr>
          <a:xfrm>
            <a:off x="548640" y="1600200"/>
            <a:ext cx="2530440" cy="2374920"/>
          </a:xfrm>
          <a:prstGeom prst="roundRect">
            <a:avLst>
              <a:gd name="adj" fmla="val 4615"/>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393" name="CustomShape 6"/>
          <p:cNvSpPr/>
          <p:nvPr/>
        </p:nvSpPr>
        <p:spPr>
          <a:xfrm>
            <a:off x="777240" y="1828800"/>
            <a:ext cx="500400" cy="500400"/>
          </a:xfrm>
          <a:prstGeom prst="ellipse">
            <a:avLst/>
          </a:prstGeom>
          <a:solidFill>
            <a:srgbClr val="134074"/>
          </a:solidFill>
          <a:ln>
            <a:noFill/>
          </a:ln>
        </p:spPr>
        <p:style>
          <a:lnRef idx="0"/>
          <a:fillRef idx="0"/>
          <a:effectRef idx="0"/>
          <a:fontRef idx="minor"/>
        </p:style>
      </p:sp>
      <p:sp>
        <p:nvSpPr>
          <p:cNvPr id="1394" name="CustomShape 7"/>
          <p:cNvSpPr/>
          <p:nvPr/>
        </p:nvSpPr>
        <p:spPr>
          <a:xfrm>
            <a:off x="77724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1</a:t>
            </a:r>
            <a:endParaRPr b="0" lang="es-ES" sz="1800" spc="-1" strike="noStrike">
              <a:latin typeface="Arial"/>
            </a:endParaRPr>
          </a:p>
        </p:txBody>
      </p:sp>
      <p:sp>
        <p:nvSpPr>
          <p:cNvPr id="1395" name="CustomShape 8"/>
          <p:cNvSpPr/>
          <p:nvPr/>
        </p:nvSpPr>
        <p:spPr>
          <a:xfrm>
            <a:off x="777240" y="2468880"/>
            <a:ext cx="207324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Preparar datos</a:t>
            </a:r>
            <a:endParaRPr b="0" lang="es-ES" sz="1600" spc="-1" strike="noStrike">
              <a:latin typeface="Arial"/>
            </a:endParaRPr>
          </a:p>
        </p:txBody>
      </p:sp>
      <p:sp>
        <p:nvSpPr>
          <p:cNvPr id="1396" name="CustomShape 9"/>
          <p:cNvSpPr/>
          <p:nvPr/>
        </p:nvSpPr>
        <p:spPr>
          <a:xfrm>
            <a:off x="777240" y="3154680"/>
            <a:ext cx="2073240" cy="7290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Genera 500 000 pedidos en la base de datos Ventas.</a:t>
            </a:r>
            <a:endParaRPr b="0" lang="es-ES" sz="1400" spc="-1" strike="noStrike">
              <a:latin typeface="Arial"/>
            </a:endParaRPr>
          </a:p>
        </p:txBody>
      </p:sp>
      <p:sp>
        <p:nvSpPr>
          <p:cNvPr id="1397" name="CustomShape 10"/>
          <p:cNvSpPr/>
          <p:nvPr/>
        </p:nvSpPr>
        <p:spPr>
          <a:xfrm>
            <a:off x="3117960" y="1947600"/>
            <a:ext cx="24444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1398" name="CustomShape 11"/>
          <p:cNvSpPr/>
          <p:nvPr/>
        </p:nvSpPr>
        <p:spPr>
          <a:xfrm>
            <a:off x="3401640" y="1600200"/>
            <a:ext cx="2530440" cy="2374920"/>
          </a:xfrm>
          <a:prstGeom prst="roundRect">
            <a:avLst>
              <a:gd name="adj" fmla="val 4615"/>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399" name="CustomShape 12"/>
          <p:cNvSpPr/>
          <p:nvPr/>
        </p:nvSpPr>
        <p:spPr>
          <a:xfrm>
            <a:off x="3630240" y="1828800"/>
            <a:ext cx="500400" cy="500400"/>
          </a:xfrm>
          <a:prstGeom prst="ellipse">
            <a:avLst/>
          </a:prstGeom>
          <a:solidFill>
            <a:srgbClr val="134074"/>
          </a:solidFill>
          <a:ln>
            <a:noFill/>
          </a:ln>
        </p:spPr>
        <p:style>
          <a:lnRef idx="0"/>
          <a:fillRef idx="0"/>
          <a:effectRef idx="0"/>
          <a:fontRef idx="minor"/>
        </p:style>
      </p:sp>
      <p:sp>
        <p:nvSpPr>
          <p:cNvPr id="1400" name="CustomShape 13"/>
          <p:cNvSpPr/>
          <p:nvPr/>
        </p:nvSpPr>
        <p:spPr>
          <a:xfrm>
            <a:off x="363024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2</a:t>
            </a:r>
            <a:endParaRPr b="0" lang="es-ES" sz="1800" spc="-1" strike="noStrike">
              <a:latin typeface="Arial"/>
            </a:endParaRPr>
          </a:p>
        </p:txBody>
      </p:sp>
      <p:sp>
        <p:nvSpPr>
          <p:cNvPr id="1401" name="CustomShape 14"/>
          <p:cNvSpPr/>
          <p:nvPr/>
        </p:nvSpPr>
        <p:spPr>
          <a:xfrm>
            <a:off x="3630240" y="2468880"/>
            <a:ext cx="207324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Línea base</a:t>
            </a:r>
            <a:endParaRPr b="0" lang="es-ES" sz="1600" spc="-1" strike="noStrike">
              <a:latin typeface="Arial"/>
            </a:endParaRPr>
          </a:p>
        </p:txBody>
      </p:sp>
      <p:sp>
        <p:nvSpPr>
          <p:cNvPr id="1402" name="CustomShape 15"/>
          <p:cNvSpPr/>
          <p:nvPr/>
        </p:nvSpPr>
        <p:spPr>
          <a:xfrm>
            <a:off x="3630240" y="3154680"/>
            <a:ext cx="2073240" cy="7290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Activa STATISTICS IO y plan real (Ctrl+M); anota las lecturas.</a:t>
            </a:r>
            <a:endParaRPr b="0" lang="es-ES" sz="1400" spc="-1" strike="noStrike">
              <a:latin typeface="Arial"/>
            </a:endParaRPr>
          </a:p>
        </p:txBody>
      </p:sp>
      <p:sp>
        <p:nvSpPr>
          <p:cNvPr id="1403" name="CustomShape 16"/>
          <p:cNvSpPr/>
          <p:nvPr/>
        </p:nvSpPr>
        <p:spPr>
          <a:xfrm>
            <a:off x="5970960" y="1947600"/>
            <a:ext cx="24444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1404" name="CustomShape 17"/>
          <p:cNvSpPr/>
          <p:nvPr/>
        </p:nvSpPr>
        <p:spPr>
          <a:xfrm>
            <a:off x="6254640" y="1600200"/>
            <a:ext cx="2530440" cy="2374920"/>
          </a:xfrm>
          <a:prstGeom prst="roundRect">
            <a:avLst>
              <a:gd name="adj" fmla="val 4615"/>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405" name="CustomShape 18"/>
          <p:cNvSpPr/>
          <p:nvPr/>
        </p:nvSpPr>
        <p:spPr>
          <a:xfrm>
            <a:off x="6483240" y="1828800"/>
            <a:ext cx="500400" cy="500400"/>
          </a:xfrm>
          <a:prstGeom prst="ellipse">
            <a:avLst/>
          </a:prstGeom>
          <a:solidFill>
            <a:srgbClr val="134074"/>
          </a:solidFill>
          <a:ln>
            <a:noFill/>
          </a:ln>
        </p:spPr>
        <p:style>
          <a:lnRef idx="0"/>
          <a:fillRef idx="0"/>
          <a:effectRef idx="0"/>
          <a:fontRef idx="minor"/>
        </p:style>
      </p:sp>
      <p:sp>
        <p:nvSpPr>
          <p:cNvPr id="1406" name="CustomShape 19"/>
          <p:cNvSpPr/>
          <p:nvPr/>
        </p:nvSpPr>
        <p:spPr>
          <a:xfrm>
            <a:off x="648324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3</a:t>
            </a:r>
            <a:endParaRPr b="0" lang="es-ES" sz="1800" spc="-1" strike="noStrike">
              <a:latin typeface="Arial"/>
            </a:endParaRPr>
          </a:p>
        </p:txBody>
      </p:sp>
      <p:sp>
        <p:nvSpPr>
          <p:cNvPr id="1407" name="CustomShape 20"/>
          <p:cNvSpPr/>
          <p:nvPr/>
        </p:nvSpPr>
        <p:spPr>
          <a:xfrm>
            <a:off x="6483240" y="2468880"/>
            <a:ext cx="207324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Crear índices</a:t>
            </a:r>
            <a:endParaRPr b="0" lang="es-ES" sz="1600" spc="-1" strike="noStrike">
              <a:latin typeface="Arial"/>
            </a:endParaRPr>
          </a:p>
        </p:txBody>
      </p:sp>
      <p:sp>
        <p:nvSpPr>
          <p:cNvPr id="1408" name="CustomShape 21"/>
          <p:cNvSpPr/>
          <p:nvPr/>
        </p:nvSpPr>
        <p:spPr>
          <a:xfrm>
            <a:off x="6483240" y="3154680"/>
            <a:ext cx="2073240" cy="7290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Crea el índice simple y luego la versión con INCLUDE.</a:t>
            </a:r>
            <a:endParaRPr b="0" lang="es-ES" sz="1400" spc="-1" strike="noStrike">
              <a:latin typeface="Arial"/>
            </a:endParaRPr>
          </a:p>
        </p:txBody>
      </p:sp>
      <p:sp>
        <p:nvSpPr>
          <p:cNvPr id="1409" name="CustomShape 22"/>
          <p:cNvSpPr/>
          <p:nvPr/>
        </p:nvSpPr>
        <p:spPr>
          <a:xfrm>
            <a:off x="8823960" y="1947600"/>
            <a:ext cx="24444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1410" name="CustomShape 23"/>
          <p:cNvSpPr/>
          <p:nvPr/>
        </p:nvSpPr>
        <p:spPr>
          <a:xfrm>
            <a:off x="9107280" y="1600200"/>
            <a:ext cx="2530440" cy="2374920"/>
          </a:xfrm>
          <a:prstGeom prst="roundRect">
            <a:avLst>
              <a:gd name="adj" fmla="val 4615"/>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411" name="CustomShape 24"/>
          <p:cNvSpPr/>
          <p:nvPr/>
        </p:nvSpPr>
        <p:spPr>
          <a:xfrm>
            <a:off x="9335880" y="1828800"/>
            <a:ext cx="500400" cy="500400"/>
          </a:xfrm>
          <a:prstGeom prst="ellipse">
            <a:avLst/>
          </a:prstGeom>
          <a:solidFill>
            <a:srgbClr val="134074"/>
          </a:solidFill>
          <a:ln>
            <a:noFill/>
          </a:ln>
        </p:spPr>
        <p:style>
          <a:lnRef idx="0"/>
          <a:fillRef idx="0"/>
          <a:effectRef idx="0"/>
          <a:fontRef idx="minor"/>
        </p:style>
      </p:sp>
      <p:sp>
        <p:nvSpPr>
          <p:cNvPr id="1412" name="CustomShape 25"/>
          <p:cNvSpPr/>
          <p:nvPr/>
        </p:nvSpPr>
        <p:spPr>
          <a:xfrm>
            <a:off x="933588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4</a:t>
            </a:r>
            <a:endParaRPr b="0" lang="es-ES" sz="1800" spc="-1" strike="noStrike">
              <a:latin typeface="Arial"/>
            </a:endParaRPr>
          </a:p>
        </p:txBody>
      </p:sp>
      <p:sp>
        <p:nvSpPr>
          <p:cNvPr id="1413" name="CustomShape 26"/>
          <p:cNvSpPr/>
          <p:nvPr/>
        </p:nvSpPr>
        <p:spPr>
          <a:xfrm>
            <a:off x="9335880" y="2468880"/>
            <a:ext cx="207324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Comparar</a:t>
            </a:r>
            <a:endParaRPr b="0" lang="es-ES" sz="1600" spc="-1" strike="noStrike">
              <a:latin typeface="Arial"/>
            </a:endParaRPr>
          </a:p>
        </p:txBody>
      </p:sp>
      <p:sp>
        <p:nvSpPr>
          <p:cNvPr id="1414" name="CustomShape 27"/>
          <p:cNvSpPr/>
          <p:nvPr/>
        </p:nvSpPr>
        <p:spPr>
          <a:xfrm>
            <a:off x="9335880" y="3154680"/>
            <a:ext cx="2073240" cy="7290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Repite la consulta y compara operador y lecturas lógicas.</a:t>
            </a:r>
            <a:endParaRPr b="0" lang="es-ES" sz="1400" spc="-1" strike="noStrike">
              <a:latin typeface="Arial"/>
            </a:endParaRPr>
          </a:p>
        </p:txBody>
      </p:sp>
      <p:sp>
        <p:nvSpPr>
          <p:cNvPr id="1415" name="CustomShape 28"/>
          <p:cNvSpPr/>
          <p:nvPr/>
        </p:nvSpPr>
        <p:spPr>
          <a:xfrm>
            <a:off x="548640" y="4251960"/>
            <a:ext cx="5392440" cy="1917720"/>
          </a:xfrm>
          <a:prstGeom prst="roundRect">
            <a:avLst>
              <a:gd name="adj" fmla="val 4762"/>
            </a:avLst>
          </a:prstGeom>
          <a:solidFill>
            <a:srgbClr val="eceff3"/>
          </a:solidFill>
          <a:ln w="9360">
            <a:solidFill>
              <a:srgbClr val="d0d7de"/>
            </a:solidFill>
            <a:round/>
          </a:ln>
        </p:spPr>
        <p:style>
          <a:lnRef idx="0"/>
          <a:fillRef idx="0"/>
          <a:effectRef idx="0"/>
          <a:fontRef idx="minor"/>
        </p:style>
      </p:sp>
      <p:sp>
        <p:nvSpPr>
          <p:cNvPr id="1416" name="CustomShape 29"/>
          <p:cNvSpPr/>
          <p:nvPr/>
        </p:nvSpPr>
        <p:spPr>
          <a:xfrm>
            <a:off x="731520" y="434340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LÍNEA BASE</a:t>
            </a:r>
            <a:endParaRPr b="0" lang="es-ES" sz="1000" spc="-1" strike="noStrike">
              <a:latin typeface="Arial"/>
            </a:endParaRPr>
          </a:p>
        </p:txBody>
      </p:sp>
      <p:sp>
        <p:nvSpPr>
          <p:cNvPr id="1417" name="CustomShape 30"/>
          <p:cNvSpPr/>
          <p:nvPr/>
        </p:nvSpPr>
        <p:spPr>
          <a:xfrm>
            <a:off x="731520" y="4617720"/>
            <a:ext cx="5026680" cy="146052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USE</a:t>
            </a:r>
            <a:r>
              <a:rPr b="0" lang="en-US" sz="1200" spc="-1" strike="noStrike">
                <a:solidFill>
                  <a:srgbClr val="1f2933"/>
                </a:solidFill>
                <a:latin typeface="Consolas"/>
                <a:ea typeface="Consolas"/>
              </a:rPr>
              <a:t> Ventas;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SET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STATISTICS</a:t>
            </a:r>
            <a:r>
              <a:rPr b="0" lang="en-US" sz="1200" spc="-1" strike="noStrike">
                <a:solidFill>
                  <a:srgbClr val="1f2933"/>
                </a:solidFill>
                <a:latin typeface="Consolas"/>
                <a:ea typeface="Consolas"/>
              </a:rPr>
              <a:t> IO, </a:t>
            </a:r>
            <a:r>
              <a:rPr b="0" lang="en-US" sz="1200" spc="-1" strike="noStrike">
                <a:solidFill>
                  <a:srgbClr val="7c3aed"/>
                </a:solidFill>
                <a:latin typeface="Consolas"/>
                <a:ea typeface="Consolas"/>
              </a:rPr>
              <a:t>TIME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PedidoId, FechaPedido, Total</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dbo.Pedido</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WHERE</a:t>
            </a:r>
            <a:r>
              <a:rPr b="0" lang="en-US" sz="1200" spc="-1" strike="noStrike">
                <a:solidFill>
                  <a:srgbClr val="1f2933"/>
                </a:solidFill>
                <a:latin typeface="Consolas"/>
                <a:ea typeface="Consolas"/>
              </a:rPr>
              <a:t> ClienteId = </a:t>
            </a:r>
            <a:r>
              <a:rPr b="0" lang="en-US" sz="1200" spc="-1" strike="noStrike">
                <a:solidFill>
                  <a:srgbClr val="9a3412"/>
                </a:solidFill>
                <a:latin typeface="Consolas"/>
                <a:ea typeface="Consolas"/>
              </a:rPr>
              <a:t>4217</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AND</a:t>
            </a:r>
            <a:r>
              <a:rPr b="0" lang="en-US" sz="1200" spc="-1" strike="noStrike">
                <a:solidFill>
                  <a:srgbClr val="1f2933"/>
                </a:solidFill>
                <a:latin typeface="Consolas"/>
                <a:ea typeface="Consolas"/>
              </a:rPr>
              <a:t> FechaPedido &gt;= </a:t>
            </a:r>
            <a:r>
              <a:rPr b="0" lang="en-US" sz="1200" spc="-1" strike="noStrike">
                <a:solidFill>
                  <a:srgbClr val="b4441f"/>
                </a:solidFill>
                <a:latin typeface="Consolas"/>
                <a:ea typeface="Consolas"/>
              </a:rPr>
              <a:t>'20240101'</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i="1" lang="en-US" sz="1200" spc="-1" strike="noStrike">
                <a:solidFill>
                  <a:srgbClr val="6b7280"/>
                </a:solidFill>
                <a:latin typeface="Consolas"/>
                <a:ea typeface="Consolas"/>
              </a:rPr>
              <a:t>-- Anota: operador y logical reads</a:t>
            </a:r>
            <a:endParaRPr b="0" lang="es-ES" sz="1200" spc="-1" strike="noStrike">
              <a:latin typeface="Arial"/>
            </a:endParaRPr>
          </a:p>
        </p:txBody>
      </p:sp>
      <p:sp>
        <p:nvSpPr>
          <p:cNvPr id="1418" name="CustomShape 31"/>
          <p:cNvSpPr/>
          <p:nvPr/>
        </p:nvSpPr>
        <p:spPr>
          <a:xfrm>
            <a:off x="6245280" y="4251960"/>
            <a:ext cx="5392440" cy="1917720"/>
          </a:xfrm>
          <a:prstGeom prst="roundRect">
            <a:avLst>
              <a:gd name="adj" fmla="val 4762"/>
            </a:avLst>
          </a:prstGeom>
          <a:solidFill>
            <a:srgbClr val="eceff3"/>
          </a:solidFill>
          <a:ln w="9360">
            <a:solidFill>
              <a:srgbClr val="d0d7de"/>
            </a:solidFill>
            <a:round/>
          </a:ln>
        </p:spPr>
        <p:style>
          <a:lnRef idx="0"/>
          <a:fillRef idx="0"/>
          <a:effectRef idx="0"/>
          <a:fontRef idx="minor"/>
        </p:style>
      </p:sp>
      <p:sp>
        <p:nvSpPr>
          <p:cNvPr id="1419" name="CustomShape 32"/>
          <p:cNvSpPr/>
          <p:nvPr/>
        </p:nvSpPr>
        <p:spPr>
          <a:xfrm>
            <a:off x="6428160" y="434340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CREAR Y MEJORAR EL ÍNDICE</a:t>
            </a:r>
            <a:endParaRPr b="0" lang="es-ES" sz="1000" spc="-1" strike="noStrike">
              <a:latin typeface="Arial"/>
            </a:endParaRPr>
          </a:p>
        </p:txBody>
      </p:sp>
      <p:sp>
        <p:nvSpPr>
          <p:cNvPr id="1420" name="CustomShape 33"/>
          <p:cNvSpPr/>
          <p:nvPr/>
        </p:nvSpPr>
        <p:spPr>
          <a:xfrm>
            <a:off x="6428160" y="4617720"/>
            <a:ext cx="5026680" cy="146052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CREATE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NONCLUSTERED</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INDEX</a:t>
            </a:r>
            <a:r>
              <a:rPr b="0" lang="en-US" sz="1200" spc="-1" strike="noStrike">
                <a:solidFill>
                  <a:srgbClr val="1f2933"/>
                </a:solidFill>
                <a:latin typeface="Consolas"/>
                <a:ea typeface="Consolas"/>
              </a:rPr>
              <a:t> IX_Pedido_Cli_Fecha</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 dbo.Pedido (ClienteId, FechaPedido);</a:t>
            </a:r>
            <a:endParaRPr b="0" lang="es-ES" sz="1200" spc="-1" strike="noStrike">
              <a:latin typeface="Arial"/>
            </a:endParaRPr>
          </a:p>
          <a:p>
            <a:pPr>
              <a:lnSpc>
                <a:spcPct val="100000"/>
              </a:lnSpc>
              <a:tabLst>
                <a:tab algn="l" pos="0"/>
              </a:tabLst>
            </a:pPr>
            <a:r>
              <a:rPr b="0" i="1" lang="en-US" sz="1200" spc="-1" strike="noStrike">
                <a:solidFill>
                  <a:srgbClr val="6b7280"/>
                </a:solidFill>
                <a:latin typeface="Consolas"/>
                <a:ea typeface="Consolas"/>
              </a:rPr>
              <a:t>-- Lookup: añade INCLUDE y recrea</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CREATE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NONCLUSTERED</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INDEX</a:t>
            </a:r>
            <a:r>
              <a:rPr b="0" lang="en-US" sz="1200" spc="-1" strike="noStrike">
                <a:solidFill>
                  <a:srgbClr val="1f2933"/>
                </a:solidFill>
                <a:latin typeface="Consolas"/>
                <a:ea typeface="Consolas"/>
              </a:rPr>
              <a:t> IX_Pedido_Cli_Fecha</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 dbo.Pedido (ClienteId, FechaPedido)</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INCLUDE</a:t>
            </a:r>
            <a:r>
              <a:rPr b="0" lang="en-US" sz="1200" spc="-1" strike="noStrike">
                <a:solidFill>
                  <a:srgbClr val="1f2933"/>
                </a:solidFill>
                <a:latin typeface="Consolas"/>
                <a:ea typeface="Consolas"/>
              </a:rPr>
              <a:t> (Total)</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(DROP_EXISTING =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a:t>
            </a:r>
            <a:endParaRPr b="0" lang="es-ES" sz="1200" spc="-1" strike="noStrike">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421" name="CustomShape 1"/>
          <p:cNvSpPr/>
          <p:nvPr/>
        </p:nvSpPr>
        <p:spPr>
          <a:xfrm>
            <a:off x="548640" y="365760"/>
            <a:ext cx="2973960" cy="271800"/>
          </a:xfrm>
          <a:prstGeom prst="roundRect">
            <a:avLst>
              <a:gd name="adj" fmla="val 50000"/>
            </a:avLst>
          </a:prstGeom>
          <a:solidFill>
            <a:srgbClr val="d95d39"/>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LABORATORIO · LABORATORIO 3.2</a:t>
            </a:r>
            <a:endParaRPr b="0" lang="es-ES" sz="1000" spc="-1" strike="noStrike">
              <a:latin typeface="Arial"/>
            </a:endParaRPr>
          </a:p>
        </p:txBody>
      </p:sp>
      <p:sp>
        <p:nvSpPr>
          <p:cNvPr id="1422"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Lab 3.2 · Analizar planes de ejecución</a:t>
            </a:r>
            <a:endParaRPr b="0" lang="es-ES" sz="3400" spc="-1" strike="noStrike">
              <a:latin typeface="Arial"/>
            </a:endParaRPr>
          </a:p>
        </p:txBody>
      </p:sp>
      <p:sp>
        <p:nvSpPr>
          <p:cNvPr id="1423"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424"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3   59</a:t>
            </a:r>
            <a:endParaRPr b="0" lang="es-ES" sz="1000" spc="-1" strike="noStrike">
              <a:latin typeface="Arial"/>
            </a:endParaRPr>
          </a:p>
        </p:txBody>
      </p:sp>
      <p:sp>
        <p:nvSpPr>
          <p:cNvPr id="1425" name="CustomShape 5"/>
          <p:cNvSpPr/>
          <p:nvPr/>
        </p:nvSpPr>
        <p:spPr>
          <a:xfrm>
            <a:off x="548640" y="1600200"/>
            <a:ext cx="6306840" cy="3609360"/>
          </a:xfrm>
          <a:prstGeom prst="roundRect">
            <a:avLst>
              <a:gd name="adj" fmla="val 2532"/>
            </a:avLst>
          </a:prstGeom>
          <a:solidFill>
            <a:srgbClr val="eceff3"/>
          </a:solidFill>
          <a:ln w="9360">
            <a:solidFill>
              <a:srgbClr val="d0d7de"/>
            </a:solidFill>
            <a:round/>
          </a:ln>
        </p:spPr>
        <p:style>
          <a:lnRef idx="0"/>
          <a:fillRef idx="0"/>
          <a:effectRef idx="0"/>
          <a:fontRef idx="minor"/>
        </p:style>
      </p:sp>
      <p:sp>
        <p:nvSpPr>
          <p:cNvPr id="1426" name="CustomShape 6"/>
          <p:cNvSpPr/>
          <p:nvPr/>
        </p:nvSpPr>
        <p:spPr>
          <a:xfrm>
            <a:off x="73152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TRES CONSULTAS, TRES PLANES</a:t>
            </a:r>
            <a:endParaRPr b="0" lang="es-ES" sz="1000" spc="-1" strike="noStrike">
              <a:latin typeface="Arial"/>
            </a:endParaRPr>
          </a:p>
        </p:txBody>
      </p:sp>
      <p:sp>
        <p:nvSpPr>
          <p:cNvPr id="1427" name="CustomShape 7"/>
          <p:cNvSpPr/>
          <p:nvPr/>
        </p:nvSpPr>
        <p:spPr>
          <a:xfrm>
            <a:off x="731520" y="1965960"/>
            <a:ext cx="5941080" cy="315216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300" spc="-1" strike="noStrike">
                <a:solidFill>
                  <a:srgbClr val="1d4ed8"/>
                </a:solidFill>
                <a:latin typeface="Consolas"/>
                <a:ea typeface="Consolas"/>
              </a:rPr>
              <a:t>SET</a:t>
            </a: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STATISTICS</a:t>
            </a:r>
            <a:r>
              <a:rPr b="0" lang="en-US" sz="1300" spc="-1" strike="noStrike">
                <a:solidFill>
                  <a:srgbClr val="1f2933"/>
                </a:solidFill>
                <a:latin typeface="Consolas"/>
                <a:ea typeface="Consolas"/>
              </a:rPr>
              <a:t> IO </a:t>
            </a:r>
            <a:r>
              <a:rPr b="1" lang="en-US" sz="1300" spc="-1" strike="noStrike">
                <a:solidFill>
                  <a:srgbClr val="1d4ed8"/>
                </a:solidFill>
                <a:latin typeface="Consolas"/>
                <a:ea typeface="Consolas"/>
              </a:rPr>
              <a:t>ON</a:t>
            </a:r>
            <a:r>
              <a:rPr b="0" lang="en-US" sz="1300" spc="-1" strike="noStrike">
                <a:solidFill>
                  <a:srgbClr val="1f2933"/>
                </a:solidFill>
                <a:latin typeface="Consolas"/>
                <a:ea typeface="Consolas"/>
              </a:rPr>
              <a:t>;</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CREATE</a:t>
            </a: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NONCLUSTERED</a:t>
            </a: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INDEX</a:t>
            </a:r>
            <a:r>
              <a:rPr b="0" lang="en-US" sz="1300" spc="-1" strike="noStrike">
                <a:solidFill>
                  <a:srgbClr val="1f2933"/>
                </a:solidFill>
                <a:latin typeface="Consolas"/>
                <a:ea typeface="Consolas"/>
              </a:rPr>
              <a:t> IX_Pedido_Fecha</a:t>
            </a:r>
            <a:endParaRPr b="0" lang="es-ES" sz="1300" spc="-1" strike="noStrike">
              <a:latin typeface="Arial"/>
            </a:endParaRPr>
          </a:p>
          <a:p>
            <a:pPr>
              <a:lnSpc>
                <a:spcPct val="100000"/>
              </a:lnSpc>
              <a:tabLst>
                <a:tab algn="l" pos="0"/>
              </a:tabLst>
            </a:pP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ON</a:t>
            </a:r>
            <a:r>
              <a:rPr b="0" lang="en-US" sz="1300" spc="-1" strike="noStrike">
                <a:solidFill>
                  <a:srgbClr val="1f2933"/>
                </a:solidFill>
                <a:latin typeface="Consolas"/>
                <a:ea typeface="Consolas"/>
              </a:rPr>
              <a:t> dbo.Pedido (FechaPedido);</a:t>
            </a:r>
            <a:endParaRPr b="0" lang="es-ES" sz="1300" spc="-1" strike="noStrike">
              <a:latin typeface="Arial"/>
            </a:endParaRPr>
          </a:p>
          <a:p>
            <a:pPr>
              <a:lnSpc>
                <a:spcPct val="100000"/>
              </a:lnSpc>
              <a:tabLst>
                <a:tab algn="l" pos="0"/>
              </a:tabLst>
            </a:pPr>
            <a:r>
              <a:rPr b="0" i="1" lang="en-US" sz="1300" spc="-1" strike="noStrike">
                <a:solidFill>
                  <a:srgbClr val="6b7280"/>
                </a:solidFill>
                <a:latin typeface="Consolas"/>
                <a:ea typeface="Consolas"/>
              </a:rPr>
              <a:t>-- A) No SARGable: función sobre la columna</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SELECT</a:t>
            </a:r>
            <a:r>
              <a:rPr b="0" lang="en-US" sz="1300" spc="-1" strike="noStrike">
                <a:solidFill>
                  <a:srgbClr val="1f2933"/>
                </a:solidFill>
                <a:latin typeface="Consolas"/>
                <a:ea typeface="Consolas"/>
              </a:rPr>
              <a:t> PedidoId </a:t>
            </a:r>
            <a:r>
              <a:rPr b="1" lang="en-US" sz="1300" spc="-1" strike="noStrike">
                <a:solidFill>
                  <a:srgbClr val="1d4ed8"/>
                </a:solidFill>
                <a:latin typeface="Consolas"/>
                <a:ea typeface="Consolas"/>
              </a:rPr>
              <a:t>FROM</a:t>
            </a:r>
            <a:r>
              <a:rPr b="0" lang="en-US" sz="1300" spc="-1" strike="noStrike">
                <a:solidFill>
                  <a:srgbClr val="1f2933"/>
                </a:solidFill>
                <a:latin typeface="Consolas"/>
                <a:ea typeface="Consolas"/>
              </a:rPr>
              <a:t> dbo.Pedido</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WHERE</a:t>
            </a:r>
            <a:r>
              <a:rPr b="0" lang="en-US" sz="1300" spc="-1" strike="noStrike">
                <a:solidFill>
                  <a:srgbClr val="1f2933"/>
                </a:solidFill>
                <a:latin typeface="Consolas"/>
                <a:ea typeface="Consolas"/>
              </a:rPr>
              <a:t> YEAR(FechaPedido) = </a:t>
            </a:r>
            <a:r>
              <a:rPr b="0" lang="en-US" sz="1300" spc="-1" strike="noStrike">
                <a:solidFill>
                  <a:srgbClr val="9a3412"/>
                </a:solidFill>
                <a:latin typeface="Consolas"/>
                <a:ea typeface="Consolas"/>
              </a:rPr>
              <a:t>2024</a:t>
            </a:r>
            <a:r>
              <a:rPr b="0" lang="en-US" sz="1300" spc="-1" strike="noStrike">
                <a:solidFill>
                  <a:srgbClr val="1f2933"/>
                </a:solidFill>
                <a:latin typeface="Consolas"/>
                <a:ea typeface="Consolas"/>
              </a:rPr>
              <a:t>;</a:t>
            </a:r>
            <a:endParaRPr b="0" lang="es-ES" sz="1300" spc="-1" strike="noStrike">
              <a:latin typeface="Arial"/>
            </a:endParaRPr>
          </a:p>
          <a:p>
            <a:pPr>
              <a:lnSpc>
                <a:spcPct val="100000"/>
              </a:lnSpc>
              <a:tabLst>
                <a:tab algn="l" pos="0"/>
              </a:tabLst>
            </a:pPr>
            <a:r>
              <a:rPr b="0" i="1" lang="en-US" sz="1300" spc="-1" strike="noStrike">
                <a:solidFill>
                  <a:srgbClr val="6b7280"/>
                </a:solidFill>
                <a:latin typeface="Consolas"/>
                <a:ea typeface="Consolas"/>
              </a:rPr>
              <a:t>-- B) SARGable: rango</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SELECT</a:t>
            </a:r>
            <a:r>
              <a:rPr b="0" lang="en-US" sz="1300" spc="-1" strike="noStrike">
                <a:solidFill>
                  <a:srgbClr val="1f2933"/>
                </a:solidFill>
                <a:latin typeface="Consolas"/>
                <a:ea typeface="Consolas"/>
              </a:rPr>
              <a:t> PedidoId </a:t>
            </a:r>
            <a:r>
              <a:rPr b="1" lang="en-US" sz="1300" spc="-1" strike="noStrike">
                <a:solidFill>
                  <a:srgbClr val="1d4ed8"/>
                </a:solidFill>
                <a:latin typeface="Consolas"/>
                <a:ea typeface="Consolas"/>
              </a:rPr>
              <a:t>FROM</a:t>
            </a:r>
            <a:r>
              <a:rPr b="0" lang="en-US" sz="1300" spc="-1" strike="noStrike">
                <a:solidFill>
                  <a:srgbClr val="1f2933"/>
                </a:solidFill>
                <a:latin typeface="Consolas"/>
                <a:ea typeface="Consolas"/>
              </a:rPr>
              <a:t> dbo.Pedido</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WHERE</a:t>
            </a:r>
            <a:r>
              <a:rPr b="0" lang="en-US" sz="1300" spc="-1" strike="noStrike">
                <a:solidFill>
                  <a:srgbClr val="1f2933"/>
                </a:solidFill>
                <a:latin typeface="Consolas"/>
                <a:ea typeface="Consolas"/>
              </a:rPr>
              <a:t> FechaPedido &gt;= </a:t>
            </a:r>
            <a:r>
              <a:rPr b="0" lang="en-US" sz="1300" spc="-1" strike="noStrike">
                <a:solidFill>
                  <a:srgbClr val="b4441f"/>
                </a:solidFill>
                <a:latin typeface="Consolas"/>
                <a:ea typeface="Consolas"/>
              </a:rPr>
              <a:t>'20240101'</a:t>
            </a:r>
            <a:endParaRPr b="0" lang="es-ES" sz="1300" spc="-1" strike="noStrike">
              <a:latin typeface="Arial"/>
            </a:endParaRPr>
          </a:p>
          <a:p>
            <a:pPr>
              <a:lnSpc>
                <a:spcPct val="100000"/>
              </a:lnSpc>
              <a:tabLst>
                <a:tab algn="l" pos="0"/>
              </a:tabLst>
            </a:pPr>
            <a:r>
              <a:rPr b="0" lang="en-US" sz="1300" spc="-1" strike="noStrike">
                <a:solidFill>
                  <a:srgbClr val="1f2933"/>
                </a:solidFill>
                <a:latin typeface="Consolas"/>
                <a:ea typeface="Consolas"/>
              </a:rPr>
              <a:t>  </a:t>
            </a:r>
            <a:r>
              <a:rPr b="1" lang="en-US" sz="1300" spc="-1" strike="noStrike">
                <a:solidFill>
                  <a:srgbClr val="1d4ed8"/>
                </a:solidFill>
                <a:latin typeface="Consolas"/>
                <a:ea typeface="Consolas"/>
              </a:rPr>
              <a:t>AND</a:t>
            </a:r>
            <a:r>
              <a:rPr b="0" lang="en-US" sz="1300" spc="-1" strike="noStrike">
                <a:solidFill>
                  <a:srgbClr val="1f2933"/>
                </a:solidFill>
                <a:latin typeface="Consolas"/>
                <a:ea typeface="Consolas"/>
              </a:rPr>
              <a:t> FechaPedido &lt;  </a:t>
            </a:r>
            <a:r>
              <a:rPr b="0" lang="en-US" sz="1300" spc="-1" strike="noStrike">
                <a:solidFill>
                  <a:srgbClr val="b4441f"/>
                </a:solidFill>
                <a:latin typeface="Consolas"/>
                <a:ea typeface="Consolas"/>
              </a:rPr>
              <a:t>'20250101'</a:t>
            </a:r>
            <a:r>
              <a:rPr b="0" lang="en-US" sz="1300" spc="-1" strike="noStrike">
                <a:solidFill>
                  <a:srgbClr val="1f2933"/>
                </a:solidFill>
                <a:latin typeface="Consolas"/>
                <a:ea typeface="Consolas"/>
              </a:rPr>
              <a:t>;</a:t>
            </a:r>
            <a:endParaRPr b="0" lang="es-ES" sz="1300" spc="-1" strike="noStrike">
              <a:latin typeface="Arial"/>
            </a:endParaRPr>
          </a:p>
          <a:p>
            <a:pPr>
              <a:lnSpc>
                <a:spcPct val="100000"/>
              </a:lnSpc>
              <a:tabLst>
                <a:tab algn="l" pos="0"/>
              </a:tabLst>
            </a:pPr>
            <a:r>
              <a:rPr b="0" i="1" lang="en-US" sz="1300" spc="-1" strike="noStrike">
                <a:solidFill>
                  <a:srgbClr val="6b7280"/>
                </a:solidFill>
                <a:latin typeface="Consolas"/>
                <a:ea typeface="Consolas"/>
              </a:rPr>
              <a:t>-- C) Seek + Key Lookup (pide Total)</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SELECT</a:t>
            </a:r>
            <a:r>
              <a:rPr b="0" lang="en-US" sz="1300" spc="-1" strike="noStrike">
                <a:solidFill>
                  <a:srgbClr val="1f2933"/>
                </a:solidFill>
                <a:latin typeface="Consolas"/>
                <a:ea typeface="Consolas"/>
              </a:rPr>
              <a:t> PedidoId, Total </a:t>
            </a:r>
            <a:r>
              <a:rPr b="1" lang="en-US" sz="1300" spc="-1" strike="noStrike">
                <a:solidFill>
                  <a:srgbClr val="1d4ed8"/>
                </a:solidFill>
                <a:latin typeface="Consolas"/>
                <a:ea typeface="Consolas"/>
              </a:rPr>
              <a:t>FROM</a:t>
            </a:r>
            <a:r>
              <a:rPr b="0" lang="en-US" sz="1300" spc="-1" strike="noStrike">
                <a:solidFill>
                  <a:srgbClr val="1f2933"/>
                </a:solidFill>
                <a:latin typeface="Consolas"/>
                <a:ea typeface="Consolas"/>
              </a:rPr>
              <a:t> dbo.Pedido</a:t>
            </a:r>
            <a:endParaRPr b="0" lang="es-ES" sz="1300" spc="-1" strike="noStrike">
              <a:latin typeface="Arial"/>
            </a:endParaRPr>
          </a:p>
          <a:p>
            <a:pPr>
              <a:lnSpc>
                <a:spcPct val="100000"/>
              </a:lnSpc>
              <a:tabLst>
                <a:tab algn="l" pos="0"/>
              </a:tabLst>
            </a:pPr>
            <a:r>
              <a:rPr b="1" lang="en-US" sz="1300" spc="-1" strike="noStrike">
                <a:solidFill>
                  <a:srgbClr val="1d4ed8"/>
                </a:solidFill>
                <a:latin typeface="Consolas"/>
                <a:ea typeface="Consolas"/>
              </a:rPr>
              <a:t>WHERE</a:t>
            </a:r>
            <a:r>
              <a:rPr b="0" lang="en-US" sz="1300" spc="-1" strike="noStrike">
                <a:solidFill>
                  <a:srgbClr val="1f2933"/>
                </a:solidFill>
                <a:latin typeface="Consolas"/>
                <a:ea typeface="Consolas"/>
              </a:rPr>
              <a:t> FechaPedido = </a:t>
            </a:r>
            <a:r>
              <a:rPr b="0" lang="en-US" sz="1300" spc="-1" strike="noStrike">
                <a:solidFill>
                  <a:srgbClr val="b4441f"/>
                </a:solidFill>
                <a:latin typeface="Consolas"/>
                <a:ea typeface="Consolas"/>
              </a:rPr>
              <a:t>'20240315'</a:t>
            </a:r>
            <a:r>
              <a:rPr b="0" lang="en-US" sz="1300" spc="-1" strike="noStrike">
                <a:solidFill>
                  <a:srgbClr val="1f2933"/>
                </a:solidFill>
                <a:latin typeface="Consolas"/>
                <a:ea typeface="Consolas"/>
              </a:rPr>
              <a:t>;</a:t>
            </a:r>
            <a:endParaRPr b="0" lang="es-ES" sz="1300" spc="-1" strike="noStrike">
              <a:latin typeface="Arial"/>
            </a:endParaRPr>
          </a:p>
        </p:txBody>
      </p:sp>
      <p:graphicFrame>
        <p:nvGraphicFramePr>
          <p:cNvPr id="1428" name="Table 8"/>
          <p:cNvGraphicFramePr/>
          <p:nvPr/>
        </p:nvGraphicFramePr>
        <p:xfrm>
          <a:off x="7132320" y="1600200"/>
          <a:ext cx="4507560" cy="1980360"/>
        </p:xfrm>
        <a:graphic>
          <a:graphicData uri="http://schemas.openxmlformats.org/drawingml/2006/table">
            <a:tbl>
              <a:tblPr/>
              <a:tblGrid>
                <a:gridCol w="2286000"/>
                <a:gridCol w="2221920"/>
              </a:tblGrid>
              <a:tr h="396000">
                <a:tc>
                  <a:txBody>
                    <a:bodyPr lIns="109440" rIns="109440">
                      <a:noAutofit/>
                    </a:bodyPr>
                    <a:p>
                      <a:pPr>
                        <a:lnSpc>
                          <a:spcPct val="100000"/>
                        </a:lnSpc>
                        <a:tabLst>
                          <a:tab algn="l" pos="0"/>
                        </a:tabLst>
                      </a:pPr>
                      <a:r>
                        <a:rPr b="1" lang="en-US" sz="1400" spc="-1" strike="noStrike">
                          <a:solidFill>
                            <a:srgbClr val="ffffff"/>
                          </a:solidFill>
                          <a:latin typeface="Calibri"/>
                          <a:ea typeface="Calibri"/>
                        </a:rPr>
                        <a:t>Qué anotar</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c>
                  <a:txBody>
                    <a:bodyPr lIns="109440" rIns="109440">
                      <a:noAutofit/>
                    </a:bodyPr>
                    <a:p>
                      <a:pPr>
                        <a:lnSpc>
                          <a:spcPct val="100000"/>
                        </a:lnSpc>
                        <a:tabLst>
                          <a:tab algn="l" pos="0"/>
                        </a:tabLst>
                      </a:pPr>
                      <a:r>
                        <a:rPr b="1" lang="en-US" sz="1400" spc="-1" strike="noStrike">
                          <a:solidFill>
                            <a:srgbClr val="ffffff"/>
                          </a:solidFill>
                          <a:latin typeface="Calibri"/>
                          <a:ea typeface="Calibri"/>
                        </a:rPr>
                        <a:t>Dónde verlo</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r>
              <a:tr h="396000">
                <a:tc>
                  <a:txBody>
                    <a:bodyPr lIns="109440" rIns="109440">
                      <a:noAutofit/>
                    </a:bodyPr>
                    <a:p>
                      <a:pPr>
                        <a:lnSpc>
                          <a:spcPct val="100000"/>
                        </a:lnSpc>
                        <a:tabLst>
                          <a:tab algn="l" pos="0"/>
                        </a:tabLst>
                      </a:pPr>
                      <a:r>
                        <a:rPr b="1" lang="en-US" sz="1400" spc="-1" strike="noStrike">
                          <a:solidFill>
                            <a:srgbClr val="0b2545"/>
                          </a:solidFill>
                          <a:latin typeface="Calibri"/>
                          <a:ea typeface="Calibri"/>
                        </a:rPr>
                        <a:t>Operador (Scan/Seek)</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Plan real (Ctrl+M)</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r h="396000">
                <a:tc>
                  <a:txBody>
                    <a:bodyPr lIns="109440" rIns="109440">
                      <a:noAutofit/>
                    </a:bodyPr>
                    <a:p>
                      <a:pPr>
                        <a:lnSpc>
                          <a:spcPct val="100000"/>
                        </a:lnSpc>
                        <a:tabLst>
                          <a:tab algn="l" pos="0"/>
                        </a:tabLst>
                      </a:pPr>
                      <a:r>
                        <a:rPr b="1" lang="en-US" sz="1400" spc="-1" strike="noStrike">
                          <a:solidFill>
                            <a:srgbClr val="0b2545"/>
                          </a:solidFill>
                          <a:latin typeface="Calibri"/>
                          <a:ea typeface="Calibri"/>
                        </a:rPr>
                        <a:t>Logical reads</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Pestaña Messages</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r>
              <a:tr h="396000">
                <a:tc>
                  <a:txBody>
                    <a:bodyPr lIns="109440" rIns="109440">
                      <a:noAutofit/>
                    </a:bodyPr>
                    <a:p>
                      <a:pPr>
                        <a:lnSpc>
                          <a:spcPct val="100000"/>
                        </a:lnSpc>
                        <a:tabLst>
                          <a:tab algn="l" pos="0"/>
                        </a:tabLst>
                      </a:pPr>
                      <a:r>
                        <a:rPr b="1" lang="en-US" sz="1400" spc="-1" strike="noStrike">
                          <a:solidFill>
                            <a:srgbClr val="0b2545"/>
                          </a:solidFill>
                          <a:latin typeface="Calibri"/>
                          <a:ea typeface="Calibri"/>
                        </a:rPr>
                        <a:t>Estimated vs Actual</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Propiedades (F4)</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r h="396720">
                <a:tc>
                  <a:txBody>
                    <a:bodyPr lIns="109440" rIns="109440">
                      <a:noAutofit/>
                    </a:bodyPr>
                    <a:p>
                      <a:pPr>
                        <a:lnSpc>
                          <a:spcPct val="100000"/>
                        </a:lnSpc>
                        <a:tabLst>
                          <a:tab algn="l" pos="0"/>
                        </a:tabLst>
                      </a:pPr>
                      <a:r>
                        <a:rPr b="1" lang="en-US" sz="1400" spc="-1" strike="noStrike">
                          <a:solidFill>
                            <a:srgbClr val="0b2545"/>
                          </a:solidFill>
                          <a:latin typeface="Calibri"/>
                          <a:ea typeface="Calibri"/>
                        </a:rPr>
                        <a:t>Warnings</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400" spc="-1" strike="noStrike">
                          <a:solidFill>
                            <a:srgbClr val="1f2933"/>
                          </a:solidFill>
                          <a:latin typeface="Calibri"/>
                          <a:ea typeface="Calibri"/>
                        </a:rPr>
                        <a:t>Triángulo amarillo</a:t>
                      </a:r>
                      <a:endParaRPr b="0" lang="es-ES" sz="14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r>
            </a:tbl>
          </a:graphicData>
        </a:graphic>
      </p:graphicFrame>
      <p:sp>
        <p:nvSpPr>
          <p:cNvPr id="1429" name="CustomShape 9"/>
          <p:cNvSpPr/>
          <p:nvPr/>
        </p:nvSpPr>
        <p:spPr>
          <a:xfrm>
            <a:off x="7132320" y="4023360"/>
            <a:ext cx="4505400" cy="1186200"/>
          </a:xfrm>
          <a:prstGeom prst="roundRect">
            <a:avLst>
              <a:gd name="adj" fmla="val 9231"/>
            </a:avLst>
          </a:prstGeom>
          <a:solidFill>
            <a:srgbClr val="fdede8"/>
          </a:solidFill>
          <a:ln>
            <a:noFill/>
          </a:ln>
        </p:spPr>
        <p:style>
          <a:lnRef idx="0"/>
          <a:fillRef idx="0"/>
          <a:effectRef idx="0"/>
          <a:fontRef idx="minor"/>
        </p:style>
      </p:sp>
      <p:sp>
        <p:nvSpPr>
          <p:cNvPr id="1430" name="CustomShape 10"/>
          <p:cNvSpPr/>
          <p:nvPr/>
        </p:nvSpPr>
        <p:spPr>
          <a:xfrm>
            <a:off x="7315200" y="4389120"/>
            <a:ext cx="454680" cy="454680"/>
          </a:xfrm>
          <a:prstGeom prst="ellipse">
            <a:avLst/>
          </a:prstGeom>
          <a:solidFill>
            <a:srgbClr val="d95d39"/>
          </a:solidFill>
          <a:ln>
            <a:noFill/>
          </a:ln>
        </p:spPr>
        <p:style>
          <a:lnRef idx="0"/>
          <a:fillRef idx="0"/>
          <a:effectRef idx="0"/>
          <a:fontRef idx="minor"/>
        </p:style>
      </p:sp>
      <p:pic>
        <p:nvPicPr>
          <p:cNvPr id="1431" name="Image 0" descr="preencoded.png"/>
          <p:cNvPicPr/>
          <p:nvPr/>
        </p:nvPicPr>
        <p:blipFill>
          <a:blip r:embed="rId1"/>
          <a:stretch/>
        </p:blipFill>
        <p:spPr>
          <a:xfrm>
            <a:off x="7429680" y="4503600"/>
            <a:ext cx="226080" cy="226080"/>
          </a:xfrm>
          <a:prstGeom prst="rect">
            <a:avLst/>
          </a:prstGeom>
          <a:ln>
            <a:noFill/>
          </a:ln>
        </p:spPr>
      </p:pic>
      <p:sp>
        <p:nvSpPr>
          <p:cNvPr id="1432" name="CustomShape 11"/>
          <p:cNvSpPr/>
          <p:nvPr/>
        </p:nvSpPr>
        <p:spPr>
          <a:xfrm>
            <a:off x="7955280" y="4023360"/>
            <a:ext cx="3499560" cy="11862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a8431f"/>
                </a:solidFill>
                <a:latin typeface="Calibri"/>
                <a:ea typeface="Calibri"/>
              </a:rPr>
              <a:t>Trampa: </a:t>
            </a:r>
            <a:r>
              <a:rPr b="0" lang="en-US" sz="1400" spc="-1" strike="noStrike">
                <a:solidFill>
                  <a:srgbClr val="1f2933"/>
                </a:solidFill>
                <a:latin typeface="Calibri"/>
                <a:ea typeface="Calibri"/>
              </a:rPr>
              <a:t>compara siempre planes reales y repite cada consulta 2–3 veces.</a:t>
            </a:r>
            <a:endParaRPr b="0" lang="es-ES" sz="1400" spc="-1" strike="noStrike">
              <a:latin typeface="Arial"/>
            </a:endParaRPr>
          </a:p>
        </p:txBody>
      </p:sp>
      <p:sp>
        <p:nvSpPr>
          <p:cNvPr id="1433" name="CustomShape 12"/>
          <p:cNvSpPr/>
          <p:nvPr/>
        </p:nvSpPr>
        <p:spPr>
          <a:xfrm>
            <a:off x="548640" y="5486400"/>
            <a:ext cx="11089080" cy="683280"/>
          </a:xfrm>
          <a:prstGeom prst="roundRect">
            <a:avLst>
              <a:gd name="adj" fmla="val 16000"/>
            </a:avLst>
          </a:prstGeom>
          <a:solidFill>
            <a:srgbClr val="e8eef5"/>
          </a:solidFill>
          <a:ln>
            <a:noFill/>
          </a:ln>
        </p:spPr>
        <p:style>
          <a:lnRef idx="0"/>
          <a:fillRef idx="0"/>
          <a:effectRef idx="0"/>
          <a:fontRef idx="minor"/>
        </p:style>
      </p:sp>
      <p:sp>
        <p:nvSpPr>
          <p:cNvPr id="1434" name="CustomShape 13"/>
          <p:cNvSpPr/>
          <p:nvPr/>
        </p:nvSpPr>
        <p:spPr>
          <a:xfrm>
            <a:off x="731520" y="5600880"/>
            <a:ext cx="454680" cy="454680"/>
          </a:xfrm>
          <a:prstGeom prst="ellipse">
            <a:avLst/>
          </a:prstGeom>
          <a:solidFill>
            <a:srgbClr val="134074"/>
          </a:solidFill>
          <a:ln>
            <a:noFill/>
          </a:ln>
        </p:spPr>
        <p:style>
          <a:lnRef idx="0"/>
          <a:fillRef idx="0"/>
          <a:effectRef idx="0"/>
          <a:fontRef idx="minor"/>
        </p:style>
      </p:sp>
      <p:pic>
        <p:nvPicPr>
          <p:cNvPr id="1435" name="Image 1" descr="preencoded.png"/>
          <p:cNvPicPr/>
          <p:nvPr/>
        </p:nvPicPr>
        <p:blipFill>
          <a:blip r:embed="rId2"/>
          <a:stretch/>
        </p:blipFill>
        <p:spPr>
          <a:xfrm>
            <a:off x="846000" y="5715000"/>
            <a:ext cx="226080" cy="226080"/>
          </a:xfrm>
          <a:prstGeom prst="rect">
            <a:avLst/>
          </a:prstGeom>
          <a:ln>
            <a:noFill/>
          </a:ln>
        </p:spPr>
      </p:pic>
      <p:sp>
        <p:nvSpPr>
          <p:cNvPr id="1436" name="CustomShape 14"/>
          <p:cNvSpPr/>
          <p:nvPr/>
        </p:nvSpPr>
        <p:spPr>
          <a:xfrm>
            <a:off x="1371600" y="5486400"/>
            <a:ext cx="1008324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2545"/>
                </a:solidFill>
                <a:latin typeface="Calibri"/>
                <a:ea typeface="Calibri"/>
              </a:rPr>
              <a:t>Entrega: </a:t>
            </a:r>
            <a:r>
              <a:rPr b="0" lang="en-US" sz="1400" spc="-1" strike="noStrike">
                <a:solidFill>
                  <a:srgbClr val="1f2933"/>
                </a:solidFill>
                <a:latin typeface="Calibri"/>
                <a:ea typeface="Calibri"/>
              </a:rPr>
              <a:t>tabla con operador, lecturas lógicas y desviación estimado/real de A, B y C.</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437" name="CustomShape 1"/>
          <p:cNvSpPr/>
          <p:nvPr/>
        </p:nvSpPr>
        <p:spPr>
          <a:xfrm>
            <a:off x="548640" y="365760"/>
            <a:ext cx="2973960" cy="271800"/>
          </a:xfrm>
          <a:prstGeom prst="roundRect">
            <a:avLst>
              <a:gd name="adj" fmla="val 50000"/>
            </a:avLst>
          </a:prstGeom>
          <a:solidFill>
            <a:srgbClr val="d95d39"/>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LABORATORIO · LABORATORIO 3.3</a:t>
            </a:r>
            <a:endParaRPr b="0" lang="es-ES" sz="1000" spc="-1" strike="noStrike">
              <a:latin typeface="Arial"/>
            </a:endParaRPr>
          </a:p>
        </p:txBody>
      </p:sp>
      <p:sp>
        <p:nvSpPr>
          <p:cNvPr id="1438"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Lab 3.3 · Cuellos de botella con DMVs</a:t>
            </a:r>
            <a:endParaRPr b="0" lang="es-ES" sz="3400" spc="-1" strike="noStrike">
              <a:latin typeface="Arial"/>
            </a:endParaRPr>
          </a:p>
        </p:txBody>
      </p:sp>
      <p:sp>
        <p:nvSpPr>
          <p:cNvPr id="1439"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440"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3   60</a:t>
            </a:r>
            <a:endParaRPr b="0" lang="es-ES" sz="1000" spc="-1" strike="noStrike">
              <a:latin typeface="Arial"/>
            </a:endParaRPr>
          </a:p>
        </p:txBody>
      </p:sp>
      <p:sp>
        <p:nvSpPr>
          <p:cNvPr id="1441" name="CustomShape 5"/>
          <p:cNvSpPr/>
          <p:nvPr/>
        </p:nvSpPr>
        <p:spPr>
          <a:xfrm>
            <a:off x="548640" y="1600200"/>
            <a:ext cx="11089080" cy="698400"/>
          </a:xfrm>
          <a:prstGeom prst="roundRect">
            <a:avLst>
              <a:gd name="adj" fmla="val 15652"/>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442" name="CustomShape 6"/>
          <p:cNvSpPr/>
          <p:nvPr/>
        </p:nvSpPr>
        <p:spPr>
          <a:xfrm>
            <a:off x="777240" y="1699200"/>
            <a:ext cx="500400" cy="500400"/>
          </a:xfrm>
          <a:prstGeom prst="ellipse">
            <a:avLst/>
          </a:prstGeom>
          <a:solidFill>
            <a:srgbClr val="134074"/>
          </a:solidFill>
          <a:ln>
            <a:noFill/>
          </a:ln>
        </p:spPr>
        <p:style>
          <a:lnRef idx="0"/>
          <a:fillRef idx="0"/>
          <a:effectRef idx="0"/>
          <a:fontRef idx="minor"/>
        </p:style>
      </p:sp>
      <p:sp>
        <p:nvSpPr>
          <p:cNvPr id="1443" name="CustomShape 7"/>
          <p:cNvSpPr/>
          <p:nvPr/>
        </p:nvSpPr>
        <p:spPr>
          <a:xfrm>
            <a:off x="777240" y="16992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1</a:t>
            </a:r>
            <a:endParaRPr b="0" lang="es-ES" sz="1800" spc="-1" strike="noStrike">
              <a:latin typeface="Arial"/>
            </a:endParaRPr>
          </a:p>
        </p:txBody>
      </p:sp>
      <p:sp>
        <p:nvSpPr>
          <p:cNvPr id="1444" name="CustomShape 8"/>
          <p:cNvSpPr/>
          <p:nvPr/>
        </p:nvSpPr>
        <p:spPr>
          <a:xfrm>
            <a:off x="1508760" y="1600200"/>
            <a:ext cx="2466360" cy="6984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600" spc="-1" strike="noStrike">
                <a:solidFill>
                  <a:srgbClr val="0b2545"/>
                </a:solidFill>
                <a:latin typeface="Calibri"/>
                <a:ea typeface="Calibri"/>
              </a:rPr>
              <a:t>Provocar un bloqueo</a:t>
            </a:r>
            <a:endParaRPr b="0" lang="es-ES" sz="1600" spc="-1" strike="noStrike">
              <a:latin typeface="Arial"/>
            </a:endParaRPr>
          </a:p>
        </p:txBody>
      </p:sp>
      <p:sp>
        <p:nvSpPr>
          <p:cNvPr id="1445" name="CustomShape 9"/>
          <p:cNvSpPr/>
          <p:nvPr/>
        </p:nvSpPr>
        <p:spPr>
          <a:xfrm>
            <a:off x="4114800" y="1600200"/>
            <a:ext cx="7294320" cy="6984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400" spc="-1" strike="noStrike">
                <a:solidFill>
                  <a:srgbClr val="1f2933"/>
                </a:solidFill>
                <a:latin typeface="Calibri"/>
                <a:ea typeface="Calibri"/>
              </a:rPr>
              <a:t>Sesión 1 abre una transacción con UPDATE sin COMMIT; Sesión 2 ejecuta un SELECT.</a:t>
            </a:r>
            <a:endParaRPr b="0" lang="es-ES" sz="1400" spc="-1" strike="noStrike">
              <a:latin typeface="Arial"/>
            </a:endParaRPr>
          </a:p>
        </p:txBody>
      </p:sp>
      <p:sp>
        <p:nvSpPr>
          <p:cNvPr id="1446" name="CustomShape 10"/>
          <p:cNvSpPr/>
          <p:nvPr/>
        </p:nvSpPr>
        <p:spPr>
          <a:xfrm>
            <a:off x="548640" y="2484000"/>
            <a:ext cx="11089080" cy="698400"/>
          </a:xfrm>
          <a:prstGeom prst="roundRect">
            <a:avLst>
              <a:gd name="adj" fmla="val 15652"/>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447" name="CustomShape 11"/>
          <p:cNvSpPr/>
          <p:nvPr/>
        </p:nvSpPr>
        <p:spPr>
          <a:xfrm>
            <a:off x="777240" y="2583360"/>
            <a:ext cx="500400" cy="500400"/>
          </a:xfrm>
          <a:prstGeom prst="ellipse">
            <a:avLst/>
          </a:prstGeom>
          <a:solidFill>
            <a:srgbClr val="134074"/>
          </a:solidFill>
          <a:ln>
            <a:noFill/>
          </a:ln>
        </p:spPr>
        <p:style>
          <a:lnRef idx="0"/>
          <a:fillRef idx="0"/>
          <a:effectRef idx="0"/>
          <a:fontRef idx="minor"/>
        </p:style>
      </p:sp>
      <p:sp>
        <p:nvSpPr>
          <p:cNvPr id="1448" name="CustomShape 12"/>
          <p:cNvSpPr/>
          <p:nvPr/>
        </p:nvSpPr>
        <p:spPr>
          <a:xfrm>
            <a:off x="777240" y="258336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2</a:t>
            </a:r>
            <a:endParaRPr b="0" lang="es-ES" sz="1800" spc="-1" strike="noStrike">
              <a:latin typeface="Arial"/>
            </a:endParaRPr>
          </a:p>
        </p:txBody>
      </p:sp>
      <p:sp>
        <p:nvSpPr>
          <p:cNvPr id="1449" name="CustomShape 13"/>
          <p:cNvSpPr/>
          <p:nvPr/>
        </p:nvSpPr>
        <p:spPr>
          <a:xfrm>
            <a:off x="1508760" y="2484000"/>
            <a:ext cx="2466360" cy="6984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600" spc="-1" strike="noStrike">
                <a:solidFill>
                  <a:srgbClr val="0b2545"/>
                </a:solidFill>
                <a:latin typeface="Calibri"/>
                <a:ea typeface="Calibri"/>
              </a:rPr>
              <a:t>Localizar la espera</a:t>
            </a:r>
            <a:endParaRPr b="0" lang="es-ES" sz="1600" spc="-1" strike="noStrike">
              <a:latin typeface="Arial"/>
            </a:endParaRPr>
          </a:p>
        </p:txBody>
      </p:sp>
      <p:sp>
        <p:nvSpPr>
          <p:cNvPr id="1450" name="CustomShape 14"/>
          <p:cNvSpPr/>
          <p:nvPr/>
        </p:nvSpPr>
        <p:spPr>
          <a:xfrm>
            <a:off x="4114800" y="2484000"/>
            <a:ext cx="7294320" cy="6984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400" spc="-1" strike="noStrike">
                <a:solidFill>
                  <a:srgbClr val="1f2933"/>
                </a:solidFill>
                <a:latin typeface="Calibri"/>
                <a:ea typeface="Calibri"/>
              </a:rPr>
              <a:t>En Sesión 3 consulta sys.dm_exec_requests y sys.dm_os_waiting_tasks (LCK_M_S).</a:t>
            </a:r>
            <a:endParaRPr b="0" lang="es-ES" sz="1400" spc="-1" strike="noStrike">
              <a:latin typeface="Arial"/>
            </a:endParaRPr>
          </a:p>
        </p:txBody>
      </p:sp>
      <p:sp>
        <p:nvSpPr>
          <p:cNvPr id="1451" name="CustomShape 15"/>
          <p:cNvSpPr/>
          <p:nvPr/>
        </p:nvSpPr>
        <p:spPr>
          <a:xfrm>
            <a:off x="548640" y="3368160"/>
            <a:ext cx="11089080" cy="698400"/>
          </a:xfrm>
          <a:prstGeom prst="roundRect">
            <a:avLst>
              <a:gd name="adj" fmla="val 15652"/>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452" name="CustomShape 16"/>
          <p:cNvSpPr/>
          <p:nvPr/>
        </p:nvSpPr>
        <p:spPr>
          <a:xfrm>
            <a:off x="777240" y="3467160"/>
            <a:ext cx="500400" cy="500400"/>
          </a:xfrm>
          <a:prstGeom prst="ellipse">
            <a:avLst/>
          </a:prstGeom>
          <a:solidFill>
            <a:srgbClr val="134074"/>
          </a:solidFill>
          <a:ln>
            <a:noFill/>
          </a:ln>
        </p:spPr>
        <p:style>
          <a:lnRef idx="0"/>
          <a:fillRef idx="0"/>
          <a:effectRef idx="0"/>
          <a:fontRef idx="minor"/>
        </p:style>
      </p:sp>
      <p:sp>
        <p:nvSpPr>
          <p:cNvPr id="1453" name="CustomShape 17"/>
          <p:cNvSpPr/>
          <p:nvPr/>
        </p:nvSpPr>
        <p:spPr>
          <a:xfrm>
            <a:off x="777240" y="346716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3</a:t>
            </a:r>
            <a:endParaRPr b="0" lang="es-ES" sz="1800" spc="-1" strike="noStrike">
              <a:latin typeface="Arial"/>
            </a:endParaRPr>
          </a:p>
        </p:txBody>
      </p:sp>
      <p:sp>
        <p:nvSpPr>
          <p:cNvPr id="1454" name="CustomShape 18"/>
          <p:cNvSpPr/>
          <p:nvPr/>
        </p:nvSpPr>
        <p:spPr>
          <a:xfrm>
            <a:off x="1508760" y="3368160"/>
            <a:ext cx="2466360" cy="6984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600" spc="-1" strike="noStrike">
                <a:solidFill>
                  <a:srgbClr val="0b2545"/>
                </a:solidFill>
                <a:latin typeface="Calibri"/>
                <a:ea typeface="Calibri"/>
              </a:rPr>
              <a:t>Resolver y revisar</a:t>
            </a:r>
            <a:endParaRPr b="0" lang="es-ES" sz="1600" spc="-1" strike="noStrike">
              <a:latin typeface="Arial"/>
            </a:endParaRPr>
          </a:p>
        </p:txBody>
      </p:sp>
      <p:sp>
        <p:nvSpPr>
          <p:cNvPr id="1455" name="CustomShape 19"/>
          <p:cNvSpPr/>
          <p:nvPr/>
        </p:nvSpPr>
        <p:spPr>
          <a:xfrm>
            <a:off x="4114800" y="3368160"/>
            <a:ext cx="7294320" cy="6984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400" spc="-1" strike="noStrike">
                <a:solidFill>
                  <a:srgbClr val="1f2933"/>
                </a:solidFill>
                <a:latin typeface="Calibri"/>
                <a:ea typeface="Calibri"/>
              </a:rPr>
              <a:t>Identifica al head blocker, haz ROLLBACK y revisa sys.dm_os_wait_stats.</a:t>
            </a:r>
            <a:endParaRPr b="0" lang="es-ES" sz="1400" spc="-1" strike="noStrike">
              <a:latin typeface="Arial"/>
            </a:endParaRPr>
          </a:p>
        </p:txBody>
      </p:sp>
      <p:sp>
        <p:nvSpPr>
          <p:cNvPr id="1456" name="CustomShape 20"/>
          <p:cNvSpPr/>
          <p:nvPr/>
        </p:nvSpPr>
        <p:spPr>
          <a:xfrm>
            <a:off x="548640" y="4343400"/>
            <a:ext cx="5392440" cy="1826280"/>
          </a:xfrm>
          <a:prstGeom prst="roundRect">
            <a:avLst>
              <a:gd name="adj" fmla="val 5000"/>
            </a:avLst>
          </a:prstGeom>
          <a:solidFill>
            <a:srgbClr val="eceff3"/>
          </a:solidFill>
          <a:ln w="9360">
            <a:solidFill>
              <a:srgbClr val="d0d7de"/>
            </a:solidFill>
            <a:round/>
          </a:ln>
        </p:spPr>
        <p:style>
          <a:lnRef idx="0"/>
          <a:fillRef idx="0"/>
          <a:effectRef idx="0"/>
          <a:fontRef idx="minor"/>
        </p:style>
      </p:sp>
      <p:sp>
        <p:nvSpPr>
          <p:cNvPr id="1457" name="CustomShape 21"/>
          <p:cNvSpPr/>
          <p:nvPr/>
        </p:nvSpPr>
        <p:spPr>
          <a:xfrm>
            <a:off x="731520" y="44348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SESIONES 1 Y 2</a:t>
            </a:r>
            <a:endParaRPr b="0" lang="es-ES" sz="1000" spc="-1" strike="noStrike">
              <a:latin typeface="Arial"/>
            </a:endParaRPr>
          </a:p>
        </p:txBody>
      </p:sp>
      <p:sp>
        <p:nvSpPr>
          <p:cNvPr id="1458" name="CustomShape 22"/>
          <p:cNvSpPr/>
          <p:nvPr/>
        </p:nvSpPr>
        <p:spPr>
          <a:xfrm>
            <a:off x="731520" y="4709160"/>
            <a:ext cx="5026680" cy="136908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0" i="1" lang="en-US" sz="1200" spc="-1" strike="noStrike">
                <a:solidFill>
                  <a:srgbClr val="6b7280"/>
                </a:solidFill>
                <a:latin typeface="Consolas"/>
                <a:ea typeface="Consolas"/>
              </a:rPr>
              <a:t>-- Sesión 1: transacción sin cerrar</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BEGIN</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TRAN</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UPDATE</a:t>
            </a:r>
            <a:r>
              <a:rPr b="0" lang="en-US" sz="1200" spc="-1" strike="noStrike">
                <a:solidFill>
                  <a:srgbClr val="1f2933"/>
                </a:solidFill>
                <a:latin typeface="Consolas"/>
                <a:ea typeface="Consolas"/>
              </a:rPr>
              <a:t> dbo.Cliente </a:t>
            </a:r>
            <a:r>
              <a:rPr b="1" lang="en-US" sz="1200" spc="-1" strike="noStrike">
                <a:solidFill>
                  <a:srgbClr val="1d4ed8"/>
                </a:solidFill>
                <a:latin typeface="Consolas"/>
                <a:ea typeface="Consolas"/>
              </a:rPr>
              <a:t>SET</a:t>
            </a:r>
            <a:r>
              <a:rPr b="0" lang="en-US" sz="1200" spc="-1" strike="noStrike">
                <a:solidFill>
                  <a:srgbClr val="1f2933"/>
                </a:solidFill>
                <a:latin typeface="Consolas"/>
                <a:ea typeface="Consolas"/>
              </a:rPr>
              <a:t> Activo = </a:t>
            </a:r>
            <a:r>
              <a:rPr b="0" lang="en-US" sz="1200" spc="-1" strike="noStrike">
                <a:solidFill>
                  <a:srgbClr val="9a3412"/>
                </a:solidFill>
                <a:latin typeface="Consolas"/>
                <a:ea typeface="Consolas"/>
              </a:rPr>
              <a:t>0</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WHERE</a:t>
            </a:r>
            <a:r>
              <a:rPr b="0" lang="en-US" sz="1200" spc="-1" strike="noStrike">
                <a:solidFill>
                  <a:srgbClr val="1f2933"/>
                </a:solidFill>
                <a:latin typeface="Consolas"/>
                <a:ea typeface="Consolas"/>
              </a:rPr>
              <a:t> ClienteId = </a:t>
            </a:r>
            <a:r>
              <a:rPr b="0" lang="en-US" sz="1200" spc="-1" strike="noStrike">
                <a:solidFill>
                  <a:srgbClr val="9a3412"/>
                </a:solidFill>
                <a:latin typeface="Consolas"/>
                <a:ea typeface="Consolas"/>
              </a:rPr>
              <a:t>1</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i="1" lang="en-US" sz="1200" spc="-1" strike="noStrike">
                <a:solidFill>
                  <a:srgbClr val="6b7280"/>
                </a:solidFill>
                <a:latin typeface="Consolas"/>
                <a:ea typeface="Consolas"/>
              </a:rPr>
              <a:t>-- Sesión 2: queda bloqueada</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Nombre </a:t>
            </a: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dbo.Cliente</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WHERE</a:t>
            </a:r>
            <a:r>
              <a:rPr b="0" lang="en-US" sz="1200" spc="-1" strike="noStrike">
                <a:solidFill>
                  <a:srgbClr val="1f2933"/>
                </a:solidFill>
                <a:latin typeface="Consolas"/>
                <a:ea typeface="Consolas"/>
              </a:rPr>
              <a:t> ClienteId = </a:t>
            </a:r>
            <a:r>
              <a:rPr b="0" lang="en-US" sz="1200" spc="-1" strike="noStrike">
                <a:solidFill>
                  <a:srgbClr val="9a3412"/>
                </a:solidFill>
                <a:latin typeface="Consolas"/>
                <a:ea typeface="Consolas"/>
              </a:rPr>
              <a:t>1</a:t>
            </a:r>
            <a:r>
              <a:rPr b="0" lang="en-US" sz="1200" spc="-1" strike="noStrike">
                <a:solidFill>
                  <a:srgbClr val="1f2933"/>
                </a:solidFill>
                <a:latin typeface="Consolas"/>
                <a:ea typeface="Consolas"/>
              </a:rPr>
              <a:t>;</a:t>
            </a:r>
            <a:endParaRPr b="0" lang="es-ES" sz="1200" spc="-1" strike="noStrike">
              <a:latin typeface="Arial"/>
            </a:endParaRPr>
          </a:p>
        </p:txBody>
      </p:sp>
      <p:sp>
        <p:nvSpPr>
          <p:cNvPr id="1459" name="CustomShape 23"/>
          <p:cNvSpPr/>
          <p:nvPr/>
        </p:nvSpPr>
        <p:spPr>
          <a:xfrm>
            <a:off x="6245280" y="4343400"/>
            <a:ext cx="5392440" cy="1826280"/>
          </a:xfrm>
          <a:prstGeom prst="roundRect">
            <a:avLst>
              <a:gd name="adj" fmla="val 5000"/>
            </a:avLst>
          </a:prstGeom>
          <a:solidFill>
            <a:srgbClr val="eceff3"/>
          </a:solidFill>
          <a:ln w="9360">
            <a:solidFill>
              <a:srgbClr val="d0d7de"/>
            </a:solidFill>
            <a:round/>
          </a:ln>
        </p:spPr>
        <p:style>
          <a:lnRef idx="0"/>
          <a:fillRef idx="0"/>
          <a:effectRef idx="0"/>
          <a:fontRef idx="minor"/>
        </p:style>
      </p:sp>
      <p:sp>
        <p:nvSpPr>
          <p:cNvPr id="1460" name="CustomShape 24"/>
          <p:cNvSpPr/>
          <p:nvPr/>
        </p:nvSpPr>
        <p:spPr>
          <a:xfrm>
            <a:off x="6428160" y="44348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SESIÓN 3 (DBA)</a:t>
            </a:r>
            <a:endParaRPr b="0" lang="es-ES" sz="1000" spc="-1" strike="noStrike">
              <a:latin typeface="Arial"/>
            </a:endParaRPr>
          </a:p>
        </p:txBody>
      </p:sp>
      <p:sp>
        <p:nvSpPr>
          <p:cNvPr id="1461" name="CustomShape 25"/>
          <p:cNvSpPr/>
          <p:nvPr/>
        </p:nvSpPr>
        <p:spPr>
          <a:xfrm>
            <a:off x="6428160" y="4709160"/>
            <a:ext cx="5026680" cy="136908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r.session_id, r.blocking_session_id,</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r.wait_type, r.wait_time, t.</a:t>
            </a:r>
            <a:r>
              <a:rPr b="0" lang="en-US" sz="1200" spc="-1" strike="noStrike">
                <a:solidFill>
                  <a:srgbClr val="7c3aed"/>
                </a:solidFill>
                <a:latin typeface="Consolas"/>
                <a:ea typeface="Consolas"/>
              </a:rPr>
              <a:t>text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sys.dm_exec_requests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r</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CROSS</a:t>
            </a:r>
            <a:r>
              <a:rPr b="0" lang="en-US" sz="1200" spc="-1" strike="noStrike">
                <a:solidFill>
                  <a:srgbClr val="1f2933"/>
                </a:solidFill>
                <a:latin typeface="Consolas"/>
                <a:ea typeface="Consolas"/>
              </a:rPr>
              <a:t> APPLY sys.dm_exec_sql_text(r.sql_handle) 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WHERE</a:t>
            </a:r>
            <a:r>
              <a:rPr b="0" lang="en-US" sz="1200" spc="-1" strike="noStrike">
                <a:solidFill>
                  <a:srgbClr val="1f2933"/>
                </a:solidFill>
                <a:latin typeface="Consolas"/>
                <a:ea typeface="Consolas"/>
              </a:rPr>
              <a:t> r.blocking_session_id &lt;&gt; </a:t>
            </a:r>
            <a:r>
              <a:rPr b="0" lang="en-US" sz="1200" spc="-1" strike="noStrike">
                <a:solidFill>
                  <a:srgbClr val="9a3412"/>
                </a:solidFill>
                <a:latin typeface="Consolas"/>
                <a:ea typeface="Consolas"/>
              </a:rPr>
              <a:t>0</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i="1" lang="en-US" sz="1200" spc="-1" strike="noStrike">
                <a:solidFill>
                  <a:srgbClr val="6b7280"/>
                </a:solidFill>
                <a:latin typeface="Consolas"/>
                <a:ea typeface="Consolas"/>
              </a:rPr>
              <a:t>-- Resolver: ROLLBACK en la sesión 1</a:t>
            </a:r>
            <a:endParaRPr b="0" lang="es-ES" sz="1200" spc="-1" strike="noStrike">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1528"/>
        </a:solidFill>
      </p:bgPr>
    </p:bg>
    <p:spTree>
      <p:nvGrpSpPr>
        <p:cNvPr id="1" name=""/>
        <p:cNvGrpSpPr/>
        <p:nvPr/>
      </p:nvGrpSpPr>
      <p:grpSpPr>
        <a:xfrm>
          <a:off x="0" y="0"/>
          <a:ext cx="0" cy="0"/>
          <a:chOff x="0" y="0"/>
          <a:chExt cx="0" cy="0"/>
        </a:xfrm>
      </p:grpSpPr>
      <p:sp>
        <p:nvSpPr>
          <p:cNvPr id="1462" name="CustomShape 1"/>
          <p:cNvSpPr/>
          <p:nvPr/>
        </p:nvSpPr>
        <p:spPr>
          <a:xfrm>
            <a:off x="731520" y="731520"/>
            <a:ext cx="10695960" cy="9118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4000" spc="-1" strike="noStrike">
                <a:solidFill>
                  <a:srgbClr val="ffffff"/>
                </a:solidFill>
                <a:latin typeface="Calibri"/>
                <a:ea typeface="Calibri"/>
              </a:rPr>
              <a:t>Módulo 3: puntos clave</a:t>
            </a:r>
            <a:endParaRPr b="0" lang="es-ES" sz="4000" spc="-1" strike="noStrike">
              <a:latin typeface="Arial"/>
            </a:endParaRPr>
          </a:p>
        </p:txBody>
      </p:sp>
      <p:sp>
        <p:nvSpPr>
          <p:cNvPr id="1463" name="CustomShape 2"/>
          <p:cNvSpPr/>
          <p:nvPr/>
        </p:nvSpPr>
        <p:spPr>
          <a:xfrm>
            <a:off x="731520" y="2103120"/>
            <a:ext cx="2466360" cy="3106440"/>
          </a:xfrm>
          <a:prstGeom prst="roundRect">
            <a:avLst>
              <a:gd name="adj" fmla="val 4444"/>
            </a:avLst>
          </a:prstGeom>
          <a:solidFill>
            <a:srgbClr val="ffffff">
              <a:alpha val="10000"/>
            </a:srgbClr>
          </a:solidFill>
          <a:ln>
            <a:noFill/>
          </a:ln>
        </p:spPr>
        <p:style>
          <a:lnRef idx="0"/>
          <a:fillRef idx="0"/>
          <a:effectRef idx="0"/>
          <a:fontRef idx="minor"/>
        </p:style>
      </p:sp>
      <p:sp>
        <p:nvSpPr>
          <p:cNvPr id="1464" name="CustomShape 3"/>
          <p:cNvSpPr/>
          <p:nvPr/>
        </p:nvSpPr>
        <p:spPr>
          <a:xfrm>
            <a:off x="1005840" y="2377440"/>
            <a:ext cx="637560" cy="637560"/>
          </a:xfrm>
          <a:prstGeom prst="ellipse">
            <a:avLst/>
          </a:prstGeom>
          <a:solidFill>
            <a:srgbClr val="d95d39"/>
          </a:solidFill>
          <a:ln>
            <a:noFill/>
          </a:ln>
        </p:spPr>
        <p:style>
          <a:lnRef idx="0"/>
          <a:fillRef idx="0"/>
          <a:effectRef idx="0"/>
          <a:fontRef idx="minor"/>
        </p:style>
      </p:sp>
      <p:pic>
        <p:nvPicPr>
          <p:cNvPr id="1465" name="Image 0" descr="preencoded.png"/>
          <p:cNvPicPr/>
          <p:nvPr/>
        </p:nvPicPr>
        <p:blipFill>
          <a:blip r:embed="rId1"/>
          <a:stretch/>
        </p:blipFill>
        <p:spPr>
          <a:xfrm>
            <a:off x="1166040" y="2537640"/>
            <a:ext cx="317520" cy="317520"/>
          </a:xfrm>
          <a:prstGeom prst="rect">
            <a:avLst/>
          </a:prstGeom>
          <a:ln>
            <a:noFill/>
          </a:ln>
        </p:spPr>
      </p:pic>
      <p:sp>
        <p:nvSpPr>
          <p:cNvPr id="1466" name="CustomShape 4"/>
          <p:cNvSpPr/>
          <p:nvPr/>
        </p:nvSpPr>
        <p:spPr>
          <a:xfrm>
            <a:off x="1005840" y="3200400"/>
            <a:ext cx="1917720" cy="5461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800" spc="-1" strike="noStrike">
                <a:solidFill>
                  <a:srgbClr val="ffffff"/>
                </a:solidFill>
                <a:latin typeface="Calibri"/>
                <a:ea typeface="Calibri"/>
              </a:rPr>
              <a:t>Diseño de índices</a:t>
            </a:r>
            <a:endParaRPr b="0" lang="es-ES" sz="1800" spc="-1" strike="noStrike">
              <a:latin typeface="Arial"/>
            </a:endParaRPr>
          </a:p>
        </p:txBody>
      </p:sp>
      <p:sp>
        <p:nvSpPr>
          <p:cNvPr id="1467" name="CustomShape 5"/>
          <p:cNvSpPr/>
          <p:nvPr/>
        </p:nvSpPr>
        <p:spPr>
          <a:xfrm>
            <a:off x="1005840" y="3794760"/>
            <a:ext cx="1917720" cy="12776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dce6f2"/>
                </a:solidFill>
                <a:latin typeface="Calibri"/>
                <a:ea typeface="Calibri"/>
              </a:rPr>
              <a:t>Clustered estrecho y creciente; NCI con INCLUDE; vigila el coste de escritura.</a:t>
            </a:r>
            <a:endParaRPr b="0" lang="es-ES" sz="1400" spc="-1" strike="noStrike">
              <a:latin typeface="Arial"/>
            </a:endParaRPr>
          </a:p>
        </p:txBody>
      </p:sp>
      <p:sp>
        <p:nvSpPr>
          <p:cNvPr id="1468" name="CustomShape 6"/>
          <p:cNvSpPr/>
          <p:nvPr/>
        </p:nvSpPr>
        <p:spPr>
          <a:xfrm>
            <a:off x="3474720" y="2103120"/>
            <a:ext cx="2466360" cy="3106440"/>
          </a:xfrm>
          <a:prstGeom prst="roundRect">
            <a:avLst>
              <a:gd name="adj" fmla="val 4444"/>
            </a:avLst>
          </a:prstGeom>
          <a:solidFill>
            <a:srgbClr val="ffffff">
              <a:alpha val="10000"/>
            </a:srgbClr>
          </a:solidFill>
          <a:ln>
            <a:noFill/>
          </a:ln>
        </p:spPr>
        <p:style>
          <a:lnRef idx="0"/>
          <a:fillRef idx="0"/>
          <a:effectRef idx="0"/>
          <a:fontRef idx="minor"/>
        </p:style>
      </p:sp>
      <p:sp>
        <p:nvSpPr>
          <p:cNvPr id="1469" name="CustomShape 7"/>
          <p:cNvSpPr/>
          <p:nvPr/>
        </p:nvSpPr>
        <p:spPr>
          <a:xfrm>
            <a:off x="3749040" y="2377440"/>
            <a:ext cx="637560" cy="637560"/>
          </a:xfrm>
          <a:prstGeom prst="ellipse">
            <a:avLst/>
          </a:prstGeom>
          <a:solidFill>
            <a:srgbClr val="d95d39"/>
          </a:solidFill>
          <a:ln>
            <a:noFill/>
          </a:ln>
        </p:spPr>
        <p:style>
          <a:lnRef idx="0"/>
          <a:fillRef idx="0"/>
          <a:effectRef idx="0"/>
          <a:fontRef idx="minor"/>
        </p:style>
      </p:sp>
      <p:pic>
        <p:nvPicPr>
          <p:cNvPr id="1470" name="Image 1" descr="preencoded.png"/>
          <p:cNvPicPr/>
          <p:nvPr/>
        </p:nvPicPr>
        <p:blipFill>
          <a:blip r:embed="rId2"/>
          <a:stretch/>
        </p:blipFill>
        <p:spPr>
          <a:xfrm>
            <a:off x="3909240" y="2537640"/>
            <a:ext cx="317520" cy="317520"/>
          </a:xfrm>
          <a:prstGeom prst="rect">
            <a:avLst/>
          </a:prstGeom>
          <a:ln>
            <a:noFill/>
          </a:ln>
        </p:spPr>
      </p:pic>
      <p:sp>
        <p:nvSpPr>
          <p:cNvPr id="1471" name="CustomShape 8"/>
          <p:cNvSpPr/>
          <p:nvPr/>
        </p:nvSpPr>
        <p:spPr>
          <a:xfrm>
            <a:off x="3749040" y="3200400"/>
            <a:ext cx="1917720" cy="5461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800" spc="-1" strike="noStrike">
                <a:solidFill>
                  <a:srgbClr val="ffffff"/>
                </a:solidFill>
                <a:latin typeface="Calibri"/>
                <a:ea typeface="Calibri"/>
              </a:rPr>
              <a:t>Diagnóstico</a:t>
            </a:r>
            <a:endParaRPr b="0" lang="es-ES" sz="1800" spc="-1" strike="noStrike">
              <a:latin typeface="Arial"/>
            </a:endParaRPr>
          </a:p>
        </p:txBody>
      </p:sp>
      <p:sp>
        <p:nvSpPr>
          <p:cNvPr id="1472" name="CustomShape 9"/>
          <p:cNvSpPr/>
          <p:nvPr/>
        </p:nvSpPr>
        <p:spPr>
          <a:xfrm>
            <a:off x="3749040" y="3794760"/>
            <a:ext cx="1917720" cy="12776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dce6f2"/>
                </a:solidFill>
                <a:latin typeface="Calibri"/>
                <a:ea typeface="Calibri"/>
              </a:rPr>
              <a:t>Plan real, STATISTICS IO y DMVs: mide antes de cambiar y compara después.</a:t>
            </a:r>
            <a:endParaRPr b="0" lang="es-ES" sz="1400" spc="-1" strike="noStrike">
              <a:latin typeface="Arial"/>
            </a:endParaRPr>
          </a:p>
        </p:txBody>
      </p:sp>
      <p:sp>
        <p:nvSpPr>
          <p:cNvPr id="1473" name="CustomShape 10"/>
          <p:cNvSpPr/>
          <p:nvPr/>
        </p:nvSpPr>
        <p:spPr>
          <a:xfrm>
            <a:off x="6217920" y="2103120"/>
            <a:ext cx="2466360" cy="3106440"/>
          </a:xfrm>
          <a:prstGeom prst="roundRect">
            <a:avLst>
              <a:gd name="adj" fmla="val 4444"/>
            </a:avLst>
          </a:prstGeom>
          <a:solidFill>
            <a:srgbClr val="ffffff">
              <a:alpha val="10000"/>
            </a:srgbClr>
          </a:solidFill>
          <a:ln>
            <a:noFill/>
          </a:ln>
        </p:spPr>
        <p:style>
          <a:lnRef idx="0"/>
          <a:fillRef idx="0"/>
          <a:effectRef idx="0"/>
          <a:fontRef idx="minor"/>
        </p:style>
      </p:sp>
      <p:sp>
        <p:nvSpPr>
          <p:cNvPr id="1474" name="CustomShape 11"/>
          <p:cNvSpPr/>
          <p:nvPr/>
        </p:nvSpPr>
        <p:spPr>
          <a:xfrm>
            <a:off x="6492240" y="2377440"/>
            <a:ext cx="637560" cy="637560"/>
          </a:xfrm>
          <a:prstGeom prst="ellipse">
            <a:avLst/>
          </a:prstGeom>
          <a:solidFill>
            <a:srgbClr val="d95d39"/>
          </a:solidFill>
          <a:ln>
            <a:noFill/>
          </a:ln>
        </p:spPr>
        <p:style>
          <a:lnRef idx="0"/>
          <a:fillRef idx="0"/>
          <a:effectRef idx="0"/>
          <a:fontRef idx="minor"/>
        </p:style>
      </p:sp>
      <p:pic>
        <p:nvPicPr>
          <p:cNvPr id="1475" name="Image 2" descr="preencoded.png"/>
          <p:cNvPicPr/>
          <p:nvPr/>
        </p:nvPicPr>
        <p:blipFill>
          <a:blip r:embed="rId3"/>
          <a:stretch/>
        </p:blipFill>
        <p:spPr>
          <a:xfrm>
            <a:off x="6652440" y="2537640"/>
            <a:ext cx="317520" cy="317520"/>
          </a:xfrm>
          <a:prstGeom prst="rect">
            <a:avLst/>
          </a:prstGeom>
          <a:ln>
            <a:noFill/>
          </a:ln>
        </p:spPr>
      </p:pic>
      <p:sp>
        <p:nvSpPr>
          <p:cNvPr id="1476" name="CustomShape 12"/>
          <p:cNvSpPr/>
          <p:nvPr/>
        </p:nvSpPr>
        <p:spPr>
          <a:xfrm>
            <a:off x="6492240" y="3200400"/>
            <a:ext cx="1917720" cy="5461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800" spc="-1" strike="noStrike">
                <a:solidFill>
                  <a:srgbClr val="ffffff"/>
                </a:solidFill>
                <a:latin typeface="Calibri"/>
                <a:ea typeface="Calibri"/>
              </a:rPr>
              <a:t>Mantenimiento</a:t>
            </a:r>
            <a:endParaRPr b="0" lang="es-ES" sz="1800" spc="-1" strike="noStrike">
              <a:latin typeface="Arial"/>
            </a:endParaRPr>
          </a:p>
        </p:txBody>
      </p:sp>
      <p:sp>
        <p:nvSpPr>
          <p:cNvPr id="1477" name="CustomShape 13"/>
          <p:cNvSpPr/>
          <p:nvPr/>
        </p:nvSpPr>
        <p:spPr>
          <a:xfrm>
            <a:off x="6492240" y="3794760"/>
            <a:ext cx="1917720" cy="12776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dce6f2"/>
                </a:solidFill>
                <a:latin typeface="Calibri"/>
                <a:ea typeface="Calibri"/>
              </a:rPr>
              <a:t>Reorganize 5–30 %, Rebuild &gt; 30 %, estadísticas al día y fillfactor justificado.</a:t>
            </a:r>
            <a:endParaRPr b="0" lang="es-ES" sz="1400" spc="-1" strike="noStrike">
              <a:latin typeface="Arial"/>
            </a:endParaRPr>
          </a:p>
        </p:txBody>
      </p:sp>
      <p:sp>
        <p:nvSpPr>
          <p:cNvPr id="1478" name="CustomShape 14"/>
          <p:cNvSpPr/>
          <p:nvPr/>
        </p:nvSpPr>
        <p:spPr>
          <a:xfrm>
            <a:off x="8961120" y="2103120"/>
            <a:ext cx="2466360" cy="3106440"/>
          </a:xfrm>
          <a:prstGeom prst="roundRect">
            <a:avLst>
              <a:gd name="adj" fmla="val 4444"/>
            </a:avLst>
          </a:prstGeom>
          <a:solidFill>
            <a:srgbClr val="ffffff">
              <a:alpha val="10000"/>
            </a:srgbClr>
          </a:solidFill>
          <a:ln>
            <a:noFill/>
          </a:ln>
        </p:spPr>
        <p:style>
          <a:lnRef idx="0"/>
          <a:fillRef idx="0"/>
          <a:effectRef idx="0"/>
          <a:fontRef idx="minor"/>
        </p:style>
      </p:sp>
      <p:sp>
        <p:nvSpPr>
          <p:cNvPr id="1479" name="CustomShape 15"/>
          <p:cNvSpPr/>
          <p:nvPr/>
        </p:nvSpPr>
        <p:spPr>
          <a:xfrm>
            <a:off x="9235440" y="2377440"/>
            <a:ext cx="637560" cy="637560"/>
          </a:xfrm>
          <a:prstGeom prst="ellipse">
            <a:avLst/>
          </a:prstGeom>
          <a:solidFill>
            <a:srgbClr val="d95d39"/>
          </a:solidFill>
          <a:ln>
            <a:noFill/>
          </a:ln>
        </p:spPr>
        <p:style>
          <a:lnRef idx="0"/>
          <a:fillRef idx="0"/>
          <a:effectRef idx="0"/>
          <a:fontRef idx="minor"/>
        </p:style>
      </p:sp>
      <p:pic>
        <p:nvPicPr>
          <p:cNvPr id="1480" name="Image 3" descr="preencoded.png"/>
          <p:cNvPicPr/>
          <p:nvPr/>
        </p:nvPicPr>
        <p:blipFill>
          <a:blip r:embed="rId4"/>
          <a:stretch/>
        </p:blipFill>
        <p:spPr>
          <a:xfrm>
            <a:off x="9395640" y="2537640"/>
            <a:ext cx="317520" cy="317520"/>
          </a:xfrm>
          <a:prstGeom prst="rect">
            <a:avLst/>
          </a:prstGeom>
          <a:ln>
            <a:noFill/>
          </a:ln>
        </p:spPr>
      </p:pic>
      <p:sp>
        <p:nvSpPr>
          <p:cNvPr id="1481" name="CustomShape 16"/>
          <p:cNvSpPr/>
          <p:nvPr/>
        </p:nvSpPr>
        <p:spPr>
          <a:xfrm>
            <a:off x="9235440" y="3200400"/>
            <a:ext cx="1917720" cy="5461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800" spc="-1" strike="noStrike">
                <a:solidFill>
                  <a:srgbClr val="ffffff"/>
                </a:solidFill>
                <a:latin typeface="Calibri"/>
                <a:ea typeface="Calibri"/>
              </a:rPr>
              <a:t>HA/DR</a:t>
            </a:r>
            <a:endParaRPr b="0" lang="es-ES" sz="1800" spc="-1" strike="noStrike">
              <a:latin typeface="Arial"/>
            </a:endParaRPr>
          </a:p>
        </p:txBody>
      </p:sp>
      <p:sp>
        <p:nvSpPr>
          <p:cNvPr id="1482" name="CustomShape 17"/>
          <p:cNvSpPr/>
          <p:nvPr/>
        </p:nvSpPr>
        <p:spPr>
          <a:xfrm>
            <a:off x="9235440" y="3794760"/>
            <a:ext cx="1917720" cy="12776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dce6f2"/>
                </a:solidFill>
                <a:latin typeface="Calibri"/>
                <a:ea typeface="Calibri"/>
              </a:rPr>
              <a:t>Define RTO y RPO primero; elige Log Shipping, FCI o AG según edición y coste.</a:t>
            </a:r>
            <a:endParaRPr b="0" lang="es-ES" sz="1400" spc="-1" strike="noStrike">
              <a:latin typeface="Arial"/>
            </a:endParaRPr>
          </a:p>
        </p:txBody>
      </p:sp>
      <p:sp>
        <p:nvSpPr>
          <p:cNvPr id="1483" name="CustomShape 18"/>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8da9c4"/>
                </a:solidFill>
                <a:latin typeface="Calibri"/>
                <a:ea typeface="Calibri"/>
              </a:rPr>
              <a:t>Curso de Administración de SQL Server · 20 h</a:t>
            </a:r>
            <a:endParaRPr b="0" lang="es-ES" sz="1000" spc="-1" strike="noStrike">
              <a:latin typeface="Arial"/>
            </a:endParaRPr>
          </a:p>
        </p:txBody>
      </p:sp>
      <p:sp>
        <p:nvSpPr>
          <p:cNvPr id="1484" name="CustomShape 19"/>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8da9c4"/>
                </a:solidFill>
                <a:latin typeface="Calibri"/>
                <a:ea typeface="Calibri"/>
              </a:rPr>
              <a:t>Módulo 3   61</a:t>
            </a:r>
            <a:endParaRPr b="0" lang="es-ES" sz="1000" spc="-1" strike="noStrike">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1528"/>
        </a:solidFill>
      </p:bgPr>
    </p:bg>
    <p:spTree>
      <p:nvGrpSpPr>
        <p:cNvPr id="1" name=""/>
        <p:cNvGrpSpPr/>
        <p:nvPr/>
      </p:nvGrpSpPr>
      <p:grpSpPr>
        <a:xfrm>
          <a:off x="0" y="0"/>
          <a:ext cx="0" cy="0"/>
          <a:chOff x="0" y="0"/>
          <a:chExt cx="0" cy="0"/>
        </a:xfrm>
      </p:grpSpPr>
      <p:sp>
        <p:nvSpPr>
          <p:cNvPr id="1485" name="CustomShape 1"/>
          <p:cNvSpPr/>
          <p:nvPr/>
        </p:nvSpPr>
        <p:spPr>
          <a:xfrm>
            <a:off x="731520" y="822960"/>
            <a:ext cx="5026680" cy="182628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2000" spc="-1" strike="noStrike">
                <a:solidFill>
                  <a:srgbClr val="1e5aa8"/>
                </a:solidFill>
                <a:latin typeface="Calibri"/>
                <a:ea typeface="Calibri"/>
              </a:rPr>
              <a:t>04</a:t>
            </a:r>
            <a:endParaRPr b="0" lang="es-ES" sz="12000" spc="-1" strike="noStrike">
              <a:latin typeface="Arial"/>
            </a:endParaRPr>
          </a:p>
        </p:txBody>
      </p:sp>
      <p:sp>
        <p:nvSpPr>
          <p:cNvPr id="1486" name="CustomShape 2"/>
          <p:cNvSpPr/>
          <p:nvPr/>
        </p:nvSpPr>
        <p:spPr>
          <a:xfrm>
            <a:off x="731520" y="2880360"/>
            <a:ext cx="2649240" cy="326520"/>
          </a:xfrm>
          <a:prstGeom prst="roundRect">
            <a:avLst>
              <a:gd name="adj" fmla="val 50000"/>
            </a:avLst>
          </a:prstGeom>
          <a:solidFill>
            <a:srgbClr val="d95d39"/>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100" spc="80" strike="noStrike">
                <a:solidFill>
                  <a:srgbClr val="ffffff"/>
                </a:solidFill>
                <a:latin typeface="Calibri"/>
                <a:ea typeface="Calibri"/>
              </a:rPr>
              <a:t>MÓDULO 4 · 5 h</a:t>
            </a:r>
            <a:endParaRPr b="0" lang="es-ES" sz="1100" spc="-1" strike="noStrike">
              <a:latin typeface="Arial"/>
            </a:endParaRPr>
          </a:p>
        </p:txBody>
      </p:sp>
      <p:sp>
        <p:nvSpPr>
          <p:cNvPr id="1487" name="CustomShape 3"/>
          <p:cNvSpPr/>
          <p:nvPr/>
        </p:nvSpPr>
        <p:spPr>
          <a:xfrm>
            <a:off x="731520" y="3383280"/>
            <a:ext cx="5392440" cy="15519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3800" spc="-1" strike="noStrike">
                <a:solidFill>
                  <a:srgbClr val="ffffff"/>
                </a:solidFill>
                <a:latin typeface="Calibri"/>
                <a:ea typeface="Calibri"/>
              </a:rPr>
              <a:t>Mantenimiento y Buenas Prácticas</a:t>
            </a:r>
            <a:endParaRPr b="0" lang="es-ES" sz="3800" spc="-1" strike="noStrike">
              <a:latin typeface="Arial"/>
            </a:endParaRPr>
          </a:p>
        </p:txBody>
      </p:sp>
      <p:sp>
        <p:nvSpPr>
          <p:cNvPr id="1488" name="CustomShape 4"/>
          <p:cNvSpPr/>
          <p:nvPr/>
        </p:nvSpPr>
        <p:spPr>
          <a:xfrm>
            <a:off x="731520" y="4983480"/>
            <a:ext cx="5392440" cy="8204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600" spc="-1" strike="noStrike">
                <a:solidFill>
                  <a:srgbClr val="8da9c4"/>
                </a:solidFill>
                <a:latin typeface="Calibri"/>
                <a:ea typeface="Calibri"/>
              </a:rPr>
              <a:t>Recuperación, integridad, automatización y resolución de incidencias</a:t>
            </a:r>
            <a:endParaRPr b="0" lang="es-ES" sz="1600" spc="-1" strike="noStrike">
              <a:latin typeface="Arial"/>
            </a:endParaRPr>
          </a:p>
        </p:txBody>
      </p:sp>
      <p:sp>
        <p:nvSpPr>
          <p:cNvPr id="1489" name="CustomShape 5"/>
          <p:cNvSpPr/>
          <p:nvPr/>
        </p:nvSpPr>
        <p:spPr>
          <a:xfrm>
            <a:off x="6675120" y="1051560"/>
            <a:ext cx="4935240" cy="664920"/>
          </a:xfrm>
          <a:prstGeom prst="roundRect">
            <a:avLst>
              <a:gd name="adj" fmla="val 13699"/>
            </a:avLst>
          </a:prstGeom>
          <a:solidFill>
            <a:srgbClr val="ffffff">
              <a:alpha val="8000"/>
            </a:srgbClr>
          </a:solidFill>
          <a:ln>
            <a:noFill/>
          </a:ln>
        </p:spPr>
        <p:style>
          <a:lnRef idx="0"/>
          <a:fillRef idx="0"/>
          <a:effectRef idx="0"/>
          <a:fontRef idx="minor"/>
        </p:style>
      </p:sp>
      <p:sp>
        <p:nvSpPr>
          <p:cNvPr id="1490" name="CustomShape 6"/>
          <p:cNvSpPr/>
          <p:nvPr/>
        </p:nvSpPr>
        <p:spPr>
          <a:xfrm>
            <a:off x="6812280" y="1166040"/>
            <a:ext cx="454680" cy="454680"/>
          </a:xfrm>
          <a:prstGeom prst="ellipse">
            <a:avLst/>
          </a:prstGeom>
          <a:solidFill>
            <a:srgbClr val="d95d39"/>
          </a:solidFill>
          <a:ln>
            <a:noFill/>
          </a:ln>
        </p:spPr>
        <p:style>
          <a:lnRef idx="0"/>
          <a:fillRef idx="0"/>
          <a:effectRef idx="0"/>
          <a:fontRef idx="minor"/>
        </p:style>
      </p:sp>
      <p:pic>
        <p:nvPicPr>
          <p:cNvPr id="1491" name="Image 0" descr="preencoded.png"/>
          <p:cNvPicPr/>
          <p:nvPr/>
        </p:nvPicPr>
        <p:blipFill>
          <a:blip r:embed="rId1"/>
          <a:stretch/>
        </p:blipFill>
        <p:spPr>
          <a:xfrm>
            <a:off x="6926760" y="1280160"/>
            <a:ext cx="226080" cy="226080"/>
          </a:xfrm>
          <a:prstGeom prst="rect">
            <a:avLst/>
          </a:prstGeom>
          <a:ln>
            <a:noFill/>
          </a:ln>
        </p:spPr>
      </p:pic>
      <p:sp>
        <p:nvSpPr>
          <p:cNvPr id="1492" name="CustomShape 7"/>
          <p:cNvSpPr/>
          <p:nvPr/>
        </p:nvSpPr>
        <p:spPr>
          <a:xfrm>
            <a:off x="7452360" y="1051560"/>
            <a:ext cx="4020840" cy="6649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600" spc="-1" strike="noStrike">
                <a:solidFill>
                  <a:srgbClr val="ffffff"/>
                </a:solidFill>
                <a:latin typeface="Calibri"/>
                <a:ea typeface="Calibri"/>
              </a:rPr>
              <a:t>Modelos de recuperación y backups</a:t>
            </a:r>
            <a:endParaRPr b="0" lang="es-ES" sz="1600" spc="-1" strike="noStrike">
              <a:latin typeface="Arial"/>
            </a:endParaRPr>
          </a:p>
        </p:txBody>
      </p:sp>
      <p:sp>
        <p:nvSpPr>
          <p:cNvPr id="1493" name="CustomShape 8"/>
          <p:cNvSpPr/>
          <p:nvPr/>
        </p:nvSpPr>
        <p:spPr>
          <a:xfrm>
            <a:off x="6675120" y="1828800"/>
            <a:ext cx="4935240" cy="664920"/>
          </a:xfrm>
          <a:prstGeom prst="roundRect">
            <a:avLst>
              <a:gd name="adj" fmla="val 13699"/>
            </a:avLst>
          </a:prstGeom>
          <a:solidFill>
            <a:srgbClr val="ffffff">
              <a:alpha val="8000"/>
            </a:srgbClr>
          </a:solidFill>
          <a:ln>
            <a:noFill/>
          </a:ln>
        </p:spPr>
        <p:style>
          <a:lnRef idx="0"/>
          <a:fillRef idx="0"/>
          <a:effectRef idx="0"/>
          <a:fontRef idx="minor"/>
        </p:style>
      </p:sp>
      <p:sp>
        <p:nvSpPr>
          <p:cNvPr id="1494" name="CustomShape 9"/>
          <p:cNvSpPr/>
          <p:nvPr/>
        </p:nvSpPr>
        <p:spPr>
          <a:xfrm>
            <a:off x="6812280" y="1943280"/>
            <a:ext cx="454680" cy="454680"/>
          </a:xfrm>
          <a:prstGeom prst="ellipse">
            <a:avLst/>
          </a:prstGeom>
          <a:solidFill>
            <a:srgbClr val="d95d39"/>
          </a:solidFill>
          <a:ln>
            <a:noFill/>
          </a:ln>
        </p:spPr>
        <p:style>
          <a:lnRef idx="0"/>
          <a:fillRef idx="0"/>
          <a:effectRef idx="0"/>
          <a:fontRef idx="minor"/>
        </p:style>
      </p:sp>
      <p:pic>
        <p:nvPicPr>
          <p:cNvPr id="1495" name="Image 1" descr="preencoded.png"/>
          <p:cNvPicPr/>
          <p:nvPr/>
        </p:nvPicPr>
        <p:blipFill>
          <a:blip r:embed="rId2"/>
          <a:stretch/>
        </p:blipFill>
        <p:spPr>
          <a:xfrm>
            <a:off x="6926760" y="2057400"/>
            <a:ext cx="226080" cy="226080"/>
          </a:xfrm>
          <a:prstGeom prst="rect">
            <a:avLst/>
          </a:prstGeom>
          <a:ln>
            <a:noFill/>
          </a:ln>
        </p:spPr>
      </p:pic>
      <p:sp>
        <p:nvSpPr>
          <p:cNvPr id="1496" name="CustomShape 10"/>
          <p:cNvSpPr/>
          <p:nvPr/>
        </p:nvSpPr>
        <p:spPr>
          <a:xfrm>
            <a:off x="7452360" y="1828800"/>
            <a:ext cx="4020840" cy="6649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600" spc="-1" strike="noStrike">
                <a:solidFill>
                  <a:srgbClr val="ffffff"/>
                </a:solidFill>
                <a:latin typeface="Calibri"/>
                <a:ea typeface="Calibri"/>
              </a:rPr>
              <a:t>Restauración point-in-time</a:t>
            </a:r>
            <a:endParaRPr b="0" lang="es-ES" sz="1600" spc="-1" strike="noStrike">
              <a:latin typeface="Arial"/>
            </a:endParaRPr>
          </a:p>
        </p:txBody>
      </p:sp>
      <p:sp>
        <p:nvSpPr>
          <p:cNvPr id="1497" name="CustomShape 11"/>
          <p:cNvSpPr/>
          <p:nvPr/>
        </p:nvSpPr>
        <p:spPr>
          <a:xfrm>
            <a:off x="6675120" y="2606040"/>
            <a:ext cx="4935240" cy="664920"/>
          </a:xfrm>
          <a:prstGeom prst="roundRect">
            <a:avLst>
              <a:gd name="adj" fmla="val 13699"/>
            </a:avLst>
          </a:prstGeom>
          <a:solidFill>
            <a:srgbClr val="ffffff">
              <a:alpha val="8000"/>
            </a:srgbClr>
          </a:solidFill>
          <a:ln>
            <a:noFill/>
          </a:ln>
        </p:spPr>
        <p:style>
          <a:lnRef idx="0"/>
          <a:fillRef idx="0"/>
          <a:effectRef idx="0"/>
          <a:fontRef idx="minor"/>
        </p:style>
      </p:sp>
      <p:sp>
        <p:nvSpPr>
          <p:cNvPr id="1498" name="CustomShape 12"/>
          <p:cNvSpPr/>
          <p:nvPr/>
        </p:nvSpPr>
        <p:spPr>
          <a:xfrm>
            <a:off x="6812280" y="2720520"/>
            <a:ext cx="454680" cy="454680"/>
          </a:xfrm>
          <a:prstGeom prst="ellipse">
            <a:avLst/>
          </a:prstGeom>
          <a:solidFill>
            <a:srgbClr val="d95d39"/>
          </a:solidFill>
          <a:ln>
            <a:noFill/>
          </a:ln>
        </p:spPr>
        <p:style>
          <a:lnRef idx="0"/>
          <a:fillRef idx="0"/>
          <a:effectRef idx="0"/>
          <a:fontRef idx="minor"/>
        </p:style>
      </p:sp>
      <p:pic>
        <p:nvPicPr>
          <p:cNvPr id="1499" name="Image 2" descr="preencoded.png"/>
          <p:cNvPicPr/>
          <p:nvPr/>
        </p:nvPicPr>
        <p:blipFill>
          <a:blip r:embed="rId3"/>
          <a:stretch/>
        </p:blipFill>
        <p:spPr>
          <a:xfrm>
            <a:off x="6926760" y="2834640"/>
            <a:ext cx="226080" cy="226080"/>
          </a:xfrm>
          <a:prstGeom prst="rect">
            <a:avLst/>
          </a:prstGeom>
          <a:ln>
            <a:noFill/>
          </a:ln>
        </p:spPr>
      </p:pic>
      <p:sp>
        <p:nvSpPr>
          <p:cNvPr id="1500" name="CustomShape 13"/>
          <p:cNvSpPr/>
          <p:nvPr/>
        </p:nvSpPr>
        <p:spPr>
          <a:xfrm>
            <a:off x="7452360" y="2606040"/>
            <a:ext cx="4020840" cy="6649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600" spc="-1" strike="noStrike">
                <a:solidFill>
                  <a:srgbClr val="ffffff"/>
                </a:solidFill>
                <a:latin typeface="Calibri"/>
                <a:ea typeface="Calibri"/>
              </a:rPr>
              <a:t>Integridad física: DBCC CHECKDB</a:t>
            </a:r>
            <a:endParaRPr b="0" lang="es-ES" sz="1600" spc="-1" strike="noStrike">
              <a:latin typeface="Arial"/>
            </a:endParaRPr>
          </a:p>
        </p:txBody>
      </p:sp>
      <p:sp>
        <p:nvSpPr>
          <p:cNvPr id="1501" name="CustomShape 14"/>
          <p:cNvSpPr/>
          <p:nvPr/>
        </p:nvSpPr>
        <p:spPr>
          <a:xfrm>
            <a:off x="6675120" y="3383280"/>
            <a:ext cx="4935240" cy="664920"/>
          </a:xfrm>
          <a:prstGeom prst="roundRect">
            <a:avLst>
              <a:gd name="adj" fmla="val 13699"/>
            </a:avLst>
          </a:prstGeom>
          <a:solidFill>
            <a:srgbClr val="ffffff">
              <a:alpha val="8000"/>
            </a:srgbClr>
          </a:solidFill>
          <a:ln>
            <a:noFill/>
          </a:ln>
        </p:spPr>
        <p:style>
          <a:lnRef idx="0"/>
          <a:fillRef idx="0"/>
          <a:effectRef idx="0"/>
          <a:fontRef idx="minor"/>
        </p:style>
      </p:sp>
      <p:sp>
        <p:nvSpPr>
          <p:cNvPr id="1502" name="CustomShape 15"/>
          <p:cNvSpPr/>
          <p:nvPr/>
        </p:nvSpPr>
        <p:spPr>
          <a:xfrm>
            <a:off x="6812280" y="3497760"/>
            <a:ext cx="454680" cy="454680"/>
          </a:xfrm>
          <a:prstGeom prst="ellipse">
            <a:avLst/>
          </a:prstGeom>
          <a:solidFill>
            <a:srgbClr val="d95d39"/>
          </a:solidFill>
          <a:ln>
            <a:noFill/>
          </a:ln>
        </p:spPr>
        <p:style>
          <a:lnRef idx="0"/>
          <a:fillRef idx="0"/>
          <a:effectRef idx="0"/>
          <a:fontRef idx="minor"/>
        </p:style>
      </p:sp>
      <p:pic>
        <p:nvPicPr>
          <p:cNvPr id="1503" name="Image 3" descr="preencoded.png"/>
          <p:cNvPicPr/>
          <p:nvPr/>
        </p:nvPicPr>
        <p:blipFill>
          <a:blip r:embed="rId4"/>
          <a:stretch/>
        </p:blipFill>
        <p:spPr>
          <a:xfrm>
            <a:off x="6926760" y="3611880"/>
            <a:ext cx="226080" cy="226080"/>
          </a:xfrm>
          <a:prstGeom prst="rect">
            <a:avLst/>
          </a:prstGeom>
          <a:ln>
            <a:noFill/>
          </a:ln>
        </p:spPr>
      </p:pic>
      <p:sp>
        <p:nvSpPr>
          <p:cNvPr id="1504" name="CustomShape 16"/>
          <p:cNvSpPr/>
          <p:nvPr/>
        </p:nvSpPr>
        <p:spPr>
          <a:xfrm>
            <a:off x="7452360" y="3383280"/>
            <a:ext cx="4020840" cy="6649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600" spc="-1" strike="noStrike">
                <a:solidFill>
                  <a:srgbClr val="ffffff"/>
                </a:solidFill>
                <a:latin typeface="Calibri"/>
                <a:ea typeface="Calibri"/>
              </a:rPr>
              <a:t>Mantenimiento automatizado</a:t>
            </a:r>
            <a:endParaRPr b="0" lang="es-ES" sz="1600" spc="-1" strike="noStrike">
              <a:latin typeface="Arial"/>
            </a:endParaRPr>
          </a:p>
        </p:txBody>
      </p:sp>
      <p:sp>
        <p:nvSpPr>
          <p:cNvPr id="1505" name="CustomShape 17"/>
          <p:cNvSpPr/>
          <p:nvPr/>
        </p:nvSpPr>
        <p:spPr>
          <a:xfrm>
            <a:off x="6675120" y="4160520"/>
            <a:ext cx="4935240" cy="664920"/>
          </a:xfrm>
          <a:prstGeom prst="roundRect">
            <a:avLst>
              <a:gd name="adj" fmla="val 13699"/>
            </a:avLst>
          </a:prstGeom>
          <a:solidFill>
            <a:srgbClr val="ffffff">
              <a:alpha val="8000"/>
            </a:srgbClr>
          </a:solidFill>
          <a:ln>
            <a:noFill/>
          </a:ln>
        </p:spPr>
        <p:style>
          <a:lnRef idx="0"/>
          <a:fillRef idx="0"/>
          <a:effectRef idx="0"/>
          <a:fontRef idx="minor"/>
        </p:style>
      </p:sp>
      <p:sp>
        <p:nvSpPr>
          <p:cNvPr id="1506" name="CustomShape 18"/>
          <p:cNvSpPr/>
          <p:nvPr/>
        </p:nvSpPr>
        <p:spPr>
          <a:xfrm>
            <a:off x="6812280" y="4275000"/>
            <a:ext cx="454680" cy="454680"/>
          </a:xfrm>
          <a:prstGeom prst="ellipse">
            <a:avLst/>
          </a:prstGeom>
          <a:solidFill>
            <a:srgbClr val="d95d39"/>
          </a:solidFill>
          <a:ln>
            <a:noFill/>
          </a:ln>
        </p:spPr>
        <p:style>
          <a:lnRef idx="0"/>
          <a:fillRef idx="0"/>
          <a:effectRef idx="0"/>
          <a:fontRef idx="minor"/>
        </p:style>
      </p:sp>
      <p:pic>
        <p:nvPicPr>
          <p:cNvPr id="1507" name="Image 4" descr="preencoded.png"/>
          <p:cNvPicPr/>
          <p:nvPr/>
        </p:nvPicPr>
        <p:blipFill>
          <a:blip r:embed="rId5"/>
          <a:stretch/>
        </p:blipFill>
        <p:spPr>
          <a:xfrm>
            <a:off x="6926760" y="4389120"/>
            <a:ext cx="226080" cy="226080"/>
          </a:xfrm>
          <a:prstGeom prst="rect">
            <a:avLst/>
          </a:prstGeom>
          <a:ln>
            <a:noFill/>
          </a:ln>
        </p:spPr>
      </p:pic>
      <p:sp>
        <p:nvSpPr>
          <p:cNvPr id="1508" name="CustomShape 19"/>
          <p:cNvSpPr/>
          <p:nvPr/>
        </p:nvSpPr>
        <p:spPr>
          <a:xfrm>
            <a:off x="7452360" y="4160520"/>
            <a:ext cx="4020840" cy="6649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600" spc="-1" strike="noStrike">
                <a:solidFill>
                  <a:srgbClr val="ffffff"/>
                </a:solidFill>
                <a:latin typeface="Calibri"/>
                <a:ea typeface="Calibri"/>
              </a:rPr>
              <a:t>Incidencias: LDF, TempDB, bloqueos</a:t>
            </a:r>
            <a:endParaRPr b="0" lang="es-ES" sz="1600" spc="-1" strike="noStrike">
              <a:latin typeface="Arial"/>
            </a:endParaRPr>
          </a:p>
        </p:txBody>
      </p:sp>
      <p:sp>
        <p:nvSpPr>
          <p:cNvPr id="1509" name="CustomShape 20"/>
          <p:cNvSpPr/>
          <p:nvPr/>
        </p:nvSpPr>
        <p:spPr>
          <a:xfrm>
            <a:off x="6675120" y="4937760"/>
            <a:ext cx="4935240" cy="664920"/>
          </a:xfrm>
          <a:prstGeom prst="roundRect">
            <a:avLst>
              <a:gd name="adj" fmla="val 13699"/>
            </a:avLst>
          </a:prstGeom>
          <a:solidFill>
            <a:srgbClr val="ffffff">
              <a:alpha val="8000"/>
            </a:srgbClr>
          </a:solidFill>
          <a:ln>
            <a:noFill/>
          </a:ln>
        </p:spPr>
        <p:style>
          <a:lnRef idx="0"/>
          <a:fillRef idx="0"/>
          <a:effectRef idx="0"/>
          <a:fontRef idx="minor"/>
        </p:style>
      </p:sp>
      <p:sp>
        <p:nvSpPr>
          <p:cNvPr id="1510" name="CustomShape 21"/>
          <p:cNvSpPr/>
          <p:nvPr/>
        </p:nvSpPr>
        <p:spPr>
          <a:xfrm>
            <a:off x="6812280" y="5052240"/>
            <a:ext cx="454680" cy="454680"/>
          </a:xfrm>
          <a:prstGeom prst="ellipse">
            <a:avLst/>
          </a:prstGeom>
          <a:solidFill>
            <a:srgbClr val="d95d39"/>
          </a:solidFill>
          <a:ln>
            <a:noFill/>
          </a:ln>
        </p:spPr>
        <p:style>
          <a:lnRef idx="0"/>
          <a:fillRef idx="0"/>
          <a:effectRef idx="0"/>
          <a:fontRef idx="minor"/>
        </p:style>
      </p:sp>
      <p:pic>
        <p:nvPicPr>
          <p:cNvPr id="1511" name="Image 5" descr="preencoded.png"/>
          <p:cNvPicPr/>
          <p:nvPr/>
        </p:nvPicPr>
        <p:blipFill>
          <a:blip r:embed="rId6"/>
          <a:stretch/>
        </p:blipFill>
        <p:spPr>
          <a:xfrm>
            <a:off x="6926760" y="5166360"/>
            <a:ext cx="226080" cy="226080"/>
          </a:xfrm>
          <a:prstGeom prst="rect">
            <a:avLst/>
          </a:prstGeom>
          <a:ln>
            <a:noFill/>
          </a:ln>
        </p:spPr>
      </p:pic>
      <p:sp>
        <p:nvSpPr>
          <p:cNvPr id="1512" name="CustomShape 22"/>
          <p:cNvSpPr/>
          <p:nvPr/>
        </p:nvSpPr>
        <p:spPr>
          <a:xfrm>
            <a:off x="7452360" y="4937760"/>
            <a:ext cx="4020840" cy="6649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600" spc="-1" strike="noStrike">
                <a:solidFill>
                  <a:srgbClr val="ffffff"/>
                </a:solidFill>
                <a:latin typeface="Calibri"/>
                <a:ea typeface="Calibri"/>
              </a:rPr>
              <a:t>Laboratorio 4 y caso integrador</a:t>
            </a:r>
            <a:endParaRPr b="0" lang="es-ES" sz="1600" spc="-1" strike="noStrike">
              <a:latin typeface="Arial"/>
            </a:endParaRPr>
          </a:p>
        </p:txBody>
      </p:sp>
      <p:sp>
        <p:nvSpPr>
          <p:cNvPr id="1513" name="CustomShape 2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8da9c4"/>
                </a:solidFill>
                <a:latin typeface="Calibri"/>
                <a:ea typeface="Calibri"/>
              </a:rPr>
              <a:t>Curso de Administración de SQL Server · 20 h</a:t>
            </a:r>
            <a:endParaRPr b="0" lang="es-ES" sz="1000" spc="-1" strike="noStrike">
              <a:latin typeface="Arial"/>
            </a:endParaRPr>
          </a:p>
        </p:txBody>
      </p:sp>
      <p:sp>
        <p:nvSpPr>
          <p:cNvPr id="1514" name="CustomShape 2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8da9c4"/>
                </a:solidFill>
                <a:latin typeface="Calibri"/>
                <a:ea typeface="Calibri"/>
              </a:rPr>
              <a:t>Módulo 4   62</a:t>
            </a:r>
            <a:endParaRPr b="0" lang="es-ES" sz="1000" spc="-1" strike="noStrike">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515"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BACKUPS</a:t>
            </a:r>
            <a:endParaRPr b="0" lang="es-ES" sz="1000" spc="-1" strike="noStrike">
              <a:latin typeface="Arial"/>
            </a:endParaRPr>
          </a:p>
        </p:txBody>
      </p:sp>
      <p:sp>
        <p:nvSpPr>
          <p:cNvPr id="1516"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Modelos de recuperación</a:t>
            </a:r>
            <a:endParaRPr b="0" lang="es-ES" sz="3400" spc="-1" strike="noStrike">
              <a:latin typeface="Arial"/>
            </a:endParaRPr>
          </a:p>
        </p:txBody>
      </p:sp>
      <p:sp>
        <p:nvSpPr>
          <p:cNvPr id="1517"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518"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4   63</a:t>
            </a:r>
            <a:endParaRPr b="0" lang="es-ES" sz="1000" spc="-1" strike="noStrike">
              <a:latin typeface="Arial"/>
            </a:endParaRPr>
          </a:p>
        </p:txBody>
      </p:sp>
      <p:graphicFrame>
        <p:nvGraphicFramePr>
          <p:cNvPr id="1519" name="Table 5"/>
          <p:cNvGraphicFramePr/>
          <p:nvPr/>
        </p:nvGraphicFramePr>
        <p:xfrm>
          <a:off x="548640" y="1600200"/>
          <a:ext cx="11091240" cy="2681640"/>
        </p:xfrm>
        <a:graphic>
          <a:graphicData uri="http://schemas.openxmlformats.org/drawingml/2006/table">
            <a:tbl>
              <a:tblPr/>
              <a:tblGrid>
                <a:gridCol w="1920240"/>
                <a:gridCol w="2926080"/>
                <a:gridCol w="3108960"/>
                <a:gridCol w="3136320"/>
              </a:tblGrid>
              <a:tr h="380880">
                <a:tc>
                  <a:txBody>
                    <a:bodyPr lIns="109440" rIns="109440">
                      <a:noAutofit/>
                    </a:bodyPr>
                    <a:p>
                      <a:pPr>
                        <a:lnSpc>
                          <a:spcPct val="100000"/>
                        </a:lnSpc>
                        <a:tabLst>
                          <a:tab algn="l" pos="0"/>
                        </a:tabLst>
                      </a:pPr>
                      <a:r>
                        <a:rPr b="1" lang="en-US" sz="1300" spc="-1" strike="noStrike">
                          <a:solidFill>
                            <a:srgbClr val="ffffff"/>
                          </a:solidFill>
                          <a:latin typeface="Calibri"/>
                          <a:ea typeface="Calibri"/>
                        </a:rPr>
                        <a:t>Aspecto</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c>
                  <a:txBody>
                    <a:bodyPr lIns="109440" rIns="109440">
                      <a:noAutofit/>
                    </a:bodyPr>
                    <a:p>
                      <a:pPr>
                        <a:lnSpc>
                          <a:spcPct val="100000"/>
                        </a:lnSpc>
                        <a:tabLst>
                          <a:tab algn="l" pos="0"/>
                        </a:tabLst>
                      </a:pPr>
                      <a:r>
                        <a:rPr b="1" lang="en-US" sz="1300" spc="-1" strike="noStrike">
                          <a:solidFill>
                            <a:srgbClr val="ffffff"/>
                          </a:solidFill>
                          <a:latin typeface="Calibri"/>
                          <a:ea typeface="Calibri"/>
                        </a:rPr>
                        <a:t>Simple</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c>
                  <a:txBody>
                    <a:bodyPr lIns="109440" rIns="109440">
                      <a:noAutofit/>
                    </a:bodyPr>
                    <a:p>
                      <a:pPr>
                        <a:lnSpc>
                          <a:spcPct val="100000"/>
                        </a:lnSpc>
                        <a:tabLst>
                          <a:tab algn="l" pos="0"/>
                        </a:tabLst>
                      </a:pPr>
                      <a:r>
                        <a:rPr b="1" lang="en-US" sz="1300" spc="-1" strike="noStrike">
                          <a:solidFill>
                            <a:srgbClr val="ffffff"/>
                          </a:solidFill>
                          <a:latin typeface="Calibri"/>
                          <a:ea typeface="Calibri"/>
                        </a:rPr>
                        <a:t>Full</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c>
                  <a:txBody>
                    <a:bodyPr lIns="109440" rIns="109440">
                      <a:noAutofit/>
                    </a:bodyPr>
                    <a:p>
                      <a:pPr>
                        <a:lnSpc>
                          <a:spcPct val="100000"/>
                        </a:lnSpc>
                        <a:tabLst>
                          <a:tab algn="l" pos="0"/>
                        </a:tabLst>
                      </a:pPr>
                      <a:r>
                        <a:rPr b="1" lang="en-US" sz="1300" spc="-1" strike="noStrike">
                          <a:solidFill>
                            <a:srgbClr val="ffffff"/>
                          </a:solidFill>
                          <a:latin typeface="Calibri"/>
                          <a:ea typeface="Calibri"/>
                        </a:rPr>
                        <a:t>Bulk-Logged</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r>
              <a:tr h="380880">
                <a:tc>
                  <a:txBody>
                    <a:bodyPr lIns="109440" rIns="109440">
                      <a:noAutofit/>
                    </a:bodyPr>
                    <a:p>
                      <a:pPr>
                        <a:lnSpc>
                          <a:spcPct val="100000"/>
                        </a:lnSpc>
                        <a:tabLst>
                          <a:tab algn="l" pos="0"/>
                        </a:tabLst>
                      </a:pPr>
                      <a:r>
                        <a:rPr b="1" lang="en-US" sz="1300" spc="-1" strike="noStrike">
                          <a:solidFill>
                            <a:srgbClr val="0b2545"/>
                          </a:solidFill>
                          <a:latin typeface="Calibri"/>
                          <a:ea typeface="Calibri"/>
                        </a:rPr>
                        <a:t>Truncado del log</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Automático en cada checkpoint</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Sólo tras BACKUP LOG</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Sólo tras BACKUP LOG</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r h="578880">
                <a:tc>
                  <a:txBody>
                    <a:bodyPr lIns="109440" rIns="109440">
                      <a:noAutofit/>
                    </a:bodyPr>
                    <a:p>
                      <a:pPr>
                        <a:lnSpc>
                          <a:spcPct val="100000"/>
                        </a:lnSpc>
                        <a:tabLst>
                          <a:tab algn="l" pos="0"/>
                        </a:tabLst>
                      </a:pPr>
                      <a:r>
                        <a:rPr b="1" lang="en-US" sz="1300" spc="-1" strike="noStrike">
                          <a:solidFill>
                            <a:srgbClr val="0b2545"/>
                          </a:solidFill>
                          <a:latin typeface="Calibri"/>
                          <a:ea typeface="Calibri"/>
                        </a:rPr>
                        <a:t>Log chain</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No existe; BACKUP LOG no permitido</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Continua; log backups obligatorios</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Continua; log backups obligatorios</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r>
              <a:tr h="380880">
                <a:tc>
                  <a:txBody>
                    <a:bodyPr lIns="109440" rIns="109440">
                      <a:noAutofit/>
                    </a:bodyPr>
                    <a:p>
                      <a:pPr>
                        <a:lnSpc>
                          <a:spcPct val="100000"/>
                        </a:lnSpc>
                        <a:tabLst>
                          <a:tab algn="l" pos="0"/>
                        </a:tabLst>
                      </a:pPr>
                      <a:r>
                        <a:rPr b="1" lang="en-US" sz="1300" spc="-1" strike="noStrike">
                          <a:solidFill>
                            <a:srgbClr val="0b2545"/>
                          </a:solidFill>
                          <a:latin typeface="Calibri"/>
                          <a:ea typeface="Calibri"/>
                        </a:rPr>
                        <a:t>Operaciones masivas</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Minimal logging</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Registro completo</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Minimal logging (extents)</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r h="578880">
                <a:tc>
                  <a:txBody>
                    <a:bodyPr lIns="109440" rIns="109440">
                      <a:noAutofit/>
                    </a:bodyPr>
                    <a:p>
                      <a:pPr>
                        <a:lnSpc>
                          <a:spcPct val="100000"/>
                        </a:lnSpc>
                        <a:tabLst>
                          <a:tab algn="l" pos="0"/>
                        </a:tabLst>
                      </a:pPr>
                      <a:r>
                        <a:rPr b="1" lang="en-US" sz="1300" spc="-1" strike="noStrike">
                          <a:solidFill>
                            <a:srgbClr val="0b2545"/>
                          </a:solidFill>
                          <a:latin typeface="Calibri"/>
                          <a:ea typeface="Calibri"/>
                        </a:rPr>
                        <a:t>Restauración posible</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Último Full o Diferencial</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Cualquier instante (STOPAT)</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Cualquier instante, salvo dentro de logs con carga masiva</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r>
              <a:tr h="381600">
                <a:tc>
                  <a:txBody>
                    <a:bodyPr lIns="109440" rIns="109440">
                      <a:noAutofit/>
                    </a:bodyPr>
                    <a:p>
                      <a:pPr>
                        <a:lnSpc>
                          <a:spcPct val="100000"/>
                        </a:lnSpc>
                        <a:tabLst>
                          <a:tab algn="l" pos="0"/>
                        </a:tabLst>
                      </a:pPr>
                      <a:r>
                        <a:rPr b="1" lang="en-US" sz="1300" spc="-1" strike="noStrike">
                          <a:solidFill>
                            <a:srgbClr val="0b2545"/>
                          </a:solidFill>
                          <a:latin typeface="Calibri"/>
                          <a:ea typeface="Calibri"/>
                        </a:rPr>
                        <a:t>Uso típico</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Desarrollo, DWH recargable</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OLTP en producción</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Ventanas ETL puntuales</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bl>
          </a:graphicData>
        </a:graphic>
      </p:graphicFrame>
      <p:sp>
        <p:nvSpPr>
          <p:cNvPr id="1520" name="CustomShape 6"/>
          <p:cNvSpPr/>
          <p:nvPr/>
        </p:nvSpPr>
        <p:spPr>
          <a:xfrm>
            <a:off x="548640" y="5120640"/>
            <a:ext cx="11089080" cy="1003320"/>
          </a:xfrm>
          <a:prstGeom prst="roundRect">
            <a:avLst>
              <a:gd name="adj" fmla="val 10909"/>
            </a:avLst>
          </a:prstGeom>
          <a:solidFill>
            <a:srgbClr val="fdede8"/>
          </a:solidFill>
          <a:ln>
            <a:noFill/>
          </a:ln>
        </p:spPr>
        <p:style>
          <a:lnRef idx="0"/>
          <a:fillRef idx="0"/>
          <a:effectRef idx="0"/>
          <a:fontRef idx="minor"/>
        </p:style>
      </p:sp>
      <p:sp>
        <p:nvSpPr>
          <p:cNvPr id="1521" name="CustomShape 7"/>
          <p:cNvSpPr/>
          <p:nvPr/>
        </p:nvSpPr>
        <p:spPr>
          <a:xfrm>
            <a:off x="731520" y="5394960"/>
            <a:ext cx="454680" cy="454680"/>
          </a:xfrm>
          <a:prstGeom prst="ellipse">
            <a:avLst/>
          </a:prstGeom>
          <a:solidFill>
            <a:srgbClr val="d95d39"/>
          </a:solidFill>
          <a:ln>
            <a:noFill/>
          </a:ln>
        </p:spPr>
        <p:style>
          <a:lnRef idx="0"/>
          <a:fillRef idx="0"/>
          <a:effectRef idx="0"/>
          <a:fontRef idx="minor"/>
        </p:style>
      </p:sp>
      <p:pic>
        <p:nvPicPr>
          <p:cNvPr id="1522" name="Image 0" descr="preencoded.png"/>
          <p:cNvPicPr/>
          <p:nvPr/>
        </p:nvPicPr>
        <p:blipFill>
          <a:blip r:embed="rId1"/>
          <a:stretch/>
        </p:blipFill>
        <p:spPr>
          <a:xfrm>
            <a:off x="846000" y="5509440"/>
            <a:ext cx="226080" cy="226080"/>
          </a:xfrm>
          <a:prstGeom prst="rect">
            <a:avLst/>
          </a:prstGeom>
          <a:ln>
            <a:noFill/>
          </a:ln>
        </p:spPr>
      </p:pic>
      <p:sp>
        <p:nvSpPr>
          <p:cNvPr id="1523" name="CustomShape 8"/>
          <p:cNvSpPr/>
          <p:nvPr/>
        </p:nvSpPr>
        <p:spPr>
          <a:xfrm>
            <a:off x="1371600" y="5120640"/>
            <a:ext cx="10083240" cy="10033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a8431f"/>
                </a:solidFill>
                <a:latin typeface="Calibri"/>
                <a:ea typeface="Calibri"/>
              </a:rPr>
              <a:t>Minimal logging: </a:t>
            </a:r>
            <a:r>
              <a:rPr b="0" lang="en-US" sz="1400" spc="-1" strike="noStrike">
                <a:solidFill>
                  <a:srgbClr val="1f2933"/>
                </a:solidFill>
                <a:latin typeface="Calibri"/>
                <a:ea typeface="Calibri"/>
              </a:rPr>
              <a:t>registra sólo la asignación de extents, no cada fila. Es más rápido y genera menos log, pero un log backup con carga masiva no permite STOPAT en su interior.</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524"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BACKUPS</a:t>
            </a:r>
            <a:endParaRPr b="0" lang="es-ES" sz="1000" spc="-1" strike="noStrike">
              <a:latin typeface="Arial"/>
            </a:endParaRPr>
          </a:p>
        </p:txBody>
      </p:sp>
      <p:sp>
        <p:nvSpPr>
          <p:cNvPr id="1525"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Estrategia: Full + Diferencial + Log chain</a:t>
            </a:r>
            <a:endParaRPr b="0" lang="es-ES" sz="3400" spc="-1" strike="noStrike">
              <a:latin typeface="Arial"/>
            </a:endParaRPr>
          </a:p>
        </p:txBody>
      </p:sp>
      <p:sp>
        <p:nvSpPr>
          <p:cNvPr id="1526"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527"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4   64</a:t>
            </a:r>
            <a:endParaRPr b="0" lang="es-ES" sz="1000" spc="-1" strike="noStrike">
              <a:latin typeface="Arial"/>
            </a:endParaRPr>
          </a:p>
        </p:txBody>
      </p:sp>
      <p:sp>
        <p:nvSpPr>
          <p:cNvPr id="1528" name="CustomShape 5"/>
          <p:cNvSpPr/>
          <p:nvPr/>
        </p:nvSpPr>
        <p:spPr>
          <a:xfrm>
            <a:off x="2286000" y="1600200"/>
            <a:ext cx="1831680" cy="344880"/>
          </a:xfrm>
          <a:prstGeom prst="rect">
            <a:avLst/>
          </a:prstGeom>
          <a:solidFill>
            <a:srgbClr val="0b2545"/>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300" spc="-1" strike="noStrike">
                <a:solidFill>
                  <a:srgbClr val="ffffff"/>
                </a:solidFill>
                <a:latin typeface="Calibri"/>
                <a:ea typeface="Calibri"/>
              </a:rPr>
              <a:t>Domingo</a:t>
            </a:r>
            <a:endParaRPr b="0" lang="es-ES" sz="1300" spc="-1" strike="noStrike">
              <a:latin typeface="Arial"/>
            </a:endParaRPr>
          </a:p>
        </p:txBody>
      </p:sp>
      <p:sp>
        <p:nvSpPr>
          <p:cNvPr id="1529" name="CustomShape 6"/>
          <p:cNvSpPr/>
          <p:nvPr/>
        </p:nvSpPr>
        <p:spPr>
          <a:xfrm>
            <a:off x="4156920" y="1600200"/>
            <a:ext cx="1831680" cy="344880"/>
          </a:xfrm>
          <a:prstGeom prst="rect">
            <a:avLst/>
          </a:prstGeom>
          <a:solidFill>
            <a:srgbClr val="0b2545"/>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300" spc="-1" strike="noStrike">
                <a:solidFill>
                  <a:srgbClr val="ffffff"/>
                </a:solidFill>
                <a:latin typeface="Calibri"/>
                <a:ea typeface="Calibri"/>
              </a:rPr>
              <a:t>Lunes</a:t>
            </a:r>
            <a:endParaRPr b="0" lang="es-ES" sz="1300" spc="-1" strike="noStrike">
              <a:latin typeface="Arial"/>
            </a:endParaRPr>
          </a:p>
        </p:txBody>
      </p:sp>
      <p:sp>
        <p:nvSpPr>
          <p:cNvPr id="1530" name="CustomShape 7"/>
          <p:cNvSpPr/>
          <p:nvPr/>
        </p:nvSpPr>
        <p:spPr>
          <a:xfrm>
            <a:off x="6027840" y="1600200"/>
            <a:ext cx="1831680" cy="344880"/>
          </a:xfrm>
          <a:prstGeom prst="rect">
            <a:avLst/>
          </a:prstGeom>
          <a:solidFill>
            <a:srgbClr val="0b2545"/>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300" spc="-1" strike="noStrike">
                <a:solidFill>
                  <a:srgbClr val="ffffff"/>
                </a:solidFill>
                <a:latin typeface="Calibri"/>
                <a:ea typeface="Calibri"/>
              </a:rPr>
              <a:t>Martes</a:t>
            </a:r>
            <a:endParaRPr b="0" lang="es-ES" sz="1300" spc="-1" strike="noStrike">
              <a:latin typeface="Arial"/>
            </a:endParaRPr>
          </a:p>
        </p:txBody>
      </p:sp>
      <p:sp>
        <p:nvSpPr>
          <p:cNvPr id="1531" name="CustomShape 8"/>
          <p:cNvSpPr/>
          <p:nvPr/>
        </p:nvSpPr>
        <p:spPr>
          <a:xfrm>
            <a:off x="7898760" y="1600200"/>
            <a:ext cx="1831680" cy="344880"/>
          </a:xfrm>
          <a:prstGeom prst="rect">
            <a:avLst/>
          </a:prstGeom>
          <a:solidFill>
            <a:srgbClr val="0b2545"/>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300" spc="-1" strike="noStrike">
                <a:solidFill>
                  <a:srgbClr val="ffffff"/>
                </a:solidFill>
                <a:latin typeface="Calibri"/>
                <a:ea typeface="Calibri"/>
              </a:rPr>
              <a:t>Miércoles</a:t>
            </a:r>
            <a:endParaRPr b="0" lang="es-ES" sz="1300" spc="-1" strike="noStrike">
              <a:latin typeface="Arial"/>
            </a:endParaRPr>
          </a:p>
        </p:txBody>
      </p:sp>
      <p:sp>
        <p:nvSpPr>
          <p:cNvPr id="1532" name="CustomShape 9"/>
          <p:cNvSpPr/>
          <p:nvPr/>
        </p:nvSpPr>
        <p:spPr>
          <a:xfrm>
            <a:off x="9769320" y="1600200"/>
            <a:ext cx="1831680" cy="344880"/>
          </a:xfrm>
          <a:prstGeom prst="rect">
            <a:avLst/>
          </a:prstGeom>
          <a:solidFill>
            <a:srgbClr val="0b2545"/>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300" spc="-1" strike="noStrike">
                <a:solidFill>
                  <a:srgbClr val="ffffff"/>
                </a:solidFill>
                <a:latin typeface="Calibri"/>
                <a:ea typeface="Calibri"/>
              </a:rPr>
              <a:t>Jueves</a:t>
            </a:r>
            <a:endParaRPr b="0" lang="es-ES" sz="1300" spc="-1" strike="noStrike">
              <a:latin typeface="Arial"/>
            </a:endParaRPr>
          </a:p>
        </p:txBody>
      </p:sp>
      <p:sp>
        <p:nvSpPr>
          <p:cNvPr id="1533" name="CustomShape 10"/>
          <p:cNvSpPr/>
          <p:nvPr/>
        </p:nvSpPr>
        <p:spPr>
          <a:xfrm>
            <a:off x="548640" y="2057400"/>
            <a:ext cx="1643400" cy="4546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d95d39"/>
                </a:solidFill>
                <a:latin typeface="Calibri"/>
                <a:ea typeface="Calibri"/>
              </a:rPr>
              <a:t>Full</a:t>
            </a:r>
            <a:endParaRPr b="0" lang="es-ES" sz="1400" spc="-1" strike="noStrike">
              <a:latin typeface="Arial"/>
            </a:endParaRPr>
          </a:p>
        </p:txBody>
      </p:sp>
      <p:sp>
        <p:nvSpPr>
          <p:cNvPr id="1534" name="CustomShape 11"/>
          <p:cNvSpPr/>
          <p:nvPr/>
        </p:nvSpPr>
        <p:spPr>
          <a:xfrm>
            <a:off x="2286000" y="2277000"/>
            <a:ext cx="9351720" cy="15840"/>
          </a:xfrm>
          <a:prstGeom prst="rect">
            <a:avLst/>
          </a:prstGeom>
          <a:solidFill>
            <a:srgbClr val="d0d7de"/>
          </a:solidFill>
          <a:ln>
            <a:noFill/>
          </a:ln>
        </p:spPr>
        <p:style>
          <a:lnRef idx="0"/>
          <a:fillRef idx="0"/>
          <a:effectRef idx="0"/>
          <a:fontRef idx="minor"/>
        </p:style>
      </p:sp>
      <p:sp>
        <p:nvSpPr>
          <p:cNvPr id="1535" name="CustomShape 12"/>
          <p:cNvSpPr/>
          <p:nvPr/>
        </p:nvSpPr>
        <p:spPr>
          <a:xfrm>
            <a:off x="548640" y="2651760"/>
            <a:ext cx="1643400" cy="4546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134074"/>
                </a:solidFill>
                <a:latin typeface="Calibri"/>
                <a:ea typeface="Calibri"/>
              </a:rPr>
              <a:t>Diferencial</a:t>
            </a:r>
            <a:endParaRPr b="0" lang="es-ES" sz="1400" spc="-1" strike="noStrike">
              <a:latin typeface="Arial"/>
            </a:endParaRPr>
          </a:p>
        </p:txBody>
      </p:sp>
      <p:sp>
        <p:nvSpPr>
          <p:cNvPr id="1536" name="CustomShape 13"/>
          <p:cNvSpPr/>
          <p:nvPr/>
        </p:nvSpPr>
        <p:spPr>
          <a:xfrm>
            <a:off x="2286000" y="2871360"/>
            <a:ext cx="9351720" cy="15840"/>
          </a:xfrm>
          <a:prstGeom prst="rect">
            <a:avLst/>
          </a:prstGeom>
          <a:solidFill>
            <a:srgbClr val="d0d7de"/>
          </a:solidFill>
          <a:ln>
            <a:noFill/>
          </a:ln>
        </p:spPr>
        <p:style>
          <a:lnRef idx="0"/>
          <a:fillRef idx="0"/>
          <a:effectRef idx="0"/>
          <a:fontRef idx="minor"/>
        </p:style>
      </p:sp>
      <p:sp>
        <p:nvSpPr>
          <p:cNvPr id="1537" name="CustomShape 14"/>
          <p:cNvSpPr/>
          <p:nvPr/>
        </p:nvSpPr>
        <p:spPr>
          <a:xfrm>
            <a:off x="548640" y="3246120"/>
            <a:ext cx="1643400" cy="4546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2a7f62"/>
                </a:solidFill>
                <a:latin typeface="Calibri"/>
                <a:ea typeface="Calibri"/>
              </a:rPr>
              <a:t>Log de transacciones</a:t>
            </a:r>
            <a:endParaRPr b="0" lang="es-ES" sz="1400" spc="-1" strike="noStrike">
              <a:latin typeface="Arial"/>
            </a:endParaRPr>
          </a:p>
        </p:txBody>
      </p:sp>
      <p:sp>
        <p:nvSpPr>
          <p:cNvPr id="1538" name="CustomShape 15"/>
          <p:cNvSpPr/>
          <p:nvPr/>
        </p:nvSpPr>
        <p:spPr>
          <a:xfrm>
            <a:off x="2286000" y="3465720"/>
            <a:ext cx="9351720" cy="15840"/>
          </a:xfrm>
          <a:prstGeom prst="rect">
            <a:avLst/>
          </a:prstGeom>
          <a:solidFill>
            <a:srgbClr val="d0d7de"/>
          </a:solidFill>
          <a:ln>
            <a:noFill/>
          </a:ln>
        </p:spPr>
        <p:style>
          <a:lnRef idx="0"/>
          <a:fillRef idx="0"/>
          <a:effectRef idx="0"/>
          <a:fontRef idx="minor"/>
        </p:style>
      </p:sp>
      <p:sp>
        <p:nvSpPr>
          <p:cNvPr id="1539" name="CustomShape 16"/>
          <p:cNvSpPr/>
          <p:nvPr/>
        </p:nvSpPr>
        <p:spPr>
          <a:xfrm>
            <a:off x="3786840" y="2094120"/>
            <a:ext cx="363240" cy="363240"/>
          </a:xfrm>
          <a:prstGeom prst="roundRect">
            <a:avLst>
              <a:gd name="adj" fmla="val 15000"/>
            </a:avLst>
          </a:prstGeom>
          <a:solidFill>
            <a:srgbClr val="d95d39"/>
          </a:solidFill>
          <a:ln>
            <a:noFill/>
          </a:ln>
        </p:spPr>
        <p:style>
          <a:lnRef idx="0"/>
          <a:fillRef idx="0"/>
          <a:effectRef idx="0"/>
          <a:fontRef idx="minor"/>
        </p:style>
      </p:sp>
      <p:sp>
        <p:nvSpPr>
          <p:cNvPr id="1540" name="CustomShape 17"/>
          <p:cNvSpPr/>
          <p:nvPr/>
        </p:nvSpPr>
        <p:spPr>
          <a:xfrm>
            <a:off x="3466800" y="2477880"/>
            <a:ext cx="1003320" cy="18036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000" spc="-1" strike="noStrike">
                <a:solidFill>
                  <a:srgbClr val="5c6b7a"/>
                </a:solidFill>
                <a:latin typeface="Calibri"/>
                <a:ea typeface="Calibri"/>
              </a:rPr>
              <a:t>Dom 22:00</a:t>
            </a:r>
            <a:endParaRPr b="0" lang="es-ES" sz="1000" spc="-1" strike="noStrike">
              <a:latin typeface="Arial"/>
            </a:endParaRPr>
          </a:p>
        </p:txBody>
      </p:sp>
      <p:sp>
        <p:nvSpPr>
          <p:cNvPr id="1541" name="CustomShape 18"/>
          <p:cNvSpPr/>
          <p:nvPr/>
        </p:nvSpPr>
        <p:spPr>
          <a:xfrm>
            <a:off x="5657760" y="2688480"/>
            <a:ext cx="363240" cy="363240"/>
          </a:xfrm>
          <a:prstGeom prst="roundRect">
            <a:avLst>
              <a:gd name="adj" fmla="val 15000"/>
            </a:avLst>
          </a:prstGeom>
          <a:solidFill>
            <a:srgbClr val="134074"/>
          </a:solidFill>
          <a:ln>
            <a:noFill/>
          </a:ln>
        </p:spPr>
        <p:style>
          <a:lnRef idx="0"/>
          <a:fillRef idx="0"/>
          <a:effectRef idx="0"/>
          <a:fontRef idx="minor"/>
        </p:style>
      </p:sp>
      <p:sp>
        <p:nvSpPr>
          <p:cNvPr id="1542" name="CustomShape 19"/>
          <p:cNvSpPr/>
          <p:nvPr/>
        </p:nvSpPr>
        <p:spPr>
          <a:xfrm>
            <a:off x="5337720" y="3072240"/>
            <a:ext cx="1003320" cy="18036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000" spc="-1" strike="noStrike">
                <a:solidFill>
                  <a:srgbClr val="5c6b7a"/>
                </a:solidFill>
                <a:latin typeface="Calibri"/>
                <a:ea typeface="Calibri"/>
              </a:rPr>
              <a:t>Lun 22:00</a:t>
            </a:r>
            <a:endParaRPr b="0" lang="es-ES" sz="1000" spc="-1" strike="noStrike">
              <a:latin typeface="Arial"/>
            </a:endParaRPr>
          </a:p>
        </p:txBody>
      </p:sp>
      <p:sp>
        <p:nvSpPr>
          <p:cNvPr id="1543" name="CustomShape 20"/>
          <p:cNvSpPr/>
          <p:nvPr/>
        </p:nvSpPr>
        <p:spPr>
          <a:xfrm>
            <a:off x="7528680" y="2688480"/>
            <a:ext cx="363240" cy="363240"/>
          </a:xfrm>
          <a:prstGeom prst="roundRect">
            <a:avLst>
              <a:gd name="adj" fmla="val 15000"/>
            </a:avLst>
          </a:prstGeom>
          <a:solidFill>
            <a:srgbClr val="134074"/>
          </a:solidFill>
          <a:ln>
            <a:noFill/>
          </a:ln>
        </p:spPr>
        <p:style>
          <a:lnRef idx="0"/>
          <a:fillRef idx="0"/>
          <a:effectRef idx="0"/>
          <a:fontRef idx="minor"/>
        </p:style>
      </p:sp>
      <p:sp>
        <p:nvSpPr>
          <p:cNvPr id="1544" name="CustomShape 21"/>
          <p:cNvSpPr/>
          <p:nvPr/>
        </p:nvSpPr>
        <p:spPr>
          <a:xfrm>
            <a:off x="7208640" y="3072240"/>
            <a:ext cx="1003320" cy="18036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000" spc="-1" strike="noStrike">
                <a:solidFill>
                  <a:srgbClr val="5c6b7a"/>
                </a:solidFill>
                <a:latin typeface="Calibri"/>
                <a:ea typeface="Calibri"/>
              </a:rPr>
              <a:t>Mar 22:00</a:t>
            </a:r>
            <a:endParaRPr b="0" lang="es-ES" sz="1000" spc="-1" strike="noStrike">
              <a:latin typeface="Arial"/>
            </a:endParaRPr>
          </a:p>
        </p:txBody>
      </p:sp>
      <p:sp>
        <p:nvSpPr>
          <p:cNvPr id="1545" name="CustomShape 22"/>
          <p:cNvSpPr/>
          <p:nvPr/>
        </p:nvSpPr>
        <p:spPr>
          <a:xfrm>
            <a:off x="3988800" y="3355920"/>
            <a:ext cx="34200" cy="217080"/>
          </a:xfrm>
          <a:prstGeom prst="rect">
            <a:avLst/>
          </a:prstGeom>
          <a:solidFill>
            <a:srgbClr val="2a7f62"/>
          </a:solidFill>
          <a:ln>
            <a:noFill/>
          </a:ln>
        </p:spPr>
        <p:style>
          <a:lnRef idx="0"/>
          <a:fillRef idx="0"/>
          <a:effectRef idx="0"/>
          <a:fontRef idx="minor"/>
        </p:style>
      </p:sp>
      <p:sp>
        <p:nvSpPr>
          <p:cNvPr id="1546" name="CustomShape 23"/>
          <p:cNvSpPr/>
          <p:nvPr/>
        </p:nvSpPr>
        <p:spPr>
          <a:xfrm>
            <a:off x="4063680" y="3355920"/>
            <a:ext cx="34200" cy="217080"/>
          </a:xfrm>
          <a:prstGeom prst="rect">
            <a:avLst/>
          </a:prstGeom>
          <a:solidFill>
            <a:srgbClr val="2a7f62"/>
          </a:solidFill>
          <a:ln>
            <a:noFill/>
          </a:ln>
        </p:spPr>
        <p:style>
          <a:lnRef idx="0"/>
          <a:fillRef idx="0"/>
          <a:effectRef idx="0"/>
          <a:fontRef idx="minor"/>
        </p:style>
      </p:sp>
      <p:sp>
        <p:nvSpPr>
          <p:cNvPr id="1547" name="CustomShape 24"/>
          <p:cNvSpPr/>
          <p:nvPr/>
        </p:nvSpPr>
        <p:spPr>
          <a:xfrm>
            <a:off x="4138560" y="3355920"/>
            <a:ext cx="34200" cy="217080"/>
          </a:xfrm>
          <a:prstGeom prst="rect">
            <a:avLst/>
          </a:prstGeom>
          <a:solidFill>
            <a:srgbClr val="2a7f62"/>
          </a:solidFill>
          <a:ln>
            <a:noFill/>
          </a:ln>
        </p:spPr>
        <p:style>
          <a:lnRef idx="0"/>
          <a:fillRef idx="0"/>
          <a:effectRef idx="0"/>
          <a:fontRef idx="minor"/>
        </p:style>
      </p:sp>
      <p:sp>
        <p:nvSpPr>
          <p:cNvPr id="1548" name="CustomShape 25"/>
          <p:cNvSpPr/>
          <p:nvPr/>
        </p:nvSpPr>
        <p:spPr>
          <a:xfrm>
            <a:off x="4213440" y="3355920"/>
            <a:ext cx="34200" cy="217080"/>
          </a:xfrm>
          <a:prstGeom prst="rect">
            <a:avLst/>
          </a:prstGeom>
          <a:solidFill>
            <a:srgbClr val="2a7f62"/>
          </a:solidFill>
          <a:ln>
            <a:noFill/>
          </a:ln>
        </p:spPr>
        <p:style>
          <a:lnRef idx="0"/>
          <a:fillRef idx="0"/>
          <a:effectRef idx="0"/>
          <a:fontRef idx="minor"/>
        </p:style>
      </p:sp>
      <p:sp>
        <p:nvSpPr>
          <p:cNvPr id="1549" name="CustomShape 26"/>
          <p:cNvSpPr/>
          <p:nvPr/>
        </p:nvSpPr>
        <p:spPr>
          <a:xfrm>
            <a:off x="4288320" y="3355920"/>
            <a:ext cx="34200" cy="217080"/>
          </a:xfrm>
          <a:prstGeom prst="rect">
            <a:avLst/>
          </a:prstGeom>
          <a:solidFill>
            <a:srgbClr val="2a7f62"/>
          </a:solidFill>
          <a:ln>
            <a:noFill/>
          </a:ln>
        </p:spPr>
        <p:style>
          <a:lnRef idx="0"/>
          <a:fillRef idx="0"/>
          <a:effectRef idx="0"/>
          <a:fontRef idx="minor"/>
        </p:style>
      </p:sp>
      <p:sp>
        <p:nvSpPr>
          <p:cNvPr id="1550" name="CustomShape 27"/>
          <p:cNvSpPr/>
          <p:nvPr/>
        </p:nvSpPr>
        <p:spPr>
          <a:xfrm>
            <a:off x="4363200" y="3355920"/>
            <a:ext cx="34200" cy="217080"/>
          </a:xfrm>
          <a:prstGeom prst="rect">
            <a:avLst/>
          </a:prstGeom>
          <a:solidFill>
            <a:srgbClr val="2a7f62"/>
          </a:solidFill>
          <a:ln>
            <a:noFill/>
          </a:ln>
        </p:spPr>
        <p:style>
          <a:lnRef idx="0"/>
          <a:fillRef idx="0"/>
          <a:effectRef idx="0"/>
          <a:fontRef idx="minor"/>
        </p:style>
      </p:sp>
      <p:sp>
        <p:nvSpPr>
          <p:cNvPr id="1551" name="CustomShape 28"/>
          <p:cNvSpPr/>
          <p:nvPr/>
        </p:nvSpPr>
        <p:spPr>
          <a:xfrm>
            <a:off x="4438080" y="3355920"/>
            <a:ext cx="34200" cy="217080"/>
          </a:xfrm>
          <a:prstGeom prst="rect">
            <a:avLst/>
          </a:prstGeom>
          <a:solidFill>
            <a:srgbClr val="2a7f62"/>
          </a:solidFill>
          <a:ln>
            <a:noFill/>
          </a:ln>
        </p:spPr>
        <p:style>
          <a:lnRef idx="0"/>
          <a:fillRef idx="0"/>
          <a:effectRef idx="0"/>
          <a:fontRef idx="minor"/>
        </p:style>
      </p:sp>
      <p:sp>
        <p:nvSpPr>
          <p:cNvPr id="1552" name="CustomShape 29"/>
          <p:cNvSpPr/>
          <p:nvPr/>
        </p:nvSpPr>
        <p:spPr>
          <a:xfrm>
            <a:off x="4512600" y="3355920"/>
            <a:ext cx="34200" cy="217080"/>
          </a:xfrm>
          <a:prstGeom prst="rect">
            <a:avLst/>
          </a:prstGeom>
          <a:solidFill>
            <a:srgbClr val="2a7f62"/>
          </a:solidFill>
          <a:ln>
            <a:noFill/>
          </a:ln>
        </p:spPr>
        <p:style>
          <a:lnRef idx="0"/>
          <a:fillRef idx="0"/>
          <a:effectRef idx="0"/>
          <a:fontRef idx="minor"/>
        </p:style>
      </p:sp>
      <p:sp>
        <p:nvSpPr>
          <p:cNvPr id="1553" name="CustomShape 30"/>
          <p:cNvSpPr/>
          <p:nvPr/>
        </p:nvSpPr>
        <p:spPr>
          <a:xfrm>
            <a:off x="4587480" y="3355920"/>
            <a:ext cx="34200" cy="217080"/>
          </a:xfrm>
          <a:prstGeom prst="rect">
            <a:avLst/>
          </a:prstGeom>
          <a:solidFill>
            <a:srgbClr val="2a7f62"/>
          </a:solidFill>
          <a:ln>
            <a:noFill/>
          </a:ln>
        </p:spPr>
        <p:style>
          <a:lnRef idx="0"/>
          <a:fillRef idx="0"/>
          <a:effectRef idx="0"/>
          <a:fontRef idx="minor"/>
        </p:style>
      </p:sp>
      <p:sp>
        <p:nvSpPr>
          <p:cNvPr id="1554" name="CustomShape 31"/>
          <p:cNvSpPr/>
          <p:nvPr/>
        </p:nvSpPr>
        <p:spPr>
          <a:xfrm>
            <a:off x="4662360" y="3355920"/>
            <a:ext cx="34200" cy="217080"/>
          </a:xfrm>
          <a:prstGeom prst="rect">
            <a:avLst/>
          </a:prstGeom>
          <a:solidFill>
            <a:srgbClr val="2a7f62"/>
          </a:solidFill>
          <a:ln>
            <a:noFill/>
          </a:ln>
        </p:spPr>
        <p:style>
          <a:lnRef idx="0"/>
          <a:fillRef idx="0"/>
          <a:effectRef idx="0"/>
          <a:fontRef idx="minor"/>
        </p:style>
      </p:sp>
      <p:sp>
        <p:nvSpPr>
          <p:cNvPr id="1555" name="CustomShape 32"/>
          <p:cNvSpPr/>
          <p:nvPr/>
        </p:nvSpPr>
        <p:spPr>
          <a:xfrm>
            <a:off x="4737240" y="3355920"/>
            <a:ext cx="34200" cy="217080"/>
          </a:xfrm>
          <a:prstGeom prst="rect">
            <a:avLst/>
          </a:prstGeom>
          <a:solidFill>
            <a:srgbClr val="2a7f62"/>
          </a:solidFill>
          <a:ln>
            <a:noFill/>
          </a:ln>
        </p:spPr>
        <p:style>
          <a:lnRef idx="0"/>
          <a:fillRef idx="0"/>
          <a:effectRef idx="0"/>
          <a:fontRef idx="minor"/>
        </p:style>
      </p:sp>
      <p:sp>
        <p:nvSpPr>
          <p:cNvPr id="1556" name="CustomShape 33"/>
          <p:cNvSpPr/>
          <p:nvPr/>
        </p:nvSpPr>
        <p:spPr>
          <a:xfrm>
            <a:off x="4812120" y="3355920"/>
            <a:ext cx="34200" cy="217080"/>
          </a:xfrm>
          <a:prstGeom prst="rect">
            <a:avLst/>
          </a:prstGeom>
          <a:solidFill>
            <a:srgbClr val="2a7f62"/>
          </a:solidFill>
          <a:ln>
            <a:noFill/>
          </a:ln>
        </p:spPr>
        <p:style>
          <a:lnRef idx="0"/>
          <a:fillRef idx="0"/>
          <a:effectRef idx="0"/>
          <a:fontRef idx="minor"/>
        </p:style>
      </p:sp>
      <p:sp>
        <p:nvSpPr>
          <p:cNvPr id="1557" name="CustomShape 34"/>
          <p:cNvSpPr/>
          <p:nvPr/>
        </p:nvSpPr>
        <p:spPr>
          <a:xfrm>
            <a:off x="4887000" y="3355920"/>
            <a:ext cx="34200" cy="217080"/>
          </a:xfrm>
          <a:prstGeom prst="rect">
            <a:avLst/>
          </a:prstGeom>
          <a:solidFill>
            <a:srgbClr val="2a7f62"/>
          </a:solidFill>
          <a:ln>
            <a:noFill/>
          </a:ln>
        </p:spPr>
        <p:style>
          <a:lnRef idx="0"/>
          <a:fillRef idx="0"/>
          <a:effectRef idx="0"/>
          <a:fontRef idx="minor"/>
        </p:style>
      </p:sp>
      <p:sp>
        <p:nvSpPr>
          <p:cNvPr id="1558" name="CustomShape 35"/>
          <p:cNvSpPr/>
          <p:nvPr/>
        </p:nvSpPr>
        <p:spPr>
          <a:xfrm>
            <a:off x="4961880" y="3355920"/>
            <a:ext cx="34200" cy="217080"/>
          </a:xfrm>
          <a:prstGeom prst="rect">
            <a:avLst/>
          </a:prstGeom>
          <a:solidFill>
            <a:srgbClr val="2a7f62"/>
          </a:solidFill>
          <a:ln>
            <a:noFill/>
          </a:ln>
        </p:spPr>
        <p:style>
          <a:lnRef idx="0"/>
          <a:fillRef idx="0"/>
          <a:effectRef idx="0"/>
          <a:fontRef idx="minor"/>
        </p:style>
      </p:sp>
      <p:sp>
        <p:nvSpPr>
          <p:cNvPr id="1559" name="CustomShape 36"/>
          <p:cNvSpPr/>
          <p:nvPr/>
        </p:nvSpPr>
        <p:spPr>
          <a:xfrm>
            <a:off x="5036760" y="3355920"/>
            <a:ext cx="34200" cy="217080"/>
          </a:xfrm>
          <a:prstGeom prst="rect">
            <a:avLst/>
          </a:prstGeom>
          <a:solidFill>
            <a:srgbClr val="2a7f62"/>
          </a:solidFill>
          <a:ln>
            <a:noFill/>
          </a:ln>
        </p:spPr>
        <p:style>
          <a:lnRef idx="0"/>
          <a:fillRef idx="0"/>
          <a:effectRef idx="0"/>
          <a:fontRef idx="minor"/>
        </p:style>
      </p:sp>
      <p:sp>
        <p:nvSpPr>
          <p:cNvPr id="1560" name="CustomShape 37"/>
          <p:cNvSpPr/>
          <p:nvPr/>
        </p:nvSpPr>
        <p:spPr>
          <a:xfrm>
            <a:off x="5111280" y="3355920"/>
            <a:ext cx="34200" cy="217080"/>
          </a:xfrm>
          <a:prstGeom prst="rect">
            <a:avLst/>
          </a:prstGeom>
          <a:solidFill>
            <a:srgbClr val="2a7f62"/>
          </a:solidFill>
          <a:ln>
            <a:noFill/>
          </a:ln>
        </p:spPr>
        <p:style>
          <a:lnRef idx="0"/>
          <a:fillRef idx="0"/>
          <a:effectRef idx="0"/>
          <a:fontRef idx="minor"/>
        </p:style>
      </p:sp>
      <p:sp>
        <p:nvSpPr>
          <p:cNvPr id="1561" name="CustomShape 38"/>
          <p:cNvSpPr/>
          <p:nvPr/>
        </p:nvSpPr>
        <p:spPr>
          <a:xfrm>
            <a:off x="5186160" y="3355920"/>
            <a:ext cx="34200" cy="217080"/>
          </a:xfrm>
          <a:prstGeom prst="rect">
            <a:avLst/>
          </a:prstGeom>
          <a:solidFill>
            <a:srgbClr val="2a7f62"/>
          </a:solidFill>
          <a:ln>
            <a:noFill/>
          </a:ln>
        </p:spPr>
        <p:style>
          <a:lnRef idx="0"/>
          <a:fillRef idx="0"/>
          <a:effectRef idx="0"/>
          <a:fontRef idx="minor"/>
        </p:style>
      </p:sp>
      <p:sp>
        <p:nvSpPr>
          <p:cNvPr id="1562" name="CustomShape 39"/>
          <p:cNvSpPr/>
          <p:nvPr/>
        </p:nvSpPr>
        <p:spPr>
          <a:xfrm>
            <a:off x="5261040" y="3355920"/>
            <a:ext cx="34200" cy="217080"/>
          </a:xfrm>
          <a:prstGeom prst="rect">
            <a:avLst/>
          </a:prstGeom>
          <a:solidFill>
            <a:srgbClr val="2a7f62"/>
          </a:solidFill>
          <a:ln>
            <a:noFill/>
          </a:ln>
        </p:spPr>
        <p:style>
          <a:lnRef idx="0"/>
          <a:fillRef idx="0"/>
          <a:effectRef idx="0"/>
          <a:fontRef idx="minor"/>
        </p:style>
      </p:sp>
      <p:sp>
        <p:nvSpPr>
          <p:cNvPr id="1563" name="CustomShape 40"/>
          <p:cNvSpPr/>
          <p:nvPr/>
        </p:nvSpPr>
        <p:spPr>
          <a:xfrm>
            <a:off x="5335920" y="3355920"/>
            <a:ext cx="34200" cy="217080"/>
          </a:xfrm>
          <a:prstGeom prst="rect">
            <a:avLst/>
          </a:prstGeom>
          <a:solidFill>
            <a:srgbClr val="2a7f62"/>
          </a:solidFill>
          <a:ln>
            <a:noFill/>
          </a:ln>
        </p:spPr>
        <p:style>
          <a:lnRef idx="0"/>
          <a:fillRef idx="0"/>
          <a:effectRef idx="0"/>
          <a:fontRef idx="minor"/>
        </p:style>
      </p:sp>
      <p:sp>
        <p:nvSpPr>
          <p:cNvPr id="1564" name="CustomShape 41"/>
          <p:cNvSpPr/>
          <p:nvPr/>
        </p:nvSpPr>
        <p:spPr>
          <a:xfrm>
            <a:off x="5410800" y="3355920"/>
            <a:ext cx="34200" cy="217080"/>
          </a:xfrm>
          <a:prstGeom prst="rect">
            <a:avLst/>
          </a:prstGeom>
          <a:solidFill>
            <a:srgbClr val="2a7f62"/>
          </a:solidFill>
          <a:ln>
            <a:noFill/>
          </a:ln>
        </p:spPr>
        <p:style>
          <a:lnRef idx="0"/>
          <a:fillRef idx="0"/>
          <a:effectRef idx="0"/>
          <a:fontRef idx="minor"/>
        </p:style>
      </p:sp>
      <p:sp>
        <p:nvSpPr>
          <p:cNvPr id="1565" name="CustomShape 42"/>
          <p:cNvSpPr/>
          <p:nvPr/>
        </p:nvSpPr>
        <p:spPr>
          <a:xfrm>
            <a:off x="5485680" y="3355920"/>
            <a:ext cx="34200" cy="217080"/>
          </a:xfrm>
          <a:prstGeom prst="rect">
            <a:avLst/>
          </a:prstGeom>
          <a:solidFill>
            <a:srgbClr val="2a7f62"/>
          </a:solidFill>
          <a:ln>
            <a:noFill/>
          </a:ln>
        </p:spPr>
        <p:style>
          <a:lnRef idx="0"/>
          <a:fillRef idx="0"/>
          <a:effectRef idx="0"/>
          <a:fontRef idx="minor"/>
        </p:style>
      </p:sp>
      <p:sp>
        <p:nvSpPr>
          <p:cNvPr id="1566" name="CustomShape 43"/>
          <p:cNvSpPr/>
          <p:nvPr/>
        </p:nvSpPr>
        <p:spPr>
          <a:xfrm>
            <a:off x="5560560" y="3355920"/>
            <a:ext cx="34200" cy="217080"/>
          </a:xfrm>
          <a:prstGeom prst="rect">
            <a:avLst/>
          </a:prstGeom>
          <a:solidFill>
            <a:srgbClr val="2a7f62"/>
          </a:solidFill>
          <a:ln>
            <a:noFill/>
          </a:ln>
        </p:spPr>
        <p:style>
          <a:lnRef idx="0"/>
          <a:fillRef idx="0"/>
          <a:effectRef idx="0"/>
          <a:fontRef idx="minor"/>
        </p:style>
      </p:sp>
      <p:sp>
        <p:nvSpPr>
          <p:cNvPr id="1567" name="CustomShape 44"/>
          <p:cNvSpPr/>
          <p:nvPr/>
        </p:nvSpPr>
        <p:spPr>
          <a:xfrm>
            <a:off x="5635440" y="3355920"/>
            <a:ext cx="34200" cy="217080"/>
          </a:xfrm>
          <a:prstGeom prst="rect">
            <a:avLst/>
          </a:prstGeom>
          <a:solidFill>
            <a:srgbClr val="2a7f62"/>
          </a:solidFill>
          <a:ln>
            <a:noFill/>
          </a:ln>
        </p:spPr>
        <p:style>
          <a:lnRef idx="0"/>
          <a:fillRef idx="0"/>
          <a:effectRef idx="0"/>
          <a:fontRef idx="minor"/>
        </p:style>
      </p:sp>
      <p:sp>
        <p:nvSpPr>
          <p:cNvPr id="1568" name="CustomShape 45"/>
          <p:cNvSpPr/>
          <p:nvPr/>
        </p:nvSpPr>
        <p:spPr>
          <a:xfrm>
            <a:off x="5709960" y="3355920"/>
            <a:ext cx="34200" cy="217080"/>
          </a:xfrm>
          <a:prstGeom prst="rect">
            <a:avLst/>
          </a:prstGeom>
          <a:solidFill>
            <a:srgbClr val="2a7f62"/>
          </a:solidFill>
          <a:ln>
            <a:noFill/>
          </a:ln>
        </p:spPr>
        <p:style>
          <a:lnRef idx="0"/>
          <a:fillRef idx="0"/>
          <a:effectRef idx="0"/>
          <a:fontRef idx="minor"/>
        </p:style>
      </p:sp>
      <p:sp>
        <p:nvSpPr>
          <p:cNvPr id="1569" name="CustomShape 46"/>
          <p:cNvSpPr/>
          <p:nvPr/>
        </p:nvSpPr>
        <p:spPr>
          <a:xfrm>
            <a:off x="5784840" y="3355920"/>
            <a:ext cx="34200" cy="217080"/>
          </a:xfrm>
          <a:prstGeom prst="rect">
            <a:avLst/>
          </a:prstGeom>
          <a:solidFill>
            <a:srgbClr val="2a7f62"/>
          </a:solidFill>
          <a:ln>
            <a:noFill/>
          </a:ln>
        </p:spPr>
        <p:style>
          <a:lnRef idx="0"/>
          <a:fillRef idx="0"/>
          <a:effectRef idx="0"/>
          <a:fontRef idx="minor"/>
        </p:style>
      </p:sp>
      <p:sp>
        <p:nvSpPr>
          <p:cNvPr id="1570" name="CustomShape 47"/>
          <p:cNvSpPr/>
          <p:nvPr/>
        </p:nvSpPr>
        <p:spPr>
          <a:xfrm>
            <a:off x="5859720" y="3355920"/>
            <a:ext cx="34200" cy="217080"/>
          </a:xfrm>
          <a:prstGeom prst="rect">
            <a:avLst/>
          </a:prstGeom>
          <a:solidFill>
            <a:srgbClr val="2a7f62"/>
          </a:solidFill>
          <a:ln>
            <a:noFill/>
          </a:ln>
        </p:spPr>
        <p:style>
          <a:lnRef idx="0"/>
          <a:fillRef idx="0"/>
          <a:effectRef idx="0"/>
          <a:fontRef idx="minor"/>
        </p:style>
      </p:sp>
      <p:sp>
        <p:nvSpPr>
          <p:cNvPr id="1571" name="CustomShape 48"/>
          <p:cNvSpPr/>
          <p:nvPr/>
        </p:nvSpPr>
        <p:spPr>
          <a:xfrm>
            <a:off x="5934600" y="3355920"/>
            <a:ext cx="34200" cy="217080"/>
          </a:xfrm>
          <a:prstGeom prst="rect">
            <a:avLst/>
          </a:prstGeom>
          <a:solidFill>
            <a:srgbClr val="2a7f62"/>
          </a:solidFill>
          <a:ln>
            <a:noFill/>
          </a:ln>
        </p:spPr>
        <p:style>
          <a:lnRef idx="0"/>
          <a:fillRef idx="0"/>
          <a:effectRef idx="0"/>
          <a:fontRef idx="minor"/>
        </p:style>
      </p:sp>
      <p:sp>
        <p:nvSpPr>
          <p:cNvPr id="1572" name="CustomShape 49"/>
          <p:cNvSpPr/>
          <p:nvPr/>
        </p:nvSpPr>
        <p:spPr>
          <a:xfrm>
            <a:off x="6009480" y="3355920"/>
            <a:ext cx="34200" cy="217080"/>
          </a:xfrm>
          <a:prstGeom prst="rect">
            <a:avLst/>
          </a:prstGeom>
          <a:solidFill>
            <a:srgbClr val="2a7f62"/>
          </a:solidFill>
          <a:ln>
            <a:noFill/>
          </a:ln>
        </p:spPr>
        <p:style>
          <a:lnRef idx="0"/>
          <a:fillRef idx="0"/>
          <a:effectRef idx="0"/>
          <a:fontRef idx="minor"/>
        </p:style>
      </p:sp>
      <p:sp>
        <p:nvSpPr>
          <p:cNvPr id="1573" name="CustomShape 50"/>
          <p:cNvSpPr/>
          <p:nvPr/>
        </p:nvSpPr>
        <p:spPr>
          <a:xfrm>
            <a:off x="6084360" y="3355920"/>
            <a:ext cx="34200" cy="217080"/>
          </a:xfrm>
          <a:prstGeom prst="rect">
            <a:avLst/>
          </a:prstGeom>
          <a:solidFill>
            <a:srgbClr val="2a7f62"/>
          </a:solidFill>
          <a:ln>
            <a:noFill/>
          </a:ln>
        </p:spPr>
        <p:style>
          <a:lnRef idx="0"/>
          <a:fillRef idx="0"/>
          <a:effectRef idx="0"/>
          <a:fontRef idx="minor"/>
        </p:style>
      </p:sp>
      <p:sp>
        <p:nvSpPr>
          <p:cNvPr id="1574" name="CustomShape 51"/>
          <p:cNvSpPr/>
          <p:nvPr/>
        </p:nvSpPr>
        <p:spPr>
          <a:xfrm>
            <a:off x="6159240" y="3355920"/>
            <a:ext cx="34200" cy="217080"/>
          </a:xfrm>
          <a:prstGeom prst="rect">
            <a:avLst/>
          </a:prstGeom>
          <a:solidFill>
            <a:srgbClr val="2a7f62"/>
          </a:solidFill>
          <a:ln>
            <a:noFill/>
          </a:ln>
        </p:spPr>
        <p:style>
          <a:lnRef idx="0"/>
          <a:fillRef idx="0"/>
          <a:effectRef idx="0"/>
          <a:fontRef idx="minor"/>
        </p:style>
      </p:sp>
      <p:sp>
        <p:nvSpPr>
          <p:cNvPr id="1575" name="CustomShape 52"/>
          <p:cNvSpPr/>
          <p:nvPr/>
        </p:nvSpPr>
        <p:spPr>
          <a:xfrm>
            <a:off x="6234120" y="3355920"/>
            <a:ext cx="34200" cy="217080"/>
          </a:xfrm>
          <a:prstGeom prst="rect">
            <a:avLst/>
          </a:prstGeom>
          <a:solidFill>
            <a:srgbClr val="2a7f62"/>
          </a:solidFill>
          <a:ln>
            <a:noFill/>
          </a:ln>
        </p:spPr>
        <p:style>
          <a:lnRef idx="0"/>
          <a:fillRef idx="0"/>
          <a:effectRef idx="0"/>
          <a:fontRef idx="minor"/>
        </p:style>
      </p:sp>
      <p:sp>
        <p:nvSpPr>
          <p:cNvPr id="1576" name="CustomShape 53"/>
          <p:cNvSpPr/>
          <p:nvPr/>
        </p:nvSpPr>
        <p:spPr>
          <a:xfrm>
            <a:off x="6308640" y="3355920"/>
            <a:ext cx="34200" cy="217080"/>
          </a:xfrm>
          <a:prstGeom prst="rect">
            <a:avLst/>
          </a:prstGeom>
          <a:solidFill>
            <a:srgbClr val="2a7f62"/>
          </a:solidFill>
          <a:ln>
            <a:noFill/>
          </a:ln>
        </p:spPr>
        <p:style>
          <a:lnRef idx="0"/>
          <a:fillRef idx="0"/>
          <a:effectRef idx="0"/>
          <a:fontRef idx="minor"/>
        </p:style>
      </p:sp>
      <p:sp>
        <p:nvSpPr>
          <p:cNvPr id="1577" name="CustomShape 54"/>
          <p:cNvSpPr/>
          <p:nvPr/>
        </p:nvSpPr>
        <p:spPr>
          <a:xfrm>
            <a:off x="6383520" y="3355920"/>
            <a:ext cx="34200" cy="217080"/>
          </a:xfrm>
          <a:prstGeom prst="rect">
            <a:avLst/>
          </a:prstGeom>
          <a:solidFill>
            <a:srgbClr val="2a7f62"/>
          </a:solidFill>
          <a:ln>
            <a:noFill/>
          </a:ln>
        </p:spPr>
        <p:style>
          <a:lnRef idx="0"/>
          <a:fillRef idx="0"/>
          <a:effectRef idx="0"/>
          <a:fontRef idx="minor"/>
        </p:style>
      </p:sp>
      <p:sp>
        <p:nvSpPr>
          <p:cNvPr id="1578" name="CustomShape 55"/>
          <p:cNvSpPr/>
          <p:nvPr/>
        </p:nvSpPr>
        <p:spPr>
          <a:xfrm>
            <a:off x="6458400" y="3355920"/>
            <a:ext cx="34200" cy="217080"/>
          </a:xfrm>
          <a:prstGeom prst="rect">
            <a:avLst/>
          </a:prstGeom>
          <a:solidFill>
            <a:srgbClr val="2a7f62"/>
          </a:solidFill>
          <a:ln>
            <a:noFill/>
          </a:ln>
        </p:spPr>
        <p:style>
          <a:lnRef idx="0"/>
          <a:fillRef idx="0"/>
          <a:effectRef idx="0"/>
          <a:fontRef idx="minor"/>
        </p:style>
      </p:sp>
      <p:sp>
        <p:nvSpPr>
          <p:cNvPr id="1579" name="CustomShape 56"/>
          <p:cNvSpPr/>
          <p:nvPr/>
        </p:nvSpPr>
        <p:spPr>
          <a:xfrm>
            <a:off x="6533280" y="3355920"/>
            <a:ext cx="34200" cy="217080"/>
          </a:xfrm>
          <a:prstGeom prst="rect">
            <a:avLst/>
          </a:prstGeom>
          <a:solidFill>
            <a:srgbClr val="2a7f62"/>
          </a:solidFill>
          <a:ln>
            <a:noFill/>
          </a:ln>
        </p:spPr>
        <p:style>
          <a:lnRef idx="0"/>
          <a:fillRef idx="0"/>
          <a:effectRef idx="0"/>
          <a:fontRef idx="minor"/>
        </p:style>
      </p:sp>
      <p:sp>
        <p:nvSpPr>
          <p:cNvPr id="1580" name="CustomShape 57"/>
          <p:cNvSpPr/>
          <p:nvPr/>
        </p:nvSpPr>
        <p:spPr>
          <a:xfrm>
            <a:off x="6608160" y="3355920"/>
            <a:ext cx="34200" cy="217080"/>
          </a:xfrm>
          <a:prstGeom prst="rect">
            <a:avLst/>
          </a:prstGeom>
          <a:solidFill>
            <a:srgbClr val="2a7f62"/>
          </a:solidFill>
          <a:ln>
            <a:noFill/>
          </a:ln>
        </p:spPr>
        <p:style>
          <a:lnRef idx="0"/>
          <a:fillRef idx="0"/>
          <a:effectRef idx="0"/>
          <a:fontRef idx="minor"/>
        </p:style>
      </p:sp>
      <p:sp>
        <p:nvSpPr>
          <p:cNvPr id="1581" name="CustomShape 58"/>
          <p:cNvSpPr/>
          <p:nvPr/>
        </p:nvSpPr>
        <p:spPr>
          <a:xfrm>
            <a:off x="6683040" y="3355920"/>
            <a:ext cx="34200" cy="217080"/>
          </a:xfrm>
          <a:prstGeom prst="rect">
            <a:avLst/>
          </a:prstGeom>
          <a:solidFill>
            <a:srgbClr val="2a7f62"/>
          </a:solidFill>
          <a:ln>
            <a:noFill/>
          </a:ln>
        </p:spPr>
        <p:style>
          <a:lnRef idx="0"/>
          <a:fillRef idx="0"/>
          <a:effectRef idx="0"/>
          <a:fontRef idx="minor"/>
        </p:style>
      </p:sp>
      <p:sp>
        <p:nvSpPr>
          <p:cNvPr id="1582" name="CustomShape 59"/>
          <p:cNvSpPr/>
          <p:nvPr/>
        </p:nvSpPr>
        <p:spPr>
          <a:xfrm>
            <a:off x="6757920" y="3355920"/>
            <a:ext cx="34200" cy="217080"/>
          </a:xfrm>
          <a:prstGeom prst="rect">
            <a:avLst/>
          </a:prstGeom>
          <a:solidFill>
            <a:srgbClr val="2a7f62"/>
          </a:solidFill>
          <a:ln>
            <a:noFill/>
          </a:ln>
        </p:spPr>
        <p:style>
          <a:lnRef idx="0"/>
          <a:fillRef idx="0"/>
          <a:effectRef idx="0"/>
          <a:fontRef idx="minor"/>
        </p:style>
      </p:sp>
      <p:sp>
        <p:nvSpPr>
          <p:cNvPr id="1583" name="CustomShape 60"/>
          <p:cNvSpPr/>
          <p:nvPr/>
        </p:nvSpPr>
        <p:spPr>
          <a:xfrm>
            <a:off x="6832440" y="3355920"/>
            <a:ext cx="34200" cy="217080"/>
          </a:xfrm>
          <a:prstGeom prst="rect">
            <a:avLst/>
          </a:prstGeom>
          <a:solidFill>
            <a:srgbClr val="2a7f62"/>
          </a:solidFill>
          <a:ln>
            <a:noFill/>
          </a:ln>
        </p:spPr>
        <p:style>
          <a:lnRef idx="0"/>
          <a:fillRef idx="0"/>
          <a:effectRef idx="0"/>
          <a:fontRef idx="minor"/>
        </p:style>
      </p:sp>
      <p:sp>
        <p:nvSpPr>
          <p:cNvPr id="1584" name="CustomShape 61"/>
          <p:cNvSpPr/>
          <p:nvPr/>
        </p:nvSpPr>
        <p:spPr>
          <a:xfrm>
            <a:off x="6907320" y="3355920"/>
            <a:ext cx="34200" cy="217080"/>
          </a:xfrm>
          <a:prstGeom prst="rect">
            <a:avLst/>
          </a:prstGeom>
          <a:solidFill>
            <a:srgbClr val="2a7f62"/>
          </a:solidFill>
          <a:ln>
            <a:noFill/>
          </a:ln>
        </p:spPr>
        <p:style>
          <a:lnRef idx="0"/>
          <a:fillRef idx="0"/>
          <a:effectRef idx="0"/>
          <a:fontRef idx="minor"/>
        </p:style>
      </p:sp>
      <p:sp>
        <p:nvSpPr>
          <p:cNvPr id="1585" name="CustomShape 62"/>
          <p:cNvSpPr/>
          <p:nvPr/>
        </p:nvSpPr>
        <p:spPr>
          <a:xfrm>
            <a:off x="6982200" y="3355920"/>
            <a:ext cx="34200" cy="217080"/>
          </a:xfrm>
          <a:prstGeom prst="rect">
            <a:avLst/>
          </a:prstGeom>
          <a:solidFill>
            <a:srgbClr val="2a7f62"/>
          </a:solidFill>
          <a:ln>
            <a:noFill/>
          </a:ln>
        </p:spPr>
        <p:style>
          <a:lnRef idx="0"/>
          <a:fillRef idx="0"/>
          <a:effectRef idx="0"/>
          <a:fontRef idx="minor"/>
        </p:style>
      </p:sp>
      <p:sp>
        <p:nvSpPr>
          <p:cNvPr id="1586" name="CustomShape 63"/>
          <p:cNvSpPr/>
          <p:nvPr/>
        </p:nvSpPr>
        <p:spPr>
          <a:xfrm>
            <a:off x="7057080" y="3355920"/>
            <a:ext cx="34200" cy="217080"/>
          </a:xfrm>
          <a:prstGeom prst="rect">
            <a:avLst/>
          </a:prstGeom>
          <a:solidFill>
            <a:srgbClr val="2a7f62"/>
          </a:solidFill>
          <a:ln>
            <a:noFill/>
          </a:ln>
        </p:spPr>
        <p:style>
          <a:lnRef idx="0"/>
          <a:fillRef idx="0"/>
          <a:effectRef idx="0"/>
          <a:fontRef idx="minor"/>
        </p:style>
      </p:sp>
      <p:sp>
        <p:nvSpPr>
          <p:cNvPr id="1587" name="CustomShape 64"/>
          <p:cNvSpPr/>
          <p:nvPr/>
        </p:nvSpPr>
        <p:spPr>
          <a:xfrm>
            <a:off x="7131960" y="3355920"/>
            <a:ext cx="34200" cy="217080"/>
          </a:xfrm>
          <a:prstGeom prst="rect">
            <a:avLst/>
          </a:prstGeom>
          <a:solidFill>
            <a:srgbClr val="2a7f62"/>
          </a:solidFill>
          <a:ln>
            <a:noFill/>
          </a:ln>
        </p:spPr>
        <p:style>
          <a:lnRef idx="0"/>
          <a:fillRef idx="0"/>
          <a:effectRef idx="0"/>
          <a:fontRef idx="minor"/>
        </p:style>
      </p:sp>
      <p:sp>
        <p:nvSpPr>
          <p:cNvPr id="1588" name="CustomShape 65"/>
          <p:cNvSpPr/>
          <p:nvPr/>
        </p:nvSpPr>
        <p:spPr>
          <a:xfrm>
            <a:off x="7206840" y="3355920"/>
            <a:ext cx="34200" cy="217080"/>
          </a:xfrm>
          <a:prstGeom prst="rect">
            <a:avLst/>
          </a:prstGeom>
          <a:solidFill>
            <a:srgbClr val="2a7f62"/>
          </a:solidFill>
          <a:ln>
            <a:noFill/>
          </a:ln>
        </p:spPr>
        <p:style>
          <a:lnRef idx="0"/>
          <a:fillRef idx="0"/>
          <a:effectRef idx="0"/>
          <a:fontRef idx="minor"/>
        </p:style>
      </p:sp>
      <p:sp>
        <p:nvSpPr>
          <p:cNvPr id="1589" name="CustomShape 66"/>
          <p:cNvSpPr/>
          <p:nvPr/>
        </p:nvSpPr>
        <p:spPr>
          <a:xfrm>
            <a:off x="7281720" y="3355920"/>
            <a:ext cx="34200" cy="217080"/>
          </a:xfrm>
          <a:prstGeom prst="rect">
            <a:avLst/>
          </a:prstGeom>
          <a:solidFill>
            <a:srgbClr val="2a7f62"/>
          </a:solidFill>
          <a:ln>
            <a:noFill/>
          </a:ln>
        </p:spPr>
        <p:style>
          <a:lnRef idx="0"/>
          <a:fillRef idx="0"/>
          <a:effectRef idx="0"/>
          <a:fontRef idx="minor"/>
        </p:style>
      </p:sp>
      <p:sp>
        <p:nvSpPr>
          <p:cNvPr id="1590" name="CustomShape 67"/>
          <p:cNvSpPr/>
          <p:nvPr/>
        </p:nvSpPr>
        <p:spPr>
          <a:xfrm>
            <a:off x="7356600" y="3355920"/>
            <a:ext cx="34200" cy="217080"/>
          </a:xfrm>
          <a:prstGeom prst="rect">
            <a:avLst/>
          </a:prstGeom>
          <a:solidFill>
            <a:srgbClr val="2a7f62"/>
          </a:solidFill>
          <a:ln>
            <a:noFill/>
          </a:ln>
        </p:spPr>
        <p:style>
          <a:lnRef idx="0"/>
          <a:fillRef idx="0"/>
          <a:effectRef idx="0"/>
          <a:fontRef idx="minor"/>
        </p:style>
      </p:sp>
      <p:sp>
        <p:nvSpPr>
          <p:cNvPr id="1591" name="CustomShape 68"/>
          <p:cNvSpPr/>
          <p:nvPr/>
        </p:nvSpPr>
        <p:spPr>
          <a:xfrm>
            <a:off x="7431120" y="3355920"/>
            <a:ext cx="34200" cy="217080"/>
          </a:xfrm>
          <a:prstGeom prst="rect">
            <a:avLst/>
          </a:prstGeom>
          <a:solidFill>
            <a:srgbClr val="2a7f62"/>
          </a:solidFill>
          <a:ln>
            <a:noFill/>
          </a:ln>
        </p:spPr>
        <p:style>
          <a:lnRef idx="0"/>
          <a:fillRef idx="0"/>
          <a:effectRef idx="0"/>
          <a:fontRef idx="minor"/>
        </p:style>
      </p:sp>
      <p:sp>
        <p:nvSpPr>
          <p:cNvPr id="1592" name="CustomShape 69"/>
          <p:cNvSpPr/>
          <p:nvPr/>
        </p:nvSpPr>
        <p:spPr>
          <a:xfrm>
            <a:off x="7506000" y="3355920"/>
            <a:ext cx="34200" cy="217080"/>
          </a:xfrm>
          <a:prstGeom prst="rect">
            <a:avLst/>
          </a:prstGeom>
          <a:solidFill>
            <a:srgbClr val="2a7f62"/>
          </a:solidFill>
          <a:ln>
            <a:noFill/>
          </a:ln>
        </p:spPr>
        <p:style>
          <a:lnRef idx="0"/>
          <a:fillRef idx="0"/>
          <a:effectRef idx="0"/>
          <a:fontRef idx="minor"/>
        </p:style>
      </p:sp>
      <p:sp>
        <p:nvSpPr>
          <p:cNvPr id="1593" name="CustomShape 70"/>
          <p:cNvSpPr/>
          <p:nvPr/>
        </p:nvSpPr>
        <p:spPr>
          <a:xfrm>
            <a:off x="7580880" y="3355920"/>
            <a:ext cx="34200" cy="217080"/>
          </a:xfrm>
          <a:prstGeom prst="rect">
            <a:avLst/>
          </a:prstGeom>
          <a:solidFill>
            <a:srgbClr val="2a7f62"/>
          </a:solidFill>
          <a:ln>
            <a:noFill/>
          </a:ln>
        </p:spPr>
        <p:style>
          <a:lnRef idx="0"/>
          <a:fillRef idx="0"/>
          <a:effectRef idx="0"/>
          <a:fontRef idx="minor"/>
        </p:style>
      </p:sp>
      <p:sp>
        <p:nvSpPr>
          <p:cNvPr id="1594" name="CustomShape 71"/>
          <p:cNvSpPr/>
          <p:nvPr/>
        </p:nvSpPr>
        <p:spPr>
          <a:xfrm>
            <a:off x="7655760" y="3355920"/>
            <a:ext cx="34200" cy="217080"/>
          </a:xfrm>
          <a:prstGeom prst="rect">
            <a:avLst/>
          </a:prstGeom>
          <a:solidFill>
            <a:srgbClr val="2a7f62"/>
          </a:solidFill>
          <a:ln>
            <a:noFill/>
          </a:ln>
        </p:spPr>
        <p:style>
          <a:lnRef idx="0"/>
          <a:fillRef idx="0"/>
          <a:effectRef idx="0"/>
          <a:fontRef idx="minor"/>
        </p:style>
      </p:sp>
      <p:sp>
        <p:nvSpPr>
          <p:cNvPr id="1595" name="CustomShape 72"/>
          <p:cNvSpPr/>
          <p:nvPr/>
        </p:nvSpPr>
        <p:spPr>
          <a:xfrm>
            <a:off x="7730640" y="3355920"/>
            <a:ext cx="34200" cy="217080"/>
          </a:xfrm>
          <a:prstGeom prst="rect">
            <a:avLst/>
          </a:prstGeom>
          <a:solidFill>
            <a:srgbClr val="2a7f62"/>
          </a:solidFill>
          <a:ln>
            <a:noFill/>
          </a:ln>
        </p:spPr>
        <p:style>
          <a:lnRef idx="0"/>
          <a:fillRef idx="0"/>
          <a:effectRef idx="0"/>
          <a:fontRef idx="minor"/>
        </p:style>
      </p:sp>
      <p:sp>
        <p:nvSpPr>
          <p:cNvPr id="1596" name="CustomShape 73"/>
          <p:cNvSpPr/>
          <p:nvPr/>
        </p:nvSpPr>
        <p:spPr>
          <a:xfrm>
            <a:off x="7805520" y="3355920"/>
            <a:ext cx="34200" cy="217080"/>
          </a:xfrm>
          <a:prstGeom prst="rect">
            <a:avLst/>
          </a:prstGeom>
          <a:solidFill>
            <a:srgbClr val="2a7f62"/>
          </a:solidFill>
          <a:ln>
            <a:noFill/>
          </a:ln>
        </p:spPr>
        <p:style>
          <a:lnRef idx="0"/>
          <a:fillRef idx="0"/>
          <a:effectRef idx="0"/>
          <a:fontRef idx="minor"/>
        </p:style>
      </p:sp>
      <p:sp>
        <p:nvSpPr>
          <p:cNvPr id="1597" name="CustomShape 74"/>
          <p:cNvSpPr/>
          <p:nvPr/>
        </p:nvSpPr>
        <p:spPr>
          <a:xfrm>
            <a:off x="7880400" y="3355920"/>
            <a:ext cx="34200" cy="217080"/>
          </a:xfrm>
          <a:prstGeom prst="rect">
            <a:avLst/>
          </a:prstGeom>
          <a:solidFill>
            <a:srgbClr val="2a7f62"/>
          </a:solidFill>
          <a:ln>
            <a:noFill/>
          </a:ln>
        </p:spPr>
        <p:style>
          <a:lnRef idx="0"/>
          <a:fillRef idx="0"/>
          <a:effectRef idx="0"/>
          <a:fontRef idx="minor"/>
        </p:style>
      </p:sp>
      <p:sp>
        <p:nvSpPr>
          <p:cNvPr id="1598" name="CustomShape 75"/>
          <p:cNvSpPr/>
          <p:nvPr/>
        </p:nvSpPr>
        <p:spPr>
          <a:xfrm>
            <a:off x="7955280" y="3355920"/>
            <a:ext cx="34200" cy="217080"/>
          </a:xfrm>
          <a:prstGeom prst="rect">
            <a:avLst/>
          </a:prstGeom>
          <a:solidFill>
            <a:srgbClr val="2a7f62"/>
          </a:solidFill>
          <a:ln>
            <a:noFill/>
          </a:ln>
        </p:spPr>
        <p:style>
          <a:lnRef idx="0"/>
          <a:fillRef idx="0"/>
          <a:effectRef idx="0"/>
          <a:fontRef idx="minor"/>
        </p:style>
      </p:sp>
      <p:sp>
        <p:nvSpPr>
          <p:cNvPr id="1599" name="CustomShape 76"/>
          <p:cNvSpPr/>
          <p:nvPr/>
        </p:nvSpPr>
        <p:spPr>
          <a:xfrm>
            <a:off x="8029800" y="3355920"/>
            <a:ext cx="34200" cy="217080"/>
          </a:xfrm>
          <a:prstGeom prst="rect">
            <a:avLst/>
          </a:prstGeom>
          <a:solidFill>
            <a:srgbClr val="2a7f62"/>
          </a:solidFill>
          <a:ln>
            <a:noFill/>
          </a:ln>
        </p:spPr>
        <p:style>
          <a:lnRef idx="0"/>
          <a:fillRef idx="0"/>
          <a:effectRef idx="0"/>
          <a:fontRef idx="minor"/>
        </p:style>
      </p:sp>
      <p:sp>
        <p:nvSpPr>
          <p:cNvPr id="1600" name="CustomShape 77"/>
          <p:cNvSpPr/>
          <p:nvPr/>
        </p:nvSpPr>
        <p:spPr>
          <a:xfrm>
            <a:off x="8104680" y="3355920"/>
            <a:ext cx="34200" cy="217080"/>
          </a:xfrm>
          <a:prstGeom prst="rect">
            <a:avLst/>
          </a:prstGeom>
          <a:solidFill>
            <a:srgbClr val="2a7f62"/>
          </a:solidFill>
          <a:ln>
            <a:noFill/>
          </a:ln>
        </p:spPr>
        <p:style>
          <a:lnRef idx="0"/>
          <a:fillRef idx="0"/>
          <a:effectRef idx="0"/>
          <a:fontRef idx="minor"/>
        </p:style>
      </p:sp>
      <p:sp>
        <p:nvSpPr>
          <p:cNvPr id="1601" name="CustomShape 78"/>
          <p:cNvSpPr/>
          <p:nvPr/>
        </p:nvSpPr>
        <p:spPr>
          <a:xfrm>
            <a:off x="8179560" y="3355920"/>
            <a:ext cx="34200" cy="217080"/>
          </a:xfrm>
          <a:prstGeom prst="rect">
            <a:avLst/>
          </a:prstGeom>
          <a:solidFill>
            <a:srgbClr val="2a7f62"/>
          </a:solidFill>
          <a:ln>
            <a:noFill/>
          </a:ln>
        </p:spPr>
        <p:style>
          <a:lnRef idx="0"/>
          <a:fillRef idx="0"/>
          <a:effectRef idx="0"/>
          <a:fontRef idx="minor"/>
        </p:style>
      </p:sp>
      <p:sp>
        <p:nvSpPr>
          <p:cNvPr id="1602" name="CustomShape 79"/>
          <p:cNvSpPr/>
          <p:nvPr/>
        </p:nvSpPr>
        <p:spPr>
          <a:xfrm>
            <a:off x="8254440" y="3355920"/>
            <a:ext cx="34200" cy="217080"/>
          </a:xfrm>
          <a:prstGeom prst="rect">
            <a:avLst/>
          </a:prstGeom>
          <a:solidFill>
            <a:srgbClr val="2a7f62"/>
          </a:solidFill>
          <a:ln>
            <a:noFill/>
          </a:ln>
        </p:spPr>
        <p:style>
          <a:lnRef idx="0"/>
          <a:fillRef idx="0"/>
          <a:effectRef idx="0"/>
          <a:fontRef idx="minor"/>
        </p:style>
      </p:sp>
      <p:sp>
        <p:nvSpPr>
          <p:cNvPr id="1603" name="CustomShape 80"/>
          <p:cNvSpPr/>
          <p:nvPr/>
        </p:nvSpPr>
        <p:spPr>
          <a:xfrm>
            <a:off x="8329320" y="3355920"/>
            <a:ext cx="34200" cy="217080"/>
          </a:xfrm>
          <a:prstGeom prst="rect">
            <a:avLst/>
          </a:prstGeom>
          <a:solidFill>
            <a:srgbClr val="2a7f62"/>
          </a:solidFill>
          <a:ln>
            <a:noFill/>
          </a:ln>
        </p:spPr>
        <p:style>
          <a:lnRef idx="0"/>
          <a:fillRef idx="0"/>
          <a:effectRef idx="0"/>
          <a:fontRef idx="minor"/>
        </p:style>
      </p:sp>
      <p:sp>
        <p:nvSpPr>
          <p:cNvPr id="1604" name="CustomShape 81"/>
          <p:cNvSpPr/>
          <p:nvPr/>
        </p:nvSpPr>
        <p:spPr>
          <a:xfrm>
            <a:off x="8404200" y="3355920"/>
            <a:ext cx="34200" cy="217080"/>
          </a:xfrm>
          <a:prstGeom prst="rect">
            <a:avLst/>
          </a:prstGeom>
          <a:solidFill>
            <a:srgbClr val="2a7f62"/>
          </a:solidFill>
          <a:ln>
            <a:noFill/>
          </a:ln>
        </p:spPr>
        <p:style>
          <a:lnRef idx="0"/>
          <a:fillRef idx="0"/>
          <a:effectRef idx="0"/>
          <a:fontRef idx="minor"/>
        </p:style>
      </p:sp>
      <p:sp>
        <p:nvSpPr>
          <p:cNvPr id="1605" name="CustomShape 82"/>
          <p:cNvSpPr/>
          <p:nvPr/>
        </p:nvSpPr>
        <p:spPr>
          <a:xfrm>
            <a:off x="8479080" y="3355920"/>
            <a:ext cx="34200" cy="217080"/>
          </a:xfrm>
          <a:prstGeom prst="rect">
            <a:avLst/>
          </a:prstGeom>
          <a:solidFill>
            <a:srgbClr val="2a7f62"/>
          </a:solidFill>
          <a:ln>
            <a:noFill/>
          </a:ln>
        </p:spPr>
        <p:style>
          <a:lnRef idx="0"/>
          <a:fillRef idx="0"/>
          <a:effectRef idx="0"/>
          <a:fontRef idx="minor"/>
        </p:style>
      </p:sp>
      <p:sp>
        <p:nvSpPr>
          <p:cNvPr id="1606" name="CustomShape 83"/>
          <p:cNvSpPr/>
          <p:nvPr/>
        </p:nvSpPr>
        <p:spPr>
          <a:xfrm>
            <a:off x="8553960" y="3355920"/>
            <a:ext cx="34200" cy="217080"/>
          </a:xfrm>
          <a:prstGeom prst="rect">
            <a:avLst/>
          </a:prstGeom>
          <a:solidFill>
            <a:srgbClr val="2a7f62"/>
          </a:solidFill>
          <a:ln>
            <a:noFill/>
          </a:ln>
        </p:spPr>
        <p:style>
          <a:lnRef idx="0"/>
          <a:fillRef idx="0"/>
          <a:effectRef idx="0"/>
          <a:fontRef idx="minor"/>
        </p:style>
      </p:sp>
      <p:sp>
        <p:nvSpPr>
          <p:cNvPr id="1607" name="CustomShape 84"/>
          <p:cNvSpPr/>
          <p:nvPr/>
        </p:nvSpPr>
        <p:spPr>
          <a:xfrm>
            <a:off x="8628480" y="3355920"/>
            <a:ext cx="34200" cy="217080"/>
          </a:xfrm>
          <a:prstGeom prst="rect">
            <a:avLst/>
          </a:prstGeom>
          <a:solidFill>
            <a:srgbClr val="2a7f62"/>
          </a:solidFill>
          <a:ln>
            <a:noFill/>
          </a:ln>
        </p:spPr>
        <p:style>
          <a:lnRef idx="0"/>
          <a:fillRef idx="0"/>
          <a:effectRef idx="0"/>
          <a:fontRef idx="minor"/>
        </p:style>
      </p:sp>
      <p:sp>
        <p:nvSpPr>
          <p:cNvPr id="1608" name="CustomShape 85"/>
          <p:cNvSpPr/>
          <p:nvPr/>
        </p:nvSpPr>
        <p:spPr>
          <a:xfrm>
            <a:off x="8703360" y="3355920"/>
            <a:ext cx="34200" cy="217080"/>
          </a:xfrm>
          <a:prstGeom prst="rect">
            <a:avLst/>
          </a:prstGeom>
          <a:solidFill>
            <a:srgbClr val="2a7f62"/>
          </a:solidFill>
          <a:ln>
            <a:noFill/>
          </a:ln>
        </p:spPr>
        <p:style>
          <a:lnRef idx="0"/>
          <a:fillRef idx="0"/>
          <a:effectRef idx="0"/>
          <a:fontRef idx="minor"/>
        </p:style>
      </p:sp>
      <p:sp>
        <p:nvSpPr>
          <p:cNvPr id="1609" name="CustomShape 86"/>
          <p:cNvSpPr/>
          <p:nvPr/>
        </p:nvSpPr>
        <p:spPr>
          <a:xfrm>
            <a:off x="5185800" y="3666600"/>
            <a:ext cx="1003320" cy="18036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000" spc="-1" strike="noStrike">
                <a:solidFill>
                  <a:srgbClr val="5c6b7a"/>
                </a:solidFill>
                <a:latin typeface="Calibri"/>
                <a:ea typeface="Calibri"/>
              </a:rPr>
              <a:t>cada 15 min</a:t>
            </a:r>
            <a:endParaRPr b="0" lang="es-ES" sz="1000" spc="-1" strike="noStrike">
              <a:latin typeface="Arial"/>
            </a:endParaRPr>
          </a:p>
        </p:txBody>
      </p:sp>
      <p:sp>
        <p:nvSpPr>
          <p:cNvPr id="1610" name="Line 87"/>
          <p:cNvSpPr/>
          <p:nvPr/>
        </p:nvSpPr>
        <p:spPr>
          <a:xfrm>
            <a:off x="8721720" y="1965960"/>
            <a:ext cx="0" cy="1965960"/>
          </a:xfrm>
          <a:prstGeom prst="line">
            <a:avLst/>
          </a:prstGeom>
          <a:ln w="25560">
            <a:solidFill>
              <a:srgbClr val="d95d39"/>
            </a:solidFill>
            <a:prstDash val="dash"/>
            <a:round/>
          </a:ln>
        </p:spPr>
        <p:style>
          <a:lnRef idx="0"/>
          <a:fillRef idx="0"/>
          <a:effectRef idx="0"/>
          <a:fontRef idx="minor"/>
        </p:style>
      </p:sp>
      <p:sp>
        <p:nvSpPr>
          <p:cNvPr id="1611" name="CustomShape 88"/>
          <p:cNvSpPr/>
          <p:nvPr/>
        </p:nvSpPr>
        <p:spPr>
          <a:xfrm>
            <a:off x="7578720" y="3959280"/>
            <a:ext cx="2283480" cy="381600"/>
          </a:xfrm>
          <a:prstGeom prst="roundRect">
            <a:avLst>
              <a:gd name="adj" fmla="val 19048"/>
            </a:avLst>
          </a:prstGeom>
          <a:solidFill>
            <a:srgbClr val="d95d39"/>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300" spc="-1" strike="noStrike">
                <a:solidFill>
                  <a:srgbClr val="ffffff"/>
                </a:solidFill>
                <a:latin typeface="Calibri"/>
                <a:ea typeface="Calibri"/>
              </a:rPr>
              <a:t>Incidente · Mié 10:37</a:t>
            </a:r>
            <a:endParaRPr b="0" lang="es-ES" sz="1300" spc="-1" strike="noStrike">
              <a:latin typeface="Arial"/>
            </a:endParaRPr>
          </a:p>
        </p:txBody>
      </p:sp>
      <p:sp>
        <p:nvSpPr>
          <p:cNvPr id="1612" name="CustomShape 89"/>
          <p:cNvSpPr/>
          <p:nvPr/>
        </p:nvSpPr>
        <p:spPr>
          <a:xfrm>
            <a:off x="548640" y="4617720"/>
            <a:ext cx="11089080" cy="2901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500" spc="-1" strike="noStrike">
                <a:solidFill>
                  <a:srgbClr val="0b2545"/>
                </a:solidFill>
                <a:latin typeface="Calibri"/>
                <a:ea typeface="Calibri"/>
              </a:rPr>
              <a:t>Secuencia de restauración (STOPAT = 10:36)</a:t>
            </a:r>
            <a:endParaRPr b="0" lang="es-ES" sz="1500" spc="-1" strike="noStrike">
              <a:latin typeface="Arial"/>
            </a:endParaRPr>
          </a:p>
        </p:txBody>
      </p:sp>
      <p:sp>
        <p:nvSpPr>
          <p:cNvPr id="1613" name="CustomShape 90"/>
          <p:cNvSpPr/>
          <p:nvPr/>
        </p:nvSpPr>
        <p:spPr>
          <a:xfrm>
            <a:off x="548640" y="5029200"/>
            <a:ext cx="2564640" cy="1003320"/>
          </a:xfrm>
          <a:prstGeom prst="roundRect">
            <a:avLst>
              <a:gd name="adj" fmla="val 9091"/>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614" name="CustomShape 91"/>
          <p:cNvSpPr/>
          <p:nvPr/>
        </p:nvSpPr>
        <p:spPr>
          <a:xfrm>
            <a:off x="658440" y="5120640"/>
            <a:ext cx="2345040" cy="344880"/>
          </a:xfrm>
          <a:prstGeom prst="roundRect">
            <a:avLst>
              <a:gd name="adj" fmla="val 15789"/>
            </a:avLst>
          </a:prstGeom>
          <a:solidFill>
            <a:srgbClr val="d95d39"/>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300" spc="-1" strike="noStrike">
                <a:solidFill>
                  <a:srgbClr val="ffffff"/>
                </a:solidFill>
                <a:latin typeface="Calibri"/>
                <a:ea typeface="Calibri"/>
              </a:rPr>
              <a:t>1 · RESTORE FULL</a:t>
            </a:r>
            <a:endParaRPr b="0" lang="es-ES" sz="1300" spc="-1" strike="noStrike">
              <a:latin typeface="Arial"/>
            </a:endParaRPr>
          </a:p>
        </p:txBody>
      </p:sp>
      <p:sp>
        <p:nvSpPr>
          <p:cNvPr id="1615" name="CustomShape 92"/>
          <p:cNvSpPr/>
          <p:nvPr/>
        </p:nvSpPr>
        <p:spPr>
          <a:xfrm>
            <a:off x="658440" y="5513760"/>
            <a:ext cx="2345040" cy="45468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200" spc="-1" strike="noStrike">
                <a:solidFill>
                  <a:srgbClr val="1f2933"/>
                </a:solidFill>
                <a:latin typeface="Calibri"/>
                <a:ea typeface="Calibri"/>
              </a:rPr>
              <a:t>Domingo · NORECOVERY</a:t>
            </a:r>
            <a:endParaRPr b="0" lang="es-ES" sz="1200" spc="-1" strike="noStrike">
              <a:latin typeface="Arial"/>
            </a:endParaRPr>
          </a:p>
        </p:txBody>
      </p:sp>
      <p:sp>
        <p:nvSpPr>
          <p:cNvPr id="1616" name="CustomShape 93"/>
          <p:cNvSpPr/>
          <p:nvPr/>
        </p:nvSpPr>
        <p:spPr>
          <a:xfrm>
            <a:off x="3143160" y="5394960"/>
            <a:ext cx="217080" cy="235080"/>
          </a:xfrm>
          <a:prstGeom prst="rightArrow">
            <a:avLst>
              <a:gd name="adj1" fmla="val 50000"/>
              <a:gd name="adj2" fmla="val 50000"/>
            </a:avLst>
          </a:prstGeom>
          <a:solidFill>
            <a:srgbClr val="d95d39"/>
          </a:solidFill>
          <a:ln>
            <a:noFill/>
          </a:ln>
        </p:spPr>
        <p:style>
          <a:lnRef idx="0"/>
          <a:fillRef idx="0"/>
          <a:effectRef idx="0"/>
          <a:fontRef idx="minor"/>
        </p:style>
      </p:sp>
      <p:sp>
        <p:nvSpPr>
          <p:cNvPr id="1617" name="CustomShape 94"/>
          <p:cNvSpPr/>
          <p:nvPr/>
        </p:nvSpPr>
        <p:spPr>
          <a:xfrm>
            <a:off x="3390120" y="5029200"/>
            <a:ext cx="2564640" cy="1003320"/>
          </a:xfrm>
          <a:prstGeom prst="roundRect">
            <a:avLst>
              <a:gd name="adj" fmla="val 9091"/>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618" name="CustomShape 95"/>
          <p:cNvSpPr/>
          <p:nvPr/>
        </p:nvSpPr>
        <p:spPr>
          <a:xfrm>
            <a:off x="3499920" y="5120640"/>
            <a:ext cx="2345040" cy="344880"/>
          </a:xfrm>
          <a:prstGeom prst="roundRect">
            <a:avLst>
              <a:gd name="adj" fmla="val 15789"/>
            </a:avLst>
          </a:prstGeom>
          <a:solidFill>
            <a:srgbClr val="134074"/>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300" spc="-1" strike="noStrike">
                <a:solidFill>
                  <a:srgbClr val="ffffff"/>
                </a:solidFill>
                <a:latin typeface="Calibri"/>
                <a:ea typeface="Calibri"/>
              </a:rPr>
              <a:t>2 · RESTORE DIFF</a:t>
            </a:r>
            <a:endParaRPr b="0" lang="es-ES" sz="1300" spc="-1" strike="noStrike">
              <a:latin typeface="Arial"/>
            </a:endParaRPr>
          </a:p>
        </p:txBody>
      </p:sp>
      <p:sp>
        <p:nvSpPr>
          <p:cNvPr id="1619" name="CustomShape 96"/>
          <p:cNvSpPr/>
          <p:nvPr/>
        </p:nvSpPr>
        <p:spPr>
          <a:xfrm>
            <a:off x="3499920" y="5513760"/>
            <a:ext cx="2345040" cy="45468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200" spc="-1" strike="noStrike">
                <a:solidFill>
                  <a:srgbClr val="1f2933"/>
                </a:solidFill>
                <a:latin typeface="Calibri"/>
                <a:ea typeface="Calibri"/>
              </a:rPr>
              <a:t>Martes · NORECOVERY</a:t>
            </a:r>
            <a:endParaRPr b="0" lang="es-ES" sz="1200" spc="-1" strike="noStrike">
              <a:latin typeface="Arial"/>
            </a:endParaRPr>
          </a:p>
        </p:txBody>
      </p:sp>
      <p:sp>
        <p:nvSpPr>
          <p:cNvPr id="1620" name="CustomShape 97"/>
          <p:cNvSpPr/>
          <p:nvPr/>
        </p:nvSpPr>
        <p:spPr>
          <a:xfrm>
            <a:off x="5984640" y="5394960"/>
            <a:ext cx="217080" cy="235080"/>
          </a:xfrm>
          <a:prstGeom prst="rightArrow">
            <a:avLst>
              <a:gd name="adj1" fmla="val 50000"/>
              <a:gd name="adj2" fmla="val 50000"/>
            </a:avLst>
          </a:prstGeom>
          <a:solidFill>
            <a:srgbClr val="d95d39"/>
          </a:solidFill>
          <a:ln>
            <a:noFill/>
          </a:ln>
        </p:spPr>
        <p:style>
          <a:lnRef idx="0"/>
          <a:fillRef idx="0"/>
          <a:effectRef idx="0"/>
          <a:fontRef idx="minor"/>
        </p:style>
      </p:sp>
      <p:sp>
        <p:nvSpPr>
          <p:cNvPr id="1621" name="CustomShape 98"/>
          <p:cNvSpPr/>
          <p:nvPr/>
        </p:nvSpPr>
        <p:spPr>
          <a:xfrm>
            <a:off x="6231600" y="5029200"/>
            <a:ext cx="2564640" cy="1003320"/>
          </a:xfrm>
          <a:prstGeom prst="roundRect">
            <a:avLst>
              <a:gd name="adj" fmla="val 9091"/>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622" name="CustomShape 99"/>
          <p:cNvSpPr/>
          <p:nvPr/>
        </p:nvSpPr>
        <p:spPr>
          <a:xfrm>
            <a:off x="6341400" y="5120640"/>
            <a:ext cx="2345040" cy="344880"/>
          </a:xfrm>
          <a:prstGeom prst="roundRect">
            <a:avLst>
              <a:gd name="adj" fmla="val 15789"/>
            </a:avLst>
          </a:prstGeom>
          <a:solidFill>
            <a:srgbClr val="2a7f62"/>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300" spc="-1" strike="noStrike">
                <a:solidFill>
                  <a:srgbClr val="ffffff"/>
                </a:solidFill>
                <a:latin typeface="Calibri"/>
                <a:ea typeface="Calibri"/>
              </a:rPr>
              <a:t>3 · RESTORE LOG(s)</a:t>
            </a:r>
            <a:endParaRPr b="0" lang="es-ES" sz="1300" spc="-1" strike="noStrike">
              <a:latin typeface="Arial"/>
            </a:endParaRPr>
          </a:p>
        </p:txBody>
      </p:sp>
      <p:sp>
        <p:nvSpPr>
          <p:cNvPr id="1623" name="CustomShape 100"/>
          <p:cNvSpPr/>
          <p:nvPr/>
        </p:nvSpPr>
        <p:spPr>
          <a:xfrm>
            <a:off x="6341400" y="5513760"/>
            <a:ext cx="2345040" cy="45468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200" spc="-1" strike="noStrike">
                <a:solidFill>
                  <a:srgbClr val="1f2933"/>
                </a:solidFill>
                <a:latin typeface="Calibri"/>
                <a:ea typeface="Calibri"/>
              </a:rPr>
              <a:t>Mar 22:15 → Mié 10:30 · NORECOVERY</a:t>
            </a:r>
            <a:endParaRPr b="0" lang="es-ES" sz="1200" spc="-1" strike="noStrike">
              <a:latin typeface="Arial"/>
            </a:endParaRPr>
          </a:p>
        </p:txBody>
      </p:sp>
      <p:sp>
        <p:nvSpPr>
          <p:cNvPr id="1624" name="CustomShape 101"/>
          <p:cNvSpPr/>
          <p:nvPr/>
        </p:nvSpPr>
        <p:spPr>
          <a:xfrm>
            <a:off x="8826120" y="5394960"/>
            <a:ext cx="217080" cy="235080"/>
          </a:xfrm>
          <a:prstGeom prst="rightArrow">
            <a:avLst>
              <a:gd name="adj1" fmla="val 50000"/>
              <a:gd name="adj2" fmla="val 50000"/>
            </a:avLst>
          </a:prstGeom>
          <a:solidFill>
            <a:srgbClr val="d95d39"/>
          </a:solidFill>
          <a:ln>
            <a:noFill/>
          </a:ln>
        </p:spPr>
        <p:style>
          <a:lnRef idx="0"/>
          <a:fillRef idx="0"/>
          <a:effectRef idx="0"/>
          <a:fontRef idx="minor"/>
        </p:style>
      </p:sp>
      <p:sp>
        <p:nvSpPr>
          <p:cNvPr id="1625" name="CustomShape 102"/>
          <p:cNvSpPr/>
          <p:nvPr/>
        </p:nvSpPr>
        <p:spPr>
          <a:xfrm>
            <a:off x="9073080" y="5029200"/>
            <a:ext cx="2564640" cy="1003320"/>
          </a:xfrm>
          <a:prstGeom prst="roundRect">
            <a:avLst>
              <a:gd name="adj" fmla="val 9091"/>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626" name="CustomShape 103"/>
          <p:cNvSpPr/>
          <p:nvPr/>
        </p:nvSpPr>
        <p:spPr>
          <a:xfrm>
            <a:off x="9182880" y="5120640"/>
            <a:ext cx="2345040" cy="344880"/>
          </a:xfrm>
          <a:prstGeom prst="roundRect">
            <a:avLst>
              <a:gd name="adj" fmla="val 15789"/>
            </a:avLst>
          </a:prstGeom>
          <a:solidFill>
            <a:srgbClr val="0b2545"/>
          </a:solidFill>
          <a:ln>
            <a:noFill/>
          </a:ln>
        </p:spPr>
        <p:style>
          <a:lnRef idx="0"/>
          <a:fillRef idx="0"/>
          <a:effectRef idx="0"/>
          <a:fontRef idx="minor"/>
        </p:style>
        <p:txBody>
          <a:bodyPr lIns="360" rIns="1080" tIns="1080" bIns="360" anchor="ctr">
            <a:noAutofit/>
          </a:bodyPr>
          <a:p>
            <a:pPr algn="ctr">
              <a:lnSpc>
                <a:spcPct val="100000"/>
              </a:lnSpc>
              <a:tabLst>
                <a:tab algn="l" pos="0"/>
              </a:tabLst>
            </a:pPr>
            <a:r>
              <a:rPr b="1" lang="en-US" sz="1300" spc="-1" strike="noStrike">
                <a:solidFill>
                  <a:srgbClr val="ffffff"/>
                </a:solidFill>
                <a:latin typeface="Calibri"/>
                <a:ea typeface="Calibri"/>
              </a:rPr>
              <a:t>4 · LOG final</a:t>
            </a:r>
            <a:endParaRPr b="0" lang="es-ES" sz="1300" spc="-1" strike="noStrike">
              <a:latin typeface="Arial"/>
            </a:endParaRPr>
          </a:p>
        </p:txBody>
      </p:sp>
      <p:sp>
        <p:nvSpPr>
          <p:cNvPr id="1627" name="CustomShape 104"/>
          <p:cNvSpPr/>
          <p:nvPr/>
        </p:nvSpPr>
        <p:spPr>
          <a:xfrm>
            <a:off x="9182880" y="5513760"/>
            <a:ext cx="2345040" cy="45468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200" spc="-1" strike="noStrike">
                <a:solidFill>
                  <a:srgbClr val="1f2933"/>
                </a:solidFill>
                <a:latin typeface="Calibri"/>
                <a:ea typeface="Calibri"/>
              </a:rPr>
              <a:t>WITH STOPAT = 10:36, RECOVERY</a:t>
            </a:r>
            <a:endParaRPr b="0" lang="es-ES" sz="1200" spc="-1" strike="noStrike">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628"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BACKUPS</a:t>
            </a:r>
            <a:endParaRPr b="0" lang="es-ES" sz="1000" spc="-1" strike="noStrike">
              <a:latin typeface="Arial"/>
            </a:endParaRPr>
          </a:p>
        </p:txBody>
      </p:sp>
      <p:sp>
        <p:nvSpPr>
          <p:cNvPr id="1629"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T-SQL de backup: Full, Diff y Log</a:t>
            </a:r>
            <a:endParaRPr b="0" lang="es-ES" sz="3400" spc="-1" strike="noStrike">
              <a:latin typeface="Arial"/>
            </a:endParaRPr>
          </a:p>
        </p:txBody>
      </p:sp>
      <p:sp>
        <p:nvSpPr>
          <p:cNvPr id="1630"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631"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4   65</a:t>
            </a:r>
            <a:endParaRPr b="0" lang="es-ES" sz="1000" spc="-1" strike="noStrike">
              <a:latin typeface="Arial"/>
            </a:endParaRPr>
          </a:p>
        </p:txBody>
      </p:sp>
      <p:sp>
        <p:nvSpPr>
          <p:cNvPr id="1632" name="CustomShape 5"/>
          <p:cNvSpPr/>
          <p:nvPr/>
        </p:nvSpPr>
        <p:spPr>
          <a:xfrm>
            <a:off x="548640" y="1600200"/>
            <a:ext cx="7038360" cy="4569480"/>
          </a:xfrm>
          <a:prstGeom prst="roundRect">
            <a:avLst>
              <a:gd name="adj" fmla="val 2000"/>
            </a:avLst>
          </a:prstGeom>
          <a:solidFill>
            <a:srgbClr val="eceff3"/>
          </a:solidFill>
          <a:ln w="9360">
            <a:solidFill>
              <a:srgbClr val="d0d7de"/>
            </a:solidFill>
            <a:round/>
          </a:ln>
        </p:spPr>
        <p:style>
          <a:lnRef idx="0"/>
          <a:fillRef idx="0"/>
          <a:effectRef idx="0"/>
          <a:fontRef idx="minor"/>
        </p:style>
      </p:sp>
      <p:sp>
        <p:nvSpPr>
          <p:cNvPr id="1633" name="CustomShape 6"/>
          <p:cNvSpPr/>
          <p:nvPr/>
        </p:nvSpPr>
        <p:spPr>
          <a:xfrm>
            <a:off x="73152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a:t>
            </a:r>
            <a:endParaRPr b="0" lang="es-ES" sz="1000" spc="-1" strike="noStrike">
              <a:latin typeface="Arial"/>
            </a:endParaRPr>
          </a:p>
        </p:txBody>
      </p:sp>
      <p:sp>
        <p:nvSpPr>
          <p:cNvPr id="1634" name="CustomShape 7"/>
          <p:cNvSpPr/>
          <p:nvPr/>
        </p:nvSpPr>
        <p:spPr>
          <a:xfrm>
            <a:off x="731520" y="1965960"/>
            <a:ext cx="6672600" cy="411228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0" i="1" lang="en-US" sz="1200" spc="-1" strike="noStrike">
                <a:solidFill>
                  <a:srgbClr val="6b7280"/>
                </a:solidFill>
                <a:latin typeface="Consolas"/>
                <a:ea typeface="Consolas"/>
              </a:rPr>
              <a:t>-- Full semanal con compresión y verificación de páginas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BACKUP</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DATABASE</a:t>
            </a:r>
            <a:r>
              <a:rPr b="0" lang="en-US" sz="1200" spc="-1" strike="noStrike">
                <a:solidFill>
                  <a:srgbClr val="1f2933"/>
                </a:solidFill>
                <a:latin typeface="Consolas"/>
                <a:ea typeface="Consolas"/>
              </a:rPr>
              <a:t> Ventas</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TO DISK = </a:t>
            </a:r>
            <a:r>
              <a:rPr b="0" lang="en-US" sz="1200" spc="-1" strike="noStrike">
                <a:solidFill>
                  <a:srgbClr val="b4441f"/>
                </a:solidFill>
                <a:latin typeface="Consolas"/>
                <a:ea typeface="Consolas"/>
              </a:rPr>
              <a:t>N'/var/opt/mssql/backup/Ventas_FULL.bak'</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COMPRESSION</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CHECKSUM</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INIT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STATS</a:t>
            </a:r>
            <a:r>
              <a:rPr b="0" lang="en-US" sz="1200" spc="-1" strike="noStrike">
                <a:solidFill>
                  <a:srgbClr val="1f2933"/>
                </a:solidFill>
                <a:latin typeface="Consolas"/>
                <a:ea typeface="Consolas"/>
              </a:rPr>
              <a:t> = </a:t>
            </a:r>
            <a:r>
              <a:rPr b="0" lang="en-US" sz="1200" spc="-1" strike="noStrike">
                <a:solidFill>
                  <a:srgbClr val="9a3412"/>
                </a:solidFill>
                <a:latin typeface="Consolas"/>
                <a:ea typeface="Consolas"/>
              </a:rPr>
              <a:t>10</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0" i="1" lang="en-US" sz="1200" spc="-1" strike="noStrike">
                <a:solidFill>
                  <a:srgbClr val="6b7280"/>
                </a:solidFill>
                <a:latin typeface="Consolas"/>
                <a:ea typeface="Consolas"/>
              </a:rPr>
              <a:t>-- Diferencial diario (cambios desde el último Full)</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BACKUP</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DATABASE</a:t>
            </a:r>
            <a:r>
              <a:rPr b="0" lang="en-US" sz="1200" spc="-1" strike="noStrike">
                <a:solidFill>
                  <a:srgbClr val="1f2933"/>
                </a:solidFill>
                <a:latin typeface="Consolas"/>
                <a:ea typeface="Consolas"/>
              </a:rPr>
              <a:t> Ventas</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TO DISK = </a:t>
            </a:r>
            <a:r>
              <a:rPr b="0" lang="en-US" sz="1200" spc="-1" strike="noStrike">
                <a:solidFill>
                  <a:srgbClr val="b4441f"/>
                </a:solidFill>
                <a:latin typeface="Consolas"/>
                <a:ea typeface="Consolas"/>
              </a:rPr>
              <a:t>N'/var/opt/mssql/backup/Ventas_DIFF.bak'</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DIFFERENTIAL</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COMPRESSION</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CHECKSUM, </a:t>
            </a:r>
            <a:r>
              <a:rPr b="1" lang="en-US" sz="1200" spc="-1" strike="noStrike">
                <a:solidFill>
                  <a:srgbClr val="1d4ed8"/>
                </a:solidFill>
                <a:latin typeface="Consolas"/>
                <a:ea typeface="Consolas"/>
              </a:rPr>
              <a:t>INIT</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0" i="1" lang="en-US" sz="1200" spc="-1" strike="noStrike">
                <a:solidFill>
                  <a:srgbClr val="6b7280"/>
                </a:solidFill>
                <a:latin typeface="Consolas"/>
                <a:ea typeface="Consolas"/>
              </a:rPr>
              <a:t>-- Log cada 15 min (sólo Full / Bulk-Logged)</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BACKUP</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LOG</a:t>
            </a:r>
            <a:r>
              <a:rPr b="0" lang="en-US" sz="1200" spc="-1" strike="noStrike">
                <a:solidFill>
                  <a:srgbClr val="1f2933"/>
                </a:solidFill>
                <a:latin typeface="Consolas"/>
                <a:ea typeface="Consolas"/>
              </a:rPr>
              <a:t> Ventas</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TO DISK = </a:t>
            </a:r>
            <a:r>
              <a:rPr b="0" lang="en-US" sz="1200" spc="-1" strike="noStrike">
                <a:solidFill>
                  <a:srgbClr val="b4441f"/>
                </a:solidFill>
                <a:latin typeface="Consolas"/>
                <a:ea typeface="Consolas"/>
              </a:rPr>
              <a:t>N'/var/opt/mssql/backup/Ventas_LOG_01.trn'</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COMPRESSION</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CHECKSUM</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0" i="1" lang="en-US" sz="1200" spc="-1" strike="noStrike">
                <a:solidFill>
                  <a:srgbClr val="6b7280"/>
                </a:solidFill>
                <a:latin typeface="Consolas"/>
                <a:ea typeface="Consolas"/>
              </a:rPr>
              <a:t>-- Copia puntual que no altera la cadena</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BACKUP</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DATABASE</a:t>
            </a:r>
            <a:r>
              <a:rPr b="0" lang="en-US" sz="1200" spc="-1" strike="noStrike">
                <a:solidFill>
                  <a:srgbClr val="1f2933"/>
                </a:solidFill>
                <a:latin typeface="Consolas"/>
                <a:ea typeface="Consolas"/>
              </a:rPr>
              <a:t> Ventas</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TO DISK = </a:t>
            </a:r>
            <a:r>
              <a:rPr b="0" lang="en-US" sz="1200" spc="-1" strike="noStrike">
                <a:solidFill>
                  <a:srgbClr val="b4441f"/>
                </a:solidFill>
                <a:latin typeface="Consolas"/>
                <a:ea typeface="Consolas"/>
              </a:rPr>
              <a:t>N'/var/opt/mssql/backup/Ventas_CO.bak'</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COPY_ONLY</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COMPRESSION</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CHECKSUM</a:t>
            </a:r>
            <a:r>
              <a:rPr b="0" lang="en-US" sz="1200" spc="-1" strike="noStrike">
                <a:solidFill>
                  <a:srgbClr val="1f2933"/>
                </a:solidFill>
                <a:latin typeface="Consolas"/>
                <a:ea typeface="Consolas"/>
              </a:rPr>
              <a:t>;</a:t>
            </a:r>
            <a:endParaRPr b="0" lang="es-ES" sz="1200" spc="-1" strike="noStrike">
              <a:latin typeface="Arial"/>
            </a:endParaRPr>
          </a:p>
        </p:txBody>
      </p:sp>
      <p:sp>
        <p:nvSpPr>
          <p:cNvPr id="1635" name="CustomShape 8"/>
          <p:cNvSpPr/>
          <p:nvPr/>
        </p:nvSpPr>
        <p:spPr>
          <a:xfrm>
            <a:off x="7863840" y="1600200"/>
            <a:ext cx="3773880" cy="1332360"/>
          </a:xfrm>
          <a:prstGeom prst="roundRect">
            <a:avLst>
              <a:gd name="adj" fmla="val 8219"/>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636" name="CustomShape 9"/>
          <p:cNvSpPr/>
          <p:nvPr/>
        </p:nvSpPr>
        <p:spPr>
          <a:xfrm>
            <a:off x="8046720" y="1993320"/>
            <a:ext cx="546120" cy="546120"/>
          </a:xfrm>
          <a:prstGeom prst="ellipse">
            <a:avLst/>
          </a:prstGeom>
          <a:solidFill>
            <a:srgbClr val="134074"/>
          </a:solidFill>
          <a:ln>
            <a:noFill/>
          </a:ln>
        </p:spPr>
        <p:style>
          <a:lnRef idx="0"/>
          <a:fillRef idx="0"/>
          <a:effectRef idx="0"/>
          <a:fontRef idx="minor"/>
        </p:style>
      </p:sp>
      <p:pic>
        <p:nvPicPr>
          <p:cNvPr id="1637" name="Image 0" descr="preencoded.png"/>
          <p:cNvPicPr/>
          <p:nvPr/>
        </p:nvPicPr>
        <p:blipFill>
          <a:blip r:embed="rId1"/>
          <a:stretch/>
        </p:blipFill>
        <p:spPr>
          <a:xfrm>
            <a:off x="8183880" y="2130480"/>
            <a:ext cx="271800" cy="271800"/>
          </a:xfrm>
          <a:prstGeom prst="rect">
            <a:avLst/>
          </a:prstGeom>
          <a:ln>
            <a:noFill/>
          </a:ln>
        </p:spPr>
      </p:pic>
      <p:sp>
        <p:nvSpPr>
          <p:cNvPr id="1638" name="CustomShape 10"/>
          <p:cNvSpPr/>
          <p:nvPr/>
        </p:nvSpPr>
        <p:spPr>
          <a:xfrm>
            <a:off x="8778240" y="1600200"/>
            <a:ext cx="2676600" cy="133236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COMPRESSION + CHECKSUM</a:t>
            </a:r>
            <a:endParaRPr b="0" lang="es-ES" sz="1600" spc="-1" strike="noStrike">
              <a:latin typeface="Arial"/>
            </a:endParaRPr>
          </a:p>
          <a:p>
            <a:pPr>
              <a:lnSpc>
                <a:spcPct val="100000"/>
              </a:lnSpc>
              <a:tabLst>
                <a:tab algn="l" pos="0"/>
              </a:tabLst>
            </a:pPr>
            <a:r>
              <a:rPr b="0" lang="en-US" sz="1400" spc="-1" strike="noStrike">
                <a:solidFill>
                  <a:srgbClr val="1f2933"/>
                </a:solidFill>
                <a:latin typeface="Calibri"/>
                <a:ea typeface="Calibri"/>
              </a:rPr>
              <a:t>Menos E/S y tamaño; valida páginas al leer.</a:t>
            </a:r>
            <a:endParaRPr b="0" lang="es-ES" sz="1400" spc="-1" strike="noStrike">
              <a:latin typeface="Arial"/>
            </a:endParaRPr>
          </a:p>
        </p:txBody>
      </p:sp>
      <p:sp>
        <p:nvSpPr>
          <p:cNvPr id="1639" name="CustomShape 11"/>
          <p:cNvSpPr/>
          <p:nvPr/>
        </p:nvSpPr>
        <p:spPr>
          <a:xfrm>
            <a:off x="7863840" y="3218760"/>
            <a:ext cx="3773880" cy="1332360"/>
          </a:xfrm>
          <a:prstGeom prst="roundRect">
            <a:avLst>
              <a:gd name="adj" fmla="val 8219"/>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640" name="CustomShape 12"/>
          <p:cNvSpPr/>
          <p:nvPr/>
        </p:nvSpPr>
        <p:spPr>
          <a:xfrm>
            <a:off x="8046720" y="3611880"/>
            <a:ext cx="546120" cy="546120"/>
          </a:xfrm>
          <a:prstGeom prst="ellipse">
            <a:avLst/>
          </a:prstGeom>
          <a:solidFill>
            <a:srgbClr val="134074"/>
          </a:solidFill>
          <a:ln>
            <a:noFill/>
          </a:ln>
        </p:spPr>
        <p:style>
          <a:lnRef idx="0"/>
          <a:fillRef idx="0"/>
          <a:effectRef idx="0"/>
          <a:fontRef idx="minor"/>
        </p:style>
      </p:sp>
      <p:pic>
        <p:nvPicPr>
          <p:cNvPr id="1641" name="Image 1" descr="preencoded.png"/>
          <p:cNvPicPr/>
          <p:nvPr/>
        </p:nvPicPr>
        <p:blipFill>
          <a:blip r:embed="rId2"/>
          <a:stretch/>
        </p:blipFill>
        <p:spPr>
          <a:xfrm>
            <a:off x="8183880" y="3749040"/>
            <a:ext cx="271800" cy="271800"/>
          </a:xfrm>
          <a:prstGeom prst="rect">
            <a:avLst/>
          </a:prstGeom>
          <a:ln>
            <a:noFill/>
          </a:ln>
        </p:spPr>
      </p:pic>
      <p:sp>
        <p:nvSpPr>
          <p:cNvPr id="1642" name="CustomShape 13"/>
          <p:cNvSpPr/>
          <p:nvPr/>
        </p:nvSpPr>
        <p:spPr>
          <a:xfrm>
            <a:off x="8778240" y="3218760"/>
            <a:ext cx="2676600" cy="133236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COPY_ONLY</a:t>
            </a:r>
            <a:endParaRPr b="0" lang="es-ES" sz="1600" spc="-1" strike="noStrike">
              <a:latin typeface="Arial"/>
            </a:endParaRPr>
          </a:p>
          <a:p>
            <a:pPr>
              <a:lnSpc>
                <a:spcPct val="100000"/>
              </a:lnSpc>
              <a:tabLst>
                <a:tab algn="l" pos="0"/>
              </a:tabLst>
            </a:pPr>
            <a:r>
              <a:rPr b="0" lang="en-US" sz="1400" spc="-1" strike="noStrike">
                <a:solidFill>
                  <a:srgbClr val="1f2933"/>
                </a:solidFill>
                <a:latin typeface="Calibri"/>
                <a:ea typeface="Calibri"/>
              </a:rPr>
              <a:t>Copia ad hoc sin alterar diferencial ni log chain.</a:t>
            </a:r>
            <a:endParaRPr b="0" lang="es-ES" sz="1400" spc="-1" strike="noStrike">
              <a:latin typeface="Arial"/>
            </a:endParaRPr>
          </a:p>
        </p:txBody>
      </p:sp>
      <p:sp>
        <p:nvSpPr>
          <p:cNvPr id="1643" name="CustomShape 14"/>
          <p:cNvSpPr/>
          <p:nvPr/>
        </p:nvSpPr>
        <p:spPr>
          <a:xfrm>
            <a:off x="7863840" y="4837320"/>
            <a:ext cx="3773880" cy="1332360"/>
          </a:xfrm>
          <a:prstGeom prst="roundRect">
            <a:avLst>
              <a:gd name="adj" fmla="val 8219"/>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644" name="CustomShape 15"/>
          <p:cNvSpPr/>
          <p:nvPr/>
        </p:nvSpPr>
        <p:spPr>
          <a:xfrm>
            <a:off x="8046720" y="5230440"/>
            <a:ext cx="546120" cy="546120"/>
          </a:xfrm>
          <a:prstGeom prst="ellipse">
            <a:avLst/>
          </a:prstGeom>
          <a:solidFill>
            <a:srgbClr val="134074"/>
          </a:solidFill>
          <a:ln>
            <a:noFill/>
          </a:ln>
        </p:spPr>
        <p:style>
          <a:lnRef idx="0"/>
          <a:fillRef idx="0"/>
          <a:effectRef idx="0"/>
          <a:fontRef idx="minor"/>
        </p:style>
      </p:sp>
      <p:pic>
        <p:nvPicPr>
          <p:cNvPr id="1645" name="Image 2" descr="preencoded.png"/>
          <p:cNvPicPr/>
          <p:nvPr/>
        </p:nvPicPr>
        <p:blipFill>
          <a:blip r:embed="rId3"/>
          <a:stretch/>
        </p:blipFill>
        <p:spPr>
          <a:xfrm>
            <a:off x="8183880" y="5367600"/>
            <a:ext cx="271800" cy="271800"/>
          </a:xfrm>
          <a:prstGeom prst="rect">
            <a:avLst/>
          </a:prstGeom>
          <a:ln>
            <a:noFill/>
          </a:ln>
        </p:spPr>
      </p:pic>
      <p:sp>
        <p:nvSpPr>
          <p:cNvPr id="1646" name="CustomShape 16"/>
          <p:cNvSpPr/>
          <p:nvPr/>
        </p:nvSpPr>
        <p:spPr>
          <a:xfrm>
            <a:off x="8778240" y="4837320"/>
            <a:ext cx="2676600" cy="133236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TO URL (Azure Blob)</a:t>
            </a:r>
            <a:endParaRPr b="0" lang="es-ES" sz="1600" spc="-1" strike="noStrike">
              <a:latin typeface="Arial"/>
            </a:endParaRPr>
          </a:p>
          <a:p>
            <a:pPr>
              <a:lnSpc>
                <a:spcPct val="100000"/>
              </a:lnSpc>
              <a:tabLst>
                <a:tab algn="l" pos="0"/>
              </a:tabLst>
            </a:pPr>
            <a:r>
              <a:rPr b="0" lang="en-US" sz="1400" spc="-1" strike="noStrike">
                <a:solidFill>
                  <a:srgbClr val="1f2933"/>
                </a:solidFill>
                <a:latin typeface="Calibri"/>
                <a:ea typeface="Calibri"/>
              </a:rPr>
              <a:t>Copia externa en la nube con credencial SAS.</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647"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BACKUPS</a:t>
            </a:r>
            <a:endParaRPr b="0" lang="es-ES" sz="1000" spc="-1" strike="noStrike">
              <a:latin typeface="Arial"/>
            </a:endParaRPr>
          </a:p>
        </p:txBody>
      </p:sp>
      <p:sp>
        <p:nvSpPr>
          <p:cNvPr id="1648"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Tail-log, verificación e historial msdb</a:t>
            </a:r>
            <a:endParaRPr b="0" lang="es-ES" sz="3400" spc="-1" strike="noStrike">
              <a:latin typeface="Arial"/>
            </a:endParaRPr>
          </a:p>
        </p:txBody>
      </p:sp>
      <p:sp>
        <p:nvSpPr>
          <p:cNvPr id="1649"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650"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4   66</a:t>
            </a:r>
            <a:endParaRPr b="0" lang="es-ES" sz="1000" spc="-1" strike="noStrike">
              <a:latin typeface="Arial"/>
            </a:endParaRPr>
          </a:p>
        </p:txBody>
      </p:sp>
      <p:sp>
        <p:nvSpPr>
          <p:cNvPr id="1651" name="CustomShape 5"/>
          <p:cNvSpPr/>
          <p:nvPr/>
        </p:nvSpPr>
        <p:spPr>
          <a:xfrm>
            <a:off x="548640" y="1600200"/>
            <a:ext cx="5392440" cy="3060720"/>
          </a:xfrm>
          <a:prstGeom prst="roundRect">
            <a:avLst>
              <a:gd name="adj" fmla="val 2985"/>
            </a:avLst>
          </a:prstGeom>
          <a:solidFill>
            <a:srgbClr val="eceff3"/>
          </a:solidFill>
          <a:ln w="9360">
            <a:solidFill>
              <a:srgbClr val="d0d7de"/>
            </a:solidFill>
            <a:round/>
          </a:ln>
        </p:spPr>
        <p:style>
          <a:lnRef idx="0"/>
          <a:fillRef idx="0"/>
          <a:effectRef idx="0"/>
          <a:fontRef idx="minor"/>
        </p:style>
      </p:sp>
      <p:sp>
        <p:nvSpPr>
          <p:cNvPr id="1652" name="CustomShape 6"/>
          <p:cNvSpPr/>
          <p:nvPr/>
        </p:nvSpPr>
        <p:spPr>
          <a:xfrm>
            <a:off x="73152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a:t>
            </a:r>
            <a:endParaRPr b="0" lang="es-ES" sz="1000" spc="-1" strike="noStrike">
              <a:latin typeface="Arial"/>
            </a:endParaRPr>
          </a:p>
        </p:txBody>
      </p:sp>
      <p:sp>
        <p:nvSpPr>
          <p:cNvPr id="1653" name="CustomShape 7"/>
          <p:cNvSpPr/>
          <p:nvPr/>
        </p:nvSpPr>
        <p:spPr>
          <a:xfrm>
            <a:off x="731520" y="1965960"/>
            <a:ext cx="5026680" cy="260352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0" i="1" lang="en-US" sz="1200" spc="-1" strike="noStrike">
                <a:solidFill>
                  <a:srgbClr val="6b7280"/>
                </a:solidFill>
                <a:latin typeface="Consolas"/>
                <a:ea typeface="Consolas"/>
              </a:rPr>
              <a:t>-- Tail-log: salvar el final del log antes de restaurar</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BACKUP</a:t>
            </a:r>
            <a:r>
              <a:rPr b="0" lang="en-US" sz="1200" spc="-1" strike="noStrike">
                <a:solidFill>
                  <a:srgbClr val="1f2933"/>
                </a:solidFill>
                <a:latin typeface="Consolas"/>
                <a:ea typeface="Consolas"/>
              </a:rPr>
              <a:t> LOG Ventas</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TO DISK = </a:t>
            </a:r>
            <a:r>
              <a:rPr b="0" lang="en-US" sz="1200" spc="-1" strike="noStrike">
                <a:solidFill>
                  <a:srgbClr val="b4441f"/>
                </a:solidFill>
                <a:latin typeface="Consolas"/>
                <a:ea typeface="Consolas"/>
              </a:rPr>
              <a:t>N'/var/opt/mssql/backup/Ventas_TAIL.trn'</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NO_TRUNCATE, </a:t>
            </a:r>
            <a:r>
              <a:rPr b="1" lang="en-US" sz="1200" spc="-1" strike="noStrike">
                <a:solidFill>
                  <a:srgbClr val="1d4ed8"/>
                </a:solidFill>
                <a:latin typeface="Consolas"/>
                <a:ea typeface="Consolas"/>
              </a:rPr>
              <a:t>NORECOVERY</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CHECKSUM</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0" i="1" lang="en-US" sz="1200" spc="-1" strike="noStrike">
                <a:solidFill>
                  <a:srgbClr val="6b7280"/>
                </a:solidFill>
                <a:latin typeface="Consolas"/>
                <a:ea typeface="Consolas"/>
              </a:rPr>
              <a:t>-- Verificar el backup sin restaurarlo</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RESTORE</a:t>
            </a:r>
            <a:r>
              <a:rPr b="0" lang="en-US" sz="1200" spc="-1" strike="noStrike">
                <a:solidFill>
                  <a:srgbClr val="1f2933"/>
                </a:solidFill>
                <a:latin typeface="Consolas"/>
                <a:ea typeface="Consolas"/>
              </a:rPr>
              <a:t> VERIFYONLY</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DISK = </a:t>
            </a:r>
            <a:r>
              <a:rPr b="0" lang="en-US" sz="1200" spc="-1" strike="noStrike">
                <a:solidFill>
                  <a:srgbClr val="b4441f"/>
                </a:solidFill>
                <a:latin typeface="Consolas"/>
                <a:ea typeface="Consolas"/>
              </a:rPr>
              <a:t>N'/var/opt/mssql/backup/Ventas_FULL.bak'</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CHECKSUM</a:t>
            </a:r>
            <a:r>
              <a:rPr b="0" lang="en-US" sz="1200" spc="-1" strike="noStrike">
                <a:solidFill>
                  <a:srgbClr val="1f2933"/>
                </a:solidFill>
                <a:latin typeface="Consolas"/>
                <a:ea typeface="Consolas"/>
              </a:rPr>
              <a:t>;</a:t>
            </a:r>
            <a:endParaRPr b="0" lang="es-ES" sz="1200" spc="-1" strike="noStrike">
              <a:latin typeface="Arial"/>
            </a:endParaRPr>
          </a:p>
        </p:txBody>
      </p:sp>
      <p:sp>
        <p:nvSpPr>
          <p:cNvPr id="1654" name="CustomShape 8"/>
          <p:cNvSpPr/>
          <p:nvPr/>
        </p:nvSpPr>
        <p:spPr>
          <a:xfrm>
            <a:off x="6217920" y="1600200"/>
            <a:ext cx="5419800" cy="3060720"/>
          </a:xfrm>
          <a:prstGeom prst="roundRect">
            <a:avLst>
              <a:gd name="adj" fmla="val 2985"/>
            </a:avLst>
          </a:prstGeom>
          <a:solidFill>
            <a:srgbClr val="eceff3"/>
          </a:solidFill>
          <a:ln w="9360">
            <a:solidFill>
              <a:srgbClr val="d0d7de"/>
            </a:solidFill>
            <a:round/>
          </a:ln>
        </p:spPr>
        <p:style>
          <a:lnRef idx="0"/>
          <a:fillRef idx="0"/>
          <a:effectRef idx="0"/>
          <a:fontRef idx="minor"/>
        </p:style>
      </p:sp>
      <p:sp>
        <p:nvSpPr>
          <p:cNvPr id="1655" name="CustomShape 9"/>
          <p:cNvSpPr/>
          <p:nvPr/>
        </p:nvSpPr>
        <p:spPr>
          <a:xfrm>
            <a:off x="640080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 · HISTORIAL EN MSDB</a:t>
            </a:r>
            <a:endParaRPr b="0" lang="es-ES" sz="1000" spc="-1" strike="noStrike">
              <a:latin typeface="Arial"/>
            </a:endParaRPr>
          </a:p>
        </p:txBody>
      </p:sp>
      <p:sp>
        <p:nvSpPr>
          <p:cNvPr id="1656" name="CustomShape 10"/>
          <p:cNvSpPr/>
          <p:nvPr/>
        </p:nvSpPr>
        <p:spPr>
          <a:xfrm>
            <a:off x="6400800" y="1965960"/>
            <a:ext cx="5054040" cy="260352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TOP</a:t>
            </a:r>
            <a:r>
              <a:rPr b="0" lang="en-US" sz="1200" spc="-1" strike="noStrike">
                <a:solidFill>
                  <a:srgbClr val="1f2933"/>
                </a:solidFill>
                <a:latin typeface="Consolas"/>
                <a:ea typeface="Consolas"/>
              </a:rPr>
              <a:t> (</a:t>
            </a:r>
            <a:r>
              <a:rPr b="0" lang="en-US" sz="1200" spc="-1" strike="noStrike">
                <a:solidFill>
                  <a:srgbClr val="9a3412"/>
                </a:solidFill>
                <a:latin typeface="Consolas"/>
                <a:ea typeface="Consolas"/>
              </a:rPr>
              <a:t>10</a:t>
            </a:r>
            <a:r>
              <a:rPr b="0" lang="en-US" sz="1200" spc="-1" strike="noStrike">
                <a:solidFill>
                  <a:srgbClr val="1f2933"/>
                </a:solidFill>
                <a:latin typeface="Consolas"/>
                <a:ea typeface="Consolas"/>
              </a:rPr>
              <a:t>) bs.database_name,</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bs.type,   </a:t>
            </a:r>
            <a:r>
              <a:rPr b="0" i="1" lang="en-US" sz="1200" spc="-1" strike="noStrike">
                <a:solidFill>
                  <a:srgbClr val="6b7280"/>
                </a:solidFill>
                <a:latin typeface="Consolas"/>
                <a:ea typeface="Consolas"/>
              </a:rPr>
              <a:t>-- D=Full I=Diff L=Log</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bs.backup_finish_date,</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bs.is_copy_only,</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bmf.physical_device_name</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msdb.dbo.backupset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bs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JOIN</a:t>
            </a:r>
            <a:r>
              <a:rPr b="0" lang="en-US" sz="1200" spc="-1" strike="noStrike">
                <a:solidFill>
                  <a:srgbClr val="1f2933"/>
                </a:solidFill>
                <a:latin typeface="Consolas"/>
                <a:ea typeface="Consolas"/>
              </a:rPr>
              <a:t> msdb.dbo.backupmediafamily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bmf</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 bmf.media_set_id = bs.media_set_id</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WHERE</a:t>
            </a:r>
            <a:r>
              <a:rPr b="0" lang="en-US" sz="1200" spc="-1" strike="noStrike">
                <a:solidFill>
                  <a:srgbClr val="1f2933"/>
                </a:solidFill>
                <a:latin typeface="Consolas"/>
                <a:ea typeface="Consolas"/>
              </a:rPr>
              <a:t> bs.database_name = </a:t>
            </a:r>
            <a:r>
              <a:rPr b="0" lang="en-US" sz="1200" spc="-1" strike="noStrike">
                <a:solidFill>
                  <a:srgbClr val="b4441f"/>
                </a:solidFill>
                <a:latin typeface="Consolas"/>
                <a:ea typeface="Consolas"/>
              </a:rPr>
              <a:t>N'Ventas'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ORDER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BY</a:t>
            </a:r>
            <a:r>
              <a:rPr b="0" lang="en-US" sz="1200" spc="-1" strike="noStrike">
                <a:solidFill>
                  <a:srgbClr val="1f2933"/>
                </a:solidFill>
                <a:latin typeface="Consolas"/>
                <a:ea typeface="Consolas"/>
              </a:rPr>
              <a:t> bs.backup_finish_date </a:t>
            </a:r>
            <a:r>
              <a:rPr b="1" lang="en-US" sz="1200" spc="-1" strike="noStrike">
                <a:solidFill>
                  <a:srgbClr val="1d4ed8"/>
                </a:solidFill>
                <a:latin typeface="Consolas"/>
                <a:ea typeface="Consolas"/>
              </a:rPr>
              <a:t>DESC</a:t>
            </a:r>
            <a:r>
              <a:rPr b="0" lang="en-US" sz="1200" spc="-1" strike="noStrike">
                <a:solidFill>
                  <a:srgbClr val="1f2933"/>
                </a:solidFill>
                <a:latin typeface="Consolas"/>
                <a:ea typeface="Consolas"/>
              </a:rPr>
              <a:t>;</a:t>
            </a:r>
            <a:endParaRPr b="0" lang="es-ES" sz="1200" spc="-1" strike="noStrike">
              <a:latin typeface="Arial"/>
            </a:endParaRPr>
          </a:p>
        </p:txBody>
      </p:sp>
      <p:sp>
        <p:nvSpPr>
          <p:cNvPr id="1657" name="CustomShape 11"/>
          <p:cNvSpPr/>
          <p:nvPr/>
        </p:nvSpPr>
        <p:spPr>
          <a:xfrm>
            <a:off x="548640" y="4983480"/>
            <a:ext cx="11089080" cy="1140480"/>
          </a:xfrm>
          <a:prstGeom prst="roundRect">
            <a:avLst>
              <a:gd name="adj" fmla="val 9600"/>
            </a:avLst>
          </a:prstGeom>
          <a:solidFill>
            <a:srgbClr val="fdede8"/>
          </a:solidFill>
          <a:ln>
            <a:noFill/>
          </a:ln>
        </p:spPr>
        <p:style>
          <a:lnRef idx="0"/>
          <a:fillRef idx="0"/>
          <a:effectRef idx="0"/>
          <a:fontRef idx="minor"/>
        </p:style>
      </p:sp>
      <p:sp>
        <p:nvSpPr>
          <p:cNvPr id="1658" name="CustomShape 12"/>
          <p:cNvSpPr/>
          <p:nvPr/>
        </p:nvSpPr>
        <p:spPr>
          <a:xfrm>
            <a:off x="731520" y="5326560"/>
            <a:ext cx="454680" cy="454680"/>
          </a:xfrm>
          <a:prstGeom prst="ellipse">
            <a:avLst/>
          </a:prstGeom>
          <a:solidFill>
            <a:srgbClr val="d95d39"/>
          </a:solidFill>
          <a:ln>
            <a:noFill/>
          </a:ln>
        </p:spPr>
        <p:style>
          <a:lnRef idx="0"/>
          <a:fillRef idx="0"/>
          <a:effectRef idx="0"/>
          <a:fontRef idx="minor"/>
        </p:style>
      </p:sp>
      <p:pic>
        <p:nvPicPr>
          <p:cNvPr id="1659" name="Image 0" descr="preencoded.png"/>
          <p:cNvPicPr/>
          <p:nvPr/>
        </p:nvPicPr>
        <p:blipFill>
          <a:blip r:embed="rId1"/>
          <a:stretch/>
        </p:blipFill>
        <p:spPr>
          <a:xfrm>
            <a:off x="846000" y="5440680"/>
            <a:ext cx="226080" cy="226080"/>
          </a:xfrm>
          <a:prstGeom prst="rect">
            <a:avLst/>
          </a:prstGeom>
          <a:ln>
            <a:noFill/>
          </a:ln>
        </p:spPr>
      </p:pic>
      <p:sp>
        <p:nvSpPr>
          <p:cNvPr id="1660" name="CustomShape 13"/>
          <p:cNvSpPr/>
          <p:nvPr/>
        </p:nvSpPr>
        <p:spPr>
          <a:xfrm>
            <a:off x="1371600" y="4983480"/>
            <a:ext cx="10083240" cy="11404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a8431f"/>
                </a:solidFill>
                <a:latin typeface="Calibri"/>
                <a:ea typeface="Calibri"/>
              </a:rPr>
              <a:t>VERIFYONLY no basta: </a:t>
            </a:r>
            <a:r>
              <a:rPr b="0" lang="en-US" sz="1400" spc="-1" strike="noStrike">
                <a:solidFill>
                  <a:srgbClr val="1f2933"/>
                </a:solidFill>
                <a:latin typeface="Calibri"/>
                <a:ea typeface="Calibri"/>
              </a:rPr>
              <a:t>sólo comprueba que el fichero es legible. La prueba real es restaurar en otro servidor y ejecutar DBCC CHECKDB; planifícala (p. ej. mensualmente).</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661" name="CustomShape 1"/>
          <p:cNvSpPr/>
          <p:nvPr/>
        </p:nvSpPr>
        <p:spPr>
          <a:xfrm>
            <a:off x="548640" y="365760"/>
            <a:ext cx="149724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RESTAURACIÓN</a:t>
            </a:r>
            <a:endParaRPr b="0" lang="es-ES" sz="1000" spc="-1" strike="noStrike">
              <a:latin typeface="Arial"/>
            </a:endParaRPr>
          </a:p>
        </p:txBody>
      </p:sp>
      <p:sp>
        <p:nvSpPr>
          <p:cNvPr id="1662"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Restauración point-in-time (STOPAT)</a:t>
            </a:r>
            <a:endParaRPr b="0" lang="es-ES" sz="3400" spc="-1" strike="noStrike">
              <a:latin typeface="Arial"/>
            </a:endParaRPr>
          </a:p>
        </p:txBody>
      </p:sp>
      <p:sp>
        <p:nvSpPr>
          <p:cNvPr id="1663"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664"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4   67</a:t>
            </a:r>
            <a:endParaRPr b="0" lang="es-ES" sz="1000" spc="-1" strike="noStrike">
              <a:latin typeface="Arial"/>
            </a:endParaRPr>
          </a:p>
        </p:txBody>
      </p:sp>
      <p:sp>
        <p:nvSpPr>
          <p:cNvPr id="1665" name="CustomShape 5"/>
          <p:cNvSpPr/>
          <p:nvPr/>
        </p:nvSpPr>
        <p:spPr>
          <a:xfrm>
            <a:off x="548640" y="1600200"/>
            <a:ext cx="7175520" cy="4569480"/>
          </a:xfrm>
          <a:prstGeom prst="roundRect">
            <a:avLst>
              <a:gd name="adj" fmla="val 2000"/>
            </a:avLst>
          </a:prstGeom>
          <a:solidFill>
            <a:srgbClr val="eceff3"/>
          </a:solidFill>
          <a:ln w="9360">
            <a:solidFill>
              <a:srgbClr val="d0d7de"/>
            </a:solidFill>
            <a:round/>
          </a:ln>
        </p:spPr>
        <p:style>
          <a:lnRef idx="0"/>
          <a:fillRef idx="0"/>
          <a:effectRef idx="0"/>
          <a:fontRef idx="minor"/>
        </p:style>
      </p:sp>
      <p:sp>
        <p:nvSpPr>
          <p:cNvPr id="1666" name="CustomShape 6"/>
          <p:cNvSpPr/>
          <p:nvPr/>
        </p:nvSpPr>
        <p:spPr>
          <a:xfrm>
            <a:off x="73152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a:t>
            </a:r>
            <a:endParaRPr b="0" lang="es-ES" sz="1000" spc="-1" strike="noStrike">
              <a:latin typeface="Arial"/>
            </a:endParaRPr>
          </a:p>
        </p:txBody>
      </p:sp>
      <p:sp>
        <p:nvSpPr>
          <p:cNvPr id="1667" name="CustomShape 7"/>
          <p:cNvSpPr/>
          <p:nvPr/>
        </p:nvSpPr>
        <p:spPr>
          <a:xfrm>
            <a:off x="731520" y="1965960"/>
            <a:ext cx="6809760" cy="411228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0" i="1" lang="en-US" sz="1200" spc="-1" strike="noStrike">
                <a:solidFill>
                  <a:srgbClr val="6b7280"/>
                </a:solidFill>
                <a:latin typeface="Consolas"/>
                <a:ea typeface="Consolas"/>
              </a:rPr>
              <a:t>-- 1) Full. MOVE reubica los ficheros lógicos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RESTORE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DATABASE</a:t>
            </a:r>
            <a:r>
              <a:rPr b="0" lang="en-US" sz="1200" spc="-1" strike="noStrike">
                <a:solidFill>
                  <a:srgbClr val="1f2933"/>
                </a:solidFill>
                <a:latin typeface="Consolas"/>
                <a:ea typeface="Consolas"/>
              </a:rPr>
              <a:t> Ventas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DISK = </a:t>
            </a:r>
            <a:r>
              <a:rPr b="0" lang="en-US" sz="1200" spc="-1" strike="noStrike">
                <a:solidFill>
                  <a:srgbClr val="b4441f"/>
                </a:solidFill>
                <a:latin typeface="Consolas"/>
                <a:ea typeface="Consolas"/>
              </a:rPr>
              <a:t>N'/var/opt/mssql/backup/Ventas_FULL.bak'</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NORECOVERY</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MOVE</a:t>
            </a:r>
            <a:r>
              <a:rPr b="0" lang="en-US" sz="1200" spc="-1" strike="noStrike">
                <a:solidFill>
                  <a:srgbClr val="1f2933"/>
                </a:solidFill>
                <a:latin typeface="Consolas"/>
                <a:ea typeface="Consolas"/>
              </a:rPr>
              <a:t> </a:t>
            </a:r>
            <a:r>
              <a:rPr b="0" lang="en-US" sz="1200" spc="-1" strike="noStrike">
                <a:solidFill>
                  <a:srgbClr val="b4441f"/>
                </a:solidFill>
                <a:latin typeface="Consolas"/>
                <a:ea typeface="Consolas"/>
              </a:rPr>
              <a:t>N'Ventas'</a:t>
            </a:r>
            <a:r>
              <a:rPr b="0" lang="en-US" sz="1200" spc="-1" strike="noStrike">
                <a:solidFill>
                  <a:srgbClr val="1f2933"/>
                </a:solidFill>
                <a:latin typeface="Consolas"/>
                <a:ea typeface="Consolas"/>
              </a:rPr>
              <a:t> TO </a:t>
            </a:r>
            <a:r>
              <a:rPr b="0" lang="en-US" sz="1200" spc="-1" strike="noStrike">
                <a:solidFill>
                  <a:srgbClr val="b4441f"/>
                </a:solidFill>
                <a:latin typeface="Consolas"/>
                <a:ea typeface="Consolas"/>
              </a:rPr>
              <a:t>N'/var/opt/mssql/data/Ventas.mdf'</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MOVE</a:t>
            </a:r>
            <a:r>
              <a:rPr b="0" lang="en-US" sz="1200" spc="-1" strike="noStrike">
                <a:solidFill>
                  <a:srgbClr val="1f2933"/>
                </a:solidFill>
                <a:latin typeface="Consolas"/>
                <a:ea typeface="Consolas"/>
              </a:rPr>
              <a:t> </a:t>
            </a:r>
            <a:r>
              <a:rPr b="0" lang="en-US" sz="1200" spc="-1" strike="noStrike">
                <a:solidFill>
                  <a:srgbClr val="b4441f"/>
                </a:solidFill>
                <a:latin typeface="Consolas"/>
                <a:ea typeface="Consolas"/>
              </a:rPr>
              <a:t>N'Ventas_log'</a:t>
            </a:r>
            <a:r>
              <a:rPr b="0" lang="en-US" sz="1200" spc="-1" strike="noStrike">
                <a:solidFill>
                  <a:srgbClr val="1f2933"/>
                </a:solidFill>
                <a:latin typeface="Consolas"/>
                <a:ea typeface="Consolas"/>
              </a:rPr>
              <a:t> TO </a:t>
            </a:r>
            <a:r>
              <a:rPr b="0" lang="en-US" sz="1200" spc="-1" strike="noStrike">
                <a:solidFill>
                  <a:srgbClr val="b4441f"/>
                </a:solidFill>
                <a:latin typeface="Consolas"/>
                <a:ea typeface="Consolas"/>
              </a:rPr>
              <a:t>N'/var/opt/mssql/data/Ventas.ldf'</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0" i="1" lang="en-US" sz="1200" spc="-1" strike="noStrike">
                <a:solidFill>
                  <a:srgbClr val="6b7280"/>
                </a:solidFill>
                <a:latin typeface="Consolas"/>
                <a:ea typeface="Consolas"/>
              </a:rPr>
              <a:t>-- 2) Último diferencial</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RESTORE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DATABASE</a:t>
            </a:r>
            <a:r>
              <a:rPr b="0" lang="en-US" sz="1200" spc="-1" strike="noStrike">
                <a:solidFill>
                  <a:srgbClr val="1f2933"/>
                </a:solidFill>
                <a:latin typeface="Consolas"/>
                <a:ea typeface="Consolas"/>
              </a:rPr>
              <a:t> Ventas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DISK = </a:t>
            </a:r>
            <a:r>
              <a:rPr b="0" lang="en-US" sz="1200" spc="-1" strike="noStrike">
                <a:solidFill>
                  <a:srgbClr val="b4441f"/>
                </a:solidFill>
                <a:latin typeface="Consolas"/>
                <a:ea typeface="Consolas"/>
              </a:rPr>
              <a:t>N'/var/opt/mssql/backup/Ventas_DIFF.bak'</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NORECOVERY</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0" i="1" lang="en-US" sz="1200" spc="-1" strike="noStrike">
                <a:solidFill>
                  <a:srgbClr val="6b7280"/>
                </a:solidFill>
                <a:latin typeface="Consolas"/>
                <a:ea typeface="Consolas"/>
              </a:rPr>
              <a:t>-- 3) Logs en orden; el último, con STOPAT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RESTORE</a:t>
            </a:r>
            <a:r>
              <a:rPr b="0" lang="en-US" sz="1200" spc="-1" strike="noStrike">
                <a:solidFill>
                  <a:srgbClr val="1f2933"/>
                </a:solidFill>
                <a:latin typeface="Consolas"/>
                <a:ea typeface="Consolas"/>
              </a:rPr>
              <a:t> LOG Ventas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DISK = </a:t>
            </a:r>
            <a:r>
              <a:rPr b="0" lang="en-US" sz="1200" spc="-1" strike="noStrike">
                <a:solidFill>
                  <a:srgbClr val="b4441f"/>
                </a:solidFill>
                <a:latin typeface="Consolas"/>
                <a:ea typeface="Consolas"/>
              </a:rPr>
              <a:t>N'/var/opt/mssql/backup/Ventas_LOG_01.trn'</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NORECOVERY</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RESTORE</a:t>
            </a:r>
            <a:r>
              <a:rPr b="0" lang="en-US" sz="1200" spc="-1" strike="noStrike">
                <a:solidFill>
                  <a:srgbClr val="1f2933"/>
                </a:solidFill>
                <a:latin typeface="Consolas"/>
                <a:ea typeface="Consolas"/>
              </a:rPr>
              <a:t> LOG Ventas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DISK = </a:t>
            </a:r>
            <a:r>
              <a:rPr b="0" lang="en-US" sz="1200" spc="-1" strike="noStrike">
                <a:solidFill>
                  <a:srgbClr val="b4441f"/>
                </a:solidFill>
                <a:latin typeface="Consolas"/>
                <a:ea typeface="Consolas"/>
              </a:rPr>
              <a:t>N'/var/opt/mssql/backup/Ventas_LOG_02.trn'</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STOPAT</a:t>
            </a:r>
            <a:r>
              <a:rPr b="0" lang="en-US" sz="1200" spc="-1" strike="noStrike">
                <a:solidFill>
                  <a:srgbClr val="1f2933"/>
                </a:solidFill>
                <a:latin typeface="Consolas"/>
                <a:ea typeface="Consolas"/>
              </a:rPr>
              <a:t> = </a:t>
            </a:r>
            <a:r>
              <a:rPr b="0" lang="en-US" sz="1200" spc="-1" strike="noStrike">
                <a:solidFill>
                  <a:srgbClr val="b4441f"/>
                </a:solidFill>
                <a:latin typeface="Consolas"/>
                <a:ea typeface="Consolas"/>
              </a:rPr>
              <a:t>N'2025-03-12T10:36:00'</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RECOVERY</a:t>
            </a:r>
            <a:r>
              <a:rPr b="0" lang="en-US" sz="1200" spc="-1" strike="noStrike">
                <a:solidFill>
                  <a:srgbClr val="1f2933"/>
                </a:solidFill>
                <a:latin typeface="Consolas"/>
                <a:ea typeface="Consolas"/>
              </a:rPr>
              <a:t>;</a:t>
            </a:r>
            <a:endParaRPr b="0" lang="es-ES" sz="1200" spc="-1" strike="noStrike">
              <a:latin typeface="Arial"/>
            </a:endParaRPr>
          </a:p>
        </p:txBody>
      </p:sp>
      <p:sp>
        <p:nvSpPr>
          <p:cNvPr id="1668" name="CustomShape 8"/>
          <p:cNvSpPr/>
          <p:nvPr/>
        </p:nvSpPr>
        <p:spPr>
          <a:xfrm>
            <a:off x="8001000" y="1600200"/>
            <a:ext cx="3636720" cy="1332360"/>
          </a:xfrm>
          <a:prstGeom prst="roundRect">
            <a:avLst>
              <a:gd name="adj" fmla="val 8219"/>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669" name="CustomShape 9"/>
          <p:cNvSpPr/>
          <p:nvPr/>
        </p:nvSpPr>
        <p:spPr>
          <a:xfrm>
            <a:off x="8183880" y="1993320"/>
            <a:ext cx="546120" cy="546120"/>
          </a:xfrm>
          <a:prstGeom prst="ellipse">
            <a:avLst/>
          </a:prstGeom>
          <a:solidFill>
            <a:srgbClr val="134074"/>
          </a:solidFill>
          <a:ln>
            <a:noFill/>
          </a:ln>
        </p:spPr>
        <p:style>
          <a:lnRef idx="0"/>
          <a:fillRef idx="0"/>
          <a:effectRef idx="0"/>
          <a:fontRef idx="minor"/>
        </p:style>
      </p:sp>
      <p:pic>
        <p:nvPicPr>
          <p:cNvPr id="1670" name="Image 0" descr="preencoded.png"/>
          <p:cNvPicPr/>
          <p:nvPr/>
        </p:nvPicPr>
        <p:blipFill>
          <a:blip r:embed="rId1"/>
          <a:stretch/>
        </p:blipFill>
        <p:spPr>
          <a:xfrm>
            <a:off x="8321040" y="2130480"/>
            <a:ext cx="271800" cy="271800"/>
          </a:xfrm>
          <a:prstGeom prst="rect">
            <a:avLst/>
          </a:prstGeom>
          <a:ln>
            <a:noFill/>
          </a:ln>
        </p:spPr>
      </p:pic>
      <p:sp>
        <p:nvSpPr>
          <p:cNvPr id="1671" name="CustomShape 10"/>
          <p:cNvSpPr/>
          <p:nvPr/>
        </p:nvSpPr>
        <p:spPr>
          <a:xfrm>
            <a:off x="8915400" y="1600200"/>
            <a:ext cx="2539440" cy="133236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NORECOVERY</a:t>
            </a:r>
            <a:endParaRPr b="0" lang="es-ES" sz="1600" spc="-1" strike="noStrike">
              <a:latin typeface="Arial"/>
            </a:endParaRPr>
          </a:p>
          <a:p>
            <a:pPr>
              <a:lnSpc>
                <a:spcPct val="100000"/>
              </a:lnSpc>
              <a:tabLst>
                <a:tab algn="l" pos="0"/>
              </a:tabLst>
            </a:pPr>
            <a:r>
              <a:rPr b="0" lang="en-US" sz="1400" spc="-1" strike="noStrike">
                <a:solidFill>
                  <a:srgbClr val="1f2933"/>
                </a:solidFill>
                <a:latin typeface="Calibri"/>
                <a:ea typeface="Calibri"/>
              </a:rPr>
              <a:t>Deja la BD en RESTORING; permite encadenar más backups.</a:t>
            </a:r>
            <a:endParaRPr b="0" lang="es-ES" sz="1400" spc="-1" strike="noStrike">
              <a:latin typeface="Arial"/>
            </a:endParaRPr>
          </a:p>
        </p:txBody>
      </p:sp>
      <p:sp>
        <p:nvSpPr>
          <p:cNvPr id="1672" name="CustomShape 11"/>
          <p:cNvSpPr/>
          <p:nvPr/>
        </p:nvSpPr>
        <p:spPr>
          <a:xfrm>
            <a:off x="8001000" y="3218760"/>
            <a:ext cx="3636720" cy="1332360"/>
          </a:xfrm>
          <a:prstGeom prst="roundRect">
            <a:avLst>
              <a:gd name="adj" fmla="val 8219"/>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673" name="CustomShape 12"/>
          <p:cNvSpPr/>
          <p:nvPr/>
        </p:nvSpPr>
        <p:spPr>
          <a:xfrm>
            <a:off x="8183880" y="3611880"/>
            <a:ext cx="546120" cy="546120"/>
          </a:xfrm>
          <a:prstGeom prst="ellipse">
            <a:avLst/>
          </a:prstGeom>
          <a:solidFill>
            <a:srgbClr val="134074"/>
          </a:solidFill>
          <a:ln>
            <a:noFill/>
          </a:ln>
        </p:spPr>
        <p:style>
          <a:lnRef idx="0"/>
          <a:fillRef idx="0"/>
          <a:effectRef idx="0"/>
          <a:fontRef idx="minor"/>
        </p:style>
      </p:sp>
      <p:pic>
        <p:nvPicPr>
          <p:cNvPr id="1674" name="Image 1" descr="preencoded.png"/>
          <p:cNvPicPr/>
          <p:nvPr/>
        </p:nvPicPr>
        <p:blipFill>
          <a:blip r:embed="rId2"/>
          <a:stretch/>
        </p:blipFill>
        <p:spPr>
          <a:xfrm>
            <a:off x="8321040" y="3749040"/>
            <a:ext cx="271800" cy="271800"/>
          </a:xfrm>
          <a:prstGeom prst="rect">
            <a:avLst/>
          </a:prstGeom>
          <a:ln>
            <a:noFill/>
          </a:ln>
        </p:spPr>
      </p:pic>
      <p:sp>
        <p:nvSpPr>
          <p:cNvPr id="1675" name="CustomShape 13"/>
          <p:cNvSpPr/>
          <p:nvPr/>
        </p:nvSpPr>
        <p:spPr>
          <a:xfrm>
            <a:off x="8915400" y="3218760"/>
            <a:ext cx="2539440" cy="133236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RECOVERY</a:t>
            </a:r>
            <a:endParaRPr b="0" lang="es-ES" sz="1600" spc="-1" strike="noStrike">
              <a:latin typeface="Arial"/>
            </a:endParaRPr>
          </a:p>
          <a:p>
            <a:pPr>
              <a:lnSpc>
                <a:spcPct val="100000"/>
              </a:lnSpc>
              <a:tabLst>
                <a:tab algn="l" pos="0"/>
              </a:tabLst>
            </a:pPr>
            <a:r>
              <a:rPr b="0" lang="en-US" sz="1400" spc="-1" strike="noStrike">
                <a:solidFill>
                  <a:srgbClr val="1f2933"/>
                </a:solidFill>
                <a:latin typeface="Calibri"/>
                <a:ea typeface="Calibri"/>
              </a:rPr>
              <a:t>Deshace lo no confirmado y abre la BD (ONLINE).</a:t>
            </a:r>
            <a:endParaRPr b="0" lang="es-ES" sz="1400" spc="-1" strike="noStrike">
              <a:latin typeface="Arial"/>
            </a:endParaRPr>
          </a:p>
        </p:txBody>
      </p:sp>
      <p:sp>
        <p:nvSpPr>
          <p:cNvPr id="1676" name="CustomShape 14"/>
          <p:cNvSpPr/>
          <p:nvPr/>
        </p:nvSpPr>
        <p:spPr>
          <a:xfrm>
            <a:off x="8001000" y="4837320"/>
            <a:ext cx="3636720" cy="1332360"/>
          </a:xfrm>
          <a:prstGeom prst="roundRect">
            <a:avLst>
              <a:gd name="adj" fmla="val 8219"/>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677" name="CustomShape 15"/>
          <p:cNvSpPr/>
          <p:nvPr/>
        </p:nvSpPr>
        <p:spPr>
          <a:xfrm>
            <a:off x="8183880" y="5230440"/>
            <a:ext cx="546120" cy="546120"/>
          </a:xfrm>
          <a:prstGeom prst="ellipse">
            <a:avLst/>
          </a:prstGeom>
          <a:solidFill>
            <a:srgbClr val="134074"/>
          </a:solidFill>
          <a:ln>
            <a:noFill/>
          </a:ln>
        </p:spPr>
        <p:style>
          <a:lnRef idx="0"/>
          <a:fillRef idx="0"/>
          <a:effectRef idx="0"/>
          <a:fontRef idx="minor"/>
        </p:style>
      </p:sp>
      <p:pic>
        <p:nvPicPr>
          <p:cNvPr id="1678" name="Image 2" descr="preencoded.png"/>
          <p:cNvPicPr/>
          <p:nvPr/>
        </p:nvPicPr>
        <p:blipFill>
          <a:blip r:embed="rId3"/>
          <a:stretch/>
        </p:blipFill>
        <p:spPr>
          <a:xfrm>
            <a:off x="8321040" y="5367600"/>
            <a:ext cx="271800" cy="271800"/>
          </a:xfrm>
          <a:prstGeom prst="rect">
            <a:avLst/>
          </a:prstGeom>
          <a:ln>
            <a:noFill/>
          </a:ln>
        </p:spPr>
      </p:pic>
      <p:sp>
        <p:nvSpPr>
          <p:cNvPr id="1679" name="CustomShape 16"/>
          <p:cNvSpPr/>
          <p:nvPr/>
        </p:nvSpPr>
        <p:spPr>
          <a:xfrm>
            <a:off x="8915400" y="4837320"/>
            <a:ext cx="2539440" cy="133236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STANDBY</a:t>
            </a:r>
            <a:endParaRPr b="0" lang="es-ES" sz="1600" spc="-1" strike="noStrike">
              <a:latin typeface="Arial"/>
            </a:endParaRPr>
          </a:p>
          <a:p>
            <a:pPr>
              <a:lnSpc>
                <a:spcPct val="100000"/>
              </a:lnSpc>
              <a:tabLst>
                <a:tab algn="l" pos="0"/>
              </a:tabLst>
            </a:pPr>
            <a:r>
              <a:rPr b="0" lang="en-US" sz="1400" spc="-1" strike="noStrike">
                <a:solidFill>
                  <a:srgbClr val="1f2933"/>
                </a:solidFill>
                <a:latin typeface="Calibri"/>
                <a:ea typeface="Calibri"/>
              </a:rPr>
              <a:t>Sólo lectura entre restauraciones; usa fichero undo.</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680"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INTEGRIDAD</a:t>
            </a:r>
            <a:endParaRPr b="0" lang="es-ES" sz="1000" spc="-1" strike="noStrike">
              <a:latin typeface="Arial"/>
            </a:endParaRPr>
          </a:p>
        </p:txBody>
      </p:sp>
      <p:sp>
        <p:nvSpPr>
          <p:cNvPr id="1681"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Integridad física: DBCC CHECKDB</a:t>
            </a:r>
            <a:endParaRPr b="0" lang="es-ES" sz="3400" spc="-1" strike="noStrike">
              <a:latin typeface="Arial"/>
            </a:endParaRPr>
          </a:p>
        </p:txBody>
      </p:sp>
      <p:sp>
        <p:nvSpPr>
          <p:cNvPr id="1682"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683"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4   68</a:t>
            </a:r>
            <a:endParaRPr b="0" lang="es-ES" sz="1000" spc="-1" strike="noStrike">
              <a:latin typeface="Arial"/>
            </a:endParaRPr>
          </a:p>
        </p:txBody>
      </p:sp>
      <p:sp>
        <p:nvSpPr>
          <p:cNvPr id="1684" name="CustomShape 5"/>
          <p:cNvSpPr/>
          <p:nvPr/>
        </p:nvSpPr>
        <p:spPr>
          <a:xfrm>
            <a:off x="548640" y="1600200"/>
            <a:ext cx="3508920" cy="1369080"/>
          </a:xfrm>
          <a:prstGeom prst="roundRect">
            <a:avLst>
              <a:gd name="adj" fmla="val 8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685" name="CustomShape 6"/>
          <p:cNvSpPr/>
          <p:nvPr/>
        </p:nvSpPr>
        <p:spPr>
          <a:xfrm>
            <a:off x="731520" y="1737360"/>
            <a:ext cx="3143160" cy="68328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4400" spc="-1" strike="noStrike">
                <a:solidFill>
                  <a:srgbClr val="d95d39"/>
                </a:solidFill>
                <a:latin typeface="Calibri"/>
                <a:ea typeface="Calibri"/>
              </a:rPr>
              <a:t>823</a:t>
            </a:r>
            <a:endParaRPr b="0" lang="es-ES" sz="4400" spc="-1" strike="noStrike">
              <a:latin typeface="Arial"/>
            </a:endParaRPr>
          </a:p>
        </p:txBody>
      </p:sp>
      <p:sp>
        <p:nvSpPr>
          <p:cNvPr id="1686" name="CustomShape 7"/>
          <p:cNvSpPr/>
          <p:nvPr/>
        </p:nvSpPr>
        <p:spPr>
          <a:xfrm>
            <a:off x="731520" y="2354760"/>
            <a:ext cx="3143160" cy="54612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300" spc="-1" strike="noStrike">
                <a:solidFill>
                  <a:srgbClr val="5c6b7a"/>
                </a:solidFill>
                <a:latin typeface="Calibri"/>
                <a:ea typeface="Calibri"/>
              </a:rPr>
              <a:t>Error de E/S del sistema operativo</a:t>
            </a:r>
            <a:endParaRPr b="0" lang="es-ES" sz="1300" spc="-1" strike="noStrike">
              <a:latin typeface="Arial"/>
            </a:endParaRPr>
          </a:p>
        </p:txBody>
      </p:sp>
      <p:sp>
        <p:nvSpPr>
          <p:cNvPr id="1687" name="CustomShape 8"/>
          <p:cNvSpPr/>
          <p:nvPr/>
        </p:nvSpPr>
        <p:spPr>
          <a:xfrm>
            <a:off x="4334400" y="1600200"/>
            <a:ext cx="3508920" cy="1369080"/>
          </a:xfrm>
          <a:prstGeom prst="roundRect">
            <a:avLst>
              <a:gd name="adj" fmla="val 8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688" name="CustomShape 9"/>
          <p:cNvSpPr/>
          <p:nvPr/>
        </p:nvSpPr>
        <p:spPr>
          <a:xfrm>
            <a:off x="4517280" y="1737360"/>
            <a:ext cx="3143160" cy="68328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4400" spc="-1" strike="noStrike">
                <a:solidFill>
                  <a:srgbClr val="d95d39"/>
                </a:solidFill>
                <a:latin typeface="Calibri"/>
                <a:ea typeface="Calibri"/>
              </a:rPr>
              <a:t>824</a:t>
            </a:r>
            <a:endParaRPr b="0" lang="es-ES" sz="4400" spc="-1" strike="noStrike">
              <a:latin typeface="Arial"/>
            </a:endParaRPr>
          </a:p>
        </p:txBody>
      </p:sp>
      <p:sp>
        <p:nvSpPr>
          <p:cNvPr id="1689" name="CustomShape 10"/>
          <p:cNvSpPr/>
          <p:nvPr/>
        </p:nvSpPr>
        <p:spPr>
          <a:xfrm>
            <a:off x="4517280" y="2354760"/>
            <a:ext cx="3143160" cy="54612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300" spc="-1" strike="noStrike">
                <a:solidFill>
                  <a:srgbClr val="5c6b7a"/>
                </a:solidFill>
                <a:latin typeface="Calibri"/>
                <a:ea typeface="Calibri"/>
              </a:rPr>
              <a:t>Error lógico: checksum o página rota</a:t>
            </a:r>
            <a:endParaRPr b="0" lang="es-ES" sz="1300" spc="-1" strike="noStrike">
              <a:latin typeface="Arial"/>
            </a:endParaRPr>
          </a:p>
        </p:txBody>
      </p:sp>
      <p:sp>
        <p:nvSpPr>
          <p:cNvPr id="1690" name="CustomShape 11"/>
          <p:cNvSpPr/>
          <p:nvPr/>
        </p:nvSpPr>
        <p:spPr>
          <a:xfrm>
            <a:off x="8119800" y="1600200"/>
            <a:ext cx="3508920" cy="1369080"/>
          </a:xfrm>
          <a:prstGeom prst="roundRect">
            <a:avLst>
              <a:gd name="adj" fmla="val 8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691" name="CustomShape 12"/>
          <p:cNvSpPr/>
          <p:nvPr/>
        </p:nvSpPr>
        <p:spPr>
          <a:xfrm>
            <a:off x="8302680" y="1737360"/>
            <a:ext cx="3143160" cy="68328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4400" spc="-1" strike="noStrike">
                <a:solidFill>
                  <a:srgbClr val="d95d39"/>
                </a:solidFill>
                <a:latin typeface="Calibri"/>
                <a:ea typeface="Calibri"/>
              </a:rPr>
              <a:t>825</a:t>
            </a:r>
            <a:endParaRPr b="0" lang="es-ES" sz="4400" spc="-1" strike="noStrike">
              <a:latin typeface="Arial"/>
            </a:endParaRPr>
          </a:p>
        </p:txBody>
      </p:sp>
      <p:sp>
        <p:nvSpPr>
          <p:cNvPr id="1692" name="CustomShape 13"/>
          <p:cNvSpPr/>
          <p:nvPr/>
        </p:nvSpPr>
        <p:spPr>
          <a:xfrm>
            <a:off x="8302680" y="2354760"/>
            <a:ext cx="3143160" cy="54612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300" spc="-1" strike="noStrike">
                <a:solidFill>
                  <a:srgbClr val="5c6b7a"/>
                </a:solidFill>
                <a:latin typeface="Calibri"/>
                <a:ea typeface="Calibri"/>
              </a:rPr>
              <a:t>Lectura con éxito tras reintentos: disco en riesgo</a:t>
            </a:r>
            <a:endParaRPr b="0" lang="es-ES" sz="1300" spc="-1" strike="noStrike">
              <a:latin typeface="Arial"/>
            </a:endParaRPr>
          </a:p>
        </p:txBody>
      </p:sp>
      <p:sp>
        <p:nvSpPr>
          <p:cNvPr id="1693" name="CustomShape 14"/>
          <p:cNvSpPr/>
          <p:nvPr/>
        </p:nvSpPr>
        <p:spPr>
          <a:xfrm>
            <a:off x="548640" y="3246120"/>
            <a:ext cx="6306840" cy="2923560"/>
          </a:xfrm>
          <a:prstGeom prst="roundRect">
            <a:avLst>
              <a:gd name="adj" fmla="val 3125"/>
            </a:avLst>
          </a:prstGeom>
          <a:solidFill>
            <a:srgbClr val="eceff3"/>
          </a:solidFill>
          <a:ln w="9360">
            <a:solidFill>
              <a:srgbClr val="d0d7de"/>
            </a:solidFill>
            <a:round/>
          </a:ln>
        </p:spPr>
        <p:style>
          <a:lnRef idx="0"/>
          <a:fillRef idx="0"/>
          <a:effectRef idx="0"/>
          <a:fontRef idx="minor"/>
        </p:style>
      </p:sp>
      <p:sp>
        <p:nvSpPr>
          <p:cNvPr id="1694" name="CustomShape 15"/>
          <p:cNvSpPr/>
          <p:nvPr/>
        </p:nvSpPr>
        <p:spPr>
          <a:xfrm>
            <a:off x="731520" y="333756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a:t>
            </a:r>
            <a:endParaRPr b="0" lang="es-ES" sz="1000" spc="-1" strike="noStrike">
              <a:latin typeface="Arial"/>
            </a:endParaRPr>
          </a:p>
        </p:txBody>
      </p:sp>
      <p:sp>
        <p:nvSpPr>
          <p:cNvPr id="1695" name="CustomShape 16"/>
          <p:cNvSpPr/>
          <p:nvPr/>
        </p:nvSpPr>
        <p:spPr>
          <a:xfrm>
            <a:off x="731520" y="3611880"/>
            <a:ext cx="5941080" cy="246636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0" i="1" lang="en-US" sz="1200" spc="-1" strike="noStrike">
                <a:solidFill>
                  <a:srgbClr val="6b7280"/>
                </a:solidFill>
                <a:latin typeface="Consolas"/>
                <a:ea typeface="Consolas"/>
              </a:rPr>
              <a:t>-- Verificación de páginas a nivel de BD</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ALTER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DATABASE</a:t>
            </a:r>
            <a:r>
              <a:rPr b="0" lang="en-US" sz="1200" spc="-1" strike="noStrike">
                <a:solidFill>
                  <a:srgbClr val="1f2933"/>
                </a:solidFill>
                <a:latin typeface="Consolas"/>
                <a:ea typeface="Consolas"/>
              </a:rPr>
              <a:t> Ventas </a:t>
            </a:r>
            <a:r>
              <a:rPr b="1" lang="en-US" sz="1200" spc="-1" strike="noStrike">
                <a:solidFill>
                  <a:srgbClr val="1d4ed8"/>
                </a:solidFill>
                <a:latin typeface="Consolas"/>
                <a:ea typeface="Consolas"/>
              </a:rPr>
              <a:t>SET</a:t>
            </a:r>
            <a:r>
              <a:rPr b="0" lang="en-US" sz="1200" spc="-1" strike="noStrike">
                <a:solidFill>
                  <a:srgbClr val="1f2933"/>
                </a:solidFill>
                <a:latin typeface="Consolas"/>
                <a:ea typeface="Consolas"/>
              </a:rPr>
              <a:t> PAGE_VERIFY </a:t>
            </a:r>
            <a:r>
              <a:rPr b="1" lang="en-US" sz="1200" spc="-1" strike="noStrike">
                <a:solidFill>
                  <a:srgbClr val="1d4ed8"/>
                </a:solidFill>
                <a:latin typeface="Consolas"/>
                <a:ea typeface="Consolas"/>
              </a:rPr>
              <a:t>CHECKSUM</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DBCC</a:t>
            </a:r>
            <a:r>
              <a:rPr b="0" lang="en-US" sz="1200" spc="-1" strike="noStrike">
                <a:solidFill>
                  <a:srgbClr val="1f2933"/>
                </a:solidFill>
                <a:latin typeface="Consolas"/>
                <a:ea typeface="Consolas"/>
              </a:rPr>
              <a:t> CHECKDB (</a:t>
            </a:r>
            <a:r>
              <a:rPr b="0" lang="en-US" sz="1200" spc="-1" strike="noStrike">
                <a:solidFill>
                  <a:srgbClr val="b4441f"/>
                </a:solidFill>
                <a:latin typeface="Consolas"/>
                <a:ea typeface="Consolas"/>
              </a:rPr>
              <a:t>N'Ventas'</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NO_INFOMSGS, ALL_ERRORMSGS;</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0" i="1" lang="en-US" sz="1200" spc="-1" strike="noStrike">
                <a:solidFill>
                  <a:srgbClr val="6b7280"/>
                </a:solidFill>
                <a:latin typeface="Consolas"/>
                <a:ea typeface="Consolas"/>
              </a:rPr>
              <a:t>-- Páginas dañadas registradas por el motor</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database_id, file_id, page_id, event_type</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msdb.dbo.suspect_pages;</a:t>
            </a:r>
            <a:endParaRPr b="0" lang="es-ES" sz="1200" spc="-1" strike="noStrike">
              <a:latin typeface="Arial"/>
            </a:endParaRPr>
          </a:p>
        </p:txBody>
      </p:sp>
      <p:sp>
        <p:nvSpPr>
          <p:cNvPr id="1696" name="CustomShape 17"/>
          <p:cNvSpPr/>
          <p:nvPr/>
        </p:nvSpPr>
        <p:spPr>
          <a:xfrm>
            <a:off x="7132320" y="3246120"/>
            <a:ext cx="4505400" cy="2923560"/>
          </a:xfrm>
          <a:prstGeom prst="roundRect">
            <a:avLst>
              <a:gd name="adj" fmla="val 375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697" name="CustomShape 18"/>
          <p:cNvSpPr/>
          <p:nvPr/>
        </p:nvSpPr>
        <p:spPr>
          <a:xfrm>
            <a:off x="7360920" y="3474720"/>
            <a:ext cx="546120" cy="546120"/>
          </a:xfrm>
          <a:prstGeom prst="ellipse">
            <a:avLst/>
          </a:prstGeom>
          <a:solidFill>
            <a:srgbClr val="d95d39"/>
          </a:solidFill>
          <a:ln>
            <a:noFill/>
          </a:ln>
        </p:spPr>
        <p:style>
          <a:lnRef idx="0"/>
          <a:fillRef idx="0"/>
          <a:effectRef idx="0"/>
          <a:fontRef idx="minor"/>
        </p:style>
      </p:sp>
      <p:pic>
        <p:nvPicPr>
          <p:cNvPr id="1698" name="Image 0" descr="preencoded.png"/>
          <p:cNvPicPr/>
          <p:nvPr/>
        </p:nvPicPr>
        <p:blipFill>
          <a:blip r:embed="rId1"/>
          <a:stretch/>
        </p:blipFill>
        <p:spPr>
          <a:xfrm>
            <a:off x="7498080" y="3611880"/>
            <a:ext cx="271800" cy="271800"/>
          </a:xfrm>
          <a:prstGeom prst="rect">
            <a:avLst/>
          </a:prstGeom>
          <a:ln>
            <a:noFill/>
          </a:ln>
        </p:spPr>
      </p:pic>
      <p:sp>
        <p:nvSpPr>
          <p:cNvPr id="1699" name="CustomShape 19"/>
          <p:cNvSpPr/>
          <p:nvPr/>
        </p:nvSpPr>
        <p:spPr>
          <a:xfrm>
            <a:off x="8046720" y="3474720"/>
            <a:ext cx="336240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Opciones de reparación</a:t>
            </a:r>
            <a:endParaRPr b="0" lang="es-ES" sz="1700" spc="-1" strike="noStrike">
              <a:latin typeface="Arial"/>
            </a:endParaRPr>
          </a:p>
        </p:txBody>
      </p:sp>
      <p:sp>
        <p:nvSpPr>
          <p:cNvPr id="1700" name="CustomShape 20"/>
          <p:cNvSpPr/>
          <p:nvPr/>
        </p:nvSpPr>
        <p:spPr>
          <a:xfrm>
            <a:off x="7360920" y="4206240"/>
            <a:ext cx="4048200" cy="173484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REPAIR_REBUILD: </a:t>
            </a:r>
            <a:r>
              <a:rPr b="0" lang="en-US" sz="1400" spc="-1" strike="noStrike">
                <a:solidFill>
                  <a:srgbClr val="1f2933"/>
                </a:solidFill>
                <a:latin typeface="Calibri"/>
                <a:ea typeface="Calibri"/>
              </a:rPr>
              <a:t>sin pérdida de datos.</a:t>
            </a:r>
            <a:endParaRPr b="0" lang="es-ES" sz="1400" spc="-1" strike="noStrike">
              <a:latin typeface="Arial"/>
            </a:endParaRPr>
          </a:p>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ALLOW_DATA_LOSS: </a:t>
            </a:r>
            <a:r>
              <a:rPr b="0" lang="en-US" sz="1400" spc="-1" strike="noStrike">
                <a:solidFill>
                  <a:srgbClr val="1f2933"/>
                </a:solidFill>
                <a:latin typeface="Calibri"/>
                <a:ea typeface="Calibri"/>
              </a:rPr>
              <a:t>último recurso, tras backup.</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Antes: restaurar desde backup.</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701" name="CustomShape 1"/>
          <p:cNvSpPr/>
          <p:nvPr/>
        </p:nvSpPr>
        <p:spPr>
          <a:xfrm>
            <a:off x="548640" y="365760"/>
            <a:ext cx="158400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MANTENIMIENTO</a:t>
            </a:r>
            <a:endParaRPr b="0" lang="es-ES" sz="1000" spc="-1" strike="noStrike">
              <a:latin typeface="Arial"/>
            </a:endParaRPr>
          </a:p>
        </p:txBody>
      </p:sp>
      <p:sp>
        <p:nvSpPr>
          <p:cNvPr id="1702"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Reorganize vs Rebuild y estadísticas</a:t>
            </a:r>
            <a:endParaRPr b="0" lang="es-ES" sz="3400" spc="-1" strike="noStrike">
              <a:latin typeface="Arial"/>
            </a:endParaRPr>
          </a:p>
        </p:txBody>
      </p:sp>
      <p:sp>
        <p:nvSpPr>
          <p:cNvPr id="1703"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704"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4   69</a:t>
            </a:r>
            <a:endParaRPr b="0" lang="es-ES" sz="1000" spc="-1" strike="noStrike">
              <a:latin typeface="Arial"/>
            </a:endParaRPr>
          </a:p>
        </p:txBody>
      </p:sp>
      <p:graphicFrame>
        <p:nvGraphicFramePr>
          <p:cNvPr id="1705" name="Table 5"/>
          <p:cNvGraphicFramePr/>
          <p:nvPr/>
        </p:nvGraphicFramePr>
        <p:xfrm>
          <a:off x="548640" y="1600200"/>
          <a:ext cx="5211720" cy="3077640"/>
        </p:xfrm>
        <a:graphic>
          <a:graphicData uri="http://schemas.openxmlformats.org/drawingml/2006/table">
            <a:tbl>
              <a:tblPr/>
              <a:tblGrid>
                <a:gridCol w="1371600"/>
                <a:gridCol w="1828800"/>
                <a:gridCol w="2011680"/>
              </a:tblGrid>
              <a:tr h="380880">
                <a:tc>
                  <a:txBody>
                    <a:bodyPr lIns="109440" rIns="109440">
                      <a:noAutofit/>
                    </a:bodyPr>
                    <a:p>
                      <a:pPr>
                        <a:lnSpc>
                          <a:spcPct val="100000"/>
                        </a:lnSpc>
                        <a:tabLst>
                          <a:tab algn="l" pos="0"/>
                        </a:tabLst>
                      </a:pPr>
                      <a:r>
                        <a:rPr b="1" lang="en-US" sz="1300" spc="-1" strike="noStrike">
                          <a:solidFill>
                            <a:srgbClr val="ffffff"/>
                          </a:solidFill>
                          <a:latin typeface="Calibri"/>
                          <a:ea typeface="Calibri"/>
                        </a:rPr>
                        <a:t>Criterio</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c>
                  <a:txBody>
                    <a:bodyPr lIns="109440" rIns="109440">
                      <a:noAutofit/>
                    </a:bodyPr>
                    <a:p>
                      <a:pPr>
                        <a:lnSpc>
                          <a:spcPct val="100000"/>
                        </a:lnSpc>
                        <a:tabLst>
                          <a:tab algn="l" pos="0"/>
                        </a:tabLst>
                      </a:pPr>
                      <a:r>
                        <a:rPr b="1" lang="en-US" sz="1300" spc="-1" strike="noStrike">
                          <a:solidFill>
                            <a:srgbClr val="ffffff"/>
                          </a:solidFill>
                          <a:latin typeface="Calibri"/>
                          <a:ea typeface="Calibri"/>
                        </a:rPr>
                        <a:t>REORGANIZE</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c>
                  <a:txBody>
                    <a:bodyPr lIns="109440" rIns="109440">
                      <a:noAutofit/>
                    </a:bodyPr>
                    <a:p>
                      <a:pPr>
                        <a:lnSpc>
                          <a:spcPct val="100000"/>
                        </a:lnSpc>
                        <a:tabLst>
                          <a:tab algn="l" pos="0"/>
                        </a:tabLst>
                      </a:pPr>
                      <a:r>
                        <a:rPr b="1" lang="en-US" sz="1300" spc="-1" strike="noStrike">
                          <a:solidFill>
                            <a:srgbClr val="ffffff"/>
                          </a:solidFill>
                          <a:latin typeface="Calibri"/>
                          <a:ea typeface="Calibri"/>
                        </a:rPr>
                        <a:t>REBUILD</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r>
              <a:tr h="380880">
                <a:tc>
                  <a:txBody>
                    <a:bodyPr lIns="109440" rIns="109440">
                      <a:noAutofit/>
                    </a:bodyPr>
                    <a:p>
                      <a:pPr>
                        <a:lnSpc>
                          <a:spcPct val="100000"/>
                        </a:lnSpc>
                        <a:tabLst>
                          <a:tab algn="l" pos="0"/>
                        </a:tabLst>
                      </a:pPr>
                      <a:r>
                        <a:rPr b="1" lang="en-US" sz="1300" spc="-1" strike="noStrike">
                          <a:solidFill>
                            <a:srgbClr val="0b2545"/>
                          </a:solidFill>
                          <a:latin typeface="Calibri"/>
                          <a:ea typeface="Calibri"/>
                        </a:rPr>
                        <a:t>Fragmentación</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5 – 30 %</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&gt; 30 %</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r h="578880">
                <a:tc>
                  <a:txBody>
                    <a:bodyPr lIns="109440" rIns="109440">
                      <a:noAutofit/>
                    </a:bodyPr>
                    <a:p>
                      <a:pPr>
                        <a:lnSpc>
                          <a:spcPct val="100000"/>
                        </a:lnSpc>
                        <a:tabLst>
                          <a:tab algn="l" pos="0"/>
                        </a:tabLst>
                      </a:pPr>
                      <a:r>
                        <a:rPr b="1" lang="en-US" sz="1300" spc="-1" strike="noStrike">
                          <a:solidFill>
                            <a:srgbClr val="0b2545"/>
                          </a:solidFill>
                          <a:latin typeface="Calibri"/>
                          <a:ea typeface="Calibri"/>
                        </a:rPr>
                        <a:t>Modo</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Siempre online</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Offline (online en Enterprise)</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r>
              <a:tr h="578880">
                <a:tc>
                  <a:txBody>
                    <a:bodyPr lIns="109440" rIns="109440">
                      <a:noAutofit/>
                    </a:bodyPr>
                    <a:p>
                      <a:pPr>
                        <a:lnSpc>
                          <a:spcPct val="100000"/>
                        </a:lnSpc>
                        <a:tabLst>
                          <a:tab algn="l" pos="0"/>
                        </a:tabLst>
                      </a:pPr>
                      <a:r>
                        <a:rPr b="1" lang="en-US" sz="1300" spc="-1" strike="noStrike">
                          <a:solidFill>
                            <a:srgbClr val="0b2545"/>
                          </a:solidFill>
                          <a:latin typeface="Calibri"/>
                          <a:ea typeface="Calibri"/>
                        </a:rPr>
                        <a:t>Interrumpible</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Sí, sin perder avance</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No (salvo RESUMABLE)</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r h="578880">
                <a:tc>
                  <a:txBody>
                    <a:bodyPr lIns="109440" rIns="109440">
                      <a:noAutofit/>
                    </a:bodyPr>
                    <a:p>
                      <a:pPr>
                        <a:lnSpc>
                          <a:spcPct val="100000"/>
                        </a:lnSpc>
                        <a:tabLst>
                          <a:tab algn="l" pos="0"/>
                        </a:tabLst>
                      </a:pPr>
                      <a:r>
                        <a:rPr b="1" lang="en-US" sz="1300" spc="-1" strike="noStrike">
                          <a:solidFill>
                            <a:srgbClr val="0b2545"/>
                          </a:solidFill>
                          <a:latin typeface="Calibri"/>
                          <a:ea typeface="Calibri"/>
                        </a:rPr>
                        <a:t>Estadísticas</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No las actualiza</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Actualiza con FULLSCAN</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r>
              <a:tr h="579600">
                <a:tc>
                  <a:txBody>
                    <a:bodyPr lIns="109440" rIns="109440">
                      <a:noAutofit/>
                    </a:bodyPr>
                    <a:p>
                      <a:pPr>
                        <a:lnSpc>
                          <a:spcPct val="100000"/>
                        </a:lnSpc>
                        <a:tabLst>
                          <a:tab algn="l" pos="0"/>
                        </a:tabLst>
                      </a:pPr>
                      <a:r>
                        <a:rPr b="1" lang="en-US" sz="1300" spc="-1" strike="noStrike">
                          <a:solidFill>
                            <a:srgbClr val="0b2545"/>
                          </a:solidFill>
                          <a:latin typeface="Calibri"/>
                          <a:ea typeface="Calibri"/>
                        </a:rPr>
                        <a:t>Log</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Moderado y sostenido</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Mucho en recovery Full</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bl>
          </a:graphicData>
        </a:graphic>
      </p:graphicFrame>
      <p:sp>
        <p:nvSpPr>
          <p:cNvPr id="1706" name="CustomShape 6"/>
          <p:cNvSpPr/>
          <p:nvPr/>
        </p:nvSpPr>
        <p:spPr>
          <a:xfrm>
            <a:off x="6035040" y="1600200"/>
            <a:ext cx="5602680" cy="3380760"/>
          </a:xfrm>
          <a:prstGeom prst="roundRect">
            <a:avLst>
              <a:gd name="adj" fmla="val 2703"/>
            </a:avLst>
          </a:prstGeom>
          <a:solidFill>
            <a:srgbClr val="eceff3"/>
          </a:solidFill>
          <a:ln w="9360">
            <a:solidFill>
              <a:srgbClr val="d0d7de"/>
            </a:solidFill>
            <a:round/>
          </a:ln>
        </p:spPr>
        <p:style>
          <a:lnRef idx="0"/>
          <a:fillRef idx="0"/>
          <a:effectRef idx="0"/>
          <a:fontRef idx="minor"/>
        </p:style>
      </p:sp>
      <p:sp>
        <p:nvSpPr>
          <p:cNvPr id="1707" name="CustomShape 7"/>
          <p:cNvSpPr/>
          <p:nvPr/>
        </p:nvSpPr>
        <p:spPr>
          <a:xfrm>
            <a:off x="621792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a:t>
            </a:r>
            <a:endParaRPr b="0" lang="es-ES" sz="1000" spc="-1" strike="noStrike">
              <a:latin typeface="Arial"/>
            </a:endParaRPr>
          </a:p>
        </p:txBody>
      </p:sp>
      <p:sp>
        <p:nvSpPr>
          <p:cNvPr id="1708" name="CustomShape 8"/>
          <p:cNvSpPr/>
          <p:nvPr/>
        </p:nvSpPr>
        <p:spPr>
          <a:xfrm>
            <a:off x="6217920" y="1965960"/>
            <a:ext cx="5236920" cy="292356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OBJECT_NAME(ips.object_id)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Tabla, i.</a:t>
            </a:r>
            <a:r>
              <a:rPr b="1" lang="en-US" sz="1200" spc="-1" strike="noStrike">
                <a:solidFill>
                  <a:srgbClr val="1d4ed8"/>
                </a:solidFill>
                <a:latin typeface="Consolas"/>
                <a:ea typeface="Consolas"/>
              </a:rPr>
              <a:t>name</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ips.avg_fragmentation_in_percent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Frag</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sys.dm_db_index_physical_stats</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(DB_ID(), </a:t>
            </a:r>
            <a:r>
              <a:rPr b="1" lang="en-US" sz="1200" spc="-1" strike="noStrike">
                <a:solidFill>
                  <a:srgbClr val="1d4ed8"/>
                </a:solidFill>
                <a:latin typeface="Consolas"/>
                <a:ea typeface="Consolas"/>
              </a:rPr>
              <a:t>NULL</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NULL</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NULL</a:t>
            </a:r>
            <a:r>
              <a:rPr b="0" lang="en-US" sz="1200" spc="-1" strike="noStrike">
                <a:solidFill>
                  <a:srgbClr val="1f2933"/>
                </a:solidFill>
                <a:latin typeface="Consolas"/>
                <a:ea typeface="Consolas"/>
              </a:rPr>
              <a:t>, </a:t>
            </a:r>
            <a:r>
              <a:rPr b="0" lang="en-US" sz="1200" spc="-1" strike="noStrike">
                <a:solidFill>
                  <a:srgbClr val="b4441f"/>
                </a:solidFill>
                <a:latin typeface="Consolas"/>
                <a:ea typeface="Consolas"/>
              </a:rPr>
              <a:t>'LIMITED'</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ips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JOIN</a:t>
            </a:r>
            <a:r>
              <a:rPr b="0" lang="en-US" sz="1200" spc="-1" strike="noStrike">
                <a:solidFill>
                  <a:srgbClr val="1f2933"/>
                </a:solidFill>
                <a:latin typeface="Consolas"/>
                <a:ea typeface="Consolas"/>
              </a:rPr>
              <a:t> sys.indexes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i</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 i.object_id = ips.object_id</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AND</a:t>
            </a:r>
            <a:r>
              <a:rPr b="0" lang="en-US" sz="1200" spc="-1" strike="noStrike">
                <a:solidFill>
                  <a:srgbClr val="1f2933"/>
                </a:solidFill>
                <a:latin typeface="Consolas"/>
                <a:ea typeface="Consolas"/>
              </a:rPr>
              <a:t> i.index_id = ips.index_id</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WHERE</a:t>
            </a:r>
            <a:r>
              <a:rPr b="0" lang="en-US" sz="1200" spc="-1" strike="noStrike">
                <a:solidFill>
                  <a:srgbClr val="1f2933"/>
                </a:solidFill>
                <a:latin typeface="Consolas"/>
                <a:ea typeface="Consolas"/>
              </a:rPr>
              <a:t> ips.page_count &gt; </a:t>
            </a:r>
            <a:r>
              <a:rPr b="0" lang="en-US" sz="1200" spc="-1" strike="noStrike">
                <a:solidFill>
                  <a:srgbClr val="9a3412"/>
                </a:solidFill>
                <a:latin typeface="Consolas"/>
                <a:ea typeface="Consolas"/>
              </a:rPr>
              <a:t>1000</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AND</a:t>
            </a:r>
            <a:r>
              <a:rPr b="0" lang="en-US" sz="1200" spc="-1" strike="noStrike">
                <a:solidFill>
                  <a:srgbClr val="1f2933"/>
                </a:solidFill>
                <a:latin typeface="Consolas"/>
                <a:ea typeface="Consolas"/>
              </a:rPr>
              <a:t> i.index_id &gt; </a:t>
            </a:r>
            <a:r>
              <a:rPr b="0" lang="en-US" sz="1200" spc="-1" strike="noStrike">
                <a:solidFill>
                  <a:srgbClr val="9a3412"/>
                </a:solidFill>
                <a:latin typeface="Consolas"/>
                <a:ea typeface="Consolas"/>
              </a:rPr>
              <a:t>0</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ALTER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INDEX</a:t>
            </a:r>
            <a:r>
              <a:rPr b="0" lang="en-US" sz="1200" spc="-1" strike="noStrike">
                <a:solidFill>
                  <a:srgbClr val="1f2933"/>
                </a:solidFill>
                <a:latin typeface="Consolas"/>
                <a:ea typeface="Consolas"/>
              </a:rPr>
              <a:t> IX_Pedido_Fecha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 dbo.Pedido </a:t>
            </a:r>
            <a:r>
              <a:rPr b="1" lang="en-US" sz="1200" spc="-1" strike="noStrike">
                <a:solidFill>
                  <a:srgbClr val="1d4ed8"/>
                </a:solidFill>
                <a:latin typeface="Consolas"/>
                <a:ea typeface="Consolas"/>
              </a:rPr>
              <a:t>REORGANIZE</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ALTER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INDEX</a:t>
            </a:r>
            <a:r>
              <a:rPr b="0" lang="en-US" sz="1200" spc="-1" strike="noStrike">
                <a:solidFill>
                  <a:srgbClr val="1f2933"/>
                </a:solidFill>
                <a:latin typeface="Consolas"/>
                <a:ea typeface="Consolas"/>
              </a:rPr>
              <a:t> IX_Pedido_Fecha </a:t>
            </a:r>
            <a:r>
              <a:rPr b="1" lang="en-US" sz="1200" spc="-1" strike="noStrike">
                <a:solidFill>
                  <a:srgbClr val="1d4ed8"/>
                </a:solidFill>
                <a:latin typeface="Consolas"/>
                <a:ea typeface="Consolas"/>
              </a:rPr>
              <a:t>ON</a:t>
            </a:r>
            <a:r>
              <a:rPr b="0" lang="en-US" sz="1200" spc="-1" strike="noStrike">
                <a:solidFill>
                  <a:srgbClr val="1f2933"/>
                </a:solidFill>
                <a:latin typeface="Consolas"/>
                <a:ea typeface="Consolas"/>
              </a:rPr>
              <a:t> dbo.Pedido </a:t>
            </a:r>
            <a:r>
              <a:rPr b="1" lang="en-US" sz="1200" spc="-1" strike="noStrike">
                <a:solidFill>
                  <a:srgbClr val="1d4ed8"/>
                </a:solidFill>
                <a:latin typeface="Consolas"/>
                <a:ea typeface="Consolas"/>
              </a:rPr>
              <a:t>REBUILD</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UPDATE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STATISTICS</a:t>
            </a:r>
            <a:r>
              <a:rPr b="0" lang="en-US" sz="1200" spc="-1" strike="noStrike">
                <a:solidFill>
                  <a:srgbClr val="1f2933"/>
                </a:solidFill>
                <a:latin typeface="Consolas"/>
                <a:ea typeface="Consolas"/>
              </a:rPr>
              <a:t> dbo.Pedido </a:t>
            </a: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FULLSCAN;</a:t>
            </a:r>
            <a:endParaRPr b="0" lang="es-ES" sz="1200" spc="-1" strike="noStrike">
              <a:latin typeface="Arial"/>
            </a:endParaRPr>
          </a:p>
        </p:txBody>
      </p:sp>
      <p:sp>
        <p:nvSpPr>
          <p:cNvPr id="1709" name="CustomShape 9"/>
          <p:cNvSpPr/>
          <p:nvPr/>
        </p:nvSpPr>
        <p:spPr>
          <a:xfrm>
            <a:off x="548640" y="5257800"/>
            <a:ext cx="11089080" cy="911880"/>
          </a:xfrm>
          <a:prstGeom prst="roundRect">
            <a:avLst>
              <a:gd name="adj" fmla="val 12000"/>
            </a:avLst>
          </a:prstGeom>
          <a:solidFill>
            <a:srgbClr val="e8eef5"/>
          </a:solidFill>
          <a:ln>
            <a:noFill/>
          </a:ln>
        </p:spPr>
        <p:style>
          <a:lnRef idx="0"/>
          <a:fillRef idx="0"/>
          <a:effectRef idx="0"/>
          <a:fontRef idx="minor"/>
        </p:style>
      </p:sp>
      <p:sp>
        <p:nvSpPr>
          <p:cNvPr id="1710" name="CustomShape 10"/>
          <p:cNvSpPr/>
          <p:nvPr/>
        </p:nvSpPr>
        <p:spPr>
          <a:xfrm>
            <a:off x="731520" y="5486400"/>
            <a:ext cx="454680" cy="454680"/>
          </a:xfrm>
          <a:prstGeom prst="ellipse">
            <a:avLst/>
          </a:prstGeom>
          <a:solidFill>
            <a:srgbClr val="134074"/>
          </a:solidFill>
          <a:ln>
            <a:noFill/>
          </a:ln>
        </p:spPr>
        <p:style>
          <a:lnRef idx="0"/>
          <a:fillRef idx="0"/>
          <a:effectRef idx="0"/>
          <a:fontRef idx="minor"/>
        </p:style>
      </p:sp>
      <p:pic>
        <p:nvPicPr>
          <p:cNvPr id="1711" name="Image 0" descr="preencoded.png"/>
          <p:cNvPicPr/>
          <p:nvPr/>
        </p:nvPicPr>
        <p:blipFill>
          <a:blip r:embed="rId1"/>
          <a:stretch/>
        </p:blipFill>
        <p:spPr>
          <a:xfrm>
            <a:off x="846000" y="5600880"/>
            <a:ext cx="226080" cy="226080"/>
          </a:xfrm>
          <a:prstGeom prst="rect">
            <a:avLst/>
          </a:prstGeom>
          <a:ln>
            <a:noFill/>
          </a:ln>
        </p:spPr>
      </p:pic>
      <p:sp>
        <p:nvSpPr>
          <p:cNvPr id="1712" name="CustomShape 11"/>
          <p:cNvSpPr/>
          <p:nvPr/>
        </p:nvSpPr>
        <p:spPr>
          <a:xfrm>
            <a:off x="1371600" y="5257800"/>
            <a:ext cx="10083240" cy="9118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2545"/>
                </a:solidFill>
                <a:latin typeface="Calibri"/>
                <a:ea typeface="Calibri"/>
              </a:rPr>
              <a:t>Estadísticas primero: </a:t>
            </a:r>
            <a:r>
              <a:rPr b="0" lang="en-US" sz="1400" spc="-1" strike="noStrike">
                <a:solidFill>
                  <a:srgbClr val="1f2933"/>
                </a:solidFill>
                <a:latin typeface="Calibri"/>
                <a:ea typeface="Calibri"/>
              </a:rPr>
              <a:t>actualízalas por umbral de cambios (dm_db_stats_properties) y en horas valle; suelen aportar más que reconstruir índices.</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713" name="CustomShape 1"/>
          <p:cNvSpPr/>
          <p:nvPr/>
        </p:nvSpPr>
        <p:spPr>
          <a:xfrm>
            <a:off x="548640" y="365760"/>
            <a:ext cx="158400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MANTENIMIENTO</a:t>
            </a:r>
            <a:endParaRPr b="0" lang="es-ES" sz="1000" spc="-1" strike="noStrike">
              <a:latin typeface="Arial"/>
            </a:endParaRPr>
          </a:p>
        </p:txBody>
      </p:sp>
      <p:sp>
        <p:nvSpPr>
          <p:cNvPr id="1714"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Mantenimiento automatizado con Agent</a:t>
            </a:r>
            <a:endParaRPr b="0" lang="es-ES" sz="3400" spc="-1" strike="noStrike">
              <a:latin typeface="Arial"/>
            </a:endParaRPr>
          </a:p>
        </p:txBody>
      </p:sp>
      <p:sp>
        <p:nvSpPr>
          <p:cNvPr id="1715"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716"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4   70</a:t>
            </a:r>
            <a:endParaRPr b="0" lang="es-ES" sz="1000" spc="-1" strike="noStrike">
              <a:latin typeface="Arial"/>
            </a:endParaRPr>
          </a:p>
        </p:txBody>
      </p:sp>
      <p:sp>
        <p:nvSpPr>
          <p:cNvPr id="1717" name="CustomShape 5"/>
          <p:cNvSpPr/>
          <p:nvPr/>
        </p:nvSpPr>
        <p:spPr>
          <a:xfrm>
            <a:off x="548640" y="1600200"/>
            <a:ext cx="3511800" cy="2146320"/>
          </a:xfrm>
          <a:prstGeom prst="roundRect">
            <a:avLst>
              <a:gd name="adj" fmla="val 51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718" name="CustomShape 6"/>
          <p:cNvSpPr/>
          <p:nvPr/>
        </p:nvSpPr>
        <p:spPr>
          <a:xfrm>
            <a:off x="777240" y="1828800"/>
            <a:ext cx="546120" cy="546120"/>
          </a:xfrm>
          <a:prstGeom prst="ellipse">
            <a:avLst/>
          </a:prstGeom>
          <a:solidFill>
            <a:srgbClr val="134074"/>
          </a:solidFill>
          <a:ln>
            <a:noFill/>
          </a:ln>
        </p:spPr>
        <p:style>
          <a:lnRef idx="0"/>
          <a:fillRef idx="0"/>
          <a:effectRef idx="0"/>
          <a:fontRef idx="minor"/>
        </p:style>
      </p:sp>
      <p:pic>
        <p:nvPicPr>
          <p:cNvPr id="1719" name="Image 0" descr="preencoded.png"/>
          <p:cNvPicPr/>
          <p:nvPr/>
        </p:nvPicPr>
        <p:blipFill>
          <a:blip r:embed="rId1"/>
          <a:stretch/>
        </p:blipFill>
        <p:spPr>
          <a:xfrm>
            <a:off x="914400" y="1965960"/>
            <a:ext cx="271800" cy="271800"/>
          </a:xfrm>
          <a:prstGeom prst="rect">
            <a:avLst/>
          </a:prstGeom>
          <a:ln>
            <a:noFill/>
          </a:ln>
        </p:spPr>
      </p:pic>
      <p:sp>
        <p:nvSpPr>
          <p:cNvPr id="1720" name="CustomShape 7"/>
          <p:cNvSpPr/>
          <p:nvPr/>
        </p:nvSpPr>
        <p:spPr>
          <a:xfrm>
            <a:off x="1463040" y="1828800"/>
            <a:ext cx="236880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600" spc="-1" strike="noStrike">
                <a:solidFill>
                  <a:srgbClr val="0b2545"/>
                </a:solidFill>
                <a:latin typeface="Calibri"/>
                <a:ea typeface="Calibri"/>
              </a:rPr>
              <a:t>SQL Server Agent jobs</a:t>
            </a:r>
            <a:endParaRPr b="0" lang="es-ES" sz="1600" spc="-1" strike="noStrike">
              <a:latin typeface="Arial"/>
            </a:endParaRPr>
          </a:p>
        </p:txBody>
      </p:sp>
      <p:sp>
        <p:nvSpPr>
          <p:cNvPr id="1721" name="CustomShape 8"/>
          <p:cNvSpPr/>
          <p:nvPr/>
        </p:nvSpPr>
        <p:spPr>
          <a:xfrm>
            <a:off x="777240" y="2560320"/>
            <a:ext cx="3054600" cy="957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Pasos T-SQL o CmdExec, schedules e historial en msdb.</a:t>
            </a:r>
            <a:endParaRPr b="0" lang="es-ES" sz="1400" spc="-1" strike="noStrike">
              <a:latin typeface="Arial"/>
            </a:endParaRPr>
          </a:p>
        </p:txBody>
      </p:sp>
      <p:sp>
        <p:nvSpPr>
          <p:cNvPr id="1722" name="CustomShape 9"/>
          <p:cNvSpPr/>
          <p:nvPr/>
        </p:nvSpPr>
        <p:spPr>
          <a:xfrm>
            <a:off x="4337280" y="1600200"/>
            <a:ext cx="3511800" cy="2146320"/>
          </a:xfrm>
          <a:prstGeom prst="roundRect">
            <a:avLst>
              <a:gd name="adj" fmla="val 51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723" name="CustomShape 10"/>
          <p:cNvSpPr/>
          <p:nvPr/>
        </p:nvSpPr>
        <p:spPr>
          <a:xfrm>
            <a:off x="4565880" y="1828800"/>
            <a:ext cx="546120" cy="546120"/>
          </a:xfrm>
          <a:prstGeom prst="ellipse">
            <a:avLst/>
          </a:prstGeom>
          <a:solidFill>
            <a:srgbClr val="134074"/>
          </a:solidFill>
          <a:ln>
            <a:noFill/>
          </a:ln>
        </p:spPr>
        <p:style>
          <a:lnRef idx="0"/>
          <a:fillRef idx="0"/>
          <a:effectRef idx="0"/>
          <a:fontRef idx="minor"/>
        </p:style>
      </p:sp>
      <p:pic>
        <p:nvPicPr>
          <p:cNvPr id="1724" name="Image 1" descr="preencoded.png"/>
          <p:cNvPicPr/>
          <p:nvPr/>
        </p:nvPicPr>
        <p:blipFill>
          <a:blip r:embed="rId2"/>
          <a:stretch/>
        </p:blipFill>
        <p:spPr>
          <a:xfrm>
            <a:off x="4703040" y="1965960"/>
            <a:ext cx="271800" cy="271800"/>
          </a:xfrm>
          <a:prstGeom prst="rect">
            <a:avLst/>
          </a:prstGeom>
          <a:ln>
            <a:noFill/>
          </a:ln>
        </p:spPr>
      </p:pic>
      <p:sp>
        <p:nvSpPr>
          <p:cNvPr id="1725" name="CustomShape 11"/>
          <p:cNvSpPr/>
          <p:nvPr/>
        </p:nvSpPr>
        <p:spPr>
          <a:xfrm>
            <a:off x="5251680" y="1828800"/>
            <a:ext cx="236880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600" spc="-1" strike="noStrike">
                <a:solidFill>
                  <a:srgbClr val="0b2545"/>
                </a:solidFill>
                <a:latin typeface="Calibri"/>
                <a:ea typeface="Calibri"/>
              </a:rPr>
              <a:t>Maintenance Plans</a:t>
            </a:r>
            <a:endParaRPr b="0" lang="es-ES" sz="1600" spc="-1" strike="noStrike">
              <a:latin typeface="Arial"/>
            </a:endParaRPr>
          </a:p>
        </p:txBody>
      </p:sp>
      <p:sp>
        <p:nvSpPr>
          <p:cNvPr id="1726" name="CustomShape 12"/>
          <p:cNvSpPr/>
          <p:nvPr/>
        </p:nvSpPr>
        <p:spPr>
          <a:xfrm>
            <a:off x="4565880" y="2560320"/>
            <a:ext cx="3054600" cy="957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Asistente gráfico (SSIS): simple, pero poco flexible.</a:t>
            </a:r>
            <a:endParaRPr b="0" lang="es-ES" sz="1400" spc="-1" strike="noStrike">
              <a:latin typeface="Arial"/>
            </a:endParaRPr>
          </a:p>
        </p:txBody>
      </p:sp>
      <p:sp>
        <p:nvSpPr>
          <p:cNvPr id="1727" name="CustomShape 13"/>
          <p:cNvSpPr/>
          <p:nvPr/>
        </p:nvSpPr>
        <p:spPr>
          <a:xfrm>
            <a:off x="8125920" y="1600200"/>
            <a:ext cx="3511800" cy="2146320"/>
          </a:xfrm>
          <a:prstGeom prst="roundRect">
            <a:avLst>
              <a:gd name="adj" fmla="val 51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728" name="CustomShape 14"/>
          <p:cNvSpPr/>
          <p:nvPr/>
        </p:nvSpPr>
        <p:spPr>
          <a:xfrm>
            <a:off x="8354520" y="1828800"/>
            <a:ext cx="546120" cy="546120"/>
          </a:xfrm>
          <a:prstGeom prst="ellipse">
            <a:avLst/>
          </a:prstGeom>
          <a:solidFill>
            <a:srgbClr val="134074"/>
          </a:solidFill>
          <a:ln>
            <a:noFill/>
          </a:ln>
        </p:spPr>
        <p:style>
          <a:lnRef idx="0"/>
          <a:fillRef idx="0"/>
          <a:effectRef idx="0"/>
          <a:fontRef idx="minor"/>
        </p:style>
      </p:sp>
      <p:pic>
        <p:nvPicPr>
          <p:cNvPr id="1729" name="Image 2" descr="preencoded.png"/>
          <p:cNvPicPr/>
          <p:nvPr/>
        </p:nvPicPr>
        <p:blipFill>
          <a:blip r:embed="rId3"/>
          <a:stretch/>
        </p:blipFill>
        <p:spPr>
          <a:xfrm>
            <a:off x="8491680" y="1965960"/>
            <a:ext cx="271800" cy="271800"/>
          </a:xfrm>
          <a:prstGeom prst="rect">
            <a:avLst/>
          </a:prstGeom>
          <a:ln>
            <a:noFill/>
          </a:ln>
        </p:spPr>
      </p:pic>
      <p:sp>
        <p:nvSpPr>
          <p:cNvPr id="1730" name="CustomShape 15"/>
          <p:cNvSpPr/>
          <p:nvPr/>
        </p:nvSpPr>
        <p:spPr>
          <a:xfrm>
            <a:off x="9040320" y="1828800"/>
            <a:ext cx="236880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600" spc="-1" strike="noStrike">
                <a:solidFill>
                  <a:srgbClr val="0b2545"/>
                </a:solidFill>
                <a:latin typeface="Calibri"/>
                <a:ea typeface="Calibri"/>
              </a:rPr>
              <a:t>Scripts Ola Hallengren</a:t>
            </a:r>
            <a:endParaRPr b="0" lang="es-ES" sz="1600" spc="-1" strike="noStrike">
              <a:latin typeface="Arial"/>
            </a:endParaRPr>
          </a:p>
        </p:txBody>
      </p:sp>
      <p:sp>
        <p:nvSpPr>
          <p:cNvPr id="1731" name="CustomShape 16"/>
          <p:cNvSpPr/>
          <p:nvPr/>
        </p:nvSpPr>
        <p:spPr>
          <a:xfrm>
            <a:off x="8354520" y="2560320"/>
            <a:ext cx="3054600" cy="957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DatabaseBackup, IntegrityCheck e IndexOptimize por umbrales.</a:t>
            </a:r>
            <a:endParaRPr b="0" lang="es-ES" sz="1400" spc="-1" strike="noStrike">
              <a:latin typeface="Arial"/>
            </a:endParaRPr>
          </a:p>
        </p:txBody>
      </p:sp>
      <p:sp>
        <p:nvSpPr>
          <p:cNvPr id="1732" name="CustomShape 17"/>
          <p:cNvSpPr/>
          <p:nvPr/>
        </p:nvSpPr>
        <p:spPr>
          <a:xfrm>
            <a:off x="548640" y="4023360"/>
            <a:ext cx="3511800" cy="2146320"/>
          </a:xfrm>
          <a:prstGeom prst="roundRect">
            <a:avLst>
              <a:gd name="adj" fmla="val 51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733" name="CustomShape 18"/>
          <p:cNvSpPr/>
          <p:nvPr/>
        </p:nvSpPr>
        <p:spPr>
          <a:xfrm>
            <a:off x="777240" y="4251960"/>
            <a:ext cx="546120" cy="546120"/>
          </a:xfrm>
          <a:prstGeom prst="ellipse">
            <a:avLst/>
          </a:prstGeom>
          <a:solidFill>
            <a:srgbClr val="134074"/>
          </a:solidFill>
          <a:ln>
            <a:noFill/>
          </a:ln>
        </p:spPr>
        <p:style>
          <a:lnRef idx="0"/>
          <a:fillRef idx="0"/>
          <a:effectRef idx="0"/>
          <a:fontRef idx="minor"/>
        </p:style>
      </p:sp>
      <p:pic>
        <p:nvPicPr>
          <p:cNvPr id="1734" name="Image 3" descr="preencoded.png"/>
          <p:cNvPicPr/>
          <p:nvPr/>
        </p:nvPicPr>
        <p:blipFill>
          <a:blip r:embed="rId4"/>
          <a:stretch/>
        </p:blipFill>
        <p:spPr>
          <a:xfrm>
            <a:off x="914400" y="4389120"/>
            <a:ext cx="271800" cy="271800"/>
          </a:xfrm>
          <a:prstGeom prst="rect">
            <a:avLst/>
          </a:prstGeom>
          <a:ln>
            <a:noFill/>
          </a:ln>
        </p:spPr>
      </p:pic>
      <p:sp>
        <p:nvSpPr>
          <p:cNvPr id="1735" name="CustomShape 19"/>
          <p:cNvSpPr/>
          <p:nvPr/>
        </p:nvSpPr>
        <p:spPr>
          <a:xfrm>
            <a:off x="1463040" y="4251960"/>
            <a:ext cx="236880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600" spc="-1" strike="noStrike">
                <a:solidFill>
                  <a:srgbClr val="0b2545"/>
                </a:solidFill>
                <a:latin typeface="Calibri"/>
                <a:ea typeface="Calibri"/>
              </a:rPr>
              <a:t>Limpieza de msdb</a:t>
            </a:r>
            <a:endParaRPr b="0" lang="es-ES" sz="1600" spc="-1" strike="noStrike">
              <a:latin typeface="Arial"/>
            </a:endParaRPr>
          </a:p>
        </p:txBody>
      </p:sp>
      <p:sp>
        <p:nvSpPr>
          <p:cNvPr id="1736" name="CustomShape 20"/>
          <p:cNvSpPr/>
          <p:nvPr/>
        </p:nvSpPr>
        <p:spPr>
          <a:xfrm>
            <a:off x="777240" y="4983480"/>
            <a:ext cx="3054600" cy="957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sp_delete_backuphistory y sp_purge_jobhistory semanales.</a:t>
            </a:r>
            <a:endParaRPr b="0" lang="es-ES" sz="1400" spc="-1" strike="noStrike">
              <a:latin typeface="Arial"/>
            </a:endParaRPr>
          </a:p>
        </p:txBody>
      </p:sp>
      <p:sp>
        <p:nvSpPr>
          <p:cNvPr id="1737" name="CustomShape 21"/>
          <p:cNvSpPr/>
          <p:nvPr/>
        </p:nvSpPr>
        <p:spPr>
          <a:xfrm>
            <a:off x="4337280" y="4023360"/>
            <a:ext cx="3511800" cy="2146320"/>
          </a:xfrm>
          <a:prstGeom prst="roundRect">
            <a:avLst>
              <a:gd name="adj" fmla="val 51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738" name="CustomShape 22"/>
          <p:cNvSpPr/>
          <p:nvPr/>
        </p:nvSpPr>
        <p:spPr>
          <a:xfrm>
            <a:off x="4565880" y="4251960"/>
            <a:ext cx="546120" cy="546120"/>
          </a:xfrm>
          <a:prstGeom prst="ellipse">
            <a:avLst/>
          </a:prstGeom>
          <a:solidFill>
            <a:srgbClr val="134074"/>
          </a:solidFill>
          <a:ln>
            <a:noFill/>
          </a:ln>
        </p:spPr>
        <p:style>
          <a:lnRef idx="0"/>
          <a:fillRef idx="0"/>
          <a:effectRef idx="0"/>
          <a:fontRef idx="minor"/>
        </p:style>
      </p:sp>
      <p:pic>
        <p:nvPicPr>
          <p:cNvPr id="1739" name="Image 4" descr="preencoded.png"/>
          <p:cNvPicPr/>
          <p:nvPr/>
        </p:nvPicPr>
        <p:blipFill>
          <a:blip r:embed="rId5"/>
          <a:stretch/>
        </p:blipFill>
        <p:spPr>
          <a:xfrm>
            <a:off x="4703040" y="4389120"/>
            <a:ext cx="271800" cy="271800"/>
          </a:xfrm>
          <a:prstGeom prst="rect">
            <a:avLst/>
          </a:prstGeom>
          <a:ln>
            <a:noFill/>
          </a:ln>
        </p:spPr>
      </p:pic>
      <p:sp>
        <p:nvSpPr>
          <p:cNvPr id="1740" name="CustomShape 23"/>
          <p:cNvSpPr/>
          <p:nvPr/>
        </p:nvSpPr>
        <p:spPr>
          <a:xfrm>
            <a:off x="5251680" y="4251960"/>
            <a:ext cx="236880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600" spc="-1" strike="noStrike">
                <a:solidFill>
                  <a:srgbClr val="0b2545"/>
                </a:solidFill>
                <a:latin typeface="Calibri"/>
                <a:ea typeface="Calibri"/>
              </a:rPr>
              <a:t>Database Mail y operadores</a:t>
            </a:r>
            <a:endParaRPr b="0" lang="es-ES" sz="1600" spc="-1" strike="noStrike">
              <a:latin typeface="Arial"/>
            </a:endParaRPr>
          </a:p>
        </p:txBody>
      </p:sp>
      <p:sp>
        <p:nvSpPr>
          <p:cNvPr id="1741" name="CustomShape 24"/>
          <p:cNvSpPr/>
          <p:nvPr/>
        </p:nvSpPr>
        <p:spPr>
          <a:xfrm>
            <a:off x="4565880" y="4983480"/>
            <a:ext cx="3054600" cy="957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El operador recibe el correo cuando un job falla.</a:t>
            </a:r>
            <a:endParaRPr b="0" lang="es-ES" sz="1400" spc="-1" strike="noStrike">
              <a:latin typeface="Arial"/>
            </a:endParaRPr>
          </a:p>
        </p:txBody>
      </p:sp>
      <p:sp>
        <p:nvSpPr>
          <p:cNvPr id="1742" name="CustomShape 25"/>
          <p:cNvSpPr/>
          <p:nvPr/>
        </p:nvSpPr>
        <p:spPr>
          <a:xfrm>
            <a:off x="8125920" y="4023360"/>
            <a:ext cx="3511800" cy="2146320"/>
          </a:xfrm>
          <a:prstGeom prst="roundRect">
            <a:avLst>
              <a:gd name="adj" fmla="val 51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743" name="CustomShape 26"/>
          <p:cNvSpPr/>
          <p:nvPr/>
        </p:nvSpPr>
        <p:spPr>
          <a:xfrm>
            <a:off x="8354520" y="4251960"/>
            <a:ext cx="546120" cy="546120"/>
          </a:xfrm>
          <a:prstGeom prst="ellipse">
            <a:avLst/>
          </a:prstGeom>
          <a:solidFill>
            <a:srgbClr val="134074"/>
          </a:solidFill>
          <a:ln>
            <a:noFill/>
          </a:ln>
        </p:spPr>
        <p:style>
          <a:lnRef idx="0"/>
          <a:fillRef idx="0"/>
          <a:effectRef idx="0"/>
          <a:fontRef idx="minor"/>
        </p:style>
      </p:sp>
      <p:pic>
        <p:nvPicPr>
          <p:cNvPr id="1744" name="Image 5" descr="preencoded.png"/>
          <p:cNvPicPr/>
          <p:nvPr/>
        </p:nvPicPr>
        <p:blipFill>
          <a:blip r:embed="rId6"/>
          <a:stretch/>
        </p:blipFill>
        <p:spPr>
          <a:xfrm>
            <a:off x="8491680" y="4389120"/>
            <a:ext cx="271800" cy="271800"/>
          </a:xfrm>
          <a:prstGeom prst="rect">
            <a:avLst/>
          </a:prstGeom>
          <a:ln>
            <a:noFill/>
          </a:ln>
        </p:spPr>
      </p:pic>
      <p:sp>
        <p:nvSpPr>
          <p:cNvPr id="1745" name="CustomShape 27"/>
          <p:cNvSpPr/>
          <p:nvPr/>
        </p:nvSpPr>
        <p:spPr>
          <a:xfrm>
            <a:off x="9040320" y="4251960"/>
            <a:ext cx="236880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600" spc="-1" strike="noStrike">
                <a:solidFill>
                  <a:srgbClr val="0b2545"/>
                </a:solidFill>
                <a:latin typeface="Calibri"/>
                <a:ea typeface="Calibri"/>
              </a:rPr>
              <a:t>Alertas del Agent</a:t>
            </a:r>
            <a:endParaRPr b="0" lang="es-ES" sz="1600" spc="-1" strike="noStrike">
              <a:latin typeface="Arial"/>
            </a:endParaRPr>
          </a:p>
        </p:txBody>
      </p:sp>
      <p:sp>
        <p:nvSpPr>
          <p:cNvPr id="1746" name="CustomShape 28"/>
          <p:cNvSpPr/>
          <p:nvPr/>
        </p:nvSpPr>
        <p:spPr>
          <a:xfrm>
            <a:off x="8354520" y="4983480"/>
            <a:ext cx="3054600" cy="957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Gravedad 19–25 y errores 823, 824, 825 y 9002.</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747"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INCIDENCIAS</a:t>
            </a:r>
            <a:endParaRPr b="0" lang="es-ES" sz="1000" spc="-1" strike="noStrike">
              <a:latin typeface="Arial"/>
            </a:endParaRPr>
          </a:p>
        </p:txBody>
      </p:sp>
      <p:sp>
        <p:nvSpPr>
          <p:cNvPr id="1748"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Incidencia: log de transacciones lleno</a:t>
            </a:r>
            <a:endParaRPr b="0" lang="es-ES" sz="3400" spc="-1" strike="noStrike">
              <a:latin typeface="Arial"/>
            </a:endParaRPr>
          </a:p>
        </p:txBody>
      </p:sp>
      <p:sp>
        <p:nvSpPr>
          <p:cNvPr id="1749"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750"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4   71</a:t>
            </a:r>
            <a:endParaRPr b="0" lang="es-ES" sz="1000" spc="-1" strike="noStrike">
              <a:latin typeface="Arial"/>
            </a:endParaRPr>
          </a:p>
        </p:txBody>
      </p:sp>
      <p:sp>
        <p:nvSpPr>
          <p:cNvPr id="1751" name="CustomShape 5"/>
          <p:cNvSpPr/>
          <p:nvPr/>
        </p:nvSpPr>
        <p:spPr>
          <a:xfrm>
            <a:off x="548640" y="1600200"/>
            <a:ext cx="4752360" cy="3015000"/>
          </a:xfrm>
          <a:prstGeom prst="roundRect">
            <a:avLst>
              <a:gd name="adj" fmla="val 3030"/>
            </a:avLst>
          </a:prstGeom>
          <a:solidFill>
            <a:srgbClr val="eceff3"/>
          </a:solidFill>
          <a:ln w="9360">
            <a:solidFill>
              <a:srgbClr val="d0d7de"/>
            </a:solidFill>
            <a:round/>
          </a:ln>
        </p:spPr>
        <p:style>
          <a:lnRef idx="0"/>
          <a:fillRef idx="0"/>
          <a:effectRef idx="0"/>
          <a:fontRef idx="minor"/>
        </p:style>
      </p:sp>
      <p:sp>
        <p:nvSpPr>
          <p:cNvPr id="1752" name="CustomShape 6"/>
          <p:cNvSpPr/>
          <p:nvPr/>
        </p:nvSpPr>
        <p:spPr>
          <a:xfrm>
            <a:off x="73152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a:t>
            </a:r>
            <a:endParaRPr b="0" lang="es-ES" sz="1000" spc="-1" strike="noStrike">
              <a:latin typeface="Arial"/>
            </a:endParaRPr>
          </a:p>
        </p:txBody>
      </p:sp>
      <p:sp>
        <p:nvSpPr>
          <p:cNvPr id="1753" name="CustomShape 7"/>
          <p:cNvSpPr/>
          <p:nvPr/>
        </p:nvSpPr>
        <p:spPr>
          <a:xfrm>
            <a:off x="731520" y="1965960"/>
            <a:ext cx="4386600" cy="255780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name</a:t>
            </a:r>
            <a:r>
              <a:rPr b="0" lang="en-US" sz="1200" spc="-1" strike="noStrike">
                <a:solidFill>
                  <a:srgbClr val="1f2933"/>
                </a:solidFill>
                <a:latin typeface="Consolas"/>
                <a:ea typeface="Consolas"/>
              </a:rPr>
              <a:t>, recovery_model_desc,</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log_reuse_wait_desc</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sys.databases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WHERE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name</a:t>
            </a:r>
            <a:r>
              <a:rPr b="0" lang="en-US" sz="1200" spc="-1" strike="noStrike">
                <a:solidFill>
                  <a:srgbClr val="1f2933"/>
                </a:solidFill>
                <a:latin typeface="Consolas"/>
                <a:ea typeface="Consolas"/>
              </a:rPr>
              <a:t> = </a:t>
            </a:r>
            <a:r>
              <a:rPr b="0" lang="en-US" sz="1200" spc="-1" strike="noStrike">
                <a:solidFill>
                  <a:srgbClr val="b4441f"/>
                </a:solidFill>
                <a:latin typeface="Consolas"/>
                <a:ea typeface="Consolas"/>
              </a:rPr>
              <a:t>N'Ventas'</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DBCC</a:t>
            </a:r>
            <a:r>
              <a:rPr b="0" lang="en-US" sz="1200" spc="-1" strike="noStrike">
                <a:solidFill>
                  <a:srgbClr val="1f2933"/>
                </a:solidFill>
                <a:latin typeface="Consolas"/>
                <a:ea typeface="Consolas"/>
              </a:rPr>
              <a:t> SQLPERF (LOGSPACE);</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DBCC</a:t>
            </a:r>
            <a:r>
              <a:rPr b="0" lang="en-US" sz="1200" spc="-1" strike="noStrike">
                <a:solidFill>
                  <a:srgbClr val="1f2933"/>
                </a:solidFill>
                <a:latin typeface="Consolas"/>
                <a:ea typeface="Consolas"/>
              </a:rPr>
              <a:t> OPENTRAN (</a:t>
            </a:r>
            <a:r>
              <a:rPr b="0" lang="en-US" sz="1200" spc="-1" strike="noStrike">
                <a:solidFill>
                  <a:srgbClr val="b4441f"/>
                </a:solidFill>
                <a:latin typeface="Consolas"/>
                <a:ea typeface="Consolas"/>
              </a:rPr>
              <a:t>N'Ventas'</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BACKUP</a:t>
            </a:r>
            <a:r>
              <a:rPr b="0" lang="en-US" sz="1200" spc="-1" strike="noStrike">
                <a:solidFill>
                  <a:srgbClr val="1f2933"/>
                </a:solidFill>
                <a:latin typeface="Consolas"/>
                <a:ea typeface="Consolas"/>
              </a:rPr>
              <a:t> LOG Ventas</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TO DISK = </a:t>
            </a:r>
            <a:r>
              <a:rPr b="0" lang="en-US" sz="1200" spc="-1" strike="noStrike">
                <a:solidFill>
                  <a:srgbClr val="b4441f"/>
                </a:solidFill>
                <a:latin typeface="Consolas"/>
                <a:ea typeface="Consolas"/>
              </a:rPr>
              <a:t>N'/var/opt/mssql/backup/Log2.trn'</a:t>
            </a:r>
            <a:r>
              <a:rPr b="0" lang="en-US" sz="1200" spc="-1" strike="noStrike">
                <a:solidFill>
                  <a:srgbClr val="1f2933"/>
                </a:solidFill>
                <a:latin typeface="Consolas"/>
                <a:ea typeface="Consolas"/>
              </a:rPr>
              <a:t>;</a:t>
            </a:r>
            <a:endParaRPr b="0" lang="es-ES" sz="1200" spc="-1" strike="noStrike">
              <a:latin typeface="Arial"/>
            </a:endParaRPr>
          </a:p>
        </p:txBody>
      </p:sp>
      <p:graphicFrame>
        <p:nvGraphicFramePr>
          <p:cNvPr id="1754" name="Table 8"/>
          <p:cNvGraphicFramePr/>
          <p:nvPr/>
        </p:nvGraphicFramePr>
        <p:xfrm>
          <a:off x="5577840" y="1600200"/>
          <a:ext cx="6061680" cy="2300400"/>
        </p:xfrm>
        <a:graphic>
          <a:graphicData uri="http://schemas.openxmlformats.org/drawingml/2006/table">
            <a:tbl>
              <a:tblPr/>
              <a:tblGrid>
                <a:gridCol w="2080800"/>
                <a:gridCol w="1990440"/>
                <a:gridCol w="1990800"/>
              </a:tblGrid>
              <a:tr h="380880">
                <a:tc>
                  <a:txBody>
                    <a:bodyPr lIns="109440" rIns="109440">
                      <a:noAutofit/>
                    </a:bodyPr>
                    <a:p>
                      <a:pPr>
                        <a:lnSpc>
                          <a:spcPct val="100000"/>
                        </a:lnSpc>
                        <a:tabLst>
                          <a:tab algn="l" pos="0"/>
                        </a:tabLst>
                      </a:pPr>
                      <a:r>
                        <a:rPr b="1" lang="en-US" sz="1300" spc="-1" strike="noStrike">
                          <a:solidFill>
                            <a:srgbClr val="ffffff"/>
                          </a:solidFill>
                          <a:latin typeface="Calibri"/>
                          <a:ea typeface="Calibri"/>
                        </a:rPr>
                        <a:t>log_reuse_wait_desc</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c>
                  <a:txBody>
                    <a:bodyPr lIns="109440" rIns="109440">
                      <a:noAutofit/>
                    </a:bodyPr>
                    <a:p>
                      <a:pPr>
                        <a:lnSpc>
                          <a:spcPct val="100000"/>
                        </a:lnSpc>
                        <a:tabLst>
                          <a:tab algn="l" pos="0"/>
                        </a:tabLst>
                      </a:pPr>
                      <a:r>
                        <a:rPr b="1" lang="en-US" sz="1300" spc="-1" strike="noStrike">
                          <a:solidFill>
                            <a:srgbClr val="ffffff"/>
                          </a:solidFill>
                          <a:latin typeface="Calibri"/>
                          <a:ea typeface="Calibri"/>
                        </a:rPr>
                        <a:t>Causa</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c>
                  <a:txBody>
                    <a:bodyPr lIns="109440" rIns="109440">
                      <a:noAutofit/>
                    </a:bodyPr>
                    <a:p>
                      <a:pPr>
                        <a:lnSpc>
                          <a:spcPct val="100000"/>
                        </a:lnSpc>
                        <a:tabLst>
                          <a:tab algn="l" pos="0"/>
                        </a:tabLst>
                      </a:pPr>
                      <a:r>
                        <a:rPr b="1" lang="en-US" sz="1300" spc="-1" strike="noStrike">
                          <a:solidFill>
                            <a:srgbClr val="ffffff"/>
                          </a:solidFill>
                          <a:latin typeface="Calibri"/>
                          <a:ea typeface="Calibri"/>
                        </a:rPr>
                        <a:t>Acción</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0b2545"/>
                    </a:solidFill>
                  </a:tcPr>
                </a:tc>
              </a:tr>
              <a:tr h="578880">
                <a:tc>
                  <a:txBody>
                    <a:bodyPr lIns="109440" rIns="109440">
                      <a:noAutofit/>
                    </a:bodyPr>
                    <a:p>
                      <a:pPr>
                        <a:lnSpc>
                          <a:spcPct val="100000"/>
                        </a:lnSpc>
                        <a:tabLst>
                          <a:tab algn="l" pos="0"/>
                        </a:tabLst>
                      </a:pPr>
                      <a:r>
                        <a:rPr b="1" lang="en-US" sz="1300" spc="-1" strike="noStrike">
                          <a:solidFill>
                            <a:srgbClr val="0b2545"/>
                          </a:solidFill>
                          <a:latin typeface="Calibri"/>
                          <a:ea typeface="Calibri"/>
                        </a:rPr>
                        <a:t>LOG_BACKUP</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Sin log backups</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BACKUP LOG y programarlo</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r h="578880">
                <a:tc>
                  <a:txBody>
                    <a:bodyPr lIns="109440" rIns="109440">
                      <a:noAutofit/>
                    </a:bodyPr>
                    <a:p>
                      <a:pPr>
                        <a:lnSpc>
                          <a:spcPct val="100000"/>
                        </a:lnSpc>
                        <a:tabLst>
                          <a:tab algn="l" pos="0"/>
                        </a:tabLst>
                      </a:pPr>
                      <a:r>
                        <a:rPr b="1" lang="en-US" sz="1300" spc="-1" strike="noStrike">
                          <a:solidFill>
                            <a:srgbClr val="0b2545"/>
                          </a:solidFill>
                          <a:latin typeface="Calibri"/>
                          <a:ea typeface="Calibri"/>
                        </a:rPr>
                        <a:t>ACTIVE_TRANSACTION</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Transacción larga abierta</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DBCC OPENTRAN; cerrarla</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r>
              <a:tr h="380880">
                <a:tc>
                  <a:txBody>
                    <a:bodyPr lIns="109440" rIns="109440">
                      <a:noAutofit/>
                    </a:bodyPr>
                    <a:p>
                      <a:pPr>
                        <a:lnSpc>
                          <a:spcPct val="100000"/>
                        </a:lnSpc>
                        <a:tabLst>
                          <a:tab algn="l" pos="0"/>
                        </a:tabLst>
                      </a:pPr>
                      <a:r>
                        <a:rPr b="1" lang="en-US" sz="1300" spc="-1" strike="noStrike">
                          <a:solidFill>
                            <a:srgbClr val="0b2545"/>
                          </a:solidFill>
                          <a:latin typeface="Calibri"/>
                          <a:ea typeface="Calibri"/>
                        </a:rPr>
                        <a:t>AVAILABILITY_REPLICA</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Réplica AG atrasada</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Revisar red y réplica</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ffffff"/>
                    </a:solidFill>
                  </a:tcPr>
                </a:tc>
              </a:tr>
              <a:tr h="381240">
                <a:tc>
                  <a:txBody>
                    <a:bodyPr lIns="109440" rIns="109440">
                      <a:noAutofit/>
                    </a:bodyPr>
                    <a:p>
                      <a:pPr>
                        <a:lnSpc>
                          <a:spcPct val="100000"/>
                        </a:lnSpc>
                        <a:tabLst>
                          <a:tab algn="l" pos="0"/>
                        </a:tabLst>
                      </a:pPr>
                      <a:r>
                        <a:rPr b="1" lang="en-US" sz="1300" spc="-1" strike="noStrike">
                          <a:solidFill>
                            <a:srgbClr val="0b2545"/>
                          </a:solidFill>
                          <a:latin typeface="Calibri"/>
                          <a:ea typeface="Calibri"/>
                        </a:rPr>
                        <a:t>REPLICATION</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Log Reader parado</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c>
                  <a:txBody>
                    <a:bodyPr lIns="109440" rIns="109440">
                      <a:noAutofit/>
                    </a:bodyPr>
                    <a:p>
                      <a:pPr>
                        <a:lnSpc>
                          <a:spcPct val="100000"/>
                        </a:lnSpc>
                        <a:tabLst>
                          <a:tab algn="l" pos="0"/>
                        </a:tabLst>
                      </a:pPr>
                      <a:r>
                        <a:rPr b="0" lang="en-US" sz="1300" spc="-1" strike="noStrike">
                          <a:solidFill>
                            <a:srgbClr val="1f2933"/>
                          </a:solidFill>
                          <a:latin typeface="Calibri"/>
                          <a:ea typeface="Calibri"/>
                        </a:rPr>
                        <a:t>Reiniciar el agente</a:t>
                      </a:r>
                      <a:endParaRPr b="0" lang="es-ES" sz="1300" spc="-1" strike="noStrike">
                        <a:latin typeface="Arial"/>
                      </a:endParaRPr>
                    </a:p>
                  </a:txBody>
                  <a:tcPr marL="109440" marR="109440">
                    <a:lnL w="9360">
                      <a:solidFill>
                        <a:srgbClr val="d0d7de"/>
                      </a:solidFill>
                    </a:lnL>
                    <a:lnR w="9360">
                      <a:solidFill>
                        <a:srgbClr val="d0d7de"/>
                      </a:solidFill>
                    </a:lnR>
                    <a:lnT w="9360">
                      <a:solidFill>
                        <a:srgbClr val="d0d7de"/>
                      </a:solidFill>
                    </a:lnT>
                    <a:lnB w="9360">
                      <a:solidFill>
                        <a:srgbClr val="d0d7de"/>
                      </a:solidFill>
                    </a:lnB>
                    <a:solidFill>
                      <a:srgbClr val="e8eef5"/>
                    </a:solidFill>
                  </a:tcPr>
                </a:tc>
              </a:tr>
            </a:tbl>
          </a:graphicData>
        </a:graphic>
      </p:graphicFrame>
      <p:sp>
        <p:nvSpPr>
          <p:cNvPr id="1755" name="CustomShape 9"/>
          <p:cNvSpPr/>
          <p:nvPr/>
        </p:nvSpPr>
        <p:spPr>
          <a:xfrm>
            <a:off x="548640" y="4937760"/>
            <a:ext cx="11089080" cy="1186200"/>
          </a:xfrm>
          <a:prstGeom prst="roundRect">
            <a:avLst>
              <a:gd name="adj" fmla="val 9231"/>
            </a:avLst>
          </a:prstGeom>
          <a:solidFill>
            <a:srgbClr val="fdede8"/>
          </a:solidFill>
          <a:ln>
            <a:noFill/>
          </a:ln>
        </p:spPr>
        <p:style>
          <a:lnRef idx="0"/>
          <a:fillRef idx="0"/>
          <a:effectRef idx="0"/>
          <a:fontRef idx="minor"/>
        </p:style>
      </p:sp>
      <p:sp>
        <p:nvSpPr>
          <p:cNvPr id="1756" name="CustomShape 10"/>
          <p:cNvSpPr/>
          <p:nvPr/>
        </p:nvSpPr>
        <p:spPr>
          <a:xfrm>
            <a:off x="731520" y="5303520"/>
            <a:ext cx="454680" cy="454680"/>
          </a:xfrm>
          <a:prstGeom prst="ellipse">
            <a:avLst/>
          </a:prstGeom>
          <a:solidFill>
            <a:srgbClr val="d95d39"/>
          </a:solidFill>
          <a:ln>
            <a:noFill/>
          </a:ln>
        </p:spPr>
        <p:style>
          <a:lnRef idx="0"/>
          <a:fillRef idx="0"/>
          <a:effectRef idx="0"/>
          <a:fontRef idx="minor"/>
        </p:style>
      </p:sp>
      <p:pic>
        <p:nvPicPr>
          <p:cNvPr id="1757" name="Image 0" descr="preencoded.png"/>
          <p:cNvPicPr/>
          <p:nvPr/>
        </p:nvPicPr>
        <p:blipFill>
          <a:blip r:embed="rId1"/>
          <a:stretch/>
        </p:blipFill>
        <p:spPr>
          <a:xfrm>
            <a:off x="846000" y="5418000"/>
            <a:ext cx="226080" cy="226080"/>
          </a:xfrm>
          <a:prstGeom prst="rect">
            <a:avLst/>
          </a:prstGeom>
          <a:ln>
            <a:noFill/>
          </a:ln>
        </p:spPr>
      </p:pic>
      <p:sp>
        <p:nvSpPr>
          <p:cNvPr id="1758" name="CustomShape 11"/>
          <p:cNvSpPr/>
          <p:nvPr/>
        </p:nvSpPr>
        <p:spPr>
          <a:xfrm>
            <a:off x="1371600" y="4937760"/>
            <a:ext cx="10083240" cy="11862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a8431f"/>
                </a:solidFill>
                <a:latin typeface="Calibri"/>
                <a:ea typeface="Calibri"/>
              </a:rPr>
              <a:t>Nunca borres el .ldf: </a:t>
            </a:r>
            <a:r>
              <a:rPr b="0" lang="en-US" sz="1400" spc="-1" strike="noStrike">
                <a:solidFill>
                  <a:srgbClr val="1f2933"/>
                </a:solidFill>
                <a:latin typeface="Calibri"/>
                <a:ea typeface="Calibri"/>
              </a:rPr>
              <a:t>la base puede quedar sin recuperar. Resuelve la causa raíz (log_reuse_wait_desc) y reduce el fichero sólo una vez, después.</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759"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INCIDENCIAS</a:t>
            </a:r>
            <a:endParaRPr b="0" lang="es-ES" sz="1000" spc="-1" strike="noStrike">
              <a:latin typeface="Arial"/>
            </a:endParaRPr>
          </a:p>
        </p:txBody>
      </p:sp>
      <p:sp>
        <p:nvSpPr>
          <p:cNvPr id="1760"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Incidencia: TempDB saturada</a:t>
            </a:r>
            <a:endParaRPr b="0" lang="es-ES" sz="3400" spc="-1" strike="noStrike">
              <a:latin typeface="Arial"/>
            </a:endParaRPr>
          </a:p>
        </p:txBody>
      </p:sp>
      <p:sp>
        <p:nvSpPr>
          <p:cNvPr id="1761"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762"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4   72</a:t>
            </a:r>
            <a:endParaRPr b="0" lang="es-ES" sz="1000" spc="-1" strike="noStrike">
              <a:latin typeface="Arial"/>
            </a:endParaRPr>
          </a:p>
        </p:txBody>
      </p:sp>
      <p:sp>
        <p:nvSpPr>
          <p:cNvPr id="1763" name="CustomShape 5"/>
          <p:cNvSpPr/>
          <p:nvPr/>
        </p:nvSpPr>
        <p:spPr>
          <a:xfrm>
            <a:off x="548640" y="1600200"/>
            <a:ext cx="3015000" cy="2146320"/>
          </a:xfrm>
          <a:prstGeom prst="roundRect">
            <a:avLst>
              <a:gd name="adj" fmla="val 51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764" name="CustomShape 6"/>
          <p:cNvSpPr/>
          <p:nvPr/>
        </p:nvSpPr>
        <p:spPr>
          <a:xfrm>
            <a:off x="777240" y="1828800"/>
            <a:ext cx="546120" cy="546120"/>
          </a:xfrm>
          <a:prstGeom prst="ellipse">
            <a:avLst/>
          </a:prstGeom>
          <a:solidFill>
            <a:srgbClr val="134074"/>
          </a:solidFill>
          <a:ln>
            <a:noFill/>
          </a:ln>
        </p:spPr>
        <p:style>
          <a:lnRef idx="0"/>
          <a:fillRef idx="0"/>
          <a:effectRef idx="0"/>
          <a:fontRef idx="minor"/>
        </p:style>
      </p:sp>
      <p:pic>
        <p:nvPicPr>
          <p:cNvPr id="1765" name="Image 0" descr="preencoded.png"/>
          <p:cNvPicPr/>
          <p:nvPr/>
        </p:nvPicPr>
        <p:blipFill>
          <a:blip r:embed="rId1"/>
          <a:stretch/>
        </p:blipFill>
        <p:spPr>
          <a:xfrm>
            <a:off x="914400" y="1965960"/>
            <a:ext cx="271800" cy="271800"/>
          </a:xfrm>
          <a:prstGeom prst="rect">
            <a:avLst/>
          </a:prstGeom>
          <a:ln>
            <a:noFill/>
          </a:ln>
        </p:spPr>
      </p:pic>
      <p:sp>
        <p:nvSpPr>
          <p:cNvPr id="1766" name="CustomShape 7"/>
          <p:cNvSpPr/>
          <p:nvPr/>
        </p:nvSpPr>
        <p:spPr>
          <a:xfrm>
            <a:off x="1463040" y="1828800"/>
            <a:ext cx="187200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600" spc="-1" strike="noStrike">
                <a:solidFill>
                  <a:srgbClr val="0b2545"/>
                </a:solidFill>
                <a:latin typeface="Calibri"/>
                <a:ea typeface="Calibri"/>
              </a:rPr>
              <a:t>Version store</a:t>
            </a:r>
            <a:endParaRPr b="0" lang="es-ES" sz="1600" spc="-1" strike="noStrike">
              <a:latin typeface="Arial"/>
            </a:endParaRPr>
          </a:p>
        </p:txBody>
      </p:sp>
      <p:sp>
        <p:nvSpPr>
          <p:cNvPr id="1767" name="CustomShape 8"/>
          <p:cNvSpPr/>
          <p:nvPr/>
        </p:nvSpPr>
        <p:spPr>
          <a:xfrm>
            <a:off x="777240" y="2560320"/>
            <a:ext cx="2557800" cy="957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RCSI y snapshot guardan versiones; una transacción larga las retiene.</a:t>
            </a:r>
            <a:endParaRPr b="0" lang="es-ES" sz="1400" spc="-1" strike="noStrike">
              <a:latin typeface="Arial"/>
            </a:endParaRPr>
          </a:p>
        </p:txBody>
      </p:sp>
      <p:sp>
        <p:nvSpPr>
          <p:cNvPr id="1768" name="CustomShape 9"/>
          <p:cNvSpPr/>
          <p:nvPr/>
        </p:nvSpPr>
        <p:spPr>
          <a:xfrm>
            <a:off x="3840480" y="1600200"/>
            <a:ext cx="3015000" cy="2146320"/>
          </a:xfrm>
          <a:prstGeom prst="roundRect">
            <a:avLst>
              <a:gd name="adj" fmla="val 51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769" name="CustomShape 10"/>
          <p:cNvSpPr/>
          <p:nvPr/>
        </p:nvSpPr>
        <p:spPr>
          <a:xfrm>
            <a:off x="4069080" y="1828800"/>
            <a:ext cx="546120" cy="546120"/>
          </a:xfrm>
          <a:prstGeom prst="ellipse">
            <a:avLst/>
          </a:prstGeom>
          <a:solidFill>
            <a:srgbClr val="134074"/>
          </a:solidFill>
          <a:ln>
            <a:noFill/>
          </a:ln>
        </p:spPr>
        <p:style>
          <a:lnRef idx="0"/>
          <a:fillRef idx="0"/>
          <a:effectRef idx="0"/>
          <a:fontRef idx="minor"/>
        </p:style>
      </p:sp>
      <p:pic>
        <p:nvPicPr>
          <p:cNvPr id="1770" name="Image 1" descr="preencoded.png"/>
          <p:cNvPicPr/>
          <p:nvPr/>
        </p:nvPicPr>
        <p:blipFill>
          <a:blip r:embed="rId2"/>
          <a:stretch/>
        </p:blipFill>
        <p:spPr>
          <a:xfrm>
            <a:off x="4206240" y="1965960"/>
            <a:ext cx="271800" cy="271800"/>
          </a:xfrm>
          <a:prstGeom prst="rect">
            <a:avLst/>
          </a:prstGeom>
          <a:ln>
            <a:noFill/>
          </a:ln>
        </p:spPr>
      </p:pic>
      <p:sp>
        <p:nvSpPr>
          <p:cNvPr id="1771" name="CustomShape 11"/>
          <p:cNvSpPr/>
          <p:nvPr/>
        </p:nvSpPr>
        <p:spPr>
          <a:xfrm>
            <a:off x="4754880" y="1828800"/>
            <a:ext cx="187200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600" spc="-1" strike="noStrike">
                <a:solidFill>
                  <a:srgbClr val="0b2545"/>
                </a:solidFill>
                <a:latin typeface="Calibri"/>
                <a:ea typeface="Calibri"/>
              </a:rPr>
              <a:t>Spills y temporales</a:t>
            </a:r>
            <a:endParaRPr b="0" lang="es-ES" sz="1600" spc="-1" strike="noStrike">
              <a:latin typeface="Arial"/>
            </a:endParaRPr>
          </a:p>
        </p:txBody>
      </p:sp>
      <p:sp>
        <p:nvSpPr>
          <p:cNvPr id="1772" name="CustomShape 12"/>
          <p:cNvSpPr/>
          <p:nvPr/>
        </p:nvSpPr>
        <p:spPr>
          <a:xfrm>
            <a:off x="4069080" y="2560320"/>
            <a:ext cx="2557800" cy="957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Sort/hash sin memoria suficiente y #tablas grandes.</a:t>
            </a:r>
            <a:endParaRPr b="0" lang="es-ES" sz="1400" spc="-1" strike="noStrike">
              <a:latin typeface="Arial"/>
            </a:endParaRPr>
          </a:p>
        </p:txBody>
      </p:sp>
      <p:sp>
        <p:nvSpPr>
          <p:cNvPr id="1773" name="CustomShape 13"/>
          <p:cNvSpPr/>
          <p:nvPr/>
        </p:nvSpPr>
        <p:spPr>
          <a:xfrm>
            <a:off x="548640" y="4023360"/>
            <a:ext cx="3015000" cy="2146320"/>
          </a:xfrm>
          <a:prstGeom prst="roundRect">
            <a:avLst>
              <a:gd name="adj" fmla="val 51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774" name="CustomShape 14"/>
          <p:cNvSpPr/>
          <p:nvPr/>
        </p:nvSpPr>
        <p:spPr>
          <a:xfrm>
            <a:off x="777240" y="4251960"/>
            <a:ext cx="546120" cy="546120"/>
          </a:xfrm>
          <a:prstGeom prst="ellipse">
            <a:avLst/>
          </a:prstGeom>
          <a:solidFill>
            <a:srgbClr val="134074"/>
          </a:solidFill>
          <a:ln>
            <a:noFill/>
          </a:ln>
        </p:spPr>
        <p:style>
          <a:lnRef idx="0"/>
          <a:fillRef idx="0"/>
          <a:effectRef idx="0"/>
          <a:fontRef idx="minor"/>
        </p:style>
      </p:sp>
      <p:pic>
        <p:nvPicPr>
          <p:cNvPr id="1775" name="Image 2" descr="preencoded.png"/>
          <p:cNvPicPr/>
          <p:nvPr/>
        </p:nvPicPr>
        <p:blipFill>
          <a:blip r:embed="rId3"/>
          <a:stretch/>
        </p:blipFill>
        <p:spPr>
          <a:xfrm>
            <a:off x="914400" y="4389120"/>
            <a:ext cx="271800" cy="271800"/>
          </a:xfrm>
          <a:prstGeom prst="rect">
            <a:avLst/>
          </a:prstGeom>
          <a:ln>
            <a:noFill/>
          </a:ln>
        </p:spPr>
      </p:pic>
      <p:sp>
        <p:nvSpPr>
          <p:cNvPr id="1776" name="CustomShape 15"/>
          <p:cNvSpPr/>
          <p:nvPr/>
        </p:nvSpPr>
        <p:spPr>
          <a:xfrm>
            <a:off x="1463040" y="4251960"/>
            <a:ext cx="187200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600" spc="-1" strike="noStrike">
                <a:solidFill>
                  <a:srgbClr val="0b2545"/>
                </a:solidFill>
                <a:latin typeface="Calibri"/>
                <a:ea typeface="Calibri"/>
              </a:rPr>
              <a:t>PFS / GAM / SGAM</a:t>
            </a:r>
            <a:endParaRPr b="0" lang="es-ES" sz="1600" spc="-1" strike="noStrike">
              <a:latin typeface="Arial"/>
            </a:endParaRPr>
          </a:p>
        </p:txBody>
      </p:sp>
      <p:sp>
        <p:nvSpPr>
          <p:cNvPr id="1777" name="CustomShape 16"/>
          <p:cNvSpPr/>
          <p:nvPr/>
        </p:nvSpPr>
        <p:spPr>
          <a:xfrm>
            <a:off x="777240" y="4983480"/>
            <a:ext cx="2557800" cy="957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Contención PAGELATCH en páginas de asignación.</a:t>
            </a:r>
            <a:endParaRPr b="0" lang="es-ES" sz="1400" spc="-1" strike="noStrike">
              <a:latin typeface="Arial"/>
            </a:endParaRPr>
          </a:p>
        </p:txBody>
      </p:sp>
      <p:sp>
        <p:nvSpPr>
          <p:cNvPr id="1778" name="CustomShape 17"/>
          <p:cNvSpPr/>
          <p:nvPr/>
        </p:nvSpPr>
        <p:spPr>
          <a:xfrm>
            <a:off x="3840480" y="4023360"/>
            <a:ext cx="3015000" cy="2146320"/>
          </a:xfrm>
          <a:prstGeom prst="roundRect">
            <a:avLst>
              <a:gd name="adj" fmla="val 510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779" name="CustomShape 18"/>
          <p:cNvSpPr/>
          <p:nvPr/>
        </p:nvSpPr>
        <p:spPr>
          <a:xfrm>
            <a:off x="4069080" y="4251960"/>
            <a:ext cx="546120" cy="546120"/>
          </a:xfrm>
          <a:prstGeom prst="ellipse">
            <a:avLst/>
          </a:prstGeom>
          <a:solidFill>
            <a:srgbClr val="134074"/>
          </a:solidFill>
          <a:ln>
            <a:noFill/>
          </a:ln>
        </p:spPr>
        <p:style>
          <a:lnRef idx="0"/>
          <a:fillRef idx="0"/>
          <a:effectRef idx="0"/>
          <a:fontRef idx="minor"/>
        </p:style>
      </p:sp>
      <p:pic>
        <p:nvPicPr>
          <p:cNvPr id="1780" name="Image 3" descr="preencoded.png"/>
          <p:cNvPicPr/>
          <p:nvPr/>
        </p:nvPicPr>
        <p:blipFill>
          <a:blip r:embed="rId4"/>
          <a:stretch/>
        </p:blipFill>
        <p:spPr>
          <a:xfrm>
            <a:off x="4206240" y="4389120"/>
            <a:ext cx="271800" cy="271800"/>
          </a:xfrm>
          <a:prstGeom prst="rect">
            <a:avLst/>
          </a:prstGeom>
          <a:ln>
            <a:noFill/>
          </a:ln>
        </p:spPr>
      </p:pic>
      <p:sp>
        <p:nvSpPr>
          <p:cNvPr id="1781" name="CustomShape 19"/>
          <p:cNvSpPr/>
          <p:nvPr/>
        </p:nvSpPr>
        <p:spPr>
          <a:xfrm>
            <a:off x="4754880" y="4251960"/>
            <a:ext cx="187200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600" spc="-1" strike="noStrike">
                <a:solidFill>
                  <a:srgbClr val="0b2545"/>
                </a:solidFill>
                <a:latin typeface="Calibri"/>
                <a:ea typeface="Calibri"/>
              </a:rPr>
              <a:t>Varios ficheros</a:t>
            </a:r>
            <a:endParaRPr b="0" lang="es-ES" sz="1600" spc="-1" strike="noStrike">
              <a:latin typeface="Arial"/>
            </a:endParaRPr>
          </a:p>
        </p:txBody>
      </p:sp>
      <p:sp>
        <p:nvSpPr>
          <p:cNvPr id="1782" name="CustomShape 20"/>
          <p:cNvSpPr/>
          <p:nvPr/>
        </p:nvSpPr>
        <p:spPr>
          <a:xfrm>
            <a:off x="4069080" y="4983480"/>
            <a:ext cx="2557800" cy="95760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Ficheros de igual tamaño: 1 por core, hasta 8.</a:t>
            </a:r>
            <a:endParaRPr b="0" lang="es-ES" sz="1400" spc="-1" strike="noStrike">
              <a:latin typeface="Arial"/>
            </a:endParaRPr>
          </a:p>
        </p:txBody>
      </p:sp>
      <p:sp>
        <p:nvSpPr>
          <p:cNvPr id="1783" name="CustomShape 21"/>
          <p:cNvSpPr/>
          <p:nvPr/>
        </p:nvSpPr>
        <p:spPr>
          <a:xfrm>
            <a:off x="7132320" y="1600200"/>
            <a:ext cx="4505400" cy="3152160"/>
          </a:xfrm>
          <a:prstGeom prst="roundRect">
            <a:avLst>
              <a:gd name="adj" fmla="val 2899"/>
            </a:avLst>
          </a:prstGeom>
          <a:solidFill>
            <a:srgbClr val="eceff3"/>
          </a:solidFill>
          <a:ln w="9360">
            <a:solidFill>
              <a:srgbClr val="d0d7de"/>
            </a:solidFill>
            <a:round/>
          </a:ln>
        </p:spPr>
        <p:style>
          <a:lnRef idx="0"/>
          <a:fillRef idx="0"/>
          <a:effectRef idx="0"/>
          <a:fontRef idx="minor"/>
        </p:style>
      </p:sp>
      <p:sp>
        <p:nvSpPr>
          <p:cNvPr id="1784" name="CustomShape 22"/>
          <p:cNvSpPr/>
          <p:nvPr/>
        </p:nvSpPr>
        <p:spPr>
          <a:xfrm>
            <a:off x="731520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a:t>
            </a:r>
            <a:endParaRPr b="0" lang="es-ES" sz="1000" spc="-1" strike="noStrike">
              <a:latin typeface="Arial"/>
            </a:endParaRPr>
          </a:p>
        </p:txBody>
      </p:sp>
      <p:sp>
        <p:nvSpPr>
          <p:cNvPr id="1785" name="CustomShape 23"/>
          <p:cNvSpPr/>
          <p:nvPr/>
        </p:nvSpPr>
        <p:spPr>
          <a:xfrm>
            <a:off x="7315200" y="1965960"/>
            <a:ext cx="4139640" cy="269496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0" i="1" lang="en-US" sz="1200" spc="-1" strike="noStrike">
                <a:solidFill>
                  <a:srgbClr val="6b7280"/>
                </a:solidFill>
                <a:latin typeface="Consolas"/>
                <a:ea typeface="Consolas"/>
              </a:rPr>
              <a:t>-- ¿Quién consume TempDB?</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TOP</a:t>
            </a:r>
            <a:r>
              <a:rPr b="0" lang="en-US" sz="1200" spc="-1" strike="noStrike">
                <a:solidFill>
                  <a:srgbClr val="1f2933"/>
                </a:solidFill>
                <a:latin typeface="Consolas"/>
                <a:ea typeface="Consolas"/>
              </a:rPr>
              <a:t> (</a:t>
            </a:r>
            <a:r>
              <a:rPr b="0" lang="en-US" sz="1200" spc="-1" strike="noStrike">
                <a:solidFill>
                  <a:srgbClr val="9a3412"/>
                </a:solidFill>
                <a:latin typeface="Consolas"/>
                <a:ea typeface="Consolas"/>
              </a:rPr>
              <a:t>5</a:t>
            </a:r>
            <a:r>
              <a:rPr b="0" lang="en-US" sz="1200" spc="-1" strike="noStrike">
                <a:solidFill>
                  <a:srgbClr val="1f2933"/>
                </a:solidFill>
                <a:latin typeface="Consolas"/>
                <a:ea typeface="Consolas"/>
              </a:rPr>
              <a:t>) session_id,</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internal_objects_alloc_page_count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p_int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sys.dm_db_session_space_usage</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ORDER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BY</a:t>
            </a:r>
            <a:r>
              <a:rPr b="0" lang="en-US" sz="1200" spc="-1" strike="noStrike">
                <a:solidFill>
                  <a:srgbClr val="1f2933"/>
                </a:solidFill>
                <a:latin typeface="Consolas"/>
                <a:ea typeface="Consolas"/>
              </a:rPr>
              <a:t> p_int </a:t>
            </a:r>
            <a:r>
              <a:rPr b="1" lang="en-US" sz="1200" spc="-1" strike="noStrike">
                <a:solidFill>
                  <a:srgbClr val="1d4ed8"/>
                </a:solidFill>
                <a:latin typeface="Consolas"/>
                <a:ea typeface="Consolas"/>
              </a:rPr>
              <a:t>DESC</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0" i="1" lang="en-US" sz="1200" spc="-1" strike="noStrike">
                <a:solidFill>
                  <a:srgbClr val="6b7280"/>
                </a:solidFill>
                <a:latin typeface="Consolas"/>
                <a:ea typeface="Consolas"/>
              </a:rPr>
              <a:t>-- ¿Contención de asignación?</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session_id, wait_type</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sys.dm_os_waiting_tasks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WHERE</a:t>
            </a:r>
            <a:r>
              <a:rPr b="0" lang="en-US" sz="1200" spc="-1" strike="noStrike">
                <a:solidFill>
                  <a:srgbClr val="1f2933"/>
                </a:solidFill>
                <a:latin typeface="Consolas"/>
                <a:ea typeface="Consolas"/>
              </a:rPr>
              <a:t> wait_type </a:t>
            </a:r>
            <a:r>
              <a:rPr b="1" lang="en-US" sz="1200" spc="-1" strike="noStrike">
                <a:solidFill>
                  <a:srgbClr val="1d4ed8"/>
                </a:solidFill>
                <a:latin typeface="Consolas"/>
                <a:ea typeface="Consolas"/>
              </a:rPr>
              <a:t>LIKE</a:t>
            </a:r>
            <a:r>
              <a:rPr b="0" lang="en-US" sz="1200" spc="-1" strike="noStrike">
                <a:solidFill>
                  <a:srgbClr val="1f2933"/>
                </a:solidFill>
                <a:latin typeface="Consolas"/>
                <a:ea typeface="Consolas"/>
              </a:rPr>
              <a:t> </a:t>
            </a:r>
            <a:r>
              <a:rPr b="0" lang="en-US" sz="1200" spc="-1" strike="noStrike">
                <a:solidFill>
                  <a:srgbClr val="b4441f"/>
                </a:solidFill>
                <a:latin typeface="Consolas"/>
                <a:ea typeface="Consolas"/>
              </a:rPr>
              <a:t>N'PAGELATCH%'</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AND</a:t>
            </a:r>
            <a:r>
              <a:rPr b="0" lang="en-US" sz="1200" spc="-1" strike="noStrike">
                <a:solidFill>
                  <a:srgbClr val="1f2933"/>
                </a:solidFill>
                <a:latin typeface="Consolas"/>
                <a:ea typeface="Consolas"/>
              </a:rPr>
              <a:t> resource_description </a:t>
            </a:r>
            <a:r>
              <a:rPr b="1" lang="en-US" sz="1200" spc="-1" strike="noStrike">
                <a:solidFill>
                  <a:srgbClr val="1d4ed8"/>
                </a:solidFill>
                <a:latin typeface="Consolas"/>
                <a:ea typeface="Consolas"/>
              </a:rPr>
              <a:t>LIKE</a:t>
            </a:r>
            <a:r>
              <a:rPr b="0" lang="en-US" sz="1200" spc="-1" strike="noStrike">
                <a:solidFill>
                  <a:srgbClr val="1f2933"/>
                </a:solidFill>
                <a:latin typeface="Consolas"/>
                <a:ea typeface="Consolas"/>
              </a:rPr>
              <a:t> </a:t>
            </a:r>
            <a:r>
              <a:rPr b="0" lang="en-US" sz="1200" spc="-1" strike="noStrike">
                <a:solidFill>
                  <a:srgbClr val="b4441f"/>
                </a:solidFill>
                <a:latin typeface="Consolas"/>
                <a:ea typeface="Consolas"/>
              </a:rPr>
              <a:t>N'2:%'</a:t>
            </a:r>
            <a:r>
              <a:rPr b="0" lang="en-US" sz="1200" spc="-1" strike="noStrike">
                <a:solidFill>
                  <a:srgbClr val="1f2933"/>
                </a:solidFill>
                <a:latin typeface="Consolas"/>
                <a:ea typeface="Consolas"/>
              </a:rPr>
              <a:t>;</a:t>
            </a:r>
            <a:endParaRPr b="0" lang="es-ES" sz="1200" spc="-1" strike="noStrike">
              <a:latin typeface="Arial"/>
            </a:endParaRPr>
          </a:p>
        </p:txBody>
      </p:sp>
      <p:sp>
        <p:nvSpPr>
          <p:cNvPr id="1786" name="CustomShape 24"/>
          <p:cNvSpPr/>
          <p:nvPr/>
        </p:nvSpPr>
        <p:spPr>
          <a:xfrm>
            <a:off x="7132320" y="5029200"/>
            <a:ext cx="4505400" cy="1140480"/>
          </a:xfrm>
          <a:prstGeom prst="roundRect">
            <a:avLst>
              <a:gd name="adj" fmla="val 9600"/>
            </a:avLst>
          </a:prstGeom>
          <a:solidFill>
            <a:srgbClr val="e8eef5"/>
          </a:solidFill>
          <a:ln>
            <a:noFill/>
          </a:ln>
        </p:spPr>
        <p:style>
          <a:lnRef idx="0"/>
          <a:fillRef idx="0"/>
          <a:effectRef idx="0"/>
          <a:fontRef idx="minor"/>
        </p:style>
      </p:sp>
      <p:sp>
        <p:nvSpPr>
          <p:cNvPr id="1787" name="CustomShape 25"/>
          <p:cNvSpPr/>
          <p:nvPr/>
        </p:nvSpPr>
        <p:spPr>
          <a:xfrm>
            <a:off x="7315200" y="5372280"/>
            <a:ext cx="454680" cy="454680"/>
          </a:xfrm>
          <a:prstGeom prst="ellipse">
            <a:avLst/>
          </a:prstGeom>
          <a:solidFill>
            <a:srgbClr val="134074"/>
          </a:solidFill>
          <a:ln>
            <a:noFill/>
          </a:ln>
        </p:spPr>
        <p:style>
          <a:lnRef idx="0"/>
          <a:fillRef idx="0"/>
          <a:effectRef idx="0"/>
          <a:fontRef idx="minor"/>
        </p:style>
      </p:sp>
      <p:pic>
        <p:nvPicPr>
          <p:cNvPr id="1788" name="Image 4" descr="preencoded.png"/>
          <p:cNvPicPr/>
          <p:nvPr/>
        </p:nvPicPr>
        <p:blipFill>
          <a:blip r:embed="rId5"/>
          <a:stretch/>
        </p:blipFill>
        <p:spPr>
          <a:xfrm>
            <a:off x="7429680" y="5486400"/>
            <a:ext cx="226080" cy="226080"/>
          </a:xfrm>
          <a:prstGeom prst="rect">
            <a:avLst/>
          </a:prstGeom>
          <a:ln>
            <a:noFill/>
          </a:ln>
        </p:spPr>
      </p:pic>
      <p:sp>
        <p:nvSpPr>
          <p:cNvPr id="1789" name="CustomShape 26"/>
          <p:cNvSpPr/>
          <p:nvPr/>
        </p:nvSpPr>
        <p:spPr>
          <a:xfrm>
            <a:off x="7955280" y="5029200"/>
            <a:ext cx="3499560" cy="11404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400" spc="-1" strike="noStrike">
                <a:solidFill>
                  <a:srgbClr val="1f2933"/>
                </a:solidFill>
                <a:latin typeface="Calibri"/>
                <a:ea typeface="Calibri"/>
              </a:rPr>
              <a:t>Ficheros iguales y pre-dimensionados; no hagas shrink rutinario.</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790"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INCIDENCIAS</a:t>
            </a:r>
            <a:endParaRPr b="0" lang="es-ES" sz="1000" spc="-1" strike="noStrike">
              <a:latin typeface="Arial"/>
            </a:endParaRPr>
          </a:p>
        </p:txBody>
      </p:sp>
      <p:sp>
        <p:nvSpPr>
          <p:cNvPr id="1791"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Bloqueos prolongados y deadlocks</a:t>
            </a:r>
            <a:endParaRPr b="0" lang="es-ES" sz="3400" spc="-1" strike="noStrike">
              <a:latin typeface="Arial"/>
            </a:endParaRPr>
          </a:p>
        </p:txBody>
      </p:sp>
      <p:sp>
        <p:nvSpPr>
          <p:cNvPr id="1792"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793"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4   73</a:t>
            </a:r>
            <a:endParaRPr b="0" lang="es-ES" sz="1000" spc="-1" strike="noStrike">
              <a:latin typeface="Arial"/>
            </a:endParaRPr>
          </a:p>
        </p:txBody>
      </p:sp>
      <p:sp>
        <p:nvSpPr>
          <p:cNvPr id="1794" name="CustomShape 5"/>
          <p:cNvSpPr/>
          <p:nvPr/>
        </p:nvSpPr>
        <p:spPr>
          <a:xfrm>
            <a:off x="548640" y="1600200"/>
            <a:ext cx="6306840" cy="4569480"/>
          </a:xfrm>
          <a:prstGeom prst="roundRect">
            <a:avLst>
              <a:gd name="adj" fmla="val 2000"/>
            </a:avLst>
          </a:prstGeom>
          <a:solidFill>
            <a:srgbClr val="eceff3"/>
          </a:solidFill>
          <a:ln w="9360">
            <a:solidFill>
              <a:srgbClr val="d0d7de"/>
            </a:solidFill>
            <a:round/>
          </a:ln>
        </p:spPr>
        <p:style>
          <a:lnRef idx="0"/>
          <a:fillRef idx="0"/>
          <a:effectRef idx="0"/>
          <a:fontRef idx="minor"/>
        </p:style>
      </p:sp>
      <p:sp>
        <p:nvSpPr>
          <p:cNvPr id="1795" name="CustomShape 6"/>
          <p:cNvSpPr/>
          <p:nvPr/>
        </p:nvSpPr>
        <p:spPr>
          <a:xfrm>
            <a:off x="73152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a:t>
            </a:r>
            <a:endParaRPr b="0" lang="es-ES" sz="1000" spc="-1" strike="noStrike">
              <a:latin typeface="Arial"/>
            </a:endParaRPr>
          </a:p>
        </p:txBody>
      </p:sp>
      <p:sp>
        <p:nvSpPr>
          <p:cNvPr id="1796" name="CustomShape 7"/>
          <p:cNvSpPr/>
          <p:nvPr/>
        </p:nvSpPr>
        <p:spPr>
          <a:xfrm>
            <a:off x="731520" y="1965960"/>
            <a:ext cx="5941080" cy="411228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0" i="1" lang="en-US" sz="1200" spc="-1" strike="noStrike">
                <a:solidFill>
                  <a:srgbClr val="6b7280"/>
                </a:solidFill>
                <a:latin typeface="Consolas"/>
                <a:ea typeface="Consolas"/>
              </a:rPr>
              <a:t>-- Peticiones bloqueadas y su bloqueador</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r.session_id, r.blocking_session_id,</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r.wait_type, r.wait_time, t.</a:t>
            </a:r>
            <a:r>
              <a:rPr b="0" lang="en-US" sz="1200" spc="-1" strike="noStrike">
                <a:solidFill>
                  <a:srgbClr val="7c3aed"/>
                </a:solidFill>
                <a:latin typeface="Consolas"/>
                <a:ea typeface="Consolas"/>
              </a:rPr>
              <a:t>text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sys.dm_exec_requests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r</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CROSS</a:t>
            </a:r>
            <a:r>
              <a:rPr b="0" lang="en-US" sz="1200" spc="-1" strike="noStrike">
                <a:solidFill>
                  <a:srgbClr val="1f2933"/>
                </a:solidFill>
                <a:latin typeface="Consolas"/>
                <a:ea typeface="Consolas"/>
              </a:rPr>
              <a:t> APPLY sys.dm_exec_sql_text(r.sql_handle)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WHERE</a:t>
            </a:r>
            <a:r>
              <a:rPr b="0" lang="en-US" sz="1200" spc="-1" strike="noStrike">
                <a:solidFill>
                  <a:srgbClr val="1f2933"/>
                </a:solidFill>
                <a:latin typeface="Consolas"/>
                <a:ea typeface="Consolas"/>
              </a:rPr>
              <a:t> r.blocking_session_id &lt;&gt; </a:t>
            </a:r>
            <a:r>
              <a:rPr b="0" lang="en-US" sz="1200" spc="-1" strike="noStrike">
                <a:solidFill>
                  <a:srgbClr val="9a3412"/>
                </a:solidFill>
                <a:latin typeface="Consolas"/>
                <a:ea typeface="Consolas"/>
              </a:rPr>
              <a:t>0</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0" i="1" lang="en-US" sz="1200" spc="-1" strike="noStrike">
                <a:solidFill>
                  <a:srgbClr val="6b7280"/>
                </a:solidFill>
                <a:latin typeface="Consolas"/>
                <a:ea typeface="Consolas"/>
              </a:rPr>
              <a:t>-- Locks en espera</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resource_type, request_mode,</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request_status, request_session_id</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sys.dm_tran_locks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WHERE</a:t>
            </a:r>
            <a:r>
              <a:rPr b="0" lang="en-US" sz="1200" spc="-1" strike="noStrike">
                <a:solidFill>
                  <a:srgbClr val="1f2933"/>
                </a:solidFill>
                <a:latin typeface="Consolas"/>
                <a:ea typeface="Consolas"/>
              </a:rPr>
              <a:t> request_status = </a:t>
            </a:r>
            <a:r>
              <a:rPr b="0" lang="en-US" sz="1200" spc="-1" strike="noStrike">
                <a:solidFill>
                  <a:srgbClr val="b4441f"/>
                </a:solidFill>
                <a:latin typeface="Consolas"/>
                <a:ea typeface="Consolas"/>
              </a:rPr>
              <a:t>N'WAIT'</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0" i="1" lang="en-US" sz="1200" spc="-1" strike="noStrike">
                <a:solidFill>
                  <a:srgbClr val="6b7280"/>
                </a:solidFill>
                <a:latin typeface="Consolas"/>
                <a:ea typeface="Consolas"/>
              </a:rPr>
              <a:t>-- Grafo de deadlock (system_health)</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CAST(xe.event_data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a:t>
            </a:r>
            <a:r>
              <a:rPr b="0" lang="en-US" sz="1200" spc="-1" strike="noStrike">
                <a:solidFill>
                  <a:srgbClr val="7c3aed"/>
                </a:solidFill>
                <a:latin typeface="Consolas"/>
                <a:ea typeface="Consolas"/>
              </a:rPr>
              <a:t>XML</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grafo</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sys.fn_xe_file_target_read_file</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r>
              <a:rPr b="0" lang="en-US" sz="1200" spc="-1" strike="noStrike">
                <a:solidFill>
                  <a:srgbClr val="1f2933"/>
                </a:solidFill>
                <a:latin typeface="Consolas"/>
                <a:ea typeface="Consolas"/>
              </a:rPr>
              <a:t>(</a:t>
            </a:r>
            <a:r>
              <a:rPr b="0" lang="en-US" sz="1200" spc="-1" strike="noStrike">
                <a:solidFill>
                  <a:srgbClr val="b4441f"/>
                </a:solidFill>
                <a:latin typeface="Consolas"/>
                <a:ea typeface="Consolas"/>
              </a:rPr>
              <a:t>N'system_health*.xel'</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NULL</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NULL</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NULL</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xe</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WHERE</a:t>
            </a:r>
            <a:r>
              <a:rPr b="0" lang="en-US" sz="1200" spc="-1" strike="noStrike">
                <a:solidFill>
                  <a:srgbClr val="1f2933"/>
                </a:solidFill>
                <a:latin typeface="Consolas"/>
                <a:ea typeface="Consolas"/>
              </a:rPr>
              <a:t> xe.object_name = </a:t>
            </a:r>
            <a:r>
              <a:rPr b="0" lang="en-US" sz="1200" spc="-1" strike="noStrike">
                <a:solidFill>
                  <a:srgbClr val="b4441f"/>
                </a:solidFill>
                <a:latin typeface="Consolas"/>
                <a:ea typeface="Consolas"/>
              </a:rPr>
              <a:t>N'xml_deadlock_report'</a:t>
            </a:r>
            <a:r>
              <a:rPr b="0" lang="en-US" sz="1200" spc="-1" strike="noStrike">
                <a:solidFill>
                  <a:srgbClr val="1f2933"/>
                </a:solidFill>
                <a:latin typeface="Consolas"/>
                <a:ea typeface="Consolas"/>
              </a:rPr>
              <a:t>;</a:t>
            </a:r>
            <a:endParaRPr b="0" lang="es-ES" sz="1200" spc="-1" strike="noStrike">
              <a:latin typeface="Arial"/>
            </a:endParaRPr>
          </a:p>
        </p:txBody>
      </p:sp>
      <p:sp>
        <p:nvSpPr>
          <p:cNvPr id="1797" name="CustomShape 8"/>
          <p:cNvSpPr/>
          <p:nvPr/>
        </p:nvSpPr>
        <p:spPr>
          <a:xfrm>
            <a:off x="7132320" y="1600200"/>
            <a:ext cx="4505400" cy="1332360"/>
          </a:xfrm>
          <a:prstGeom prst="roundRect">
            <a:avLst>
              <a:gd name="adj" fmla="val 8219"/>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798" name="CustomShape 9"/>
          <p:cNvSpPr/>
          <p:nvPr/>
        </p:nvSpPr>
        <p:spPr>
          <a:xfrm>
            <a:off x="7315200" y="1993320"/>
            <a:ext cx="546120" cy="546120"/>
          </a:xfrm>
          <a:prstGeom prst="ellipse">
            <a:avLst/>
          </a:prstGeom>
          <a:solidFill>
            <a:srgbClr val="134074"/>
          </a:solidFill>
          <a:ln>
            <a:noFill/>
          </a:ln>
        </p:spPr>
        <p:style>
          <a:lnRef idx="0"/>
          <a:fillRef idx="0"/>
          <a:effectRef idx="0"/>
          <a:fontRef idx="minor"/>
        </p:style>
      </p:sp>
      <p:pic>
        <p:nvPicPr>
          <p:cNvPr id="1799" name="Image 0" descr="preencoded.png"/>
          <p:cNvPicPr/>
          <p:nvPr/>
        </p:nvPicPr>
        <p:blipFill>
          <a:blip r:embed="rId1"/>
          <a:stretch/>
        </p:blipFill>
        <p:spPr>
          <a:xfrm>
            <a:off x="7452360" y="2130480"/>
            <a:ext cx="271800" cy="271800"/>
          </a:xfrm>
          <a:prstGeom prst="rect">
            <a:avLst/>
          </a:prstGeom>
          <a:ln>
            <a:noFill/>
          </a:ln>
        </p:spPr>
      </p:pic>
      <p:sp>
        <p:nvSpPr>
          <p:cNvPr id="1800" name="CustomShape 10"/>
          <p:cNvSpPr/>
          <p:nvPr/>
        </p:nvSpPr>
        <p:spPr>
          <a:xfrm>
            <a:off x="8046720" y="1600200"/>
            <a:ext cx="3408120" cy="133236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Bloqueo prolongado</a:t>
            </a:r>
            <a:endParaRPr b="0" lang="es-ES" sz="1600" spc="-1" strike="noStrike">
              <a:latin typeface="Arial"/>
            </a:endParaRPr>
          </a:p>
          <a:p>
            <a:pPr>
              <a:lnSpc>
                <a:spcPct val="100000"/>
              </a:lnSpc>
              <a:tabLst>
                <a:tab algn="l" pos="0"/>
              </a:tabLst>
            </a:pPr>
            <a:r>
              <a:rPr b="0" lang="en-US" sz="1400" spc="-1" strike="noStrike">
                <a:solidFill>
                  <a:srgbClr val="1f2933"/>
                </a:solidFill>
                <a:latin typeface="Calibri"/>
                <a:ea typeface="Calibri"/>
              </a:rPr>
              <a:t>Transacción abierta sin COMMIT: el resto espera.</a:t>
            </a:r>
            <a:endParaRPr b="0" lang="es-ES" sz="1400" spc="-1" strike="noStrike">
              <a:latin typeface="Arial"/>
            </a:endParaRPr>
          </a:p>
        </p:txBody>
      </p:sp>
      <p:sp>
        <p:nvSpPr>
          <p:cNvPr id="1801" name="CustomShape 11"/>
          <p:cNvSpPr/>
          <p:nvPr/>
        </p:nvSpPr>
        <p:spPr>
          <a:xfrm>
            <a:off x="7132320" y="3218760"/>
            <a:ext cx="4505400" cy="1332360"/>
          </a:xfrm>
          <a:prstGeom prst="roundRect">
            <a:avLst>
              <a:gd name="adj" fmla="val 8219"/>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802" name="CustomShape 12"/>
          <p:cNvSpPr/>
          <p:nvPr/>
        </p:nvSpPr>
        <p:spPr>
          <a:xfrm>
            <a:off x="7315200" y="3611880"/>
            <a:ext cx="546120" cy="546120"/>
          </a:xfrm>
          <a:prstGeom prst="ellipse">
            <a:avLst/>
          </a:prstGeom>
          <a:solidFill>
            <a:srgbClr val="134074"/>
          </a:solidFill>
          <a:ln>
            <a:noFill/>
          </a:ln>
        </p:spPr>
        <p:style>
          <a:lnRef idx="0"/>
          <a:fillRef idx="0"/>
          <a:effectRef idx="0"/>
          <a:fontRef idx="minor"/>
        </p:style>
      </p:sp>
      <p:pic>
        <p:nvPicPr>
          <p:cNvPr id="1803" name="Image 1" descr="preencoded.png"/>
          <p:cNvPicPr/>
          <p:nvPr/>
        </p:nvPicPr>
        <p:blipFill>
          <a:blip r:embed="rId2"/>
          <a:stretch/>
        </p:blipFill>
        <p:spPr>
          <a:xfrm>
            <a:off x="7452360" y="3749040"/>
            <a:ext cx="271800" cy="271800"/>
          </a:xfrm>
          <a:prstGeom prst="rect">
            <a:avLst/>
          </a:prstGeom>
          <a:ln>
            <a:noFill/>
          </a:ln>
        </p:spPr>
      </p:pic>
      <p:sp>
        <p:nvSpPr>
          <p:cNvPr id="1804" name="CustomShape 13"/>
          <p:cNvSpPr/>
          <p:nvPr/>
        </p:nvSpPr>
        <p:spPr>
          <a:xfrm>
            <a:off x="8046720" y="3218760"/>
            <a:ext cx="3408120" cy="133236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Deadlock (error 1205)</a:t>
            </a:r>
            <a:endParaRPr b="0" lang="es-ES" sz="1600" spc="-1" strike="noStrike">
              <a:latin typeface="Arial"/>
            </a:endParaRPr>
          </a:p>
          <a:p>
            <a:pPr>
              <a:lnSpc>
                <a:spcPct val="100000"/>
              </a:lnSpc>
              <a:tabLst>
                <a:tab algn="l" pos="0"/>
              </a:tabLst>
            </a:pPr>
            <a:r>
              <a:rPr b="0" lang="en-US" sz="1400" spc="-1" strike="noStrike">
                <a:solidFill>
                  <a:srgbClr val="1f2933"/>
                </a:solidFill>
                <a:latin typeface="Calibri"/>
                <a:ea typeface="Calibri"/>
              </a:rPr>
              <a:t>Ciclo de esperas; el Lock Monitor elige víctima.</a:t>
            </a:r>
            <a:endParaRPr b="0" lang="es-ES" sz="1400" spc="-1" strike="noStrike">
              <a:latin typeface="Arial"/>
            </a:endParaRPr>
          </a:p>
        </p:txBody>
      </p:sp>
      <p:sp>
        <p:nvSpPr>
          <p:cNvPr id="1805" name="CustomShape 14"/>
          <p:cNvSpPr/>
          <p:nvPr/>
        </p:nvSpPr>
        <p:spPr>
          <a:xfrm>
            <a:off x="7132320" y="4837320"/>
            <a:ext cx="4505400" cy="1332360"/>
          </a:xfrm>
          <a:prstGeom prst="roundRect">
            <a:avLst>
              <a:gd name="adj" fmla="val 8219"/>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806" name="CustomShape 15"/>
          <p:cNvSpPr/>
          <p:nvPr/>
        </p:nvSpPr>
        <p:spPr>
          <a:xfrm>
            <a:off x="7315200" y="5230440"/>
            <a:ext cx="546120" cy="546120"/>
          </a:xfrm>
          <a:prstGeom prst="ellipse">
            <a:avLst/>
          </a:prstGeom>
          <a:solidFill>
            <a:srgbClr val="134074"/>
          </a:solidFill>
          <a:ln>
            <a:noFill/>
          </a:ln>
        </p:spPr>
        <p:style>
          <a:lnRef idx="0"/>
          <a:fillRef idx="0"/>
          <a:effectRef idx="0"/>
          <a:fontRef idx="minor"/>
        </p:style>
      </p:sp>
      <p:pic>
        <p:nvPicPr>
          <p:cNvPr id="1807" name="Image 2" descr="preencoded.png"/>
          <p:cNvPicPr/>
          <p:nvPr/>
        </p:nvPicPr>
        <p:blipFill>
          <a:blip r:embed="rId3"/>
          <a:stretch/>
        </p:blipFill>
        <p:spPr>
          <a:xfrm>
            <a:off x="7452360" y="5367600"/>
            <a:ext cx="271800" cy="271800"/>
          </a:xfrm>
          <a:prstGeom prst="rect">
            <a:avLst/>
          </a:prstGeom>
          <a:ln>
            <a:noFill/>
          </a:ln>
        </p:spPr>
      </p:pic>
      <p:sp>
        <p:nvSpPr>
          <p:cNvPr id="1808" name="CustomShape 16"/>
          <p:cNvSpPr/>
          <p:nvPr/>
        </p:nvSpPr>
        <p:spPr>
          <a:xfrm>
            <a:off x="8046720" y="4837320"/>
            <a:ext cx="3408120" cy="133236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RCSI y KILL con cautela</a:t>
            </a:r>
            <a:endParaRPr b="0" lang="es-ES" sz="1600" spc="-1" strike="noStrike">
              <a:latin typeface="Arial"/>
            </a:endParaRPr>
          </a:p>
          <a:p>
            <a:pPr>
              <a:lnSpc>
                <a:spcPct val="100000"/>
              </a:lnSpc>
              <a:tabLst>
                <a:tab algn="l" pos="0"/>
              </a:tabLst>
            </a:pPr>
            <a:r>
              <a:rPr b="0" lang="en-US" sz="1400" spc="-1" strike="noStrike">
                <a:solidFill>
                  <a:srgbClr val="1f2933"/>
                </a:solidFill>
                <a:latin typeface="Calibri"/>
                <a:ea typeface="Calibri"/>
              </a:rPr>
              <a:t>Los lectores no bloquean; KILL, el último recurso.</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809" name="CustomShape 1"/>
          <p:cNvSpPr/>
          <p:nvPr/>
        </p:nvSpPr>
        <p:spPr>
          <a:xfrm>
            <a:off x="548640" y="365760"/>
            <a:ext cx="219204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AUTOMATIZACIÓN Y ETL</a:t>
            </a:r>
            <a:endParaRPr b="0" lang="es-ES" sz="1000" spc="-1" strike="noStrike">
              <a:latin typeface="Arial"/>
            </a:endParaRPr>
          </a:p>
        </p:txBody>
      </p:sp>
      <p:sp>
        <p:nvSpPr>
          <p:cNvPr id="1810"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SSIS: arquitectura, motor y herramientas</a:t>
            </a:r>
            <a:endParaRPr b="0" lang="es-ES" sz="3400" spc="-1" strike="noStrike">
              <a:latin typeface="Arial"/>
            </a:endParaRPr>
          </a:p>
        </p:txBody>
      </p:sp>
      <p:sp>
        <p:nvSpPr>
          <p:cNvPr id="1811"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812"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4   74</a:t>
            </a:r>
            <a:endParaRPr b="0" lang="es-ES" sz="1000" spc="-1" strike="noStrike">
              <a:latin typeface="Arial"/>
            </a:endParaRPr>
          </a:p>
        </p:txBody>
      </p:sp>
      <p:sp>
        <p:nvSpPr>
          <p:cNvPr id="1813" name="CustomShape 5"/>
          <p:cNvSpPr/>
          <p:nvPr/>
        </p:nvSpPr>
        <p:spPr>
          <a:xfrm>
            <a:off x="548640" y="1600200"/>
            <a:ext cx="5406120" cy="3426480"/>
          </a:xfrm>
          <a:prstGeom prst="roundRect">
            <a:avLst>
              <a:gd name="adj" fmla="val 32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814" name="CustomShape 6"/>
          <p:cNvSpPr/>
          <p:nvPr/>
        </p:nvSpPr>
        <p:spPr>
          <a:xfrm>
            <a:off x="777240" y="1828800"/>
            <a:ext cx="546120" cy="546120"/>
          </a:xfrm>
          <a:prstGeom prst="ellipse">
            <a:avLst/>
          </a:prstGeom>
          <a:solidFill>
            <a:srgbClr val="134074"/>
          </a:solidFill>
          <a:ln>
            <a:noFill/>
          </a:ln>
        </p:spPr>
        <p:style>
          <a:lnRef idx="0"/>
          <a:fillRef idx="0"/>
          <a:effectRef idx="0"/>
          <a:fontRef idx="minor"/>
        </p:style>
      </p:sp>
      <p:pic>
        <p:nvPicPr>
          <p:cNvPr id="1815" name="Image 0" descr="preencoded.png"/>
          <p:cNvPicPr/>
          <p:nvPr/>
        </p:nvPicPr>
        <p:blipFill>
          <a:blip r:embed="rId1"/>
          <a:stretch/>
        </p:blipFill>
        <p:spPr>
          <a:xfrm>
            <a:off x="914400" y="1965960"/>
            <a:ext cx="271800" cy="271800"/>
          </a:xfrm>
          <a:prstGeom prst="rect">
            <a:avLst/>
          </a:prstGeom>
          <a:ln>
            <a:noFill/>
          </a:ln>
        </p:spPr>
      </p:pic>
      <p:sp>
        <p:nvSpPr>
          <p:cNvPr id="1816" name="CustomShape 7"/>
          <p:cNvSpPr/>
          <p:nvPr/>
        </p:nvSpPr>
        <p:spPr>
          <a:xfrm>
            <a:off x="1463040" y="1828800"/>
            <a:ext cx="426312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Motor en el Servidor (Setup)</a:t>
            </a:r>
            <a:endParaRPr b="0" lang="es-ES" sz="1700" spc="-1" strike="noStrike">
              <a:latin typeface="Arial"/>
            </a:endParaRPr>
          </a:p>
        </p:txBody>
      </p:sp>
      <p:sp>
        <p:nvSpPr>
          <p:cNvPr id="1817" name="CustomShape 8"/>
          <p:cNvSpPr/>
          <p:nvPr/>
        </p:nvSpPr>
        <p:spPr>
          <a:xfrm>
            <a:off x="777240" y="2560320"/>
            <a:ext cx="4948920" cy="223776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Feature en Setup: </a:t>
            </a:r>
            <a:r>
              <a:rPr b="0" lang="en-US" sz="1400" spc="-1" strike="noStrike">
                <a:solidFill>
                  <a:srgbClr val="1f2933"/>
                </a:solidFill>
                <a:latin typeface="Calibri"/>
                <a:ea typeface="Calibri"/>
              </a:rPr>
              <a:t>marcar «Integration Services» en el instalador oficial de SQL Server.</a:t>
            </a:r>
            <a:endParaRPr b="0" lang="es-ES" sz="1400" spc="-1" strike="noStrike">
              <a:latin typeface="Arial"/>
            </a:endParaRPr>
          </a:p>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Servicio de Windows: </a:t>
            </a:r>
            <a:r>
              <a:rPr b="0" lang="en-US" sz="1400" spc="-1" strike="noStrike">
                <a:solidFill>
                  <a:srgbClr val="1f2933"/>
                </a:solidFill>
                <a:latin typeface="Calibri"/>
                <a:ea typeface="Calibri"/>
              </a:rPr>
              <a:t>registra MsDtsSrvr.exe para gestión y ejecución de paquetes.</a:t>
            </a:r>
            <a:endParaRPr b="0" lang="es-ES" sz="1400" spc="-1" strike="noStrike">
              <a:latin typeface="Arial"/>
            </a:endParaRPr>
          </a:p>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Requisito CLR: </a:t>
            </a:r>
            <a:r>
              <a:rPr b="0" lang="en-US" sz="1400" spc="-1" strike="noStrike">
                <a:solidFill>
                  <a:srgbClr val="1f2933"/>
                </a:solidFill>
                <a:latin typeface="Calibri"/>
                <a:ea typeface="Calibri"/>
              </a:rPr>
              <a:t>habilitar sp_configure 'clr enabled', 1; RECONFIGURE en la instancia.</a:t>
            </a:r>
            <a:endParaRPr b="0" lang="es-ES" sz="1400" spc="-1" strike="noStrike">
              <a:latin typeface="Arial"/>
            </a:endParaRPr>
          </a:p>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Catálogo SSISDB: </a:t>
            </a:r>
            <a:r>
              <a:rPr b="0" lang="en-US" sz="1400" spc="-1" strike="noStrike">
                <a:solidFill>
                  <a:srgbClr val="1f2933"/>
                </a:solidFill>
                <a:latin typeface="Calibri"/>
                <a:ea typeface="Calibri"/>
              </a:rPr>
              <a:t>crear catálogo en SSMS; protegido por Database Master Key y contraseña.</a:t>
            </a:r>
            <a:endParaRPr b="0" lang="es-ES" sz="1400" spc="-1" strike="noStrike">
              <a:latin typeface="Arial"/>
            </a:endParaRPr>
          </a:p>
        </p:txBody>
      </p:sp>
      <p:sp>
        <p:nvSpPr>
          <p:cNvPr id="1818" name="CustomShape 9"/>
          <p:cNvSpPr/>
          <p:nvPr/>
        </p:nvSpPr>
        <p:spPr>
          <a:xfrm>
            <a:off x="6231600" y="1600200"/>
            <a:ext cx="5406120" cy="3426480"/>
          </a:xfrm>
          <a:prstGeom prst="roundRect">
            <a:avLst>
              <a:gd name="adj" fmla="val 3200"/>
            </a:avLst>
          </a:prstGeom>
          <a:solidFill>
            <a:srgbClr val="e8eef5"/>
          </a:solidFill>
          <a:ln>
            <a:noFill/>
          </a:ln>
        </p:spPr>
        <p:style>
          <a:lnRef idx="0"/>
          <a:fillRef idx="0"/>
          <a:effectRef idx="0"/>
          <a:fontRef idx="minor"/>
        </p:style>
      </p:sp>
      <p:sp>
        <p:nvSpPr>
          <p:cNvPr id="1819" name="CustomShape 10"/>
          <p:cNvSpPr/>
          <p:nvPr/>
        </p:nvSpPr>
        <p:spPr>
          <a:xfrm>
            <a:off x="6460200" y="1828800"/>
            <a:ext cx="546120" cy="546120"/>
          </a:xfrm>
          <a:prstGeom prst="ellipse">
            <a:avLst/>
          </a:prstGeom>
          <a:solidFill>
            <a:srgbClr val="134074"/>
          </a:solidFill>
          <a:ln>
            <a:noFill/>
          </a:ln>
        </p:spPr>
        <p:style>
          <a:lnRef idx="0"/>
          <a:fillRef idx="0"/>
          <a:effectRef idx="0"/>
          <a:fontRef idx="minor"/>
        </p:style>
      </p:sp>
      <p:pic>
        <p:nvPicPr>
          <p:cNvPr id="1820" name="Image 1" descr="preencoded.png"/>
          <p:cNvPicPr/>
          <p:nvPr/>
        </p:nvPicPr>
        <p:blipFill>
          <a:blip r:embed="rId2"/>
          <a:stretch/>
        </p:blipFill>
        <p:spPr>
          <a:xfrm>
            <a:off x="6597360" y="1965960"/>
            <a:ext cx="271800" cy="271800"/>
          </a:xfrm>
          <a:prstGeom prst="rect">
            <a:avLst/>
          </a:prstGeom>
          <a:ln>
            <a:noFill/>
          </a:ln>
        </p:spPr>
      </p:pic>
      <p:sp>
        <p:nvSpPr>
          <p:cNvPr id="1821" name="CustomShape 11"/>
          <p:cNvSpPr/>
          <p:nvPr/>
        </p:nvSpPr>
        <p:spPr>
          <a:xfrm>
            <a:off x="7146000" y="1828800"/>
            <a:ext cx="426312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Entorno de Diseño (Visual Studio)</a:t>
            </a:r>
            <a:endParaRPr b="0" lang="es-ES" sz="1700" spc="-1" strike="noStrike">
              <a:latin typeface="Arial"/>
            </a:endParaRPr>
          </a:p>
        </p:txBody>
      </p:sp>
      <p:sp>
        <p:nvSpPr>
          <p:cNvPr id="1822" name="CustomShape 12"/>
          <p:cNvSpPr/>
          <p:nvPr/>
        </p:nvSpPr>
        <p:spPr>
          <a:xfrm>
            <a:off x="6460200" y="2560320"/>
            <a:ext cx="4948920" cy="223776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Herramienta IDE: </a:t>
            </a:r>
            <a:r>
              <a:rPr b="0" lang="en-US" sz="1400" spc="-1" strike="noStrike">
                <a:solidFill>
                  <a:srgbClr val="1f2933"/>
                </a:solidFill>
                <a:latin typeface="Calibri"/>
                <a:ea typeface="Calibri"/>
              </a:rPr>
              <a:t>Visual Studio 2019 o 2022 (Community gratuita, Pro o Enterprise).</a:t>
            </a:r>
            <a:endParaRPr b="0" lang="es-ES" sz="1400" spc="-1" strike="noStrike">
              <a:latin typeface="Arial"/>
            </a:endParaRPr>
          </a:p>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Extensión oficial: </a:t>
            </a:r>
            <a:r>
              <a:rPr b="0" lang="en-US" sz="1400" spc="-1" strike="noStrike">
                <a:solidFill>
                  <a:srgbClr val="1f2933"/>
                </a:solidFill>
                <a:latin typeface="Calibri"/>
                <a:ea typeface="Calibri"/>
              </a:rPr>
              <a:t>«SQL Server Integration Services Projects» desde VS Marketplace.</a:t>
            </a:r>
            <a:endParaRPr b="0" lang="es-ES" sz="1400" spc="-1" strike="noStrike">
              <a:latin typeface="Arial"/>
            </a:endParaRPr>
          </a:p>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Proyectos y artefactos: </a:t>
            </a:r>
            <a:r>
              <a:rPr b="0" lang="en-US" sz="1400" spc="-1" strike="noStrike">
                <a:solidFill>
                  <a:srgbClr val="1f2933"/>
                </a:solidFill>
                <a:latin typeface="Calibri"/>
                <a:ea typeface="Calibri"/>
              </a:rPr>
              <a:t>soluciones con proyectos .dtproj y paquetes de integración .dtsx.</a:t>
            </a:r>
            <a:endParaRPr b="0" lang="es-ES" sz="1400" spc="-1" strike="noStrike">
              <a:latin typeface="Arial"/>
            </a:endParaRPr>
          </a:p>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Desacoplamiento: </a:t>
            </a:r>
            <a:r>
              <a:rPr b="0" lang="en-US" sz="1400" spc="-1" strike="noStrike">
                <a:solidFill>
                  <a:srgbClr val="1f2933"/>
                </a:solidFill>
                <a:latin typeface="Calibri"/>
                <a:ea typeface="Calibri"/>
              </a:rPr>
              <a:t>SSDT ya no viene en la ISO de SQL Server; ciclo de vida independiente.</a:t>
            </a:r>
            <a:endParaRPr b="0" lang="es-ES" sz="1400" spc="-1" strike="noStrike">
              <a:latin typeface="Arial"/>
            </a:endParaRPr>
          </a:p>
        </p:txBody>
      </p:sp>
      <p:sp>
        <p:nvSpPr>
          <p:cNvPr id="1823" name="CustomShape 13"/>
          <p:cNvSpPr/>
          <p:nvPr/>
        </p:nvSpPr>
        <p:spPr>
          <a:xfrm>
            <a:off x="548640" y="5257800"/>
            <a:ext cx="11089080" cy="911880"/>
          </a:xfrm>
          <a:prstGeom prst="roundRect">
            <a:avLst>
              <a:gd name="adj" fmla="val 12000"/>
            </a:avLst>
          </a:prstGeom>
          <a:solidFill>
            <a:srgbClr val="e8eef5"/>
          </a:solidFill>
          <a:ln>
            <a:noFill/>
          </a:ln>
        </p:spPr>
        <p:style>
          <a:lnRef idx="0"/>
          <a:fillRef idx="0"/>
          <a:effectRef idx="0"/>
          <a:fontRef idx="minor"/>
        </p:style>
      </p:sp>
      <p:sp>
        <p:nvSpPr>
          <p:cNvPr id="1824" name="CustomShape 14"/>
          <p:cNvSpPr/>
          <p:nvPr/>
        </p:nvSpPr>
        <p:spPr>
          <a:xfrm>
            <a:off x="731520" y="5486400"/>
            <a:ext cx="454680" cy="454680"/>
          </a:xfrm>
          <a:prstGeom prst="ellipse">
            <a:avLst/>
          </a:prstGeom>
          <a:solidFill>
            <a:srgbClr val="134074"/>
          </a:solidFill>
          <a:ln>
            <a:noFill/>
          </a:ln>
        </p:spPr>
        <p:style>
          <a:lnRef idx="0"/>
          <a:fillRef idx="0"/>
          <a:effectRef idx="0"/>
          <a:fontRef idx="minor"/>
        </p:style>
      </p:sp>
      <p:pic>
        <p:nvPicPr>
          <p:cNvPr id="1825" name="Image 2" descr="preencoded.png"/>
          <p:cNvPicPr/>
          <p:nvPr/>
        </p:nvPicPr>
        <p:blipFill>
          <a:blip r:embed="rId3"/>
          <a:stretch/>
        </p:blipFill>
        <p:spPr>
          <a:xfrm>
            <a:off x="846000" y="5600880"/>
            <a:ext cx="226080" cy="226080"/>
          </a:xfrm>
          <a:prstGeom prst="rect">
            <a:avLst/>
          </a:prstGeom>
          <a:ln>
            <a:noFill/>
          </a:ln>
        </p:spPr>
      </p:pic>
      <p:sp>
        <p:nvSpPr>
          <p:cNvPr id="1826" name="CustomShape 15"/>
          <p:cNvSpPr/>
          <p:nvPr/>
        </p:nvSpPr>
        <p:spPr>
          <a:xfrm>
            <a:off x="1371600" y="5257800"/>
            <a:ext cx="10083240" cy="9118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2545"/>
                </a:solidFill>
                <a:latin typeface="Calibri"/>
                <a:ea typeface="Calibri"/>
              </a:rPr>
              <a:t>Desacoplamiento clave: </a:t>
            </a:r>
            <a:r>
              <a:rPr b="0" lang="en-US" sz="1400" spc="-1" strike="noStrike">
                <a:solidFill>
                  <a:srgbClr val="1f2933"/>
                </a:solidFill>
                <a:latin typeface="Calibri"/>
                <a:ea typeface="Calibri"/>
              </a:rPr>
              <a:t>SSDT ya no se incluye en la ISO de SQL Server. El desarrollador diseña paquetes en Visual Studio (.ispac); el DBA gestiona el servicio SSIS, provisiona SSISDB y asegura la ejecución en el servidor.</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827" name="CustomShape 1"/>
          <p:cNvSpPr/>
          <p:nvPr/>
        </p:nvSpPr>
        <p:spPr>
          <a:xfrm>
            <a:off x="548640" y="365760"/>
            <a:ext cx="175788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ETL Y DATA FLOW</a:t>
            </a:r>
            <a:endParaRPr b="0" lang="es-ES" sz="1000" spc="-1" strike="noStrike">
              <a:latin typeface="Arial"/>
            </a:endParaRPr>
          </a:p>
        </p:txBody>
      </p:sp>
      <p:sp>
        <p:nvSpPr>
          <p:cNvPr id="1828"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Pipeline ETL: ingesta de CSV a SQL Server</a:t>
            </a:r>
            <a:endParaRPr b="0" lang="es-ES" sz="3400" spc="-1" strike="noStrike">
              <a:latin typeface="Arial"/>
            </a:endParaRPr>
          </a:p>
        </p:txBody>
      </p:sp>
      <p:sp>
        <p:nvSpPr>
          <p:cNvPr id="1829"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830"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4   75</a:t>
            </a:r>
            <a:endParaRPr b="0" lang="es-ES" sz="1000" spc="-1" strike="noStrike">
              <a:latin typeface="Arial"/>
            </a:endParaRPr>
          </a:p>
        </p:txBody>
      </p:sp>
      <p:sp>
        <p:nvSpPr>
          <p:cNvPr id="1831" name="CustomShape 5"/>
          <p:cNvSpPr/>
          <p:nvPr/>
        </p:nvSpPr>
        <p:spPr>
          <a:xfrm>
            <a:off x="548640" y="1600200"/>
            <a:ext cx="3481200" cy="3426480"/>
          </a:xfrm>
          <a:prstGeom prst="roundRect">
            <a:avLst>
              <a:gd name="adj" fmla="val 32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832" name="CustomShape 6"/>
          <p:cNvSpPr/>
          <p:nvPr/>
        </p:nvSpPr>
        <p:spPr>
          <a:xfrm>
            <a:off x="777240" y="1828800"/>
            <a:ext cx="500400" cy="500400"/>
          </a:xfrm>
          <a:prstGeom prst="ellipse">
            <a:avLst/>
          </a:prstGeom>
          <a:solidFill>
            <a:srgbClr val="134074"/>
          </a:solidFill>
          <a:ln>
            <a:noFill/>
          </a:ln>
        </p:spPr>
        <p:style>
          <a:lnRef idx="0"/>
          <a:fillRef idx="0"/>
          <a:effectRef idx="0"/>
          <a:fontRef idx="minor"/>
        </p:style>
      </p:sp>
      <p:sp>
        <p:nvSpPr>
          <p:cNvPr id="1833" name="CustomShape 7"/>
          <p:cNvSpPr/>
          <p:nvPr/>
        </p:nvSpPr>
        <p:spPr>
          <a:xfrm>
            <a:off x="77724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1</a:t>
            </a:r>
            <a:endParaRPr b="0" lang="es-ES" sz="1800" spc="-1" strike="noStrike">
              <a:latin typeface="Arial"/>
            </a:endParaRPr>
          </a:p>
        </p:txBody>
      </p:sp>
      <p:sp>
        <p:nvSpPr>
          <p:cNvPr id="1834" name="CustomShape 8"/>
          <p:cNvSpPr/>
          <p:nvPr/>
        </p:nvSpPr>
        <p:spPr>
          <a:xfrm>
            <a:off x="777240" y="2468880"/>
            <a:ext cx="302400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Flat File Source (CSV)</a:t>
            </a:r>
            <a:endParaRPr b="0" lang="es-ES" sz="1600" spc="-1" strike="noStrike">
              <a:latin typeface="Arial"/>
            </a:endParaRPr>
          </a:p>
        </p:txBody>
      </p:sp>
      <p:sp>
        <p:nvSpPr>
          <p:cNvPr id="1835" name="CustomShape 9"/>
          <p:cNvSpPr/>
          <p:nvPr/>
        </p:nvSpPr>
        <p:spPr>
          <a:xfrm>
            <a:off x="777240" y="3154680"/>
            <a:ext cx="3024000" cy="1780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Conexión al fichero .csv: delimitador de columnas (coma o punto y coma), calificador de texto entre comillas, codificación UTF-8 y salto de línea CRLF. Los datos entran al pipeline como cadenas DT_STR o DT_WSTR.</a:t>
            </a:r>
            <a:endParaRPr b="0" lang="es-ES" sz="1400" spc="-1" strike="noStrike">
              <a:latin typeface="Arial"/>
            </a:endParaRPr>
          </a:p>
        </p:txBody>
      </p:sp>
      <p:sp>
        <p:nvSpPr>
          <p:cNvPr id="1836" name="CustomShape 10"/>
          <p:cNvSpPr/>
          <p:nvPr/>
        </p:nvSpPr>
        <p:spPr>
          <a:xfrm>
            <a:off x="4069080" y="1947600"/>
            <a:ext cx="24444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1837" name="CustomShape 11"/>
          <p:cNvSpPr/>
          <p:nvPr/>
        </p:nvSpPr>
        <p:spPr>
          <a:xfrm>
            <a:off x="4352400" y="1600200"/>
            <a:ext cx="3481200" cy="3426480"/>
          </a:xfrm>
          <a:prstGeom prst="roundRect">
            <a:avLst>
              <a:gd name="adj" fmla="val 32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838" name="CustomShape 12"/>
          <p:cNvSpPr/>
          <p:nvPr/>
        </p:nvSpPr>
        <p:spPr>
          <a:xfrm>
            <a:off x="4581000" y="1828800"/>
            <a:ext cx="500400" cy="500400"/>
          </a:xfrm>
          <a:prstGeom prst="ellipse">
            <a:avLst/>
          </a:prstGeom>
          <a:solidFill>
            <a:srgbClr val="134074"/>
          </a:solidFill>
          <a:ln>
            <a:noFill/>
          </a:ln>
        </p:spPr>
        <p:style>
          <a:lnRef idx="0"/>
          <a:fillRef idx="0"/>
          <a:effectRef idx="0"/>
          <a:fontRef idx="minor"/>
        </p:style>
      </p:sp>
      <p:sp>
        <p:nvSpPr>
          <p:cNvPr id="1839" name="CustomShape 13"/>
          <p:cNvSpPr/>
          <p:nvPr/>
        </p:nvSpPr>
        <p:spPr>
          <a:xfrm>
            <a:off x="458100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2</a:t>
            </a:r>
            <a:endParaRPr b="0" lang="es-ES" sz="1800" spc="-1" strike="noStrike">
              <a:latin typeface="Arial"/>
            </a:endParaRPr>
          </a:p>
        </p:txBody>
      </p:sp>
      <p:sp>
        <p:nvSpPr>
          <p:cNvPr id="1840" name="CustomShape 14"/>
          <p:cNvSpPr/>
          <p:nvPr/>
        </p:nvSpPr>
        <p:spPr>
          <a:xfrm>
            <a:off x="4581000" y="2468880"/>
            <a:ext cx="302400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Data Conversion (RAM)</a:t>
            </a:r>
            <a:endParaRPr b="0" lang="es-ES" sz="1600" spc="-1" strike="noStrike">
              <a:latin typeface="Arial"/>
            </a:endParaRPr>
          </a:p>
        </p:txBody>
      </p:sp>
      <p:sp>
        <p:nvSpPr>
          <p:cNvPr id="1841" name="CustomShape 15"/>
          <p:cNvSpPr/>
          <p:nvPr/>
        </p:nvSpPr>
        <p:spPr>
          <a:xfrm>
            <a:off x="4581000" y="3154680"/>
            <a:ext cx="3024000" cy="1780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Transformación en memoria: convierte las cadenas de texto del CSV a los tipos de datos relacionales de destino (DT_I4 para enteros, DT_NUMERIC para importes o DT_DATE para fechas). Permite redirigir filas erróneas.</a:t>
            </a:r>
            <a:endParaRPr b="0" lang="es-ES" sz="1400" spc="-1" strike="noStrike">
              <a:latin typeface="Arial"/>
            </a:endParaRPr>
          </a:p>
        </p:txBody>
      </p:sp>
      <p:sp>
        <p:nvSpPr>
          <p:cNvPr id="1842" name="CustomShape 16"/>
          <p:cNvSpPr/>
          <p:nvPr/>
        </p:nvSpPr>
        <p:spPr>
          <a:xfrm>
            <a:off x="7872840" y="1947600"/>
            <a:ext cx="244440" cy="271800"/>
          </a:xfrm>
          <a:prstGeom prst="rightArrow">
            <a:avLst>
              <a:gd name="adj1" fmla="val 50000"/>
              <a:gd name="adj2" fmla="val 50000"/>
            </a:avLst>
          </a:prstGeom>
          <a:solidFill>
            <a:srgbClr val="d95d39"/>
          </a:solidFill>
          <a:ln>
            <a:noFill/>
          </a:ln>
        </p:spPr>
        <p:style>
          <a:lnRef idx="0"/>
          <a:fillRef idx="0"/>
          <a:effectRef idx="0"/>
          <a:fontRef idx="minor"/>
        </p:style>
      </p:sp>
      <p:sp>
        <p:nvSpPr>
          <p:cNvPr id="1843" name="CustomShape 17"/>
          <p:cNvSpPr/>
          <p:nvPr/>
        </p:nvSpPr>
        <p:spPr>
          <a:xfrm>
            <a:off x="8156520" y="1600200"/>
            <a:ext cx="3481200" cy="3426480"/>
          </a:xfrm>
          <a:prstGeom prst="roundRect">
            <a:avLst>
              <a:gd name="adj" fmla="val 32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844" name="CustomShape 18"/>
          <p:cNvSpPr/>
          <p:nvPr/>
        </p:nvSpPr>
        <p:spPr>
          <a:xfrm>
            <a:off x="8385120" y="1828800"/>
            <a:ext cx="500400" cy="500400"/>
          </a:xfrm>
          <a:prstGeom prst="ellipse">
            <a:avLst/>
          </a:prstGeom>
          <a:solidFill>
            <a:srgbClr val="134074"/>
          </a:solidFill>
          <a:ln>
            <a:noFill/>
          </a:ln>
        </p:spPr>
        <p:style>
          <a:lnRef idx="0"/>
          <a:fillRef idx="0"/>
          <a:effectRef idx="0"/>
          <a:fontRef idx="minor"/>
        </p:style>
      </p:sp>
      <p:sp>
        <p:nvSpPr>
          <p:cNvPr id="1845" name="CustomShape 19"/>
          <p:cNvSpPr/>
          <p:nvPr/>
        </p:nvSpPr>
        <p:spPr>
          <a:xfrm>
            <a:off x="8385120" y="1828800"/>
            <a:ext cx="500400" cy="5004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3</a:t>
            </a:r>
            <a:endParaRPr b="0" lang="es-ES" sz="1800" spc="-1" strike="noStrike">
              <a:latin typeface="Arial"/>
            </a:endParaRPr>
          </a:p>
        </p:txBody>
      </p:sp>
      <p:sp>
        <p:nvSpPr>
          <p:cNvPr id="1846" name="CustomShape 20"/>
          <p:cNvSpPr/>
          <p:nvPr/>
        </p:nvSpPr>
        <p:spPr>
          <a:xfrm>
            <a:off x="8385120" y="2468880"/>
            <a:ext cx="3024000" cy="637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600" spc="-1" strike="noStrike">
                <a:solidFill>
                  <a:srgbClr val="0b2545"/>
                </a:solidFill>
                <a:latin typeface="Calibri"/>
                <a:ea typeface="Calibri"/>
              </a:rPr>
              <a:t>OLE DB Destination</a:t>
            </a:r>
            <a:endParaRPr b="0" lang="es-ES" sz="1600" spc="-1" strike="noStrike">
              <a:latin typeface="Arial"/>
            </a:endParaRPr>
          </a:p>
        </p:txBody>
      </p:sp>
      <p:sp>
        <p:nvSpPr>
          <p:cNvPr id="1847" name="CustomShape 21"/>
          <p:cNvSpPr/>
          <p:nvPr/>
        </p:nvSpPr>
        <p:spPr>
          <a:xfrm>
            <a:off x="8385120" y="3154680"/>
            <a:ext cx="3024000" cy="178056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1f2933"/>
                </a:solidFill>
                <a:latin typeface="Calibri"/>
                <a:ea typeface="Calibri"/>
              </a:rPr>
              <a:t>Inserción masiva en la tabla de destino de SQL Server. Configuración en modo «Table or view - fast load»: ejecuta un BULK INSERT con TABLOCK, evitando registrar cada fila individualmente en el log de transacciones.</a:t>
            </a:r>
            <a:endParaRPr b="0" lang="es-ES" sz="1400" spc="-1" strike="noStrike">
              <a:latin typeface="Arial"/>
            </a:endParaRPr>
          </a:p>
        </p:txBody>
      </p:sp>
      <p:sp>
        <p:nvSpPr>
          <p:cNvPr id="1848" name="CustomShape 22"/>
          <p:cNvSpPr/>
          <p:nvPr/>
        </p:nvSpPr>
        <p:spPr>
          <a:xfrm>
            <a:off x="548640" y="5257800"/>
            <a:ext cx="11089080" cy="911880"/>
          </a:xfrm>
          <a:prstGeom prst="roundRect">
            <a:avLst>
              <a:gd name="adj" fmla="val 12000"/>
            </a:avLst>
          </a:prstGeom>
          <a:solidFill>
            <a:srgbClr val="e8eef5"/>
          </a:solidFill>
          <a:ln>
            <a:noFill/>
          </a:ln>
        </p:spPr>
        <p:style>
          <a:lnRef idx="0"/>
          <a:fillRef idx="0"/>
          <a:effectRef idx="0"/>
          <a:fontRef idx="minor"/>
        </p:style>
      </p:sp>
      <p:sp>
        <p:nvSpPr>
          <p:cNvPr id="1849" name="CustomShape 23"/>
          <p:cNvSpPr/>
          <p:nvPr/>
        </p:nvSpPr>
        <p:spPr>
          <a:xfrm>
            <a:off x="731520" y="5486400"/>
            <a:ext cx="454680" cy="454680"/>
          </a:xfrm>
          <a:prstGeom prst="ellipse">
            <a:avLst/>
          </a:prstGeom>
          <a:solidFill>
            <a:srgbClr val="134074"/>
          </a:solidFill>
          <a:ln>
            <a:noFill/>
          </a:ln>
        </p:spPr>
        <p:style>
          <a:lnRef idx="0"/>
          <a:fillRef idx="0"/>
          <a:effectRef idx="0"/>
          <a:fontRef idx="minor"/>
        </p:style>
      </p:sp>
      <p:pic>
        <p:nvPicPr>
          <p:cNvPr id="1850" name="Image 0" descr="preencoded.png"/>
          <p:cNvPicPr/>
          <p:nvPr/>
        </p:nvPicPr>
        <p:blipFill>
          <a:blip r:embed="rId1"/>
          <a:stretch/>
        </p:blipFill>
        <p:spPr>
          <a:xfrm>
            <a:off x="846000" y="5600880"/>
            <a:ext cx="226080" cy="226080"/>
          </a:xfrm>
          <a:prstGeom prst="rect">
            <a:avLst/>
          </a:prstGeom>
          <a:ln>
            <a:noFill/>
          </a:ln>
        </p:spPr>
      </p:pic>
      <p:sp>
        <p:nvSpPr>
          <p:cNvPr id="1851" name="CustomShape 24"/>
          <p:cNvSpPr/>
          <p:nvPr/>
        </p:nvSpPr>
        <p:spPr>
          <a:xfrm>
            <a:off x="1371600" y="5257800"/>
            <a:ext cx="10083240" cy="9118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2545"/>
                </a:solidFill>
                <a:latin typeface="Calibri"/>
                <a:ea typeface="Calibri"/>
              </a:rPr>
              <a:t>Por qué CSV y Fast Load: </a:t>
            </a:r>
            <a:r>
              <a:rPr b="0" lang="en-US" sz="1400" spc="-1" strike="noStrike">
                <a:solidFill>
                  <a:srgbClr val="1f2933"/>
                </a:solidFill>
                <a:latin typeface="Calibri"/>
                <a:ea typeface="Calibri"/>
              </a:rPr>
              <a:t>el formato CSV es el estándar de la industria para cargas batch limpias y sin dependencias de drivers de Office; la opción Fast Load multiplica por diez la velocidad de inserción al trabajar en bloque.</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852" name="CustomShape 1"/>
          <p:cNvSpPr/>
          <p:nvPr/>
        </p:nvSpPr>
        <p:spPr>
          <a:xfrm>
            <a:off x="548640" y="365760"/>
            <a:ext cx="27133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ADMINISTRACIÓN Y OPERACIÓN</a:t>
            </a:r>
            <a:endParaRPr b="0" lang="es-ES" sz="1000" spc="-1" strike="noStrike">
              <a:latin typeface="Arial"/>
            </a:endParaRPr>
          </a:p>
        </p:txBody>
      </p:sp>
      <p:sp>
        <p:nvSpPr>
          <p:cNvPr id="1853"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Despliegue en SSISDB y Jobs con Agent</a:t>
            </a:r>
            <a:endParaRPr b="0" lang="es-ES" sz="3400" spc="-1" strike="noStrike">
              <a:latin typeface="Arial"/>
            </a:endParaRPr>
          </a:p>
        </p:txBody>
      </p:sp>
      <p:sp>
        <p:nvSpPr>
          <p:cNvPr id="1854"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855"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4   76</a:t>
            </a:r>
            <a:endParaRPr b="0" lang="es-ES" sz="1000" spc="-1" strike="noStrike">
              <a:latin typeface="Arial"/>
            </a:endParaRPr>
          </a:p>
        </p:txBody>
      </p:sp>
      <p:sp>
        <p:nvSpPr>
          <p:cNvPr id="1856" name="CustomShape 5"/>
          <p:cNvSpPr/>
          <p:nvPr/>
        </p:nvSpPr>
        <p:spPr>
          <a:xfrm>
            <a:off x="548640" y="1600200"/>
            <a:ext cx="5406120" cy="1551960"/>
          </a:xfrm>
          <a:prstGeom prst="roundRect">
            <a:avLst>
              <a:gd name="adj" fmla="val 7059"/>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857" name="CustomShape 6"/>
          <p:cNvSpPr/>
          <p:nvPr/>
        </p:nvSpPr>
        <p:spPr>
          <a:xfrm>
            <a:off x="731520" y="2103120"/>
            <a:ext cx="546120" cy="546120"/>
          </a:xfrm>
          <a:prstGeom prst="ellipse">
            <a:avLst/>
          </a:prstGeom>
          <a:solidFill>
            <a:srgbClr val="134074"/>
          </a:solidFill>
          <a:ln>
            <a:noFill/>
          </a:ln>
        </p:spPr>
        <p:style>
          <a:lnRef idx="0"/>
          <a:fillRef idx="0"/>
          <a:effectRef idx="0"/>
          <a:fontRef idx="minor"/>
        </p:style>
      </p:sp>
      <p:pic>
        <p:nvPicPr>
          <p:cNvPr id="1858" name="Image 0" descr="preencoded.png"/>
          <p:cNvPicPr/>
          <p:nvPr/>
        </p:nvPicPr>
        <p:blipFill>
          <a:blip r:embed="rId1"/>
          <a:stretch/>
        </p:blipFill>
        <p:spPr>
          <a:xfrm>
            <a:off x="868680" y="2240280"/>
            <a:ext cx="271800" cy="271800"/>
          </a:xfrm>
          <a:prstGeom prst="rect">
            <a:avLst/>
          </a:prstGeom>
          <a:ln>
            <a:noFill/>
          </a:ln>
        </p:spPr>
      </p:pic>
      <p:sp>
        <p:nvSpPr>
          <p:cNvPr id="1859" name="CustomShape 7"/>
          <p:cNvSpPr/>
          <p:nvPr/>
        </p:nvSpPr>
        <p:spPr>
          <a:xfrm>
            <a:off x="1463040" y="1600200"/>
            <a:ext cx="4308840" cy="155196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1. Despliegue del Proyecto (.ispac)</a:t>
            </a:r>
            <a:endParaRPr b="0" lang="es-ES" sz="1600" spc="-1" strike="noStrike">
              <a:latin typeface="Arial"/>
            </a:endParaRPr>
          </a:p>
          <a:p>
            <a:pPr>
              <a:lnSpc>
                <a:spcPct val="100000"/>
              </a:lnSpc>
              <a:tabLst>
                <a:tab algn="l" pos="0"/>
              </a:tabLst>
            </a:pPr>
            <a:r>
              <a:rPr b="0" lang="en-US" sz="1300" spc="-1" strike="noStrike">
                <a:solidFill>
                  <a:srgbClr val="1f2933"/>
                </a:solidFill>
                <a:latin typeface="Calibri"/>
                <a:ea typeface="Calibri"/>
              </a:rPr>
              <a:t>Compilación en Visual Studio (Project Deployment Model) generando el archivo .ispac. Despliegue en SSISDB mediante el asistente de SSMS, organizando carpetas por aplicación.</a:t>
            </a:r>
            <a:endParaRPr b="0" lang="es-ES" sz="1300" spc="-1" strike="noStrike">
              <a:latin typeface="Arial"/>
            </a:endParaRPr>
          </a:p>
        </p:txBody>
      </p:sp>
      <p:sp>
        <p:nvSpPr>
          <p:cNvPr id="1860" name="CustomShape 8"/>
          <p:cNvSpPr/>
          <p:nvPr/>
        </p:nvSpPr>
        <p:spPr>
          <a:xfrm>
            <a:off x="6231600" y="1600200"/>
            <a:ext cx="5406120" cy="1551960"/>
          </a:xfrm>
          <a:prstGeom prst="roundRect">
            <a:avLst>
              <a:gd name="adj" fmla="val 7059"/>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861" name="CustomShape 9"/>
          <p:cNvSpPr/>
          <p:nvPr/>
        </p:nvSpPr>
        <p:spPr>
          <a:xfrm>
            <a:off x="6414480" y="2103120"/>
            <a:ext cx="546120" cy="546120"/>
          </a:xfrm>
          <a:prstGeom prst="ellipse">
            <a:avLst/>
          </a:prstGeom>
          <a:solidFill>
            <a:srgbClr val="134074"/>
          </a:solidFill>
          <a:ln>
            <a:noFill/>
          </a:ln>
        </p:spPr>
        <p:style>
          <a:lnRef idx="0"/>
          <a:fillRef idx="0"/>
          <a:effectRef idx="0"/>
          <a:fontRef idx="minor"/>
        </p:style>
      </p:sp>
      <p:pic>
        <p:nvPicPr>
          <p:cNvPr id="1862" name="Image 1" descr="preencoded.png"/>
          <p:cNvPicPr/>
          <p:nvPr/>
        </p:nvPicPr>
        <p:blipFill>
          <a:blip r:embed="rId2"/>
          <a:stretch/>
        </p:blipFill>
        <p:spPr>
          <a:xfrm>
            <a:off x="6551640" y="2240280"/>
            <a:ext cx="271800" cy="271800"/>
          </a:xfrm>
          <a:prstGeom prst="rect">
            <a:avLst/>
          </a:prstGeom>
          <a:ln>
            <a:noFill/>
          </a:ln>
        </p:spPr>
      </p:pic>
      <p:sp>
        <p:nvSpPr>
          <p:cNvPr id="1863" name="CustomShape 10"/>
          <p:cNvSpPr/>
          <p:nvPr/>
        </p:nvSpPr>
        <p:spPr>
          <a:xfrm>
            <a:off x="7146000" y="1600200"/>
            <a:ext cx="4308840" cy="155196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2. Programación en SQL Server Agent</a:t>
            </a:r>
            <a:endParaRPr b="0" lang="es-ES" sz="1600" spc="-1" strike="noStrike">
              <a:latin typeface="Arial"/>
            </a:endParaRPr>
          </a:p>
          <a:p>
            <a:pPr>
              <a:lnSpc>
                <a:spcPct val="100000"/>
              </a:lnSpc>
              <a:tabLst>
                <a:tab algn="l" pos="0"/>
              </a:tabLst>
            </a:pPr>
            <a:r>
              <a:rPr b="0" lang="en-US" sz="1300" spc="-1" strike="noStrike">
                <a:solidFill>
                  <a:srgbClr val="1f2933"/>
                </a:solidFill>
                <a:latin typeface="Calibri"/>
                <a:ea typeface="Calibri"/>
              </a:rPr>
              <a:t>Creación de un Job con paso (Job Step) de tipo «Integration Services Package». Selección del proyecto y paquete en SSISDB, con horarios (Schedules) y reintentos automáticos.</a:t>
            </a:r>
            <a:endParaRPr b="0" lang="es-ES" sz="1300" spc="-1" strike="noStrike">
              <a:latin typeface="Arial"/>
            </a:endParaRPr>
          </a:p>
        </p:txBody>
      </p:sp>
      <p:sp>
        <p:nvSpPr>
          <p:cNvPr id="1864" name="CustomShape 11"/>
          <p:cNvSpPr/>
          <p:nvPr/>
        </p:nvSpPr>
        <p:spPr>
          <a:xfrm>
            <a:off x="548640" y="3383280"/>
            <a:ext cx="5406120" cy="1551960"/>
          </a:xfrm>
          <a:prstGeom prst="roundRect">
            <a:avLst>
              <a:gd name="adj" fmla="val 7059"/>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865" name="CustomShape 12"/>
          <p:cNvSpPr/>
          <p:nvPr/>
        </p:nvSpPr>
        <p:spPr>
          <a:xfrm>
            <a:off x="731520" y="3886200"/>
            <a:ext cx="546120" cy="546120"/>
          </a:xfrm>
          <a:prstGeom prst="ellipse">
            <a:avLst/>
          </a:prstGeom>
          <a:solidFill>
            <a:srgbClr val="134074"/>
          </a:solidFill>
          <a:ln>
            <a:noFill/>
          </a:ln>
        </p:spPr>
        <p:style>
          <a:lnRef idx="0"/>
          <a:fillRef idx="0"/>
          <a:effectRef idx="0"/>
          <a:fontRef idx="minor"/>
        </p:style>
      </p:sp>
      <p:pic>
        <p:nvPicPr>
          <p:cNvPr id="1866" name="Image 2" descr="preencoded.png"/>
          <p:cNvPicPr/>
          <p:nvPr/>
        </p:nvPicPr>
        <p:blipFill>
          <a:blip r:embed="rId3"/>
          <a:stretch/>
        </p:blipFill>
        <p:spPr>
          <a:xfrm>
            <a:off x="868680" y="4023360"/>
            <a:ext cx="271800" cy="271800"/>
          </a:xfrm>
          <a:prstGeom prst="rect">
            <a:avLst/>
          </a:prstGeom>
          <a:ln>
            <a:noFill/>
          </a:ln>
        </p:spPr>
      </p:pic>
      <p:sp>
        <p:nvSpPr>
          <p:cNvPr id="1867" name="CustomShape 13"/>
          <p:cNvSpPr/>
          <p:nvPr/>
        </p:nvSpPr>
        <p:spPr>
          <a:xfrm>
            <a:off x="1463040" y="3383280"/>
            <a:ext cx="4308840" cy="155196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3. Seguridad y Proxies del Agent</a:t>
            </a:r>
            <a:endParaRPr b="0" lang="es-ES" sz="1600" spc="-1" strike="noStrike">
              <a:latin typeface="Arial"/>
            </a:endParaRPr>
          </a:p>
          <a:p>
            <a:pPr>
              <a:lnSpc>
                <a:spcPct val="100000"/>
              </a:lnSpc>
              <a:tabLst>
                <a:tab algn="l" pos="0"/>
              </a:tabLst>
            </a:pPr>
            <a:r>
              <a:rPr b="0" lang="en-US" sz="1300" spc="-1" strike="noStrike">
                <a:solidFill>
                  <a:srgbClr val="1f2933"/>
                </a:solidFill>
                <a:latin typeface="Calibri"/>
                <a:ea typeface="Calibri"/>
              </a:rPr>
              <a:t>Regla de oro: nunca ejecutar paquetes bajo la cuenta de servicio de SQL Server ni como sysadmin. Uso de Credential de Windows y Proxy de Agent con acceso NTFS mínimo al recurso de CSVs.</a:t>
            </a:r>
            <a:endParaRPr b="0" lang="es-ES" sz="1300" spc="-1" strike="noStrike">
              <a:latin typeface="Arial"/>
            </a:endParaRPr>
          </a:p>
        </p:txBody>
      </p:sp>
      <p:sp>
        <p:nvSpPr>
          <p:cNvPr id="1868" name="CustomShape 14"/>
          <p:cNvSpPr/>
          <p:nvPr/>
        </p:nvSpPr>
        <p:spPr>
          <a:xfrm>
            <a:off x="6231600" y="3383280"/>
            <a:ext cx="5406120" cy="1551960"/>
          </a:xfrm>
          <a:prstGeom prst="roundRect">
            <a:avLst>
              <a:gd name="adj" fmla="val 7059"/>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869" name="CustomShape 15"/>
          <p:cNvSpPr/>
          <p:nvPr/>
        </p:nvSpPr>
        <p:spPr>
          <a:xfrm>
            <a:off x="6414480" y="3886200"/>
            <a:ext cx="546120" cy="546120"/>
          </a:xfrm>
          <a:prstGeom prst="ellipse">
            <a:avLst/>
          </a:prstGeom>
          <a:solidFill>
            <a:srgbClr val="134074"/>
          </a:solidFill>
          <a:ln>
            <a:noFill/>
          </a:ln>
        </p:spPr>
        <p:style>
          <a:lnRef idx="0"/>
          <a:fillRef idx="0"/>
          <a:effectRef idx="0"/>
          <a:fontRef idx="minor"/>
        </p:style>
      </p:sp>
      <p:pic>
        <p:nvPicPr>
          <p:cNvPr id="1870" name="Image 3" descr="preencoded.png"/>
          <p:cNvPicPr/>
          <p:nvPr/>
        </p:nvPicPr>
        <p:blipFill>
          <a:blip r:embed="rId4"/>
          <a:stretch/>
        </p:blipFill>
        <p:spPr>
          <a:xfrm>
            <a:off x="6551640" y="4023360"/>
            <a:ext cx="271800" cy="271800"/>
          </a:xfrm>
          <a:prstGeom prst="rect">
            <a:avLst/>
          </a:prstGeom>
          <a:ln>
            <a:noFill/>
          </a:ln>
        </p:spPr>
      </p:pic>
      <p:sp>
        <p:nvSpPr>
          <p:cNvPr id="1871" name="CustomShape 16"/>
          <p:cNvSpPr/>
          <p:nvPr/>
        </p:nvSpPr>
        <p:spPr>
          <a:xfrm>
            <a:off x="7146000" y="3383280"/>
            <a:ext cx="4308840" cy="155196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4. Monitorización y Diagnóstico</a:t>
            </a:r>
            <a:endParaRPr b="0" lang="es-ES" sz="1600" spc="-1" strike="noStrike">
              <a:latin typeface="Arial"/>
            </a:endParaRPr>
          </a:p>
          <a:p>
            <a:pPr>
              <a:lnSpc>
                <a:spcPct val="100000"/>
              </a:lnSpc>
              <a:tabLst>
                <a:tab algn="l" pos="0"/>
              </a:tabLst>
            </a:pPr>
            <a:r>
              <a:rPr b="0" lang="en-US" sz="1300" spc="-1" strike="noStrike">
                <a:solidFill>
                  <a:srgbClr val="1f2933"/>
                </a:solidFill>
                <a:latin typeface="Calibri"/>
                <a:ea typeface="Calibri"/>
              </a:rPr>
              <a:t>Informes nativos en SSMS con clic derecho en SSISDB («All Executions») para analizar duración y filas procesadas. Consulta de vistas catalog.executions y catalog.operation_messages.</a:t>
            </a:r>
            <a:endParaRPr b="0" lang="es-ES" sz="1300" spc="-1" strike="noStrike">
              <a:latin typeface="Arial"/>
            </a:endParaRPr>
          </a:p>
        </p:txBody>
      </p:sp>
      <p:sp>
        <p:nvSpPr>
          <p:cNvPr id="1872" name="CustomShape 17"/>
          <p:cNvSpPr/>
          <p:nvPr/>
        </p:nvSpPr>
        <p:spPr>
          <a:xfrm>
            <a:off x="548640" y="5257800"/>
            <a:ext cx="11089080" cy="911880"/>
          </a:xfrm>
          <a:prstGeom prst="roundRect">
            <a:avLst>
              <a:gd name="adj" fmla="val 12000"/>
            </a:avLst>
          </a:prstGeom>
          <a:solidFill>
            <a:srgbClr val="fdede8"/>
          </a:solidFill>
          <a:ln>
            <a:noFill/>
          </a:ln>
        </p:spPr>
        <p:style>
          <a:lnRef idx="0"/>
          <a:fillRef idx="0"/>
          <a:effectRef idx="0"/>
          <a:fontRef idx="minor"/>
        </p:style>
      </p:sp>
      <p:sp>
        <p:nvSpPr>
          <p:cNvPr id="1873" name="CustomShape 18"/>
          <p:cNvSpPr/>
          <p:nvPr/>
        </p:nvSpPr>
        <p:spPr>
          <a:xfrm>
            <a:off x="731520" y="5486400"/>
            <a:ext cx="454680" cy="454680"/>
          </a:xfrm>
          <a:prstGeom prst="ellipse">
            <a:avLst/>
          </a:prstGeom>
          <a:solidFill>
            <a:srgbClr val="d95d39"/>
          </a:solidFill>
          <a:ln>
            <a:noFill/>
          </a:ln>
        </p:spPr>
        <p:style>
          <a:lnRef idx="0"/>
          <a:fillRef idx="0"/>
          <a:effectRef idx="0"/>
          <a:fontRef idx="minor"/>
        </p:style>
      </p:sp>
      <p:pic>
        <p:nvPicPr>
          <p:cNvPr id="1874" name="Image 4" descr="preencoded.png"/>
          <p:cNvPicPr/>
          <p:nvPr/>
        </p:nvPicPr>
        <p:blipFill>
          <a:blip r:embed="rId5"/>
          <a:stretch/>
        </p:blipFill>
        <p:spPr>
          <a:xfrm>
            <a:off x="846000" y="5600880"/>
            <a:ext cx="226080" cy="226080"/>
          </a:xfrm>
          <a:prstGeom prst="rect">
            <a:avLst/>
          </a:prstGeom>
          <a:ln>
            <a:noFill/>
          </a:ln>
        </p:spPr>
      </p:pic>
      <p:sp>
        <p:nvSpPr>
          <p:cNvPr id="1875" name="CustomShape 19"/>
          <p:cNvSpPr/>
          <p:nvPr/>
        </p:nvSpPr>
        <p:spPr>
          <a:xfrm>
            <a:off x="1371600" y="5257800"/>
            <a:ext cx="10083240" cy="9118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a8431f"/>
                </a:solidFill>
                <a:latin typeface="Calibri"/>
                <a:ea typeface="Calibri"/>
              </a:rPr>
              <a:t>Trampa crítica en producción: </a:t>
            </a:r>
            <a:r>
              <a:rPr b="0" lang="en-US" sz="1400" spc="-1" strike="noStrike">
                <a:solidFill>
                  <a:srgbClr val="1f2933"/>
                </a:solidFill>
                <a:latin typeface="Calibri"/>
                <a:ea typeface="Calibri"/>
              </a:rPr>
              <a:t>un paquete que funciona en Visual Studio falla en el Agent si no se usa un Proxy; la cuenta de servicio de SQL Server no suele tener permisos NTFS sobre las carpetas de red compartidas con los CSVs.</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876" name="CustomShape 1"/>
          <p:cNvSpPr/>
          <p:nvPr/>
        </p:nvSpPr>
        <p:spPr>
          <a:xfrm>
            <a:off x="548640" y="365760"/>
            <a:ext cx="4016160" cy="271800"/>
          </a:xfrm>
          <a:prstGeom prst="roundRect">
            <a:avLst>
              <a:gd name="adj" fmla="val 50000"/>
            </a:avLst>
          </a:prstGeom>
          <a:solidFill>
            <a:srgbClr val="d95d39"/>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LABORATORIO · LABORATORIO 4 · PREPARACIÓN</a:t>
            </a:r>
            <a:endParaRPr b="0" lang="es-ES" sz="1000" spc="-1" strike="noStrike">
              <a:latin typeface="Arial"/>
            </a:endParaRPr>
          </a:p>
        </p:txBody>
      </p:sp>
      <p:sp>
        <p:nvSpPr>
          <p:cNvPr id="1877"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Preparar la BD y la cadena de backups</a:t>
            </a:r>
            <a:endParaRPr b="0" lang="es-ES" sz="3400" spc="-1" strike="noStrike">
              <a:latin typeface="Arial"/>
            </a:endParaRPr>
          </a:p>
        </p:txBody>
      </p:sp>
      <p:sp>
        <p:nvSpPr>
          <p:cNvPr id="1878"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879"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4   77</a:t>
            </a:r>
            <a:endParaRPr b="0" lang="es-ES" sz="1000" spc="-1" strike="noStrike">
              <a:latin typeface="Arial"/>
            </a:endParaRPr>
          </a:p>
        </p:txBody>
      </p:sp>
      <p:sp>
        <p:nvSpPr>
          <p:cNvPr id="1880" name="CustomShape 5"/>
          <p:cNvSpPr/>
          <p:nvPr/>
        </p:nvSpPr>
        <p:spPr>
          <a:xfrm>
            <a:off x="548640" y="1600200"/>
            <a:ext cx="7038360" cy="4569480"/>
          </a:xfrm>
          <a:prstGeom prst="roundRect">
            <a:avLst>
              <a:gd name="adj" fmla="val 2000"/>
            </a:avLst>
          </a:prstGeom>
          <a:solidFill>
            <a:srgbClr val="eceff3"/>
          </a:solidFill>
          <a:ln w="9360">
            <a:solidFill>
              <a:srgbClr val="d0d7de"/>
            </a:solidFill>
            <a:round/>
          </a:ln>
        </p:spPr>
        <p:style>
          <a:lnRef idx="0"/>
          <a:fillRef idx="0"/>
          <a:effectRef idx="0"/>
          <a:fontRef idx="minor"/>
        </p:style>
      </p:sp>
      <p:sp>
        <p:nvSpPr>
          <p:cNvPr id="1881" name="CustomShape 6"/>
          <p:cNvSpPr/>
          <p:nvPr/>
        </p:nvSpPr>
        <p:spPr>
          <a:xfrm>
            <a:off x="73152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a:t>
            </a:r>
            <a:endParaRPr b="0" lang="es-ES" sz="1000" spc="-1" strike="noStrike">
              <a:latin typeface="Arial"/>
            </a:endParaRPr>
          </a:p>
        </p:txBody>
      </p:sp>
      <p:sp>
        <p:nvSpPr>
          <p:cNvPr id="1882" name="CustomShape 7"/>
          <p:cNvSpPr/>
          <p:nvPr/>
        </p:nvSpPr>
        <p:spPr>
          <a:xfrm>
            <a:off x="731520" y="1965960"/>
            <a:ext cx="6672600" cy="411228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USE</a:t>
            </a:r>
            <a:r>
              <a:rPr b="0" lang="en-US" sz="1200" spc="-1" strike="noStrike">
                <a:solidFill>
                  <a:srgbClr val="1f2933"/>
                </a:solidFill>
                <a:latin typeface="Consolas"/>
                <a:ea typeface="Consolas"/>
              </a:rPr>
              <a:t> master;</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ALTER</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DATABASE</a:t>
            </a:r>
            <a:r>
              <a:rPr b="0" lang="en-US" sz="1200" spc="-1" strike="noStrike">
                <a:solidFill>
                  <a:srgbClr val="1f2933"/>
                </a:solidFill>
                <a:latin typeface="Consolas"/>
                <a:ea typeface="Consolas"/>
              </a:rPr>
              <a:t> Ventas </a:t>
            </a:r>
            <a:r>
              <a:rPr b="1" lang="en-US" sz="1200" spc="-1" strike="noStrike">
                <a:solidFill>
                  <a:srgbClr val="1d4ed8"/>
                </a:solidFill>
                <a:latin typeface="Consolas"/>
                <a:ea typeface="Consolas"/>
              </a:rPr>
              <a:t>SET</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RECOVERY</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FULL</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BACKUP</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DATABASE</a:t>
            </a:r>
            <a:r>
              <a:rPr b="0" lang="en-US" sz="1200" spc="-1" strike="noStrike">
                <a:solidFill>
                  <a:srgbClr val="1f2933"/>
                </a:solidFill>
                <a:latin typeface="Consolas"/>
                <a:ea typeface="Consolas"/>
              </a:rPr>
              <a:t> Ventas</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TO DISK = </a:t>
            </a:r>
            <a:r>
              <a:rPr b="0" lang="en-US" sz="1200" spc="-1" strike="noStrike">
                <a:solidFill>
                  <a:srgbClr val="b4441f"/>
                </a:solidFill>
                <a:latin typeface="Consolas"/>
                <a:ea typeface="Consolas"/>
              </a:rPr>
              <a:t>N'/var/opt/mssql/backup/Ventas_L4_FULL.bak'</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COMPRESSION</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CHECKSUM</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INIT</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USE</a:t>
            </a:r>
            <a:r>
              <a:rPr b="0" lang="en-US" sz="1200" spc="-1" strike="noStrike">
                <a:solidFill>
                  <a:srgbClr val="1f2933"/>
                </a:solidFill>
                <a:latin typeface="Consolas"/>
                <a:ea typeface="Consolas"/>
              </a:rPr>
              <a:t> Ventas;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INSERT</a:t>
            </a:r>
            <a:r>
              <a:rPr b="0" lang="en-US" sz="1200" spc="-1" strike="noStrike">
                <a:solidFill>
                  <a:srgbClr val="1f2933"/>
                </a:solidFill>
                <a:latin typeface="Consolas"/>
                <a:ea typeface="Consolas"/>
              </a:rPr>
              <a:t> dbo.Cliente (Nombre) </a:t>
            </a:r>
            <a:r>
              <a:rPr b="1" lang="en-US" sz="1200" spc="-1" strike="noStrike">
                <a:solidFill>
                  <a:srgbClr val="1d4ed8"/>
                </a:solidFill>
                <a:latin typeface="Consolas"/>
                <a:ea typeface="Consolas"/>
              </a:rPr>
              <a:t>VALUES</a:t>
            </a:r>
            <a:r>
              <a:rPr b="0" lang="en-US" sz="1200" spc="-1" strike="noStrike">
                <a:solidFill>
                  <a:srgbClr val="1f2933"/>
                </a:solidFill>
                <a:latin typeface="Consolas"/>
                <a:ea typeface="Consolas"/>
              </a:rPr>
              <a:t> (</a:t>
            </a:r>
            <a:r>
              <a:rPr b="0" lang="en-US" sz="1200" spc="-1" strike="noStrike">
                <a:solidFill>
                  <a:srgbClr val="b4441f"/>
                </a:solidFill>
                <a:latin typeface="Consolas"/>
                <a:ea typeface="Consolas"/>
              </a:rPr>
              <a:t>N'Lab4 A'</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BACKUP</a:t>
            </a:r>
            <a:r>
              <a:rPr b="0" lang="en-US" sz="1200" spc="-1" strike="noStrike">
                <a:solidFill>
                  <a:srgbClr val="1f2933"/>
                </a:solidFill>
                <a:latin typeface="Consolas"/>
                <a:ea typeface="Consolas"/>
              </a:rPr>
              <a:t> LOG Ventas</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TO DISK = </a:t>
            </a:r>
            <a:r>
              <a:rPr b="0" lang="en-US" sz="1200" spc="-1" strike="noStrike">
                <a:solidFill>
                  <a:srgbClr val="b4441f"/>
                </a:solidFill>
                <a:latin typeface="Consolas"/>
                <a:ea typeface="Consolas"/>
              </a:rPr>
              <a:t>N'/var/opt/mssql/backup/Ventas_L4_LOG1.trn'</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CHECKSUM</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INIT</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INSERT</a:t>
            </a:r>
            <a:r>
              <a:rPr b="0" lang="en-US" sz="1200" spc="-1" strike="noStrike">
                <a:solidFill>
                  <a:srgbClr val="1f2933"/>
                </a:solidFill>
                <a:latin typeface="Consolas"/>
                <a:ea typeface="Consolas"/>
              </a:rPr>
              <a:t> dbo.Cliente (Nombre) </a:t>
            </a:r>
            <a:r>
              <a:rPr b="1" lang="en-US" sz="1200" spc="-1" strike="noStrike">
                <a:solidFill>
                  <a:srgbClr val="1d4ed8"/>
                </a:solidFill>
                <a:latin typeface="Consolas"/>
                <a:ea typeface="Consolas"/>
              </a:rPr>
              <a:t>VALUES</a:t>
            </a:r>
            <a:r>
              <a:rPr b="0" lang="en-US" sz="1200" spc="-1" strike="noStrike">
                <a:solidFill>
                  <a:srgbClr val="1f2933"/>
                </a:solidFill>
                <a:latin typeface="Consolas"/>
                <a:ea typeface="Consolas"/>
              </a:rPr>
              <a:t> (</a:t>
            </a:r>
            <a:r>
              <a:rPr b="0" lang="en-US" sz="1200" spc="-1" strike="noStrike">
                <a:solidFill>
                  <a:srgbClr val="b4441f"/>
                </a:solidFill>
                <a:latin typeface="Consolas"/>
                <a:ea typeface="Consolas"/>
              </a:rPr>
              <a:t>N'Lab4 B'</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BACKUP</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DATABASE</a:t>
            </a:r>
            <a:r>
              <a:rPr b="0" lang="en-US" sz="1200" spc="-1" strike="noStrike">
                <a:solidFill>
                  <a:srgbClr val="1f2933"/>
                </a:solidFill>
                <a:latin typeface="Consolas"/>
                <a:ea typeface="Consolas"/>
              </a:rPr>
              <a:t> Ventas</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TO DISK = </a:t>
            </a:r>
            <a:r>
              <a:rPr b="0" lang="en-US" sz="1200" spc="-1" strike="noStrike">
                <a:solidFill>
                  <a:srgbClr val="b4441f"/>
                </a:solidFill>
                <a:latin typeface="Consolas"/>
                <a:ea typeface="Consolas"/>
              </a:rPr>
              <a:t>N'/var/opt/mssql/backup/Ventas_L4_DIFF.bak'</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DIFFERENTIAL</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CHECKSUM</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INIT</a:t>
            </a:r>
            <a:r>
              <a:rPr b="0" lang="en-US" sz="1200" spc="-1" strike="noStrike">
                <a:solidFill>
                  <a:srgbClr val="1f2933"/>
                </a:solidFill>
                <a:latin typeface="Consolas"/>
                <a:ea typeface="Consolas"/>
              </a:rPr>
              <a:t>;</a:t>
            </a:r>
            <a:endParaRPr b="0" lang="es-ES" sz="1200" spc="-1" strike="noStrike">
              <a:latin typeface="Arial"/>
            </a:endParaRPr>
          </a:p>
        </p:txBody>
      </p:sp>
      <p:sp>
        <p:nvSpPr>
          <p:cNvPr id="1883" name="CustomShape 8"/>
          <p:cNvSpPr/>
          <p:nvPr/>
        </p:nvSpPr>
        <p:spPr>
          <a:xfrm>
            <a:off x="7863840" y="1600200"/>
            <a:ext cx="3773880" cy="911880"/>
          </a:xfrm>
          <a:prstGeom prst="roundRect">
            <a:avLst>
              <a:gd name="adj" fmla="val 12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884" name="CustomShape 9"/>
          <p:cNvSpPr/>
          <p:nvPr/>
        </p:nvSpPr>
        <p:spPr>
          <a:xfrm>
            <a:off x="8046720" y="1783080"/>
            <a:ext cx="546120" cy="546120"/>
          </a:xfrm>
          <a:prstGeom prst="ellipse">
            <a:avLst/>
          </a:prstGeom>
          <a:solidFill>
            <a:srgbClr val="134074"/>
          </a:solidFill>
          <a:ln>
            <a:noFill/>
          </a:ln>
        </p:spPr>
        <p:style>
          <a:lnRef idx="0"/>
          <a:fillRef idx="0"/>
          <a:effectRef idx="0"/>
          <a:fontRef idx="minor"/>
        </p:style>
      </p:sp>
      <p:sp>
        <p:nvSpPr>
          <p:cNvPr id="1885" name="CustomShape 10"/>
          <p:cNvSpPr/>
          <p:nvPr/>
        </p:nvSpPr>
        <p:spPr>
          <a:xfrm>
            <a:off x="8046720" y="1783080"/>
            <a:ext cx="546120" cy="5461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1</a:t>
            </a:r>
            <a:endParaRPr b="0" lang="es-ES" sz="1800" spc="-1" strike="noStrike">
              <a:latin typeface="Arial"/>
            </a:endParaRPr>
          </a:p>
        </p:txBody>
      </p:sp>
      <p:sp>
        <p:nvSpPr>
          <p:cNvPr id="1886" name="CustomShape 11"/>
          <p:cNvSpPr/>
          <p:nvPr/>
        </p:nvSpPr>
        <p:spPr>
          <a:xfrm>
            <a:off x="8778240" y="1600200"/>
            <a:ext cx="2676600" cy="91188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Full en recovery Full</a:t>
            </a:r>
            <a:endParaRPr b="0" lang="es-ES" sz="1600" spc="-1" strike="noStrike">
              <a:latin typeface="Arial"/>
            </a:endParaRPr>
          </a:p>
          <a:p>
            <a:pPr>
              <a:lnSpc>
                <a:spcPct val="100000"/>
              </a:lnSpc>
              <a:tabLst>
                <a:tab algn="l" pos="0"/>
              </a:tabLst>
            </a:pPr>
            <a:r>
              <a:rPr b="0" lang="en-US" sz="1400" spc="-1" strike="noStrike">
                <a:solidFill>
                  <a:srgbClr val="1f2933"/>
                </a:solidFill>
                <a:latin typeface="Calibri"/>
                <a:ea typeface="Calibri"/>
              </a:rPr>
              <a:t>ALTER DATABASE y BACKUP DATABASE con CHECKSUM.</a:t>
            </a:r>
            <a:endParaRPr b="0" lang="es-ES" sz="1400" spc="-1" strike="noStrike">
              <a:latin typeface="Arial"/>
            </a:endParaRPr>
          </a:p>
        </p:txBody>
      </p:sp>
      <p:sp>
        <p:nvSpPr>
          <p:cNvPr id="1887" name="CustomShape 12"/>
          <p:cNvSpPr/>
          <p:nvPr/>
        </p:nvSpPr>
        <p:spPr>
          <a:xfrm>
            <a:off x="7863840" y="2761560"/>
            <a:ext cx="3773880" cy="911880"/>
          </a:xfrm>
          <a:prstGeom prst="roundRect">
            <a:avLst>
              <a:gd name="adj" fmla="val 12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888" name="CustomShape 13"/>
          <p:cNvSpPr/>
          <p:nvPr/>
        </p:nvSpPr>
        <p:spPr>
          <a:xfrm>
            <a:off x="8046720" y="2944440"/>
            <a:ext cx="546120" cy="546120"/>
          </a:xfrm>
          <a:prstGeom prst="ellipse">
            <a:avLst/>
          </a:prstGeom>
          <a:solidFill>
            <a:srgbClr val="134074"/>
          </a:solidFill>
          <a:ln>
            <a:noFill/>
          </a:ln>
        </p:spPr>
        <p:style>
          <a:lnRef idx="0"/>
          <a:fillRef idx="0"/>
          <a:effectRef idx="0"/>
          <a:fontRef idx="minor"/>
        </p:style>
      </p:sp>
      <p:sp>
        <p:nvSpPr>
          <p:cNvPr id="1889" name="CustomShape 14"/>
          <p:cNvSpPr/>
          <p:nvPr/>
        </p:nvSpPr>
        <p:spPr>
          <a:xfrm>
            <a:off x="8046720" y="2944440"/>
            <a:ext cx="546120" cy="5461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2</a:t>
            </a:r>
            <a:endParaRPr b="0" lang="es-ES" sz="1800" spc="-1" strike="noStrike">
              <a:latin typeface="Arial"/>
            </a:endParaRPr>
          </a:p>
        </p:txBody>
      </p:sp>
      <p:sp>
        <p:nvSpPr>
          <p:cNvPr id="1890" name="CustomShape 15"/>
          <p:cNvSpPr/>
          <p:nvPr/>
        </p:nvSpPr>
        <p:spPr>
          <a:xfrm>
            <a:off x="8778240" y="2761560"/>
            <a:ext cx="2676600" cy="91188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Log backup 1</a:t>
            </a:r>
            <a:endParaRPr b="0" lang="es-ES" sz="1600" spc="-1" strike="noStrike">
              <a:latin typeface="Arial"/>
            </a:endParaRPr>
          </a:p>
          <a:p>
            <a:pPr>
              <a:lnSpc>
                <a:spcPct val="100000"/>
              </a:lnSpc>
              <a:tabLst>
                <a:tab algn="l" pos="0"/>
              </a:tabLst>
            </a:pPr>
            <a:r>
              <a:rPr b="0" lang="en-US" sz="1400" spc="-1" strike="noStrike">
                <a:solidFill>
                  <a:srgbClr val="1f2933"/>
                </a:solidFill>
                <a:latin typeface="Calibri"/>
                <a:ea typeface="Calibri"/>
              </a:rPr>
              <a:t>Tras insertar datos, inicia la log chain.</a:t>
            </a:r>
            <a:endParaRPr b="0" lang="es-ES" sz="1400" spc="-1" strike="noStrike">
              <a:latin typeface="Arial"/>
            </a:endParaRPr>
          </a:p>
        </p:txBody>
      </p:sp>
      <p:sp>
        <p:nvSpPr>
          <p:cNvPr id="1891" name="CustomShape 16"/>
          <p:cNvSpPr/>
          <p:nvPr/>
        </p:nvSpPr>
        <p:spPr>
          <a:xfrm>
            <a:off x="7863840" y="3922920"/>
            <a:ext cx="3773880" cy="911880"/>
          </a:xfrm>
          <a:prstGeom prst="roundRect">
            <a:avLst>
              <a:gd name="adj" fmla="val 12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892" name="CustomShape 17"/>
          <p:cNvSpPr/>
          <p:nvPr/>
        </p:nvSpPr>
        <p:spPr>
          <a:xfrm>
            <a:off x="8046720" y="4105800"/>
            <a:ext cx="546120" cy="546120"/>
          </a:xfrm>
          <a:prstGeom prst="ellipse">
            <a:avLst/>
          </a:prstGeom>
          <a:solidFill>
            <a:srgbClr val="134074"/>
          </a:solidFill>
          <a:ln>
            <a:noFill/>
          </a:ln>
        </p:spPr>
        <p:style>
          <a:lnRef idx="0"/>
          <a:fillRef idx="0"/>
          <a:effectRef idx="0"/>
          <a:fontRef idx="minor"/>
        </p:style>
      </p:sp>
      <p:sp>
        <p:nvSpPr>
          <p:cNvPr id="1893" name="CustomShape 18"/>
          <p:cNvSpPr/>
          <p:nvPr/>
        </p:nvSpPr>
        <p:spPr>
          <a:xfrm>
            <a:off x="8046720" y="4105800"/>
            <a:ext cx="546120" cy="5461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3</a:t>
            </a:r>
            <a:endParaRPr b="0" lang="es-ES" sz="1800" spc="-1" strike="noStrike">
              <a:latin typeface="Arial"/>
            </a:endParaRPr>
          </a:p>
        </p:txBody>
      </p:sp>
      <p:sp>
        <p:nvSpPr>
          <p:cNvPr id="1894" name="CustomShape 19"/>
          <p:cNvSpPr/>
          <p:nvPr/>
        </p:nvSpPr>
        <p:spPr>
          <a:xfrm>
            <a:off x="8778240" y="3922920"/>
            <a:ext cx="2676600" cy="91188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Diferencial</a:t>
            </a:r>
            <a:endParaRPr b="0" lang="es-ES" sz="1600" spc="-1" strike="noStrike">
              <a:latin typeface="Arial"/>
            </a:endParaRPr>
          </a:p>
          <a:p>
            <a:pPr>
              <a:lnSpc>
                <a:spcPct val="100000"/>
              </a:lnSpc>
              <a:tabLst>
                <a:tab algn="l" pos="0"/>
              </a:tabLst>
            </a:pPr>
            <a:r>
              <a:rPr b="0" lang="en-US" sz="1400" spc="-1" strike="noStrike">
                <a:solidFill>
                  <a:srgbClr val="1f2933"/>
                </a:solidFill>
                <a:latin typeface="Calibri"/>
                <a:ea typeface="Calibri"/>
              </a:rPr>
              <a:t>Tras más actividad: WITH DIFFERENTIAL.</a:t>
            </a:r>
            <a:endParaRPr b="0" lang="es-ES" sz="1400" spc="-1" strike="noStrike">
              <a:latin typeface="Arial"/>
            </a:endParaRPr>
          </a:p>
        </p:txBody>
      </p:sp>
      <p:sp>
        <p:nvSpPr>
          <p:cNvPr id="1895" name="CustomShape 20"/>
          <p:cNvSpPr/>
          <p:nvPr/>
        </p:nvSpPr>
        <p:spPr>
          <a:xfrm>
            <a:off x="7863840" y="5083920"/>
            <a:ext cx="3773880" cy="911880"/>
          </a:xfrm>
          <a:prstGeom prst="roundRect">
            <a:avLst>
              <a:gd name="adj" fmla="val 12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896" name="CustomShape 21"/>
          <p:cNvSpPr/>
          <p:nvPr/>
        </p:nvSpPr>
        <p:spPr>
          <a:xfrm>
            <a:off x="8046720" y="5266800"/>
            <a:ext cx="546120" cy="546120"/>
          </a:xfrm>
          <a:prstGeom prst="ellipse">
            <a:avLst/>
          </a:prstGeom>
          <a:solidFill>
            <a:srgbClr val="134074"/>
          </a:solidFill>
          <a:ln>
            <a:noFill/>
          </a:ln>
        </p:spPr>
        <p:style>
          <a:lnRef idx="0"/>
          <a:fillRef idx="0"/>
          <a:effectRef idx="0"/>
          <a:fontRef idx="minor"/>
        </p:style>
      </p:sp>
      <p:sp>
        <p:nvSpPr>
          <p:cNvPr id="1897" name="CustomShape 22"/>
          <p:cNvSpPr/>
          <p:nvPr/>
        </p:nvSpPr>
        <p:spPr>
          <a:xfrm>
            <a:off x="8046720" y="5266800"/>
            <a:ext cx="546120" cy="5461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4</a:t>
            </a:r>
            <a:endParaRPr b="0" lang="es-ES" sz="1800" spc="-1" strike="noStrike">
              <a:latin typeface="Arial"/>
            </a:endParaRPr>
          </a:p>
        </p:txBody>
      </p:sp>
      <p:sp>
        <p:nvSpPr>
          <p:cNvPr id="1898" name="CustomShape 23"/>
          <p:cNvSpPr/>
          <p:nvPr/>
        </p:nvSpPr>
        <p:spPr>
          <a:xfrm>
            <a:off x="8778240" y="5083920"/>
            <a:ext cx="2676600" cy="91188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Segundo log backup</a:t>
            </a:r>
            <a:endParaRPr b="0" lang="es-ES" sz="1600" spc="-1" strike="noStrike">
              <a:latin typeface="Arial"/>
            </a:endParaRPr>
          </a:p>
          <a:p>
            <a:pPr>
              <a:lnSpc>
                <a:spcPct val="100000"/>
              </a:lnSpc>
              <a:tabLst>
                <a:tab algn="l" pos="0"/>
              </a:tabLst>
            </a:pPr>
            <a:r>
              <a:rPr b="0" lang="en-US" sz="1400" spc="-1" strike="noStrike">
                <a:solidFill>
                  <a:srgbClr val="1f2933"/>
                </a:solidFill>
                <a:latin typeface="Calibri"/>
                <a:ea typeface="Calibri"/>
              </a:rPr>
              <a:t>Un cliente más y BACKUP LOG; anota el COUNT.</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899" name="CustomShape 1"/>
          <p:cNvSpPr/>
          <p:nvPr/>
        </p:nvSpPr>
        <p:spPr>
          <a:xfrm>
            <a:off x="548640" y="365760"/>
            <a:ext cx="3755520" cy="271800"/>
          </a:xfrm>
          <a:prstGeom prst="roundRect">
            <a:avLst>
              <a:gd name="adj" fmla="val 50000"/>
            </a:avLst>
          </a:prstGeom>
          <a:solidFill>
            <a:srgbClr val="d95d39"/>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LABORATORIO · LABORATORIO 4 · DESASTRE</a:t>
            </a:r>
            <a:endParaRPr b="0" lang="es-ES" sz="1000" spc="-1" strike="noStrike">
              <a:latin typeface="Arial"/>
            </a:endParaRPr>
          </a:p>
        </p:txBody>
      </p:sp>
      <p:sp>
        <p:nvSpPr>
          <p:cNvPr id="1900"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Simular la pérdida de datos y el tail-log</a:t>
            </a:r>
            <a:endParaRPr b="0" lang="es-ES" sz="3400" spc="-1" strike="noStrike">
              <a:latin typeface="Arial"/>
            </a:endParaRPr>
          </a:p>
        </p:txBody>
      </p:sp>
      <p:sp>
        <p:nvSpPr>
          <p:cNvPr id="1901"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902"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4   78</a:t>
            </a:r>
            <a:endParaRPr b="0" lang="es-ES" sz="1000" spc="-1" strike="noStrike">
              <a:latin typeface="Arial"/>
            </a:endParaRPr>
          </a:p>
        </p:txBody>
      </p:sp>
      <p:sp>
        <p:nvSpPr>
          <p:cNvPr id="1903" name="CustomShape 5"/>
          <p:cNvSpPr/>
          <p:nvPr/>
        </p:nvSpPr>
        <p:spPr>
          <a:xfrm>
            <a:off x="548640" y="1600200"/>
            <a:ext cx="4569480" cy="911880"/>
          </a:xfrm>
          <a:prstGeom prst="roundRect">
            <a:avLst>
              <a:gd name="adj" fmla="val 12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904" name="CustomShape 6"/>
          <p:cNvSpPr/>
          <p:nvPr/>
        </p:nvSpPr>
        <p:spPr>
          <a:xfrm>
            <a:off x="731520" y="1783080"/>
            <a:ext cx="546120" cy="546120"/>
          </a:xfrm>
          <a:prstGeom prst="ellipse">
            <a:avLst/>
          </a:prstGeom>
          <a:solidFill>
            <a:srgbClr val="134074"/>
          </a:solidFill>
          <a:ln>
            <a:noFill/>
          </a:ln>
        </p:spPr>
        <p:style>
          <a:lnRef idx="0"/>
          <a:fillRef idx="0"/>
          <a:effectRef idx="0"/>
          <a:fontRef idx="minor"/>
        </p:style>
      </p:sp>
      <p:sp>
        <p:nvSpPr>
          <p:cNvPr id="1905" name="CustomShape 7"/>
          <p:cNvSpPr/>
          <p:nvPr/>
        </p:nvSpPr>
        <p:spPr>
          <a:xfrm>
            <a:off x="731520" y="1783080"/>
            <a:ext cx="546120" cy="5461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1</a:t>
            </a:r>
            <a:endParaRPr b="0" lang="es-ES" sz="1800" spc="-1" strike="noStrike">
              <a:latin typeface="Arial"/>
            </a:endParaRPr>
          </a:p>
        </p:txBody>
      </p:sp>
      <p:sp>
        <p:nvSpPr>
          <p:cNvPr id="1906" name="CustomShape 8"/>
          <p:cNvSpPr/>
          <p:nvPr/>
        </p:nvSpPr>
        <p:spPr>
          <a:xfrm>
            <a:off x="1463040" y="1600200"/>
            <a:ext cx="3472200" cy="91188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Anota HoraOK</a:t>
            </a:r>
            <a:endParaRPr b="0" lang="es-ES" sz="1600" spc="-1" strike="noStrike">
              <a:latin typeface="Arial"/>
            </a:endParaRPr>
          </a:p>
          <a:p>
            <a:pPr>
              <a:lnSpc>
                <a:spcPct val="100000"/>
              </a:lnSpc>
              <a:tabLst>
                <a:tab algn="l" pos="0"/>
              </a:tabLst>
            </a:pPr>
            <a:r>
              <a:rPr b="0" lang="en-US" sz="1400" spc="-1" strike="noStrike">
                <a:solidFill>
                  <a:srgbClr val="1f2933"/>
                </a:solidFill>
                <a:latin typeface="Calibri"/>
                <a:ea typeface="Calibri"/>
              </a:rPr>
              <a:t>SELECT SYSDATETIME() antes del accidente.</a:t>
            </a:r>
            <a:endParaRPr b="0" lang="es-ES" sz="1400" spc="-1" strike="noStrike">
              <a:latin typeface="Arial"/>
            </a:endParaRPr>
          </a:p>
        </p:txBody>
      </p:sp>
      <p:sp>
        <p:nvSpPr>
          <p:cNvPr id="1907" name="CustomShape 9"/>
          <p:cNvSpPr/>
          <p:nvPr/>
        </p:nvSpPr>
        <p:spPr>
          <a:xfrm>
            <a:off x="548640" y="2788920"/>
            <a:ext cx="4569480" cy="911880"/>
          </a:xfrm>
          <a:prstGeom prst="roundRect">
            <a:avLst>
              <a:gd name="adj" fmla="val 12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908" name="CustomShape 10"/>
          <p:cNvSpPr/>
          <p:nvPr/>
        </p:nvSpPr>
        <p:spPr>
          <a:xfrm>
            <a:off x="731520" y="2971800"/>
            <a:ext cx="546120" cy="546120"/>
          </a:xfrm>
          <a:prstGeom prst="ellipse">
            <a:avLst/>
          </a:prstGeom>
          <a:solidFill>
            <a:srgbClr val="134074"/>
          </a:solidFill>
          <a:ln>
            <a:noFill/>
          </a:ln>
        </p:spPr>
        <p:style>
          <a:lnRef idx="0"/>
          <a:fillRef idx="0"/>
          <a:effectRef idx="0"/>
          <a:fontRef idx="minor"/>
        </p:style>
      </p:sp>
      <p:sp>
        <p:nvSpPr>
          <p:cNvPr id="1909" name="CustomShape 11"/>
          <p:cNvSpPr/>
          <p:nvPr/>
        </p:nvSpPr>
        <p:spPr>
          <a:xfrm>
            <a:off x="731520" y="2971800"/>
            <a:ext cx="546120" cy="5461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2</a:t>
            </a:r>
            <a:endParaRPr b="0" lang="es-ES" sz="1800" spc="-1" strike="noStrike">
              <a:latin typeface="Arial"/>
            </a:endParaRPr>
          </a:p>
        </p:txBody>
      </p:sp>
      <p:sp>
        <p:nvSpPr>
          <p:cNvPr id="1910" name="CustomShape 12"/>
          <p:cNvSpPr/>
          <p:nvPr/>
        </p:nvSpPr>
        <p:spPr>
          <a:xfrm>
            <a:off x="1463040" y="2788920"/>
            <a:ext cx="3472200" cy="91188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Provoca el error</a:t>
            </a:r>
            <a:endParaRPr b="0" lang="es-ES" sz="1600" spc="-1" strike="noStrike">
              <a:latin typeface="Arial"/>
            </a:endParaRPr>
          </a:p>
          <a:p>
            <a:pPr>
              <a:lnSpc>
                <a:spcPct val="100000"/>
              </a:lnSpc>
              <a:tabLst>
                <a:tab algn="l" pos="0"/>
              </a:tabLst>
            </a:pPr>
            <a:r>
              <a:rPr b="0" lang="en-US" sz="1400" spc="-1" strike="noStrike">
                <a:solidFill>
                  <a:srgbClr val="1f2933"/>
                </a:solidFill>
                <a:latin typeface="Calibri"/>
                <a:ea typeface="Calibri"/>
              </a:rPr>
              <a:t>DELETE sin WHERE sobre dbo.Pedido.</a:t>
            </a:r>
            <a:endParaRPr b="0" lang="es-ES" sz="1400" spc="-1" strike="noStrike">
              <a:latin typeface="Arial"/>
            </a:endParaRPr>
          </a:p>
        </p:txBody>
      </p:sp>
      <p:sp>
        <p:nvSpPr>
          <p:cNvPr id="1911" name="CustomShape 13"/>
          <p:cNvSpPr/>
          <p:nvPr/>
        </p:nvSpPr>
        <p:spPr>
          <a:xfrm>
            <a:off x="548640" y="3977640"/>
            <a:ext cx="4569480" cy="911880"/>
          </a:xfrm>
          <a:prstGeom prst="roundRect">
            <a:avLst>
              <a:gd name="adj" fmla="val 12000"/>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912" name="CustomShape 14"/>
          <p:cNvSpPr/>
          <p:nvPr/>
        </p:nvSpPr>
        <p:spPr>
          <a:xfrm>
            <a:off x="731520" y="4160520"/>
            <a:ext cx="546120" cy="546120"/>
          </a:xfrm>
          <a:prstGeom prst="ellipse">
            <a:avLst/>
          </a:prstGeom>
          <a:solidFill>
            <a:srgbClr val="134074"/>
          </a:solidFill>
          <a:ln>
            <a:noFill/>
          </a:ln>
        </p:spPr>
        <p:style>
          <a:lnRef idx="0"/>
          <a:fillRef idx="0"/>
          <a:effectRef idx="0"/>
          <a:fontRef idx="minor"/>
        </p:style>
      </p:sp>
      <p:sp>
        <p:nvSpPr>
          <p:cNvPr id="1913" name="CustomShape 15"/>
          <p:cNvSpPr/>
          <p:nvPr/>
        </p:nvSpPr>
        <p:spPr>
          <a:xfrm>
            <a:off x="731520" y="4160520"/>
            <a:ext cx="546120" cy="54612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800" spc="-1" strike="noStrike">
                <a:solidFill>
                  <a:srgbClr val="ffffff"/>
                </a:solidFill>
                <a:latin typeface="Calibri"/>
                <a:ea typeface="Calibri"/>
              </a:rPr>
              <a:t>3</a:t>
            </a:r>
            <a:endParaRPr b="0" lang="es-ES" sz="1800" spc="-1" strike="noStrike">
              <a:latin typeface="Arial"/>
            </a:endParaRPr>
          </a:p>
        </p:txBody>
      </p:sp>
      <p:sp>
        <p:nvSpPr>
          <p:cNvPr id="1914" name="CustomShape 16"/>
          <p:cNvSpPr/>
          <p:nvPr/>
        </p:nvSpPr>
        <p:spPr>
          <a:xfrm>
            <a:off x="1463040" y="3977640"/>
            <a:ext cx="3472200" cy="91188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Salva la cola</a:t>
            </a:r>
            <a:endParaRPr b="0" lang="es-ES" sz="1600" spc="-1" strike="noStrike">
              <a:latin typeface="Arial"/>
            </a:endParaRPr>
          </a:p>
          <a:p>
            <a:pPr>
              <a:lnSpc>
                <a:spcPct val="100000"/>
              </a:lnSpc>
              <a:tabLst>
                <a:tab algn="l" pos="0"/>
              </a:tabLst>
            </a:pPr>
            <a:r>
              <a:rPr b="0" lang="en-US" sz="1400" spc="-1" strike="noStrike">
                <a:solidFill>
                  <a:srgbClr val="1f2933"/>
                </a:solidFill>
                <a:latin typeface="Calibri"/>
                <a:ea typeface="Calibri"/>
              </a:rPr>
              <a:t>Tail-log con NORECOVERY: la BD pasa a RESTORING.</a:t>
            </a:r>
            <a:endParaRPr b="0" lang="es-ES" sz="1400" spc="-1" strike="noStrike">
              <a:latin typeface="Arial"/>
            </a:endParaRPr>
          </a:p>
        </p:txBody>
      </p:sp>
      <p:sp>
        <p:nvSpPr>
          <p:cNvPr id="1915" name="CustomShape 17"/>
          <p:cNvSpPr/>
          <p:nvPr/>
        </p:nvSpPr>
        <p:spPr>
          <a:xfrm>
            <a:off x="5394960" y="1600200"/>
            <a:ext cx="6242760" cy="3380760"/>
          </a:xfrm>
          <a:prstGeom prst="roundRect">
            <a:avLst>
              <a:gd name="adj" fmla="val 2703"/>
            </a:avLst>
          </a:prstGeom>
          <a:solidFill>
            <a:srgbClr val="eceff3"/>
          </a:solidFill>
          <a:ln w="9360">
            <a:solidFill>
              <a:srgbClr val="d0d7de"/>
            </a:solidFill>
            <a:round/>
          </a:ln>
        </p:spPr>
        <p:style>
          <a:lnRef idx="0"/>
          <a:fillRef idx="0"/>
          <a:effectRef idx="0"/>
          <a:fontRef idx="minor"/>
        </p:style>
      </p:sp>
      <p:sp>
        <p:nvSpPr>
          <p:cNvPr id="1916" name="CustomShape 18"/>
          <p:cNvSpPr/>
          <p:nvPr/>
        </p:nvSpPr>
        <p:spPr>
          <a:xfrm>
            <a:off x="557784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a:t>
            </a:r>
            <a:endParaRPr b="0" lang="es-ES" sz="1000" spc="-1" strike="noStrike">
              <a:latin typeface="Arial"/>
            </a:endParaRPr>
          </a:p>
        </p:txBody>
      </p:sp>
      <p:sp>
        <p:nvSpPr>
          <p:cNvPr id="1917" name="CustomShape 19"/>
          <p:cNvSpPr/>
          <p:nvPr/>
        </p:nvSpPr>
        <p:spPr>
          <a:xfrm>
            <a:off x="5577840" y="1965960"/>
            <a:ext cx="5877000" cy="292356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USE</a:t>
            </a:r>
            <a:r>
              <a:rPr b="0" lang="en-US" sz="1200" spc="-1" strike="noStrike">
                <a:solidFill>
                  <a:srgbClr val="1f2933"/>
                </a:solidFill>
                <a:latin typeface="Consolas"/>
                <a:ea typeface="Consolas"/>
              </a:rPr>
              <a:t> Ventas;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COUNT(*)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Pedidos </a:t>
            </a: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dbo.Pedido;</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SYSDATETIME()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HoraOK;    </a:t>
            </a:r>
            <a:r>
              <a:rPr b="0" i="1" lang="en-US" sz="1200" spc="-1" strike="noStrike">
                <a:solidFill>
                  <a:srgbClr val="6b7280"/>
                </a:solidFill>
                <a:latin typeface="Consolas"/>
                <a:ea typeface="Consolas"/>
              </a:rPr>
              <a:t>-- anótala</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WAITFOR DELAY </a:t>
            </a:r>
            <a:r>
              <a:rPr b="0" lang="en-US" sz="1200" spc="-1" strike="noStrike">
                <a:solidFill>
                  <a:srgbClr val="b4441f"/>
                </a:solidFill>
                <a:latin typeface="Consolas"/>
                <a:ea typeface="Consolas"/>
              </a:rPr>
              <a:t>'00:00:05'</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DELETE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dbo.Pedido;            </a:t>
            </a:r>
            <a:r>
              <a:rPr b="0" i="1" lang="en-US" sz="1200" spc="-1" strike="noStrike">
                <a:solidFill>
                  <a:srgbClr val="6b7280"/>
                </a:solidFill>
                <a:latin typeface="Consolas"/>
                <a:ea typeface="Consolas"/>
              </a:rPr>
              <a:t>-- "accidente"</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USE</a:t>
            </a:r>
            <a:r>
              <a:rPr b="0" lang="en-US" sz="1200" spc="-1" strike="noStrike">
                <a:solidFill>
                  <a:srgbClr val="1f2933"/>
                </a:solidFill>
                <a:latin typeface="Consolas"/>
                <a:ea typeface="Consolas"/>
              </a:rPr>
              <a:t> master;</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BACKUP</a:t>
            </a:r>
            <a:r>
              <a:rPr b="0" lang="en-US" sz="1200" spc="-1" strike="noStrike">
                <a:solidFill>
                  <a:srgbClr val="1f2933"/>
                </a:solidFill>
                <a:latin typeface="Consolas"/>
                <a:ea typeface="Consolas"/>
              </a:rPr>
              <a:t> LOG Ventas</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TO DISK = </a:t>
            </a:r>
            <a:r>
              <a:rPr b="0" lang="en-US" sz="1200" spc="-1" strike="noStrike">
                <a:solidFill>
                  <a:srgbClr val="b4441f"/>
                </a:solidFill>
                <a:latin typeface="Consolas"/>
                <a:ea typeface="Consolas"/>
              </a:rPr>
              <a:t>N'/var/opt/mssql/backup/Ventas_L4_TAIL.trn'</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NORECOVERY</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CHECKSUM</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INIT</a:t>
            </a:r>
            <a:r>
              <a:rPr b="0" lang="en-US" sz="1200" spc="-1" strike="noStrike">
                <a:solidFill>
                  <a:srgbClr val="1f2933"/>
                </a:solidFill>
                <a:latin typeface="Consolas"/>
                <a:ea typeface="Consolas"/>
              </a:rPr>
              <a:t>;</a:t>
            </a:r>
            <a:endParaRPr b="0" lang="es-ES" sz="1200" spc="-1" strike="noStrike">
              <a:latin typeface="Arial"/>
            </a:endParaRPr>
          </a:p>
        </p:txBody>
      </p:sp>
      <p:sp>
        <p:nvSpPr>
          <p:cNvPr id="1918" name="CustomShape 20"/>
          <p:cNvSpPr/>
          <p:nvPr/>
        </p:nvSpPr>
        <p:spPr>
          <a:xfrm>
            <a:off x="548640" y="5257800"/>
            <a:ext cx="11089080" cy="911880"/>
          </a:xfrm>
          <a:prstGeom prst="roundRect">
            <a:avLst>
              <a:gd name="adj" fmla="val 12000"/>
            </a:avLst>
          </a:prstGeom>
          <a:solidFill>
            <a:srgbClr val="fdede8"/>
          </a:solidFill>
          <a:ln>
            <a:noFill/>
          </a:ln>
        </p:spPr>
        <p:style>
          <a:lnRef idx="0"/>
          <a:fillRef idx="0"/>
          <a:effectRef idx="0"/>
          <a:fontRef idx="minor"/>
        </p:style>
      </p:sp>
      <p:sp>
        <p:nvSpPr>
          <p:cNvPr id="1919" name="CustomShape 21"/>
          <p:cNvSpPr/>
          <p:nvPr/>
        </p:nvSpPr>
        <p:spPr>
          <a:xfrm>
            <a:off x="731520" y="5486400"/>
            <a:ext cx="454680" cy="454680"/>
          </a:xfrm>
          <a:prstGeom prst="ellipse">
            <a:avLst/>
          </a:prstGeom>
          <a:solidFill>
            <a:srgbClr val="d95d39"/>
          </a:solidFill>
          <a:ln>
            <a:noFill/>
          </a:ln>
        </p:spPr>
        <p:style>
          <a:lnRef idx="0"/>
          <a:fillRef idx="0"/>
          <a:effectRef idx="0"/>
          <a:fontRef idx="minor"/>
        </p:style>
      </p:sp>
      <p:pic>
        <p:nvPicPr>
          <p:cNvPr id="1920" name="Image 0" descr="preencoded.png"/>
          <p:cNvPicPr/>
          <p:nvPr/>
        </p:nvPicPr>
        <p:blipFill>
          <a:blip r:embed="rId1"/>
          <a:stretch/>
        </p:blipFill>
        <p:spPr>
          <a:xfrm>
            <a:off x="846000" y="5600880"/>
            <a:ext cx="226080" cy="226080"/>
          </a:xfrm>
          <a:prstGeom prst="rect">
            <a:avLst/>
          </a:prstGeom>
          <a:ln>
            <a:noFill/>
          </a:ln>
        </p:spPr>
      </p:pic>
      <p:sp>
        <p:nvSpPr>
          <p:cNvPr id="1921" name="CustomShape 22"/>
          <p:cNvSpPr/>
          <p:nvPr/>
        </p:nvSpPr>
        <p:spPr>
          <a:xfrm>
            <a:off x="1371600" y="5257800"/>
            <a:ext cx="10083240" cy="9118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a8431f"/>
                </a:solidFill>
                <a:latin typeface="Calibri"/>
                <a:ea typeface="Calibri"/>
              </a:rPr>
              <a:t>Trampa: </a:t>
            </a:r>
            <a:r>
              <a:rPr b="0" lang="en-US" sz="1400" spc="-1" strike="noStrike">
                <a:solidFill>
                  <a:srgbClr val="1f2933"/>
                </a:solidFill>
                <a:latin typeface="Calibri"/>
                <a:ea typeface="Calibri"/>
              </a:rPr>
              <a:t>si hay conexiones abiertas a Ventas, usa ALTER DATABASE … SET SINGLE_USER WITH ROLLBACK IMMEDIATE antes del tail-log.</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922" name="CustomShape 1"/>
          <p:cNvSpPr/>
          <p:nvPr/>
        </p:nvSpPr>
        <p:spPr>
          <a:xfrm>
            <a:off x="548640" y="365760"/>
            <a:ext cx="4103280" cy="271800"/>
          </a:xfrm>
          <a:prstGeom prst="roundRect">
            <a:avLst>
              <a:gd name="adj" fmla="val 50000"/>
            </a:avLst>
          </a:prstGeom>
          <a:solidFill>
            <a:srgbClr val="d95d39"/>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LABORATORIO · LABORATORIO 4 · RESTAURACIÓN</a:t>
            </a:r>
            <a:endParaRPr b="0" lang="es-ES" sz="1000" spc="-1" strike="noStrike">
              <a:latin typeface="Arial"/>
            </a:endParaRPr>
          </a:p>
        </p:txBody>
      </p:sp>
      <p:sp>
        <p:nvSpPr>
          <p:cNvPr id="1923"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Restaurar a un punto en el tiempo</a:t>
            </a:r>
            <a:endParaRPr b="0" lang="es-ES" sz="3400" spc="-1" strike="noStrike">
              <a:latin typeface="Arial"/>
            </a:endParaRPr>
          </a:p>
        </p:txBody>
      </p:sp>
      <p:sp>
        <p:nvSpPr>
          <p:cNvPr id="1924"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925"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4   79</a:t>
            </a:r>
            <a:endParaRPr b="0" lang="es-ES" sz="1000" spc="-1" strike="noStrike">
              <a:latin typeface="Arial"/>
            </a:endParaRPr>
          </a:p>
        </p:txBody>
      </p:sp>
      <p:sp>
        <p:nvSpPr>
          <p:cNvPr id="1926" name="CustomShape 5"/>
          <p:cNvSpPr/>
          <p:nvPr/>
        </p:nvSpPr>
        <p:spPr>
          <a:xfrm>
            <a:off x="548640" y="1600200"/>
            <a:ext cx="7038360" cy="4569480"/>
          </a:xfrm>
          <a:prstGeom prst="roundRect">
            <a:avLst>
              <a:gd name="adj" fmla="val 2000"/>
            </a:avLst>
          </a:prstGeom>
          <a:solidFill>
            <a:srgbClr val="eceff3"/>
          </a:solidFill>
          <a:ln w="9360">
            <a:solidFill>
              <a:srgbClr val="d0d7de"/>
            </a:solidFill>
            <a:round/>
          </a:ln>
        </p:spPr>
        <p:style>
          <a:lnRef idx="0"/>
          <a:fillRef idx="0"/>
          <a:effectRef idx="0"/>
          <a:fontRef idx="minor"/>
        </p:style>
      </p:sp>
      <p:sp>
        <p:nvSpPr>
          <p:cNvPr id="1927" name="CustomShape 6"/>
          <p:cNvSpPr/>
          <p:nvPr/>
        </p:nvSpPr>
        <p:spPr>
          <a:xfrm>
            <a:off x="731520" y="1691640"/>
            <a:ext cx="2740680" cy="2260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80" strike="noStrike">
                <a:solidFill>
                  <a:srgbClr val="134074"/>
                </a:solidFill>
                <a:latin typeface="Calibri"/>
                <a:ea typeface="Calibri"/>
              </a:rPr>
              <a:t>T-SQL</a:t>
            </a:r>
            <a:endParaRPr b="0" lang="es-ES" sz="1000" spc="-1" strike="noStrike">
              <a:latin typeface="Arial"/>
            </a:endParaRPr>
          </a:p>
        </p:txBody>
      </p:sp>
      <p:sp>
        <p:nvSpPr>
          <p:cNvPr id="1928" name="CustomShape 7"/>
          <p:cNvSpPr/>
          <p:nvPr/>
        </p:nvSpPr>
        <p:spPr>
          <a:xfrm>
            <a:off x="731520" y="1965960"/>
            <a:ext cx="6672600" cy="4112280"/>
          </a:xfrm>
          <a:prstGeom prst="rect">
            <a:avLst/>
          </a:prstGeom>
          <a:noFill/>
          <a:ln>
            <a:noFill/>
          </a:ln>
        </p:spPr>
        <p:style>
          <a:lnRef idx="0"/>
          <a:fillRef idx="0"/>
          <a:effectRef idx="0"/>
          <a:fontRef idx="minor"/>
        </p:style>
        <p:txBody>
          <a:bodyPr wrap="none" lIns="0" rIns="0" tIns="0" bIns="0">
            <a:noAutofit/>
          </a:bodyPr>
          <a:p>
            <a:pPr>
              <a:lnSpc>
                <a:spcPct val="100000"/>
              </a:lnSpc>
              <a:tabLst>
                <a:tab algn="l" pos="0"/>
              </a:tabLst>
            </a:pPr>
            <a:r>
              <a:rPr b="1" lang="en-US" sz="1200" spc="-1" strike="noStrike">
                <a:solidFill>
                  <a:srgbClr val="1d4ed8"/>
                </a:solidFill>
                <a:latin typeface="Consolas"/>
                <a:ea typeface="Consolas"/>
              </a:rPr>
              <a:t>USE</a:t>
            </a:r>
            <a:r>
              <a:rPr b="0" lang="en-US" sz="1200" spc="-1" strike="noStrike">
                <a:solidFill>
                  <a:srgbClr val="1f2933"/>
                </a:solidFill>
                <a:latin typeface="Consolas"/>
                <a:ea typeface="Consolas"/>
              </a:rPr>
              <a:t> master;</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RESTORE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DATABASE</a:t>
            </a:r>
            <a:r>
              <a:rPr b="0" lang="en-US" sz="1200" spc="-1" strike="noStrike">
                <a:solidFill>
                  <a:srgbClr val="1f2933"/>
                </a:solidFill>
                <a:latin typeface="Consolas"/>
                <a:ea typeface="Consolas"/>
              </a:rPr>
              <a:t> Ventas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DISK = </a:t>
            </a:r>
            <a:r>
              <a:rPr b="0" lang="en-US" sz="1200" spc="-1" strike="noStrike">
                <a:solidFill>
                  <a:srgbClr val="b4441f"/>
                </a:solidFill>
                <a:latin typeface="Consolas"/>
                <a:ea typeface="Consolas"/>
              </a:rPr>
              <a:t>N'/var/opt/mssql/backup/Ventas_L4_FULL.bak'</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NORECOVERY</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REPLACE</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RESTORE</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DATABASE</a:t>
            </a:r>
            <a:r>
              <a:rPr b="0" lang="en-US" sz="1200" spc="-1" strike="noStrike">
                <a:solidFill>
                  <a:srgbClr val="1f2933"/>
                </a:solidFill>
                <a:latin typeface="Consolas"/>
                <a:ea typeface="Consolas"/>
              </a:rPr>
              <a:t> Ventas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DISK = </a:t>
            </a:r>
            <a:r>
              <a:rPr b="0" lang="en-US" sz="1200" spc="-1" strike="noStrike">
                <a:solidFill>
                  <a:srgbClr val="b4441f"/>
                </a:solidFill>
                <a:latin typeface="Consolas"/>
                <a:ea typeface="Consolas"/>
              </a:rPr>
              <a:t>N'/var/opt/mssql/backup/Ventas_L4_DIFF.bak'</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NORECOVERY</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RESTORE</a:t>
            </a:r>
            <a:r>
              <a:rPr b="0" lang="en-US" sz="1200" spc="-1" strike="noStrike">
                <a:solidFill>
                  <a:srgbClr val="1f2933"/>
                </a:solidFill>
                <a:latin typeface="Consolas"/>
                <a:ea typeface="Consolas"/>
              </a:rPr>
              <a:t> LOG Ventas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DISK = </a:t>
            </a:r>
            <a:r>
              <a:rPr b="0" lang="en-US" sz="1200" spc="-1" strike="noStrike">
                <a:solidFill>
                  <a:srgbClr val="b4441f"/>
                </a:solidFill>
                <a:latin typeface="Consolas"/>
                <a:ea typeface="Consolas"/>
              </a:rPr>
              <a:t>N'/var/opt/mssql/backup/Ventas_L4_LOG1.trn'</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NORECOVERY</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RESTORE</a:t>
            </a:r>
            <a:r>
              <a:rPr b="0" lang="en-US" sz="1200" spc="-1" strike="noStrike">
                <a:solidFill>
                  <a:srgbClr val="1f2933"/>
                </a:solidFill>
                <a:latin typeface="Consolas"/>
                <a:ea typeface="Consolas"/>
              </a:rPr>
              <a:t> LOG Ventas</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DISK = </a:t>
            </a:r>
            <a:r>
              <a:rPr b="0" lang="en-US" sz="1200" spc="-1" strike="noStrike">
                <a:solidFill>
                  <a:srgbClr val="b4441f"/>
                </a:solidFill>
                <a:latin typeface="Consolas"/>
                <a:ea typeface="Consolas"/>
              </a:rPr>
              <a:t>N'/var/opt/mssql/backup/Ventas_L4_TAIL.trn'</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WITH</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STOPAT</a:t>
            </a:r>
            <a:r>
              <a:rPr b="0" lang="en-US" sz="1200" spc="-1" strike="noStrike">
                <a:solidFill>
                  <a:srgbClr val="1f2933"/>
                </a:solidFill>
                <a:latin typeface="Consolas"/>
                <a:ea typeface="Consolas"/>
              </a:rPr>
              <a:t> = </a:t>
            </a:r>
            <a:r>
              <a:rPr b="0" lang="en-US" sz="1200" spc="-1" strike="noStrike">
                <a:solidFill>
                  <a:srgbClr val="b4441f"/>
                </a:solidFill>
                <a:latin typeface="Consolas"/>
                <a:ea typeface="Consolas"/>
              </a:rPr>
              <a:t>N'2025-03-12T10:36:00'</a:t>
            </a:r>
            <a:r>
              <a:rPr b="0" lang="en-US" sz="1200" spc="-1" strike="noStrike">
                <a:solidFill>
                  <a:srgbClr val="1f2933"/>
                </a:solidFill>
                <a:latin typeface="Consolas"/>
                <a:ea typeface="Consolas"/>
              </a:rPr>
              <a:t>, </a:t>
            </a:r>
            <a:r>
              <a:rPr b="1" lang="en-US" sz="1200" spc="-1" strike="noStrike">
                <a:solidFill>
                  <a:srgbClr val="1d4ed8"/>
                </a:solidFill>
                <a:latin typeface="Consolas"/>
                <a:ea typeface="Consolas"/>
              </a:rPr>
              <a:t>RECOVERY</a:t>
            </a:r>
            <a:r>
              <a:rPr b="0" lang="en-US" sz="1200" spc="-1" strike="noStrike">
                <a:solidFill>
                  <a:srgbClr val="1f2933"/>
                </a:solidFill>
                <a:latin typeface="Consolas"/>
                <a:ea typeface="Consolas"/>
              </a:rPr>
              <a:t>;</a:t>
            </a:r>
            <a:endParaRPr b="0" lang="es-ES" sz="1200" spc="-1" strike="noStrike">
              <a:latin typeface="Arial"/>
            </a:endParaRPr>
          </a:p>
          <a:p>
            <a:pPr>
              <a:lnSpc>
                <a:spcPct val="100000"/>
              </a:lnSpc>
              <a:tabLst>
                <a:tab algn="l" pos="0"/>
              </a:tabLst>
            </a:pPr>
            <a:r>
              <a:rPr b="0" lang="en-US" sz="1200" spc="-1" strike="noStrike">
                <a:solidFill>
                  <a:srgbClr val="1f2933"/>
                </a:solidFill>
                <a:latin typeface="Consolas"/>
                <a:ea typeface="Consolas"/>
              </a:rPr>
              <a:t> </a:t>
            </a:r>
            <a:endParaRPr b="0" lang="es-ES" sz="1200" spc="-1" strike="noStrike">
              <a:latin typeface="Arial"/>
            </a:endParaRPr>
          </a:p>
          <a:p>
            <a:pPr>
              <a:lnSpc>
                <a:spcPct val="100000"/>
              </a:lnSpc>
              <a:tabLst>
                <a:tab algn="l" pos="0"/>
              </a:tabLst>
            </a:pPr>
            <a:r>
              <a:rPr b="1" lang="en-US" sz="1200" spc="-1" strike="noStrike">
                <a:solidFill>
                  <a:srgbClr val="1d4ed8"/>
                </a:solidFill>
                <a:latin typeface="Consolas"/>
                <a:ea typeface="Consolas"/>
              </a:rPr>
              <a:t>SELECT</a:t>
            </a:r>
            <a:r>
              <a:rPr b="0" lang="en-US" sz="1200" spc="-1" strike="noStrike">
                <a:solidFill>
                  <a:srgbClr val="1f2933"/>
                </a:solidFill>
                <a:latin typeface="Consolas"/>
                <a:ea typeface="Consolas"/>
              </a:rPr>
              <a:t> COUNT(*) </a:t>
            </a:r>
            <a:r>
              <a:rPr b="1" lang="en-US" sz="1200" spc="-1" strike="noStrike">
                <a:solidFill>
                  <a:srgbClr val="1d4ed8"/>
                </a:solidFill>
                <a:latin typeface="Consolas"/>
                <a:ea typeface="Consolas"/>
              </a:rPr>
              <a:t>AS</a:t>
            </a:r>
            <a:r>
              <a:rPr b="0" lang="en-US" sz="1200" spc="-1" strike="noStrike">
                <a:solidFill>
                  <a:srgbClr val="1f2933"/>
                </a:solidFill>
                <a:latin typeface="Consolas"/>
                <a:ea typeface="Consolas"/>
              </a:rPr>
              <a:t> Pedidos </a:t>
            </a:r>
            <a:r>
              <a:rPr b="1" lang="en-US" sz="1200" spc="-1" strike="noStrike">
                <a:solidFill>
                  <a:srgbClr val="1d4ed8"/>
                </a:solidFill>
                <a:latin typeface="Consolas"/>
                <a:ea typeface="Consolas"/>
              </a:rPr>
              <a:t>FROM</a:t>
            </a:r>
            <a:r>
              <a:rPr b="0" lang="en-US" sz="1200" spc="-1" strike="noStrike">
                <a:solidFill>
                  <a:srgbClr val="1f2933"/>
                </a:solidFill>
                <a:latin typeface="Consolas"/>
                <a:ea typeface="Consolas"/>
              </a:rPr>
              <a:t> Ventas.dbo.Pedido;</a:t>
            </a:r>
            <a:endParaRPr b="0" lang="es-ES" sz="1200" spc="-1" strike="noStrike">
              <a:latin typeface="Arial"/>
            </a:endParaRPr>
          </a:p>
        </p:txBody>
      </p:sp>
      <p:sp>
        <p:nvSpPr>
          <p:cNvPr id="1929" name="CustomShape 8"/>
          <p:cNvSpPr/>
          <p:nvPr/>
        </p:nvSpPr>
        <p:spPr>
          <a:xfrm>
            <a:off x="7863840" y="1600200"/>
            <a:ext cx="3773880" cy="2466360"/>
          </a:xfrm>
          <a:prstGeom prst="roundRect">
            <a:avLst>
              <a:gd name="adj" fmla="val 4444"/>
            </a:avLst>
          </a:prstGeom>
          <a:solidFill>
            <a:srgbClr val="e8eef5"/>
          </a:solidFill>
          <a:ln>
            <a:noFill/>
          </a:ln>
        </p:spPr>
        <p:style>
          <a:lnRef idx="0"/>
          <a:fillRef idx="0"/>
          <a:effectRef idx="0"/>
          <a:fontRef idx="minor"/>
        </p:style>
      </p:sp>
      <p:sp>
        <p:nvSpPr>
          <p:cNvPr id="1930" name="CustomShape 9"/>
          <p:cNvSpPr/>
          <p:nvPr/>
        </p:nvSpPr>
        <p:spPr>
          <a:xfrm>
            <a:off x="8092440" y="1828800"/>
            <a:ext cx="546120" cy="546120"/>
          </a:xfrm>
          <a:prstGeom prst="ellipse">
            <a:avLst/>
          </a:prstGeom>
          <a:solidFill>
            <a:srgbClr val="134074"/>
          </a:solidFill>
          <a:ln>
            <a:noFill/>
          </a:ln>
        </p:spPr>
        <p:style>
          <a:lnRef idx="0"/>
          <a:fillRef idx="0"/>
          <a:effectRef idx="0"/>
          <a:fontRef idx="minor"/>
        </p:style>
      </p:sp>
      <p:pic>
        <p:nvPicPr>
          <p:cNvPr id="1931" name="Image 0" descr="preencoded.png"/>
          <p:cNvPicPr/>
          <p:nvPr/>
        </p:nvPicPr>
        <p:blipFill>
          <a:blip r:embed="rId1"/>
          <a:stretch/>
        </p:blipFill>
        <p:spPr>
          <a:xfrm>
            <a:off x="8229600" y="1965960"/>
            <a:ext cx="271800" cy="271800"/>
          </a:xfrm>
          <a:prstGeom prst="rect">
            <a:avLst/>
          </a:prstGeom>
          <a:ln>
            <a:noFill/>
          </a:ln>
        </p:spPr>
      </p:pic>
      <p:sp>
        <p:nvSpPr>
          <p:cNvPr id="1932" name="CustomShape 10"/>
          <p:cNvSpPr/>
          <p:nvPr/>
        </p:nvSpPr>
        <p:spPr>
          <a:xfrm>
            <a:off x="8778240" y="1828800"/>
            <a:ext cx="263088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Verifica el resultado</a:t>
            </a:r>
            <a:endParaRPr b="0" lang="es-ES" sz="1700" spc="-1" strike="noStrike">
              <a:latin typeface="Arial"/>
            </a:endParaRPr>
          </a:p>
        </p:txBody>
      </p:sp>
      <p:sp>
        <p:nvSpPr>
          <p:cNvPr id="1933" name="CustomShape 11"/>
          <p:cNvSpPr/>
          <p:nvPr/>
        </p:nvSpPr>
        <p:spPr>
          <a:xfrm>
            <a:off x="8092440" y="2560320"/>
            <a:ext cx="3316680" cy="127764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COUNT(*) igual al baseline</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state_desc = ONLINE</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DBCC CHECKDB sin errores</a:t>
            </a:r>
            <a:endParaRPr b="0" lang="es-ES" sz="1400" spc="-1" strike="noStrike">
              <a:latin typeface="Arial"/>
            </a:endParaRPr>
          </a:p>
        </p:txBody>
      </p:sp>
      <p:sp>
        <p:nvSpPr>
          <p:cNvPr id="1934" name="CustomShape 12"/>
          <p:cNvSpPr/>
          <p:nvPr/>
        </p:nvSpPr>
        <p:spPr>
          <a:xfrm>
            <a:off x="7863840" y="4343400"/>
            <a:ext cx="3773880" cy="1826280"/>
          </a:xfrm>
          <a:prstGeom prst="roundRect">
            <a:avLst>
              <a:gd name="adj" fmla="val 6000"/>
            </a:avLst>
          </a:prstGeom>
          <a:solidFill>
            <a:srgbClr val="fdede8"/>
          </a:solidFill>
          <a:ln>
            <a:noFill/>
          </a:ln>
        </p:spPr>
        <p:style>
          <a:lnRef idx="0"/>
          <a:fillRef idx="0"/>
          <a:effectRef idx="0"/>
          <a:fontRef idx="minor"/>
        </p:style>
      </p:sp>
      <p:sp>
        <p:nvSpPr>
          <p:cNvPr id="1935" name="CustomShape 13"/>
          <p:cNvSpPr/>
          <p:nvPr/>
        </p:nvSpPr>
        <p:spPr>
          <a:xfrm>
            <a:off x="8046720" y="5029200"/>
            <a:ext cx="454680" cy="454680"/>
          </a:xfrm>
          <a:prstGeom prst="ellipse">
            <a:avLst/>
          </a:prstGeom>
          <a:solidFill>
            <a:srgbClr val="d95d39"/>
          </a:solidFill>
          <a:ln>
            <a:noFill/>
          </a:ln>
        </p:spPr>
        <p:style>
          <a:lnRef idx="0"/>
          <a:fillRef idx="0"/>
          <a:effectRef idx="0"/>
          <a:fontRef idx="minor"/>
        </p:style>
      </p:sp>
      <p:pic>
        <p:nvPicPr>
          <p:cNvPr id="1936" name="Image 1" descr="preencoded.png"/>
          <p:cNvPicPr/>
          <p:nvPr/>
        </p:nvPicPr>
        <p:blipFill>
          <a:blip r:embed="rId2"/>
          <a:stretch/>
        </p:blipFill>
        <p:spPr>
          <a:xfrm>
            <a:off x="8161200" y="5143680"/>
            <a:ext cx="226080" cy="226080"/>
          </a:xfrm>
          <a:prstGeom prst="rect">
            <a:avLst/>
          </a:prstGeom>
          <a:ln>
            <a:noFill/>
          </a:ln>
        </p:spPr>
      </p:pic>
      <p:sp>
        <p:nvSpPr>
          <p:cNvPr id="1937" name="CustomShape 14"/>
          <p:cNvSpPr/>
          <p:nvPr/>
        </p:nvSpPr>
        <p:spPr>
          <a:xfrm>
            <a:off x="8686800" y="4343400"/>
            <a:ext cx="2768040" cy="1826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a8431f"/>
                </a:solidFill>
                <a:latin typeface="Calibri"/>
                <a:ea typeface="Calibri"/>
              </a:rPr>
              <a:t>Trampa: </a:t>
            </a:r>
            <a:r>
              <a:rPr b="0" lang="en-US" sz="1400" spc="-1" strike="noStrike">
                <a:solidFill>
                  <a:srgbClr val="1f2933"/>
                </a:solidFill>
                <a:latin typeface="Calibri"/>
                <a:ea typeface="Calibri"/>
              </a:rPr>
              <a:t>STOPAT va en HoraOK, antes del DELETE, y sin NORECOVERY en el último paso.</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938" name="CustomShape 1"/>
          <p:cNvSpPr/>
          <p:nvPr/>
        </p:nvSpPr>
        <p:spPr>
          <a:xfrm>
            <a:off x="548640" y="365760"/>
            <a:ext cx="3495240" cy="271800"/>
          </a:xfrm>
          <a:prstGeom prst="roundRect">
            <a:avLst>
              <a:gd name="adj" fmla="val 50000"/>
            </a:avLst>
          </a:prstGeom>
          <a:solidFill>
            <a:srgbClr val="d95d39"/>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LABORATORIO · CASO INTEGRADOR FINAL</a:t>
            </a:r>
            <a:endParaRPr b="0" lang="es-ES" sz="1000" spc="-1" strike="noStrike">
              <a:latin typeface="Arial"/>
            </a:endParaRPr>
          </a:p>
        </p:txBody>
      </p:sp>
      <p:sp>
        <p:nvSpPr>
          <p:cNvPr id="1939"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Caso práctico integrador final</a:t>
            </a:r>
            <a:endParaRPr b="0" lang="es-ES" sz="3400" spc="-1" strike="noStrike">
              <a:latin typeface="Arial"/>
            </a:endParaRPr>
          </a:p>
        </p:txBody>
      </p:sp>
      <p:sp>
        <p:nvSpPr>
          <p:cNvPr id="1940"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941"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4   80</a:t>
            </a:r>
            <a:endParaRPr b="0" lang="es-ES" sz="1000" spc="-1" strike="noStrike">
              <a:latin typeface="Arial"/>
            </a:endParaRPr>
          </a:p>
        </p:txBody>
      </p:sp>
      <p:sp>
        <p:nvSpPr>
          <p:cNvPr id="1942" name="CustomShape 5"/>
          <p:cNvSpPr/>
          <p:nvPr/>
        </p:nvSpPr>
        <p:spPr>
          <a:xfrm>
            <a:off x="548640" y="1600200"/>
            <a:ext cx="2566800" cy="1323360"/>
          </a:xfrm>
          <a:prstGeom prst="roundRect">
            <a:avLst>
              <a:gd name="adj" fmla="val 827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943" name="CustomShape 6"/>
          <p:cNvSpPr/>
          <p:nvPr/>
        </p:nvSpPr>
        <p:spPr>
          <a:xfrm>
            <a:off x="731520" y="1737360"/>
            <a:ext cx="2201040" cy="6606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4000" spc="-1" strike="noStrike">
                <a:solidFill>
                  <a:srgbClr val="d95d39"/>
                </a:solidFill>
                <a:latin typeface="Calibri"/>
                <a:ea typeface="Calibri"/>
              </a:rPr>
              <a:t>15 min</a:t>
            </a:r>
            <a:endParaRPr b="0" lang="es-ES" sz="4000" spc="-1" strike="noStrike">
              <a:latin typeface="Arial"/>
            </a:endParaRPr>
          </a:p>
        </p:txBody>
      </p:sp>
      <p:sp>
        <p:nvSpPr>
          <p:cNvPr id="1944" name="CustomShape 7"/>
          <p:cNvSpPr/>
          <p:nvPr/>
        </p:nvSpPr>
        <p:spPr>
          <a:xfrm>
            <a:off x="731520" y="2329560"/>
            <a:ext cx="2201040" cy="52776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300" spc="-1" strike="noStrike">
                <a:solidFill>
                  <a:srgbClr val="5c6b7a"/>
                </a:solidFill>
                <a:latin typeface="Calibri"/>
                <a:ea typeface="Calibri"/>
              </a:rPr>
              <a:t>RPO: log backup cada 15 minutos</a:t>
            </a:r>
            <a:endParaRPr b="0" lang="es-ES" sz="1300" spc="-1" strike="noStrike">
              <a:latin typeface="Arial"/>
            </a:endParaRPr>
          </a:p>
        </p:txBody>
      </p:sp>
      <p:sp>
        <p:nvSpPr>
          <p:cNvPr id="1945" name="CustomShape 8"/>
          <p:cNvSpPr/>
          <p:nvPr/>
        </p:nvSpPr>
        <p:spPr>
          <a:xfrm>
            <a:off x="3392280" y="1600200"/>
            <a:ext cx="2566800" cy="1323360"/>
          </a:xfrm>
          <a:prstGeom prst="roundRect">
            <a:avLst>
              <a:gd name="adj" fmla="val 827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946" name="CustomShape 9"/>
          <p:cNvSpPr/>
          <p:nvPr/>
        </p:nvSpPr>
        <p:spPr>
          <a:xfrm>
            <a:off x="3575160" y="1737360"/>
            <a:ext cx="2201040" cy="6606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4000" spc="-1" strike="noStrike">
                <a:solidFill>
                  <a:srgbClr val="d95d39"/>
                </a:solidFill>
                <a:latin typeface="Calibri"/>
                <a:ea typeface="Calibri"/>
              </a:rPr>
              <a:t>60 min</a:t>
            </a:r>
            <a:endParaRPr b="0" lang="es-ES" sz="4000" spc="-1" strike="noStrike">
              <a:latin typeface="Arial"/>
            </a:endParaRPr>
          </a:p>
        </p:txBody>
      </p:sp>
      <p:sp>
        <p:nvSpPr>
          <p:cNvPr id="1947" name="CustomShape 10"/>
          <p:cNvSpPr/>
          <p:nvPr/>
        </p:nvSpPr>
        <p:spPr>
          <a:xfrm>
            <a:off x="3575160" y="2329560"/>
            <a:ext cx="2201040" cy="52776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300" spc="-1" strike="noStrike">
                <a:solidFill>
                  <a:srgbClr val="5c6b7a"/>
                </a:solidFill>
                <a:latin typeface="Calibri"/>
                <a:ea typeface="Calibri"/>
              </a:rPr>
              <a:t>RTO: restaurar y validar en una hora</a:t>
            </a:r>
            <a:endParaRPr b="0" lang="es-ES" sz="1300" spc="-1" strike="noStrike">
              <a:latin typeface="Arial"/>
            </a:endParaRPr>
          </a:p>
        </p:txBody>
      </p:sp>
      <p:sp>
        <p:nvSpPr>
          <p:cNvPr id="1948" name="CustomShape 11"/>
          <p:cNvSpPr/>
          <p:nvPr/>
        </p:nvSpPr>
        <p:spPr>
          <a:xfrm>
            <a:off x="6236280" y="1600200"/>
            <a:ext cx="2566800" cy="1323360"/>
          </a:xfrm>
          <a:prstGeom prst="roundRect">
            <a:avLst>
              <a:gd name="adj" fmla="val 827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949" name="CustomShape 12"/>
          <p:cNvSpPr/>
          <p:nvPr/>
        </p:nvSpPr>
        <p:spPr>
          <a:xfrm>
            <a:off x="6419160" y="1737360"/>
            <a:ext cx="2201040" cy="6606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4000" spc="-1" strike="noStrike">
                <a:solidFill>
                  <a:srgbClr val="d95d39"/>
                </a:solidFill>
                <a:latin typeface="Calibri"/>
                <a:ea typeface="Calibri"/>
              </a:rPr>
              <a:t>3 roles</a:t>
            </a:r>
            <a:endParaRPr b="0" lang="es-ES" sz="4000" spc="-1" strike="noStrike">
              <a:latin typeface="Arial"/>
            </a:endParaRPr>
          </a:p>
        </p:txBody>
      </p:sp>
      <p:sp>
        <p:nvSpPr>
          <p:cNvPr id="1950" name="CustomShape 13"/>
          <p:cNvSpPr/>
          <p:nvPr/>
        </p:nvSpPr>
        <p:spPr>
          <a:xfrm>
            <a:off x="6419160" y="2329560"/>
            <a:ext cx="2201040" cy="52776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300" spc="-1" strike="noStrike">
                <a:solidFill>
                  <a:srgbClr val="5c6b7a"/>
                </a:solidFill>
                <a:latin typeface="Calibri"/>
                <a:ea typeface="Calibri"/>
              </a:rPr>
              <a:t>Mínimo privilegio: app, informes, DBA</a:t>
            </a:r>
            <a:endParaRPr b="0" lang="es-ES" sz="1300" spc="-1" strike="noStrike">
              <a:latin typeface="Arial"/>
            </a:endParaRPr>
          </a:p>
        </p:txBody>
      </p:sp>
      <p:sp>
        <p:nvSpPr>
          <p:cNvPr id="1951" name="CustomShape 14"/>
          <p:cNvSpPr/>
          <p:nvPr/>
        </p:nvSpPr>
        <p:spPr>
          <a:xfrm>
            <a:off x="9079920" y="1600200"/>
            <a:ext cx="2566800" cy="1323360"/>
          </a:xfrm>
          <a:prstGeom prst="roundRect">
            <a:avLst>
              <a:gd name="adj" fmla="val 8276"/>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952" name="CustomShape 15"/>
          <p:cNvSpPr/>
          <p:nvPr/>
        </p:nvSpPr>
        <p:spPr>
          <a:xfrm>
            <a:off x="9262800" y="1737360"/>
            <a:ext cx="2201040" cy="6606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4000" spc="-1" strike="noStrike">
                <a:solidFill>
                  <a:srgbClr val="d95d39"/>
                </a:solidFill>
                <a:latin typeface="Calibri"/>
                <a:ea typeface="Calibri"/>
              </a:rPr>
              <a:t>1 / sem</a:t>
            </a:r>
            <a:endParaRPr b="0" lang="es-ES" sz="4000" spc="-1" strike="noStrike">
              <a:latin typeface="Arial"/>
            </a:endParaRPr>
          </a:p>
        </p:txBody>
      </p:sp>
      <p:sp>
        <p:nvSpPr>
          <p:cNvPr id="1953" name="CustomShape 16"/>
          <p:cNvSpPr/>
          <p:nvPr/>
        </p:nvSpPr>
        <p:spPr>
          <a:xfrm>
            <a:off x="9262800" y="2329560"/>
            <a:ext cx="2201040" cy="527760"/>
          </a:xfrm>
          <a:prstGeom prst="rect">
            <a:avLst/>
          </a:prstGeom>
          <a:noFill/>
          <a:ln>
            <a:noFill/>
          </a:ln>
        </p:spPr>
        <p:style>
          <a:lnRef idx="0"/>
          <a:fillRef idx="0"/>
          <a:effectRef idx="0"/>
          <a:fontRef idx="minor"/>
        </p:style>
        <p:txBody>
          <a:bodyPr lIns="0" rIns="0" tIns="0" bIns="0">
            <a:noAutofit/>
          </a:bodyPr>
          <a:p>
            <a:pPr algn="ctr">
              <a:lnSpc>
                <a:spcPct val="100000"/>
              </a:lnSpc>
              <a:tabLst>
                <a:tab algn="l" pos="0"/>
              </a:tabLst>
            </a:pPr>
            <a:r>
              <a:rPr b="0" lang="en-US" sz="1300" spc="-1" strike="noStrike">
                <a:solidFill>
                  <a:srgbClr val="5c6b7a"/>
                </a:solidFill>
                <a:latin typeface="Calibri"/>
                <a:ea typeface="Calibri"/>
              </a:rPr>
              <a:t>DBCC CHECKDB semanal con alerta</a:t>
            </a:r>
            <a:endParaRPr b="0" lang="es-ES" sz="1300" spc="-1" strike="noStrike">
              <a:latin typeface="Arial"/>
            </a:endParaRPr>
          </a:p>
        </p:txBody>
      </p:sp>
      <p:sp>
        <p:nvSpPr>
          <p:cNvPr id="1954" name="CustomShape 17"/>
          <p:cNvSpPr/>
          <p:nvPr/>
        </p:nvSpPr>
        <p:spPr>
          <a:xfrm>
            <a:off x="548640" y="3200400"/>
            <a:ext cx="6398280" cy="2969280"/>
          </a:xfrm>
          <a:prstGeom prst="roundRect">
            <a:avLst>
              <a:gd name="adj" fmla="val 3692"/>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955" name="CustomShape 18"/>
          <p:cNvSpPr/>
          <p:nvPr/>
        </p:nvSpPr>
        <p:spPr>
          <a:xfrm>
            <a:off x="777240" y="3429000"/>
            <a:ext cx="546120" cy="546120"/>
          </a:xfrm>
          <a:prstGeom prst="ellipse">
            <a:avLst/>
          </a:prstGeom>
          <a:solidFill>
            <a:srgbClr val="134074"/>
          </a:solidFill>
          <a:ln>
            <a:noFill/>
          </a:ln>
        </p:spPr>
        <p:style>
          <a:lnRef idx="0"/>
          <a:fillRef idx="0"/>
          <a:effectRef idx="0"/>
          <a:fontRef idx="minor"/>
        </p:style>
      </p:sp>
      <p:pic>
        <p:nvPicPr>
          <p:cNvPr id="1956" name="Image 0" descr="preencoded.png"/>
          <p:cNvPicPr/>
          <p:nvPr/>
        </p:nvPicPr>
        <p:blipFill>
          <a:blip r:embed="rId1"/>
          <a:stretch/>
        </p:blipFill>
        <p:spPr>
          <a:xfrm>
            <a:off x="914400" y="3566160"/>
            <a:ext cx="271800" cy="271800"/>
          </a:xfrm>
          <a:prstGeom prst="rect">
            <a:avLst/>
          </a:prstGeom>
          <a:ln>
            <a:noFill/>
          </a:ln>
        </p:spPr>
      </p:pic>
      <p:sp>
        <p:nvSpPr>
          <p:cNvPr id="1957" name="CustomShape 19"/>
          <p:cNvSpPr/>
          <p:nvPr/>
        </p:nvSpPr>
        <p:spPr>
          <a:xfrm>
            <a:off x="1463040" y="3429000"/>
            <a:ext cx="525528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Requisitos de Ventas S.A.</a:t>
            </a:r>
            <a:endParaRPr b="0" lang="es-ES" sz="1700" spc="-1" strike="noStrike">
              <a:latin typeface="Arial"/>
            </a:endParaRPr>
          </a:p>
        </p:txBody>
      </p:sp>
      <p:sp>
        <p:nvSpPr>
          <p:cNvPr id="1958" name="CustomShape 20"/>
          <p:cNvSpPr/>
          <p:nvPr/>
        </p:nvSpPr>
        <p:spPr>
          <a:xfrm>
            <a:off x="777240" y="4160520"/>
            <a:ext cx="5941080" cy="178056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Seguridad: </a:t>
            </a:r>
            <a:r>
              <a:rPr b="0" lang="en-US" sz="1400" spc="-1" strike="noStrike">
                <a:solidFill>
                  <a:srgbClr val="1f2933"/>
                </a:solidFill>
                <a:latin typeface="Calibri"/>
                <a:ea typeface="Calibri"/>
              </a:rPr>
              <a:t>logins y roles sin sysadmin.</a:t>
            </a:r>
            <a:endParaRPr b="0" lang="es-ES" sz="1400" spc="-1" strike="noStrike">
              <a:latin typeface="Arial"/>
            </a:endParaRPr>
          </a:p>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Índices: </a:t>
            </a:r>
            <a:r>
              <a:rPr b="0" lang="en-US" sz="1400" spc="-1" strike="noStrike">
                <a:solidFill>
                  <a:srgbClr val="1f2933"/>
                </a:solidFill>
                <a:latin typeface="Calibri"/>
                <a:ea typeface="Calibri"/>
              </a:rPr>
              <a:t>2 justificados con su plan.</a:t>
            </a:r>
            <a:endParaRPr b="0" lang="es-ES" sz="1400" spc="-1" strike="noStrike">
              <a:latin typeface="Arial"/>
            </a:endParaRPr>
          </a:p>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Backups: </a:t>
            </a:r>
            <a:r>
              <a:rPr b="0" lang="en-US" sz="1400" spc="-1" strike="noStrike">
                <a:solidFill>
                  <a:srgbClr val="1f2933"/>
                </a:solidFill>
                <a:latin typeface="Calibri"/>
                <a:ea typeface="Calibri"/>
              </a:rPr>
              <a:t>Full, Diff y Log; prueba de restore.</a:t>
            </a:r>
            <a:endParaRPr b="0" lang="es-ES" sz="1400" spc="-1" strike="noStrike">
              <a:latin typeface="Arial"/>
            </a:endParaRPr>
          </a:p>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Mantenimiento: </a:t>
            </a:r>
            <a:r>
              <a:rPr b="0" lang="en-US" sz="1400" spc="-1" strike="noStrike">
                <a:solidFill>
                  <a:srgbClr val="1f2933"/>
                </a:solidFill>
                <a:latin typeface="Calibri"/>
                <a:ea typeface="Calibri"/>
              </a:rPr>
              <a:t>jobs, CHECKDB y alertas.</a:t>
            </a:r>
            <a:endParaRPr b="0" lang="es-ES" sz="1400" spc="-1" strike="noStrike">
              <a:latin typeface="Arial"/>
            </a:endParaRPr>
          </a:p>
        </p:txBody>
      </p:sp>
      <p:sp>
        <p:nvSpPr>
          <p:cNvPr id="1959" name="CustomShape 21"/>
          <p:cNvSpPr/>
          <p:nvPr/>
        </p:nvSpPr>
        <p:spPr>
          <a:xfrm>
            <a:off x="7223760" y="3200400"/>
            <a:ext cx="4413960" cy="2969280"/>
          </a:xfrm>
          <a:prstGeom prst="roundRect">
            <a:avLst>
              <a:gd name="adj" fmla="val 3692"/>
            </a:avLst>
          </a:prstGeom>
          <a:solidFill>
            <a:srgbClr val="e8eef5"/>
          </a:solidFill>
          <a:ln>
            <a:noFill/>
          </a:ln>
        </p:spPr>
        <p:style>
          <a:lnRef idx="0"/>
          <a:fillRef idx="0"/>
          <a:effectRef idx="0"/>
          <a:fontRef idx="minor"/>
        </p:style>
      </p:sp>
      <p:sp>
        <p:nvSpPr>
          <p:cNvPr id="1960" name="CustomShape 22"/>
          <p:cNvSpPr/>
          <p:nvPr/>
        </p:nvSpPr>
        <p:spPr>
          <a:xfrm>
            <a:off x="7452360" y="3429000"/>
            <a:ext cx="546120" cy="546120"/>
          </a:xfrm>
          <a:prstGeom prst="ellipse">
            <a:avLst/>
          </a:prstGeom>
          <a:solidFill>
            <a:srgbClr val="134074"/>
          </a:solidFill>
          <a:ln>
            <a:noFill/>
          </a:ln>
        </p:spPr>
        <p:style>
          <a:lnRef idx="0"/>
          <a:fillRef idx="0"/>
          <a:effectRef idx="0"/>
          <a:fontRef idx="minor"/>
        </p:style>
      </p:sp>
      <p:pic>
        <p:nvPicPr>
          <p:cNvPr id="1961" name="Image 1" descr="preencoded.png"/>
          <p:cNvPicPr/>
          <p:nvPr/>
        </p:nvPicPr>
        <p:blipFill>
          <a:blip r:embed="rId2"/>
          <a:stretch/>
        </p:blipFill>
        <p:spPr>
          <a:xfrm>
            <a:off x="7589520" y="3566160"/>
            <a:ext cx="271800" cy="271800"/>
          </a:xfrm>
          <a:prstGeom prst="rect">
            <a:avLst/>
          </a:prstGeom>
          <a:ln>
            <a:noFill/>
          </a:ln>
        </p:spPr>
      </p:pic>
      <p:sp>
        <p:nvSpPr>
          <p:cNvPr id="1962" name="CustomShape 23"/>
          <p:cNvSpPr/>
          <p:nvPr/>
        </p:nvSpPr>
        <p:spPr>
          <a:xfrm>
            <a:off x="8138160" y="3429000"/>
            <a:ext cx="3270960" cy="546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2545"/>
                </a:solidFill>
                <a:latin typeface="Calibri"/>
                <a:ea typeface="Calibri"/>
              </a:rPr>
              <a:t>Evaluación y entregables</a:t>
            </a:r>
            <a:endParaRPr b="0" lang="es-ES" sz="1700" spc="-1" strike="noStrike">
              <a:latin typeface="Arial"/>
            </a:endParaRPr>
          </a:p>
        </p:txBody>
      </p:sp>
      <p:sp>
        <p:nvSpPr>
          <p:cNvPr id="1963" name="CustomShape 24"/>
          <p:cNvSpPr/>
          <p:nvPr/>
        </p:nvSpPr>
        <p:spPr>
          <a:xfrm>
            <a:off x="7452360" y="4160520"/>
            <a:ext cx="3956760" cy="1780560"/>
          </a:xfrm>
          <a:prstGeom prst="rect">
            <a:avLst/>
          </a:prstGeom>
          <a:noFill/>
          <a:ln>
            <a:noFill/>
          </a:ln>
        </p:spPr>
        <p:style>
          <a:lnRef idx="0"/>
          <a:fillRef idx="0"/>
          <a:effectRef idx="0"/>
          <a:fontRef idx="minor"/>
        </p:style>
        <p:txBody>
          <a:bodyPr lIns="0" rIns="0" tIns="0" bIns="0">
            <a:noAutofit/>
          </a:bodyPr>
          <a:p>
            <a:pPr marL="203040" indent="-200520">
              <a:lnSpc>
                <a:spcPct val="100000"/>
              </a:lnSpc>
              <a:spcAft>
                <a:spcPts val="400"/>
              </a:spcAft>
              <a:buClr>
                <a:srgbClr val="0b2545"/>
              </a:buClr>
              <a:buFont typeface="Symbol"/>
              <a:buChar char=""/>
            </a:pPr>
            <a:r>
              <a:rPr b="1" lang="en-US" sz="1400" spc="-1" strike="noStrike">
                <a:solidFill>
                  <a:srgbClr val="0b2545"/>
                </a:solidFill>
                <a:latin typeface="Calibri"/>
                <a:ea typeface="Calibri"/>
              </a:rPr>
              <a:t>Peso: </a:t>
            </a:r>
            <a:r>
              <a:rPr b="0" lang="en-US" sz="1400" spc="-1" strike="noStrike">
                <a:solidFill>
                  <a:srgbClr val="1f2933"/>
                </a:solidFill>
                <a:latin typeface="Calibri"/>
                <a:ea typeface="Calibri"/>
              </a:rPr>
              <a:t>25 · 25 · 30 · 20 %.</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Script T-SQL comentado.</a:t>
            </a:r>
            <a:endParaRPr b="0" lang="es-ES" sz="1400" spc="-1" strike="noStrike">
              <a:latin typeface="Arial"/>
            </a:endParaRPr>
          </a:p>
          <a:p>
            <a:pPr marL="203040" indent="-200520">
              <a:lnSpc>
                <a:spcPct val="100000"/>
              </a:lnSpc>
              <a:spcAft>
                <a:spcPts val="400"/>
              </a:spcAft>
              <a:buClr>
                <a:srgbClr val="1f2933"/>
              </a:buClr>
              <a:buFont typeface="Symbol"/>
              <a:buChar char=""/>
            </a:pPr>
            <a:r>
              <a:rPr b="0" lang="en-US" sz="1400" spc="-1" strike="noStrike">
                <a:solidFill>
                  <a:srgbClr val="1f2933"/>
                </a:solidFill>
                <a:latin typeface="Calibri"/>
                <a:ea typeface="Calibri"/>
              </a:rPr>
              <a:t>Informe con RPO y RTO medidos.</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9fa"/>
        </a:solidFill>
      </p:bgPr>
    </p:bg>
    <p:spTree>
      <p:nvGrpSpPr>
        <p:cNvPr id="1" name=""/>
        <p:cNvGrpSpPr/>
        <p:nvPr/>
      </p:nvGrpSpPr>
      <p:grpSpPr>
        <a:xfrm>
          <a:off x="0" y="0"/>
          <a:ext cx="0" cy="0"/>
          <a:chOff x="0" y="0"/>
          <a:chExt cx="0" cy="0"/>
        </a:xfrm>
      </p:grpSpPr>
      <p:sp>
        <p:nvSpPr>
          <p:cNvPr id="1964" name="CustomShape 1"/>
          <p:cNvSpPr/>
          <p:nvPr/>
        </p:nvSpPr>
        <p:spPr>
          <a:xfrm>
            <a:off x="548640" y="365760"/>
            <a:ext cx="1460520" cy="271800"/>
          </a:xfrm>
          <a:prstGeom prst="roundRect">
            <a:avLst>
              <a:gd name="adj" fmla="val 50000"/>
            </a:avLst>
          </a:prstGeom>
          <a:solidFill>
            <a:srgbClr val="134074"/>
          </a:solidFill>
          <a:ln>
            <a:noFill/>
          </a:ln>
        </p:spPr>
        <p:style>
          <a:lnRef idx="0"/>
          <a:fillRef idx="0"/>
          <a:effectRef idx="0"/>
          <a:fontRef idx="minor"/>
        </p:style>
        <p:txBody>
          <a:bodyPr lIns="0" rIns="0" tIns="0" bIns="0" anchor="ctr">
            <a:noAutofit/>
          </a:bodyPr>
          <a:p>
            <a:pPr algn="ctr">
              <a:lnSpc>
                <a:spcPct val="100000"/>
              </a:lnSpc>
              <a:tabLst>
                <a:tab algn="l" pos="0"/>
              </a:tabLst>
            </a:pPr>
            <a:r>
              <a:rPr b="1" lang="en-US" sz="1000" spc="80" strike="noStrike">
                <a:solidFill>
                  <a:srgbClr val="ffffff"/>
                </a:solidFill>
                <a:latin typeface="Calibri"/>
                <a:ea typeface="Calibri"/>
              </a:rPr>
              <a:t>RESUMEN</a:t>
            </a:r>
            <a:endParaRPr b="0" lang="es-ES" sz="1000" spc="-1" strike="noStrike">
              <a:latin typeface="Arial"/>
            </a:endParaRPr>
          </a:p>
        </p:txBody>
      </p:sp>
      <p:sp>
        <p:nvSpPr>
          <p:cNvPr id="1965" name="CustomShape 2"/>
          <p:cNvSpPr/>
          <p:nvPr/>
        </p:nvSpPr>
        <p:spPr>
          <a:xfrm>
            <a:off x="548640" y="731520"/>
            <a:ext cx="11091960" cy="6832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3400" spc="-1" strike="noStrike">
                <a:solidFill>
                  <a:srgbClr val="0b2545"/>
                </a:solidFill>
                <a:latin typeface="Calibri"/>
                <a:ea typeface="Calibri"/>
              </a:rPr>
              <a:t>Checklist de buenas prácticas del DBA</a:t>
            </a:r>
            <a:endParaRPr b="0" lang="es-ES" sz="3400" spc="-1" strike="noStrike">
              <a:latin typeface="Arial"/>
            </a:endParaRPr>
          </a:p>
        </p:txBody>
      </p:sp>
      <p:sp>
        <p:nvSpPr>
          <p:cNvPr id="1966" name="CustomShape 3"/>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5c6b7a"/>
                </a:solidFill>
                <a:latin typeface="Calibri"/>
                <a:ea typeface="Calibri"/>
              </a:rPr>
              <a:t>Curso de Administración de SQL Server · 20 h</a:t>
            </a:r>
            <a:endParaRPr b="0" lang="es-ES" sz="1000" spc="-1" strike="noStrike">
              <a:latin typeface="Arial"/>
            </a:endParaRPr>
          </a:p>
        </p:txBody>
      </p:sp>
      <p:sp>
        <p:nvSpPr>
          <p:cNvPr id="1967" name="CustomShape 4"/>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5c6b7a"/>
                </a:solidFill>
                <a:latin typeface="Calibri"/>
                <a:ea typeface="Calibri"/>
              </a:rPr>
              <a:t>Módulo 4   81</a:t>
            </a:r>
            <a:endParaRPr b="0" lang="es-ES" sz="1000" spc="-1" strike="noStrike">
              <a:latin typeface="Arial"/>
            </a:endParaRPr>
          </a:p>
        </p:txBody>
      </p:sp>
      <p:sp>
        <p:nvSpPr>
          <p:cNvPr id="1968" name="CustomShape 5"/>
          <p:cNvSpPr/>
          <p:nvPr/>
        </p:nvSpPr>
        <p:spPr>
          <a:xfrm>
            <a:off x="548640" y="1600200"/>
            <a:ext cx="5406120" cy="889200"/>
          </a:xfrm>
          <a:prstGeom prst="roundRect">
            <a:avLst>
              <a:gd name="adj" fmla="val 12308"/>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969" name="CustomShape 6"/>
          <p:cNvSpPr/>
          <p:nvPr/>
        </p:nvSpPr>
        <p:spPr>
          <a:xfrm>
            <a:off x="731520" y="1771560"/>
            <a:ext cx="546120" cy="546120"/>
          </a:xfrm>
          <a:prstGeom prst="ellipse">
            <a:avLst/>
          </a:prstGeom>
          <a:solidFill>
            <a:srgbClr val="134074"/>
          </a:solidFill>
          <a:ln>
            <a:noFill/>
          </a:ln>
        </p:spPr>
        <p:style>
          <a:lnRef idx="0"/>
          <a:fillRef idx="0"/>
          <a:effectRef idx="0"/>
          <a:fontRef idx="minor"/>
        </p:style>
      </p:sp>
      <p:pic>
        <p:nvPicPr>
          <p:cNvPr id="1970" name="Image 0" descr="preencoded.png"/>
          <p:cNvPicPr/>
          <p:nvPr/>
        </p:nvPicPr>
        <p:blipFill>
          <a:blip r:embed="rId1"/>
          <a:stretch/>
        </p:blipFill>
        <p:spPr>
          <a:xfrm>
            <a:off x="868680" y="1908720"/>
            <a:ext cx="271800" cy="271800"/>
          </a:xfrm>
          <a:prstGeom prst="rect">
            <a:avLst/>
          </a:prstGeom>
          <a:ln>
            <a:noFill/>
          </a:ln>
        </p:spPr>
      </p:pic>
      <p:sp>
        <p:nvSpPr>
          <p:cNvPr id="1971" name="CustomShape 7"/>
          <p:cNvSpPr/>
          <p:nvPr/>
        </p:nvSpPr>
        <p:spPr>
          <a:xfrm>
            <a:off x="1463040" y="1600200"/>
            <a:ext cx="4308840" cy="88920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Backups probados</a:t>
            </a:r>
            <a:endParaRPr b="0" lang="es-ES" sz="1600" spc="-1" strike="noStrike">
              <a:latin typeface="Arial"/>
            </a:endParaRPr>
          </a:p>
          <a:p>
            <a:pPr>
              <a:lnSpc>
                <a:spcPct val="100000"/>
              </a:lnSpc>
              <a:tabLst>
                <a:tab algn="l" pos="0"/>
              </a:tabLst>
            </a:pPr>
            <a:r>
              <a:rPr b="0" lang="en-US" sz="1400" spc="-1" strike="noStrike">
                <a:solidFill>
                  <a:srgbClr val="1f2933"/>
                </a:solidFill>
                <a:latin typeface="Calibri"/>
                <a:ea typeface="Calibri"/>
              </a:rPr>
              <a:t>Full + Diff + Log con CHECKSUM, copia externa y restore mensual.</a:t>
            </a:r>
            <a:endParaRPr b="0" lang="es-ES" sz="1400" spc="-1" strike="noStrike">
              <a:latin typeface="Arial"/>
            </a:endParaRPr>
          </a:p>
        </p:txBody>
      </p:sp>
      <p:sp>
        <p:nvSpPr>
          <p:cNvPr id="1972" name="CustomShape 8"/>
          <p:cNvSpPr/>
          <p:nvPr/>
        </p:nvSpPr>
        <p:spPr>
          <a:xfrm>
            <a:off x="6231600" y="1600200"/>
            <a:ext cx="5406120" cy="889200"/>
          </a:xfrm>
          <a:prstGeom prst="roundRect">
            <a:avLst>
              <a:gd name="adj" fmla="val 12308"/>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973" name="CustomShape 9"/>
          <p:cNvSpPr/>
          <p:nvPr/>
        </p:nvSpPr>
        <p:spPr>
          <a:xfrm>
            <a:off x="6414480" y="1771560"/>
            <a:ext cx="546120" cy="546120"/>
          </a:xfrm>
          <a:prstGeom prst="ellipse">
            <a:avLst/>
          </a:prstGeom>
          <a:solidFill>
            <a:srgbClr val="134074"/>
          </a:solidFill>
          <a:ln>
            <a:noFill/>
          </a:ln>
        </p:spPr>
        <p:style>
          <a:lnRef idx="0"/>
          <a:fillRef idx="0"/>
          <a:effectRef idx="0"/>
          <a:fontRef idx="minor"/>
        </p:style>
      </p:sp>
      <p:pic>
        <p:nvPicPr>
          <p:cNvPr id="1974" name="Image 1" descr="preencoded.png"/>
          <p:cNvPicPr/>
          <p:nvPr/>
        </p:nvPicPr>
        <p:blipFill>
          <a:blip r:embed="rId2"/>
          <a:stretch/>
        </p:blipFill>
        <p:spPr>
          <a:xfrm>
            <a:off x="6551640" y="1908720"/>
            <a:ext cx="271800" cy="271800"/>
          </a:xfrm>
          <a:prstGeom prst="rect">
            <a:avLst/>
          </a:prstGeom>
          <a:ln>
            <a:noFill/>
          </a:ln>
        </p:spPr>
      </p:pic>
      <p:sp>
        <p:nvSpPr>
          <p:cNvPr id="1975" name="CustomShape 10"/>
          <p:cNvSpPr/>
          <p:nvPr/>
        </p:nvSpPr>
        <p:spPr>
          <a:xfrm>
            <a:off x="7146000" y="1600200"/>
            <a:ext cx="4308840" cy="88920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Recovery Full en producción</a:t>
            </a:r>
            <a:endParaRPr b="0" lang="es-ES" sz="1600" spc="-1" strike="noStrike">
              <a:latin typeface="Arial"/>
            </a:endParaRPr>
          </a:p>
          <a:p>
            <a:pPr>
              <a:lnSpc>
                <a:spcPct val="100000"/>
              </a:lnSpc>
              <a:tabLst>
                <a:tab algn="l" pos="0"/>
              </a:tabLst>
            </a:pPr>
            <a:r>
              <a:rPr b="0" lang="en-US" sz="1400" spc="-1" strike="noStrike">
                <a:solidFill>
                  <a:srgbClr val="1f2933"/>
                </a:solidFill>
                <a:latin typeface="Calibri"/>
                <a:ea typeface="Calibri"/>
              </a:rPr>
              <a:t>Log backups cada 15 min según el RPO.</a:t>
            </a:r>
            <a:endParaRPr b="0" lang="es-ES" sz="1400" spc="-1" strike="noStrike">
              <a:latin typeface="Arial"/>
            </a:endParaRPr>
          </a:p>
        </p:txBody>
      </p:sp>
      <p:sp>
        <p:nvSpPr>
          <p:cNvPr id="1976" name="CustomShape 11"/>
          <p:cNvSpPr/>
          <p:nvPr/>
        </p:nvSpPr>
        <p:spPr>
          <a:xfrm>
            <a:off x="548640" y="2766240"/>
            <a:ext cx="5406120" cy="889200"/>
          </a:xfrm>
          <a:prstGeom prst="roundRect">
            <a:avLst>
              <a:gd name="adj" fmla="val 12308"/>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977" name="CustomShape 12"/>
          <p:cNvSpPr/>
          <p:nvPr/>
        </p:nvSpPr>
        <p:spPr>
          <a:xfrm>
            <a:off x="731520" y="2937600"/>
            <a:ext cx="546120" cy="546120"/>
          </a:xfrm>
          <a:prstGeom prst="ellipse">
            <a:avLst/>
          </a:prstGeom>
          <a:solidFill>
            <a:srgbClr val="134074"/>
          </a:solidFill>
          <a:ln>
            <a:noFill/>
          </a:ln>
        </p:spPr>
        <p:style>
          <a:lnRef idx="0"/>
          <a:fillRef idx="0"/>
          <a:effectRef idx="0"/>
          <a:fontRef idx="minor"/>
        </p:style>
      </p:sp>
      <p:pic>
        <p:nvPicPr>
          <p:cNvPr id="1978" name="Image 2" descr="preencoded.png"/>
          <p:cNvPicPr/>
          <p:nvPr/>
        </p:nvPicPr>
        <p:blipFill>
          <a:blip r:embed="rId3"/>
          <a:stretch/>
        </p:blipFill>
        <p:spPr>
          <a:xfrm>
            <a:off x="868680" y="3074760"/>
            <a:ext cx="271800" cy="271800"/>
          </a:xfrm>
          <a:prstGeom prst="rect">
            <a:avLst/>
          </a:prstGeom>
          <a:ln>
            <a:noFill/>
          </a:ln>
        </p:spPr>
      </p:pic>
      <p:sp>
        <p:nvSpPr>
          <p:cNvPr id="1979" name="CustomShape 13"/>
          <p:cNvSpPr/>
          <p:nvPr/>
        </p:nvSpPr>
        <p:spPr>
          <a:xfrm>
            <a:off x="1463040" y="2766240"/>
            <a:ext cx="4308840" cy="88920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Integridad vigilada</a:t>
            </a:r>
            <a:endParaRPr b="0" lang="es-ES" sz="1600" spc="-1" strike="noStrike">
              <a:latin typeface="Arial"/>
            </a:endParaRPr>
          </a:p>
          <a:p>
            <a:pPr>
              <a:lnSpc>
                <a:spcPct val="100000"/>
              </a:lnSpc>
              <a:tabLst>
                <a:tab algn="l" pos="0"/>
              </a:tabLst>
            </a:pPr>
            <a:r>
              <a:rPr b="0" lang="en-US" sz="1400" spc="-1" strike="noStrike">
                <a:solidFill>
                  <a:srgbClr val="1f2933"/>
                </a:solidFill>
                <a:latin typeface="Calibri"/>
                <a:ea typeface="Calibri"/>
              </a:rPr>
              <a:t>PAGE_VERIFY CHECKSUM y CHECKDB semanal.</a:t>
            </a:r>
            <a:endParaRPr b="0" lang="es-ES" sz="1400" spc="-1" strike="noStrike">
              <a:latin typeface="Arial"/>
            </a:endParaRPr>
          </a:p>
        </p:txBody>
      </p:sp>
      <p:sp>
        <p:nvSpPr>
          <p:cNvPr id="1980" name="CustomShape 14"/>
          <p:cNvSpPr/>
          <p:nvPr/>
        </p:nvSpPr>
        <p:spPr>
          <a:xfrm>
            <a:off x="6231600" y="2766240"/>
            <a:ext cx="5406120" cy="889200"/>
          </a:xfrm>
          <a:prstGeom prst="roundRect">
            <a:avLst>
              <a:gd name="adj" fmla="val 12308"/>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981" name="CustomShape 15"/>
          <p:cNvSpPr/>
          <p:nvPr/>
        </p:nvSpPr>
        <p:spPr>
          <a:xfrm>
            <a:off x="6414480" y="2937600"/>
            <a:ext cx="546120" cy="546120"/>
          </a:xfrm>
          <a:prstGeom prst="ellipse">
            <a:avLst/>
          </a:prstGeom>
          <a:solidFill>
            <a:srgbClr val="134074"/>
          </a:solidFill>
          <a:ln>
            <a:noFill/>
          </a:ln>
        </p:spPr>
        <p:style>
          <a:lnRef idx="0"/>
          <a:fillRef idx="0"/>
          <a:effectRef idx="0"/>
          <a:fontRef idx="minor"/>
        </p:style>
      </p:sp>
      <p:pic>
        <p:nvPicPr>
          <p:cNvPr id="1982" name="Image 3" descr="preencoded.png"/>
          <p:cNvPicPr/>
          <p:nvPr/>
        </p:nvPicPr>
        <p:blipFill>
          <a:blip r:embed="rId4"/>
          <a:stretch/>
        </p:blipFill>
        <p:spPr>
          <a:xfrm>
            <a:off x="6551640" y="3074760"/>
            <a:ext cx="271800" cy="271800"/>
          </a:xfrm>
          <a:prstGeom prst="rect">
            <a:avLst/>
          </a:prstGeom>
          <a:ln>
            <a:noFill/>
          </a:ln>
        </p:spPr>
      </p:pic>
      <p:sp>
        <p:nvSpPr>
          <p:cNvPr id="1983" name="CustomShape 16"/>
          <p:cNvSpPr/>
          <p:nvPr/>
        </p:nvSpPr>
        <p:spPr>
          <a:xfrm>
            <a:off x="7146000" y="2766240"/>
            <a:ext cx="4308840" cy="88920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Mantenimiento por umbrales</a:t>
            </a:r>
            <a:endParaRPr b="0" lang="es-ES" sz="1600" spc="-1" strike="noStrike">
              <a:latin typeface="Arial"/>
            </a:endParaRPr>
          </a:p>
          <a:p>
            <a:pPr>
              <a:lnSpc>
                <a:spcPct val="100000"/>
              </a:lnSpc>
              <a:tabLst>
                <a:tab algn="l" pos="0"/>
              </a:tabLst>
            </a:pPr>
            <a:r>
              <a:rPr b="0" lang="en-US" sz="1400" spc="-1" strike="noStrike">
                <a:solidFill>
                  <a:srgbClr val="1f2933"/>
                </a:solidFill>
                <a:latin typeface="Calibri"/>
                <a:ea typeface="Calibri"/>
              </a:rPr>
              <a:t>Índices y estadísticas con scripts, no a ciegas.</a:t>
            </a:r>
            <a:endParaRPr b="0" lang="es-ES" sz="1400" spc="-1" strike="noStrike">
              <a:latin typeface="Arial"/>
            </a:endParaRPr>
          </a:p>
        </p:txBody>
      </p:sp>
      <p:sp>
        <p:nvSpPr>
          <p:cNvPr id="1984" name="CustomShape 17"/>
          <p:cNvSpPr/>
          <p:nvPr/>
        </p:nvSpPr>
        <p:spPr>
          <a:xfrm>
            <a:off x="548640" y="3931920"/>
            <a:ext cx="5406120" cy="889200"/>
          </a:xfrm>
          <a:prstGeom prst="roundRect">
            <a:avLst>
              <a:gd name="adj" fmla="val 12308"/>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985" name="CustomShape 18"/>
          <p:cNvSpPr/>
          <p:nvPr/>
        </p:nvSpPr>
        <p:spPr>
          <a:xfrm>
            <a:off x="731520" y="4103280"/>
            <a:ext cx="546120" cy="546120"/>
          </a:xfrm>
          <a:prstGeom prst="ellipse">
            <a:avLst/>
          </a:prstGeom>
          <a:solidFill>
            <a:srgbClr val="134074"/>
          </a:solidFill>
          <a:ln>
            <a:noFill/>
          </a:ln>
        </p:spPr>
        <p:style>
          <a:lnRef idx="0"/>
          <a:fillRef idx="0"/>
          <a:effectRef idx="0"/>
          <a:fontRef idx="minor"/>
        </p:style>
      </p:sp>
      <p:pic>
        <p:nvPicPr>
          <p:cNvPr id="1986" name="Image 4" descr="preencoded.png"/>
          <p:cNvPicPr/>
          <p:nvPr/>
        </p:nvPicPr>
        <p:blipFill>
          <a:blip r:embed="rId5"/>
          <a:stretch/>
        </p:blipFill>
        <p:spPr>
          <a:xfrm>
            <a:off x="868680" y="4240440"/>
            <a:ext cx="271800" cy="271800"/>
          </a:xfrm>
          <a:prstGeom prst="rect">
            <a:avLst/>
          </a:prstGeom>
          <a:ln>
            <a:noFill/>
          </a:ln>
        </p:spPr>
      </p:pic>
      <p:sp>
        <p:nvSpPr>
          <p:cNvPr id="1987" name="CustomShape 19"/>
          <p:cNvSpPr/>
          <p:nvPr/>
        </p:nvSpPr>
        <p:spPr>
          <a:xfrm>
            <a:off x="1463040" y="3931920"/>
            <a:ext cx="4308840" cy="88920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Capacidad controlada</a:t>
            </a:r>
            <a:endParaRPr b="0" lang="es-ES" sz="1600" spc="-1" strike="noStrike">
              <a:latin typeface="Arial"/>
            </a:endParaRPr>
          </a:p>
          <a:p>
            <a:pPr>
              <a:lnSpc>
                <a:spcPct val="100000"/>
              </a:lnSpc>
              <a:tabLst>
                <a:tab algn="l" pos="0"/>
              </a:tabLst>
            </a:pPr>
            <a:r>
              <a:rPr b="0" lang="en-US" sz="1400" spc="-1" strike="noStrike">
                <a:solidFill>
                  <a:srgbClr val="1f2933"/>
                </a:solidFill>
                <a:latin typeface="Calibri"/>
                <a:ea typeface="Calibri"/>
              </a:rPr>
              <a:t>Autogrowth fijo, tempdb igual y espacio monitorizado.</a:t>
            </a:r>
            <a:endParaRPr b="0" lang="es-ES" sz="1400" spc="-1" strike="noStrike">
              <a:latin typeface="Arial"/>
            </a:endParaRPr>
          </a:p>
        </p:txBody>
      </p:sp>
      <p:sp>
        <p:nvSpPr>
          <p:cNvPr id="1988" name="CustomShape 20"/>
          <p:cNvSpPr/>
          <p:nvPr/>
        </p:nvSpPr>
        <p:spPr>
          <a:xfrm>
            <a:off x="6231600" y="3931920"/>
            <a:ext cx="5406120" cy="889200"/>
          </a:xfrm>
          <a:prstGeom prst="roundRect">
            <a:avLst>
              <a:gd name="adj" fmla="val 12308"/>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989" name="CustomShape 21"/>
          <p:cNvSpPr/>
          <p:nvPr/>
        </p:nvSpPr>
        <p:spPr>
          <a:xfrm>
            <a:off x="6414480" y="4103280"/>
            <a:ext cx="546120" cy="546120"/>
          </a:xfrm>
          <a:prstGeom prst="ellipse">
            <a:avLst/>
          </a:prstGeom>
          <a:solidFill>
            <a:srgbClr val="134074"/>
          </a:solidFill>
          <a:ln>
            <a:noFill/>
          </a:ln>
        </p:spPr>
        <p:style>
          <a:lnRef idx="0"/>
          <a:fillRef idx="0"/>
          <a:effectRef idx="0"/>
          <a:fontRef idx="minor"/>
        </p:style>
      </p:sp>
      <p:pic>
        <p:nvPicPr>
          <p:cNvPr id="1990" name="Image 5" descr="preencoded.png"/>
          <p:cNvPicPr/>
          <p:nvPr/>
        </p:nvPicPr>
        <p:blipFill>
          <a:blip r:embed="rId6"/>
          <a:stretch/>
        </p:blipFill>
        <p:spPr>
          <a:xfrm>
            <a:off x="6551640" y="4240440"/>
            <a:ext cx="271800" cy="271800"/>
          </a:xfrm>
          <a:prstGeom prst="rect">
            <a:avLst/>
          </a:prstGeom>
          <a:ln>
            <a:noFill/>
          </a:ln>
        </p:spPr>
      </p:pic>
      <p:sp>
        <p:nvSpPr>
          <p:cNvPr id="1991" name="CustomShape 22"/>
          <p:cNvSpPr/>
          <p:nvPr/>
        </p:nvSpPr>
        <p:spPr>
          <a:xfrm>
            <a:off x="7146000" y="3931920"/>
            <a:ext cx="4308840" cy="88920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Alertas operativas</a:t>
            </a:r>
            <a:endParaRPr b="0" lang="es-ES" sz="1600" spc="-1" strike="noStrike">
              <a:latin typeface="Arial"/>
            </a:endParaRPr>
          </a:p>
          <a:p>
            <a:pPr>
              <a:lnSpc>
                <a:spcPct val="100000"/>
              </a:lnSpc>
              <a:tabLst>
                <a:tab algn="l" pos="0"/>
              </a:tabLst>
            </a:pPr>
            <a:r>
              <a:rPr b="0" lang="en-US" sz="1400" spc="-1" strike="noStrike">
                <a:solidFill>
                  <a:srgbClr val="1f2933"/>
                </a:solidFill>
                <a:latin typeface="Calibri"/>
                <a:ea typeface="Calibri"/>
              </a:rPr>
              <a:t>Errores 823/824/825 y gravedad 19–25 por correo.</a:t>
            </a:r>
            <a:endParaRPr b="0" lang="es-ES" sz="1400" spc="-1" strike="noStrike">
              <a:latin typeface="Arial"/>
            </a:endParaRPr>
          </a:p>
        </p:txBody>
      </p:sp>
      <p:sp>
        <p:nvSpPr>
          <p:cNvPr id="1992" name="CustomShape 23"/>
          <p:cNvSpPr/>
          <p:nvPr/>
        </p:nvSpPr>
        <p:spPr>
          <a:xfrm>
            <a:off x="548640" y="5097960"/>
            <a:ext cx="5406120" cy="889200"/>
          </a:xfrm>
          <a:prstGeom prst="roundRect">
            <a:avLst>
              <a:gd name="adj" fmla="val 12308"/>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993" name="CustomShape 24"/>
          <p:cNvSpPr/>
          <p:nvPr/>
        </p:nvSpPr>
        <p:spPr>
          <a:xfrm>
            <a:off x="731520" y="5269320"/>
            <a:ext cx="546120" cy="546120"/>
          </a:xfrm>
          <a:prstGeom prst="ellipse">
            <a:avLst/>
          </a:prstGeom>
          <a:solidFill>
            <a:srgbClr val="134074"/>
          </a:solidFill>
          <a:ln>
            <a:noFill/>
          </a:ln>
        </p:spPr>
        <p:style>
          <a:lnRef idx="0"/>
          <a:fillRef idx="0"/>
          <a:effectRef idx="0"/>
          <a:fontRef idx="minor"/>
        </p:style>
      </p:sp>
      <p:pic>
        <p:nvPicPr>
          <p:cNvPr id="1994" name="Image 6" descr="preencoded.png"/>
          <p:cNvPicPr/>
          <p:nvPr/>
        </p:nvPicPr>
        <p:blipFill>
          <a:blip r:embed="rId7"/>
          <a:stretch/>
        </p:blipFill>
        <p:spPr>
          <a:xfrm>
            <a:off x="868680" y="5406480"/>
            <a:ext cx="271800" cy="271800"/>
          </a:xfrm>
          <a:prstGeom prst="rect">
            <a:avLst/>
          </a:prstGeom>
          <a:ln>
            <a:noFill/>
          </a:ln>
        </p:spPr>
      </p:pic>
      <p:sp>
        <p:nvSpPr>
          <p:cNvPr id="1995" name="CustomShape 25"/>
          <p:cNvSpPr/>
          <p:nvPr/>
        </p:nvSpPr>
        <p:spPr>
          <a:xfrm>
            <a:off x="1463040" y="5097960"/>
            <a:ext cx="4308840" cy="88920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Mínimo privilegio</a:t>
            </a:r>
            <a:endParaRPr b="0" lang="es-ES" sz="1600" spc="-1" strike="noStrike">
              <a:latin typeface="Arial"/>
            </a:endParaRPr>
          </a:p>
          <a:p>
            <a:pPr>
              <a:lnSpc>
                <a:spcPct val="100000"/>
              </a:lnSpc>
              <a:tabLst>
                <a:tab algn="l" pos="0"/>
              </a:tabLst>
            </a:pPr>
            <a:r>
              <a:rPr b="0" lang="en-US" sz="1400" spc="-1" strike="noStrike">
                <a:solidFill>
                  <a:srgbClr val="1f2933"/>
                </a:solidFill>
                <a:latin typeface="Calibri"/>
                <a:ea typeface="Calibri"/>
              </a:rPr>
              <a:t>Roles ajustados y auditoría de sysadmin.</a:t>
            </a:r>
            <a:endParaRPr b="0" lang="es-ES" sz="1400" spc="-1" strike="noStrike">
              <a:latin typeface="Arial"/>
            </a:endParaRPr>
          </a:p>
        </p:txBody>
      </p:sp>
      <p:sp>
        <p:nvSpPr>
          <p:cNvPr id="1996" name="CustomShape 26"/>
          <p:cNvSpPr/>
          <p:nvPr/>
        </p:nvSpPr>
        <p:spPr>
          <a:xfrm>
            <a:off x="6231600" y="5097960"/>
            <a:ext cx="5406120" cy="889200"/>
          </a:xfrm>
          <a:prstGeom prst="roundRect">
            <a:avLst>
              <a:gd name="adj" fmla="val 12308"/>
            </a:avLst>
          </a:prstGeom>
          <a:solidFill>
            <a:srgbClr val="ffffff"/>
          </a:solidFill>
          <a:ln w="9360">
            <a:solidFill>
              <a:srgbClr val="d0d7de"/>
            </a:solidFill>
            <a:round/>
          </a:ln>
          <a:effectLst>
            <a:outerShdw algn="bl" blurRad="101600" dir="5400000" dist="25560" kx="0" ky="0" rotWithShape="0" sx="100000" sy="100000">
              <a:srgbClr val="000000">
                <a:alpha val="14000"/>
              </a:srgbClr>
            </a:outerShdw>
          </a:effectLst>
        </p:spPr>
        <p:style>
          <a:lnRef idx="0"/>
          <a:fillRef idx="0"/>
          <a:effectRef idx="0"/>
          <a:fontRef idx="minor"/>
        </p:style>
      </p:sp>
      <p:sp>
        <p:nvSpPr>
          <p:cNvPr id="1997" name="CustomShape 27"/>
          <p:cNvSpPr/>
          <p:nvPr/>
        </p:nvSpPr>
        <p:spPr>
          <a:xfrm>
            <a:off x="6414480" y="5269320"/>
            <a:ext cx="546120" cy="546120"/>
          </a:xfrm>
          <a:prstGeom prst="ellipse">
            <a:avLst/>
          </a:prstGeom>
          <a:solidFill>
            <a:srgbClr val="134074"/>
          </a:solidFill>
          <a:ln>
            <a:noFill/>
          </a:ln>
        </p:spPr>
        <p:style>
          <a:lnRef idx="0"/>
          <a:fillRef idx="0"/>
          <a:effectRef idx="0"/>
          <a:fontRef idx="minor"/>
        </p:style>
      </p:sp>
      <p:pic>
        <p:nvPicPr>
          <p:cNvPr id="1998" name="Image 7" descr="preencoded.png"/>
          <p:cNvPicPr/>
          <p:nvPr/>
        </p:nvPicPr>
        <p:blipFill>
          <a:blip r:embed="rId8"/>
          <a:stretch/>
        </p:blipFill>
        <p:spPr>
          <a:xfrm>
            <a:off x="6551640" y="5406480"/>
            <a:ext cx="271800" cy="271800"/>
          </a:xfrm>
          <a:prstGeom prst="rect">
            <a:avLst/>
          </a:prstGeom>
          <a:ln>
            <a:noFill/>
          </a:ln>
        </p:spPr>
      </p:pic>
      <p:sp>
        <p:nvSpPr>
          <p:cNvPr id="1999" name="CustomShape 28"/>
          <p:cNvSpPr/>
          <p:nvPr/>
        </p:nvSpPr>
        <p:spPr>
          <a:xfrm>
            <a:off x="7146000" y="5097960"/>
            <a:ext cx="4308840" cy="889200"/>
          </a:xfrm>
          <a:prstGeom prst="rect">
            <a:avLst/>
          </a:prstGeom>
          <a:noFill/>
          <a:ln>
            <a:noFill/>
          </a:ln>
        </p:spPr>
        <p:style>
          <a:lnRef idx="0"/>
          <a:fillRef idx="0"/>
          <a:effectRef idx="0"/>
          <a:fontRef idx="minor"/>
        </p:style>
        <p:txBody>
          <a:bodyPr lIns="0" rIns="0" tIns="0" bIns="0" anchor="ctr">
            <a:noAutofit/>
          </a:bodyPr>
          <a:p>
            <a:pPr>
              <a:lnSpc>
                <a:spcPct val="100000"/>
              </a:lnSpc>
              <a:spcAft>
                <a:spcPts val="201"/>
              </a:spcAft>
              <a:tabLst>
                <a:tab algn="l" pos="0"/>
              </a:tabLst>
            </a:pPr>
            <a:r>
              <a:rPr b="1" lang="en-US" sz="1600" spc="-1" strike="noStrike">
                <a:solidFill>
                  <a:srgbClr val="0b2545"/>
                </a:solidFill>
                <a:latin typeface="Calibri"/>
                <a:ea typeface="Calibri"/>
              </a:rPr>
              <a:t>Runbook y DR</a:t>
            </a:r>
            <a:endParaRPr b="0" lang="es-ES" sz="1600" spc="-1" strike="noStrike">
              <a:latin typeface="Arial"/>
            </a:endParaRPr>
          </a:p>
          <a:p>
            <a:pPr>
              <a:lnSpc>
                <a:spcPct val="100000"/>
              </a:lnSpc>
              <a:tabLst>
                <a:tab algn="l" pos="0"/>
              </a:tabLst>
            </a:pPr>
            <a:r>
              <a:rPr b="0" lang="en-US" sz="1400" spc="-1" strike="noStrike">
                <a:solidFill>
                  <a:srgbClr val="1f2933"/>
                </a:solidFill>
                <a:latin typeface="Calibri"/>
                <a:ea typeface="Calibri"/>
              </a:rPr>
              <a:t>Procedimientos documentados y RPO/RTO medidos.</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1528"/>
        </a:solidFill>
      </p:bgPr>
    </p:bg>
    <p:spTree>
      <p:nvGrpSpPr>
        <p:cNvPr id="1" name=""/>
        <p:cNvGrpSpPr/>
        <p:nvPr/>
      </p:nvGrpSpPr>
      <p:grpSpPr>
        <a:xfrm>
          <a:off x="0" y="0"/>
          <a:ext cx="0" cy="0"/>
          <a:chOff x="0" y="0"/>
          <a:chExt cx="0" cy="0"/>
        </a:xfrm>
      </p:grpSpPr>
      <p:sp>
        <p:nvSpPr>
          <p:cNvPr id="2000" name="CustomShape 1"/>
          <p:cNvSpPr/>
          <p:nvPr/>
        </p:nvSpPr>
        <p:spPr>
          <a:xfrm>
            <a:off x="731520" y="731520"/>
            <a:ext cx="10695960" cy="9118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4000" spc="-1" strike="noStrike">
                <a:solidFill>
                  <a:srgbClr val="ffffff"/>
                </a:solidFill>
                <a:latin typeface="Calibri"/>
                <a:ea typeface="Calibri"/>
              </a:rPr>
              <a:t>Gracias: ahora piensas como un DBA</a:t>
            </a:r>
            <a:endParaRPr b="0" lang="es-ES" sz="4000" spc="-1" strike="noStrike">
              <a:latin typeface="Arial"/>
            </a:endParaRPr>
          </a:p>
        </p:txBody>
      </p:sp>
      <p:sp>
        <p:nvSpPr>
          <p:cNvPr id="2001" name="CustomShape 2"/>
          <p:cNvSpPr/>
          <p:nvPr/>
        </p:nvSpPr>
        <p:spPr>
          <a:xfrm>
            <a:off x="731520" y="2103120"/>
            <a:ext cx="2466360" cy="3106440"/>
          </a:xfrm>
          <a:prstGeom prst="roundRect">
            <a:avLst>
              <a:gd name="adj" fmla="val 4444"/>
            </a:avLst>
          </a:prstGeom>
          <a:solidFill>
            <a:srgbClr val="ffffff">
              <a:alpha val="10000"/>
            </a:srgbClr>
          </a:solidFill>
          <a:ln>
            <a:noFill/>
          </a:ln>
        </p:spPr>
        <p:style>
          <a:lnRef idx="0"/>
          <a:fillRef idx="0"/>
          <a:effectRef idx="0"/>
          <a:fontRef idx="minor"/>
        </p:style>
      </p:sp>
      <p:sp>
        <p:nvSpPr>
          <p:cNvPr id="2002" name="CustomShape 3"/>
          <p:cNvSpPr/>
          <p:nvPr/>
        </p:nvSpPr>
        <p:spPr>
          <a:xfrm>
            <a:off x="1005840" y="2377440"/>
            <a:ext cx="637560" cy="637560"/>
          </a:xfrm>
          <a:prstGeom prst="ellipse">
            <a:avLst/>
          </a:prstGeom>
          <a:solidFill>
            <a:srgbClr val="d95d39"/>
          </a:solidFill>
          <a:ln>
            <a:noFill/>
          </a:ln>
        </p:spPr>
        <p:style>
          <a:lnRef idx="0"/>
          <a:fillRef idx="0"/>
          <a:effectRef idx="0"/>
          <a:fontRef idx="minor"/>
        </p:style>
      </p:sp>
      <p:pic>
        <p:nvPicPr>
          <p:cNvPr id="2003" name="Image 0" descr="preencoded.png"/>
          <p:cNvPicPr/>
          <p:nvPr/>
        </p:nvPicPr>
        <p:blipFill>
          <a:blip r:embed="rId1"/>
          <a:stretch/>
        </p:blipFill>
        <p:spPr>
          <a:xfrm>
            <a:off x="1166040" y="2537640"/>
            <a:ext cx="317520" cy="317520"/>
          </a:xfrm>
          <a:prstGeom prst="rect">
            <a:avLst/>
          </a:prstGeom>
          <a:ln>
            <a:noFill/>
          </a:ln>
        </p:spPr>
      </p:pic>
      <p:sp>
        <p:nvSpPr>
          <p:cNvPr id="2004" name="CustomShape 4"/>
          <p:cNvSpPr/>
          <p:nvPr/>
        </p:nvSpPr>
        <p:spPr>
          <a:xfrm>
            <a:off x="1005840" y="3200400"/>
            <a:ext cx="1917720" cy="5461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800" spc="-1" strike="noStrike">
                <a:solidFill>
                  <a:srgbClr val="ffffff"/>
                </a:solidFill>
                <a:latin typeface="Calibri"/>
                <a:ea typeface="Calibri"/>
              </a:rPr>
              <a:t>Entiende el motor</a:t>
            </a:r>
            <a:endParaRPr b="0" lang="es-ES" sz="1800" spc="-1" strike="noStrike">
              <a:latin typeface="Arial"/>
            </a:endParaRPr>
          </a:p>
        </p:txBody>
      </p:sp>
      <p:sp>
        <p:nvSpPr>
          <p:cNvPr id="2005" name="CustomShape 5"/>
          <p:cNvSpPr/>
          <p:nvPr/>
        </p:nvSpPr>
        <p:spPr>
          <a:xfrm>
            <a:off x="1005840" y="3794760"/>
            <a:ext cx="1917720" cy="12776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dce6f2"/>
                </a:solidFill>
                <a:latin typeface="Calibri"/>
                <a:ea typeface="Calibri"/>
              </a:rPr>
              <a:t>Buffer Pool, WAL y VLFs explican rendimiento y recuperación.</a:t>
            </a:r>
            <a:endParaRPr b="0" lang="es-ES" sz="1400" spc="-1" strike="noStrike">
              <a:latin typeface="Arial"/>
            </a:endParaRPr>
          </a:p>
        </p:txBody>
      </p:sp>
      <p:sp>
        <p:nvSpPr>
          <p:cNvPr id="2006" name="CustomShape 6"/>
          <p:cNvSpPr/>
          <p:nvPr/>
        </p:nvSpPr>
        <p:spPr>
          <a:xfrm>
            <a:off x="3474720" y="2103120"/>
            <a:ext cx="2466360" cy="3106440"/>
          </a:xfrm>
          <a:prstGeom prst="roundRect">
            <a:avLst>
              <a:gd name="adj" fmla="val 4444"/>
            </a:avLst>
          </a:prstGeom>
          <a:solidFill>
            <a:srgbClr val="ffffff">
              <a:alpha val="10000"/>
            </a:srgbClr>
          </a:solidFill>
          <a:ln>
            <a:noFill/>
          </a:ln>
        </p:spPr>
        <p:style>
          <a:lnRef idx="0"/>
          <a:fillRef idx="0"/>
          <a:effectRef idx="0"/>
          <a:fontRef idx="minor"/>
        </p:style>
      </p:sp>
      <p:sp>
        <p:nvSpPr>
          <p:cNvPr id="2007" name="CustomShape 7"/>
          <p:cNvSpPr/>
          <p:nvPr/>
        </p:nvSpPr>
        <p:spPr>
          <a:xfrm>
            <a:off x="3749040" y="2377440"/>
            <a:ext cx="637560" cy="637560"/>
          </a:xfrm>
          <a:prstGeom prst="ellipse">
            <a:avLst/>
          </a:prstGeom>
          <a:solidFill>
            <a:srgbClr val="d95d39"/>
          </a:solidFill>
          <a:ln>
            <a:noFill/>
          </a:ln>
        </p:spPr>
        <p:style>
          <a:lnRef idx="0"/>
          <a:fillRef idx="0"/>
          <a:effectRef idx="0"/>
          <a:fontRef idx="minor"/>
        </p:style>
      </p:sp>
      <p:pic>
        <p:nvPicPr>
          <p:cNvPr id="2008" name="Image 1" descr="preencoded.png"/>
          <p:cNvPicPr/>
          <p:nvPr/>
        </p:nvPicPr>
        <p:blipFill>
          <a:blip r:embed="rId2"/>
          <a:stretch/>
        </p:blipFill>
        <p:spPr>
          <a:xfrm>
            <a:off x="3909240" y="2537640"/>
            <a:ext cx="317520" cy="317520"/>
          </a:xfrm>
          <a:prstGeom prst="rect">
            <a:avLst/>
          </a:prstGeom>
          <a:ln>
            <a:noFill/>
          </a:ln>
        </p:spPr>
      </p:pic>
      <p:sp>
        <p:nvSpPr>
          <p:cNvPr id="2009" name="CustomShape 8"/>
          <p:cNvSpPr/>
          <p:nvPr/>
        </p:nvSpPr>
        <p:spPr>
          <a:xfrm>
            <a:off x="3749040" y="3200400"/>
            <a:ext cx="1917720" cy="5461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800" spc="-1" strike="noStrike">
                <a:solidFill>
                  <a:srgbClr val="ffffff"/>
                </a:solidFill>
                <a:latin typeface="Calibri"/>
                <a:ea typeface="Calibri"/>
              </a:rPr>
              <a:t>Protege los datos</a:t>
            </a:r>
            <a:endParaRPr b="0" lang="es-ES" sz="1800" spc="-1" strike="noStrike">
              <a:latin typeface="Arial"/>
            </a:endParaRPr>
          </a:p>
        </p:txBody>
      </p:sp>
      <p:sp>
        <p:nvSpPr>
          <p:cNvPr id="2010" name="CustomShape 9"/>
          <p:cNvSpPr/>
          <p:nvPr/>
        </p:nvSpPr>
        <p:spPr>
          <a:xfrm>
            <a:off x="3749040" y="3794760"/>
            <a:ext cx="1917720" cy="12776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dce6f2"/>
                </a:solidFill>
                <a:latin typeface="Calibri"/>
                <a:ea typeface="Calibri"/>
              </a:rPr>
              <a:t>Mínimo privilegio y backups con CHECKSUM, probados.</a:t>
            </a:r>
            <a:endParaRPr b="0" lang="es-ES" sz="1400" spc="-1" strike="noStrike">
              <a:latin typeface="Arial"/>
            </a:endParaRPr>
          </a:p>
        </p:txBody>
      </p:sp>
      <p:sp>
        <p:nvSpPr>
          <p:cNvPr id="2011" name="CustomShape 10"/>
          <p:cNvSpPr/>
          <p:nvPr/>
        </p:nvSpPr>
        <p:spPr>
          <a:xfrm>
            <a:off x="6217920" y="2103120"/>
            <a:ext cx="2466360" cy="3106440"/>
          </a:xfrm>
          <a:prstGeom prst="roundRect">
            <a:avLst>
              <a:gd name="adj" fmla="val 4444"/>
            </a:avLst>
          </a:prstGeom>
          <a:solidFill>
            <a:srgbClr val="ffffff">
              <a:alpha val="10000"/>
            </a:srgbClr>
          </a:solidFill>
          <a:ln>
            <a:noFill/>
          </a:ln>
        </p:spPr>
        <p:style>
          <a:lnRef idx="0"/>
          <a:fillRef idx="0"/>
          <a:effectRef idx="0"/>
          <a:fontRef idx="minor"/>
        </p:style>
      </p:sp>
      <p:sp>
        <p:nvSpPr>
          <p:cNvPr id="2012" name="CustomShape 11"/>
          <p:cNvSpPr/>
          <p:nvPr/>
        </p:nvSpPr>
        <p:spPr>
          <a:xfrm>
            <a:off x="6492240" y="2377440"/>
            <a:ext cx="637560" cy="637560"/>
          </a:xfrm>
          <a:prstGeom prst="ellipse">
            <a:avLst/>
          </a:prstGeom>
          <a:solidFill>
            <a:srgbClr val="d95d39"/>
          </a:solidFill>
          <a:ln>
            <a:noFill/>
          </a:ln>
        </p:spPr>
        <p:style>
          <a:lnRef idx="0"/>
          <a:fillRef idx="0"/>
          <a:effectRef idx="0"/>
          <a:fontRef idx="minor"/>
        </p:style>
      </p:sp>
      <p:pic>
        <p:nvPicPr>
          <p:cNvPr id="2013" name="Image 2" descr="preencoded.png"/>
          <p:cNvPicPr/>
          <p:nvPr/>
        </p:nvPicPr>
        <p:blipFill>
          <a:blip r:embed="rId3"/>
          <a:stretch/>
        </p:blipFill>
        <p:spPr>
          <a:xfrm>
            <a:off x="6652440" y="2537640"/>
            <a:ext cx="317520" cy="317520"/>
          </a:xfrm>
          <a:prstGeom prst="rect">
            <a:avLst/>
          </a:prstGeom>
          <a:ln>
            <a:noFill/>
          </a:ln>
        </p:spPr>
      </p:pic>
      <p:sp>
        <p:nvSpPr>
          <p:cNvPr id="2014" name="CustomShape 12"/>
          <p:cNvSpPr/>
          <p:nvPr/>
        </p:nvSpPr>
        <p:spPr>
          <a:xfrm>
            <a:off x="6492240" y="3200400"/>
            <a:ext cx="1917720" cy="5461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800" spc="-1" strike="noStrike">
                <a:solidFill>
                  <a:srgbClr val="ffffff"/>
                </a:solidFill>
                <a:latin typeface="Calibri"/>
                <a:ea typeface="Calibri"/>
              </a:rPr>
              <a:t>Optimiza con datos</a:t>
            </a:r>
            <a:endParaRPr b="0" lang="es-ES" sz="1800" spc="-1" strike="noStrike">
              <a:latin typeface="Arial"/>
            </a:endParaRPr>
          </a:p>
        </p:txBody>
      </p:sp>
      <p:sp>
        <p:nvSpPr>
          <p:cNvPr id="2015" name="CustomShape 13"/>
          <p:cNvSpPr/>
          <p:nvPr/>
        </p:nvSpPr>
        <p:spPr>
          <a:xfrm>
            <a:off x="6492240" y="3794760"/>
            <a:ext cx="1917720" cy="12776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dce6f2"/>
                </a:solidFill>
                <a:latin typeface="Calibri"/>
                <a:ea typeface="Calibri"/>
              </a:rPr>
              <a:t>Índices, estadísticas y DMVs antes de tocar nada.</a:t>
            </a:r>
            <a:endParaRPr b="0" lang="es-ES" sz="1400" spc="-1" strike="noStrike">
              <a:latin typeface="Arial"/>
            </a:endParaRPr>
          </a:p>
        </p:txBody>
      </p:sp>
      <p:sp>
        <p:nvSpPr>
          <p:cNvPr id="2016" name="CustomShape 14"/>
          <p:cNvSpPr/>
          <p:nvPr/>
        </p:nvSpPr>
        <p:spPr>
          <a:xfrm>
            <a:off x="8961120" y="2103120"/>
            <a:ext cx="2466360" cy="3106440"/>
          </a:xfrm>
          <a:prstGeom prst="roundRect">
            <a:avLst>
              <a:gd name="adj" fmla="val 4444"/>
            </a:avLst>
          </a:prstGeom>
          <a:solidFill>
            <a:srgbClr val="ffffff">
              <a:alpha val="10000"/>
            </a:srgbClr>
          </a:solidFill>
          <a:ln>
            <a:noFill/>
          </a:ln>
        </p:spPr>
        <p:style>
          <a:lnRef idx="0"/>
          <a:fillRef idx="0"/>
          <a:effectRef idx="0"/>
          <a:fontRef idx="minor"/>
        </p:style>
      </p:sp>
      <p:sp>
        <p:nvSpPr>
          <p:cNvPr id="2017" name="CustomShape 15"/>
          <p:cNvSpPr/>
          <p:nvPr/>
        </p:nvSpPr>
        <p:spPr>
          <a:xfrm>
            <a:off x="9235440" y="2377440"/>
            <a:ext cx="637560" cy="637560"/>
          </a:xfrm>
          <a:prstGeom prst="ellipse">
            <a:avLst/>
          </a:prstGeom>
          <a:solidFill>
            <a:srgbClr val="d95d39"/>
          </a:solidFill>
          <a:ln>
            <a:noFill/>
          </a:ln>
        </p:spPr>
        <p:style>
          <a:lnRef idx="0"/>
          <a:fillRef idx="0"/>
          <a:effectRef idx="0"/>
          <a:fontRef idx="minor"/>
        </p:style>
      </p:sp>
      <p:pic>
        <p:nvPicPr>
          <p:cNvPr id="2018" name="Image 3" descr="preencoded.png"/>
          <p:cNvPicPr/>
          <p:nvPr/>
        </p:nvPicPr>
        <p:blipFill>
          <a:blip r:embed="rId4"/>
          <a:stretch/>
        </p:blipFill>
        <p:spPr>
          <a:xfrm>
            <a:off x="9395640" y="2537640"/>
            <a:ext cx="317520" cy="317520"/>
          </a:xfrm>
          <a:prstGeom prst="rect">
            <a:avLst/>
          </a:prstGeom>
          <a:ln>
            <a:noFill/>
          </a:ln>
        </p:spPr>
      </p:pic>
      <p:sp>
        <p:nvSpPr>
          <p:cNvPr id="2019" name="CustomShape 16"/>
          <p:cNvSpPr/>
          <p:nvPr/>
        </p:nvSpPr>
        <p:spPr>
          <a:xfrm>
            <a:off x="9235440" y="3200400"/>
            <a:ext cx="1917720" cy="54612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1" lang="en-US" sz="1800" spc="-1" strike="noStrike">
                <a:solidFill>
                  <a:srgbClr val="ffffff"/>
                </a:solidFill>
                <a:latin typeface="Calibri"/>
                <a:ea typeface="Calibri"/>
              </a:rPr>
              <a:t>Automatiza y vigila</a:t>
            </a:r>
            <a:endParaRPr b="0" lang="es-ES" sz="1800" spc="-1" strike="noStrike">
              <a:latin typeface="Arial"/>
            </a:endParaRPr>
          </a:p>
        </p:txBody>
      </p:sp>
      <p:sp>
        <p:nvSpPr>
          <p:cNvPr id="2020" name="CustomShape 17"/>
          <p:cNvSpPr/>
          <p:nvPr/>
        </p:nvSpPr>
        <p:spPr>
          <a:xfrm>
            <a:off x="9235440" y="3794760"/>
            <a:ext cx="1917720" cy="1277640"/>
          </a:xfrm>
          <a:prstGeom prst="rect">
            <a:avLst/>
          </a:prstGeom>
          <a:noFill/>
          <a:ln>
            <a:noFill/>
          </a:ln>
        </p:spPr>
        <p:style>
          <a:lnRef idx="0"/>
          <a:fillRef idx="0"/>
          <a:effectRef idx="0"/>
          <a:fontRef idx="minor"/>
        </p:style>
        <p:txBody>
          <a:bodyPr lIns="0" rIns="0" tIns="0" bIns="0">
            <a:noAutofit/>
          </a:bodyPr>
          <a:p>
            <a:pPr>
              <a:lnSpc>
                <a:spcPct val="100000"/>
              </a:lnSpc>
              <a:tabLst>
                <a:tab algn="l" pos="0"/>
              </a:tabLst>
            </a:pPr>
            <a:r>
              <a:rPr b="0" lang="en-US" sz="1400" spc="-1" strike="noStrike">
                <a:solidFill>
                  <a:srgbClr val="dce6f2"/>
                </a:solidFill>
                <a:latin typeface="Calibri"/>
                <a:ea typeface="Calibri"/>
              </a:rPr>
              <a:t>Jobs, alertas y runbooks: menos errores humanos.</a:t>
            </a:r>
            <a:endParaRPr b="0" lang="es-ES" sz="1400" spc="-1" strike="noStrike">
              <a:latin typeface="Arial"/>
            </a:endParaRPr>
          </a:p>
        </p:txBody>
      </p:sp>
      <p:sp>
        <p:nvSpPr>
          <p:cNvPr id="2021" name="CustomShape 18"/>
          <p:cNvSpPr/>
          <p:nvPr/>
        </p:nvSpPr>
        <p:spPr>
          <a:xfrm>
            <a:off x="548640" y="6400800"/>
            <a:ext cx="5483880" cy="2718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00" spc="-1" strike="noStrike">
                <a:solidFill>
                  <a:srgbClr val="8da9c4"/>
                </a:solidFill>
                <a:latin typeface="Calibri"/>
                <a:ea typeface="Calibri"/>
              </a:rPr>
              <a:t>Curso de Administración de SQL Server · 20 h</a:t>
            </a:r>
            <a:endParaRPr b="0" lang="es-ES" sz="1000" spc="-1" strike="noStrike">
              <a:latin typeface="Arial"/>
            </a:endParaRPr>
          </a:p>
        </p:txBody>
      </p:sp>
      <p:sp>
        <p:nvSpPr>
          <p:cNvPr id="2022" name="CustomShape 19"/>
          <p:cNvSpPr/>
          <p:nvPr/>
        </p:nvSpPr>
        <p:spPr>
          <a:xfrm>
            <a:off x="7985520" y="6400800"/>
            <a:ext cx="3655080" cy="2718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0" lang="en-US" sz="1000" spc="-1" strike="noStrike">
                <a:solidFill>
                  <a:srgbClr val="8da9c4"/>
                </a:solidFill>
                <a:latin typeface="Calibri"/>
                <a:ea typeface="Calibri"/>
              </a:rPr>
              <a:t>Módulo 4   82</a:t>
            </a:r>
            <a:endParaRPr b="0" lang="es-ES" sz="10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593</TotalTime>
  <Application>LibreOffice/6.4.6.2$Linux_X86_64 LibreOffice_project/40$Build-2</Applicat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2026-10-18T09:14:43Z</dcterms:created>
  <dc:creator>Formación SQL Server</dc:creator>
  <dc:description/>
  <dc:language>es-ES</dc:language>
  <cp:lastModifiedBy/>
  <dcterms:modified xsi:type="dcterms:W3CDTF">2026-10-23T08:58:01Z</dcterms:modified>
  <cp:revision>29</cp:revision>
  <dc:subject>SQL Server DBA</dc:subject>
  <dc:title>Curso de Administración de SQL Server (20 h)</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PptxGenJS</vt:lpwstr>
  </property>
  <property fmtid="{D5CDD505-2E9C-101B-9397-08002B2CF9AE}" pid="4" name="HiddenSlides">
    <vt:i4>0</vt:i4>
  </property>
  <property fmtid="{D5CDD505-2E9C-101B-9397-08002B2CF9AE}" pid="5" name="HyperlinksChanged">
    <vt:bool>0</vt:bool>
  </property>
  <property fmtid="{D5CDD505-2E9C-101B-9397-08002B2CF9AE}" pid="6" name="LinksUpToDate">
    <vt:bool>0</vt:bool>
  </property>
  <property fmtid="{D5CDD505-2E9C-101B-9397-08002B2CF9AE}" pid="7" name="MMClips">
    <vt:i4>0</vt:i4>
  </property>
  <property fmtid="{D5CDD505-2E9C-101B-9397-08002B2CF9AE}" pid="8" name="Notes">
    <vt:i4>82</vt:i4>
  </property>
  <property fmtid="{D5CDD505-2E9C-101B-9397-08002B2CF9AE}" pid="9" name="PresentationFormat">
    <vt:lpwstr>On-screen Show (16:9)</vt:lpwstr>
  </property>
  <property fmtid="{D5CDD505-2E9C-101B-9397-08002B2CF9AE}" pid="10" name="ScaleCrop">
    <vt:bool>0</vt:bool>
  </property>
  <property fmtid="{D5CDD505-2E9C-101B-9397-08002B2CF9AE}" pid="11" name="ShareDoc">
    <vt:bool>0</vt:bool>
  </property>
  <property fmtid="{D5CDD505-2E9C-101B-9397-08002B2CF9AE}" pid="12" name="Slides">
    <vt:i4>82</vt:i4>
  </property>
</Properties>
</file>