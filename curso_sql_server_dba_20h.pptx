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notesSlide56.xml" ContentType="application/vnd.openxmlformats-officedocument.presentationml.notesSlide+xml"/>
  <Override PartName="/ppt/notesSlides/notesSlide55.xml" ContentType="application/vnd.openxmlformats-officedocument.presentationml.notesSlide+xml"/>
  <Override PartName="/ppt/notesSlides/notesSlide54.xml" ContentType="application/vnd.openxmlformats-officedocument.presentationml.notesSlide+xml"/>
  <Override PartName="/ppt/notesSlides/notesSlide53.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6.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62.xml" ContentType="application/vnd.openxmlformats-officedocument.presentationml.notesSlide+xml"/>
  <Override PartName="/ppt/notesSlides/notesSlide38.xml" ContentType="application/vnd.openxmlformats-officedocument.presentationml.notesSlide+xml"/>
  <Override PartName="/ppt/notesSlides/notesSlide61.xml" ContentType="application/vnd.openxmlformats-officedocument.presentationml.notesSlide+xml"/>
  <Override PartName="/ppt/notesSlides/notesSlide37.xml" ContentType="application/vnd.openxmlformats-officedocument.presentationml.notesSlide+xml"/>
  <Override PartName="/ppt/notesSlides/notesSlide60.xml" ContentType="application/vnd.openxmlformats-officedocument.presentationml.notesSlide+xml"/>
  <Override PartName="/ppt/notesSlides/notesSlide36.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5.xml" ContentType="application/vnd.openxmlformats-officedocument.presentationml.notesSlide+xml"/>
  <Override PartName="/ppt/notesSlides/notesSlide32.xml" ContentType="application/vnd.openxmlformats-officedocument.presentationml.notesSlide+xml"/>
  <Override PartName="/ppt/notesSlides/notesSlide19.xml" ContentType="application/vnd.openxmlformats-officedocument.presentationml.notesSlide+xml"/>
  <Override PartName="/ppt/notesSlides/notesSlide68.xml" ContentType="application/vnd.openxmlformats-officedocument.presentationml.notesSlide+xml"/>
  <Override PartName="/ppt/notesSlides/notesSlide21.xml" ContentType="application/vnd.openxmlformats-officedocument.presentationml.notesSlide+xml"/>
  <Override PartName="/ppt/notesSlides/notesSlide81.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33.xml" ContentType="application/vnd.openxmlformats-officedocument.presentationml.notesSlide+xml"/>
  <Override PartName="/ppt/notesSlides/notesSlide22.xml" ContentType="application/vnd.openxmlformats-officedocument.presentationml.notesSlide+xml"/>
  <Override PartName="/ppt/notesSlides/notesSlide82.xml" ContentType="application/vnd.openxmlformats-officedocument.presentationml.notesSlide+xml"/>
  <Override PartName="/ppt/notesSlides/notesSlide5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73.xml" ContentType="application/vnd.openxmlformats-officedocument.presentationml.notesSlide+xml"/>
  <Override PartName="/ppt/notesSlides/notesSlide25.xml" ContentType="application/vnd.openxmlformats-officedocument.presentationml.notesSlide+xml"/>
  <Override PartName="/ppt/notesSlides/notesSlide74.xml" ContentType="application/vnd.openxmlformats-officedocument.presentationml.notesSlide+xml"/>
  <Override PartName="/ppt/notesSlides/notesSlide26.xml" ContentType="application/vnd.openxmlformats-officedocument.presentationml.notesSlide+xml"/>
  <Override PartName="/ppt/notesSlides/notesSlide75.xml" ContentType="application/vnd.openxmlformats-officedocument.presentationml.notesSlide+xml"/>
  <Override PartName="/ppt/notesSlides/notesSlide27.xml" ContentType="application/vnd.openxmlformats-officedocument.presentationml.notesSlide+xml"/>
  <Override PartName="/ppt/notesSlides/notesSlide76.xml" ContentType="application/vnd.openxmlformats-officedocument.presentationml.notesSlide+xml"/>
  <Override PartName="/ppt/notesSlides/notesSlide28.xml" ContentType="application/vnd.openxmlformats-officedocument.presentationml.notesSlide+xml"/>
  <Override PartName="/ppt/notesSlides/notesSlide77.xml" ContentType="application/vnd.openxmlformats-officedocument.presentationml.notesSlide+xml"/>
  <Override PartName="/ppt/notesSlides/notesSlide29.xml" ContentType="application/vnd.openxmlformats-officedocument.presentationml.notesSlide+xml"/>
  <Override PartName="/ppt/notesSlides/notesSlide78.xml" ContentType="application/vnd.openxmlformats-officedocument.presentationml.notesSlide+xml"/>
  <Override PartName="/ppt/notesSlides/notesSlide66.xml" ContentType="application/vnd.openxmlformats-officedocument.presentationml.notesSlide+xml"/>
  <Override PartName="/ppt/notesSlides/notesSlide17.xml" ContentType="application/vnd.openxmlformats-officedocument.presentationml.notesSlide+xml"/>
  <Override PartName="/ppt/notesSlides/notesSlide65.xml" ContentType="application/vnd.openxmlformats-officedocument.presentationml.notesSlide+xml"/>
  <Override PartName="/ppt/notesSlides/notesSlide16.xml" ContentType="application/vnd.openxmlformats-officedocument.presentationml.notesSlide+xml"/>
  <Override PartName="/ppt/notesSlides/_rels/notesSlide8.xml.rels" ContentType="application/vnd.openxmlformats-package.relationships+xml"/>
  <Override PartName="/ppt/notesSlides/_rels/notesSlide51.xml.rels" ContentType="application/vnd.openxmlformats-package.relationships+xml"/>
  <Override PartName="/ppt/notesSlides/_rels/notesSlide13.xml.rels" ContentType="application/vnd.openxmlformats-package.relationships+xml"/>
  <Override PartName="/ppt/notesSlides/_rels/notesSlide66.xml.rels" ContentType="application/vnd.openxmlformats-package.relationships+xml"/>
  <Override PartName="/ppt/notesSlides/_rels/notesSlide4.xml.rels" ContentType="application/vnd.openxmlformats-package.relationships+xml"/>
  <Override PartName="/ppt/notesSlides/_rels/notesSlide7.xml.rels" ContentType="application/vnd.openxmlformats-package.relationships+xml"/>
  <Override PartName="/ppt/notesSlides/_rels/notesSlide50.xml.rels" ContentType="application/vnd.openxmlformats-package.relationships+xml"/>
  <Override PartName="/ppt/notesSlides/_rels/notesSlide12.xml.rels" ContentType="application/vnd.openxmlformats-package.relationships+xml"/>
  <Override PartName="/ppt/notesSlides/_rels/notesSlide65.xml.rels" ContentType="application/vnd.openxmlformats-package.relationships+xml"/>
  <Override PartName="/ppt/notesSlides/_rels/notesSlide3.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_rels/notesSlide5.xml.rels" ContentType="application/vnd.openxmlformats-package.relationships+xml"/>
  <Override PartName="/ppt/notesSlides/_rels/notesSlide14.xml.rels" ContentType="application/vnd.openxmlformats-package.relationships+xml"/>
  <Override PartName="/ppt/notesSlides/_rels/notesSlide67.xml.rels" ContentType="application/vnd.openxmlformats-package.relationships+xml"/>
  <Override PartName="/ppt/notesSlides/_rels/notesSlide82.xml.rels" ContentType="application/vnd.openxmlformats-package.relationships+xml"/>
  <Override PartName="/ppt/notesSlides/_rels/notesSlide73.xml.rels" ContentType="application/vnd.openxmlformats-package.relationships+xml"/>
  <Override PartName="/ppt/notesSlides/_rels/notesSlide74.xml.rels" ContentType="application/vnd.openxmlformats-package.relationships+xml"/>
  <Override PartName="/ppt/notesSlides/_rels/notesSlide68.xml.rels" ContentType="application/vnd.openxmlformats-package.relationships+xml"/>
  <Override PartName="/ppt/notesSlides/_rels/notesSlide75.xml.rels" ContentType="application/vnd.openxmlformats-package.relationships+xml"/>
  <Override PartName="/ppt/notesSlides/_rels/notesSlide59.xml.rels" ContentType="application/vnd.openxmlformats-package.relationships+xml"/>
  <Override PartName="/ppt/notesSlides/_rels/notesSlide10.xml.rels" ContentType="application/vnd.openxmlformats-package.relationships+xml"/>
  <Override PartName="/ppt/notesSlides/_rels/notesSlide47.xml.rels" ContentType="application/vnd.openxmlformats-package.relationships+xml"/>
  <Override PartName="/ppt/notesSlides/_rels/notesSlide1.xml.rels" ContentType="application/vnd.openxmlformats-package.relationships+xml"/>
  <Override PartName="/ppt/notesSlides/_rels/notesSlide71.xml.rels" ContentType="application/vnd.openxmlformats-package.relationships+xml"/>
  <Override PartName="/ppt/notesSlides/_rels/notesSlide16.xml.rels" ContentType="application/vnd.openxmlformats-package.relationships+xml"/>
  <Override PartName="/ppt/notesSlides/_rels/notesSlide32.xml.rels" ContentType="application/vnd.openxmlformats-package.relationships+xml"/>
  <Override PartName="/ppt/notesSlides/_rels/notesSlide23.xml.rels" ContentType="application/vnd.openxmlformats-package.relationships+xml"/>
  <Override PartName="/ppt/notesSlides/_rels/notesSlide31.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1.xml.rels" ContentType="application/vnd.openxmlformats-package.relationships+xml"/>
  <Override PartName="/ppt/notesSlides/_rels/notesSlide29.xml.rels" ContentType="application/vnd.openxmlformats-package.relationships+xml"/>
  <Override PartName="/ppt/notesSlides/_rels/notesSlide45.xml.rels" ContentType="application/vnd.openxmlformats-package.relationships+xml"/>
  <Override PartName="/ppt/notesSlides/_rels/notesSlide60.xml.rels" ContentType="application/vnd.openxmlformats-package.relationships+xml"/>
  <Override PartName="/ppt/notesSlides/_rels/notesSlide58.xml.rels" ContentType="application/vnd.openxmlformats-package.relationships+xml"/>
  <Override PartName="/ppt/notesSlides/_rels/notesSlide27.xml.rels" ContentType="application/vnd.openxmlformats-package.relationships+xml"/>
  <Override PartName="/ppt/notesSlides/_rels/notesSlide53.xml.rels" ContentType="application/vnd.openxmlformats-package.relationships+xml"/>
  <Override PartName="/ppt/notesSlides/_rels/notesSlide49.xml.rels" ContentType="application/vnd.openxmlformats-package.relationships+xml"/>
  <Override PartName="/ppt/notesSlides/_rels/notesSlide34.xml.rels" ContentType="application/vnd.openxmlformats-package.relationships+xml"/>
  <Override PartName="/ppt/notesSlides/_rels/notesSlide36.xml.rels" ContentType="application/vnd.openxmlformats-package.relationships+xml"/>
  <Override PartName="/ppt/notesSlides/_rels/notesSlide40.xml.rels" ContentType="application/vnd.openxmlformats-package.relationships+xml"/>
  <Override PartName="/ppt/notesSlides/_rels/notesSlide55.xml.rels" ContentType="application/vnd.openxmlformats-package.relationships+xml"/>
  <Override PartName="/ppt/notesSlides/_rels/notesSlide46.xml.rels" ContentType="application/vnd.openxmlformats-package.relationships+xml"/>
  <Override PartName="/ppt/notesSlides/_rels/notesSlide62.xml.rels" ContentType="application/vnd.openxmlformats-package.relationships+xml"/>
  <Override PartName="/ppt/notesSlides/_rels/notesSlide38.xml.rels" ContentType="application/vnd.openxmlformats-package.relationships+xml"/>
  <Override PartName="/ppt/notesSlides/_rels/notesSlide42.xml.rels" ContentType="application/vnd.openxmlformats-package.relationships+xml"/>
  <Override PartName="/ppt/notesSlides/_rels/notesSlide64.xml.rels" ContentType="application/vnd.openxmlformats-package.relationships+xml"/>
  <Override PartName="/ppt/notesSlides/_rels/notesSlide33.xml.rels" ContentType="application/vnd.openxmlformats-package.relationships+xml"/>
  <Override PartName="/ppt/notesSlides/_rels/notesSlide57.xml.rels" ContentType="application/vnd.openxmlformats-package.relationships+xml"/>
  <Override PartName="/ppt/notesSlides/_rels/notesSlide54.xml.rels" ContentType="application/vnd.openxmlformats-package.relationships+xml"/>
  <Override PartName="/ppt/notesSlides/_rels/notesSlide61.xml.rels" ContentType="application/vnd.openxmlformats-package.relationships+xml"/>
  <Override PartName="/ppt/notesSlides/_rels/notesSlide80.xml.rels" ContentType="application/vnd.openxmlformats-package.relationships+xml"/>
  <Override PartName="/ppt/notesSlides/_rels/notesSlide76.xml.rels" ContentType="application/vnd.openxmlformats-package.relationships+xml"/>
  <Override PartName="/ppt/notesSlides/_rels/notesSlide70.xml.rels" ContentType="application/vnd.openxmlformats-package.relationships+xml"/>
  <Override PartName="/ppt/notesSlides/_rels/notesSlide56.xml.rels" ContentType="application/vnd.openxmlformats-package.relationships+xml"/>
  <Override PartName="/ppt/notesSlides/_rels/notesSlide37.xml.rels" ContentType="application/vnd.openxmlformats-package.relationships+xml"/>
  <Override PartName="/ppt/notesSlides/_rels/notesSlide41.xml.rels" ContentType="application/vnd.openxmlformats-package.relationships+xml"/>
  <Override PartName="/ppt/notesSlides/_rels/notesSlide63.xml.rels" ContentType="application/vnd.openxmlformats-package.relationships+xml"/>
  <Override PartName="/ppt/notesSlides/_rels/notesSlide44.xml.rels" ContentType="application/vnd.openxmlformats-package.relationships+xml"/>
  <Override PartName="/ppt/notesSlides/_rels/notesSlide28.xml.rels" ContentType="application/vnd.openxmlformats-package.relationships+xml"/>
  <Override PartName="/ppt/notesSlides/_rels/notesSlide35.xml.rels" ContentType="application/vnd.openxmlformats-package.relationships+xml"/>
  <Override PartName="/ppt/notesSlides/_rels/notesSlide43.xml.rels" ContentType="application/vnd.openxmlformats-package.relationships+xml"/>
  <Override PartName="/ppt/notesSlides/_rels/notesSlide39.xml.rels" ContentType="application/vnd.openxmlformats-package.relationships+xml"/>
  <Override PartName="/ppt/notesSlides/_rels/notesSlide24.xml.rels" ContentType="application/vnd.openxmlformats-package.relationships+xml"/>
  <Override PartName="/ppt/notesSlides/_rels/notesSlide17.xml.rels" ContentType="application/vnd.openxmlformats-package.relationships+xml"/>
  <Override PartName="/ppt/notesSlides/_rels/notesSlide25.xml.rels" ContentType="application/vnd.openxmlformats-package.relationships+xml"/>
  <Override PartName="/ppt/notesSlides/_rels/notesSlide78.xml.rels" ContentType="application/vnd.openxmlformats-package.relationships+xml"/>
  <Override PartName="/ppt/notesSlides/_rels/notesSlide72.xml.rels" ContentType="application/vnd.openxmlformats-package.relationships+xml"/>
  <Override PartName="/ppt/notesSlides/_rels/notesSlide77.xml.rels" ContentType="application/vnd.openxmlformats-package.relationships+xml"/>
  <Override PartName="/ppt/notesSlides/_rels/notesSlide81.xml.rels" ContentType="application/vnd.openxmlformats-package.relationships+xml"/>
  <Override PartName="/ppt/notesSlides/_rels/notesSlide79.xml.rels" ContentType="application/vnd.openxmlformats-package.relationships+xml"/>
  <Override PartName="/ppt/notesSlides/_rels/notesSlide30.xml.rels" ContentType="application/vnd.openxmlformats-package.relationships+xml"/>
  <Override PartName="/ppt/notesSlides/_rels/notesSlide26.xml.rels" ContentType="application/vnd.openxmlformats-package.relationships+xml"/>
  <Override PartName="/ppt/notesSlides/_rels/notesSlide19.xml.rels" ContentType="application/vnd.openxmlformats-package.relationships+xml"/>
  <Override PartName="/ppt/notesSlides/_rels/notesSlide11.xml.rels" ContentType="application/vnd.openxmlformats-package.relationships+xml"/>
  <Override PartName="/ppt/notesSlides/_rels/notesSlide69.xml.rels" ContentType="application/vnd.openxmlformats-package.relationships+xml"/>
  <Override PartName="/ppt/notesSlides/_rels/notesSlide20.xml.rels" ContentType="application/vnd.openxmlformats-package.relationships+xml"/>
  <Override PartName="/ppt/notesSlides/_rels/notesSlide48.xml.rels" ContentType="application/vnd.openxmlformats-package.relationships+xml"/>
  <Override PartName="/ppt/notesSlides/_rels/notesSlide52.xml.rels" ContentType="application/vnd.openxmlformats-package.relationships+xml"/>
  <Override PartName="/ppt/notesSlides/notesSlide64.xml" ContentType="application/vnd.openxmlformats-officedocument.presentationml.notesSlide+xml"/>
  <Override PartName="/ppt/notesSlides/notesSlide15.xml" ContentType="application/vnd.openxmlformats-officedocument.presentationml.notesSlide+xml"/>
  <Override PartName="/ppt/notesSlides/notesSlide6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69.xml" ContentType="application/vnd.openxmlformats-officedocument.presentationml.notesSlide+xml"/>
  <Override PartName="/ppt/notesSlides/notesSlide67.xml" ContentType="application/vnd.openxmlformats-officedocument.presentationml.notesSlide+xml"/>
  <Override PartName="/ppt/notesSlides/notesSlide79.xml" ContentType="application/vnd.openxmlformats-officedocument.presentationml.notesSlide+xml"/>
  <Override PartName="/ppt/notesSlides/notesSlide10.xml" ContentType="application/vnd.openxmlformats-officedocument.presentationml.notesSlide+xml"/>
  <Override PartName="/ppt/notesSlides/notesSlide70.xml" ContentType="application/vnd.openxmlformats-officedocument.presentationml.notesSlide+xml"/>
  <Override PartName="/ppt/notesSlides/notesSlide47.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1.xml" ContentType="application/vnd.openxmlformats-officedocument.presentationml.notesSlide+xml"/>
  <Override PartName="/ppt/notesSlides/notesSlide4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12.xml" ContentType="application/vnd.openxmlformats-officedocument.presentationml.notesSlide+xml"/>
  <Override PartName="/ppt/notesSlides/notesSlide72.xml" ContentType="application/vnd.openxmlformats-officedocument.presentationml.notesSlide+xml"/>
  <Override PartName="/ppt/notesSlides/notesSlide49.xml" ContentType="application/vnd.openxmlformats-officedocument.presentationml.notesSlide+xml"/>
  <Override PartName="/ppt/notesSlides/notesSlide7.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31.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80.xml" ContentType="application/vnd.openxmlformats-officedocument.presentationml.notesSlide+xml"/>
  <Override PartName="/ppt/notesSlides/notesSlide5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26.png" ContentType="image/png"/>
  <Override PartName="/ppt/media/image194.png" ContentType="image/png"/>
  <Override PartName="/ppt/media/image125.png" ContentType="image/png"/>
  <Override PartName="/ppt/media/image193.png" ContentType="image/png"/>
  <Override PartName="/ppt/media/image124.png" ContentType="image/png"/>
  <Override PartName="/ppt/media/image192.png" ContentType="image/png"/>
  <Override PartName="/ppt/media/image123.png" ContentType="image/png"/>
  <Override PartName="/ppt/media/image191.png" ContentType="image/png"/>
  <Override PartName="/ppt/media/image122.png" ContentType="image/png"/>
  <Override PartName="/ppt/media/image190.png" ContentType="image/png"/>
  <Override PartName="/ppt/media/image121.png" ContentType="image/png"/>
  <Override PartName="/ppt/media/image116.png" ContentType="image/png"/>
  <Override PartName="/ppt/media/image184.png" ContentType="image/png"/>
  <Override PartName="/ppt/media/image115.png" ContentType="image/png"/>
  <Override PartName="/ppt/media/image183.png" ContentType="image/png"/>
  <Override PartName="/ppt/media/image114.png" ContentType="image/png"/>
  <Override PartName="/ppt/media/image182.png" ContentType="image/png"/>
  <Override PartName="/ppt/media/image113.png" ContentType="image/png"/>
  <Override PartName="/ppt/media/image181.png" ContentType="image/png"/>
  <Override PartName="/ppt/media/image112.png" ContentType="image/png"/>
  <Override PartName="/ppt/media/image180.png" ContentType="image/png"/>
  <Override PartName="/ppt/media/image111.png" ContentType="image/png"/>
  <Override PartName="/ppt/media/image106.png" ContentType="image/png"/>
  <Override PartName="/ppt/media/image174.png" ContentType="image/png"/>
  <Override PartName="/ppt/media/image105.png" ContentType="image/png"/>
  <Override PartName="/ppt/media/image173.png" ContentType="image/png"/>
  <Override PartName="/ppt/media/image104.png" ContentType="image/png"/>
  <Override PartName="/ppt/media/image172.png" ContentType="image/png"/>
  <Override PartName="/ppt/media/image103.png" ContentType="image/png"/>
  <Override PartName="/ppt/media/image171.png" ContentType="image/png"/>
  <Override PartName="/ppt/media/image102.png" ContentType="image/png"/>
  <Override PartName="/ppt/media/image170.png" ContentType="image/png"/>
  <Override PartName="/ppt/media/image101.png" ContentType="image/png"/>
  <Override PartName="/ppt/media/image99.png" ContentType="image/png"/>
  <Override PartName="/ppt/media/image98.png" ContentType="image/png"/>
  <Override PartName="/ppt/media/image97.png" ContentType="image/png"/>
  <Override PartName="/ppt/media/image29.png" ContentType="image/png"/>
  <Override PartName="/ppt/media/image96.png" ContentType="image/png"/>
  <Override PartName="/ppt/media/image28.png" ContentType="image/png"/>
  <Override PartName="/ppt/media/image95.png" ContentType="image/png"/>
  <Override PartName="/ppt/media/image27.png" ContentType="image/png"/>
  <Override PartName="/ppt/media/image89.png" ContentType="image/png"/>
  <Override PartName="/ppt/media/image88.png" ContentType="image/png"/>
  <Override PartName="/ppt/media/image87.png" ContentType="image/png"/>
  <Override PartName="/ppt/media/image19.png" ContentType="image/png"/>
  <Override PartName="/ppt/media/image79.png" ContentType="image/png"/>
  <Override PartName="/ppt/media/image78.png" ContentType="image/png"/>
  <Override PartName="/ppt/media/image77.png" ContentType="image/png"/>
  <Override PartName="/ppt/media/image76.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70.png" ContentType="image/png"/>
  <Override PartName="/ppt/media/image120.png" ContentType="image/png"/>
  <Override PartName="/ppt/media/image69.png" ContentType="image/png"/>
  <Override PartName="/ppt/media/image68.png" ContentType="image/png"/>
  <Override PartName="/ppt/media/image67.png" ContentType="image/png"/>
  <Override PartName="/ppt/media/image66.png" ContentType="image/png"/>
  <Override PartName="/ppt/media/image65.png" ContentType="image/png"/>
  <Override PartName="/ppt/media/image64.png" ContentType="image/png"/>
  <Override PartName="/ppt/media/image63.png" ContentType="image/png"/>
  <Override PartName="/ppt/media/image62.png" ContentType="image/png"/>
  <Override PartName="/ppt/media/image61.png" ContentType="image/png"/>
  <Override PartName="/ppt/media/image60.png" ContentType="image/png"/>
  <Override PartName="/ppt/media/image23.png" ContentType="image/png"/>
  <Override PartName="/ppt/media/image91.png" ContentType="image/png"/>
  <Override PartName="/ppt/media/image1.png" ContentType="image/png"/>
  <Override PartName="/ppt/media/image153.png" ContentType="image/png"/>
  <Override PartName="/ppt/media/image39.png" ContentType="image/png"/>
  <Override PartName="/ppt/media/image127.png" ContentType="image/png"/>
  <Override PartName="/ppt/media/image195.png" ContentType="image/png"/>
  <Override PartName="/ppt/media/image33.png" ContentType="image/png"/>
  <Override PartName="/ppt/media/image50.png" ContentType="image/png"/>
  <Override PartName="/ppt/media/image147.png" ContentType="image/png"/>
  <Override PartName="/ppt/media/image51.png" ContentType="image/png"/>
  <Override PartName="/ppt/media/image148.png" ContentType="image/png"/>
  <Override PartName="/ppt/media/image52.png" ContentType="image/png"/>
  <Override PartName="/ppt/media/image149.png" ContentType="image/png"/>
  <Override PartName="/ppt/media/image53.png" ContentType="image/png"/>
  <Override PartName="/ppt/media/image128.png" ContentType="image/png"/>
  <Override PartName="/ppt/media/image196.png" ContentType="image/png"/>
  <Override PartName="/ppt/media/image34.png" ContentType="image/png"/>
  <Override PartName="/ppt/media/image129.png" ContentType="image/png"/>
  <Override PartName="/ppt/media/image32.png" ContentType="image/png"/>
  <Override PartName="/ppt/media/image133.png" ContentType="image/png"/>
  <Override PartName="/ppt/media/image134.png" ContentType="image/png"/>
  <Override PartName="/ppt/media/image135.png" ContentType="image/png"/>
  <Override PartName="/ppt/media/image136.png" ContentType="image/png"/>
  <Override PartName="/ppt/media/image137.png" ContentType="image/png"/>
  <Override PartName="/ppt/media/image40.png" ContentType="image/png"/>
  <Override PartName="/ppt/media/image161.png" ContentType="image/png"/>
  <Override PartName="/ppt/media/image162.png" ContentType="image/png"/>
  <Override PartName="/ppt/media/image163.png" ContentType="image/png"/>
  <Override PartName="/ppt/media/image45.png" ContentType="image/png"/>
  <Override PartName="/ppt/media/image131.png" ContentType="image/png"/>
  <Override PartName="/ppt/media/image168.png" ContentType="image/png"/>
  <Override PartName="/ppt/media/image46.png" ContentType="image/png"/>
  <Override PartName="/ppt/media/image132.png" ContentType="image/png"/>
  <Override PartName="/ppt/media/image169.png" ContentType="image/png"/>
  <Override PartName="/ppt/media/image43.png" ContentType="image/png"/>
  <Override PartName="/ppt/media/image166.png" ContentType="image/png"/>
  <Override PartName="/ppt/media/image143.png" ContentType="image/png"/>
  <Override PartName="/ppt/media/image44.png" ContentType="image/png"/>
  <Override PartName="/ppt/media/image130.png" ContentType="image/png"/>
  <Override PartName="/ppt/media/image167.png" ContentType="image/png"/>
  <Override PartName="/ppt/media/image144.png" ContentType="image/png"/>
  <Override PartName="/ppt/media/image41.png" ContentType="image/png"/>
  <Override PartName="/ppt/media/image138.png" ContentType="image/png"/>
  <Override PartName="/ppt/media/image164.png" ContentType="image/png"/>
  <Override PartName="/ppt/media/image42.png" ContentType="image/png"/>
  <Override PartName="/ppt/media/image139.png" ContentType="image/png"/>
  <Override PartName="/ppt/media/image165.png" ContentType="image/png"/>
  <Override PartName="/ppt/media/image160.png" ContentType="image/png"/>
  <Override PartName="/ppt/media/image189.png" ContentType="image/png"/>
  <Override PartName="/ppt/media/image152.png" ContentType="image/png"/>
  <Override PartName="/ppt/media/image188.png" ContentType="image/png"/>
  <Override PartName="/ppt/media/image151.png" ContentType="image/png"/>
  <Override PartName="/ppt/media/image150.png" ContentType="image/png"/>
  <Override PartName="/ppt/media/image146.png" ContentType="image/png"/>
  <Override PartName="/ppt/media/image145.png" ContentType="image/png"/>
  <Override PartName="/ppt/media/image56.png" ContentType="image/png"/>
  <Override PartName="/ppt/media/image179.png" ContentType="image/png"/>
  <Override PartName="/ppt/media/image142.png" ContentType="image/png"/>
  <Override PartName="/ppt/media/image55.png" ContentType="image/png"/>
  <Override PartName="/ppt/media/image178.png" ContentType="image/png"/>
  <Override PartName="/ppt/media/image13.png" ContentType="image/png"/>
  <Override PartName="/ppt/media/image81.png" ContentType="image/png"/>
  <Override PartName="/ppt/media/image141.png" ContentType="image/png"/>
  <Override PartName="/ppt/media/image54.png" ContentType="image/png"/>
  <Override PartName="/ppt/media/image140.png" ContentType="image/png"/>
  <Override PartName="/ppt/media/image38.png" ContentType="image/png"/>
  <Override PartName="/ppt/media/image30.png" ContentType="image/png"/>
  <Override PartName="/ppt/media/image8.png" ContentType="image/png"/>
  <Override PartName="/ppt/media/image17.png" ContentType="image/png"/>
  <Override PartName="/ppt/media/image85.png" ContentType="image/png"/>
  <Override PartName="/ppt/media/image49.png" ContentType="image/png"/>
  <Override PartName="/ppt/media/image100.png" ContentType="image/png"/>
  <Override PartName="/ppt/media/image177.png" ContentType="image/png"/>
  <Override PartName="/ppt/media/image109.png" ContentType="image/png"/>
  <Override PartName="/ppt/media/image80.png" ContentType="image/png"/>
  <Override PartName="/ppt/media/image12.png" ContentType="image/png"/>
  <Override PartName="/ppt/media/image37.png" ContentType="image/png"/>
  <Override PartName="/ppt/media/image159.png" ContentType="image/png"/>
  <Override PartName="/ppt/media/image7.png" ContentType="image/png"/>
  <Override PartName="/ppt/media/image16.png" ContentType="image/png"/>
  <Override PartName="/ppt/media/image84.png" ContentType="image/png"/>
  <Override PartName="/ppt/media/image48.png" ContentType="image/png"/>
  <Override PartName="/ppt/media/image11.png" ContentType="image/png"/>
  <Override PartName="/ppt/media/image108.png" ContentType="image/png"/>
  <Override PartName="/ppt/media/image176.png" ContentType="image/png"/>
  <Override PartName="/ppt/media/image82.png" ContentType="image/png"/>
  <Override PartName="/ppt/media/image14.png" ContentType="image/png"/>
  <Override PartName="/ppt/media/image36.png" ContentType="image/png"/>
  <Override PartName="/ppt/media/image158.png" ContentType="image/png"/>
  <Override PartName="/ppt/media/image6.png" ContentType="image/png"/>
  <Override PartName="/ppt/media/image15.png" ContentType="image/png"/>
  <Override PartName="/ppt/media/image83.png" ContentType="image/png"/>
  <Override PartName="/ppt/media/image18.png" ContentType="image/png"/>
  <Override PartName="/ppt/media/image86.png" ContentType="image/png"/>
  <Override PartName="/ppt/media/image31.png" ContentType="image/png"/>
  <Override PartName="/ppt/media/image9.png" ContentType="image/png"/>
  <Override PartName="/ppt/media/image47.png" ContentType="image/png"/>
  <Override PartName="/ppt/media/image10.png" ContentType="image/png"/>
  <Override PartName="/ppt/media/image175.png" ContentType="image/png"/>
  <Override PartName="/ppt/media/image107.png" ContentType="image/png"/>
  <Override PartName="/ppt/media/image35.png" ContentType="image/png"/>
  <Override PartName="/ppt/media/image5.png" ContentType="image/png"/>
  <Override PartName="/ppt/media/image157.png" ContentType="image/png"/>
  <Override PartName="/ppt/media/image4.png" ContentType="image/png"/>
  <Override PartName="/ppt/media/image156.png" ContentType="image/png"/>
  <Override PartName="/ppt/media/image3.png" ContentType="image/png"/>
  <Override PartName="/ppt/media/image155.png" ContentType="image/png"/>
  <Override PartName="/ppt/media/image26.png" ContentType="image/png"/>
  <Override PartName="/ppt/media/image94.png" ContentType="image/png"/>
  <Override PartName="/ppt/media/image2.png" ContentType="image/png"/>
  <Override PartName="/ppt/media/image154.png" ContentType="image/png"/>
  <Override PartName="/ppt/media/image93.png" ContentType="image/png"/>
  <Override PartName="/ppt/media/image25.png" ContentType="image/png"/>
  <Override PartName="/ppt/media/image119.png" ContentType="image/png"/>
  <Override PartName="/ppt/media/image187.png" ContentType="image/png"/>
  <Override PartName="/ppt/media/image92.png" ContentType="image/png"/>
  <Override PartName="/ppt/media/image24.png" ContentType="image/png"/>
  <Override PartName="/ppt/media/image57.png" ContentType="image/png"/>
  <Override PartName="/ppt/media/image20.png" ContentType="image/png"/>
  <Override PartName="/ppt/media/image117.png" ContentType="image/png"/>
  <Override PartName="/ppt/media/image185.png" ContentType="image/png"/>
  <Override PartName="/ppt/media/image58.png" ContentType="image/png"/>
  <Override PartName="/ppt/media/image21.png" ContentType="image/png"/>
  <Override PartName="/ppt/media/image186.png" ContentType="image/png"/>
  <Override PartName="/ppt/media/image118.png" ContentType="image/png"/>
  <Override PartName="/ppt/media/image59.png" ContentType="image/png"/>
  <Override PartName="/ppt/media/image110.png" ContentType="image/png"/>
  <Override PartName="/ppt/media/image90.png" ContentType="image/png"/>
  <Override PartName="/ppt/media/image22.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56.xml" ContentType="application/vnd.openxmlformats-officedocument.presentationml.slide+xml"/>
  <Override PartName="/ppt/slides/slide55.xml" ContentType="application/vnd.openxmlformats-officedocument.presentationml.slide+xml"/>
  <Override PartName="/ppt/slides/slide54.xml" ContentType="application/vnd.openxmlformats-officedocument.presentationml.slide+xml"/>
  <Override PartName="/ppt/slides/slide53.xml" ContentType="application/vnd.openxmlformats-officedocument.presentationml.slide+xml"/>
  <Override PartName="/ppt/slides/slide52.xml" ContentType="application/vnd.openxmlformats-officedocument.presentationml.slide+xml"/>
  <Override PartName="/ppt/slides/slide51.xml" ContentType="application/vnd.openxmlformats-officedocument.presentationml.slide+xml"/>
  <Override PartName="/ppt/slides/slide50.xml" ContentType="application/vnd.openxmlformats-officedocument.presentationml.slide+xml"/>
  <Override PartName="/ppt/slides/slide46.xml" ContentType="application/vnd.openxmlformats-officedocument.presentationml.slide+xml"/>
  <Override PartName="/ppt/slides/slide45.xml" ContentType="application/vnd.openxmlformats-officedocument.presentationml.slide+xml"/>
  <Override PartName="/ppt/slides/slide39.xml" ContentType="application/vnd.openxmlformats-officedocument.presentationml.slide+xml"/>
  <Override PartName="/ppt/slides/slide38.xml" ContentType="application/vnd.openxmlformats-officedocument.presentationml.slide+xml"/>
  <Override PartName="/ppt/slides/slide37.xml" ContentType="application/vnd.openxmlformats-officedocument.presentationml.slide+xml"/>
  <Override PartName="/ppt/slides/slide36.xml" ContentType="application/vnd.openxmlformats-officedocument.presentationml.slide+xml"/>
  <Override PartName="/ppt/slides/slide3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_rels/slide41.xml.rels" ContentType="application/vnd.openxmlformats-package.relationships+xml"/>
  <Override PartName="/ppt/slides/_rels/slide6.xml.rels" ContentType="application/vnd.openxmlformats-package.relationships+xml"/>
  <Override PartName="/ppt/slides/_rels/slide18.xml.rels" ContentType="application/vnd.openxmlformats-package.relationships+xml"/>
  <Override PartName="/ppt/slides/_rels/slide22.xml.rels" ContentType="application/vnd.openxmlformats-package.relationships+xml"/>
  <Override PartName="/ppt/slides/_rels/slide42.xml.rels" ContentType="application/vnd.openxmlformats-package.relationships+xml"/>
  <Override PartName="/ppt/slides/_rels/slide7.xml.rels" ContentType="application/vnd.openxmlformats-package.relationships+xml"/>
  <Override PartName="/ppt/slides/_rels/slide1.xml.rels" ContentType="application/vnd.openxmlformats-package.relationships+xml"/>
  <Override PartName="/ppt/slides/_rels/slide32.xml.rels" ContentType="application/vnd.openxmlformats-package.relationships+xml"/>
  <Override PartName="/ppt/slides/_rels/slide57.xml.rels" ContentType="application/vnd.openxmlformats-package.relationships+xml"/>
  <Override PartName="/ppt/slides/_rels/slide61.xml.rels" ContentType="application/vnd.openxmlformats-package.relationships+xml"/>
  <Override PartName="/ppt/slides/_rels/slide20.xml.rels" ContentType="application/vnd.openxmlformats-package.relationships+xml"/>
  <Override PartName="/ppt/slides/_rels/slide16.xml.rels" ContentType="application/vnd.openxmlformats-package.relationships+xml"/>
  <Override PartName="/ppt/slides/_rels/slide19.xml.rels" ContentType="application/vnd.openxmlformats-package.relationships+xml"/>
  <Override PartName="/ppt/slides/_rels/slide23.xml.rels" ContentType="application/vnd.openxmlformats-package.relationships+xml"/>
  <Override PartName="/ppt/slides/_rels/slide71.xml.rels" ContentType="application/vnd.openxmlformats-package.relationships+xml"/>
  <Override PartName="/ppt/slides/_rels/slide67.xml.rels" ContentType="application/vnd.openxmlformats-package.relationships+xml"/>
  <Override PartName="/ppt/slides/_rels/slide77.xml.rels" ContentType="application/vnd.openxmlformats-package.relationships+xml"/>
  <Override PartName="/ppt/slides/_rels/slide15.xml.rels" ContentType="application/vnd.openxmlformats-package.relationships+xml"/>
  <Override PartName="/ppt/slides/_rels/slide24.xml.rels" ContentType="application/vnd.openxmlformats-package.relationships+xml"/>
  <Override PartName="/ppt/slides/_rels/slide72.xml.rels" ContentType="application/vnd.openxmlformats-package.relationships+xml"/>
  <Override PartName="/ppt/slides/_rels/slide68.xml.rels" ContentType="application/vnd.openxmlformats-package.relationships+xml"/>
  <Override PartName="/ppt/slides/_rels/slide78.xml.rels" ContentType="application/vnd.openxmlformats-package.relationships+xml"/>
  <Override PartName="/ppt/slides/_rels/slide8.xml.rels" ContentType="application/vnd.openxmlformats-package.relationships+xml"/>
  <Override PartName="/ppt/slides/_rels/slide43.xml.rels" ContentType="application/vnd.openxmlformats-package.relationships+xml"/>
  <Override PartName="/ppt/slides/_rels/slide27.xml.rels" ContentType="application/vnd.openxmlformats-package.relationships+xml"/>
  <Override PartName="/ppt/slides/_rels/slide2.xml.rels" ContentType="application/vnd.openxmlformats-package.relationships+xml"/>
  <Override PartName="/ppt/slides/_rels/slide36.xml.rels" ContentType="application/vnd.openxmlformats-package.relationships+xml"/>
  <Override PartName="/ppt/slides/_rels/slide55.xml.rels" ContentType="application/vnd.openxmlformats-package.relationships+xml"/>
  <Override PartName="/ppt/slides/_rels/slide64.xml.rels" ContentType="application/vnd.openxmlformats-package.relationships+xml"/>
  <Override PartName="/ppt/slides/_rels/slide48.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9.xml.rels" ContentType="application/vnd.openxmlformats-package.relationships+xml"/>
  <Override PartName="/ppt/slides/_rels/slide44.xml.rels" ContentType="application/vnd.openxmlformats-package.relationships+xml"/>
  <Override PartName="/ppt/slides/_rels/slide28.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31.xml.rels" ContentType="application/vnd.openxmlformats-package.relationships+xml"/>
  <Override PartName="/ppt/slides/_rels/slide39.xml.rels" ContentType="application/vnd.openxmlformats-package.relationships+xml"/>
  <Override PartName="/ppt/slides/_rels/slide54.xml.rels" ContentType="application/vnd.openxmlformats-package.relationships+xml"/>
  <Override PartName="/ppt/slides/_rels/slide63.xml.rels" ContentType="application/vnd.openxmlformats-package.relationships+xml"/>
  <Override PartName="/ppt/slides/_rels/slide70.xml.rels" ContentType="application/vnd.openxmlformats-package.relationships+xml"/>
  <Override PartName="/ppt/slides/_rels/slide47.xml.rels" ContentType="application/vnd.openxmlformats-package.relationships+xml"/>
  <Override PartName="/ppt/slides/_rels/slide4.xml.rels" ContentType="application/vnd.openxmlformats-package.relationships+xml"/>
  <Override PartName="/ppt/slides/_rels/slide35.xml.rels" ContentType="application/vnd.openxmlformats-package.relationships+xml"/>
  <Override PartName="/ppt/slides/_rels/slide51.xml.rels" ContentType="application/vnd.openxmlformats-package.relationships+xml"/>
  <Override PartName="/ppt/slides/_rels/slide53.xml.rels" ContentType="application/vnd.openxmlformats-package.relationships+xml"/>
  <Override PartName="/ppt/slides/_rels/slide46.xml.rels" ContentType="application/vnd.openxmlformats-package.relationships+xml"/>
  <Override PartName="/ppt/slides/_rels/slide62.xml.rels" ContentType="application/vnd.openxmlformats-package.relationships+xml"/>
  <Override PartName="/ppt/slides/_rels/slide49.xml.rels" ContentType="application/vnd.openxmlformats-package.relationships+xml"/>
  <Override PartName="/ppt/slides/_rels/slide34.xml.rels" ContentType="application/vnd.openxmlformats-package.relationships+xml"/>
  <Override PartName="/ppt/slides/_rels/slide50.xml.rels" ContentType="application/vnd.openxmlformats-package.relationships+xml"/>
  <Override PartName="/ppt/slides/_rels/slide52.xml.rels" ContentType="application/vnd.openxmlformats-package.relationships+xml"/>
  <Override PartName="/ppt/slides/_rels/slide76.xml.rels" ContentType="application/vnd.openxmlformats-package.relationships+xml"/>
  <Override PartName="/ppt/slides/_rels/slide14.xml.rels" ContentType="application/vnd.openxmlformats-package.relationships+xml"/>
  <Override PartName="/ppt/slides/_rels/slide33.xml.rels" ContentType="application/vnd.openxmlformats-package.relationships+xml"/>
  <Override PartName="/ppt/slides/_rels/slide29.xml.rels" ContentType="application/vnd.openxmlformats-package.relationships+xml"/>
  <Override PartName="/ppt/slides/_rels/slide45.xml.rels" ContentType="application/vnd.openxmlformats-package.relationships+xml"/>
  <Override PartName="/ppt/slides/_rels/slide38.xml.rels" ContentType="application/vnd.openxmlformats-package.relationships+xml"/>
  <Override PartName="/ppt/slides/_rels/slide65.xml.rels" ContentType="application/vnd.openxmlformats-package.relationships+xml"/>
  <Override PartName="/ppt/slides/_rels/slide74.xml.rels" ContentType="application/vnd.openxmlformats-package.relationships+xml"/>
  <Override PartName="/ppt/slides/_rels/slide58.xml.rels" ContentType="application/vnd.openxmlformats-package.relationships+xml"/>
  <Override PartName="/ppt/slides/_rels/slide81.xml.rels" ContentType="application/vnd.openxmlformats-package.relationships+xml"/>
  <Override PartName="/ppt/slides/_rels/slide66.xml.rels" ContentType="application/vnd.openxmlformats-package.relationships+xml"/>
  <Override PartName="/ppt/slides/_rels/slide56.xml.rels" ContentType="application/vnd.openxmlformats-package.relationships+xml"/>
  <Override PartName="/ppt/slides/_rels/slide60.xml.rels" ContentType="application/vnd.openxmlformats-package.relationships+xml"/>
  <Override PartName="/ppt/slides/_rels/slide75.xml.rels" ContentType="application/vnd.openxmlformats-package.relationships+xml"/>
  <Override PartName="/ppt/slides/_rels/slide82.xml.rels" ContentType="application/vnd.openxmlformats-package.relationships+xml"/>
  <Override PartName="/ppt/slides/_rels/slide10.xml.rels" ContentType="application/vnd.openxmlformats-package.relationships+xml"/>
  <Override PartName="/ppt/slides/_rels/slide59.xml.rels" ContentType="application/vnd.openxmlformats-package.relationships+xml"/>
  <Override PartName="/ppt/slides/_rels/slide26.xml.rels" ContentType="application/vnd.openxmlformats-package.relationships+xml"/>
  <Override PartName="/ppt/slides/_rels/slide21.xml.rels" ContentType="application/vnd.openxmlformats-package.relationships+xml"/>
  <Override PartName="/ppt/slides/_rels/slide17.xml.rels" ContentType="application/vnd.openxmlformats-package.relationships+xml"/>
  <Override PartName="/ppt/slides/_rels/slide11.xml.rels" ContentType="application/vnd.openxmlformats-package.relationships+xml"/>
  <Override PartName="/ppt/slides/_rels/slide30.xml.rels" ContentType="application/vnd.openxmlformats-package.relationships+xml"/>
  <Override PartName="/ppt/slides/_rels/slide79.xml.rels" ContentType="application/vnd.openxmlformats-package.relationships+xml"/>
  <Override PartName="/ppt/slides/_rels/slide69.xml.rels" ContentType="application/vnd.openxmlformats-package.relationships+xml"/>
  <Override PartName="/ppt/slides/_rels/slide73.xml.rels" ContentType="application/vnd.openxmlformats-package.relationships+xml"/>
  <Override PartName="/ppt/slides/_rels/slide80.xml.rels" ContentType="application/vnd.openxmlformats-package.relationships+xml"/>
  <Override PartName="/ppt/slides/_rels/slide25.xml.rels" ContentType="application/vnd.openxmlformats-package.relationships+xml"/>
  <Override PartName="/ppt/slides/slide13.xml" ContentType="application/vnd.openxmlformats-officedocument.presentationml.slide+xml"/>
  <Override PartName="/ppt/slides/slide6.xml" ContentType="application/vnd.openxmlformats-officedocument.presentationml.slide+xml"/>
  <Override PartName="/ppt/slides/slide49.xml" ContentType="application/vnd.openxmlformats-officedocument.presentationml.slide+xml"/>
  <Override PartName="/ppt/slides/slide22.xml" ContentType="application/vnd.openxmlformats-officedocument.presentationml.slide+xml"/>
  <Override PartName="/ppt/slides/slide59.xml" ContentType="application/vnd.openxmlformats-officedocument.presentationml.slide+xml"/>
  <Override PartName="/ppt/slides/slide23.xml" ContentType="application/vnd.openxmlformats-officedocument.presentationml.slide+xml"/>
  <Override PartName="/ppt/slides/slide60.xml" ContentType="application/vnd.openxmlformats-officedocument.presentationml.slide+xml"/>
  <Override PartName="/ppt/slides/slide18.xml" ContentType="application/vnd.openxmlformats-officedocument.presentationml.slide+xml"/>
  <Override PartName="/ppt/slides/slide24.xml" ContentType="application/vnd.openxmlformats-officedocument.presentationml.slide+xml"/>
  <Override PartName="/ppt/slides/slide61.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62.xml" ContentType="application/vnd.openxmlformats-officedocument.presentationml.slide+xml"/>
  <Override PartName="/ppt/slides/slide26.xml" ContentType="application/vnd.openxmlformats-officedocument.presentationml.slide+xml"/>
  <Override PartName="/ppt/slides/slide63.xml" ContentType="application/vnd.openxmlformats-officedocument.presentationml.slide+xml"/>
  <Override PartName="/ppt/slides/slide27.xml" ContentType="application/vnd.openxmlformats-officedocument.presentationml.slide+xml"/>
  <Override PartName="/ppt/slides/slide64.xml" ContentType="application/vnd.openxmlformats-officedocument.presentationml.slide+xml"/>
  <Override PartName="/ppt/slides/slide28.xml" ContentType="application/vnd.openxmlformats-officedocument.presentationml.slide+xml"/>
  <Override PartName="/ppt/slides/slide70.xml" ContentType="application/vnd.openxmlformats-officedocument.presentationml.slide+xml"/>
  <Override PartName="/ppt/slides/slide65.xml" ContentType="application/vnd.openxmlformats-officedocument.presentationml.slide+xml"/>
  <Override PartName="/ppt/slides/slide29.xml" ContentType="application/vnd.openxmlformats-officedocument.presentationml.slide+xml"/>
  <Override PartName="/ppt/slides/slide71.xml" ContentType="application/vnd.openxmlformats-officedocument.presentationml.slide+xml"/>
  <Override PartName="/ppt/slides/slide66.xml" ContentType="application/vnd.openxmlformats-officedocument.presentationml.slide+xml"/>
  <Override PartName="/ppt/slides/slide79.xml" ContentType="application/vnd.openxmlformats-officedocument.presentationml.slide+xml"/>
  <Override PartName="/ppt/slides/slide42.xml" ContentType="application/vnd.openxmlformats-officedocument.presentationml.slide+xml"/>
  <Override PartName="/ppt/slides/slide67.xml" ContentType="application/vnd.openxmlformats-officedocument.presentationml.slide+xml"/>
  <Override PartName="/ppt/slides/slide78.xml" ContentType="application/vnd.openxmlformats-officedocument.presentationml.slide+xml"/>
  <Override PartName="/ppt/slides/slide41.xml" ContentType="application/vnd.openxmlformats-officedocument.presentationml.slide+xml"/>
  <Override PartName="/ppt/slides/slide77.xml" ContentType="application/vnd.openxmlformats-officedocument.presentationml.slide+xml"/>
  <Override PartName="/ppt/slides/slide40.xml" ContentType="application/vnd.openxmlformats-officedocument.presentationml.slide+xml"/>
  <Override PartName="/ppt/slides/slide12.xml" ContentType="application/vnd.openxmlformats-officedocument.presentationml.slide+xml"/>
  <Override PartName="/ppt/slides/slide5.xml" ContentType="application/vnd.openxmlformats-officedocument.presentationml.slide+xml"/>
  <Override PartName="/ppt/slides/slide76.xml" ContentType="application/vnd.openxmlformats-officedocument.presentationml.slide+xml"/>
  <Override PartName="/ppt/slides/slide75.xml" ContentType="application/vnd.openxmlformats-officedocument.presentationml.slide+xml"/>
  <Override PartName="/ppt/slides/slide74.xml" ContentType="application/vnd.openxmlformats-officedocument.presentationml.slide+xml"/>
  <Override PartName="/ppt/slides/slide2.xml" ContentType="application/vnd.openxmlformats-officedocument.presentationml.slide+xml"/>
  <Override PartName="/ppt/slides/slide73.xml" ContentType="application/vnd.openxmlformats-officedocument.presentationml.slide+xml"/>
  <Override PartName="/ppt/slides/slide1.xml" ContentType="application/vnd.openxmlformats-officedocument.presentationml.slide+xml"/>
  <Override PartName="/ppt/slides/slide72.xml" ContentType="application/vnd.openxmlformats-officedocument.presentationml.slide+xml"/>
  <Override PartName="/ppt/slides/slide69.xml" ContentType="application/vnd.openxmlformats-officedocument.presentationml.slide+xml"/>
  <Override PartName="/ppt/slides/slide68.xml" ContentType="application/vnd.openxmlformats-officedocument.presentationml.slide+xml"/>
  <Override PartName="/ppt/slides/slide21.xml" ContentType="application/vnd.openxmlformats-officedocument.presentationml.slide+xml"/>
  <Override PartName="/ppt/slides/slide58.xml" ContentType="application/vnd.openxmlformats-officedocument.presentationml.slide+xml"/>
  <Override PartName="/ppt/slides/slide20.xml" ContentType="application/vnd.openxmlformats-officedocument.presentationml.slide+xml"/>
  <Override PartName="/ppt/slides/slide57.xml" ContentType="application/vnd.openxmlformats-officedocument.presentationml.slide+xml"/>
  <Override PartName="/ppt/slides/slide82.xml" ContentType="application/vnd.openxmlformats-officedocument.presentationml.slide+xml"/>
  <Override PartName="/ppt/slides/slide17.xml" ContentType="application/vnd.openxmlformats-officedocument.presentationml.slide+xml"/>
  <Override PartName="/ppt/slides/slide7.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80.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81.xml" ContentType="application/vnd.openxmlformats-officedocument.presentationml.slide+xml"/>
  <Override PartName="/ppt/slides/slide16.xml" ContentType="application/vnd.openxmlformats-officedocument.presentationml.slide+xml"/>
  <Override PartName="/ppt/slides/slide9.xml" ContentType="application/vnd.openxmlformats-officedocument.presentationml.slide+xml"/>
  <Override PartName="/ppt/slides/slide44.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 id="336" r:id="rId84"/>
    <p:sldId id="337" r:id="rId85"/>
  </p:sldIdLst>
  <p:sldSz cx="12192000" cy="6858000"/>
  <p:notesSz cx="6858000" cy="12192000"/>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slide" Target="slides/slide81.xml"/><Relationship Id="rId85" Type="http://schemas.openxmlformats.org/officeDocument/2006/relationships/slide" Target="slides/slide82.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p:spPr>
        <p:txBody>
          <a:bodyPr lIns="0" rIns="0" tIns="0" bIns="0" anchor="ctr">
            <a:noAutofit/>
          </a:bodyPr>
          <a:p>
            <a:pPr algn="ctr"/>
            <a:r>
              <a:rPr b="0" lang="es-ES" sz="4400" spc="-1" strike="noStrike">
                <a:latin typeface="Arial"/>
              </a:rPr>
              <a:t>Pulse para desplazar </a:t>
            </a:r>
            <a:r>
              <a:rPr b="0" lang="es-ES" sz="4400" spc="-1" strike="noStrike">
                <a:latin typeface="Arial"/>
              </a:rPr>
              <a:t>la diapositiva</a:t>
            </a:r>
            <a:endParaRPr b="0" lang="es-ES"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p:spPr>
        <p:txBody>
          <a:bodyPr lIns="0" rIns="0" tIns="0" bIns="0">
            <a:noAutofit/>
          </a:bodyPr>
          <a:p>
            <a:r>
              <a:rPr b="0" lang="es-ES" sz="2000" spc="-1" strike="noStrike">
                <a:latin typeface="Arial"/>
              </a:rPr>
              <a:t>Pulse para editar el formato de las notas</a:t>
            </a:r>
            <a:endParaRPr b="0" lang="es-ES" sz="2000" spc="-1" strike="noStrike">
              <a:latin typeface="Arial"/>
            </a:endParaRPr>
          </a:p>
        </p:txBody>
      </p:sp>
      <p:sp>
        <p:nvSpPr>
          <p:cNvPr id="40" name="PlaceHolder 3"/>
          <p:cNvSpPr>
            <a:spLocks noGrp="1"/>
          </p:cNvSpPr>
          <p:nvPr>
            <p:ph type="hdr"/>
          </p:nvPr>
        </p:nvSpPr>
        <p:spPr>
          <a:xfrm>
            <a:off x="0" y="0"/>
            <a:ext cx="3280680" cy="534240"/>
          </a:xfrm>
          <a:prstGeom prst="rect">
            <a:avLst/>
          </a:prstGeom>
        </p:spPr>
        <p:txBody>
          <a:bodyPr lIns="0" rIns="0" tIns="0" bIns="0">
            <a:noAutofit/>
          </a:bodyPr>
          <a:p>
            <a:r>
              <a:rPr b="0" lang="es-ES" sz="1400" spc="-1" strike="noStrike">
                <a:latin typeface="Times New Roman"/>
              </a:rPr>
              <a:t>&lt;cabecera&gt;</a:t>
            </a:r>
            <a:endParaRPr b="0" lang="es-ES" sz="1400" spc="-1" strike="noStrike">
              <a:latin typeface="Times New Roman"/>
            </a:endParaRPr>
          </a:p>
        </p:txBody>
      </p:sp>
      <p:sp>
        <p:nvSpPr>
          <p:cNvPr id="41" name="PlaceHolder 4"/>
          <p:cNvSpPr>
            <a:spLocks noGrp="1"/>
          </p:cNvSpPr>
          <p:nvPr>
            <p:ph type="dt"/>
          </p:nvPr>
        </p:nvSpPr>
        <p:spPr>
          <a:xfrm>
            <a:off x="4278960" y="0"/>
            <a:ext cx="3280680" cy="534240"/>
          </a:xfrm>
          <a:prstGeom prst="rect">
            <a:avLst/>
          </a:prstGeom>
        </p:spPr>
        <p:txBody>
          <a:bodyPr lIns="0" rIns="0" tIns="0" bIns="0">
            <a:noAutofit/>
          </a:bodyPr>
          <a:p>
            <a:pPr algn="r"/>
            <a:r>
              <a:rPr b="0" lang="es-ES" sz="1400" spc="-1" strike="noStrike">
                <a:latin typeface="Times New Roman"/>
              </a:rPr>
              <a:t>&lt;fecha/hora&gt;</a:t>
            </a:r>
            <a:endParaRPr b="0" lang="es-ES" sz="1400" spc="-1" strike="noStrike">
              <a:latin typeface="Times New Roman"/>
            </a:endParaRPr>
          </a:p>
        </p:txBody>
      </p:sp>
      <p:sp>
        <p:nvSpPr>
          <p:cNvPr id="42" name="PlaceHolder 5"/>
          <p:cNvSpPr>
            <a:spLocks noGrp="1"/>
          </p:cNvSpPr>
          <p:nvPr>
            <p:ph type="ftr"/>
          </p:nvPr>
        </p:nvSpPr>
        <p:spPr>
          <a:xfrm>
            <a:off x="0" y="10157400"/>
            <a:ext cx="3280680" cy="534240"/>
          </a:xfrm>
          <a:prstGeom prst="rect">
            <a:avLst/>
          </a:prstGeom>
        </p:spPr>
        <p:txBody>
          <a:bodyPr lIns="0" rIns="0" tIns="0" bIns="0" anchor="b">
            <a:noAutofit/>
          </a:bodyPr>
          <a:p>
            <a:r>
              <a:rPr b="0" lang="es-ES" sz="1400" spc="-1" strike="noStrike">
                <a:latin typeface="Times New Roman"/>
              </a:rPr>
              <a:t>&lt;pie de página&gt;</a:t>
            </a:r>
            <a:endParaRPr b="0" lang="es-ES" sz="1400" spc="-1" strike="noStrike">
              <a:latin typeface="Times New Roman"/>
            </a:endParaRPr>
          </a:p>
        </p:txBody>
      </p:sp>
      <p:sp>
        <p:nvSpPr>
          <p:cNvPr id="43"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624EBEA3-3D2E-44A7-ADD5-119D3337D127}" type="slidenum">
              <a:rPr b="0" lang="es-ES" sz="1400" spc="-1" strike="noStrike">
                <a:latin typeface="Times New Roman"/>
              </a:rPr>
              <a:t>&lt;número&gt;</a:t>
            </a:fld>
            <a:endParaRPr b="0" lang="es-E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3" name="PlaceHolder 1"/>
          <p:cNvSpPr>
            <a:spLocks noGrp="1"/>
          </p:cNvSpPr>
          <p:nvPr>
            <p:ph type="sldImg"/>
          </p:nvPr>
        </p:nvSpPr>
        <p:spPr>
          <a:xfrm>
            <a:off x="685800" y="1143000"/>
            <a:ext cx="5485680" cy="3085560"/>
          </a:xfrm>
          <a:prstGeom prst="rect">
            <a:avLst/>
          </a:prstGeom>
        </p:spPr>
      </p:sp>
      <p:sp>
        <p:nvSpPr>
          <p:cNvPr id="202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Dar la bienvenida, situar el curso en el rol real de un DBA y fijar expectativas sobre lo que el alumno sabrá hacer al terminar.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Presentación del instructor y de los alumnos: ronda rápida (rol, experiencia previa con T-SQL, qué versión de SQL Server usan hoy en su empresa).</a:t>
            </a:r>
            <a:endParaRPr b="0" lang="es-ES" sz="2000" spc="-1" strike="noStrike">
              <a:latin typeface="Arial"/>
            </a:endParaRPr>
          </a:p>
          <a:p>
            <a:pPr marL="216000" indent="-216000">
              <a:lnSpc>
                <a:spcPct val="100000"/>
              </a:lnSpc>
            </a:pPr>
            <a:r>
              <a:rPr b="0" lang="en-US" sz="2000" spc="-1" strike="noStrike">
                <a:latin typeface="Arial"/>
              </a:rPr>
              <a:t>- Mensaje clave: un DBA no "administra tablas", garantiza que los datos estén disponibles, íntegros, seguros y rápidos. Los cuatro adjetivos estructuran el curso.</a:t>
            </a:r>
            <a:endParaRPr b="0" lang="es-ES" sz="2000" spc="-1" strike="noStrike">
              <a:latin typeface="Arial"/>
            </a:endParaRPr>
          </a:p>
          <a:p>
            <a:pPr marL="216000" indent="-216000">
              <a:lnSpc>
                <a:spcPct val="100000"/>
              </a:lnSpc>
            </a:pPr>
            <a:r>
              <a:rPr b="0" lang="en-US" sz="2000" spc="-1" strike="noStrike">
                <a:latin typeface="Arial"/>
              </a:rPr>
              <a:t>- El curso son 20 horas repartidas en 4 módulos: Fundamentos y arquitectura (4 h), Gestión y seguridad (5,5 h), Optimización y alta disponibilidad (5 h) y Mantenimiento y buenas prácticas (5 h), más 0,5 h de bienvenida y entorno.</a:t>
            </a:r>
            <a:endParaRPr b="0" lang="es-ES" sz="2000" spc="-1" strike="noStrike">
              <a:latin typeface="Arial"/>
            </a:endParaRPr>
          </a:p>
          <a:p>
            <a:pPr marL="216000" indent="-216000">
              <a:lnSpc>
                <a:spcPct val="100000"/>
              </a:lnSpc>
            </a:pPr>
            <a:r>
              <a:rPr b="0" lang="en-US" sz="2000" spc="-1" strike="noStrike">
                <a:latin typeface="Arial"/>
              </a:rPr>
              <a:t>- Cada módulo termina con un laboratorio guiado y el curso cierra con un caso práctico integrador que obliga a combinar todo: diseño, seguridad, índices y backups.</a:t>
            </a:r>
            <a:endParaRPr b="0" lang="es-ES" sz="2000" spc="-1" strike="noStrike">
              <a:latin typeface="Arial"/>
            </a:endParaRPr>
          </a:p>
          <a:p>
            <a:pPr marL="216000" indent="-216000">
              <a:lnSpc>
                <a:spcPct val="100000"/>
              </a:lnSpc>
            </a:pPr>
            <a:r>
              <a:rPr b="0" lang="en-US" sz="2000" spc="-1" strike="noStrike">
                <a:latin typeface="Arial"/>
              </a:rPr>
              <a:t>- Versión de referencia: SQL Server 2025 (compatible con 2022 y 2019). Las diferencias relevantes con 2016/2017 se señalan cuando importan.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caída de producción por falta de espacio, de backups o de índices? (Sirve de gancho para todo el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esperáis poder hacer el último día que hoy no sabéis hacer?</a:t>
            </a:r>
            <a:endParaRPr b="0" lang="es-ES" sz="2000" spc="-1" strike="noStrike">
              <a:latin typeface="Arial"/>
            </a:endParaRPr>
          </a:p>
        </p:txBody>
      </p:sp>
      <p:sp>
        <p:nvSpPr>
          <p:cNvPr id="202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8D46627-EEA5-447B-8D96-04FA439C547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6" name="PlaceHolder 1"/>
          <p:cNvSpPr>
            <a:spLocks noGrp="1"/>
          </p:cNvSpPr>
          <p:nvPr>
            <p:ph type="sldImg"/>
          </p:nvPr>
        </p:nvSpPr>
        <p:spPr>
          <a:xfrm>
            <a:off x="685800" y="1143000"/>
            <a:ext cx="5485680" cy="3085560"/>
          </a:xfrm>
          <a:prstGeom prst="rect">
            <a:avLst/>
          </a:prstGeom>
        </p:spPr>
      </p:sp>
      <p:sp>
        <p:nvSpPr>
          <p:cNvPr id="202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visualice el mapa completo del curso, el reparto horario y las competencias que adquirirá.</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Módulo 1 (4 h): cómo es SQL Server por dentro. Sin entender Buffer Pool, páginas, ficheros y log no se puede diagnosticar nada después. Incluye ediciones y licenciamiento, que es donde más dinero se gasta o se pierde.</a:t>
            </a:r>
            <a:endParaRPr b="0" lang="es-ES" sz="2000" spc="-1" strike="noStrike">
              <a:latin typeface="Arial"/>
            </a:endParaRPr>
          </a:p>
          <a:p>
            <a:pPr marL="216000" indent="-216000">
              <a:lnSpc>
                <a:spcPct val="100000"/>
              </a:lnSpc>
            </a:pPr>
            <a:r>
              <a:rPr b="0" lang="en-US" sz="2000" spc="-1" strike="noStrike">
                <a:latin typeface="Arial"/>
              </a:rPr>
              <a:t>- Módulo 2 (5,5 h): crear objetos (tablas, restricciones, vistas, procedimientos), consultar con soltura (JOINs, window functions) y asegurar el acceso con el principio de mínimo privilegio.</a:t>
            </a:r>
            <a:endParaRPr b="0" lang="es-ES" sz="2000" spc="-1" strike="noStrike">
              <a:latin typeface="Arial"/>
            </a:endParaRPr>
          </a:p>
          <a:p>
            <a:pPr marL="216000" indent="-216000">
              <a:lnSpc>
                <a:spcPct val="100000"/>
              </a:lnSpc>
            </a:pPr>
            <a:r>
              <a:rPr b="0" lang="en-US" sz="2000" spc="-1" strike="noStrike">
                <a:latin typeface="Arial"/>
              </a:rPr>
              <a:t>- Módulo 3 (5 h): rendimiento (índices, estadísticas, planes de ejecución, DMVs) y alta disponibilidad / recuperación ante desastres (RTO, RPO, Log Shipping, FCI, Always On AG).</a:t>
            </a:r>
            <a:endParaRPr b="0" lang="es-ES" sz="2000" spc="-1" strike="noStrike">
              <a:latin typeface="Arial"/>
            </a:endParaRPr>
          </a:p>
          <a:p>
            <a:pPr marL="216000" indent="-216000">
              <a:lnSpc>
                <a:spcPct val="100000"/>
              </a:lnSpc>
            </a:pPr>
            <a:r>
              <a:rPr b="0" lang="en-US" sz="2000" spc="-1" strike="noStrike">
                <a:latin typeface="Arial"/>
              </a:rPr>
              <a:t>- Módulo 4 (5 h): lo que separa a un aficionado de un DBA: modelos de recuperación, backups, restauración point-in-time, DBCC CHECKDB, automatización con Agent y resolución de incidencias.</a:t>
            </a:r>
            <a:endParaRPr b="0" lang="es-ES" sz="2000" spc="-1" strike="noStrike">
              <a:latin typeface="Arial"/>
            </a:endParaRPr>
          </a:p>
          <a:p>
            <a:pPr marL="216000" indent="-216000">
              <a:lnSpc>
                <a:spcPct val="100000"/>
              </a:lnSpc>
            </a:pPr>
            <a:r>
              <a:rPr b="0" lang="en-US" sz="2000" spc="-1" strike="noStrike">
                <a:latin typeface="Arial"/>
              </a:rPr>
              <a:t>- Los números no son rígidos: si un laboratorio genera debate, se recorta teoría. El tiempo de laboratorio es el más valioso.</a:t>
            </a:r>
            <a:endParaRPr b="0" lang="es-ES" sz="2000" spc="-1" strike="noStrike">
              <a:latin typeface="Arial"/>
            </a:endParaRPr>
          </a:p>
          <a:p>
            <a:pPr marL="216000" indent="-216000">
              <a:lnSpc>
                <a:spcPct val="100000"/>
              </a:lnSpc>
            </a:pPr>
            <a:r>
              <a:rPr b="0" lang="en-US" sz="2000" spc="-1" strike="noStrike">
                <a:latin typeface="Arial"/>
              </a:rPr>
              <a:t>- Al final del curso el alumno podrá diseñar una estrategia de backup que cumpla un RPO dado, interpretar un plan de ejecución, y montar un esquema de permisos segregado.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De los cuatro bloques, ¿cuál creéis que os va a costar más y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tema que no aparece aquí os gustaría ver? (Anotarlo para el cierre del curso.)</a:t>
            </a:r>
            <a:endParaRPr b="0" lang="es-ES" sz="2000" spc="-1" strike="noStrike">
              <a:latin typeface="Arial"/>
            </a:endParaRPr>
          </a:p>
        </p:txBody>
      </p:sp>
      <p:sp>
        <p:nvSpPr>
          <p:cNvPr id="202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F52F8F7-0652-49B1-8174-7D6E1297681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9" name="PlaceHolder 1"/>
          <p:cNvSpPr>
            <a:spLocks noGrp="1"/>
          </p:cNvSpPr>
          <p:nvPr>
            <p:ph type="sldImg"/>
          </p:nvPr>
        </p:nvSpPr>
        <p:spPr>
          <a:xfrm>
            <a:off x="685800" y="1143000"/>
            <a:ext cx="5485680" cy="3085560"/>
          </a:xfrm>
          <a:prstGeom prst="rect">
            <a:avLst/>
          </a:prstGeom>
        </p:spPr>
      </p:sp>
      <p:sp>
        <p:nvSpPr>
          <p:cNvPr id="203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Acordar la dinámica: teoría breve, laboratorio inmediato y participación constante; fijar reglas de seguridad del entorno de práctica.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Formato: bloques de teoría de 20-30 minutos, siempre seguidos de una demostración o ejercicio. Un curso de administración se aprende con las manos en el teclado.</a:t>
            </a:r>
            <a:endParaRPr b="0" lang="es-ES" sz="2000" spc="-1" strike="noStrike">
              <a:latin typeface="Arial"/>
            </a:endParaRPr>
          </a:p>
          <a:p>
            <a:pPr marL="216000" indent="-216000">
              <a:lnSpc>
                <a:spcPct val="100000"/>
              </a:lnSpc>
            </a:pPr>
            <a:r>
              <a:rPr b="0" lang="en-US" sz="2000" spc="-1" strike="noStrike">
                <a:latin typeface="Arial"/>
              </a:rPr>
              <a:t>- Los laboratorios se hacen sobre un contenedor Docker o una instancia local propia: cada alumno puede romper su servidor sin afectar a nadie. Romper cosas a propósito (llenar el log, corromper una página) es parte del plan.</a:t>
            </a:r>
            <a:endParaRPr b="0" lang="es-ES" sz="2000" spc="-1" strike="noStrike">
              <a:latin typeface="Arial"/>
            </a:endParaRPr>
          </a:p>
          <a:p>
            <a:pPr marL="216000" indent="-216000">
              <a:lnSpc>
                <a:spcPct val="100000"/>
              </a:lnSpc>
            </a:pPr>
            <a:r>
              <a:rPr b="0" lang="en-US" sz="2000" spc="-1" strike="noStrike">
                <a:latin typeface="Arial"/>
              </a:rPr>
              <a:t>- Regla de oro: nunca ejecutar los scripts del curso contra un servidor de producción. Se pide confirmar el nombre del servidor (SELECT @@SERVERNAME) antes de cualquier script destructivo; es un hábito profesional.</a:t>
            </a:r>
            <a:endParaRPr b="0" lang="es-ES" sz="2000" spc="-1" strike="noStrike">
              <a:latin typeface="Arial"/>
            </a:endParaRPr>
          </a:p>
          <a:p>
            <a:pPr marL="216000" indent="-216000">
              <a:lnSpc>
                <a:spcPct val="100000"/>
              </a:lnSpc>
            </a:pPr>
            <a:r>
              <a:rPr b="0" lang="en-US" sz="2000" spc="-1" strike="noStrike">
                <a:latin typeface="Arial"/>
              </a:rPr>
              <a:t>- Material: diapositivas, scripts T-SQL del curso y la Guía del Docente en Markdown con todo el guion. Cada diapositiva de laboratorio incluye una guía de resolución en las notas.</a:t>
            </a:r>
            <a:endParaRPr b="0" lang="es-ES" sz="2000" spc="-1" strike="noStrike">
              <a:latin typeface="Arial"/>
            </a:endParaRPr>
          </a:p>
          <a:p>
            <a:pPr marL="216000" indent="-216000">
              <a:lnSpc>
                <a:spcPct val="100000"/>
              </a:lnSpc>
            </a:pPr>
            <a:r>
              <a:rPr b="0" lang="en-US" sz="2000" spc="-1" strike="noStrike">
                <a:latin typeface="Arial"/>
              </a:rPr>
              <a:t>- Evaluación: participación, entrega del Laboratorio 4 y resolución del caso práctico integrador final (con criterios explícitos que se verán al comienzo del caso).</a:t>
            </a:r>
            <a:endParaRPr b="0" lang="es-ES" sz="2000" spc="-1" strike="noStrike">
              <a:latin typeface="Arial"/>
            </a:endParaRPr>
          </a:p>
          <a:p>
            <a:pPr marL="216000" indent="-216000">
              <a:lnSpc>
                <a:spcPct val="100000"/>
              </a:lnSpc>
            </a:pPr>
            <a:r>
              <a:rPr b="0" lang="en-US" sz="2000" spc="-1" strike="noStrike">
                <a:latin typeface="Arial"/>
              </a:rPr>
              <a:t>- Se anima a interrumpir con preguntas: es más barato resolver una duda ahora que durante un incidente real.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entorno tiene cada uno disponible: Windows con SSMS, macOS/Linux con Docker, ambos?</a:t>
            </a:r>
            <a:endParaRPr b="0" lang="es-ES" sz="2000" spc="-1" strike="noStrike">
              <a:latin typeface="Arial"/>
            </a:endParaRPr>
          </a:p>
          <a:p>
            <a:pPr marL="216000" indent="-215640">
              <a:lnSpc>
                <a:spcPct val="100000"/>
              </a:lnSpc>
              <a:tabLst>
                <a:tab algn="l" pos="0"/>
              </a:tabLst>
            </a:pPr>
            <a:r>
              <a:rPr b="0" lang="en-US" sz="2000" spc="-1" strike="noStrike">
                <a:latin typeface="Arial"/>
              </a:rPr>
              <a:t>- ¿Qué os frena más al aprender administración: no tener un servidor donde practicar o miedo a romperlo?</a:t>
            </a:r>
            <a:endParaRPr b="0" lang="es-ES" sz="2000" spc="-1" strike="noStrike">
              <a:latin typeface="Arial"/>
            </a:endParaRPr>
          </a:p>
        </p:txBody>
      </p:sp>
      <p:sp>
        <p:nvSpPr>
          <p:cNvPr id="203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D280D7D-7622-4C6E-8902-C307A62BADC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2" name="PlaceHolder 1"/>
          <p:cNvSpPr>
            <a:spLocks noGrp="1"/>
          </p:cNvSpPr>
          <p:nvPr>
            <p:ph type="sldImg"/>
          </p:nvPr>
        </p:nvSpPr>
        <p:spPr>
          <a:xfrm>
            <a:off x="685800" y="1143000"/>
            <a:ext cx="5485680" cy="3085560"/>
          </a:xfrm>
          <a:prstGeom prst="rect">
            <a:avLst/>
          </a:prstGeom>
        </p:spPr>
      </p:sp>
      <p:sp>
        <p:nvSpPr>
          <p:cNvPr id="203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el entorno preparado: instancia SQL Server accesible y herramienta cliente conectada antes de empezar el Módulo 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Tres piezas: una instancia SQL Server (Docker o local), una herramienta cliente (SSMS en Windows; extensión MSSQL de VS Code en macOS/Linux) y un editor de scripts.</a:t>
            </a:r>
            <a:endParaRPr b="0" lang="es-ES" sz="2000" spc="-1" strike="noStrike">
              <a:latin typeface="Arial"/>
            </a:endParaRPr>
          </a:p>
          <a:p>
            <a:pPr marL="216000" indent="-216000">
              <a:lnSpc>
                <a:spcPct val="100000"/>
              </a:lnSpc>
            </a:pPr>
            <a:r>
              <a:rPr b="0" lang="en-US" sz="2000" spc="-1" strike="noStrike">
                <a:latin typeface="Arial"/>
              </a:rPr>
              <a:t>- Azure Data Studio ha llegado al final de su soporte (28 de febrero de 2026): Microsoft recomienda la extensión MSSQL de Visual Studio Code. Si algún alumno lo tiene instalado, funciona pero ya no recibe actualizaciones.</a:t>
            </a:r>
            <a:endParaRPr b="0" lang="es-ES" sz="2000" spc="-1" strike="noStrike">
              <a:latin typeface="Arial"/>
            </a:endParaRPr>
          </a:p>
          <a:p>
            <a:pPr marL="216000" indent="-216000">
              <a:lnSpc>
                <a:spcPct val="100000"/>
              </a:lnSpc>
            </a:pPr>
            <a:r>
              <a:rPr b="0" lang="en-US" sz="2000" spc="-1" strike="noStrike">
                <a:latin typeface="Arial"/>
              </a:rPr>
              <a:t>- Docker: la imagen oficial mcr.microsoft.com/mssql/server:2025-latest es multiplataforma. En Mac con Apple Silicon hay que ejecutar Docker Desktop con emulación x86_64 (--platform linux/amd64) y activar Rosetta en los ajustes; el arranque es más lento pero funciona.</a:t>
            </a:r>
            <a:endParaRPr b="0" lang="es-ES" sz="2000" spc="-1" strike="noStrike">
              <a:latin typeface="Arial"/>
            </a:endParaRPr>
          </a:p>
          <a:p>
            <a:pPr marL="216000" indent="-216000">
              <a:lnSpc>
                <a:spcPct val="100000"/>
              </a:lnSpc>
            </a:pPr>
            <a:r>
              <a:rPr b="0" lang="en-US" sz="2000" spc="-1" strike="noStrike">
                <a:latin typeface="Arial"/>
              </a:rPr>
              <a:t>- Variables imprescindibles: ACCEPT_EULA=Y y MSSQL_SA_PASSWORD con una contraseña que cumpla la política de complejidad (8+ caracteres, tres de cuatro categorías); si no, el contenedor arranca y se detiene sin avisar: se diagnostica con docker logs sql2025.</a:t>
            </a:r>
            <a:endParaRPr b="0" lang="es-ES" sz="2000" spc="-1" strike="noStrike">
              <a:latin typeface="Arial"/>
            </a:endParaRPr>
          </a:p>
          <a:p>
            <a:pPr marL="216000" indent="-216000">
              <a:lnSpc>
                <a:spcPct val="100000"/>
              </a:lnSpc>
            </a:pPr>
            <a:r>
              <a:rPr b="0" lang="en-US" sz="2000" spc="-1" strike="noStrike">
                <a:latin typeface="Arial"/>
              </a:rPr>
              <a:t>- El volumen -v sqldata:/var/opt/mssql persiste los ficheros .mdf/.ldf si se elimina el contenedor. Se usará en el laboratorio de restauración del Módulo 4.</a:t>
            </a:r>
            <a:endParaRPr b="0" lang="es-ES" sz="2000" spc="-1" strike="noStrike">
              <a:latin typeface="Arial"/>
            </a:endParaRPr>
          </a:p>
          <a:p>
            <a:pPr marL="216000" indent="-216000">
              <a:lnSpc>
                <a:spcPct val="100000"/>
              </a:lnSpc>
            </a:pPr>
            <a:r>
              <a:rPr b="0" lang="en-US" sz="2000" spc="-1" strike="noStrike">
                <a:latin typeface="Arial"/>
              </a:rPr>
              <a:t>- Opción local (Windows): SQL Server 2025 Developer Edition (gratuita, con todas las funciones de Enterprise y sólo para desarrollo y pruebas) + SSMS 20/21.</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conectarse con la cuenta sa y con autenticación de Windows? (Anticipa el Módulo 2.)</a:t>
            </a:r>
            <a:endParaRPr b="0" lang="es-ES" sz="2000" spc="-1" strike="noStrike">
              <a:latin typeface="Arial"/>
            </a:endParaRPr>
          </a:p>
          <a:p>
            <a:pPr marL="216000" indent="-216000">
              <a:lnSpc>
                <a:spcPct val="100000"/>
              </a:lnSpc>
            </a:pPr>
            <a:r>
              <a:rPr b="0" lang="en-US" sz="2000" spc="-1" strike="noStrike">
                <a:latin typeface="Arial"/>
              </a:rPr>
              <a:t>- ¿Por qué crees que el contenedor se detiene si la contraseña de sa no cumple la política?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Arrancar el contenedor con el comando de la diapositiva y comprobar con docker ps que el estado es Up.</a:t>
            </a:r>
            <a:endParaRPr b="0" lang="es-ES" sz="2000" spc="-1" strike="noStrike">
              <a:latin typeface="Arial"/>
            </a:endParaRPr>
          </a:p>
          <a:p>
            <a:pPr marL="216000" indent="-216000">
              <a:lnSpc>
                <a:spcPct val="100000"/>
              </a:lnSpc>
            </a:pPr>
            <a:r>
              <a:rPr b="0" lang="en-US" sz="2000" spc="-1" strike="noStrike">
                <a:latin typeface="Arial"/>
              </a:rPr>
              <a:t>- Conectar desde SSMS o VS Code: servidor localhost,1433, usuario sa, marcar "Trust server certificate".</a:t>
            </a:r>
            <a:endParaRPr b="0" lang="es-ES" sz="2000" spc="-1" strike="noStrike">
              <a:latin typeface="Arial"/>
            </a:endParaRPr>
          </a:p>
          <a:p>
            <a:pPr marL="216000" indent="-216000">
              <a:lnSpc>
                <a:spcPct val="100000"/>
              </a:lnSpc>
            </a:pPr>
            <a:r>
              <a:rPr b="0" lang="en-US" sz="2000" spc="-1" strike="noStrike">
                <a:latin typeface="Arial"/>
              </a:rPr>
              <a:t>- Ejecutar SELECT @@VERSION, @@SERVERNAME; y guardar el resultado como evidencia.</a:t>
            </a:r>
            <a:endParaRPr b="0" lang="es-ES" sz="2000" spc="-1" strike="noStrike">
              <a:latin typeface="Arial"/>
            </a:endParaRPr>
          </a:p>
          <a:p>
            <a:pPr marL="216000" indent="-215640">
              <a:lnSpc>
                <a:spcPct val="100000"/>
              </a:lnSpc>
              <a:tabLst>
                <a:tab algn="l" pos="0"/>
              </a:tabLst>
            </a:pPr>
            <a:r>
              <a:rPr b="0" lang="en-US" sz="2000" spc="-1" strike="noStrike">
                <a:latin typeface="Arial"/>
              </a:rPr>
              <a:t>- Trampas: puerto 1433 ocupado por otra instancia local (usar -p 14333:1433 y conectar a localhost,14333); contraseña con caracteres especiales mal escapados en el shell (usar comillas simples en zsh/bash).</a:t>
            </a:r>
            <a:endParaRPr b="0" lang="es-ES" sz="2000" spc="-1" strike="noStrike">
              <a:latin typeface="Arial"/>
            </a:endParaRPr>
          </a:p>
        </p:txBody>
      </p:sp>
      <p:sp>
        <p:nvSpPr>
          <p:cNvPr id="203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A7EC066-9E40-49E8-B679-50FEC0C1E20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5" name="PlaceHolder 1"/>
          <p:cNvSpPr>
            <a:spLocks noGrp="1"/>
          </p:cNvSpPr>
          <p:nvPr>
            <p:ph type="sldImg"/>
          </p:nvPr>
        </p:nvSpPr>
        <p:spPr>
          <a:xfrm>
            <a:off x="685800" y="1143000"/>
            <a:ext cx="5485680" cy="3085560"/>
          </a:xfrm>
          <a:prstGeom prst="rect">
            <a:avLst/>
          </a:prstGeom>
        </p:spPr>
      </p:sp>
      <p:sp>
        <p:nvSpPr>
          <p:cNvPr id="203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Introducir el Módulo 1 y justificar por qué empezamos por la arquitectura interna antes que por la sintaxis.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Idea fuerza: casi todos los problemas que veremos más adelante (bloqueos, rendimiento, log lleno, restauraciones) se explican con cuatro conceptos: Buffer Pool, páginas, Transaction Log y tempdb. Este módulo los instala en la cabeza del alumno.</a:t>
            </a:r>
            <a:endParaRPr b="0" lang="es-ES" sz="2000" spc="-1" strike="noStrike">
              <a:latin typeface="Arial"/>
            </a:endParaRPr>
          </a:p>
          <a:p>
            <a:pPr marL="216000" indent="-216000">
              <a:lnSpc>
                <a:spcPct val="100000"/>
              </a:lnSpc>
            </a:pPr>
            <a:r>
              <a:rPr b="0" lang="en-US" sz="2000" spc="-1" strike="noStrike">
                <a:latin typeface="Arial"/>
              </a:rPr>
              <a:t>- Recorrido: historia y versiones → arquitectura → estructura física (páginas, extensiones, MDF/NDF/LDF, WAL y VLFs) → instancias y bases del sistema → ediciones y licenciamiento → herramientas → tablas vectoriales (IA) → Laboratorio 1.</a:t>
            </a:r>
            <a:endParaRPr b="0" lang="es-ES" sz="2000" spc="-1" strike="noStrike">
              <a:latin typeface="Arial"/>
            </a:endParaRPr>
          </a:p>
          <a:p>
            <a:pPr marL="216000" indent="-216000">
              <a:lnSpc>
                <a:spcPct val="100000"/>
              </a:lnSpc>
            </a:pPr>
            <a:r>
              <a:rPr b="0" lang="en-US" sz="2000" spc="-1" strike="noStrike">
                <a:latin typeface="Arial"/>
              </a:rPr>
              <a:t>- Duración estimada 4,0 horas: ~2,75 de teoría con demostraciones (incluyendo tipo VECTOR) y ~1,25 de laboratorio.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5640">
              <a:lnSpc>
                <a:spcPct val="100000"/>
              </a:lnSpc>
              <a:tabLst>
                <a:tab algn="l" pos="0"/>
              </a:tabLst>
            </a:pPr>
            <a:r>
              <a:rPr b="0" lang="en-US" sz="2000" spc="-1" strike="noStrike">
                <a:latin typeface="Arial"/>
              </a:rPr>
              <a:t>- ¿Qué creéis que ocurre exactamente entre que escribís un INSERT y que el dato está "guardado"? Anotad las respuestas, las revisaremos al explicar el WAL.</a:t>
            </a:r>
            <a:endParaRPr b="0" lang="es-ES" sz="2000" spc="-1" strike="noStrike">
              <a:latin typeface="Arial"/>
            </a:endParaRPr>
          </a:p>
        </p:txBody>
      </p:sp>
      <p:sp>
        <p:nvSpPr>
          <p:cNvPr id="203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108A994-9ECE-4A94-961A-2A8EA93FB71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8" name="PlaceHolder 1"/>
          <p:cNvSpPr>
            <a:spLocks noGrp="1"/>
          </p:cNvSpPr>
          <p:nvPr>
            <p:ph type="sldImg"/>
          </p:nvPr>
        </p:nvSpPr>
        <p:spPr>
          <a:xfrm>
            <a:off x="685800" y="1143000"/>
            <a:ext cx="5485680" cy="3085560"/>
          </a:xfrm>
          <a:prstGeom prst="rect">
            <a:avLst/>
          </a:prstGeom>
        </p:spPr>
      </p:sp>
      <p:sp>
        <p:nvSpPr>
          <p:cNvPr id="203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las versiones actuales, sus hitos y su ciclo de vida para decidir cuál instalar o a cuál migrar.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nace en 1989 (Sybase/Microsoft/Ashton-Tate). Los hitos modernos empiezan con 2005 (DMVs, TRY/CATCH, CLR), 2008 (compresión, Policy-Based Management) y 2012 (Always On AG y columnstore).</a:t>
            </a:r>
            <a:endParaRPr b="0" lang="es-ES" sz="2000" spc="-1" strike="noStrike">
              <a:latin typeface="Arial"/>
            </a:endParaRPr>
          </a:p>
          <a:p>
            <a:pPr marL="216000" indent="-216000">
              <a:lnSpc>
                <a:spcPct val="100000"/>
              </a:lnSpc>
            </a:pPr>
            <a:r>
              <a:rPr b="0" lang="en-US" sz="2000" spc="-1" strike="noStrike">
                <a:latin typeface="Arial"/>
              </a:rPr>
              <a:t>- 2014: In-Memory OLTP (Hekaton) y Buffer Pool Extension. 2016: Query Store, Always Encrypted, Row-Level Security, temporal tables. 2017: primera versión en Linux y Docker; adaptive query processing.</a:t>
            </a:r>
            <a:endParaRPr b="0" lang="es-ES" sz="2000" spc="-1" strike="noStrike">
              <a:latin typeface="Arial"/>
            </a:endParaRPr>
          </a:p>
          <a:p>
            <a:pPr marL="216000" indent="-216000">
              <a:lnSpc>
                <a:spcPct val="100000"/>
              </a:lnSpc>
            </a:pPr>
            <a:r>
              <a:rPr b="0" lang="en-US" sz="2000" spc="-1" strike="noStrike">
                <a:latin typeface="Arial"/>
              </a:rPr>
              <a:t>- 2019: Intelligent Query Processing (memory grant feedback, batch mode en rowstore), Accelerated Database Recovery (ADR) y UTF-8. 2022: Ledger, Parameter Sensitive Plan optimization, Contained Availability Groups y copia a S3.</a:t>
            </a:r>
            <a:endParaRPr b="0" lang="es-ES" sz="2000" spc="-1" strike="noStrike">
              <a:latin typeface="Arial"/>
            </a:endParaRPr>
          </a:p>
          <a:p>
            <a:pPr marL="216000" indent="-216000">
              <a:lnSpc>
                <a:spcPct val="100000"/>
              </a:lnSpc>
            </a:pPr>
            <a:r>
              <a:rPr b="0" lang="en-US" sz="2000" spc="-1" strike="noStrike">
                <a:latin typeface="Arial"/>
              </a:rPr>
              <a:t>- 2025: incorpora el tipo vector y funciones de IA (VECTOR, VECTOR_DISTANCE), el tipo json nativo y expresiones regulares en T-SQL. Es la versión de referencia del curso.</a:t>
            </a:r>
            <a:endParaRPr b="0" lang="es-ES" sz="2000" spc="-1" strike="noStrike">
              <a:latin typeface="Arial"/>
            </a:endParaRPr>
          </a:p>
          <a:p>
            <a:pPr marL="216000" indent="-216000">
              <a:lnSpc>
                <a:spcPct val="100000"/>
              </a:lnSpc>
            </a:pPr>
            <a:r>
              <a:rPr b="0" lang="en-US" sz="2000" spc="-1" strike="noStrike">
                <a:latin typeface="Arial"/>
              </a:rPr>
              <a:t>- Ciclo de vida: 5 años de soporte principal + 5 de soporte extendido (parches de seguridad). SQL Server 2016 terminó su soporte extendido en julio de 2026; 2017 termina en octubre de 2027, 2019 en enero de 2030 y 2022 en enero de 2033.</a:t>
            </a:r>
            <a:endParaRPr b="0" lang="es-ES" sz="2000" spc="-1" strike="noStrike">
              <a:latin typeface="Arial"/>
            </a:endParaRPr>
          </a:p>
          <a:p>
            <a:pPr marL="216000" indent="-216000">
              <a:lnSpc>
                <a:spcPct val="100000"/>
              </a:lnSpc>
            </a:pPr>
            <a:r>
              <a:rPr b="0" lang="en-US" sz="2000" spc="-1" strike="noStrike">
                <a:latin typeface="Arial"/>
              </a:rPr>
              <a:t>- Nivel de compatibilidad (COMPATIBILITY_LEVEL): 130=2016, 140=2017, 150=2019, 160=2022, 170=2025. Una BD restaurada en una versión nueva mantiene su nivel de compatibilidad hasta que se cambie; es clave en migraciones.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versión tenéis en producción y en qué fecha termina su soporte extendido?</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tiene subir el nivel de compatibilidad de una base de datos sin probarla? (Cambios en el optimizador/CE, regresiones de planes.)</a:t>
            </a:r>
            <a:endParaRPr b="0" lang="es-ES" sz="2000" spc="-1" strike="noStrike">
              <a:latin typeface="Arial"/>
            </a:endParaRPr>
          </a:p>
        </p:txBody>
      </p:sp>
      <p:sp>
        <p:nvSpPr>
          <p:cNvPr id="204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55B1D5E-BAB9-4007-B528-4A433EECC2C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1" name="PlaceHolder 1"/>
          <p:cNvSpPr>
            <a:spLocks noGrp="1"/>
          </p:cNvSpPr>
          <p:nvPr>
            <p:ph type="sldImg"/>
          </p:nvPr>
        </p:nvSpPr>
        <p:spPr>
          <a:xfrm>
            <a:off x="685800" y="1143000"/>
            <a:ext cx="5485680" cy="3085560"/>
          </a:xfrm>
          <a:prstGeom prst="rect">
            <a:avLst/>
          </a:prstGeom>
        </p:spPr>
      </p:sp>
      <p:sp>
        <p:nvSpPr>
          <p:cNvPr id="204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identifique las capas del motor (SNI, Relational Engine, Storage Engine, SQLOS) y sepa qué responsabilidad tiene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Seguir el recorrido de arriba abajo con el puntero. El cliente se comunica mediante el protocolo TDS (Tabular Data Stream) sobre un protocolo de red: Shared Memory (local), TCP/IP (el habitual, puerto 1433 por defecto) o Named Pipes. La capa SNI (SQL Network Interface) los abstrae.</a:t>
            </a:r>
            <a:endParaRPr b="0" lang="es-ES" sz="2000" spc="-1" strike="noStrike">
              <a:latin typeface="Arial"/>
            </a:endParaRPr>
          </a:p>
          <a:p>
            <a:pPr marL="216000" indent="-216000">
              <a:lnSpc>
                <a:spcPct val="100000"/>
              </a:lnSpc>
            </a:pPr>
            <a:r>
              <a:rPr b="0" lang="en-US" sz="2000" spc="-1" strike="noStrike">
                <a:latin typeface="Arial"/>
              </a:rPr>
              <a:t>- Relational Engine (query processor): el Parser comprueba la sintaxis; el Algebrizer resuelve nombres de objetos/tipos y produce un árbol de consulta; el Optimizer, basado en costes, elige un plan a partir de estadísticas; el Query Executor lo ejecuta operador a operador.</a:t>
            </a:r>
            <a:endParaRPr b="0" lang="es-ES" sz="2000" spc="-1" strike="noStrike">
              <a:latin typeface="Arial"/>
            </a:endParaRPr>
          </a:p>
          <a:p>
            <a:pPr marL="216000" indent="-216000">
              <a:lnSpc>
                <a:spcPct val="100000"/>
              </a:lnSpc>
            </a:pPr>
            <a:r>
              <a:rPr b="0" lang="en-US" sz="2000" spc="-1" strike="noStrike">
                <a:latin typeface="Arial"/>
              </a:rPr>
              <a:t>- Storage Engine: Access Methods (cómo leer/escribir filas, índices, heaps), Buffer Manager (gestiona el Buffer Pool: caché de páginas de datos en memoria) y Transaction Manager (log, bloqueos, aislamiento: ACID).</a:t>
            </a:r>
            <a:endParaRPr b="0" lang="es-ES" sz="2000" spc="-1" strike="noStrike">
              <a:latin typeface="Arial"/>
            </a:endParaRPr>
          </a:p>
          <a:p>
            <a:pPr marL="216000" indent="-216000">
              <a:lnSpc>
                <a:spcPct val="100000"/>
              </a:lnSpc>
            </a:pPr>
            <a:r>
              <a:rPr b="0" lang="en-US" sz="2000" spc="-1" strike="noStrike">
                <a:latin typeface="Arial"/>
              </a:rPr>
              <a:t>- SQLOS es una capa propia de SQL Server (no es el sistema operativo): planificación cooperativa con schedulers (uno por CPU lógica), gestión de memoria, I/O, sincronización y bloqueos. Explica los wait types (PAGEIOLATCH, CXPACKET, LCK_M_*).</a:t>
            </a:r>
            <a:endParaRPr b="0" lang="es-ES" sz="2000" spc="-1" strike="noStrike">
              <a:latin typeface="Arial"/>
            </a:endParaRPr>
          </a:p>
          <a:p>
            <a:pPr marL="216000" indent="-216000">
              <a:lnSpc>
                <a:spcPct val="100000"/>
              </a:lnSpc>
            </a:pPr>
            <a:r>
              <a:rPr b="0" lang="en-US" sz="2000" spc="-1" strike="noStrike">
                <a:latin typeface="Arial"/>
              </a:rPr>
              <a:t>- A la derecha, el disco: ficheros de datos (.mdf/.ndf) y de log (.ldf). El motor nunca escribe directamente en el disco de datos al hacer COMMIT: primero escribe en el log (WAL). Lo veremos en la diapositiva del Transaction Log.</a:t>
            </a:r>
            <a:endParaRPr b="0" lang="es-ES" sz="2000" spc="-1" strike="noStrike">
              <a:latin typeface="Arial"/>
            </a:endParaRPr>
          </a:p>
          <a:p>
            <a:pPr marL="216000" indent="-216000">
              <a:lnSpc>
                <a:spcPct val="100000"/>
              </a:lnSpc>
            </a:pPr>
            <a:r>
              <a:rPr b="0" lang="en-US" sz="2000" spc="-1" strike="noStrike">
                <a:latin typeface="Arial"/>
              </a:rPr>
              <a:t>- Punto de vista del DBA: cada capa suele ser origen de un tipo de problema: red (latencias, fallos de conexión), optimizador (planes malos), almacenamiento (E/S lenta, log), SQLOS (esperas de CPU/memoria).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capa se decide si una consulta usa un Index Seek o un Index Scan? ¿Y quién lo ejecuta?</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sufre esperas PAGEIOLATCH_SH, ¿qué capas están implicadas?</a:t>
            </a:r>
            <a:endParaRPr b="0" lang="es-ES" sz="2000" spc="-1" strike="noStrike">
              <a:latin typeface="Arial"/>
            </a:endParaRPr>
          </a:p>
        </p:txBody>
      </p:sp>
      <p:sp>
        <p:nvSpPr>
          <p:cNvPr id="204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EC95D65-2D6A-42BE-8853-F847FD654CF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4" name="PlaceHolder 1"/>
          <p:cNvSpPr>
            <a:spLocks noGrp="1"/>
          </p:cNvSpPr>
          <p:nvPr>
            <p:ph type="sldImg"/>
          </p:nvPr>
        </p:nvSpPr>
        <p:spPr>
          <a:xfrm>
            <a:off x="685800" y="1143000"/>
            <a:ext cx="5485680" cy="3085560"/>
          </a:xfrm>
          <a:prstGeom prst="rect">
            <a:avLst/>
          </a:prstGeom>
        </p:spPr>
      </p:sp>
      <p:sp>
        <p:nvSpPr>
          <p:cNvPr id="204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recorrido completo de una sentencia, qué se cachea (plan cache) y por qué la segunda ejecución es más barata.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Paso 1 – Parse: validación sintáctica; si hay error aquí nunca llega al optimizador. Paso 2 – Bind/Algebrize: resuelve tablas, columnas y tipos; comprueba permisos sobre los objetos.</a:t>
            </a:r>
            <a:endParaRPr b="0" lang="es-ES" sz="2000" spc="-1" strike="noStrike">
              <a:latin typeface="Arial"/>
            </a:endParaRPr>
          </a:p>
          <a:p>
            <a:pPr marL="216000" indent="-216000">
              <a:lnSpc>
                <a:spcPct val="100000"/>
              </a:lnSpc>
            </a:pPr>
            <a:r>
              <a:rPr b="0" lang="en-US" sz="2000" spc="-1" strike="noStrike">
                <a:latin typeface="Arial"/>
              </a:rPr>
              <a:t>-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a:t>
            </a:r>
            <a:endParaRPr b="0" lang="es-ES" sz="2000" spc="-1" strike="noStrike">
              <a:latin typeface="Arial"/>
            </a:endParaRPr>
          </a:p>
          <a:p>
            <a:pPr marL="216000" indent="-216000">
              <a:lnSpc>
                <a:spcPct val="100000"/>
              </a:lnSpc>
            </a:pPr>
            <a:r>
              <a:rPr b="0" lang="en-US" sz="2000" spc="-1" strike="noStrike">
                <a:latin typeface="Arial"/>
              </a:rPr>
              <a:t>- Paso 4 – Execute: el Query Executor es un modelo de iteradores (cada operador pide filas al siguiente). Pide a Access Methods las filas y estos al Buffer Manager las páginas.</a:t>
            </a:r>
            <a:endParaRPr b="0" lang="es-ES" sz="2000" spc="-1" strike="noStrike">
              <a:latin typeface="Arial"/>
            </a:endParaRPr>
          </a:p>
          <a:p>
            <a:pPr marL="216000" indent="-216000">
              <a:lnSpc>
                <a:spcPct val="100000"/>
              </a:lnSpc>
            </a:pPr>
            <a:r>
              <a:rPr b="0" lang="en-US" sz="2000" spc="-1" strike="noStrike">
                <a:latin typeface="Arial"/>
              </a:rPr>
              <a:t>- Paso 5 – Lectura de páginas: si la página está en el Buffer Pool es una lectura lógica; si no, se lee del disco (lectura física) y se sube al Buffer Pool. SET STATISTICS IO muestra ambas.</a:t>
            </a:r>
            <a:endParaRPr b="0" lang="es-ES" sz="2000" spc="-1" strike="noStrike">
              <a:latin typeface="Arial"/>
            </a:endParaRPr>
          </a:p>
          <a:p>
            <a:pPr marL="216000" indent="-216000">
              <a:lnSpc>
                <a:spcPct val="100000"/>
              </a:lnSpc>
            </a:pPr>
            <a:r>
              <a:rPr b="0" lang="en-US" sz="2000" spc="-1" strike="noStrike">
                <a:latin typeface="Arial"/>
              </a:rPr>
              <a:t>- Resultado: se envían filas al cliente por TDS en paquetes (4096 bytes por defecto). Un cliente lento consumiendo resultados provoca la espera ASYNC_NETWORK_IO, que no es un problema del servidor.</a:t>
            </a:r>
            <a:endParaRPr b="0" lang="es-ES" sz="2000" spc="-1" strike="noStrike">
              <a:latin typeface="Arial"/>
            </a:endParaRPr>
          </a:p>
          <a:p>
            <a:pPr marL="216000" indent="-216000">
              <a:lnSpc>
                <a:spcPct val="100000"/>
              </a:lnSpc>
            </a:pPr>
            <a:r>
              <a:rPr b="0" lang="en-US" sz="2000" spc="-1" strike="noStrike">
                <a:latin typeface="Arial"/>
              </a:rPr>
              <a:t>- El plan cache se vacía al reiniciar, con DBCC FREEPROCCACHE o por presión de memoria. Consultas ad hoc con literales distintos generan un plan por cada variante (plan cache bloat); la parametrización lo evita.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la primera ejecución de una consulta suele ser más lenta que las siguientes? (Compilación + lecturas físicas.)</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que el plan quede cacheado y qué riesgo introduce? (Parameter sniffing, se verá en el Módulo 2.)</a:t>
            </a:r>
            <a:endParaRPr b="0" lang="es-ES" sz="2000" spc="-1" strike="noStrike">
              <a:latin typeface="Arial"/>
            </a:endParaRPr>
          </a:p>
        </p:txBody>
      </p:sp>
      <p:sp>
        <p:nvSpPr>
          <p:cNvPr id="204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68D55E4-0070-4F40-B892-2D255655138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7" name="PlaceHolder 1"/>
          <p:cNvSpPr>
            <a:spLocks noGrp="1"/>
          </p:cNvSpPr>
          <p:nvPr>
            <p:ph type="sldImg"/>
          </p:nvPr>
        </p:nvSpPr>
        <p:spPr>
          <a:xfrm>
            <a:off x="685800" y="1143000"/>
            <a:ext cx="5485680" cy="3085560"/>
          </a:xfrm>
          <a:prstGeom prst="rect">
            <a:avLst/>
          </a:prstGeom>
        </p:spPr>
      </p:sp>
      <p:sp>
        <p:nvSpPr>
          <p:cNvPr id="204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SQL Server usa casi toda la memoria disponible por diseño, qué se guarda en ella y cómo limitarla correctamente.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Buffer Pool es la mayor parte de la memoria de la instancia: caché de páginas de datos (8 KB). Leer de memoria cuesta microsegundos, de disco milisegundos. Por eso SQL Server "se come" la RAM: es su comportamiento normal, no una fuga.</a:t>
            </a:r>
            <a:endParaRPr b="0" lang="es-ES" sz="2000" spc="-1" strike="noStrike">
              <a:latin typeface="Arial"/>
            </a:endParaRPr>
          </a:p>
          <a:p>
            <a:pPr marL="216000" indent="-216000">
              <a:lnSpc>
                <a:spcPct val="100000"/>
              </a:lnSpc>
            </a:pPr>
            <a:r>
              <a:rPr b="0" lang="en-US" sz="2000" spc="-1" strike="noStrike">
                <a:latin typeface="Arial"/>
              </a:rPr>
              <a:t>- El Plan Cache guarda planes compilados. Otras cachés: Memory Grants (workspace para sorts y hashes), caché de metadatos y de bloqueos.</a:t>
            </a:r>
            <a:endParaRPr b="0" lang="es-ES" sz="2000" spc="-1" strike="noStrike">
              <a:latin typeface="Arial"/>
            </a:endParaRPr>
          </a:p>
          <a:p>
            <a:pPr marL="216000" indent="-216000">
              <a:lnSpc>
                <a:spcPct val="100000"/>
              </a:lnSpc>
            </a:pPr>
            <a:r>
              <a:rPr b="0" lang="en-US" sz="2000" spc="-1" strike="noStrike">
                <a:latin typeface="Arial"/>
              </a:rPr>
              <a:t>- Página sucia (dirty page): modificada en memoria y aún no escrita en el .mdf. Dos procesos las escriben: Checkpoint (periódico, controla el tiempo de recuperación; objetivo por defecto 60 s en BD nuevas) y Lazy Writer (libera páginas cuando hay presión de memoria).</a:t>
            </a:r>
            <a:endParaRPr b="0" lang="es-ES" sz="2000" spc="-1" strike="noStrike">
              <a:latin typeface="Arial"/>
            </a:endParaRPr>
          </a:p>
          <a:p>
            <a:pPr marL="216000" indent="-216000">
              <a:lnSpc>
                <a:spcPct val="100000"/>
              </a:lnSpc>
            </a:pPr>
            <a:r>
              <a:rPr b="0" lang="en-US" sz="2000" spc="-1" strike="noStrike">
                <a:latin typeface="Arial"/>
              </a:rPr>
              <a:t>- max server memory: por defecto 2.147.483.647 MB (sin límite). En producción hay que fijarlo dejando memoria al SO y otros procesos (regla de partida: 10-20% o al menos 4 GB, más si hay otras instancias o servicios). Sin límite, el SO puede paginar y el rendimiento se degrada.</a:t>
            </a:r>
            <a:endParaRPr b="0" lang="es-ES" sz="2000" spc="-1" strike="noStrike">
              <a:latin typeface="Arial"/>
            </a:endParaRPr>
          </a:p>
          <a:p>
            <a:pPr marL="216000" indent="-216000">
              <a:lnSpc>
                <a:spcPct val="100000"/>
              </a:lnSpc>
            </a:pPr>
            <a:r>
              <a:rPr b="0" lang="en-US" sz="2000" spc="-1" strike="noStrike">
                <a:latin typeface="Arial"/>
              </a:rPr>
              <a:t>- Indicadores: Page Life Expectancy (PLE) y Buffer Cache Hit Ratio; el segundo es engañoso. Lo más fiable: esperas PAGEIOLATCH y tasa de lecturas físicas.</a:t>
            </a:r>
            <a:endParaRPr b="0" lang="es-ES" sz="2000" spc="-1" strike="noStrike">
              <a:latin typeface="Arial"/>
            </a:endParaRPr>
          </a:p>
          <a:p>
            <a:pPr marL="216000" indent="-216000">
              <a:lnSpc>
                <a:spcPct val="100000"/>
              </a:lnSpc>
            </a:pPr>
            <a:r>
              <a:rPr b="0" lang="en-US" sz="2000" spc="-1" strike="noStrike">
                <a:latin typeface="Arial"/>
              </a:rPr>
              <a:t>- En virtualización, recomendar reservar la memoria (memory reservation) para evitar ballooning, que quita memoria al Buffer Pool sin que SQL Server lo sepa.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administrador del sistema dice "SQL Server usa el 95% de la RAM, hay una fuga". ¿Qué respondéis?</a:t>
            </a:r>
            <a:endParaRPr b="0" lang="es-ES" sz="2000" spc="-1" strike="noStrike">
              <a:latin typeface="Arial"/>
            </a:endParaRPr>
          </a:p>
          <a:p>
            <a:pPr marL="216000" indent="-216000">
              <a:lnSpc>
                <a:spcPct val="100000"/>
              </a:lnSpc>
            </a:pPr>
            <a:r>
              <a:rPr b="0" lang="en-US" sz="2000" spc="-1" strike="noStrike">
                <a:latin typeface="Arial"/>
              </a:rPr>
              <a:t>- ¿Qué diferencia hay entre Checkpoint y Lazy Writer?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5640">
              <a:lnSpc>
                <a:spcPct val="100000"/>
              </a:lnSpc>
              <a:tabLst>
                <a:tab algn="l" pos="0"/>
              </a:tabLst>
            </a:pPr>
            <a:r>
              <a:rPr b="0" lang="en-US" sz="2000" spc="-1" strike="noStrike">
                <a:latin typeface="Arial"/>
              </a:rPr>
              <a:t>- Opcional (demo): consultar sys.dm_os_sys_memory y sys.dm_os_process_memory; cambiar max server memory y observar cómo cambia el valor de Target Server Memory en sys.dm_os_performance_counters.</a:t>
            </a:r>
            <a:endParaRPr b="0" lang="es-ES" sz="2000" spc="-1" strike="noStrike">
              <a:latin typeface="Arial"/>
            </a:endParaRPr>
          </a:p>
        </p:txBody>
      </p:sp>
      <p:sp>
        <p:nvSpPr>
          <p:cNvPr id="204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99C431C-7876-46C4-AFA6-E8ECD130B7D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0" name="PlaceHolder 1"/>
          <p:cNvSpPr>
            <a:spLocks noGrp="1"/>
          </p:cNvSpPr>
          <p:nvPr>
            <p:ph type="sldImg"/>
          </p:nvPr>
        </p:nvSpPr>
        <p:spPr>
          <a:xfrm>
            <a:off x="685800" y="1143000"/>
            <a:ext cx="5485680" cy="3085560"/>
          </a:xfrm>
          <a:prstGeom prst="rect">
            <a:avLst/>
          </a:prstGeom>
        </p:spPr>
      </p:sp>
      <p:sp>
        <p:nvSpPr>
          <p:cNvPr id="205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unidad básica de almacenamiento (página de 8 KB) y su agrupación en extensiones, y relacionarlas con ficheros y log.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Página = 8 KB (8192 bytes), unidad mínima de E/S. Estructura: cabecera de 96 bytes (tipo de página, ids, LSN, contadores), área de filas, y un array de desplazamientos de fila al final (2 bytes por fila) que crece hacia arriba.</a:t>
            </a:r>
            <a:endParaRPr b="0" lang="es-ES" sz="2000" spc="-1" strike="noStrike">
              <a:latin typeface="Arial"/>
            </a:endParaRPr>
          </a:p>
          <a:p>
            <a:pPr marL="216000" indent="-216000">
              <a:lnSpc>
                <a:spcPct val="100000"/>
              </a:lnSpc>
            </a:pPr>
            <a:r>
              <a:rPr b="0" lang="en-US" sz="2000" spc="-1" strike="noStrike">
                <a:latin typeface="Arial"/>
              </a:rPr>
              <a:t>- Máximo 8060 bytes de datos de fila en página (no LOB). Si las columnas variables exceden, se mueven a páginas ROW_OVERFLOW; los LOB (varchar(max), xml, etc.) van a páginas LOB_DATA.</a:t>
            </a:r>
            <a:endParaRPr b="0" lang="es-ES" sz="2000" spc="-1" strike="noStrike">
              <a:latin typeface="Arial"/>
            </a:endParaRPr>
          </a:p>
          <a:p>
            <a:pPr marL="216000" indent="-216000">
              <a:lnSpc>
                <a:spcPct val="100000"/>
              </a:lnSpc>
            </a:pPr>
            <a:r>
              <a:rPr b="0" lang="en-US" sz="2000" spc="-1" strike="noStrike">
                <a:latin typeface="Arial"/>
              </a:rPr>
              <a:t>-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a:t>
            </a:r>
            <a:endParaRPr b="0" lang="es-ES" sz="2000" spc="-1" strike="noStrike">
              <a:latin typeface="Arial"/>
            </a:endParaRPr>
          </a:p>
          <a:p>
            <a:pPr marL="216000" indent="-216000">
              <a:lnSpc>
                <a:spcPct val="100000"/>
              </a:lnSpc>
            </a:pPr>
            <a:r>
              <a:rPr b="0" lang="en-US" sz="2000" spc="-1" strike="noStrike">
                <a:latin typeface="Arial"/>
              </a:rPr>
              <a:t>- Tipos de página de asignación: PFS (espacio libre), GAM/SGAM (qué extensiones están libres/mixtas), IAM (qué extensiones pertenecen a un objeto). Importante en tempdb: contención en PFS/GAM/SGAM.</a:t>
            </a:r>
            <a:endParaRPr b="0" lang="es-ES" sz="2000" spc="-1" strike="noStrike">
              <a:latin typeface="Arial"/>
            </a:endParaRPr>
          </a:p>
          <a:p>
            <a:pPr marL="216000" indent="-216000">
              <a:lnSpc>
                <a:spcPct val="100000"/>
              </a:lnSpc>
            </a:pPr>
            <a:r>
              <a:rPr b="0" lang="en-US" sz="2000" spc="-1" strike="noStrike">
                <a:latin typeface="Arial"/>
              </a:rPr>
              <a:t>- Demostración: DBCC IND / sys.dm_db_database_page_allocations y DBCC PAGE (con TRACE FLAG 3604) para ver una página real; muy ilustrativo en el laboratorio avanzado.</a:t>
            </a:r>
            <a:endParaRPr b="0" lang="es-ES" sz="2000" spc="-1" strike="noStrike">
              <a:latin typeface="Arial"/>
            </a:endParaRPr>
          </a:p>
          <a:p>
            <a:pPr marL="216000" indent="-216000">
              <a:lnSpc>
                <a:spcPct val="100000"/>
              </a:lnSpc>
            </a:pPr>
            <a:r>
              <a:rPr b="0" lang="en-US" sz="2000" spc="-1" strike="noStrike">
                <a:latin typeface="Arial"/>
              </a:rPr>
              <a:t>- Consecuencia práctica: leer una fila implica leer una página entera. Filas anchas = menos filas por página = más E/S. El diseño de tablas importa.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 200 bytes caben aproximadamente en una página? (≈ 40.)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de una sola fila puede acabar leyendo 8 KB o más?</a:t>
            </a:r>
            <a:endParaRPr b="0" lang="es-ES" sz="2000" spc="-1" strike="noStrike">
              <a:latin typeface="Arial"/>
            </a:endParaRPr>
          </a:p>
        </p:txBody>
      </p:sp>
      <p:sp>
        <p:nvSpPr>
          <p:cNvPr id="205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D07247D-8BE9-4AAA-B2DC-008A719E513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3" name="PlaceHolder 1"/>
          <p:cNvSpPr>
            <a:spLocks noGrp="1"/>
          </p:cNvSpPr>
          <p:nvPr>
            <p:ph type="sldImg"/>
          </p:nvPr>
        </p:nvSpPr>
        <p:spPr>
          <a:xfrm>
            <a:off x="685800" y="1143000"/>
            <a:ext cx="5485680" cy="3085560"/>
          </a:xfrm>
          <a:prstGeom prst="rect">
            <a:avLst/>
          </a:prstGeom>
        </p:spPr>
      </p:sp>
      <p:sp>
        <p:nvSpPr>
          <p:cNvPr id="205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los tres tipos de fichero, el concepto de filegroup y las prácticas correctas de tamaño y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Toda base de datos tiene al menos un fichero de datos primario (.mdf, con el catálogo de la BD) y un fichero de log (.ldf). Los secundarios (.ndf) son opcionales y se agrupan en filegroups.</a:t>
            </a:r>
            <a:endParaRPr b="0" lang="es-ES" sz="2000" spc="-1" strike="noStrike">
              <a:latin typeface="Arial"/>
            </a:endParaRPr>
          </a:p>
          <a:p>
            <a:pPr marL="216000" indent="-216000">
              <a:lnSpc>
                <a:spcPct val="100000"/>
              </a:lnSpc>
            </a:pPr>
            <a:r>
              <a:rPr b="0" lang="en-US" sz="2000" spc="-1" strike="noStrike">
                <a:latin typeface="Arial"/>
              </a:rPr>
              <a:t>- Filegroup: unidad lógica de administración. PRIMARY es el predeterminado. Sirven para repartir E/S entre discos, restaurar parcialmente (piecemeal restore), colocar tablas calientes en almacenamiento rápido o particionar tablas.</a:t>
            </a:r>
            <a:endParaRPr b="0" lang="es-ES" sz="2000" spc="-1" strike="noStrike">
              <a:latin typeface="Arial"/>
            </a:endParaRPr>
          </a:p>
          <a:p>
            <a:pPr marL="216000" indent="-216000">
              <a:lnSpc>
                <a:spcPct val="100000"/>
              </a:lnSpc>
            </a:pPr>
            <a:r>
              <a:rPr b="0" lang="en-US" sz="2000" spc="-1" strike="noStrike">
                <a:latin typeface="Arial"/>
              </a:rPr>
              <a:t>- Los ficheros de un mismo filegroup se llenan por el algoritmo proportional fill: más espacio libre = más escrituras. Por eso conviene que tengan el mismo tamaño y el mismo crecimiento.</a:t>
            </a:r>
            <a:endParaRPr b="0" lang="es-ES" sz="2000" spc="-1" strike="noStrike">
              <a:latin typeface="Arial"/>
            </a:endParaRPr>
          </a:p>
          <a:p>
            <a:pPr marL="216000" indent="-216000">
              <a:lnSpc>
                <a:spcPct val="100000"/>
              </a:lnSpc>
            </a:pPr>
            <a:r>
              <a:rPr b="0" lang="en-US" sz="2000" spc="-1" strike="noStrike">
                <a:latin typeface="Arial"/>
              </a:rPr>
              <a:t>- Autogrowth: configúralo siempre en MB fijos (p. ej. 256-512 MB para datos grandes) y no en porcentaje, porque crecer un 10% de un fichero de 500 GB son 50 GB bloqueando operaciones. El tamaño inicial debe estimarse para evitar crecimientos frecuentes.</a:t>
            </a:r>
            <a:endParaRPr b="0" lang="es-ES" sz="2000" spc="-1" strike="noStrike">
              <a:latin typeface="Arial"/>
            </a:endParaRPr>
          </a:p>
          <a:p>
            <a:pPr marL="216000" indent="-216000">
              <a:lnSpc>
                <a:spcPct val="100000"/>
              </a:lnSpc>
            </a:pPr>
            <a:r>
              <a:rPr b="0" lang="en-US" sz="2000" spc="-1" strike="noStrike">
                <a:latin typeface="Arial"/>
              </a:rPr>
              <a:t>-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a:t>
            </a:r>
            <a:endParaRPr b="0" lang="es-ES" sz="2000" spc="-1" strike="noStrike">
              <a:latin typeface="Arial"/>
            </a:endParaRPr>
          </a:p>
          <a:p>
            <a:pPr marL="216000" indent="-216000">
              <a:lnSpc>
                <a:spcPct val="100000"/>
              </a:lnSpc>
            </a:pPr>
            <a:r>
              <a:rPr b="0" lang="en-US" sz="2000" spc="-1" strike="noStrike">
                <a:latin typeface="Arial"/>
              </a:rPr>
              <a:t>- Un solo fichero de log por BD es suficiente: se escribe de forma secuencial; añadir más ficheros no mejora el rendimiento, sólo complica la gestión.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autogrowth del 10% es una mala práctica en un fichero grande?</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separar tablas en distintos filegroups si todos los discos son el mismo array?</a:t>
            </a:r>
            <a:endParaRPr b="0" lang="es-ES" sz="2000" spc="-1" strike="noStrike">
              <a:latin typeface="Arial"/>
            </a:endParaRPr>
          </a:p>
        </p:txBody>
      </p:sp>
      <p:sp>
        <p:nvSpPr>
          <p:cNvPr id="205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C09189F-CB18-418A-A78E-6A57A7D5413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6" name="PlaceHolder 1"/>
          <p:cNvSpPr>
            <a:spLocks noGrp="1"/>
          </p:cNvSpPr>
          <p:nvPr>
            <p:ph type="sldImg"/>
          </p:nvPr>
        </p:nvSpPr>
        <p:spPr>
          <a:xfrm>
            <a:off x="685800" y="1143000"/>
            <a:ext cx="5485680" cy="3085560"/>
          </a:xfrm>
          <a:prstGeom prst="rect">
            <a:avLst/>
          </a:prstGeom>
        </p:spPr>
      </p:sp>
      <p:sp>
        <p:nvSpPr>
          <p:cNvPr id="205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el protocolo Write-Ahead Logging, por qué COMMIT sólo espera al log, y cómo el log se divide en VLFs que se reutilizan.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a:t>
            </a:r>
            <a:endParaRPr b="0" lang="es-ES" sz="2000" spc="-1" strike="noStrike">
              <a:latin typeface="Arial"/>
            </a:endParaRPr>
          </a:p>
          <a:p>
            <a:pPr marL="216000" indent="-216000">
              <a:lnSpc>
                <a:spcPct val="100000"/>
              </a:lnSpc>
            </a:pPr>
            <a:r>
              <a:rPr b="0" lang="en-US" sz="2000" spc="-1" strike="noStrike">
                <a:latin typeface="Arial"/>
              </a:rPr>
              <a:t>- Por eso, ante un fallo, la recuperación (crash recovery) rehace (REDO) transacciones confirmadas cuyas páginas no llegaron al disco y deshace (UNDO) las no confirmadas. Es la base de la durabilidad (D de ACID).</a:t>
            </a:r>
            <a:endParaRPr b="0" lang="es-ES" sz="2000" spc="-1" strike="noStrike">
              <a:latin typeface="Arial"/>
            </a:endParaRPr>
          </a:p>
          <a:p>
            <a:pPr marL="216000" indent="-216000">
              <a:lnSpc>
                <a:spcPct val="100000"/>
              </a:lnSpc>
            </a:pPr>
            <a:r>
              <a:rPr b="0" lang="en-US" sz="2000" spc="-1" strike="noStrike">
                <a:latin typeface="Arial"/>
              </a:rPr>
              <a:t>-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a:t>
            </a:r>
            <a:endParaRPr b="0" lang="es-ES" sz="2000" spc="-1" strike="noStrike">
              <a:latin typeface="Arial"/>
            </a:endParaRPr>
          </a:p>
          <a:p>
            <a:pPr marL="216000" indent="-216000">
              <a:lnSpc>
                <a:spcPct val="100000"/>
              </a:lnSpc>
            </a:pPr>
            <a:r>
              <a:rPr b="0" lang="en-US" sz="2000" spc="-1" strike="noStrike">
                <a:latin typeface="Arial"/>
              </a:rPr>
              <a:t>- Qué libera log: en modelo SIMPLE, un checkpoint; en FULL/BULK_LOGGED, un backup de log. Si el log crece sin parar en FULL y no hay backups de log, la causa es esa (se verá con log_reuse_wait_desc en Módulo 4).</a:t>
            </a:r>
            <a:endParaRPr b="0" lang="es-ES" sz="2000" spc="-1" strike="noStrike">
              <a:latin typeface="Arial"/>
            </a:endParaRPr>
          </a:p>
          <a:p>
            <a:pPr marL="216000" indent="-216000">
              <a:lnSpc>
                <a:spcPct val="100000"/>
              </a:lnSpc>
            </a:pPr>
            <a:r>
              <a:rPr b="0" lang="en-US" sz="2000" spc="-1" strike="noStrike">
                <a:latin typeface="Arial"/>
              </a:rPr>
              <a:t>- Demasiados VLFs (miles) por autogrowths pequeños ralentizan el arranque, la recuperación y los backups de log. Se mide con sys.dm_db_log_info (SQL Server 2016 SP2 en adelante).</a:t>
            </a:r>
            <a:endParaRPr b="0" lang="es-ES" sz="2000" spc="-1" strike="noStrike">
              <a:latin typeface="Arial"/>
            </a:endParaRPr>
          </a:p>
          <a:p>
            <a:pPr marL="216000" indent="-216000">
              <a:lnSpc>
                <a:spcPct val="100000"/>
              </a:lnSpc>
            </a:pPr>
            <a:r>
              <a:rPr b="0" lang="en-US" sz="2000" spc="-1" strike="noStrike">
                <a:latin typeface="Arial"/>
              </a:rPr>
              <a:t>- ADR (Accelerated Database Recovery, 2019): mantiene un version store persistente para que la recuperación y el rollback sean casi instantáneos, independientemente del tamaño de la transacción.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el servidor se apaga justo después de un COMMIT, ¿cómo es posible que el dato no se pierda aunque la página de datos no se haya escrito?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SELECT grande no genera log pero un UPDATE grande sí?</a:t>
            </a:r>
            <a:endParaRPr b="0" lang="es-ES" sz="2000" spc="-1" strike="noStrike">
              <a:latin typeface="Arial"/>
            </a:endParaRPr>
          </a:p>
        </p:txBody>
      </p:sp>
      <p:sp>
        <p:nvSpPr>
          <p:cNvPr id="205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63AED17-2EE8-41E1-98C8-2DEAAFF6F15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9" name="PlaceHolder 1"/>
          <p:cNvSpPr>
            <a:spLocks noGrp="1"/>
          </p:cNvSpPr>
          <p:nvPr>
            <p:ph type="sldImg"/>
          </p:nvPr>
        </p:nvSpPr>
        <p:spPr>
          <a:xfrm>
            <a:off x="685800" y="1143000"/>
            <a:ext cx="5485680" cy="3085560"/>
          </a:xfrm>
          <a:prstGeom prst="rect">
            <a:avLst/>
          </a:prstGeom>
        </p:spPr>
      </p:sp>
      <p:sp>
        <p:nvSpPr>
          <p:cNvPr id="206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una instancia, cómo se identifican y conectan, y por qué se usan varias en un mismo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instancia es una copia independiente del motor (procesos, memoria, bases del sistema, cuentas, configuración). Un servidor puede alojar una instancia predeterminada (MSSQLSERVER) y hasta 50 con nombre.</a:t>
            </a:r>
            <a:endParaRPr b="0" lang="es-ES" sz="2000" spc="-1" strike="noStrike">
              <a:latin typeface="Arial"/>
            </a:endParaRPr>
          </a:p>
          <a:p>
            <a:pPr marL="216000" indent="-216000">
              <a:lnSpc>
                <a:spcPct val="100000"/>
              </a:lnSpc>
            </a:pPr>
            <a:r>
              <a:rPr b="0" lang="en-US" sz="2000" spc="-1" strike="noStrike">
                <a:latin typeface="Arial"/>
              </a:rPr>
              <a:t>- Conexión: la predeterminada se accede por nombre de servidor (puerto TCP 1433 por defecto); las nombradas como SERVIDOR\INSTANCIA, normalmente con puerto dinámico que resuelve el servicio SQL Server Browser (UDP 1434). En entornos con cortafuegos se recomienda fijar puerto estático.</a:t>
            </a:r>
            <a:endParaRPr b="0" lang="es-ES" sz="2000" spc="-1" strike="noStrike">
              <a:latin typeface="Arial"/>
            </a:endParaRPr>
          </a:p>
          <a:p>
            <a:pPr marL="216000" indent="-216000">
              <a:lnSpc>
                <a:spcPct val="100000"/>
              </a:lnSpc>
            </a:pPr>
            <a:r>
              <a:rPr b="0" lang="en-US" sz="2000" spc="-1" strike="noStrike">
                <a:latin typeface="Arial"/>
              </a:rPr>
              <a:t>- Casos de uso: aislar versiones o parches, separar entornos (desarrollo/preproducción), aislar cargas, separar administración y seguridad. Contrapartida: más memoria y CPU repartidas manualmente; hay que fijar max server memory por instancia.</a:t>
            </a:r>
            <a:endParaRPr b="0" lang="es-ES" sz="2000" spc="-1" strike="noStrike">
              <a:latin typeface="Arial"/>
            </a:endParaRPr>
          </a:p>
          <a:p>
            <a:pPr marL="216000" indent="-216000">
              <a:lnSpc>
                <a:spcPct val="100000"/>
              </a:lnSpc>
            </a:pPr>
            <a:r>
              <a:rPr b="0" lang="en-US" sz="2000" spc="-1" strike="noStrike">
                <a:latin typeface="Arial"/>
              </a:rPr>
              <a:t>- SERVERPROPERTY devuelve metadatos: InstanceName, Edition, ProductVersion, ProductLevel, IsClustered, etc. Es la forma estándar de inventariar instancias con T-SQL.</a:t>
            </a:r>
            <a:endParaRPr b="0" lang="es-ES" sz="2000" spc="-1" strike="noStrike">
              <a:latin typeface="Arial"/>
            </a:endParaRPr>
          </a:p>
          <a:p>
            <a:pPr marL="216000" indent="-216000">
              <a:lnSpc>
                <a:spcPct val="100000"/>
              </a:lnSpc>
            </a:pPr>
            <a:r>
              <a:rPr b="0" lang="en-US" sz="2000" spc="-1" strike="noStrike">
                <a:latin typeface="Arial"/>
              </a:rPr>
              <a:t>- Cada instancia tiene su cuenta de servicio. Recomendación: cuentas de dominio dedicadas o gMSA (Group Managed Service Accounts), nunca LocalSystem.</a:t>
            </a:r>
            <a:endParaRPr b="0" lang="es-ES" sz="2000" spc="-1" strike="noStrike">
              <a:latin typeface="Arial"/>
            </a:endParaRPr>
          </a:p>
          <a:p>
            <a:pPr marL="216000" indent="-216000">
              <a:lnSpc>
                <a:spcPct val="100000"/>
              </a:lnSpc>
            </a:pPr>
            <a:r>
              <a:rPr b="0" lang="en-US" sz="2000" spc="-1" strike="noStrike">
                <a:latin typeface="Arial"/>
              </a:rPr>
              <a:t>- En contenedores Docker, cada contenedor es de hecho una instancia aislada: es la forma más cómoda de tener varias versiones para pruebas.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¿En qué caso elegirías dos instancias en el mismo servidor frente a dos servidores?</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si el servicio SQL Server Browser está parado y te conectas a una instancia con nombre sin indicar puerto?</a:t>
            </a:r>
            <a:endParaRPr b="0" lang="es-ES" sz="2000" spc="-1" strike="noStrike">
              <a:latin typeface="Arial"/>
            </a:endParaRPr>
          </a:p>
        </p:txBody>
      </p:sp>
      <p:sp>
        <p:nvSpPr>
          <p:cNvPr id="206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7738C76-0331-4AF3-9F14-D80FD9A37A9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2" name="PlaceHolder 1"/>
          <p:cNvSpPr>
            <a:spLocks noGrp="1"/>
          </p:cNvSpPr>
          <p:nvPr>
            <p:ph type="sldImg"/>
          </p:nvPr>
        </p:nvSpPr>
        <p:spPr>
          <a:xfrm>
            <a:off x="685800" y="1143000"/>
            <a:ext cx="5485680" cy="3085560"/>
          </a:xfrm>
          <a:prstGeom prst="rect">
            <a:avLst/>
          </a:prstGeom>
        </p:spPr>
      </p:sp>
      <p:sp>
        <p:nvSpPr>
          <p:cNvPr id="206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 función de cada base de datos del sistema, su criticidad y qué incluir en la política de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master: catálogo de la instancia (logins, configuración, endpoints, ubicación de ficheros de todas las BD). Si se pierde, la instancia no arranca. Backup obligatorio tras cualquier cambio de logins o configuración.</a:t>
            </a:r>
            <a:endParaRPr b="0" lang="es-ES" sz="2000" spc="-1" strike="noStrike">
              <a:latin typeface="Arial"/>
            </a:endParaRPr>
          </a:p>
          <a:p>
            <a:pPr marL="216000" indent="-216000">
              <a:lnSpc>
                <a:spcPct val="100000"/>
              </a:lnSpc>
            </a:pPr>
            <a:r>
              <a:rPr b="0" lang="en-US" sz="2000" spc="-1" strike="noStrike">
                <a:latin typeface="Arial"/>
              </a:rPr>
              <a:t>- model: plantilla para CREATE DATABASE; sus propiedades (modelo de recuperación, tamaño, autogrowth) se heredan. También lo es para tempdb en cada reinicio.</a:t>
            </a:r>
            <a:endParaRPr b="0" lang="es-ES" sz="2000" spc="-1" strike="noStrike">
              <a:latin typeface="Arial"/>
            </a:endParaRPr>
          </a:p>
          <a:p>
            <a:pPr marL="216000" indent="-216000">
              <a:lnSpc>
                <a:spcPct val="100000"/>
              </a:lnSpc>
            </a:pPr>
            <a:r>
              <a:rPr b="0" lang="en-US" sz="2000" spc="-1" strike="noStrike">
                <a:latin typeface="Arial"/>
              </a:rPr>
              <a:t>- msdb: SQL Server Agent (jobs, alertas, operadores), historial de backups y restauraciones, Database Mail, planes de mantenimiento. Backup obligatorio.</a:t>
            </a:r>
            <a:endParaRPr b="0" lang="es-ES" sz="2000" spc="-1" strike="noStrike">
              <a:latin typeface="Arial"/>
            </a:endParaRPr>
          </a:p>
          <a:p>
            <a:pPr marL="216000" indent="-216000">
              <a:lnSpc>
                <a:spcPct val="100000"/>
              </a:lnSpc>
            </a:pPr>
            <a:r>
              <a:rPr b="0" lang="en-US" sz="2000" spc="-1" strike="noStrike">
                <a:latin typeface="Arial"/>
              </a:rPr>
              <a:t>-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a:t>
            </a:r>
            <a:endParaRPr b="0" lang="es-ES" sz="2000" spc="-1" strike="noStrike">
              <a:latin typeface="Arial"/>
            </a:endParaRPr>
          </a:p>
          <a:p>
            <a:pPr marL="216000" indent="-216000">
              <a:lnSpc>
                <a:spcPct val="100000"/>
              </a:lnSpc>
            </a:pPr>
            <a:r>
              <a:rPr b="0" lang="en-US" sz="2000" spc="-1" strike="noStrike">
                <a:latin typeface="Arial"/>
              </a:rPr>
              <a:t>- mssqlsystemresource (Resource database): sólo lectura, oculta, contiene los objetos del sistema (sys.*). Se actualiza al parchear. No se ve en SSMS, pero existe en el disco.</a:t>
            </a:r>
            <a:endParaRPr b="0" lang="es-ES" sz="2000" spc="-1" strike="noStrike">
              <a:latin typeface="Arial"/>
            </a:endParaRPr>
          </a:p>
          <a:p>
            <a:pPr marL="216000" indent="-216000">
              <a:lnSpc>
                <a:spcPct val="100000"/>
              </a:lnSpc>
            </a:pPr>
            <a:r>
              <a:rPr b="0" lang="en-US" sz="2000" spc="-1" strike="noStrike">
                <a:latin typeface="Arial"/>
              </a:rPr>
              <a:t>- Otras BD del sistema según configuración: distribution (replicación), BD de SSISDB, etc. Importante no confundir "BD del sistema" con "objetos del sistema": no se crean tablas de usuario en master.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los jobs de mantenimiento si se pierde msdb y no hay backup?</a:t>
            </a:r>
            <a:endParaRPr b="0" lang="es-ES" sz="2000" spc="-1" strike="noStrike">
              <a:latin typeface="Arial"/>
            </a:endParaRPr>
          </a:p>
          <a:p>
            <a:pPr marL="216000" indent="-215640">
              <a:lnSpc>
                <a:spcPct val="100000"/>
              </a:lnSpc>
              <a:tabLst>
                <a:tab algn="l" pos="0"/>
              </a:tabLst>
            </a:pPr>
            <a:r>
              <a:rPr b="0" lang="en-US" sz="2000" spc="-1" strike="noStrike">
                <a:latin typeface="Arial"/>
              </a:rPr>
              <a:t>- ¿Por qué tempdb no necesita backup, pero sí necesita planificación de capacidad?</a:t>
            </a:r>
            <a:endParaRPr b="0" lang="es-ES" sz="2000" spc="-1" strike="noStrike">
              <a:latin typeface="Arial"/>
            </a:endParaRPr>
          </a:p>
        </p:txBody>
      </p:sp>
      <p:sp>
        <p:nvSpPr>
          <p:cNvPr id="206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8A5FB90-5EAA-40B5-BDA1-501CC2BB01C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5" name="PlaceHolder 1"/>
          <p:cNvSpPr>
            <a:spLocks noGrp="1"/>
          </p:cNvSpPr>
          <p:nvPr>
            <p:ph type="sldImg"/>
          </p:nvPr>
        </p:nvSpPr>
        <p:spPr>
          <a:xfrm>
            <a:off x="685800" y="1143000"/>
            <a:ext cx="5485680" cy="3085560"/>
          </a:xfrm>
          <a:prstGeom prst="rect">
            <a:avLst/>
          </a:prstGeom>
        </p:spPr>
      </p:sp>
      <p:sp>
        <p:nvSpPr>
          <p:cNvPr id="206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la edición adecuada según límites de cómputo, memoria y funcionalidades, y entender las restricciones de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Express: gratuita, para aplicaciones pequeñas y aprendizaje. Límites: 1 socket o 4 cores (el menor), 1.410 MB para el Buffer Pool, 10 GB por base de datos; sin SQL Server Agent.</a:t>
            </a:r>
            <a:endParaRPr b="0" lang="es-ES" sz="2000" spc="-1" strike="noStrike">
              <a:latin typeface="Arial"/>
            </a:endParaRPr>
          </a:p>
          <a:p>
            <a:pPr marL="216000" indent="-216000">
              <a:lnSpc>
                <a:spcPct val="100000"/>
              </a:lnSpc>
            </a:pPr>
            <a:r>
              <a:rPr b="0" lang="en-US" sz="2000" spc="-1" strike="noStrike">
                <a:latin typeface="Arial"/>
              </a:rPr>
              <a:t>- Standard: para cargas departamentales. Hasta 4 sockets o 24 cores, 128 GB de Buffer Pool. Incluye Basic Availability Groups (una BD por AG, una réplica secundaria), compresión de backup, TDE (desde 2019) y soporte nativo de tipo VECTOR.</a:t>
            </a:r>
            <a:endParaRPr b="0" lang="es-ES" sz="2000" spc="-1" strike="noStrike">
              <a:latin typeface="Arial"/>
            </a:endParaRPr>
          </a:p>
          <a:p>
            <a:pPr marL="216000" indent="-216000">
              <a:lnSpc>
                <a:spcPct val="100000"/>
              </a:lnSpc>
            </a:pPr>
            <a:r>
              <a:rPr b="0" lang="en-US" sz="2000" spc="-1" strike="noStrike">
                <a:latin typeface="Arial"/>
              </a:rPr>
              <a:t>- Enterprise: sin límites de cómputo (el máximo que permita el SO) y todas las funciones: particionado online, compresión de datos, Always On AG avanzados, rebuild online de índices, in-memory ampliado, Resource Governor, etc.</a:t>
            </a:r>
            <a:endParaRPr b="0" lang="es-ES" sz="2000" spc="-1" strike="noStrike">
              <a:latin typeface="Arial"/>
            </a:endParaRPr>
          </a:p>
          <a:p>
            <a:pPr marL="216000" indent="-216000">
              <a:lnSpc>
                <a:spcPct val="100000"/>
              </a:lnSpc>
            </a:pPr>
            <a:r>
              <a:rPr b="0" lang="en-US" sz="2000" spc="-1" strike="noStrike">
                <a:latin typeface="Arial"/>
              </a:rPr>
              <a:t>- Developer: mismas funciones que Enterprise, gratis pero sin derecho a producción. Es la edición ideal para el laboratorio y desarrollo. La edición Evaluation dura 180 días.</a:t>
            </a:r>
            <a:endParaRPr b="0" lang="es-ES" sz="2000" spc="-1" strike="noStrike">
              <a:latin typeface="Arial"/>
            </a:endParaRPr>
          </a:p>
          <a:p>
            <a:pPr marL="216000" indent="-216000">
              <a:lnSpc>
                <a:spcPct val="100000"/>
              </a:lnSpc>
            </a:pPr>
            <a:r>
              <a:rPr b="0" lang="en-US" sz="2000" spc="-1" strike="noStrike">
                <a:latin typeface="Arial"/>
              </a:rPr>
              <a:t>- Web existe sólo para proveedores de hosting. Las cifras de límites pueden variar entre versiones: validar siempre con la documentación oficial "Editions and supported features of SQL Server 2025".</a:t>
            </a:r>
            <a:endParaRPr b="0" lang="es-ES" sz="2000" spc="-1" strike="noStrike">
              <a:latin typeface="Arial"/>
            </a:endParaRPr>
          </a:p>
          <a:p>
            <a:pPr marL="216000" indent="-216000">
              <a:lnSpc>
                <a:spcPct val="100000"/>
              </a:lnSpc>
            </a:pPr>
            <a:r>
              <a:rPr b="0" lang="en-US" sz="2000" spc="-1" strike="noStrike">
                <a:latin typeface="Arial"/>
              </a:rPr>
              <a:t>- Criterios de elección: necesidad de HA avanzada, volumen de memoria/CPU, funciones de seguridad y cumplimiento, y coste. Standard cubre mucho más de lo que se cree; Enterprise se justifica por funciones concretas, no por prestigio.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funcionalidad concreta justificaría pagar Enterprise en vuestra organización?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base de datos de 40 GB no puede alojarse en Express aunque la aplicación sea pequeña?</a:t>
            </a:r>
            <a:endParaRPr b="0" lang="es-ES" sz="2000" spc="-1" strike="noStrike">
              <a:latin typeface="Arial"/>
            </a:endParaRPr>
          </a:p>
        </p:txBody>
      </p:sp>
      <p:sp>
        <p:nvSpPr>
          <p:cNvPr id="206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CE73AAD-68E9-4A5D-8CBD-8DB54D6F222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8" name="PlaceHolder 1"/>
          <p:cNvSpPr>
            <a:spLocks noGrp="1"/>
          </p:cNvSpPr>
          <p:nvPr>
            <p:ph type="sldImg"/>
          </p:nvPr>
        </p:nvSpPr>
        <p:spPr>
          <a:xfrm>
            <a:off x="685800" y="1143000"/>
            <a:ext cx="5485680" cy="3085560"/>
          </a:xfrm>
          <a:prstGeom prst="rect">
            <a:avLst/>
          </a:prstGeom>
        </p:spPr>
      </p:sp>
      <p:sp>
        <p:nvSpPr>
          <p:cNvPr id="206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los dos modelos de licenciamiento, sus reglas mínimas y cuándo conviene cada uno.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a:t>
            </a:r>
            <a:endParaRPr b="0" lang="es-ES" sz="2000" spc="-1" strike="noStrike">
              <a:latin typeface="Arial"/>
            </a:endParaRPr>
          </a:p>
          <a:p>
            <a:pPr marL="216000" indent="-216000">
              <a:lnSpc>
                <a:spcPct val="100000"/>
              </a:lnSpc>
            </a:pPr>
            <a:r>
              <a:rPr b="0" lang="en-US" sz="2000" spc="-1" strike="noStrike">
                <a:latin typeface="Arial"/>
              </a:rPr>
              <a:t>-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a:t>
            </a:r>
            <a:endParaRPr b="0" lang="es-ES" sz="2000" spc="-1" strike="noStrike">
              <a:latin typeface="Arial"/>
            </a:endParaRPr>
          </a:p>
          <a:p>
            <a:pPr marL="216000" indent="-216000">
              <a:lnSpc>
                <a:spcPct val="100000"/>
              </a:lnSpc>
            </a:pPr>
            <a:r>
              <a:rPr b="0" lang="en-US" sz="2000" spc="-1" strike="noStrike">
                <a:latin typeface="Arial"/>
              </a:rPr>
              <a:t>- En máquinas virtuales se licencian los núcleos virtuales asignados (mínimo 4 por VM); con Enterprise y Software Assurance se puede licenciar todo el host y ejecutar un número ilimitado de VMs.</a:t>
            </a:r>
            <a:endParaRPr b="0" lang="es-ES" sz="2000" spc="-1" strike="noStrike">
              <a:latin typeface="Arial"/>
            </a:endParaRPr>
          </a:p>
          <a:p>
            <a:pPr marL="216000" indent="-216000">
              <a:lnSpc>
                <a:spcPct val="100000"/>
              </a:lnSpc>
            </a:pPr>
            <a:r>
              <a:rPr b="0" lang="en-US" sz="2000" spc="-1" strike="noStrike">
                <a:latin typeface="Arial"/>
              </a:rPr>
              <a:t>- Software Assurance (SA): da derecho a nuevas versiones, y para HA, el derecho a tener una réplica secundaria pasiva de failover sin licencia adicional (con ciertas condiciones: no atender consultas ni backups).</a:t>
            </a:r>
            <a:endParaRPr b="0" lang="es-ES" sz="2000" spc="-1" strike="noStrike">
              <a:latin typeface="Arial"/>
            </a:endParaRPr>
          </a:p>
          <a:p>
            <a:pPr marL="216000" indent="-216000">
              <a:lnSpc>
                <a:spcPct val="100000"/>
              </a:lnSpc>
            </a:pPr>
            <a:r>
              <a:rPr b="0" lang="en-US" sz="2000" spc="-1" strike="noStrike">
                <a:latin typeface="Arial"/>
              </a:rPr>
              <a:t>- Los precios y condiciones cambian: no se citan cifras en el curso; recomendar validar con un partner de licenciamiento (LAR) antes de comprar y documentar el inventario de licencias.</a:t>
            </a:r>
            <a:endParaRPr b="0" lang="es-ES" sz="2000" spc="-1" strike="noStrike">
              <a:latin typeface="Arial"/>
            </a:endParaRPr>
          </a:p>
          <a:p>
            <a:pPr marL="216000" indent="-216000">
              <a:lnSpc>
                <a:spcPct val="100000"/>
              </a:lnSpc>
            </a:pPr>
            <a:r>
              <a:rPr b="0" lang="en-US" sz="2000" spc="-1" strike="noStrike">
                <a:latin typeface="Arial"/>
              </a:rPr>
              <a:t>- Error típico de auditoría: instancias de Developer usadas en producción, o más núcleos licenciados de los que realmente corresponden. Un DBA debe poder demostrar el inventario.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servidor con 1 procesador de 2 núcleos físicos, ¿cuántas licencias de núcleo hay que comprar con Per Core? (4, por el mínimo.)</a:t>
            </a:r>
            <a:endParaRPr b="0" lang="es-ES" sz="2000" spc="-1" strike="noStrike">
              <a:latin typeface="Arial"/>
            </a:endParaRPr>
          </a:p>
          <a:p>
            <a:pPr marL="216000" indent="-215640">
              <a:lnSpc>
                <a:spcPct val="100000"/>
              </a:lnSpc>
              <a:tabLst>
                <a:tab algn="l" pos="0"/>
              </a:tabLst>
            </a:pPr>
            <a:r>
              <a:rPr b="0" lang="en-US" sz="2000" spc="-1" strike="noStrike">
                <a:latin typeface="Arial"/>
              </a:rPr>
              <a:t>- ¿Qué modelo elegirías para una aplicación pública accesible por Internet? ¿Por qué?</a:t>
            </a:r>
            <a:endParaRPr b="0" lang="es-ES" sz="2000" spc="-1" strike="noStrike">
              <a:latin typeface="Arial"/>
            </a:endParaRPr>
          </a:p>
        </p:txBody>
      </p:sp>
      <p:sp>
        <p:nvSpPr>
          <p:cNvPr id="207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3FC2D75-F3CA-4FA0-AEC9-2D3890E2F18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1" name="PlaceHolder 1"/>
          <p:cNvSpPr>
            <a:spLocks noGrp="1"/>
          </p:cNvSpPr>
          <p:nvPr>
            <p:ph type="sldImg"/>
          </p:nvPr>
        </p:nvSpPr>
        <p:spPr>
          <a:xfrm>
            <a:off x="685800" y="1143000"/>
            <a:ext cx="5485680" cy="3085560"/>
          </a:xfrm>
          <a:prstGeom prst="rect">
            <a:avLst/>
          </a:prstGeom>
        </p:spPr>
      </p:sp>
      <p:sp>
        <p:nvSpPr>
          <p:cNvPr id="207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herramientas principales de trabajo del DBA y cuándo usar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a:t>
            </a:r>
            <a:endParaRPr b="0" lang="es-ES" sz="2000" spc="-1" strike="noStrike">
              <a:latin typeface="Arial"/>
            </a:endParaRPr>
          </a:p>
          <a:p>
            <a:pPr marL="216000" indent="-216000">
              <a:lnSpc>
                <a:spcPct val="100000"/>
              </a:lnSpc>
            </a:pPr>
            <a:r>
              <a:rPr b="0" lang="en-US" sz="2000" spc="-1" strike="noStrike">
                <a:latin typeface="Arial"/>
              </a:rPr>
              <a:t>- Extensión MSSQL de VS Code (y Azure Data Studio, hasta su fin de soporte el 28/02/2026): multiplataforma, notebooks, extensiones, integración con Git. Menos funciones de administración que SSMS, pero suficiente para consultas y scripts.</a:t>
            </a:r>
            <a:endParaRPr b="0" lang="es-ES" sz="2000" spc="-1" strike="noStrike">
              <a:latin typeface="Arial"/>
            </a:endParaRPr>
          </a:p>
          <a:p>
            <a:pPr marL="216000" indent="-216000">
              <a:lnSpc>
                <a:spcPct val="100000"/>
              </a:lnSpc>
            </a:pPr>
            <a:r>
              <a:rPr b="0" lang="en-US" sz="2000" spc="-1" strike="noStrike">
                <a:latin typeface="Arial"/>
              </a:rPr>
              <a:t>- sqlcmd: utilidad de línea de comandos para ejecutar T-SQL o scripts en lotes, automatizable en shell o CI. Variante moderna go-sqlcmd (multiplataforma, instalable con winget/brew).</a:t>
            </a:r>
            <a:endParaRPr b="0" lang="es-ES" sz="2000" spc="-1" strike="noStrike">
              <a:latin typeface="Arial"/>
            </a:endParaRPr>
          </a:p>
          <a:p>
            <a:pPr marL="216000" indent="-216000">
              <a:lnSpc>
                <a:spcPct val="100000"/>
              </a:lnSpc>
            </a:pPr>
            <a:r>
              <a:rPr b="0" lang="en-US" sz="2000" spc="-1" strike="noStrike">
                <a:latin typeface="Arial"/>
              </a:rPr>
              <a:t>- SQL Server Profiler y Extended Events: Profiler (traza) está obsoleto para el motor y consume más recursos; Extended Events (XEvents) es su sustitución ligera. SSMS incluye XEvent Profiler y el visor de eventos en vivo.</a:t>
            </a:r>
            <a:endParaRPr b="0" lang="es-ES" sz="2000" spc="-1" strike="noStrike">
              <a:latin typeface="Arial"/>
            </a:endParaRPr>
          </a:p>
          <a:p>
            <a:pPr marL="216000" indent="-216000">
              <a:lnSpc>
                <a:spcPct val="100000"/>
              </a:lnSpc>
            </a:pPr>
            <a:r>
              <a:rPr b="0" lang="en-US" sz="2000" spc="-1" strike="noStrike">
                <a:latin typeface="Arial"/>
              </a:rPr>
              <a:t>- Otras: SQL Server Configuration Manager (servicios, protocolos, puertos), PowerShell con dbatools (módulo comunitario imprescindible), Database Engine Tuning Advisor, Query Store GUI y Azure Arc / portal para entornos híbridos.</a:t>
            </a:r>
            <a:endParaRPr b="0" lang="es-ES" sz="2000" spc="-1" strike="noStrike">
              <a:latin typeface="Arial"/>
            </a:endParaRPr>
          </a:p>
          <a:p>
            <a:pPr marL="216000" indent="-216000">
              <a:lnSpc>
                <a:spcPct val="100000"/>
              </a:lnSpc>
            </a:pPr>
            <a:r>
              <a:rPr b="0" lang="en-US" sz="2000" spc="-1" strike="noStrike">
                <a:latin typeface="Arial"/>
              </a:rPr>
              <a:t>- Buena práctica: administrar con scripts (T-SQL/PowerShell) versionados en lugar de sólo con asistentes gráficos: son repetibles, auditables y reducen errores humanos.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lanzar una tarea con sqlcmd frente a hacerla con el asistente de SSMS?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se desaconseja dejar una traza de Profiler contra un servidor en producción?</a:t>
            </a:r>
            <a:endParaRPr b="0" lang="es-ES" sz="2000" spc="-1" strike="noStrike">
              <a:latin typeface="Arial"/>
            </a:endParaRPr>
          </a:p>
        </p:txBody>
      </p:sp>
      <p:sp>
        <p:nvSpPr>
          <p:cNvPr id="207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E10F8D4-ADFA-49A9-9FE7-C31C5274116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4" name="PlaceHolder 1"/>
          <p:cNvSpPr>
            <a:spLocks noGrp="1"/>
          </p:cNvSpPr>
          <p:nvPr>
            <p:ph type="sldImg"/>
          </p:nvPr>
        </p:nvSpPr>
        <p:spPr>
          <a:xfrm>
            <a:off x="685800" y="1143000"/>
            <a:ext cx="5485680" cy="3085560"/>
          </a:xfrm>
          <a:prstGeom prst="rect">
            <a:avLst/>
          </a:prstGeom>
        </p:spPr>
      </p:sp>
      <p:sp>
        <p:nvSpPr>
          <p:cNvPr id="207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lanzar consultas con sqlcmd y crear una sesión básica de Extended Events para capturar sentencias lentas.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a:t>
            </a:r>
            <a:endParaRPr b="0" lang="es-ES" sz="2000" spc="-1" strike="noStrike">
              <a:latin typeface="Arial"/>
            </a:endParaRPr>
          </a:p>
          <a:p>
            <a:pPr marL="216000" indent="-216000">
              <a:lnSpc>
                <a:spcPct val="100000"/>
              </a:lnSpc>
            </a:pPr>
            <a:r>
              <a:rPr b="0" lang="en-US" sz="2000" spc="-1" strike="noStrike">
                <a:latin typeface="Arial"/>
              </a:rPr>
              <a:t>- Nunca dejar contraseñas en texto claro en scripts o en el historial de shell: usar variables de entorno (SQLCMDPASSWORD) o autenticación integrada.</a:t>
            </a:r>
            <a:endParaRPr b="0" lang="es-ES" sz="2000" spc="-1" strike="noStrike">
              <a:latin typeface="Arial"/>
            </a:endParaRPr>
          </a:p>
          <a:p>
            <a:pPr marL="216000" indent="-216000">
              <a:lnSpc>
                <a:spcPct val="100000"/>
              </a:lnSpc>
            </a:pPr>
            <a:r>
              <a:rPr b="0" lang="en-US" sz="2000" spc="-1" strike="noStrike">
                <a:latin typeface="Arial"/>
              </a:rPr>
              <a:t>- Extended Events: arquitectura event-driven ligera. Una sesión tiene eventos (qué ocurre), acciones (datos adicionales), predicados (filtros) y targets (dónde se escribe: event_file, ring_buffer).</a:t>
            </a:r>
            <a:endParaRPr b="0" lang="es-ES" sz="2000" spc="-1" strike="noStrike">
              <a:latin typeface="Arial"/>
            </a:endParaRPr>
          </a:p>
          <a:p>
            <a:pPr marL="216000" indent="-216000">
              <a:lnSpc>
                <a:spcPct val="100000"/>
              </a:lnSpc>
            </a:pPr>
            <a:r>
              <a:rPr b="0" lang="en-US" sz="2000" spc="-1" strike="noStrike">
                <a:latin typeface="Arial"/>
              </a:rPr>
              <a:t>- En el ejemplo, sql_statement_completed con duration &gt; 1.000.000 µs (1 segundo) y destino fichero .xel. Siempre filtrar con predicados para limitar sobrecarga. Se lee con sys.fn_xe_file_target_read_file o con el visor de SSMS.</a:t>
            </a:r>
            <a:endParaRPr b="0" lang="es-ES" sz="2000" spc="-1" strike="noStrike">
              <a:latin typeface="Arial"/>
            </a:endParaRPr>
          </a:p>
          <a:p>
            <a:pPr marL="216000" indent="-216000">
              <a:lnSpc>
                <a:spcPct val="100000"/>
              </a:lnSpc>
            </a:pPr>
            <a:r>
              <a:rPr b="0" lang="en-US" sz="2000" spc="-1" strike="noStrike">
                <a:latin typeface="Arial"/>
              </a:rPr>
              <a:t>- La sesión system_health viene activa por defecto: captura deadlocks, errores graves, esperas largas. Es el primer sitio donde mirar tras un incidente.</a:t>
            </a:r>
            <a:endParaRPr b="0" lang="es-ES" sz="2000" spc="-1" strike="noStrike">
              <a:latin typeface="Arial"/>
            </a:endParaRPr>
          </a:p>
          <a:p>
            <a:pPr marL="216000" indent="-216000">
              <a:lnSpc>
                <a:spcPct val="100000"/>
              </a:lnSpc>
            </a:pPr>
            <a:r>
              <a:rPr b="0" lang="en-US" sz="2000" spc="-1" strike="noStrike">
                <a:latin typeface="Arial"/>
              </a:rPr>
              <a:t>- Para eliminar: DROP EVENT SESSION [lentas] ON SERVER; Para ver las sesiones activas: sys.dm_xe_sessions.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riesgo tiene capturar todos los eventos sin predicados en un servidor muy cargado?</a:t>
            </a:r>
            <a:endParaRPr b="0" lang="es-ES" sz="2000" spc="-1" strike="noStrike">
              <a:latin typeface="Arial"/>
            </a:endParaRPr>
          </a:p>
          <a:p>
            <a:pPr marL="216000" indent="-216000">
              <a:lnSpc>
                <a:spcPct val="100000"/>
              </a:lnSpc>
            </a:pPr>
            <a:r>
              <a:rPr b="0" lang="en-US" sz="2000" spc="-1" strike="noStrike">
                <a:latin typeface="Arial"/>
              </a:rPr>
              <a:t>- ¿Qué información útil esperaríais encontrar en system_health tras una caída de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Conectar con sqlcmd al contenedor y ejecutar SELECT @@VERSION; verificar el código de salida con echo $?.</a:t>
            </a:r>
            <a:endParaRPr b="0" lang="es-ES" sz="2000" spc="-1" strike="noStrike">
              <a:latin typeface="Arial"/>
            </a:endParaRPr>
          </a:p>
          <a:p>
            <a:pPr marL="216000" indent="-216000">
              <a:lnSpc>
                <a:spcPct val="100000"/>
              </a:lnSpc>
            </a:pPr>
            <a:r>
              <a:rPr b="0" lang="en-US" sz="2000" spc="-1" strike="noStrike">
                <a:latin typeface="Arial"/>
              </a:rPr>
              <a:t>- Crear la sesión "lentas", ejecutar WAITFOR DELAY '00:00:02' desde otra conexión y abrir el visor de datos en vivo en SSMS.</a:t>
            </a:r>
            <a:endParaRPr b="0" lang="es-ES" sz="2000" spc="-1" strike="noStrike">
              <a:latin typeface="Arial"/>
            </a:endParaRPr>
          </a:p>
          <a:p>
            <a:pPr marL="216000" indent="-215640">
              <a:lnSpc>
                <a:spcPct val="100000"/>
              </a:lnSpc>
              <a:tabLst>
                <a:tab algn="l" pos="0"/>
              </a:tabLst>
            </a:pPr>
            <a:r>
              <a:rPr b="0" lang="en-US" sz="2000" spc="-1" strike="noStrike">
                <a:latin typeface="Arial"/>
              </a:rPr>
              <a:t>- Trampa: el nombre del fichero .xel es relativo al directorio de log de la instancia; en Linux, ruta /var/opt/mssql/log/.</a:t>
            </a:r>
            <a:endParaRPr b="0" lang="es-ES" sz="2000" spc="-1" strike="noStrike">
              <a:latin typeface="Arial"/>
            </a:endParaRPr>
          </a:p>
        </p:txBody>
      </p:sp>
      <p:sp>
        <p:nvSpPr>
          <p:cNvPr id="207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F598555-FC4B-4C7F-BEFE-5F75DF9BAF8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7" name="PlaceHolder 1"/>
          <p:cNvSpPr>
            <a:spLocks noGrp="1"/>
          </p:cNvSpPr>
          <p:nvPr>
            <p:ph type="sldImg"/>
          </p:nvPr>
        </p:nvSpPr>
        <p:spPr>
          <a:xfrm>
            <a:off x="685800" y="1143000"/>
            <a:ext cx="5485680" cy="3085560"/>
          </a:xfrm>
          <a:prstGeom prst="rect">
            <a:avLst/>
          </a:prstGeom>
        </p:spPr>
      </p:sp>
      <p:sp>
        <p:nvSpPr>
          <p:cNvPr id="207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lo aprendido: crear una base de datos con filegroup propio, varios ficheros de datos y log dimensionado, usando T-SQL.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de lo que debe lograr el alumno: crear Ventas con filegroup PRIMARY (catálogo), filegroup FG_DATOS con dos ficheros de igual tamaño (proportional fill) y un fichero de log.</a:t>
            </a:r>
            <a:endParaRPr b="0" lang="es-ES" sz="2000" spc="-1" strike="noStrike">
              <a:latin typeface="Arial"/>
            </a:endParaRPr>
          </a:p>
          <a:p>
            <a:pPr marL="216000" indent="-216000">
              <a:lnSpc>
                <a:spcPct val="100000"/>
              </a:lnSpc>
            </a:pPr>
            <a:r>
              <a:rPr b="0" lang="en-US" sz="2000" spc="-1" strike="noStrike">
                <a:latin typeface="Arial"/>
              </a:rPr>
              <a:t>- Insistir en la elección de tamaños: inicial razonable y FILEGROWTH en MB. Es habitual que los alumnos pongan porcentajes o 1 MB por costumbre.</a:t>
            </a:r>
            <a:endParaRPr b="0" lang="es-ES" sz="2000" spc="-1" strike="noStrike">
              <a:latin typeface="Arial"/>
            </a:endParaRPr>
          </a:p>
          <a:p>
            <a:pPr marL="216000" indent="-216000">
              <a:lnSpc>
                <a:spcPct val="100000"/>
              </a:lnSpc>
            </a:pPr>
            <a:r>
              <a:rPr b="0" lang="en-US" sz="2000" spc="-1" strike="noStrike">
                <a:latin typeface="Arial"/>
              </a:rPr>
              <a:t>- Las rutas de ejemplo corresponden al contenedor Linux (/var/opt/mssql/data y /log). En Windows serían p. ej. C:\SQLData\.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si los dos ficheros de FG_DATOS tuvieran tamaños distintos? (Proportional fill: el más grande recibe más escrituras.)</a:t>
            </a:r>
            <a:endParaRPr b="0" lang="es-ES" sz="2000" spc="-1" strike="noStrike">
              <a:latin typeface="Arial"/>
            </a:endParaRPr>
          </a:p>
          <a:p>
            <a:pPr marL="216000" indent="-216000">
              <a:lnSpc>
                <a:spcPct val="100000"/>
              </a:lnSpc>
            </a:pPr>
            <a:r>
              <a:rPr b="0" lang="en-US" sz="2000" spc="-1" strike="noStrike">
                <a:latin typeface="Arial"/>
              </a:rPr>
              <a:t>- ¿Por qué conviene que PRIMARY contenga sólo el catálogo y los datos del usuario vayan a otro filegroup?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conectar a la instancia y comprobar SELECT @@SERVERNAME (hábito de seguridad).</a:t>
            </a:r>
            <a:endParaRPr b="0" lang="es-ES" sz="2000" spc="-1" strike="noStrike">
              <a:latin typeface="Arial"/>
            </a:endParaRPr>
          </a:p>
          <a:p>
            <a:pPr marL="216000" indent="-216000">
              <a:lnSpc>
                <a:spcPct val="100000"/>
              </a:lnSpc>
            </a:pPr>
            <a:r>
              <a:rPr b="0" lang="en-US" sz="2000" spc="-1" strike="noStrike">
                <a:latin typeface="Arial"/>
              </a:rPr>
              <a:t>- Paso 2: ejecutar el CREATE DATABASE Ventas de la diapositiva. Si da error de ruta, comprobar que el directorio existe y que el usuario mssql tiene permisos.</a:t>
            </a:r>
            <a:endParaRPr b="0" lang="es-ES" sz="2000" spc="-1" strike="noStrike">
              <a:latin typeface="Arial"/>
            </a:endParaRPr>
          </a:p>
          <a:p>
            <a:pPr marL="216000" indent="-216000">
              <a:lnSpc>
                <a:spcPct val="100000"/>
              </a:lnSpc>
            </a:pPr>
            <a:r>
              <a:rPr b="0" lang="en-US" sz="2000" spc="-1" strike="noStrike">
                <a:latin typeface="Arial"/>
              </a:rPr>
              <a:t>- Paso 3: verificar en SSMS (Propiedades de la BD → Archivos) que aparecen 4 ficheros y 2 filegroups.</a:t>
            </a:r>
            <a:endParaRPr b="0" lang="es-ES" sz="2000" spc="-1" strike="noStrike">
              <a:latin typeface="Arial"/>
            </a:endParaRPr>
          </a:p>
          <a:p>
            <a:pPr marL="216000" indent="-216000">
              <a:lnSpc>
                <a:spcPct val="100000"/>
              </a:lnSpc>
            </a:pPr>
            <a:r>
              <a:rPr b="0" lang="en-US" sz="2000" spc="-1" strike="noStrike">
                <a:latin typeface="Arial"/>
              </a:rPr>
              <a:t>- Trampas habituales: comillas simples tipográficas copiadas de Word; olvidar la coma entre ficheros del mismo filegroup; usar rutas de Windows en el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Solución: ver el script completo de la diapositiva; si el alumno ya tiene una BD Ventas, hacer DROP DATABASE Ventas primero (con USE master).</a:t>
            </a:r>
            <a:endParaRPr b="0" lang="es-ES" sz="2000" spc="-1" strike="noStrike">
              <a:latin typeface="Arial"/>
            </a:endParaRPr>
          </a:p>
        </p:txBody>
      </p:sp>
      <p:sp>
        <p:nvSpPr>
          <p:cNvPr id="207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183D1B0-C933-40AD-B7DE-0A528CC6663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0" name="PlaceHolder 1"/>
          <p:cNvSpPr>
            <a:spLocks noGrp="1"/>
          </p:cNvSpPr>
          <p:nvPr>
            <p:ph type="sldImg"/>
          </p:nvPr>
        </p:nvSpPr>
        <p:spPr>
          <a:xfrm>
            <a:off x="685800" y="1143000"/>
            <a:ext cx="5485680" cy="3085560"/>
          </a:xfrm>
          <a:prstGeom prst="rect">
            <a:avLst/>
          </a:prstGeom>
        </p:spPr>
      </p:sp>
      <p:sp>
        <p:nvSpPr>
          <p:cNvPr id="208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Verificar la estructura creada con las vistas de catálogo, establecer el filegroup predeterminado y comprobar el comportamiento del crecimiento.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Tras crear la BD, fijar FG_DATOS como filegroup predeterminado: las tablas nuevas irán allí por defecto y PRIMARY queda reservado para el catálogo. Es una práctica muy extendida.</a:t>
            </a:r>
            <a:endParaRPr b="0" lang="es-ES" sz="2000" spc="-1" strike="noStrike">
              <a:latin typeface="Arial"/>
            </a:endParaRPr>
          </a:p>
          <a:p>
            <a:pPr marL="216000" indent="-216000">
              <a:lnSpc>
                <a:spcPct val="100000"/>
              </a:lnSpc>
            </a:pPr>
            <a:r>
              <a:rPr b="0" lang="en-US" sz="2000" spc="-1" strike="noStrike">
                <a:latin typeface="Arial"/>
              </a:rPr>
              <a:t>- sys.database_files muestra tamaño en páginas de 8 KB (de ahí size*8/1024 para MB) y las propiedades de crecimiento; is_percent_growth debe ser 0 en todos.</a:t>
            </a:r>
            <a:endParaRPr b="0" lang="es-ES" sz="2000" spc="-1" strike="noStrike">
              <a:latin typeface="Arial"/>
            </a:endParaRPr>
          </a:p>
          <a:p>
            <a:pPr marL="216000" indent="-216000">
              <a:lnSpc>
                <a:spcPct val="100000"/>
              </a:lnSpc>
            </a:pPr>
            <a:r>
              <a:rPr b="0" lang="en-US" sz="2000" spc="-1" strike="noStrike">
                <a:latin typeface="Arial"/>
              </a:rPr>
              <a:t>- Para ver el efecto del crecimiento: crear una tabla ancha en FG_DATOS e insertar más datos que los 512 MB iniciales; los ficheros crecerán en bloques de 128 MB y se puede consultar en sys.database_files o en el reporte de eventos de SSMS.</a:t>
            </a:r>
            <a:endParaRPr b="0" lang="es-ES" sz="2000" spc="-1" strike="noStrike">
              <a:latin typeface="Arial"/>
            </a:endParaRPr>
          </a:p>
          <a:p>
            <a:pPr marL="216000" indent="-216000">
              <a:lnSpc>
                <a:spcPct val="100000"/>
              </a:lnSpc>
            </a:pPr>
            <a:r>
              <a:rPr b="0" lang="en-US" sz="2000" spc="-1" strike="noStrike">
                <a:latin typeface="Arial"/>
              </a:rPr>
              <a:t>- Cierre del Módulo 1: repasar los cuatro conceptos que han aparecido hoy (Buffer Pool, páginas/extensiones, Transaction Log/WAL, tempdb) y conectarlos con los módulos siguientes.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observáis entre el tamaño reservado y el espacio realmente usado? (FILEPROPERTY(name,'SpaceUsed').)</a:t>
            </a:r>
            <a:endParaRPr b="0" lang="es-ES" sz="2000" spc="-1" strike="noStrike">
              <a:latin typeface="Arial"/>
            </a:endParaRPr>
          </a:p>
          <a:p>
            <a:pPr marL="216000" indent="-216000">
              <a:lnSpc>
                <a:spcPct val="100000"/>
              </a:lnSpc>
            </a:pPr>
            <a:r>
              <a:rPr b="0" lang="en-US" sz="2000" spc="-1" strike="noStrike">
                <a:latin typeface="Arial"/>
              </a:rPr>
              <a:t>- ¿Qué haríais si un fichero de datos alcanza el límite de disco? (Añadir fichero en otra unidad, no shrink indiscriminado.)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ejecutar ALTER DATABASE Ventas MODIFY FILEGROUP FG_DATOS DEFAULT.</a:t>
            </a:r>
            <a:endParaRPr b="0" lang="es-ES" sz="2000" spc="-1" strike="noStrike">
              <a:latin typeface="Arial"/>
            </a:endParaRPr>
          </a:p>
          <a:p>
            <a:pPr marL="216000" indent="-216000">
              <a:lnSpc>
                <a:spcPct val="100000"/>
              </a:lnSpc>
            </a:pPr>
            <a:r>
              <a:rPr b="0" lang="en-US" sz="2000" spc="-1" strike="noStrike">
                <a:latin typeface="Arial"/>
              </a:rPr>
              <a:t>- Paso 2: ejecutar las dos consultas de verificación y comprobar que size_mb es 64/256/256/128 y que growth está en MB.</a:t>
            </a:r>
            <a:endParaRPr b="0" lang="es-ES" sz="2000" spc="-1" strike="noStrike">
              <a:latin typeface="Arial"/>
            </a:endParaRPr>
          </a:p>
          <a:p>
            <a:pPr marL="216000" indent="-216000">
              <a:lnSpc>
                <a:spcPct val="100000"/>
              </a:lnSpc>
            </a:pPr>
            <a:r>
              <a:rPr b="0" lang="en-US" sz="2000" spc="-1" strike="noStrike">
                <a:latin typeface="Arial"/>
              </a:rPr>
              <a:t>- Paso 3 (extra): crear una tabla dbo.Prueba(id INT IDENTITY, relleno CHAR(8000)) y insertar 100.000 filas con un WHILE; revisar si ha crecido algún fichero.</a:t>
            </a:r>
            <a:endParaRPr b="0" lang="es-ES" sz="2000" spc="-1" strike="noStrike">
              <a:latin typeface="Arial"/>
            </a:endParaRPr>
          </a:p>
          <a:p>
            <a:pPr marL="216000" indent="-216000">
              <a:lnSpc>
                <a:spcPct val="100000"/>
              </a:lnSpc>
            </a:pPr>
            <a:r>
              <a:rPr b="0" lang="en-US" sz="2000" spc="-1" strike="noStrike">
                <a:latin typeface="Arial"/>
              </a:rPr>
              <a:t>- Trampas: querer cambiar el filegroup predeterminado a uno que no contiene ficheros (error); confundir size (páginas) con MB.</a:t>
            </a:r>
            <a:endParaRPr b="0" lang="es-ES" sz="2000" spc="-1" strike="noStrike">
              <a:latin typeface="Arial"/>
            </a:endParaRPr>
          </a:p>
          <a:p>
            <a:pPr marL="216000" indent="-215640">
              <a:lnSpc>
                <a:spcPct val="100000"/>
              </a:lnSpc>
              <a:tabLst>
                <a:tab algn="l" pos="0"/>
              </a:tabLst>
            </a:pPr>
            <a:r>
              <a:rPr b="0" lang="en-US" sz="2000" spc="-1" strike="noStrike">
                <a:latin typeface="Arial"/>
              </a:rPr>
              <a:t>- Resolución: las consultas de la diapositiva con size*8/1024 devuelven MB; si growth = 16384 y is_percent_growth = 0, equivale a 128 MB (16384 páginas × 8 KB).</a:t>
            </a:r>
            <a:endParaRPr b="0" lang="es-ES" sz="2000" spc="-1" strike="noStrike">
              <a:latin typeface="Arial"/>
            </a:endParaRPr>
          </a:p>
        </p:txBody>
      </p:sp>
      <p:sp>
        <p:nvSpPr>
          <p:cNvPr id="208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D11DCDB-0517-4164-8444-29171F7DCF0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3" name="PlaceHolder 1"/>
          <p:cNvSpPr>
            <a:spLocks noGrp="1"/>
          </p:cNvSpPr>
          <p:nvPr>
            <p:ph type="sldImg"/>
          </p:nvPr>
        </p:nvSpPr>
        <p:spPr>
          <a:xfrm>
            <a:off x="685800" y="1143000"/>
            <a:ext cx="5485680" cy="3085560"/>
          </a:xfrm>
          <a:prstGeom prst="rect">
            <a:avLst/>
          </a:prstGeom>
        </p:spPr>
      </p:sp>
      <p:sp>
        <p:nvSpPr>
          <p:cNvPr id="208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grupo en el recorrido del módulo: primero se construyen y consultan los datos (DDL y DML) y después se protegen (seguridad). Las dos mitades comparten la misma BD de ejemplo, Ventas.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más práctico del curso (5,5 h): alterna teoría breve con T-SQL que los alumnos ejecutan en su instancia (Docker o local).</a:t>
            </a:r>
            <a:endParaRPr b="0" lang="es-ES" sz="2000" spc="-1" strike="noStrike">
              <a:latin typeface="Arial"/>
            </a:endParaRPr>
          </a:p>
          <a:p>
            <a:pPr marL="216000" indent="-216000">
              <a:lnSpc>
                <a:spcPct val="100000"/>
              </a:lnSpc>
            </a:pPr>
            <a:r>
              <a:rPr b="0" lang="en-US" sz="2000" spc="-1" strike="noStrike">
                <a:latin typeface="Arial"/>
              </a:rPr>
              <a:t>- Hilo conductor: la base de datos Ventas con dbo.Cliente y dbo.Pedido. Todos los ejemplos, el Laboratorio 2A y el 2B reutilizan esas tablas, de modo que cada concepto se apoya en el anterior.</a:t>
            </a:r>
            <a:endParaRPr b="0" lang="es-ES" sz="2000" spc="-1" strike="noStrike">
              <a:latin typeface="Arial"/>
            </a:endParaRPr>
          </a:p>
          <a:p>
            <a:pPr marL="216000" indent="-216000">
              <a:lnSpc>
                <a:spcPct val="100000"/>
              </a:lnSpc>
            </a:pPr>
            <a:r>
              <a:rPr b="0" lang="en-US" sz="2000" spc="-1" strike="noStrike">
                <a:latin typeface="Arial"/>
              </a:rPr>
              <a:t>- Bloque 1 (DDL): tablas con restricciones, vistas estándar e indexadas, procedimientos almacenados y cómo el motor cachea y recompila planes (Plan Cache).</a:t>
            </a:r>
            <a:endParaRPr b="0" lang="es-ES" sz="2000" spc="-1" strike="noStrike">
              <a:latin typeface="Arial"/>
            </a:endParaRPr>
          </a:p>
          <a:p>
            <a:pPr marL="216000" indent="-216000">
              <a:lnSpc>
                <a:spcPct val="100000"/>
              </a:lnSpc>
            </a:pPr>
            <a:r>
              <a:rPr b="0" lang="en-US" sz="2000" spc="-1" strike="noStrike">
                <a:latin typeface="Arial"/>
              </a:rPr>
              <a:t>- Bloque 2 (DML avanzado): orden lógico del SELECT, JOINs lógicos y sus tres algoritmos físicos (Nested Loops, Merge, Hash), subconsultas, CTE, window functions y tablas vectoriales nativas (SQL Server 2025).</a:t>
            </a:r>
            <a:endParaRPr b="0" lang="es-ES" sz="2000" spc="-1" strike="noStrike">
              <a:latin typeface="Arial"/>
            </a:endParaRPr>
          </a:p>
          <a:p>
            <a:pPr marL="216000" indent="-216000">
              <a:lnSpc>
                <a:spcPct val="100000"/>
              </a:lnSpc>
            </a:pPr>
            <a:r>
              <a:rPr b="0" lang="en-US" sz="2000" spc="-1" strike="noStrike">
                <a:latin typeface="Arial"/>
              </a:rPr>
              <a:t>- Bloque 3 (seguridad): autenticación, jerarquía Login → User → Rol → Permiso, GRANT/DENY/REVOKE, ownership chaining, mínimo privilegio y auditoría básica.</a:t>
            </a:r>
            <a:endParaRPr b="0" lang="es-ES" sz="2000" spc="-1" strike="noStrike">
              <a:latin typeface="Arial"/>
            </a:endParaRPr>
          </a:p>
          <a:p>
            <a:pPr marL="216000" indent="-216000">
              <a:lnSpc>
                <a:spcPct val="100000"/>
              </a:lnSpc>
            </a:pPr>
            <a:r>
              <a:rPr b="0" lang="en-US" sz="2000" spc="-1" strike="noStrike">
                <a:latin typeface="Arial"/>
              </a:rPr>
              <a:t>- Aviso de planificación: Laboratorio 2A tras DML (~1 h) y Laboratorio 2B al final de seguridad (~1 h). Si el grupo va justo de tiempo, se recortan ejercicios opcionales, nunca los pasos de verificación.</a:t>
            </a:r>
            <a:endParaRPr b="0" lang="es-ES" sz="2000" spc="-1" strike="noStrike">
              <a:latin typeface="Arial"/>
            </a:endParaRPr>
          </a:p>
          <a:p>
            <a:pPr marL="216000" indent="-216000">
              <a:lnSpc>
                <a:spcPct val="100000"/>
              </a:lnSpc>
            </a:pPr>
            <a:r>
              <a:rPr b="0" lang="en-US" sz="2000" spc="-1" strike="noStrike">
                <a:latin typeface="Arial"/>
              </a:rPr>
              <a:t>- Requisito previo: SSMS o VS Code MSSQL conectados a una instancia 2025 con permisos de sysadmin (para crear logins y bases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parte de vuestro trabajo actual depende más de que el modelo de datos esté bien definido (integridad) y cuál de que esté bien protegido?</a:t>
            </a:r>
            <a:endParaRPr b="0" lang="es-ES" sz="2000" spc="-1" strike="noStrike">
              <a:latin typeface="Arial"/>
            </a:endParaRPr>
          </a:p>
          <a:p>
            <a:pPr marL="216000" indent="-215640">
              <a:lnSpc>
                <a:spcPct val="100000"/>
              </a:lnSpc>
              <a:tabLst>
                <a:tab algn="l" pos="0"/>
              </a:tabLst>
            </a:pPr>
            <a:r>
              <a:rPr b="0" lang="en-US" sz="2000" spc="-1" strike="noStrike">
                <a:latin typeface="Arial"/>
              </a:rPr>
              <a:t>- ¿Alguna vez habéis visto una aplicación conectándose con sa o con un usuario db_owner? ¿Qué podría salir mal?</a:t>
            </a:r>
            <a:endParaRPr b="0" lang="es-ES" sz="2000" spc="-1" strike="noStrike">
              <a:latin typeface="Arial"/>
            </a:endParaRPr>
          </a:p>
        </p:txBody>
      </p:sp>
      <p:sp>
        <p:nvSpPr>
          <p:cNvPr id="208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34F0E6D-685E-47B5-9DC4-379DA04848F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6" name="PlaceHolder 1"/>
          <p:cNvSpPr>
            <a:spLocks noGrp="1"/>
          </p:cNvSpPr>
          <p:nvPr>
            <p:ph type="sldImg"/>
          </p:nvPr>
        </p:nvSpPr>
        <p:spPr>
          <a:xfrm>
            <a:off x="685800" y="1143000"/>
            <a:ext cx="5485680" cy="3085560"/>
          </a:xfrm>
          <a:prstGeom prst="rect">
            <a:avLst/>
          </a:prstGeom>
        </p:spPr>
      </p:sp>
      <p:sp>
        <p:nvSpPr>
          <p:cNvPr id="208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Que el alumno sepa declarar tablas con las cinco restricciones básicas (PK, FK, CHECK, UNIQUE, DEFAULT) y entienda qué hace el motor internamente con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a:t>
            </a:r>
            <a:endParaRPr b="0" lang="es-ES" sz="2000" spc="-1" strike="noStrike">
              <a:latin typeface="Arial"/>
            </a:endParaRPr>
          </a:p>
          <a:p>
            <a:pPr marL="216000" indent="-216000">
              <a:lnSpc>
                <a:spcPct val="100000"/>
              </a:lnSpc>
            </a:pPr>
            <a:r>
              <a:rPr b="0" lang="en-US" sz="2000" spc="-1" strike="noStrike">
                <a:latin typeface="Arial"/>
              </a:rPr>
              <a:t>-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a:t>
            </a:r>
            <a:endParaRPr b="0" lang="es-ES" sz="2000" spc="-1" strike="noStrike">
              <a:latin typeface="Arial"/>
            </a:endParaRPr>
          </a:p>
          <a:p>
            <a:pPr marL="216000" indent="-216000">
              <a:lnSpc>
                <a:spcPct val="100000"/>
              </a:lnSpc>
            </a:pPr>
            <a:r>
              <a:rPr b="0" lang="en-US" sz="2000" spc="-1" strike="noStrike">
                <a:latin typeface="Arial"/>
              </a:rPr>
              <a:t>- UNIQUE: crea un índice único non-clustered. Admite un solo NULL por columna (a diferencia de la norma ANSI). Para «único salvo NULL» se usa un índice filtrado: CREATE UNIQUE INDEX ... WHERE Col IS NOT NULL.</a:t>
            </a:r>
            <a:endParaRPr b="0" lang="es-ES" sz="2000" spc="-1" strike="noStrike">
              <a:latin typeface="Arial"/>
            </a:endParaRPr>
          </a:p>
          <a:p>
            <a:pPr marL="216000" indent="-216000">
              <a:lnSpc>
                <a:spcPct val="100000"/>
              </a:lnSpc>
            </a:pPr>
            <a:r>
              <a:rPr b="0" lang="en-US" sz="2000" spc="-1" strike="noStrike">
                <a:latin typeface="Arial"/>
              </a:rPr>
              <a:t>- FOREIGN KEY: garantiza integridad referencial, pero SQL Server NO crea el índice en la columna hija. Sin índice, un DELETE en el padre obliga a escanear la tabla hija. Es el error de diseño más frecuente.</a:t>
            </a:r>
            <a:endParaRPr b="0" lang="es-ES" sz="2000" spc="-1" strike="noStrike">
              <a:latin typeface="Arial"/>
            </a:endParaRPr>
          </a:p>
          <a:p>
            <a:pPr marL="216000" indent="-216000">
              <a:lnSpc>
                <a:spcPct val="100000"/>
              </a:lnSpc>
            </a:pPr>
            <a:r>
              <a:rPr b="0" lang="en-US" sz="2000" spc="-1" strike="noStrike">
                <a:latin typeface="Arial"/>
              </a:rPr>
              <a:t>- CHECK: se evalúa en INSERT/UPDATE; si es «trusted», el optimizador la usa para eliminar ramas imposibles del plan. DEFAULT: se aplica cuando la columna se omite en el INSERT; es una restricción a nivel de columna.</a:t>
            </a:r>
            <a:endParaRPr b="0" lang="es-ES" sz="2000" spc="-1" strike="noStrike">
              <a:latin typeface="Arial"/>
            </a:endParaRPr>
          </a:p>
          <a:p>
            <a:pPr marL="216000" indent="-216000">
              <a:lnSpc>
                <a:spcPct val="100000"/>
              </a:lnSpc>
            </a:pPr>
            <a:r>
              <a:rPr b="0" lang="en-US" sz="2000" spc="-1" strike="noStrike">
                <a:latin typeface="Arial"/>
              </a:rPr>
              <a:t>- Tipos de datos: DECIMAL(12,2) para importes (nunca FLOAT/MONEY por redondeos), DATETIME2(0) en lugar de DATETIME (más preciso y compacto), NVARCHAR sólo si se necesita Unicode.</a:t>
            </a:r>
            <a:endParaRPr b="0" lang="es-ES" sz="2000" spc="-1" strike="noStrike">
              <a:latin typeface="Arial"/>
            </a:endParaRPr>
          </a:p>
          <a:p>
            <a:pPr marL="216000" indent="-216000">
              <a:lnSpc>
                <a:spcPct val="100000"/>
              </a:lnSpc>
            </a:pPr>
            <a:r>
              <a:rPr b="0" lang="en-US" sz="2000" spc="-1" strike="noStrike">
                <a:latin typeface="Arial"/>
              </a:rPr>
              <a:t>- Consultar el catálogo: sys.key_constraints, sys.foreign_keys, sys.check_constraints, sys.default_constraints; o EXEC sp_help N'dbo.Pedido'.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pasaría con un DELETE de un cliente que tiene 2 millones de pedidos si la FK no tiene índice de apoyo?</a:t>
            </a:r>
            <a:endParaRPr b="0" lang="es-ES" sz="2000" spc="-1" strike="noStrike">
              <a:latin typeface="Arial"/>
            </a:endParaRPr>
          </a:p>
          <a:p>
            <a:pPr marL="216000" indent="-215640">
              <a:lnSpc>
                <a:spcPct val="100000"/>
              </a:lnSpc>
              <a:tabLst>
                <a:tab algn="l" pos="0"/>
              </a:tabLst>
            </a:pPr>
            <a:r>
              <a:rPr b="0" lang="en-US" sz="2000" spc="-1" strike="noStrike">
                <a:latin typeface="Arial"/>
              </a:rPr>
              <a:t>- ¿Es mejor validar una regla de negocio en la aplicación, con un CHECK o con ambas? ¿Quién protege la BD de otra aplicación que escriba directamente?</a:t>
            </a:r>
            <a:endParaRPr b="0" lang="es-ES" sz="2000" spc="-1" strike="noStrike">
              <a:latin typeface="Arial"/>
            </a:endParaRPr>
          </a:p>
        </p:txBody>
      </p:sp>
      <p:sp>
        <p:nvSpPr>
          <p:cNvPr id="208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1BFA931-A26C-4E82-B6F9-B3ADDD84AF7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9" name="PlaceHolder 1"/>
          <p:cNvSpPr>
            <a:spLocks noGrp="1"/>
          </p:cNvSpPr>
          <p:nvPr>
            <p:ph type="sldImg"/>
          </p:nvPr>
        </p:nvSpPr>
        <p:spPr>
          <a:xfrm>
            <a:off x="685800" y="1143000"/>
            <a:ext cx="5485680" cy="3085560"/>
          </a:xfrm>
          <a:prstGeom prst="rect">
            <a:avLst/>
          </a:prstGeom>
        </p:spPr>
      </p:sp>
      <p:sp>
        <p:nvSpPr>
          <p:cNvPr id="209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Interiorizar los seis errores de diseño más habituales en producción y su consecuencia medible en rendimiento o integridad.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Tabla sin PK (heap): permite duplicados, complica replicación transaccional, CDC y los UPDATE/DELETE con forwarded records. Salvo staging, toda tabla debe tener PK.</a:t>
            </a:r>
            <a:endParaRPr b="0" lang="es-ES" sz="2000" spc="-1" strike="noStrike">
              <a:latin typeface="Arial"/>
            </a:endParaRPr>
          </a:p>
          <a:p>
            <a:pPr marL="216000" indent="-216000">
              <a:lnSpc>
                <a:spcPct val="100000"/>
              </a:lnSpc>
            </a:pPr>
            <a:r>
              <a:rPr b="0" lang="en-US" sz="2000" spc="-1" strike="noStrike">
                <a:latin typeface="Arial"/>
              </a:rPr>
              <a:t>- FK sin índice en la columna hija: provoca scans y bloqueos largos al borrar o actualizar en el padre. Detectarlo con sys.foreign_keys cruzado con sys.index_columns.</a:t>
            </a:r>
            <a:endParaRPr b="0" lang="es-ES" sz="2000" spc="-1" strike="noStrike">
              <a:latin typeface="Arial"/>
            </a:endParaRPr>
          </a:p>
          <a:p>
            <a:pPr marL="216000" indent="-216000">
              <a:lnSpc>
                <a:spcPct val="100000"/>
              </a:lnSpc>
            </a:pPr>
            <a:r>
              <a:rPr b="0" lang="en-US" sz="2000" spc="-1" strike="noStrike">
                <a:latin typeface="Arial"/>
              </a:rPr>
              <a:t>- WITH NOCHECK: añade la restricción sin validar los datos existentes y la marca como no confiable (sys.foreign_keys.is_not_trusted = 1). El optimizador no puede usarla y pierde optimizaciones como la eliminación de joins. Reparar con ALTER TABLE ... WITH CHECK CHECK CONSTRAINT.</a:t>
            </a:r>
            <a:endParaRPr b="0" lang="es-ES" sz="2000" spc="-1" strike="noStrike">
              <a:latin typeface="Arial"/>
            </a:endParaRPr>
          </a:p>
          <a:p>
            <a:pPr marL="216000" indent="-216000">
              <a:lnSpc>
                <a:spcPct val="100000"/>
              </a:lnSpc>
            </a:pPr>
            <a:r>
              <a:rPr b="0" lang="en-US" sz="2000" spc="-1" strike="noStrike">
                <a:latin typeface="Arial"/>
              </a:rPr>
              <a:t>- VARCHAR vs NVARCHAR: NVARCHAR usa 2 bytes por carácter; mezclarlos en un JOIN o WHERE genera conversión implícita (CONVERT_IMPLICIT en el plan) y puede impedir un Index Seek por precedencia de tipos.</a:t>
            </a:r>
            <a:endParaRPr b="0" lang="es-ES" sz="2000" spc="-1" strike="noStrike">
              <a:latin typeface="Arial"/>
            </a:endParaRPr>
          </a:p>
          <a:p>
            <a:pPr marL="216000" indent="-216000">
              <a:lnSpc>
                <a:spcPct val="100000"/>
              </a:lnSpc>
            </a:pPr>
            <a:r>
              <a:rPr b="0" lang="en-US" sz="2000" spc="-1" strike="noStrike">
                <a:latin typeface="Arial"/>
              </a:rPr>
              <a:t>- GUID aleatorio como clustered key (NEWID()): inserciones por toda la B-Tree, Page Splits, fragmentación y Buffer Pool ineficiente. Alternativas: IDENTITY, SEQUENCE o NEWSEQUENTIALID().</a:t>
            </a:r>
            <a:endParaRPr b="0" lang="es-ES" sz="2000" spc="-1" strike="noStrike">
              <a:latin typeface="Arial"/>
            </a:endParaRPr>
          </a:p>
          <a:p>
            <a:pPr marL="216000" indent="-216000">
              <a:lnSpc>
                <a:spcPct val="100000"/>
              </a:lnSpc>
            </a:pPr>
            <a:r>
              <a:rPr b="0" lang="en-US" sz="2000" spc="-1" strike="noStrike">
                <a:latin typeface="Arial"/>
              </a:rPr>
              <a:t>- Tipos sobredimensionados (BIGINT, VARCHAR(MAX), CHAR(500)): más páginas de 8 KB, más I/O y más memoria de Buffer Pool para el mismo dato; y VARCHAR(MAX) no se puede indexar como clave.</a:t>
            </a:r>
            <a:endParaRPr b="0" lang="es-ES" sz="2000" spc="-1" strike="noStrike">
              <a:latin typeface="Arial"/>
            </a:endParaRPr>
          </a:p>
          <a:p>
            <a:pPr marL="216000" indent="-216000">
              <a:lnSpc>
                <a:spcPct val="100000"/>
              </a:lnSpc>
            </a:pPr>
            <a:r>
              <a:rPr b="0" lang="en-US" sz="2000" spc="-1" strike="noStrike">
                <a:latin typeface="Arial"/>
              </a:rPr>
              <a:t>- Regla práctica: el diseño físico se revisa con la herramienta de los datos, no con intuición: sys.dm_db_index_usage_stats y los planes de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de estos errores creéis que existe hoy en alguna de vuestras bases de datos? ¿Cómo lo detectaríais con una consulta al catálogo?</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GUID aleatorio es mala idea como clustered key, pero puede ser aceptable como clave no agrupada?</a:t>
            </a:r>
            <a:endParaRPr b="0" lang="es-ES" sz="2000" spc="-1" strike="noStrike">
              <a:latin typeface="Arial"/>
            </a:endParaRPr>
          </a:p>
        </p:txBody>
      </p:sp>
      <p:sp>
        <p:nvSpPr>
          <p:cNvPr id="209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FDE791C-0070-4DF2-B43F-8BE712A5190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2" name="PlaceHolder 1"/>
          <p:cNvSpPr>
            <a:spLocks noGrp="1"/>
          </p:cNvSpPr>
          <p:nvPr>
            <p:ph type="sldImg"/>
          </p:nvPr>
        </p:nvSpPr>
        <p:spPr>
          <a:xfrm>
            <a:off x="685800" y="1143000"/>
            <a:ext cx="5485680" cy="3085560"/>
          </a:xfrm>
          <a:prstGeom prst="rect">
            <a:avLst/>
          </a:prstGeom>
        </p:spPr>
      </p:sp>
      <p:sp>
        <p:nvSpPr>
          <p:cNvPr id="209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una vista estándar (consulta almacenada, sin datos) de una vista indexada (resultado materializado) y saber cuándo conviene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Vista estándar: sólo se guarda la definición en sys.sql_modules. Al consultarla, el optimizador la expande (view expansion) dentro de la consulta externa y genera un único plan; no hay penalización ni ganancia de rendimiento por sí misma.</a:t>
            </a:r>
            <a:endParaRPr b="0" lang="es-ES" sz="2000" spc="-1" strike="noStrike">
              <a:latin typeface="Arial"/>
            </a:endParaRPr>
          </a:p>
          <a:p>
            <a:pPr marL="216000" indent="-216000">
              <a:lnSpc>
                <a:spcPct val="100000"/>
              </a:lnSpc>
            </a:pPr>
            <a:r>
              <a:rPr b="0" lang="en-US" sz="2000" spc="-1" strike="noStrike">
                <a:latin typeface="Arial"/>
              </a:rPr>
              <a:t>- Usos: abstraer joins complejos, ocultar columnas sensibles y dar un punto de seguridad estable (GRANT SELECT sobre la vista sin dar acceso a la tabla; el ownership chaining lo hace posible).</a:t>
            </a:r>
            <a:endParaRPr b="0" lang="es-ES" sz="2000" spc="-1" strike="noStrike">
              <a:latin typeface="Arial"/>
            </a:endParaRPr>
          </a:p>
          <a:p>
            <a:pPr marL="216000" indent="-216000">
              <a:lnSpc>
                <a:spcPct val="100000"/>
              </a:lnSpc>
            </a:pPr>
            <a:r>
              <a:rPr b="0" lang="en-US" sz="2000" spc="-1" strike="noStrike">
                <a:latin typeface="Arial"/>
              </a:rPr>
              <a:t>- Anidar vistas sobre vistas es un antipatrón: cada capa añade joins que el optimizador debe simplificar y los planes se vuelven difíciles de leer.</a:t>
            </a:r>
            <a:endParaRPr b="0" lang="es-ES" sz="2000" spc="-1" strike="noStrike">
              <a:latin typeface="Arial"/>
            </a:endParaRPr>
          </a:p>
          <a:p>
            <a:pPr marL="216000" indent="-216000">
              <a:lnSpc>
                <a:spcPct val="100000"/>
              </a:lnSpc>
            </a:pPr>
            <a:r>
              <a:rPr b="0" lang="en-US" sz="2000" spc="-1" strike="noStrike">
                <a:latin typeface="Arial"/>
              </a:rPr>
              <a:t>- Vista indexada (materializada): al crear sobre ella un UNIQUE CLUSTERED INDEX, SQL Server almacena físicamente el resultado y lo mantiene sincronizado en cada INSERT/UPDATE/DELETE de las tablas base (coste en escrituras).</a:t>
            </a:r>
            <a:endParaRPr b="0" lang="es-ES" sz="2000" spc="-1" strike="noStrike">
              <a:latin typeface="Arial"/>
            </a:endParaRPr>
          </a:p>
          <a:p>
            <a:pPr marL="216000" indent="-216000">
              <a:lnSpc>
                <a:spcPct val="100000"/>
              </a:lnSpc>
            </a:pPr>
            <a:r>
              <a:rPr b="0" lang="en-US" sz="2000" spc="-1" strike="noStrike">
                <a:latin typeface="Arial"/>
              </a:rPr>
              <a:t>- En ediciones Enterprise/Developer el optimizador puede usar la vista indexada aunque la consulta no la nombre (matching automático); en Standard hay que usar la pista WITH (NOEXPAND).</a:t>
            </a:r>
            <a:endParaRPr b="0" lang="es-ES" sz="2000" spc="-1" strike="noStrike">
              <a:latin typeface="Arial"/>
            </a:endParaRPr>
          </a:p>
          <a:p>
            <a:pPr marL="216000" indent="-216000">
              <a:lnSpc>
                <a:spcPct val="100000"/>
              </a:lnSpc>
            </a:pPr>
            <a:r>
              <a:rPr b="0" lang="en-US" sz="2000" spc="-1" strike="noStrike">
                <a:latin typeface="Arial"/>
              </a:rPr>
              <a:t>- Cuándo usarla: agregaciones costosas y muy repetidas sobre tablas de lectura intensiva (informes, dashboards). Cuándo no: tablas con alta tasa de escritura, porque cada DML paga el mantenimiento.</a:t>
            </a:r>
            <a:endParaRPr b="0" lang="es-ES" sz="2000" spc="-1" strike="noStrike">
              <a:latin typeface="Arial"/>
            </a:endParaRPr>
          </a:p>
          <a:p>
            <a:pPr marL="216000" indent="-216000">
              <a:lnSpc>
                <a:spcPct val="100000"/>
              </a:lnSpc>
            </a:pPr>
            <a:r>
              <a:rPr b="0" lang="en-US" sz="2000" spc="-1" strike="noStrike">
                <a:latin typeface="Arial"/>
              </a:rPr>
              <a:t>- Consulta útil: SELECT name, type_desc FROM sys.views; y sys.indexes WHERE object_id = OBJECT_ID('dbo.vVentasCliente').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vista estándar mejora el rendimiento de una consulta? ¿Por qué sí o por qué no?</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recibe 5 000 inserciones por segundo, ¿pondríais una vista indexada sobre ella? ¿Qué medirías antes de decidir?</a:t>
            </a:r>
            <a:endParaRPr b="0" lang="es-ES" sz="2000" spc="-1" strike="noStrike">
              <a:latin typeface="Arial"/>
            </a:endParaRPr>
          </a:p>
        </p:txBody>
      </p:sp>
      <p:sp>
        <p:nvSpPr>
          <p:cNvPr id="209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6F13B22-C29D-4B60-9F52-A4B286BA968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5" name="PlaceHolder 1"/>
          <p:cNvSpPr>
            <a:spLocks noGrp="1"/>
          </p:cNvSpPr>
          <p:nvPr>
            <p:ph type="sldImg"/>
          </p:nvPr>
        </p:nvSpPr>
        <p:spPr>
          <a:xfrm>
            <a:off x="685800" y="1143000"/>
            <a:ext cx="5485680" cy="3085560"/>
          </a:xfrm>
          <a:prstGeom prst="rect">
            <a:avLst/>
          </a:prstGeom>
        </p:spPr>
      </p:sp>
      <p:sp>
        <p:nvSpPr>
          <p:cNvPr id="209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correctamente una vista indexada conociendo sus restricciones y sus costes de mantenimiento.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WITH SCHEMABINDING enlaza la vista a las tablas base: impide ALTER/DROP de columnas usadas mientras la vista exista. Obliga a nombres de dos partes (dbo.Pedido) y prohíbe SELECT *.</a:t>
            </a:r>
            <a:endParaRPr b="0" lang="es-ES" sz="2000" spc="-1" strike="noStrike">
              <a:latin typeface="Arial"/>
            </a:endParaRPr>
          </a:p>
          <a:p>
            <a:pPr marL="216000" indent="-216000">
              <a:lnSpc>
                <a:spcPct val="100000"/>
              </a:lnSpc>
            </a:pPr>
            <a:r>
              <a:rPr b="0" lang="en-US" sz="2000" spc="-1" strike="noStrike">
                <a:latin typeface="Arial"/>
              </a:rPr>
              <a:t>- Si la vista agrupa (GROUP BY), debe incluir COUNT_BIG(*): permite al motor mantener el resultado de forma incremental al borrar filas. SUM sólo sobre expresiones no nulables (aquí Total es NOT NULL).</a:t>
            </a:r>
            <a:endParaRPr b="0" lang="es-ES" sz="2000" spc="-1" strike="noStrike">
              <a:latin typeface="Arial"/>
            </a:endParaRPr>
          </a:p>
          <a:p>
            <a:pPr marL="216000" indent="-216000">
              <a:lnSpc>
                <a:spcPct val="100000"/>
              </a:lnSpc>
            </a:pPr>
            <a:r>
              <a:rPr b="0" lang="en-US" sz="2000" spc="-1" strike="noStrike">
                <a:latin typeface="Arial"/>
              </a:rPr>
              <a:t>- Construcciones prohibidas: OUTER JOIN, subconsultas, DISTINCT, TOP, UNION, MIN/MAX/AVG, ORDER BY, CTE, tablas derivadas y auto-joins. Expresiones no deterministas (GETDATE) tampoco.</a:t>
            </a:r>
            <a:endParaRPr b="0" lang="es-ES" sz="2000" spc="-1" strike="noStrike">
              <a:latin typeface="Arial"/>
            </a:endParaRPr>
          </a:p>
          <a:p>
            <a:pPr marL="216000" indent="-216000">
              <a:lnSpc>
                <a:spcPct val="100000"/>
              </a:lnSpc>
            </a:pPr>
            <a:r>
              <a:rPr b="0" lang="en-US" sz="2000" spc="-1" strike="noStrike">
                <a:latin typeface="Arial"/>
              </a:rPr>
              <a:t>- El primer índice debe ser UNIQUE CLUSTERED; después se pueden crear índices non-clustered adicionales sobre la vista.</a:t>
            </a:r>
            <a:endParaRPr b="0" lang="es-ES" sz="2000" spc="-1" strike="noStrike">
              <a:latin typeface="Arial"/>
            </a:endParaRPr>
          </a:p>
          <a:p>
            <a:pPr marL="216000" indent="-216000">
              <a:lnSpc>
                <a:spcPct val="100000"/>
              </a:lnSpc>
            </a:pPr>
            <a:r>
              <a:rPr b="0" lang="en-US" sz="2000" spc="-1" strike="noStrike">
                <a:latin typeface="Arial"/>
              </a:rPr>
              <a:t>- Opciones SET requeridas al crearla y al modificar las tablas base: ANSI_NULLS, ANSI_PADDING, ANSI_WARNINGS, ARITHABORT, CONCAT_NULL_YIELDS_NULL y QUOTED_IDENTIFIER en ON; NUMERIC_ROUNDABORT en OFF. SSMS las trae bien por defecto; ciertos drivers antiguos no (error 1934).</a:t>
            </a:r>
            <a:endParaRPr b="0" lang="es-ES" sz="2000" spc="-1" strike="noStrike">
              <a:latin typeface="Arial"/>
            </a:endParaRPr>
          </a:p>
          <a:p>
            <a:pPr marL="216000" indent="-216000">
              <a:lnSpc>
                <a:spcPct val="100000"/>
              </a:lnSpc>
            </a:pPr>
            <a:r>
              <a:rPr b="0" lang="en-US" sz="2000" spc="-1" strike="noStrike">
                <a:latin typeface="Arial"/>
              </a:rPr>
              <a:t>- Consumo: en Standard hay que escribir WITH (NOEXPAND); en Enterprise el optimizador puede usarla automáticamente. Verificar en el plan: ¿aparece un Clustered Index Scan sobre la vista o se expande a las tablas base?</a:t>
            </a:r>
            <a:endParaRPr b="0" lang="es-ES" sz="2000" spc="-1" strike="noStrike">
              <a:latin typeface="Arial"/>
            </a:endParaRPr>
          </a:p>
          <a:p>
            <a:pPr marL="216000" indent="-216000">
              <a:lnSpc>
                <a:spcPct val="100000"/>
              </a:lnSpc>
            </a:pPr>
            <a:r>
              <a:rPr b="0" lang="en-US" sz="2000" spc="-1" strike="noStrike">
                <a:latin typeface="Arial"/>
              </a:rPr>
              <a:t>- Advertencia de rendimiento: cada INSERT sobre dbo.Pedido provoca también una modificación en el índice de la vista, con su bloqueo y su log. Medir con SET STATISTICS IO y sys.dm_db_index_operational_stats.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creéis que se exige COUNT_BIG(*) cuando hay GROUP BY?</a:t>
            </a:r>
            <a:endParaRPr b="0" lang="es-ES" sz="2000" spc="-1" strike="noStrike">
              <a:latin typeface="Arial"/>
            </a:endParaRPr>
          </a:p>
          <a:p>
            <a:pPr marL="216000" indent="-215640">
              <a:lnSpc>
                <a:spcPct val="100000"/>
              </a:lnSpc>
              <a:tabLst>
                <a:tab algn="l" pos="0"/>
              </a:tabLst>
            </a:pPr>
            <a:r>
              <a:rPr b="0" lang="en-US" sz="2000" spc="-1" strike="noStrike">
                <a:latin typeface="Arial"/>
              </a:rPr>
              <a:t>- Un desarrollador quiere borrar una columna de dbo.Pedido y recibe un error de dependencia. ¿Qué lo causa y cómo lo localizaríais?</a:t>
            </a:r>
            <a:endParaRPr b="0" lang="es-ES" sz="2000" spc="-1" strike="noStrike">
              <a:latin typeface="Arial"/>
            </a:endParaRPr>
          </a:p>
        </p:txBody>
      </p:sp>
      <p:sp>
        <p:nvSpPr>
          <p:cNvPr id="209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69D047C-C837-4371-B11C-87183832B40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8" name="PlaceHolder 1"/>
          <p:cNvSpPr>
            <a:spLocks noGrp="1"/>
          </p:cNvSpPr>
          <p:nvPr>
            <p:ph type="sldImg"/>
          </p:nvPr>
        </p:nvSpPr>
        <p:spPr>
          <a:xfrm>
            <a:off x="685800" y="1143000"/>
            <a:ext cx="5485680" cy="3085560"/>
          </a:xfrm>
          <a:prstGeom prst="rect">
            <a:avLst/>
          </a:prstGeom>
        </p:spPr>
      </p:sp>
      <p:sp>
        <p:nvSpPr>
          <p:cNvPr id="209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aporta un procedimiento almacenado (rendimiento, encapsulación y seguridad) y escribir uno con las buenas prácticas básicas.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procedimiento almacenado (stored procedure, SP) es código T-SQL con nombre guardado en la BD. Se compila en la primera ejecución y el plan queda en el Plan Cache para reutilizarse.</a:t>
            </a:r>
            <a:endParaRPr b="0" lang="es-ES" sz="2000" spc="-1" strike="noStrike">
              <a:latin typeface="Arial"/>
            </a:endParaRPr>
          </a:p>
          <a:p>
            <a:pPr marL="216000" indent="-216000">
              <a:lnSpc>
                <a:spcPct val="100000"/>
              </a:lnSpc>
            </a:pPr>
            <a:r>
              <a:rPr b="0" lang="en-US" sz="2000" spc="-1" strike="noStrike">
                <a:latin typeface="Arial"/>
              </a:rPr>
              <a:t>- Parámetros tipados: evitan la concatenación de cadenas y, con ella, la inyección SQL. Un parámetro con DEFAULT lo hace opcional.</a:t>
            </a:r>
            <a:endParaRPr b="0" lang="es-ES" sz="2000" spc="-1" strike="noStrike">
              <a:latin typeface="Arial"/>
            </a:endParaRPr>
          </a:p>
          <a:p>
            <a:pPr marL="216000" indent="-216000">
              <a:lnSpc>
                <a:spcPct val="100000"/>
              </a:lnSpc>
            </a:pPr>
            <a:r>
              <a:rPr b="0" lang="en-US" sz="2000" spc="-1" strike="noStrike">
                <a:latin typeface="Arial"/>
              </a:rPr>
              <a:t>- SET NOCOUNT ON suprime los mensajes «n filas afectadas»: reduce tráfico de red y evita que algunos drivers interpreten esos mensajes como resultados.</a:t>
            </a:r>
            <a:endParaRPr b="0" lang="es-ES" sz="2000" spc="-1" strike="noStrike">
              <a:latin typeface="Arial"/>
            </a:endParaRPr>
          </a:p>
          <a:p>
            <a:pPr marL="216000" indent="-216000">
              <a:lnSpc>
                <a:spcPct val="100000"/>
              </a:lnSpc>
            </a:pPr>
            <a:r>
              <a:rPr b="0" lang="en-US" sz="2000" spc="-1" strike="noStrike">
                <a:latin typeface="Arial"/>
              </a:rPr>
              <a:t>- CREATE OR ALTER (desde SQL Server 2016 SP1) conserva permisos y metadatos al modificar, a diferencia de DROP + CREATE que obliga a reasignar GRANTs.</a:t>
            </a:r>
            <a:endParaRPr b="0" lang="es-ES" sz="2000" spc="-1" strike="noStrike">
              <a:latin typeface="Arial"/>
            </a:endParaRPr>
          </a:p>
          <a:p>
            <a:pPr marL="216000" indent="-216000">
              <a:lnSpc>
                <a:spcPct val="100000"/>
              </a:lnSpc>
            </a:pPr>
            <a:r>
              <a:rPr b="0" lang="en-US" sz="2000" spc="-1" strike="noStrike">
                <a:latin typeface="Arial"/>
              </a:rPr>
              <a:t>- Seguridad: se puede dar EXECUTE sobre el procedimiento sin dar permisos sobre las tablas gracias al ownership chaining (se verá en la parte de seguridad). Es la «API» de la BD.</a:t>
            </a:r>
            <a:endParaRPr b="0" lang="es-ES" sz="2000" spc="-1" strike="noStrike">
              <a:latin typeface="Arial"/>
            </a:endParaRPr>
          </a:p>
          <a:p>
            <a:pPr marL="216000" indent="-216000">
              <a:lnSpc>
                <a:spcPct val="100000"/>
              </a:lnSpc>
            </a:pPr>
            <a:r>
              <a:rPr b="0" lang="en-US" sz="2000" spc="-1" strike="noStrike">
                <a:latin typeface="Arial"/>
              </a:rPr>
              <a:t>- Gestión de errores y transacciones: TRY...CATCH, THROW y SET XACT_ABORT ON para que cualquier error aborte y revierta la transacción abierta.</a:t>
            </a:r>
            <a:endParaRPr b="0" lang="es-ES" sz="2000" spc="-1" strike="noStrike">
              <a:latin typeface="Arial"/>
            </a:endParaRPr>
          </a:p>
          <a:p>
            <a:pPr marL="216000" indent="-216000">
              <a:lnSpc>
                <a:spcPct val="100000"/>
              </a:lnSpc>
            </a:pPr>
            <a:r>
              <a:rPr b="0" lang="en-US" sz="2000" spc="-1" strike="noStrike">
                <a:latin typeface="Arial"/>
              </a:rPr>
              <a:t>- Metadatos útiles: sys.procedures, sys.sql_modules (definición), sys.dm_exec_procedure_stats (veces ejecutado, tiempo, lecturas lógicas por procedimiento).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tiene dar EXECUTE sobre un procedimiento frente a dar SELECT/INSERT sobre las tablas?</a:t>
            </a:r>
            <a:endParaRPr b="0" lang="es-ES" sz="2000" spc="-1" strike="noStrike">
              <a:latin typeface="Arial"/>
            </a:endParaRPr>
          </a:p>
          <a:p>
            <a:pPr marL="216000" indent="-215640">
              <a:lnSpc>
                <a:spcPct val="100000"/>
              </a:lnSpc>
              <a:tabLst>
                <a:tab algn="l" pos="0"/>
              </a:tabLst>
            </a:pPr>
            <a:r>
              <a:rPr b="0" lang="en-US" sz="2000" spc="-1" strike="noStrike">
                <a:latin typeface="Arial"/>
              </a:rPr>
              <a:t>- ¿En qué se diferencia un procedimiento almacenado de una consulta enviada como cadena desde la aplicación (ad hoc)?</a:t>
            </a:r>
            <a:endParaRPr b="0" lang="es-ES" sz="2000" spc="-1" strike="noStrike">
              <a:latin typeface="Arial"/>
            </a:endParaRPr>
          </a:p>
        </p:txBody>
      </p:sp>
      <p:sp>
        <p:nvSpPr>
          <p:cNvPr id="210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4DB7CAA-50FC-41FF-9F6E-3A3370E348E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1" name="PlaceHolder 1"/>
          <p:cNvSpPr>
            <a:spLocks noGrp="1"/>
          </p:cNvSpPr>
          <p:nvPr>
            <p:ph type="sldImg"/>
          </p:nvPr>
        </p:nvSpPr>
        <p:spPr>
          <a:xfrm>
            <a:off x="685800" y="1143000"/>
            <a:ext cx="5485680" cy="3085560"/>
          </a:xfrm>
          <a:prstGeom prst="rect">
            <a:avLst/>
          </a:prstGeom>
        </p:spPr>
      </p:sp>
      <p:sp>
        <p:nvSpPr>
          <p:cNvPr id="210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el ciclo compilar → cachear → reutilizar → recompilar y reconocer un problema de parameter sniffing con sus mitigaciones.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Compilar es caro (CPU): parse, binding (algebrizer), optimización basada en costes con estadísticas. El plan resultante se guarda en el Plan Cache, parte del Buffer Pool, y se localiza por un hash del texto de la consulta más atributos (SET options, esquema por defecto).</a:t>
            </a:r>
            <a:endParaRPr b="0" lang="es-ES" sz="2000" spc="-1" strike="noStrike">
              <a:latin typeface="Arial"/>
            </a:endParaRPr>
          </a:p>
          <a:p>
            <a:pPr marL="216000" indent="-216000">
              <a:lnSpc>
                <a:spcPct val="100000"/>
              </a:lnSpc>
            </a:pPr>
            <a:r>
              <a:rPr b="0" lang="en-US" sz="2000" spc="-1" strike="noStrike">
                <a:latin typeface="Arial"/>
              </a:rPr>
              <a:t>- Reutilizar evita volver a compilar: es la gran ventaja de procedimientos y consultas parametrizadas. Las consultas ad hoc con literales distintos generan un plan cada una (cache bloat); mitigación: parametrizar, «optimize for ad hoc workloads» o PARAMETERIZATION FORCED.</a:t>
            </a:r>
            <a:endParaRPr b="0" lang="es-ES" sz="2000" spc="-1" strike="noStrike">
              <a:latin typeface="Arial"/>
            </a:endParaRPr>
          </a:p>
          <a:p>
            <a:pPr marL="216000" indent="-216000">
              <a:lnSpc>
                <a:spcPct val="100000"/>
              </a:lnSpc>
            </a:pPr>
            <a:r>
              <a:rPr b="0" lang="en-US" sz="2000" spc="-1" strike="noStrike">
                <a:latin typeface="Arial"/>
              </a:rPr>
              <a:t>-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a:t>
            </a:r>
            <a:endParaRPr b="0" lang="es-ES" sz="2000" spc="-1" strike="noStrike">
              <a:latin typeface="Arial"/>
            </a:endParaRPr>
          </a:p>
          <a:p>
            <a:pPr marL="216000" indent="-216000">
              <a:lnSpc>
                <a:spcPct val="100000"/>
              </a:lnSpc>
            </a:pPr>
            <a:r>
              <a:rPr b="0" lang="en-US" sz="2000" spc="-1" strike="noStrike">
                <a:latin typeface="Arial"/>
              </a:rPr>
              <a:t>-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a:t>
            </a:r>
            <a:endParaRPr b="0" lang="es-ES" sz="2000" spc="-1" strike="noStrike">
              <a:latin typeface="Arial"/>
            </a:endParaRPr>
          </a:p>
          <a:p>
            <a:pPr marL="216000" indent="-216000">
              <a:lnSpc>
                <a:spcPct val="100000"/>
              </a:lnSpc>
            </a:pPr>
            <a:r>
              <a:rPr b="0" lang="en-US" sz="2000" spc="-1" strike="noStrike">
                <a:latin typeface="Arial"/>
              </a:rPr>
              <a:t>- Recompilación: el plan se invalida por cambios de esquema, actualización de estadísticas (umbral dinámico en compat. 130+), cambios de SET options, sp_recompile o ALTER del objeto. Desde 2005 la recompilación es a nivel de sentencia, no de todo el procedimiento.</a:t>
            </a:r>
            <a:endParaRPr b="0" lang="es-ES" sz="2000" spc="-1" strike="noStrike">
              <a:latin typeface="Arial"/>
            </a:endParaRPr>
          </a:p>
          <a:p>
            <a:pPr marL="216000" indent="-216000">
              <a:lnSpc>
                <a:spcPct val="100000"/>
              </a:lnSpc>
            </a:pPr>
            <a:r>
              <a:rPr b="0" lang="en-US" sz="2000" spc="-1" strike="noStrike">
                <a:latin typeface="Arial"/>
              </a:rPr>
              <a:t>- DMVs: sys.dm_exec_cached_plans (usecounts, size_in_bytes), sys.dm_exec_query_stats, sys.dm_exec_sql_text(plan_handle) y sys.dm_exec_query_plan(plan_handle). Contadores: «SQL Re-Compilations/sec» y «Batch Requests/sec».</a:t>
            </a:r>
            <a:endParaRPr b="0" lang="es-ES" sz="2000" spc="-1" strike="noStrike">
              <a:latin typeface="Arial"/>
            </a:endParaRPr>
          </a:p>
          <a:p>
            <a:pPr marL="216000" indent="-216000">
              <a:lnSpc>
                <a:spcPct val="100000"/>
              </a:lnSpc>
            </a:pPr>
            <a:r>
              <a:rPr b="0" lang="en-US" sz="2000" spc="-1" strike="noStrike">
                <a:latin typeface="Arial"/>
              </a:rPr>
              <a:t>- DBCC FREEPROCCACHE vacía la caché: sólo en entornos de prueba o con un plan_handle concreto; en producción provoca una tormenta de compilaciones.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procedimiento va en 20 ms para unos clientes y en 40 s para otros. ¿Qué hipótesis plantearíais y qué mirarías primero en el plan?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vaciar el Plan Cache «para arreglarlo» sólo oculta el problema durante un tiempo?</a:t>
            </a:r>
            <a:endParaRPr b="0" lang="es-ES" sz="2000" spc="-1" strike="noStrike">
              <a:latin typeface="Arial"/>
            </a:endParaRPr>
          </a:p>
        </p:txBody>
      </p:sp>
      <p:sp>
        <p:nvSpPr>
          <p:cNvPr id="210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926FDB0-9E8A-491C-8258-4C15C491829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4" name="PlaceHolder 1"/>
          <p:cNvSpPr>
            <a:spLocks noGrp="1"/>
          </p:cNvSpPr>
          <p:nvPr>
            <p:ph type="sldImg"/>
          </p:nvPr>
        </p:nvSpPr>
        <p:spPr>
          <a:xfrm>
            <a:off x="685800" y="1143000"/>
            <a:ext cx="5485680" cy="3085560"/>
          </a:xfrm>
          <a:prstGeom prst="rect">
            <a:avLst/>
          </a:prstGeom>
        </p:spPr>
      </p:sp>
      <p:sp>
        <p:nvSpPr>
          <p:cNvPr id="210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que el orden de escritura de un SELECT no es el orden en que se evalúa, y usarlo para razonar sobre alias, filtros y agregados.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orden lógico (logical query processing) es: FROM/JOIN → WHERE → GROUP BY → HAVING → SELECT (incluidas window functions) → DISTINCT → ORDER BY → TOP/OFFSET. Es un modelo conceptual: el optimizador puede reordenar físicamente mientras el resultado sea equivalente.</a:t>
            </a:r>
            <a:endParaRPr b="0" lang="es-ES" sz="2000" spc="-1" strike="noStrike">
              <a:latin typeface="Arial"/>
            </a:endParaRPr>
          </a:p>
          <a:p>
            <a:pPr marL="216000" indent="-216000">
              <a:lnSpc>
                <a:spcPct val="100000"/>
              </a:lnSpc>
            </a:pPr>
            <a:r>
              <a:rPr b="0" lang="en-US" sz="2000" spc="-1" strike="noStrike">
                <a:latin typeface="Arial"/>
              </a:rPr>
              <a:t>- Consecuencia 1: WHERE no puede usar alias definidos en SELECT (todavía no existen), pero ORDER BY sí. Consecuencia 2: WHERE filtra filas antes de agrupar; HAVING filtra grupos después de agregar.</a:t>
            </a:r>
            <a:endParaRPr b="0" lang="es-ES" sz="2000" spc="-1" strike="noStrike">
              <a:latin typeface="Arial"/>
            </a:endParaRPr>
          </a:p>
          <a:p>
            <a:pPr marL="216000" indent="-216000">
              <a:lnSpc>
                <a:spcPct val="100000"/>
              </a:lnSpc>
            </a:pPr>
            <a:r>
              <a:rPr b="0" lang="en-US" sz="2000" spc="-1" strike="noStrike">
                <a:latin typeface="Arial"/>
              </a:rPr>
              <a:t>- Consecuencia 3: las window functions se evalúan en la fase SELECT, por eso no pueden aparecer en WHERE ni en GROUP BY; para filtrarlas hay que envolverlas en una CTE o subconsulta.</a:t>
            </a:r>
            <a:endParaRPr b="0" lang="es-ES" sz="2000" spc="-1" strike="noStrike">
              <a:latin typeface="Arial"/>
            </a:endParaRPr>
          </a:p>
          <a:p>
            <a:pPr marL="216000" indent="-216000">
              <a:lnSpc>
                <a:spcPct val="100000"/>
              </a:lnSpc>
            </a:pPr>
            <a:r>
              <a:rPr b="0" lang="en-US" sz="2000" spc="-1" strike="noStrike">
                <a:latin typeface="Arial"/>
              </a:rPr>
              <a:t>- Rendimiento: filtrar pronto reduce filas. Predicados SARGable (Search ARGument ABLE) como Fecha &gt;= '20240101' permiten Index Seek; envolver la columna en una función (YEAR(Fecha) = 2024) obliga a escanear.</a:t>
            </a:r>
            <a:endParaRPr b="0" lang="es-ES" sz="2000" spc="-1" strike="noStrike">
              <a:latin typeface="Arial"/>
            </a:endParaRPr>
          </a:p>
          <a:p>
            <a:pPr marL="216000" indent="-216000">
              <a:lnSpc>
                <a:spcPct val="100000"/>
              </a:lnSpc>
            </a:pPr>
            <a:r>
              <a:rPr b="0" lang="en-US" sz="2000" spc="-1" strike="noStrike">
                <a:latin typeface="Arial"/>
              </a:rPr>
              <a:t>- Evitar SELECT *: aumenta lecturas, rompe vistas y procedimientos al cambiar el esquema e impide usar índices cubrientes (covering).</a:t>
            </a:r>
            <a:endParaRPr b="0" lang="es-ES" sz="2000" spc="-1" strike="noStrike">
              <a:latin typeface="Arial"/>
            </a:endParaRPr>
          </a:p>
          <a:p>
            <a:pPr marL="216000" indent="-216000">
              <a:lnSpc>
                <a:spcPct val="100000"/>
              </a:lnSpc>
            </a:pPr>
            <a:r>
              <a:rPr b="0" lang="en-US" sz="2000" spc="-1" strike="noStrike">
                <a:latin typeface="Arial"/>
              </a:rPr>
              <a:t>- El ejemplo agrupa por cliente y año. Pedir a los alumnos que predigan el número de columnas del resultado y qué ocurre si se mueve SUM(p.Total) &gt; 1000 del HAVING al WHERE (error: función de agregado no válida en WHERE).</a:t>
            </a:r>
            <a:endParaRPr b="0" lang="es-ES" sz="2000" spc="-1" strike="noStrike">
              <a:latin typeface="Arial"/>
            </a:endParaRPr>
          </a:p>
          <a:p>
            <a:pPr marL="216000" indent="-216000">
              <a:lnSpc>
                <a:spcPct val="100000"/>
              </a:lnSpc>
            </a:pPr>
            <a:r>
              <a:rPr b="0" lang="en-US" sz="2000" spc="-1" strike="noStrike">
                <a:latin typeface="Arial"/>
              </a:rPr>
              <a:t>- Mostrar el plan (Ctrl+M) para ver cómo el Stream Aggregate o Hash Match Aggregate aparece antes del Sort.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puedo escribir ORDER BY Ventas DESC usando el alias, pero no WHERE Ventas &gt; 1000?</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práctica hay entre filtrar en WHERE y en HAVING cuando la condición no usa agregados?</a:t>
            </a:r>
            <a:endParaRPr b="0" lang="es-ES" sz="2000" spc="-1" strike="noStrike">
              <a:latin typeface="Arial"/>
            </a:endParaRPr>
          </a:p>
        </p:txBody>
      </p:sp>
      <p:sp>
        <p:nvSpPr>
          <p:cNvPr id="210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B5262C1-C277-4AAA-9AF7-0DE49B68B31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7" name="PlaceHolder 1"/>
          <p:cNvSpPr>
            <a:spLocks noGrp="1"/>
          </p:cNvSpPr>
          <p:nvPr>
            <p:ph type="sldImg"/>
          </p:nvPr>
        </p:nvSpPr>
        <p:spPr>
          <a:xfrm>
            <a:off x="685800" y="1143000"/>
            <a:ext cx="5485680" cy="3085560"/>
          </a:xfrm>
          <a:prstGeom prst="rect">
            <a:avLst/>
          </a:prstGeom>
        </p:spPr>
      </p:sp>
      <p:sp>
        <p:nvSpPr>
          <p:cNvPr id="210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el tipo de JOIN lógico adecuado y evitar la trampa clásica de filtrar la tabla externa en el WHERE.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INNER JOIN devuelve sólo filas con coincidencia. LEFT JOIN conserva todas las filas de la izquierda y rellena con NULL; es la base del anti-join (clientes sin pedidos con WHERE p.PedidoId IS NULL).</a:t>
            </a:r>
            <a:endParaRPr b="0" lang="es-ES" sz="2000" spc="-1" strike="noStrike">
              <a:latin typeface="Arial"/>
            </a:endParaRPr>
          </a:p>
          <a:p>
            <a:pPr marL="216000" indent="-216000">
              <a:lnSpc>
                <a:spcPct val="100000"/>
              </a:lnSpc>
            </a:pPr>
            <a:r>
              <a:rPr b="0" lang="en-US" sz="2000" spc="-1" strike="noStrike">
                <a:latin typeface="Arial"/>
              </a:rPr>
              <a:t>- RIGHT JOIN es equivalente a un LEFT con las tablas invertidas; se evita por legibilidad. FULL JOIN se usa en conciliaciones entre dos fuentes. CROSS JOIN genera el producto cartesiano (n × m filas): útil para calendarios y combinaciones, peligroso si es accidental.</a:t>
            </a:r>
            <a:endParaRPr b="0" lang="es-ES" sz="2000" spc="-1" strike="noStrike">
              <a:latin typeface="Arial"/>
            </a:endParaRPr>
          </a:p>
          <a:p>
            <a:pPr marL="216000" indent="-216000">
              <a:lnSpc>
                <a:spcPct val="100000"/>
              </a:lnSpc>
            </a:pPr>
            <a:r>
              <a:rPr b="0" lang="en-US" sz="2000" spc="-1" strike="noStrike">
                <a:latin typeface="Arial"/>
              </a:rPr>
              <a:t>- Trampa principal: un predicado sobre la tabla derecha en el WHERE (p.Fecha &gt;= ...) descarta las filas con NULL y convierte el LEFT JOIN en INNER JOIN. Si se quiere conservar los clientes sin pedidos en el rango, el filtro va en la cláusula ON.</a:t>
            </a:r>
            <a:endParaRPr b="0" lang="es-ES" sz="2000" spc="-1" strike="noStrike">
              <a:latin typeface="Arial"/>
            </a:endParaRPr>
          </a:p>
          <a:p>
            <a:pPr marL="216000" indent="-216000">
              <a:lnSpc>
                <a:spcPct val="100000"/>
              </a:lnSpc>
            </a:pPr>
            <a:r>
              <a:rPr b="0" lang="en-US" sz="2000" spc="-1" strike="noStrike">
                <a:latin typeface="Arial"/>
              </a:rPr>
              <a:t>- Trampa 2: duplicación de filas por relaciones 1:N. Sumar un importe del lado «uno» después de un JOIN a «varios» multiplica el total; agregar antes del JOIN o usar APPLY.</a:t>
            </a:r>
            <a:endParaRPr b="0" lang="es-ES" sz="2000" spc="-1" strike="noStrike">
              <a:latin typeface="Arial"/>
            </a:endParaRPr>
          </a:p>
          <a:p>
            <a:pPr marL="216000" indent="-216000">
              <a:lnSpc>
                <a:spcPct val="100000"/>
              </a:lnSpc>
            </a:pPr>
            <a:r>
              <a:rPr b="0" lang="en-US" sz="2000" spc="-1" strike="noStrike">
                <a:latin typeface="Arial"/>
              </a:rPr>
              <a:t>- Trampa 3: JOIN con columnas de tipos distintos (varchar vs nvarchar, int vs varchar) → conversión implícita y scans. Las claves de join deben tener el mismo tipo y collation.</a:t>
            </a:r>
            <a:endParaRPr b="0" lang="es-ES" sz="2000" spc="-1" strike="noStrike">
              <a:latin typeface="Arial"/>
            </a:endParaRPr>
          </a:p>
          <a:p>
            <a:pPr marL="216000" indent="-216000">
              <a:lnSpc>
                <a:spcPct val="100000"/>
              </a:lnSpc>
            </a:pPr>
            <a:r>
              <a:rPr b="0" lang="en-US" sz="2000" spc="-1" strike="noStrike">
                <a:latin typeface="Arial"/>
              </a:rPr>
              <a:t>- Alternativas semánticas: EXISTS / NOT EXISTS para semi y anti-joins (no multiplican filas); NOT IN falla silenciosamente si la subconsulta devuelve algún NULL.</a:t>
            </a:r>
            <a:endParaRPr b="0" lang="es-ES" sz="2000" spc="-1" strike="noStrike">
              <a:latin typeface="Arial"/>
            </a:endParaRPr>
          </a:p>
          <a:p>
            <a:pPr marL="216000" indent="-216000">
              <a:lnSpc>
                <a:spcPct val="100000"/>
              </a:lnSpc>
            </a:pPr>
            <a:r>
              <a:rPr b="0" lang="en-US" sz="2000" spc="-1" strike="noStrike">
                <a:latin typeface="Arial"/>
              </a:rPr>
              <a:t>- Pedir que ejecuten ambas consultas de la derecha y comparen el número de filas devuelto.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filas devuelve un CROSS JOIN entre 1 000 clientes y 365 días? ¿Y entre dos tablas de 1 millón?</a:t>
            </a:r>
            <a:endParaRPr b="0" lang="es-ES" sz="2000" spc="-1" strike="noStrike">
              <a:latin typeface="Arial"/>
            </a:endParaRPr>
          </a:p>
          <a:p>
            <a:pPr marL="216000" indent="-215640">
              <a:lnSpc>
                <a:spcPct val="100000"/>
              </a:lnSpc>
              <a:tabLst>
                <a:tab algn="l" pos="0"/>
              </a:tabLst>
            </a:pPr>
            <a:r>
              <a:rPr b="0" lang="en-US" sz="2000" spc="-1" strike="noStrike">
                <a:latin typeface="Arial"/>
              </a:rPr>
              <a:t>- Si queréis clientes sin pedidos en 2024 (aunque tengan en otros años), ¿dónde pondríais el filtro de fecha y por qué?</a:t>
            </a:r>
            <a:endParaRPr b="0" lang="es-ES" sz="2000" spc="-1" strike="noStrike">
              <a:latin typeface="Arial"/>
            </a:endParaRPr>
          </a:p>
        </p:txBody>
      </p:sp>
      <p:sp>
        <p:nvSpPr>
          <p:cNvPr id="210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13D2A54-4B65-4420-8EBE-8DE60057F40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0" name="PlaceHolder 1"/>
          <p:cNvSpPr>
            <a:spLocks noGrp="1"/>
          </p:cNvSpPr>
          <p:nvPr>
            <p:ph type="sldImg"/>
          </p:nvPr>
        </p:nvSpPr>
        <p:spPr>
          <a:xfrm>
            <a:off x="685800" y="1143000"/>
            <a:ext cx="5485680" cy="3085560"/>
          </a:xfrm>
          <a:prstGeom prst="rect">
            <a:avLst/>
          </a:prstGeom>
        </p:spPr>
      </p:sp>
      <p:sp>
        <p:nvSpPr>
          <p:cNvPr id="211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en un plan de ejecución los tres operadores físicos de join, saber cuándo es adecuado cada uno y qué señales indican una mala elección.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JOIN lógico se implementa con un operador físico que el optimizador elige por coste, según cardinalidad estimada, índices y orden disponible.</a:t>
            </a:r>
            <a:endParaRPr b="0" lang="es-ES" sz="2000" spc="-1" strike="noStrike">
              <a:latin typeface="Arial"/>
            </a:endParaRPr>
          </a:p>
          <a:p>
            <a:pPr marL="216000" indent="-216000">
              <a:lnSpc>
                <a:spcPct val="100000"/>
              </a:lnSpc>
            </a:pPr>
            <a:r>
              <a:rPr b="0" lang="en-US" sz="2000" spc="-1" strike="noStrike">
                <a:latin typeface="Arial"/>
              </a:rPr>
              <a:t>- Nested Loops: por cada fila de la entrada externa (outer) busca coincidencias en la interna (inner). Brilla cuando la externa es pequeña y la interna tiene un índice para Index Seek. Coste ≈ filas externas × coste del seek. Es el típico de consultas OLTP.</a:t>
            </a:r>
            <a:endParaRPr b="0" lang="es-ES" sz="2000" spc="-1" strike="noStrike">
              <a:latin typeface="Arial"/>
            </a:endParaRPr>
          </a:p>
          <a:p>
            <a:pPr marL="216000" indent="-216000">
              <a:lnSpc>
                <a:spcPct val="100000"/>
              </a:lnSpc>
            </a:pPr>
            <a:r>
              <a:rPr b="0" lang="en-US" sz="2000" spc="-1" strike="noStrike">
                <a:latin typeface="Arial"/>
              </a:rPr>
              <a:t>- Merge Join: recorre en paralelo dos entradas ordenadas por la clave de join, una sola pasada. Requiere condición de igualdad y orden (de un índice o de un operador Sort, caro). Muy eficiente con volúmenes grandes ya ordenados.</a:t>
            </a:r>
            <a:endParaRPr b="0" lang="es-ES" sz="2000" spc="-1" strike="noStrike">
              <a:latin typeface="Arial"/>
            </a:endParaRPr>
          </a:p>
          <a:p>
            <a:pPr marL="216000" indent="-216000">
              <a:lnSpc>
                <a:spcPct val="100000"/>
              </a:lnSpc>
            </a:pPr>
            <a:r>
              <a:rPr b="0" lang="en-US" sz="2000" spc="-1" strike="noStrike">
                <a:latin typeface="Arial"/>
              </a:rPr>
              <a:t>- Hash Match: construye una tabla hash en memoria con la entrada más pequeña (build) y «sondea» con la grande (probe). No necesita índices ni orden; es el caballo de batalla de cargas analíticas. Consume memory grant: si se subestima, se derrama a tempdb (Hash Spill, aviso en el plan).</a:t>
            </a:r>
            <a:endParaRPr b="0" lang="es-ES" sz="2000" spc="-1" strike="noStrike">
              <a:latin typeface="Arial"/>
            </a:endParaRPr>
          </a:p>
          <a:p>
            <a:pPr marL="216000" indent="-216000">
              <a:lnSpc>
                <a:spcPct val="100000"/>
              </a:lnSpc>
            </a:pPr>
            <a:r>
              <a:rPr b="0" lang="en-US" sz="2000" spc="-1" strike="noStrike">
                <a:latin typeface="Arial"/>
              </a:rPr>
              <a:t>- Señales de problema: Nested Loops con millones de iteraciones (estimación de filas muy baja), warnings de spill en Hash/Sort, diferencias grandes entre Estimated y Actual Rows (estadísticas obsoletas o parameter sniffing).</a:t>
            </a:r>
            <a:endParaRPr b="0" lang="es-ES" sz="2000" spc="-1" strike="noStrike">
              <a:latin typeface="Arial"/>
            </a:endParaRPr>
          </a:p>
          <a:p>
            <a:pPr marL="216000" indent="-216000">
              <a:lnSpc>
                <a:spcPct val="100000"/>
              </a:lnSpc>
            </a:pPr>
            <a:r>
              <a:rPr b="0" lang="en-US" sz="2000" spc="-1" strike="noStrike">
                <a:latin typeface="Arial"/>
              </a:rPr>
              <a:t>- Pistas de join (OPTION (HASH JOIN), LOOP JOIN, MERGE JOIN) existen pero se usan sólo como último recurso diagnóstico: fijan el algoritmo y ocultan el problema de fondo.</a:t>
            </a:r>
            <a:endParaRPr b="0" lang="es-ES" sz="2000" spc="-1" strike="noStrike">
              <a:latin typeface="Arial"/>
            </a:endParaRPr>
          </a:p>
          <a:p>
            <a:pPr marL="216000" indent="-216000">
              <a:lnSpc>
                <a:spcPct val="100000"/>
              </a:lnSpc>
            </a:pPr>
            <a:r>
              <a:rPr b="0" lang="en-US" sz="2000" spc="-1" strike="noStrike">
                <a:latin typeface="Arial"/>
              </a:rPr>
              <a:t>- Novedades: Adaptive Joins (2017+, batch mode) deciden entre Hash y Nested Loops en tiempo de ejecución; en 2019+ el batch mode también funciona sobre tablas rowstore. DMVs: sys.dm_exec_query_memory_grants y sys.dm_exec_query_stats.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Hash Match suele aparecer en consultas analíticas y un Nested Loops en consultas OLTP?</a:t>
            </a:r>
            <a:endParaRPr b="0" lang="es-ES" sz="2000" spc="-1" strike="noStrike">
              <a:latin typeface="Arial"/>
            </a:endParaRPr>
          </a:p>
          <a:p>
            <a:pPr marL="216000" indent="-215640">
              <a:lnSpc>
                <a:spcPct val="100000"/>
              </a:lnSpc>
              <a:tabLst>
                <a:tab algn="l" pos="0"/>
              </a:tabLst>
            </a:pPr>
            <a:r>
              <a:rPr b="0" lang="en-US" sz="2000" spc="-1" strike="noStrike">
                <a:latin typeface="Arial"/>
              </a:rPr>
              <a:t>- Si veis un Nested Loops con 5 millones de ejecuciones en la entrada interna, ¿qué sospecharíais sobre las estimaciones?</a:t>
            </a:r>
            <a:endParaRPr b="0" lang="es-ES" sz="2000" spc="-1" strike="noStrike">
              <a:latin typeface="Arial"/>
            </a:endParaRPr>
          </a:p>
        </p:txBody>
      </p:sp>
      <p:sp>
        <p:nvSpPr>
          <p:cNvPr id="211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8617FCE-53AF-4698-8A74-61DD5A10398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3" name="PlaceHolder 1"/>
          <p:cNvSpPr>
            <a:spLocks noGrp="1"/>
          </p:cNvSpPr>
          <p:nvPr>
            <p:ph type="sldImg"/>
          </p:nvPr>
        </p:nvSpPr>
        <p:spPr>
          <a:xfrm>
            <a:off x="685800" y="1143000"/>
            <a:ext cx="5485680" cy="3085560"/>
          </a:xfrm>
          <a:prstGeom prst="rect">
            <a:avLst/>
          </a:prstGeom>
        </p:spPr>
      </p:sp>
      <p:sp>
        <p:nvSpPr>
          <p:cNvPr id="211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subconsultas escalares y correlacionadas, EXISTS y CTE de forma legible sin penalizar el rendimiento.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Subconsulta escalar: devuelve un único valor y se usa como expresión (Total &gt; (SELECT AVG(Total) ...)). Si devolviera más de una fila, error 512. No correlacionada: se evalúa una vez.</a:t>
            </a:r>
            <a:endParaRPr b="0" lang="es-ES" sz="2000" spc="-1" strike="noStrike">
              <a:latin typeface="Arial"/>
            </a:endParaRPr>
          </a:p>
          <a:p>
            <a:pPr marL="216000" indent="-216000">
              <a:lnSpc>
                <a:spcPct val="100000"/>
              </a:lnSpc>
            </a:pPr>
            <a:r>
              <a:rPr b="0" lang="en-US" sz="2000" spc="-1" strike="noStrike">
                <a:latin typeface="Arial"/>
              </a:rPr>
              <a:t>- Subconsulta correlacionada: referencia columnas de la consulta externa (p.ClienteId = c.ClienteId). Lógicamente se evalúa por cada fila, pero el optimizador la transforma casi siempre en un semi-join (Left Semi Join) con un coste mucho menor.</a:t>
            </a:r>
            <a:endParaRPr b="0" lang="es-ES" sz="2000" spc="-1" strike="noStrike">
              <a:latin typeface="Arial"/>
            </a:endParaRPr>
          </a:p>
          <a:p>
            <a:pPr marL="216000" indent="-216000">
              <a:lnSpc>
                <a:spcPct val="100000"/>
              </a:lnSpc>
            </a:pPr>
            <a:r>
              <a:rPr b="0" lang="en-US" sz="2000" spc="-1" strike="noStrike">
                <a:latin typeface="Arial"/>
              </a:rPr>
              <a:t>- EXISTS se detiene en la primera coincidencia y devuelve verdadero/falso; es ideal para «existe algún pedido». IN sobre una lista es equivalente en la mayoría de los casos, pero NOT IN devuelve cero filas si la subconsulta contiene un NULL: preferir NOT EXISTS.</a:t>
            </a:r>
            <a:endParaRPr b="0" lang="es-ES" sz="2000" spc="-1" strike="noStrike">
              <a:latin typeface="Arial"/>
            </a:endParaRPr>
          </a:p>
          <a:p>
            <a:pPr marL="216000" indent="-216000">
              <a:lnSpc>
                <a:spcPct val="100000"/>
              </a:lnSpc>
            </a:pPr>
            <a:r>
              <a:rPr b="0" lang="en-US" sz="2000" spc="-1" strike="noStrike">
                <a:latin typeface="Arial"/>
              </a:rPr>
              <a:t>-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a:t>
            </a:r>
            <a:endParaRPr b="0" lang="es-ES" sz="2000" spc="-1" strike="noStrike">
              <a:latin typeface="Arial"/>
            </a:endParaRPr>
          </a:p>
          <a:p>
            <a:pPr marL="216000" indent="-216000">
              <a:lnSpc>
                <a:spcPct val="100000"/>
              </a:lnSpc>
            </a:pPr>
            <a:r>
              <a:rPr b="0" lang="en-US" sz="2000" spc="-1" strike="noStrike">
                <a:latin typeface="Arial"/>
              </a:rPr>
              <a:t>- CROSS APPLY / OUTER APPLY: permiten invocar una subconsulta correlacionada o una función con valores de tabla por cada fila (típico: «los 3 últimos pedidos de cada cliente»).</a:t>
            </a:r>
            <a:endParaRPr b="0" lang="es-ES" sz="2000" spc="-1" strike="noStrike">
              <a:latin typeface="Arial"/>
            </a:endParaRPr>
          </a:p>
          <a:p>
            <a:pPr marL="216000" indent="-216000">
              <a:lnSpc>
                <a:spcPct val="100000"/>
              </a:lnSpc>
            </a:pPr>
            <a:r>
              <a:rPr b="0" lang="en-US" sz="2000" spc="-1" strike="noStrike">
                <a:latin typeface="Arial"/>
              </a:rPr>
              <a:t>- Rendimiento: comprobar siempre el plan; una subconsulta en la lista de SELECT correlacionada puede ejecutarse fila a fila (Nested Loops con muchas iteraciones). Reescribir como JOIN agregado suele ser más estable.</a:t>
            </a:r>
            <a:endParaRPr b="0" lang="es-ES" sz="2000" spc="-1" strike="noStrike">
              <a:latin typeface="Arial"/>
            </a:endParaRPr>
          </a:p>
          <a:p>
            <a:pPr marL="216000" indent="-216000">
              <a:lnSpc>
                <a:spcPct val="100000"/>
              </a:lnSpc>
            </a:pPr>
            <a:r>
              <a:rPr b="0" lang="en-US" sz="2000" spc="-1" strike="noStrike">
                <a:latin typeface="Arial"/>
              </a:rPr>
              <a:t>- Ejercicio rápido: reescribir la consulta EXISTS con un JOIN y comparar los planes y el número de lecturas lógicas con SET STATISTICS IO 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devuelve WHERE ClienteId NOT IN (SELECT ClienteId FROM ...) si la subconsulta contiene un NULL? ¿Y con NOT EXISTS?</a:t>
            </a:r>
            <a:endParaRPr b="0" lang="es-ES" sz="2000" spc="-1" strike="noStrike">
              <a:latin typeface="Arial"/>
            </a:endParaRPr>
          </a:p>
          <a:p>
            <a:pPr marL="216000" indent="-215640">
              <a:lnSpc>
                <a:spcPct val="100000"/>
              </a:lnSpc>
              <a:tabLst>
                <a:tab algn="l" pos="0"/>
              </a:tabLst>
            </a:pPr>
            <a:r>
              <a:rPr b="0" lang="en-US" sz="2000" spc="-1" strike="noStrike">
                <a:latin typeface="Arial"/>
              </a:rPr>
              <a:t>- ¿Una CTE guarda el resultado en memoria o en tempdb? ¿Cómo lo comprobaríais en el plan de ejecución?</a:t>
            </a:r>
            <a:endParaRPr b="0" lang="es-ES" sz="2000" spc="-1" strike="noStrike">
              <a:latin typeface="Arial"/>
            </a:endParaRPr>
          </a:p>
        </p:txBody>
      </p:sp>
      <p:sp>
        <p:nvSpPr>
          <p:cNvPr id="211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6E7C294-763D-48D2-A9A9-4815657FE43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6" name="PlaceHolder 1"/>
          <p:cNvSpPr>
            <a:spLocks noGrp="1"/>
          </p:cNvSpPr>
          <p:nvPr>
            <p:ph type="sldImg"/>
          </p:nvPr>
        </p:nvSpPr>
        <p:spPr>
          <a:xfrm>
            <a:off x="685800" y="1143000"/>
            <a:ext cx="5485680" cy="3085560"/>
          </a:xfrm>
          <a:prstGeom prst="rect">
            <a:avLst/>
          </a:prstGeom>
        </p:spPr>
      </p:sp>
      <p:sp>
        <p:nvSpPr>
          <p:cNvPr id="211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Diferenciar GROUP BY (colapsa filas) de las window functions (mantienen el detalle) y aplicar ROW_NUMBER, RANK, SUM OVER y LAG.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Funciones de agregado (COUNT, SUM, AVG, MIN, MAX) con GROUP BY colapsan el conjunto en una fila por grupo. Las window functions calculan sobre una «ventana» de filas relacionadas pero devuelven una fila por cada fila de entrada, conservando el detalle.</a:t>
            </a:r>
            <a:endParaRPr b="0" lang="es-ES" sz="2000" spc="-1" strike="noStrike">
              <a:latin typeface="Arial"/>
            </a:endParaRPr>
          </a:p>
          <a:p>
            <a:pPr marL="216000" indent="-216000">
              <a:lnSpc>
                <a:spcPct val="100000"/>
              </a:lnSpc>
            </a:pPr>
            <a:r>
              <a:rPr b="0" lang="en-US" sz="2000" spc="-1" strike="noStrike">
                <a:latin typeface="Arial"/>
              </a:rPr>
              <a:t>- Sintaxis: función() OVER (PARTITION BY ... ORDER BY ... [ROWS|RANGE ...]). PARTITION BY define los grupos (como un GROUP BY sin colapsar); ORDER BY define el orden dentro de la partición; la cláusula de frame define las filas incluidas.</a:t>
            </a:r>
            <a:endParaRPr b="0" lang="es-ES" sz="2000" spc="-1" strike="noStrike">
              <a:latin typeface="Arial"/>
            </a:endParaRPr>
          </a:p>
          <a:p>
            <a:pPr marL="216000" indent="-216000">
              <a:lnSpc>
                <a:spcPct val="100000"/>
              </a:lnSpc>
            </a:pPr>
            <a:r>
              <a:rPr b="0" lang="en-US" sz="2000" spc="-1" strike="noStrike">
                <a:latin typeface="Arial"/>
              </a:rPr>
              <a:t>- ROW_NUMBER(): numera 1, 2, 3 sin empates (los desempates son no deterministas si el ORDER BY no es único). RANK(): los empates comparten posición y deja huecos (1, 1, 3); DENSE_RANK() no deja huecos.</a:t>
            </a:r>
            <a:endParaRPr b="0" lang="es-ES" sz="2000" spc="-1" strike="noStrike">
              <a:latin typeface="Arial"/>
            </a:endParaRPr>
          </a:p>
          <a:p>
            <a:pPr marL="216000" indent="-216000">
              <a:lnSpc>
                <a:spcPct val="100000"/>
              </a:lnSpc>
            </a:pPr>
            <a:r>
              <a:rPr b="0" lang="en-US" sz="2000" spc="-1" strike="noStrike">
                <a:latin typeface="Arial"/>
              </a:rPr>
              <a:t>-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a:t>
            </a:r>
            <a:endParaRPr b="0" lang="es-ES" sz="2000" spc="-1" strike="noStrike">
              <a:latin typeface="Arial"/>
            </a:endParaRPr>
          </a:p>
          <a:p>
            <a:pPr marL="216000" indent="-216000">
              <a:lnSpc>
                <a:spcPct val="100000"/>
              </a:lnSpc>
            </a:pPr>
            <a:r>
              <a:rPr b="0" lang="en-US" sz="2000" spc="-1" strike="noStrike">
                <a:latin typeface="Arial"/>
              </a:rPr>
              <a:t>- LAG(col, n, default) y LEAD(col, n): acceden a filas anterior/siguiente sin auto-join (disponibles desde SQL Server 2012). Útiles para variaciones periodo a periodo.</a:t>
            </a:r>
            <a:endParaRPr b="0" lang="es-ES" sz="2000" spc="-1" strike="noStrike">
              <a:latin typeface="Arial"/>
            </a:endParaRPr>
          </a:p>
          <a:p>
            <a:pPr marL="216000" indent="-216000">
              <a:lnSpc>
                <a:spcPct val="100000"/>
              </a:lnSpc>
            </a:pPr>
            <a:r>
              <a:rPr b="0" lang="en-US" sz="2000" spc="-1" strike="noStrike">
                <a:latin typeface="Arial"/>
              </a:rPr>
              <a:t>- Las window functions sólo se permiten en SELECT y ORDER BY; para filtrar por rn = 1 («último pedido por cliente») hay que usar CTE/subconsulta. Un índice con PARTITION BY y ORDER BY como claves (en ese orden) evita el operador Sort.</a:t>
            </a:r>
            <a:endParaRPr b="0" lang="es-ES" sz="2000" spc="-1" strike="noStrike">
              <a:latin typeface="Arial"/>
            </a:endParaRPr>
          </a:p>
          <a:p>
            <a:pPr marL="216000" indent="-216000">
              <a:lnSpc>
                <a:spcPct val="100000"/>
              </a:lnSpc>
            </a:pPr>
            <a:r>
              <a:rPr b="0" lang="en-US" sz="2000" spc="-1" strike="noStrike">
                <a:latin typeface="Arial"/>
              </a:rPr>
              <a:t>- En el plan buscar los operadores Segment, Sequence Project y Window Spool (si aparece Window Spool, revisar el frame).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ROW_NUMBER y RANK cuando dos pedidos tienen el mismo importe?</a:t>
            </a:r>
            <a:endParaRPr b="0" lang="es-ES" sz="2000" spc="-1" strike="noStrike">
              <a:latin typeface="Arial"/>
            </a:endParaRPr>
          </a:p>
          <a:p>
            <a:pPr marL="216000" indent="-215640">
              <a:lnSpc>
                <a:spcPct val="100000"/>
              </a:lnSpc>
              <a:tabLst>
                <a:tab algn="l" pos="0"/>
              </a:tabLst>
            </a:pPr>
            <a:r>
              <a:rPr b="0" lang="en-US" sz="2000" spc="-1" strike="noStrike">
                <a:latin typeface="Arial"/>
              </a:rPr>
              <a:t>- ¿Cómo obtendríais el último pedido de cada cliente usando una window function? ¿Y con GROUP BY?</a:t>
            </a:r>
            <a:endParaRPr b="0" lang="es-ES" sz="2000" spc="-1" strike="noStrike">
              <a:latin typeface="Arial"/>
            </a:endParaRPr>
          </a:p>
        </p:txBody>
      </p:sp>
      <p:sp>
        <p:nvSpPr>
          <p:cNvPr id="211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A43A118-7DF2-4303-9348-7FCB57F035A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9" name="PlaceHolder 1"/>
          <p:cNvSpPr>
            <a:spLocks noGrp="1"/>
          </p:cNvSpPr>
          <p:nvPr>
            <p:ph type="sldImg"/>
          </p:nvPr>
        </p:nvSpPr>
        <p:spPr>
          <a:xfrm>
            <a:off x="685800" y="1143000"/>
            <a:ext cx="5485680" cy="3085560"/>
          </a:xfrm>
          <a:prstGeom prst="rect">
            <a:avLst/>
          </a:prstGeom>
        </p:spPr>
      </p:sp>
      <p:sp>
        <p:nvSpPr>
          <p:cNvPr id="212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a:t>
            </a:r>
            <a:r>
              <a:rPr b="0" lang="en-US" sz="2000" spc="-1" strike="noStrike">
                <a:latin typeface="Arial"/>
              </a:rPr>
              <a:t>Pedagógico:</a:t>
            </a:r>
            <a:endParaRPr b="0" lang="es-ES" sz="2000" spc="-1" strike="noStrike">
              <a:latin typeface="Arial"/>
            </a:endParaRPr>
          </a:p>
          <a:p>
            <a:pPr marL="216000" indent="-216000">
              <a:lnSpc>
                <a:spcPct val="100000"/>
              </a:lnSpc>
            </a:pPr>
            <a:r>
              <a:rPr b="0" lang="en-US" sz="2000" spc="-1" strike="noStrike">
                <a:latin typeface="Arial"/>
              </a:rPr>
              <a:t>Comprender el </a:t>
            </a:r>
            <a:r>
              <a:rPr b="0" lang="en-US" sz="2000" spc="-1" strike="noStrike">
                <a:latin typeface="Arial"/>
              </a:rPr>
              <a:t>soporte del </a:t>
            </a:r>
            <a:r>
              <a:rPr b="0" lang="en-US" sz="2000" spc="-1" strike="noStrike">
                <a:latin typeface="Arial"/>
              </a:rPr>
              <a:t>tipo nativo </a:t>
            </a:r>
            <a:r>
              <a:rPr b="0" lang="en-US" sz="2000" spc="-1" strike="noStrike">
                <a:latin typeface="Arial"/>
              </a:rPr>
              <a:t>VECTOR en </a:t>
            </a:r>
            <a:r>
              <a:rPr b="0" lang="en-US" sz="2000" spc="-1" strike="noStrike">
                <a:latin typeface="Arial"/>
              </a:rPr>
              <a:t>SQL Server </a:t>
            </a:r>
            <a:r>
              <a:rPr b="0" lang="en-US" sz="2000" spc="-1" strike="noStrike">
                <a:latin typeface="Arial"/>
              </a:rPr>
              <a:t>2025, el </a:t>
            </a:r>
            <a:r>
              <a:rPr b="0" lang="en-US" sz="2000" spc="-1" strike="noStrike">
                <a:latin typeface="Arial"/>
              </a:rPr>
              <a:t>cálculo de </a:t>
            </a:r>
            <a:r>
              <a:rPr b="0" lang="en-US" sz="2000" spc="-1" strike="noStrike">
                <a:latin typeface="Arial"/>
              </a:rPr>
              <a:t>distancias </a:t>
            </a:r>
            <a:r>
              <a:rPr b="0" lang="en-US" sz="2000" spc="-1" strike="noStrike">
                <a:latin typeface="Arial"/>
              </a:rPr>
              <a:t>semánticas y </a:t>
            </a:r>
            <a:r>
              <a:rPr b="0" lang="en-US" sz="2000" spc="-1" strike="noStrike">
                <a:latin typeface="Arial"/>
              </a:rPr>
              <a:t>la </a:t>
            </a:r>
            <a:r>
              <a:rPr b="0" lang="en-US" sz="2000" spc="-1" strike="noStrike">
                <a:latin typeface="Arial"/>
              </a:rPr>
              <a:t>implementaci</a:t>
            </a:r>
            <a:r>
              <a:rPr b="0" lang="en-US" sz="2000" spc="-1" strike="noStrike">
                <a:latin typeface="Arial"/>
              </a:rPr>
              <a:t>ón de </a:t>
            </a:r>
            <a:r>
              <a:rPr b="0" lang="en-US" sz="2000" spc="-1" strike="noStrike">
                <a:latin typeface="Arial"/>
              </a:rPr>
              <a:t>arquitecturas </a:t>
            </a:r>
            <a:r>
              <a:rPr b="0" lang="en-US" sz="2000" spc="-1" strike="noStrike">
                <a:latin typeface="Arial"/>
              </a:rPr>
              <a:t>RAG dentro </a:t>
            </a:r>
            <a:r>
              <a:rPr b="0" lang="en-US" sz="2000" spc="-1" strike="noStrike">
                <a:latin typeface="Arial"/>
              </a:rPr>
              <a:t>del motor </a:t>
            </a:r>
            <a:r>
              <a:rPr b="0" lang="en-US" sz="2000" spc="-1" strike="noStrike">
                <a:latin typeface="Arial"/>
              </a:rPr>
              <a:t>relacional.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a:t>
            </a:r>
            <a:r>
              <a:rPr b="0" lang="en-US" sz="2000" spc="-1" strike="noStrike">
                <a:latin typeface="Arial"/>
              </a:rPr>
              <a:t>Explicación </a:t>
            </a:r>
            <a:r>
              <a:rPr b="0" lang="en-US" sz="2000" spc="-1" strike="noStrike">
                <a:latin typeface="Arial"/>
              </a:rPr>
              <a:t>Técnica:</a:t>
            </a:r>
            <a:endParaRPr b="0" lang="es-ES" sz="2000" spc="-1" strike="noStrike">
              <a:latin typeface="Arial"/>
            </a:endParaRPr>
          </a:p>
          <a:p>
            <a:pPr marL="216000" indent="-216000">
              <a:lnSpc>
                <a:spcPct val="100000"/>
              </a:lnSpc>
            </a:pPr>
            <a:r>
              <a:rPr b="0" lang="en-US" sz="2000" spc="-1" strike="noStrike">
                <a:latin typeface="Arial"/>
              </a:rPr>
              <a:t>- SQL Server </a:t>
            </a:r>
            <a:r>
              <a:rPr b="0" lang="en-US" sz="2000" spc="-1" strike="noStrike">
                <a:latin typeface="Arial"/>
              </a:rPr>
              <a:t>2025 </a:t>
            </a:r>
            <a:r>
              <a:rPr b="0" lang="en-US" sz="2000" spc="-1" strike="noStrike">
                <a:latin typeface="Arial"/>
              </a:rPr>
              <a:t>incorpora el </a:t>
            </a:r>
            <a:r>
              <a:rPr b="0" lang="en-US" sz="2000" spc="-1" strike="noStrike">
                <a:latin typeface="Arial"/>
              </a:rPr>
              <a:t>tipo de dato </a:t>
            </a:r>
            <a:r>
              <a:rPr b="0" lang="en-US" sz="2000" spc="-1" strike="noStrike">
                <a:latin typeface="Arial"/>
              </a:rPr>
              <a:t>nativo </a:t>
            </a:r>
            <a:r>
              <a:rPr b="0" lang="en-US" sz="2000" spc="-1" strike="noStrike">
                <a:latin typeface="Arial"/>
              </a:rPr>
              <a:t>VECTOR(n), </a:t>
            </a:r>
            <a:r>
              <a:rPr b="0" lang="en-US" sz="2000" spc="-1" strike="noStrike">
                <a:latin typeface="Arial"/>
              </a:rPr>
              <a:t>transformand</a:t>
            </a:r>
            <a:r>
              <a:rPr b="0" lang="en-US" sz="2000" spc="-1" strike="noStrike">
                <a:latin typeface="Arial"/>
              </a:rPr>
              <a:t>o el motor </a:t>
            </a:r>
            <a:r>
              <a:rPr b="0" lang="en-US" sz="2000" spc="-1" strike="noStrike">
                <a:latin typeface="Arial"/>
              </a:rPr>
              <a:t>relacional en </a:t>
            </a:r>
            <a:r>
              <a:rPr b="0" lang="en-US" sz="2000" spc="-1" strike="noStrike">
                <a:latin typeface="Arial"/>
              </a:rPr>
              <a:t>una base de </a:t>
            </a:r>
            <a:r>
              <a:rPr b="0" lang="en-US" sz="2000" spc="-1" strike="noStrike">
                <a:latin typeface="Arial"/>
              </a:rPr>
              <a:t>datos </a:t>
            </a:r>
            <a:r>
              <a:rPr b="0" lang="en-US" sz="2000" spc="-1" strike="noStrike">
                <a:latin typeface="Arial"/>
              </a:rPr>
              <a:t>vectorial de </a:t>
            </a:r>
            <a:r>
              <a:rPr b="0" lang="en-US" sz="2000" spc="-1" strike="noStrike">
                <a:latin typeface="Arial"/>
              </a:rPr>
              <a:t>alto </a:t>
            </a:r>
            <a:r>
              <a:rPr b="0" lang="en-US" sz="2000" spc="-1" strike="noStrike">
                <a:latin typeface="Arial"/>
              </a:rPr>
              <a:t>rendimiento </a:t>
            </a:r>
            <a:r>
              <a:rPr b="0" lang="en-US" sz="2000" spc="-1" strike="noStrike">
                <a:latin typeface="Arial"/>
              </a:rPr>
              <a:t>para </a:t>
            </a:r>
            <a:r>
              <a:rPr b="0" lang="en-US" sz="2000" spc="-1" strike="noStrike">
                <a:latin typeface="Arial"/>
              </a:rPr>
              <a:t>escenarios </a:t>
            </a:r>
            <a:r>
              <a:rPr b="0" lang="en-US" sz="2000" spc="-1" strike="noStrike">
                <a:latin typeface="Arial"/>
              </a:rPr>
              <a:t>de </a:t>
            </a:r>
            <a:r>
              <a:rPr b="0" lang="en-US" sz="2000" spc="-1" strike="noStrike">
                <a:latin typeface="Arial"/>
              </a:rPr>
              <a:t>Inteligencia </a:t>
            </a:r>
            <a:r>
              <a:rPr b="0" lang="en-US" sz="2000" spc="-1" strike="noStrike">
                <a:latin typeface="Arial"/>
              </a:rPr>
              <a:t>Artificial.</a:t>
            </a:r>
            <a:endParaRPr b="0" lang="es-ES" sz="2000" spc="-1" strike="noStrike">
              <a:latin typeface="Arial"/>
            </a:endParaRPr>
          </a:p>
          <a:p>
            <a:pPr marL="216000" indent="-216000">
              <a:lnSpc>
                <a:spcPct val="100000"/>
              </a:lnSpc>
            </a:pPr>
            <a:r>
              <a:rPr b="0" lang="en-US" sz="2000" spc="-1" strike="noStrike">
                <a:latin typeface="Arial"/>
              </a:rPr>
              <a:t>- Ventaja clave </a:t>
            </a:r>
            <a:r>
              <a:rPr b="0" lang="en-US" sz="2000" spc="-1" strike="noStrike">
                <a:latin typeface="Arial"/>
              </a:rPr>
              <a:t>para el DBA: </a:t>
            </a:r>
            <a:r>
              <a:rPr b="0" lang="en-US" sz="2000" spc="-1" strike="noStrike">
                <a:latin typeface="Arial"/>
              </a:rPr>
              <a:t>evita </a:t>
            </a:r>
            <a:r>
              <a:rPr b="0" lang="en-US" sz="2000" spc="-1" strike="noStrike">
                <a:latin typeface="Arial"/>
              </a:rPr>
              <a:t>dispersar los </a:t>
            </a:r>
            <a:r>
              <a:rPr b="0" lang="en-US" sz="2000" spc="-1" strike="noStrike">
                <a:latin typeface="Arial"/>
              </a:rPr>
              <a:t>datos en </a:t>
            </a:r>
            <a:r>
              <a:rPr b="0" lang="en-US" sz="2000" spc="-1" strike="noStrike">
                <a:latin typeface="Arial"/>
              </a:rPr>
              <a:t>motores </a:t>
            </a:r>
            <a:r>
              <a:rPr b="0" lang="en-US" sz="2000" spc="-1" strike="noStrike">
                <a:latin typeface="Arial"/>
              </a:rPr>
              <a:t>vectoriales </a:t>
            </a:r>
            <a:r>
              <a:rPr b="0" lang="en-US" sz="2000" spc="-1" strike="noStrike">
                <a:latin typeface="Arial"/>
              </a:rPr>
              <a:t>externos </a:t>
            </a:r>
            <a:r>
              <a:rPr b="0" lang="en-US" sz="2000" spc="-1" strike="noStrike">
                <a:latin typeface="Arial"/>
              </a:rPr>
              <a:t>(Pinecone, </a:t>
            </a:r>
            <a:r>
              <a:rPr b="0" lang="en-US" sz="2000" spc="-1" strike="noStrike">
                <a:latin typeface="Arial"/>
              </a:rPr>
              <a:t>Chroma, </a:t>
            </a:r>
            <a:r>
              <a:rPr b="0" lang="en-US" sz="2000" spc="-1" strike="noStrike">
                <a:latin typeface="Arial"/>
              </a:rPr>
              <a:t>Milvus). Los </a:t>
            </a:r>
            <a:r>
              <a:rPr b="0" lang="en-US" sz="2000" spc="-1" strike="noStrike">
                <a:latin typeface="Arial"/>
              </a:rPr>
              <a:t>embeddings </a:t>
            </a:r>
            <a:r>
              <a:rPr b="0" lang="en-US" sz="2000" spc="-1" strike="noStrike">
                <a:latin typeface="Arial"/>
              </a:rPr>
              <a:t>residen en la </a:t>
            </a:r>
            <a:r>
              <a:rPr b="0" lang="en-US" sz="2000" spc="-1" strike="noStrike">
                <a:latin typeface="Arial"/>
              </a:rPr>
              <a:t>misma tabla </a:t>
            </a:r>
            <a:r>
              <a:rPr b="0" lang="en-US" sz="2000" spc="-1" strike="noStrike">
                <a:latin typeface="Arial"/>
              </a:rPr>
              <a:t>junto al resto </a:t>
            </a:r>
            <a:r>
              <a:rPr b="0" lang="en-US" sz="2000" spc="-1" strike="noStrike">
                <a:latin typeface="Arial"/>
              </a:rPr>
              <a:t>de columnas </a:t>
            </a:r>
            <a:r>
              <a:rPr b="0" lang="en-US" sz="2000" spc="-1" strike="noStrike">
                <a:latin typeface="Arial"/>
              </a:rPr>
              <a:t>transaccional</a:t>
            </a:r>
            <a:r>
              <a:rPr b="0" lang="en-US" sz="2000" spc="-1" strike="noStrike">
                <a:latin typeface="Arial"/>
              </a:rPr>
              <a:t>es, bajo el </a:t>
            </a:r>
            <a:r>
              <a:rPr b="0" lang="en-US" sz="2000" spc="-1" strike="noStrike">
                <a:latin typeface="Arial"/>
              </a:rPr>
              <a:t>mismo </a:t>
            </a:r>
            <a:r>
              <a:rPr b="0" lang="en-US" sz="2000" spc="-1" strike="noStrike">
                <a:latin typeface="Arial"/>
              </a:rPr>
              <a:t>modelo de </a:t>
            </a:r>
            <a:r>
              <a:rPr b="0" lang="en-US" sz="2000" spc="-1" strike="noStrike">
                <a:latin typeface="Arial"/>
              </a:rPr>
              <a:t>seguridad </a:t>
            </a:r>
            <a:r>
              <a:rPr b="0" lang="en-US" sz="2000" spc="-1" strike="noStrike">
                <a:latin typeface="Arial"/>
              </a:rPr>
              <a:t>(ACID, </a:t>
            </a:r>
            <a:r>
              <a:rPr b="0" lang="en-US" sz="2000" spc="-1" strike="noStrike">
                <a:latin typeface="Arial"/>
              </a:rPr>
              <a:t>permisos, </a:t>
            </a:r>
            <a:r>
              <a:rPr b="0" lang="en-US" sz="2000" spc="-1" strike="noStrike">
                <a:latin typeface="Arial"/>
              </a:rPr>
              <a:t>RLS, Always </a:t>
            </a:r>
            <a:r>
              <a:rPr b="0" lang="en-US" sz="2000" spc="-1" strike="noStrike">
                <a:latin typeface="Arial"/>
              </a:rPr>
              <a:t>Encrypted y </a:t>
            </a:r>
            <a:r>
              <a:rPr b="0" lang="en-US" sz="2000" spc="-1" strike="noStrike">
                <a:latin typeface="Arial"/>
              </a:rPr>
              <a:t>TDE).</a:t>
            </a:r>
            <a:endParaRPr b="0" lang="es-ES" sz="2000" spc="-1" strike="noStrike">
              <a:latin typeface="Arial"/>
            </a:endParaRPr>
          </a:p>
          <a:p>
            <a:pPr marL="216000" indent="-216000">
              <a:lnSpc>
                <a:spcPct val="100000"/>
              </a:lnSpc>
            </a:pPr>
            <a:r>
              <a:rPr b="0" lang="en-US" sz="2000" spc="-1" strike="noStrike">
                <a:latin typeface="Arial"/>
              </a:rPr>
              <a:t>- Función </a:t>
            </a:r>
            <a:r>
              <a:rPr b="0" lang="en-US" sz="2000" spc="-1" strike="noStrike">
                <a:latin typeface="Arial"/>
              </a:rPr>
              <a:t>VECTOR_DI</a:t>
            </a:r>
            <a:r>
              <a:rPr b="0" lang="en-US" sz="2000" spc="-1" strike="noStrike">
                <a:latin typeface="Arial"/>
              </a:rPr>
              <a:t>STANCE(métr</a:t>
            </a:r>
            <a:r>
              <a:rPr b="0" lang="en-US" sz="2000" spc="-1" strike="noStrike">
                <a:latin typeface="Arial"/>
              </a:rPr>
              <a:t>ica, vector1, </a:t>
            </a:r>
            <a:r>
              <a:rPr b="0" lang="en-US" sz="2000" spc="-1" strike="noStrike">
                <a:latin typeface="Arial"/>
              </a:rPr>
              <a:t>vector2): </a:t>
            </a:r>
            <a:r>
              <a:rPr b="0" lang="en-US" sz="2000" spc="-1" strike="noStrike">
                <a:latin typeface="Arial"/>
              </a:rPr>
              <a:t>calcula la </a:t>
            </a:r>
            <a:r>
              <a:rPr b="0" lang="en-US" sz="2000" spc="-1" strike="noStrike">
                <a:latin typeface="Arial"/>
              </a:rPr>
              <a:t>distancia </a:t>
            </a:r>
            <a:r>
              <a:rPr b="0" lang="en-US" sz="2000" spc="-1" strike="noStrike">
                <a:latin typeface="Arial"/>
              </a:rPr>
              <a:t>entre </a:t>
            </a:r>
            <a:r>
              <a:rPr b="0" lang="en-US" sz="2000" spc="-1" strike="noStrike">
                <a:latin typeface="Arial"/>
              </a:rPr>
              <a:t>vectores. </a:t>
            </a:r>
            <a:r>
              <a:rPr b="0" lang="en-US" sz="2000" spc="-1" strike="noStrike">
                <a:latin typeface="Arial"/>
              </a:rPr>
              <a:t>Métricas </a:t>
            </a:r>
            <a:r>
              <a:rPr b="0" lang="en-US" sz="2000" spc="-1" strike="noStrike">
                <a:latin typeface="Arial"/>
              </a:rPr>
              <a:t>soportadas: </a:t>
            </a:r>
            <a:r>
              <a:rPr b="0" lang="en-US" sz="2000" spc="-1" strike="noStrike">
                <a:latin typeface="Arial"/>
              </a:rPr>
              <a:t>cosine </a:t>
            </a:r>
            <a:r>
              <a:rPr b="0" lang="en-US" sz="2000" spc="-1" strike="noStrike">
                <a:latin typeface="Arial"/>
              </a:rPr>
              <a:t>(similitud del </a:t>
            </a:r>
            <a:r>
              <a:rPr b="0" lang="en-US" sz="2000" spc="-1" strike="noStrike">
                <a:latin typeface="Arial"/>
              </a:rPr>
              <a:t>coseno, </a:t>
            </a:r>
            <a:r>
              <a:rPr b="0" lang="en-US" sz="2000" spc="-1" strike="noStrike">
                <a:latin typeface="Arial"/>
              </a:rPr>
              <a:t>típica en </a:t>
            </a:r>
            <a:r>
              <a:rPr b="0" lang="en-US" sz="2000" spc="-1" strike="noStrike">
                <a:latin typeface="Arial"/>
              </a:rPr>
              <a:t>embeddings </a:t>
            </a:r>
            <a:r>
              <a:rPr b="0" lang="en-US" sz="2000" spc="-1" strike="noStrike">
                <a:latin typeface="Arial"/>
              </a:rPr>
              <a:t>de texto), </a:t>
            </a:r>
            <a:r>
              <a:rPr b="0" lang="en-US" sz="2000" spc="-1" strike="noStrike">
                <a:latin typeface="Arial"/>
              </a:rPr>
              <a:t>euclidean </a:t>
            </a:r>
            <a:r>
              <a:rPr b="0" lang="en-US" sz="2000" spc="-1" strike="noStrike">
                <a:latin typeface="Arial"/>
              </a:rPr>
              <a:t>(distancia </a:t>
            </a:r>
            <a:r>
              <a:rPr b="0" lang="en-US" sz="2000" spc="-1" strike="noStrike">
                <a:latin typeface="Arial"/>
              </a:rPr>
              <a:t>euclídea) y </a:t>
            </a:r>
            <a:r>
              <a:rPr b="0" lang="en-US" sz="2000" spc="-1" strike="noStrike">
                <a:latin typeface="Arial"/>
              </a:rPr>
              <a:t>dot (producto </a:t>
            </a:r>
            <a:r>
              <a:rPr b="0" lang="en-US" sz="2000" spc="-1" strike="noStrike">
                <a:latin typeface="Arial"/>
              </a:rPr>
              <a:t>escalar).</a:t>
            </a:r>
            <a:endParaRPr b="0" lang="es-ES" sz="2000" spc="-1" strike="noStrike">
              <a:latin typeface="Arial"/>
            </a:endParaRPr>
          </a:p>
          <a:p>
            <a:pPr marL="216000" indent="-216000">
              <a:lnSpc>
                <a:spcPct val="100000"/>
              </a:lnSpc>
            </a:pPr>
            <a:r>
              <a:rPr b="0" lang="en-US" sz="2000" spc="-1" strike="noStrike">
                <a:latin typeface="Arial"/>
              </a:rPr>
              <a:t>- Arquitectura </a:t>
            </a:r>
            <a:r>
              <a:rPr b="0" lang="en-US" sz="2000" spc="-1" strike="noStrike">
                <a:latin typeface="Arial"/>
              </a:rPr>
              <a:t>RAG </a:t>
            </a:r>
            <a:r>
              <a:rPr b="0" lang="en-US" sz="2000" spc="-1" strike="noStrike">
                <a:latin typeface="Arial"/>
              </a:rPr>
              <a:t>(Retrieval-</a:t>
            </a:r>
            <a:r>
              <a:rPr b="0" lang="en-US" sz="2000" spc="-1" strike="noStrike">
                <a:latin typeface="Arial"/>
              </a:rPr>
              <a:t>Augmented </a:t>
            </a:r>
            <a:r>
              <a:rPr b="0" lang="en-US" sz="2000" spc="-1" strike="noStrike">
                <a:latin typeface="Arial"/>
              </a:rPr>
              <a:t>Generation): </a:t>
            </a:r>
            <a:r>
              <a:rPr b="0" lang="en-US" sz="2000" spc="-1" strike="noStrike">
                <a:latin typeface="Arial"/>
              </a:rPr>
              <a:t>una consulta </a:t>
            </a:r>
            <a:r>
              <a:rPr b="0" lang="en-US" sz="2000" spc="-1" strike="noStrike">
                <a:latin typeface="Arial"/>
              </a:rPr>
              <a:t>busca </a:t>
            </a:r>
            <a:r>
              <a:rPr b="0" lang="en-US" sz="2000" spc="-1" strike="noStrike">
                <a:latin typeface="Arial"/>
              </a:rPr>
              <a:t>semánticame</a:t>
            </a:r>
            <a:r>
              <a:rPr b="0" lang="en-US" sz="2000" spc="-1" strike="noStrike">
                <a:latin typeface="Arial"/>
              </a:rPr>
              <a:t>nte los </a:t>
            </a:r>
            <a:r>
              <a:rPr b="0" lang="en-US" sz="2000" spc="-1" strike="noStrike">
                <a:latin typeface="Arial"/>
              </a:rPr>
              <a:t>documentos </a:t>
            </a:r>
            <a:r>
              <a:rPr b="0" lang="en-US" sz="2000" spc="-1" strike="noStrike">
                <a:latin typeface="Arial"/>
              </a:rPr>
              <a:t>más </a:t>
            </a:r>
            <a:r>
              <a:rPr b="0" lang="en-US" sz="2000" spc="-1" strike="noStrike">
                <a:latin typeface="Arial"/>
              </a:rPr>
              <a:t>relevantes </a:t>
            </a:r>
            <a:r>
              <a:rPr b="0" lang="en-US" sz="2000" spc="-1" strike="noStrike">
                <a:latin typeface="Arial"/>
              </a:rPr>
              <a:t>con ORDER </a:t>
            </a:r>
            <a:r>
              <a:rPr b="0" lang="en-US" sz="2000" spc="-1" strike="noStrike">
                <a:latin typeface="Arial"/>
              </a:rPr>
              <a:t>BY </a:t>
            </a:r>
            <a:r>
              <a:rPr b="0" lang="en-US" sz="2000" spc="-1" strike="noStrike">
                <a:latin typeface="Arial"/>
              </a:rPr>
              <a:t>VECTOR_DI</a:t>
            </a:r>
            <a:r>
              <a:rPr b="0" lang="en-US" sz="2000" spc="-1" strike="noStrike">
                <a:latin typeface="Arial"/>
              </a:rPr>
              <a:t>STANCE(...) </a:t>
            </a:r>
            <a:r>
              <a:rPr b="0" lang="en-US" sz="2000" spc="-1" strike="noStrike">
                <a:latin typeface="Arial"/>
              </a:rPr>
              <a:t>ASC y </a:t>
            </a:r>
            <a:r>
              <a:rPr b="0" lang="en-US" sz="2000" spc="-1" strike="noStrike">
                <a:latin typeface="Arial"/>
              </a:rPr>
              <a:t>devuelve el </a:t>
            </a:r>
            <a:r>
              <a:rPr b="0" lang="en-US" sz="2000" spc="-1" strike="noStrike">
                <a:latin typeface="Arial"/>
              </a:rPr>
              <a:t>contexto para </a:t>
            </a:r>
            <a:r>
              <a:rPr b="0" lang="en-US" sz="2000" spc="-1" strike="noStrike">
                <a:latin typeface="Arial"/>
              </a:rPr>
              <a:t>un LLM, </a:t>
            </a:r>
            <a:r>
              <a:rPr b="0" lang="en-US" sz="2000" spc="-1" strike="noStrike">
                <a:latin typeface="Arial"/>
              </a:rPr>
              <a:t>combinando </a:t>
            </a:r>
            <a:r>
              <a:rPr b="0" lang="en-US" sz="2000" spc="-1" strike="noStrike">
                <a:latin typeface="Arial"/>
              </a:rPr>
              <a:t>fácilmente </a:t>
            </a:r>
            <a:r>
              <a:rPr b="0" lang="en-US" sz="2000" spc="-1" strike="noStrike">
                <a:latin typeface="Arial"/>
              </a:rPr>
              <a:t>filtros </a:t>
            </a:r>
            <a:r>
              <a:rPr b="0" lang="en-US" sz="2000" spc="-1" strike="noStrike">
                <a:latin typeface="Arial"/>
              </a:rPr>
              <a:t>relacionales </a:t>
            </a:r>
            <a:r>
              <a:rPr b="0" lang="en-US" sz="2000" spc="-1" strike="noStrike">
                <a:latin typeface="Arial"/>
              </a:rPr>
              <a:t>(WHERE </a:t>
            </a:r>
            <a:r>
              <a:rPr b="0" lang="en-US" sz="2000" spc="-1" strike="noStrike">
                <a:latin typeface="Arial"/>
              </a:rPr>
              <a:t>EmpresaId = </a:t>
            </a:r>
            <a:r>
              <a:rPr b="0" lang="en-US" sz="2000" spc="-1" strike="noStrike">
                <a:latin typeface="Arial"/>
              </a:rPr>
              <a:t>@id AND </a:t>
            </a:r>
            <a:r>
              <a:rPr b="0" lang="en-US" sz="2000" spc="-1" strike="noStrike">
                <a:latin typeface="Arial"/>
              </a:rPr>
              <a:t>Fecha &gt;= </a:t>
            </a:r>
            <a:r>
              <a:rPr b="0" lang="en-US" sz="2000" spc="-1" strike="noStrike">
                <a:latin typeface="Arial"/>
              </a:rPr>
              <a:t>@desde).</a:t>
            </a:r>
            <a:endParaRPr b="0" lang="es-ES" sz="2000" spc="-1" strike="noStrike">
              <a:latin typeface="Arial"/>
            </a:endParaRPr>
          </a:p>
          <a:p>
            <a:pPr marL="216000" indent="-216000">
              <a:lnSpc>
                <a:spcPct val="100000"/>
              </a:lnSpc>
            </a:pPr>
            <a:r>
              <a:rPr b="0" lang="en-US" sz="2000" spc="-1" strike="noStrike">
                <a:latin typeface="Arial"/>
              </a:rPr>
              <a:t>- Internals: </a:t>
            </a:r>
            <a:r>
              <a:rPr b="0" lang="en-US" sz="2000" spc="-1" strike="noStrike">
                <a:latin typeface="Arial"/>
              </a:rPr>
              <a:t>VECTOR(n) </a:t>
            </a:r>
            <a:r>
              <a:rPr b="0" lang="en-US" sz="2000" spc="-1" strike="noStrike">
                <a:latin typeface="Arial"/>
              </a:rPr>
              <a:t>almacena </a:t>
            </a:r>
            <a:r>
              <a:rPr b="0" lang="en-US" sz="2000" spc="-1" strike="noStrike">
                <a:latin typeface="Arial"/>
              </a:rPr>
              <a:t>números de </a:t>
            </a:r>
            <a:r>
              <a:rPr b="0" lang="en-US" sz="2000" spc="-1" strike="noStrike">
                <a:latin typeface="Arial"/>
              </a:rPr>
              <a:t>coma flotante </a:t>
            </a:r>
            <a:r>
              <a:rPr b="0" lang="en-US" sz="2000" spc="-1" strike="noStrike">
                <a:latin typeface="Arial"/>
              </a:rPr>
              <a:t>de 32 bits (4 </a:t>
            </a:r>
            <a:r>
              <a:rPr b="0" lang="en-US" sz="2000" spc="-1" strike="noStrike">
                <a:latin typeface="Arial"/>
              </a:rPr>
              <a:t>bytes por </a:t>
            </a:r>
            <a:r>
              <a:rPr b="0" lang="en-US" sz="2000" spc="-1" strike="noStrike">
                <a:latin typeface="Arial"/>
              </a:rPr>
              <a:t>dimensión). </a:t>
            </a:r>
            <a:r>
              <a:rPr b="0" lang="en-US" sz="2000" spc="-1" strike="noStrike">
                <a:latin typeface="Arial"/>
              </a:rPr>
              <a:t>Un vector de </a:t>
            </a:r>
            <a:r>
              <a:rPr b="0" lang="en-US" sz="2000" spc="-1" strike="noStrike">
                <a:latin typeface="Arial"/>
              </a:rPr>
              <a:t>1536 </a:t>
            </a:r>
            <a:r>
              <a:rPr b="0" lang="en-US" sz="2000" spc="-1" strike="noStrike">
                <a:latin typeface="Arial"/>
              </a:rPr>
              <a:t>dimensiones </a:t>
            </a:r>
            <a:r>
              <a:rPr b="0" lang="en-US" sz="2000" spc="-1" strike="noStrike">
                <a:latin typeface="Arial"/>
              </a:rPr>
              <a:t>(OpenAI text-</a:t>
            </a:r>
            <a:r>
              <a:rPr b="0" lang="en-US" sz="2000" spc="-1" strike="noStrike">
                <a:latin typeface="Arial"/>
              </a:rPr>
              <a:t>embedding-3) </a:t>
            </a:r>
            <a:r>
              <a:rPr b="0" lang="en-US" sz="2000" spc="-1" strike="noStrike">
                <a:latin typeface="Arial"/>
              </a:rPr>
              <a:t>ocupa ~6 KB. </a:t>
            </a:r>
            <a:r>
              <a:rPr b="0" lang="en-US" sz="2000" spc="-1" strike="noStrike">
                <a:latin typeface="Arial"/>
              </a:rPr>
              <a:t>Si una fila </a:t>
            </a:r>
            <a:r>
              <a:rPr b="0" lang="en-US" sz="2000" spc="-1" strike="noStrike">
                <a:latin typeface="Arial"/>
              </a:rPr>
              <a:t>excede 8060 </a:t>
            </a:r>
            <a:r>
              <a:rPr b="0" lang="en-US" sz="2000" spc="-1" strike="noStrike">
                <a:latin typeface="Arial"/>
              </a:rPr>
              <a:t>bytes, SQL </a:t>
            </a:r>
            <a:r>
              <a:rPr b="0" lang="en-US" sz="2000" spc="-1" strike="noStrike">
                <a:latin typeface="Arial"/>
              </a:rPr>
              <a:t>Server </a:t>
            </a:r>
            <a:r>
              <a:rPr b="0" lang="en-US" sz="2000" spc="-1" strike="noStrike">
                <a:latin typeface="Arial"/>
              </a:rPr>
              <a:t>gestiona el </a:t>
            </a:r>
            <a:r>
              <a:rPr b="0" lang="en-US" sz="2000" spc="-1" strike="noStrike">
                <a:latin typeface="Arial"/>
              </a:rPr>
              <a:t>desbordamie</a:t>
            </a:r>
            <a:r>
              <a:rPr b="0" lang="en-US" sz="2000" spc="-1" strike="noStrike">
                <a:latin typeface="Arial"/>
              </a:rPr>
              <a:t>nto hacia </a:t>
            </a:r>
            <a:r>
              <a:rPr b="0" lang="en-US" sz="2000" spc="-1" strike="noStrike">
                <a:latin typeface="Arial"/>
              </a:rPr>
              <a:t>páginas </a:t>
            </a:r>
            <a:r>
              <a:rPr b="0" lang="en-US" sz="2000" spc="-1" strike="noStrike">
                <a:latin typeface="Arial"/>
              </a:rPr>
              <a:t>ROW_OVER</a:t>
            </a:r>
            <a:r>
              <a:rPr b="0" lang="en-US" sz="2000" spc="-1" strike="noStrike">
                <a:latin typeface="Arial"/>
              </a:rPr>
              <a:t>FLOW o </a:t>
            </a:r>
            <a:r>
              <a:rPr b="0" lang="en-US" sz="2000" spc="-1" strike="noStrike">
                <a:latin typeface="Arial"/>
              </a:rPr>
              <a:t>LOB.</a:t>
            </a:r>
            <a:endParaRPr b="0" lang="es-ES" sz="2000" spc="-1" strike="noStrike">
              <a:latin typeface="Arial"/>
            </a:endParaRPr>
          </a:p>
          <a:p>
            <a:pPr marL="216000" indent="-216000">
              <a:lnSpc>
                <a:spcPct val="100000"/>
              </a:lnSpc>
            </a:pPr>
            <a:r>
              <a:rPr b="0" lang="en-US" sz="2000" spc="-1" strike="noStrike">
                <a:latin typeface="Arial"/>
              </a:rPr>
              <a:t>- Laboratorio y </a:t>
            </a:r>
            <a:r>
              <a:rPr b="0" lang="en-US" sz="2000" spc="-1" strike="noStrike">
                <a:latin typeface="Arial"/>
              </a:rPr>
              <a:t>práctica: en </a:t>
            </a:r>
            <a:r>
              <a:rPr b="0" lang="en-US" sz="2000" spc="-1" strike="noStrike">
                <a:latin typeface="Arial"/>
              </a:rPr>
              <a:t>el repositorio </a:t>
            </a:r>
            <a:r>
              <a:rPr b="0" lang="en-US" sz="2000" spc="-1" strike="noStrike">
                <a:latin typeface="Arial"/>
              </a:rPr>
              <a:t>disponéis de </a:t>
            </a:r>
            <a:r>
              <a:rPr b="0" lang="en-US" sz="2000" spc="-1" strike="noStrike">
                <a:latin typeface="Arial"/>
              </a:rPr>
              <a:t>labs/lab115-</a:t>
            </a:r>
            <a:r>
              <a:rPr b="0" lang="en-US" sz="2000" spc="-1" strike="noStrike">
                <a:latin typeface="Arial"/>
              </a:rPr>
              <a:t>vector-table/v</a:t>
            </a:r>
            <a:r>
              <a:rPr b="0" lang="en-US" sz="2000" spc="-1" strike="noStrike">
                <a:latin typeface="Arial"/>
              </a:rPr>
              <a:t>ector_table.s</a:t>
            </a:r>
            <a:r>
              <a:rPr b="0" lang="en-US" sz="2000" spc="-1" strike="noStrike">
                <a:latin typeface="Arial"/>
              </a:rPr>
              <a:t>ql con una </a:t>
            </a:r>
            <a:r>
              <a:rPr b="0" lang="en-US" sz="2000" spc="-1" strike="noStrike">
                <a:latin typeface="Arial"/>
              </a:rPr>
              <a:t>simulación </a:t>
            </a:r>
            <a:r>
              <a:rPr b="0" lang="en-US" sz="2000" spc="-1" strike="noStrike">
                <a:latin typeface="Arial"/>
              </a:rPr>
              <a:t>completa de </a:t>
            </a:r>
            <a:r>
              <a:rPr b="0" lang="en-US" sz="2000" spc="-1" strike="noStrike">
                <a:latin typeface="Arial"/>
              </a:rPr>
              <a:t>base de </a:t>
            </a:r>
            <a:r>
              <a:rPr b="0" lang="en-US" sz="2000" spc="-1" strike="noStrike">
                <a:latin typeface="Arial"/>
              </a:rPr>
              <a:t>conocimiento </a:t>
            </a:r>
            <a:r>
              <a:rPr b="0" lang="en-US" sz="2000" spc="-1" strike="noStrike">
                <a:latin typeface="Arial"/>
              </a:rPr>
              <a:t>y búsqueda </a:t>
            </a:r>
            <a:r>
              <a:rPr b="0" lang="en-US" sz="2000" spc="-1" strike="noStrike">
                <a:latin typeface="Arial"/>
              </a:rPr>
              <a:t>semántica </a:t>
            </a:r>
            <a:r>
              <a:rPr b="0" lang="en-US" sz="2000" spc="-1" strike="noStrike">
                <a:latin typeface="Arial"/>
              </a:rPr>
              <a:t>para probar </a:t>
            </a:r>
            <a:r>
              <a:rPr b="0" lang="en-US" sz="2000" spc="-1" strike="noStrike">
                <a:latin typeface="Arial"/>
              </a:rPr>
              <a:t>en vuestro </a:t>
            </a:r>
            <a:r>
              <a:rPr b="0" lang="en-US" sz="2000" spc="-1" strike="noStrike">
                <a:latin typeface="Arial"/>
              </a:rPr>
              <a:t>contenedor.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a:t>
            </a:r>
            <a:r>
              <a:rPr b="0" lang="en-US" sz="2000" spc="-1" strike="noStrike">
                <a:latin typeface="Arial"/>
              </a:rPr>
              <a:t>Interacción / </a:t>
            </a:r>
            <a:r>
              <a:rPr b="0" lang="en-US" sz="2000" spc="-1" strike="noStrike">
                <a:latin typeface="Arial"/>
              </a:rPr>
              <a:t>Preguntas:</a:t>
            </a:r>
            <a:endParaRPr b="0" lang="es-ES" sz="2000" spc="-1" strike="noStrike">
              <a:latin typeface="Arial"/>
            </a:endParaRPr>
          </a:p>
          <a:p>
            <a:pPr marL="216000" indent="-216000">
              <a:lnSpc>
                <a:spcPct val="100000"/>
              </a:lnSpc>
            </a:pPr>
            <a:r>
              <a:rPr b="0" lang="en-US" sz="2000" spc="-1" strike="noStrike">
                <a:latin typeface="Arial"/>
              </a:rPr>
              <a:t>- ¿Qué </a:t>
            </a:r>
            <a:r>
              <a:rPr b="0" lang="en-US" sz="2000" spc="-1" strike="noStrike">
                <a:latin typeface="Arial"/>
              </a:rPr>
              <a:t>ventajas </a:t>
            </a:r>
            <a:r>
              <a:rPr b="0" lang="en-US" sz="2000" spc="-1" strike="noStrike">
                <a:latin typeface="Arial"/>
              </a:rPr>
              <a:t>operativas y </a:t>
            </a:r>
            <a:r>
              <a:rPr b="0" lang="en-US" sz="2000" spc="-1" strike="noStrike">
                <a:latin typeface="Arial"/>
              </a:rPr>
              <a:t>de seguridad </a:t>
            </a:r>
            <a:r>
              <a:rPr b="0" lang="en-US" sz="2000" spc="-1" strike="noStrike">
                <a:latin typeface="Arial"/>
              </a:rPr>
              <a:t>ofrece </a:t>
            </a:r>
            <a:r>
              <a:rPr b="0" lang="en-US" sz="2000" spc="-1" strike="noStrike">
                <a:latin typeface="Arial"/>
              </a:rPr>
              <a:t>gestionar </a:t>
            </a:r>
            <a:r>
              <a:rPr b="0" lang="en-US" sz="2000" spc="-1" strike="noStrike">
                <a:latin typeface="Arial"/>
              </a:rPr>
              <a:t>embeddings </a:t>
            </a:r>
            <a:r>
              <a:rPr b="0" lang="en-US" sz="2000" spc="-1" strike="noStrike">
                <a:latin typeface="Arial"/>
              </a:rPr>
              <a:t>en SQL </a:t>
            </a:r>
            <a:r>
              <a:rPr b="0" lang="en-US" sz="2000" spc="-1" strike="noStrike">
                <a:latin typeface="Arial"/>
              </a:rPr>
              <a:t>Server frente </a:t>
            </a:r>
            <a:r>
              <a:rPr b="0" lang="en-US" sz="2000" spc="-1" strike="noStrike">
                <a:latin typeface="Arial"/>
              </a:rPr>
              <a:t>a </a:t>
            </a:r>
            <a:r>
              <a:rPr b="0" lang="en-US" sz="2000" spc="-1" strike="noStrike">
                <a:latin typeface="Arial"/>
              </a:rPr>
              <a:t>sincronizarlos </a:t>
            </a:r>
            <a:r>
              <a:rPr b="0" lang="en-US" sz="2000" spc="-1" strike="noStrike">
                <a:latin typeface="Arial"/>
              </a:rPr>
              <a:t>con una base </a:t>
            </a:r>
            <a:r>
              <a:rPr b="0" lang="en-US" sz="2000" spc="-1" strike="noStrike">
                <a:latin typeface="Arial"/>
              </a:rPr>
              <a:t>de datos </a:t>
            </a:r>
            <a:r>
              <a:rPr b="0" lang="en-US" sz="2000" spc="-1" strike="noStrike">
                <a:latin typeface="Arial"/>
              </a:rPr>
              <a:t>vectorial </a:t>
            </a:r>
            <a:r>
              <a:rPr b="0" lang="en-US" sz="2000" spc="-1" strike="noStrike">
                <a:latin typeface="Arial"/>
              </a:rPr>
              <a:t>externa?</a:t>
            </a:r>
            <a:endParaRPr b="0" lang="es-ES" sz="2000" spc="-1" strike="noStrike">
              <a:latin typeface="Arial"/>
            </a:endParaRPr>
          </a:p>
          <a:p>
            <a:pPr marL="216000" indent="-216000">
              <a:lnSpc>
                <a:spcPct val="100000"/>
              </a:lnSpc>
            </a:pPr>
            <a:r>
              <a:rPr b="0" lang="en-US" sz="2000" spc="-1" strike="noStrike">
                <a:latin typeface="Arial"/>
              </a:rPr>
              <a:t>- Si cada vector </a:t>
            </a:r>
            <a:r>
              <a:rPr b="0" lang="en-US" sz="2000" spc="-1" strike="noStrike">
                <a:latin typeface="Arial"/>
              </a:rPr>
              <a:t>de 1536 </a:t>
            </a:r>
            <a:r>
              <a:rPr b="0" lang="en-US" sz="2000" spc="-1" strike="noStrike">
                <a:latin typeface="Arial"/>
              </a:rPr>
              <a:t>dimensiones </a:t>
            </a:r>
            <a:r>
              <a:rPr b="0" lang="en-US" sz="2000" spc="-1" strike="noStrike">
                <a:latin typeface="Arial"/>
              </a:rPr>
              <a:t>ocupa ~6 KB, </a:t>
            </a:r>
            <a:r>
              <a:rPr b="0" lang="en-US" sz="2000" spc="-1" strike="noStrike">
                <a:latin typeface="Arial"/>
              </a:rPr>
              <a:t>¿qué </a:t>
            </a:r>
            <a:r>
              <a:rPr b="0" lang="en-US" sz="2000" spc="-1" strike="noStrike">
                <a:latin typeface="Arial"/>
              </a:rPr>
              <a:t>precauciones </a:t>
            </a:r>
            <a:r>
              <a:rPr b="0" lang="en-US" sz="2000" spc="-1" strike="noStrike">
                <a:latin typeface="Arial"/>
              </a:rPr>
              <a:t>de diseño </a:t>
            </a:r>
            <a:r>
              <a:rPr b="0" lang="en-US" sz="2000" spc="-1" strike="noStrike">
                <a:latin typeface="Arial"/>
              </a:rPr>
              <a:t>físico </a:t>
            </a:r>
            <a:r>
              <a:rPr b="0" lang="en-US" sz="2000" spc="-1" strike="noStrike">
                <a:latin typeface="Arial"/>
              </a:rPr>
              <a:t>(ficheros, </a:t>
            </a:r>
            <a:r>
              <a:rPr b="0" lang="en-US" sz="2000" spc="-1" strike="noStrike">
                <a:latin typeface="Arial"/>
              </a:rPr>
              <a:t>Buffer Pool, </a:t>
            </a:r>
            <a:r>
              <a:rPr b="0" lang="en-US" sz="2000" spc="-1" strike="noStrike">
                <a:latin typeface="Arial"/>
              </a:rPr>
              <a:t>índices) </a:t>
            </a:r>
            <a:r>
              <a:rPr b="0" lang="en-US" sz="2000" spc="-1" strike="noStrike">
                <a:latin typeface="Arial"/>
              </a:rPr>
              <a:t>debemos </a:t>
            </a:r>
            <a:r>
              <a:rPr b="0" lang="en-US" sz="2000" spc="-1" strike="noStrike">
                <a:latin typeface="Arial"/>
              </a:rPr>
              <a:t>tomar como </a:t>
            </a:r>
            <a:r>
              <a:rPr b="0" lang="en-US" sz="2000" spc="-1" strike="noStrike">
                <a:latin typeface="Arial"/>
              </a:rPr>
              <a:t>DBAs?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a:t>
            </a:r>
            <a:r>
              <a:rPr b="0" lang="en-US" sz="2000" spc="-1" strike="noStrike">
                <a:latin typeface="Arial"/>
              </a:rPr>
              <a:t>de </a:t>
            </a:r>
            <a:r>
              <a:rPr b="0" lang="en-US" sz="2000" spc="-1" strike="noStrike">
                <a:latin typeface="Arial"/>
              </a:rPr>
              <a:t>Laboratorio:</a:t>
            </a:r>
            <a:endParaRPr b="0" lang="es-ES" sz="2000" spc="-1" strike="noStrike">
              <a:latin typeface="Arial"/>
            </a:endParaRPr>
          </a:p>
          <a:p>
            <a:pPr marL="216000" indent="-216000">
              <a:lnSpc>
                <a:spcPct val="100000"/>
              </a:lnSpc>
            </a:pPr>
            <a:r>
              <a:rPr b="0" lang="en-US" sz="2000" spc="-1" strike="noStrike">
                <a:latin typeface="Arial"/>
              </a:rPr>
              <a:t>- Opcional </a:t>
            </a:r>
            <a:r>
              <a:rPr b="0" lang="en-US" sz="2000" spc="-1" strike="noStrike">
                <a:latin typeface="Arial"/>
              </a:rPr>
              <a:t>(demo): abrir </a:t>
            </a:r>
            <a:r>
              <a:rPr b="0" lang="en-US" sz="2000" spc="-1" strike="noStrike">
                <a:latin typeface="Arial"/>
              </a:rPr>
              <a:t>el script </a:t>
            </a:r>
            <a:r>
              <a:rPr b="0" lang="en-US" sz="2000" spc="-1" strike="noStrike">
                <a:latin typeface="Arial"/>
              </a:rPr>
              <a:t>labs/lab115-</a:t>
            </a:r>
            <a:r>
              <a:rPr b="0" lang="en-US" sz="2000" spc="-1" strike="noStrike">
                <a:latin typeface="Arial"/>
              </a:rPr>
              <a:t>vector-table/v</a:t>
            </a:r>
            <a:r>
              <a:rPr b="0" lang="en-US" sz="2000" spc="-1" strike="noStrike">
                <a:latin typeface="Arial"/>
              </a:rPr>
              <a:t>ector_table.s</a:t>
            </a:r>
            <a:r>
              <a:rPr b="0" lang="en-US" sz="2000" spc="-1" strike="noStrike">
                <a:latin typeface="Arial"/>
              </a:rPr>
              <a:t>ql en SSMS o </a:t>
            </a:r>
            <a:r>
              <a:rPr b="0" lang="en-US" sz="2000" spc="-1" strike="noStrike">
                <a:latin typeface="Arial"/>
              </a:rPr>
              <a:t>VS Code.</a:t>
            </a:r>
            <a:endParaRPr b="0" lang="es-ES" sz="2000" spc="-1" strike="noStrike">
              <a:latin typeface="Arial"/>
            </a:endParaRPr>
          </a:p>
          <a:p>
            <a:pPr marL="216000" indent="-216000">
              <a:lnSpc>
                <a:spcPct val="100000"/>
              </a:lnSpc>
            </a:pPr>
            <a:r>
              <a:rPr b="0" lang="en-US" sz="2000" spc="-1" strike="noStrike">
                <a:latin typeface="Arial"/>
              </a:rPr>
              <a:t>- Crear la tabla </a:t>
            </a:r>
            <a:r>
              <a:rPr b="0" lang="en-US" sz="2000" spc="-1" strike="noStrike">
                <a:latin typeface="Arial"/>
              </a:rPr>
              <a:t>dbo.BaseCon</a:t>
            </a:r>
            <a:r>
              <a:rPr b="0" lang="en-US" sz="2000" spc="-1" strike="noStrike">
                <a:latin typeface="Arial"/>
              </a:rPr>
              <a:t>ocimiento con </a:t>
            </a:r>
            <a:r>
              <a:rPr b="0" lang="en-US" sz="2000" spc="-1" strike="noStrike">
                <a:latin typeface="Arial"/>
              </a:rPr>
              <a:t>la columna </a:t>
            </a:r>
            <a:r>
              <a:rPr b="0" lang="en-US" sz="2000" spc="-1" strike="noStrike">
                <a:latin typeface="Arial"/>
              </a:rPr>
              <a:t>ContenidoEm</a:t>
            </a:r>
            <a:r>
              <a:rPr b="0" lang="en-US" sz="2000" spc="-1" strike="noStrike">
                <a:latin typeface="Arial"/>
              </a:rPr>
              <a:t>bedding </a:t>
            </a:r>
            <a:r>
              <a:rPr b="0" lang="en-US" sz="2000" spc="-1" strike="noStrike">
                <a:latin typeface="Arial"/>
              </a:rPr>
              <a:t>VECTOR(4).</a:t>
            </a:r>
            <a:endParaRPr b="0" lang="es-ES" sz="2000" spc="-1" strike="noStrike">
              <a:latin typeface="Arial"/>
            </a:endParaRPr>
          </a:p>
          <a:p>
            <a:pPr marL="216000" indent="-215640">
              <a:lnSpc>
                <a:spcPct val="100000"/>
              </a:lnSpc>
              <a:tabLst>
                <a:tab algn="l" pos="0"/>
              </a:tabLst>
            </a:pPr>
            <a:r>
              <a:rPr b="0" lang="en-US" sz="2000" spc="-1" strike="noStrike">
                <a:latin typeface="Arial"/>
              </a:rPr>
              <a:t>- Insertar los </a:t>
            </a:r>
            <a:r>
              <a:rPr b="0" lang="en-US" sz="2000" spc="-1" strike="noStrike">
                <a:latin typeface="Arial"/>
              </a:rPr>
              <a:t>registros de </a:t>
            </a:r>
            <a:r>
              <a:rPr b="0" lang="en-US" sz="2000" spc="-1" strike="noStrike">
                <a:latin typeface="Arial"/>
              </a:rPr>
              <a:t>prueba y </a:t>
            </a:r>
            <a:r>
              <a:rPr b="0" lang="en-US" sz="2000" spc="-1" strike="noStrike">
                <a:latin typeface="Arial"/>
              </a:rPr>
              <a:t>ejecutar la </a:t>
            </a:r>
            <a:r>
              <a:rPr b="0" lang="en-US" sz="2000" spc="-1" strike="noStrike">
                <a:latin typeface="Arial"/>
              </a:rPr>
              <a:t>consulta con </a:t>
            </a:r>
            <a:r>
              <a:rPr b="0" lang="en-US" sz="2000" spc="-1" strike="noStrike">
                <a:latin typeface="Arial"/>
              </a:rPr>
              <a:t>VECTOR_DI</a:t>
            </a:r>
            <a:r>
              <a:rPr b="0" lang="en-US" sz="2000" spc="-1" strike="noStrike">
                <a:latin typeface="Arial"/>
              </a:rPr>
              <a:t>STANCE('cosi</a:t>
            </a:r>
            <a:r>
              <a:rPr b="0" lang="en-US" sz="2000" spc="-1" strike="noStrike">
                <a:latin typeface="Arial"/>
              </a:rPr>
              <a:t>ne', ...) </a:t>
            </a:r>
            <a:r>
              <a:rPr b="0" lang="en-US" sz="2000" spc="-1" strike="noStrike">
                <a:latin typeface="Arial"/>
              </a:rPr>
              <a:t>ordenando </a:t>
            </a:r>
            <a:r>
              <a:rPr b="0" lang="en-US" sz="2000" spc="-1" strike="noStrike">
                <a:latin typeface="Arial"/>
              </a:rPr>
              <a:t>ascendentem</a:t>
            </a:r>
            <a:r>
              <a:rPr b="0" lang="en-US" sz="2000" spc="-1" strike="noStrike">
                <a:latin typeface="Arial"/>
              </a:rPr>
              <a:t>ente.</a:t>
            </a:r>
            <a:endParaRPr b="0" lang="es-ES" sz="2000" spc="-1" strike="noStrike">
              <a:latin typeface="Arial"/>
            </a:endParaRPr>
          </a:p>
        </p:txBody>
      </p:sp>
      <p:sp>
        <p:nvSpPr>
          <p:cNvPr id="212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CBAC60C-662F-401B-8FC5-507141E47C9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2" name="PlaceHolder 1"/>
          <p:cNvSpPr>
            <a:spLocks noGrp="1"/>
          </p:cNvSpPr>
          <p:nvPr>
            <p:ph type="sldImg"/>
          </p:nvPr>
        </p:nvSpPr>
        <p:spPr>
          <a:xfrm>
            <a:off x="685800" y="1143000"/>
            <a:ext cx="5485680" cy="3085560"/>
          </a:xfrm>
          <a:prstGeom prst="rect">
            <a:avLst/>
          </a:prstGeom>
        </p:spPr>
      </p:sp>
      <p:sp>
        <p:nvSpPr>
          <p:cNvPr id="212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DML avanzado (window functions, CTE) y encapsular el resultado en un procedimiento almacenado, observando plan caching y parameter sniffing en vivo.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60–70 min. Los alumnos trabajan individualmente o por parejas sobre la BD Ventas creada en las diapositivas de DDL.</a:t>
            </a:r>
            <a:endParaRPr b="0" lang="es-ES" sz="2000" spc="-1" strike="noStrike">
              <a:latin typeface="Arial"/>
            </a:endParaRPr>
          </a:p>
          <a:p>
            <a:pPr marL="216000" indent="-216000">
              <a:lnSpc>
                <a:spcPct val="100000"/>
              </a:lnSpc>
            </a:pPr>
            <a:r>
              <a:rPr b="0" lang="en-US" sz="2000" spc="-1" strike="noStrike">
                <a:latin typeface="Arial"/>
              </a:rPr>
              <a:t>- Objetivo técnico: ver con sus propios ojos que (1) las window functions resuelven en una consulta lo que antes requería auto-joins, (2) un procedimiento reutiliza plan y (3) el mismo plan puede ser bueno para un parámetro y malo para otro.</a:t>
            </a:r>
            <a:endParaRPr b="0" lang="es-ES" sz="2000" spc="-1" strike="noStrike">
              <a:latin typeface="Arial"/>
            </a:endParaRPr>
          </a:p>
          <a:p>
            <a:pPr marL="216000" indent="-216000">
              <a:lnSpc>
                <a:spcPct val="100000"/>
              </a:lnSpc>
            </a:pPr>
            <a:r>
              <a:rPr b="0" lang="en-US" sz="2000" spc="-1" strike="noStrike">
                <a:latin typeface="Arial"/>
              </a:rPr>
              <a:t>- El docente recorre los puestos al paso 3: es donde más se atascan (CTE antes del SELECT, ORDER BY dentro de la CTE, nombres de columna).</a:t>
            </a:r>
            <a:endParaRPr b="0" lang="es-ES" sz="2000" spc="-1" strike="noStrike">
              <a:latin typeface="Arial"/>
            </a:endParaRPr>
          </a:p>
          <a:p>
            <a:pPr marL="216000" indent="-216000">
              <a:lnSpc>
                <a:spcPct val="100000"/>
              </a:lnSpc>
            </a:pPr>
            <a:r>
              <a:rPr b="0" lang="en-US" sz="2000" spc="-1" strike="noStrike">
                <a:latin typeface="Arial"/>
              </a:rPr>
              <a:t>- Criterio de éxito: el procedimiento devuelve las 3 mejores ventas de cada cliente y el alumno sabe explicar por qué el plan para @ClienteId = 1 (60 % de las filas) es diferente del de un cliente raro.</a:t>
            </a:r>
            <a:endParaRPr b="0" lang="es-ES" sz="2000" spc="-1" strike="noStrike">
              <a:latin typeface="Arial"/>
            </a:endParaRPr>
          </a:p>
          <a:p>
            <a:pPr marL="216000" indent="-216000">
              <a:lnSpc>
                <a:spcPct val="100000"/>
              </a:lnSpc>
            </a:pPr>
            <a:r>
              <a:rPr b="0" lang="en-US" sz="2000" spc="-1" strike="noStrike">
                <a:latin typeface="Arial"/>
              </a:rPr>
              <a:t>- Cierre: puesta en común de 5 minutos; pedir a un grupo que enseñe su plan con el Key Lookup y a otro el plan con Clustered Index Scan.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 plan de la segunda ejecución es idéntico al de la primera aunque el parámetro sea distinto?</a:t>
            </a:r>
            <a:endParaRPr b="0" lang="es-ES" sz="2000" spc="-1" strike="noStrike">
              <a:latin typeface="Arial"/>
            </a:endParaRPr>
          </a:p>
          <a:p>
            <a:pPr marL="216000" indent="-216000">
              <a:lnSpc>
                <a:spcPct val="100000"/>
              </a:lnSpc>
            </a:pPr>
            <a:r>
              <a:rPr b="0" lang="en-US" sz="2000" spc="-1" strike="noStrike">
                <a:latin typeface="Arial"/>
              </a:rPr>
              <a:t>- ¿Qué cambia en el plan al añadir OPTION (RECOMPILE)? ¿Qué coste tiene hacerlo en cada ejecución?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contenedor SQL Server 2025 en marcha (docker run -e ACCEPT_EULA=Y -e MSSQL_SA_PASSWORD=&lt;clave&gt; -p 1433:1433 mcr.microsoft.com/mssql/server:2025-latest) y SSMS conectado a localhost,1433.</a:t>
            </a:r>
            <a:endParaRPr b="0" lang="es-ES" sz="2000" spc="-1" strike="noStrike">
              <a:latin typeface="Arial"/>
            </a:endParaRPr>
          </a:p>
          <a:p>
            <a:pPr marL="216000" indent="-216000">
              <a:lnSpc>
                <a:spcPct val="100000"/>
              </a:lnSpc>
            </a:pPr>
            <a:r>
              <a:rPr b="0" lang="en-US" sz="2000" spc="-1" strike="noStrike">
                <a:latin typeface="Arial"/>
              </a:rPr>
              <a:t>-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a:t>
            </a:r>
            <a:endParaRPr b="0" lang="es-ES" sz="2000" spc="-1" strike="noStrike">
              <a:latin typeface="Arial"/>
            </a:endParaRPr>
          </a:p>
          <a:p>
            <a:pPr marL="216000" indent="-216000">
              <a:lnSpc>
                <a:spcPct val="100000"/>
              </a:lnSpc>
            </a:pPr>
            <a:r>
              <a:rPr b="0" lang="en-US" sz="2000" spc="-1" strike="noStrike">
                <a:latin typeface="Arial"/>
              </a:rPr>
              <a:t>-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a:t>
            </a:r>
            <a:endParaRPr b="0" lang="es-ES" sz="2000" spc="-1" strike="noStrike">
              <a:latin typeface="Arial"/>
            </a:endParaRPr>
          </a:p>
          <a:p>
            <a:pPr marL="216000" indent="-216000">
              <a:lnSpc>
                <a:spcPct val="100000"/>
              </a:lnSpc>
            </a:pPr>
            <a:r>
              <a:rPr b="0" lang="en-US" sz="2000" spc="-1" strike="noStrike">
                <a:latin typeface="Arial"/>
              </a:rPr>
              <a:t>- Paso 2 — Consulta analítica: top 3 pedidos por importe de cada cliente con ROW_NUMBER() OVER (PARTITION BY ClienteId ORDER BY Total DESC) dentro de una CTE y WHERE rn &lt;= 3 fuera. Añadir una columna con SUM(Total) OVER (PARTITION BY ClienteId) para el % sobre el total del cliente.</a:t>
            </a:r>
            <a:endParaRPr b="0" lang="es-ES" sz="2000" spc="-1" strike="noStrike">
              <a:latin typeface="Arial"/>
            </a:endParaRPr>
          </a:p>
          <a:p>
            <a:pPr marL="216000" indent="-216000">
              <a:lnSpc>
                <a:spcPct val="100000"/>
              </a:lnSpc>
            </a:pPr>
            <a:r>
              <a:rPr b="0" lang="en-US" sz="2000" spc="-1" strike="noStrike">
                <a:latin typeface="Arial"/>
              </a:rPr>
              <a:t>- Paso 3 — Procedimiento: CREATE OR ALTER PROCEDURE dbo.usp_TopPedidosCliente @ClienteId INT, @N INT = 3 con SET NOCOUNT ON y SELECT TOP (@N) ... ORDER BY Total DESC. Probar EXEC con @ClienteId = 1 y luego con 250.</a:t>
            </a:r>
            <a:endParaRPr b="0" lang="es-ES" sz="2000" spc="-1" strike="noStrike">
              <a:latin typeface="Arial"/>
            </a:endParaRPr>
          </a:p>
          <a:p>
            <a:pPr marL="216000" indent="-216000">
              <a:lnSpc>
                <a:spcPct val="100000"/>
              </a:lnSpc>
            </a:pPr>
            <a:r>
              <a:rPr b="0" lang="en-US" sz="2000" spc="-1" strike="noStrike">
                <a:latin typeface="Arial"/>
              </a:rPr>
              <a:t>-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a:t>
            </a:r>
            <a:endParaRPr b="0" lang="es-ES" sz="2000" spc="-1" strike="noStrike">
              <a:latin typeface="Arial"/>
            </a:endParaRPr>
          </a:p>
          <a:p>
            <a:pPr marL="216000" indent="-216000">
              <a:lnSpc>
                <a:spcPct val="100000"/>
              </a:lnSpc>
            </a:pPr>
            <a:r>
              <a:rPr b="0" lang="en-US" sz="2000" spc="-1" strike="noStrike">
                <a:latin typeface="Arial"/>
              </a:rPr>
              <a:t>- Trampas habituales: (a) ORDER BY dentro de una CTE sin TOP → error 1033; (b) filtrar rn en el mismo SELECT donde se calcula → error 4108 (usar CTE); (c) ejecutar CREATE PROCEDURE sin GO previo cuando hay más sentencias en el lote; (d) olvidar USE Ventas y crear los objetos en master.</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b="0" lang="es-ES" sz="2000" spc="-1" strike="noStrike">
              <a:latin typeface="Arial"/>
            </a:endParaRPr>
          </a:p>
        </p:txBody>
      </p:sp>
      <p:sp>
        <p:nvSpPr>
          <p:cNvPr id="212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97426B1-27A5-4694-B2B0-1F2EBD3F0B1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5" name="PlaceHolder 1"/>
          <p:cNvSpPr>
            <a:spLocks noGrp="1"/>
          </p:cNvSpPr>
          <p:nvPr>
            <p:ph type="sldImg"/>
          </p:nvPr>
        </p:nvSpPr>
        <p:spPr>
          <a:xfrm>
            <a:off x="685800" y="1143000"/>
            <a:ext cx="5485680" cy="3085560"/>
          </a:xfrm>
          <a:prstGeom prst="rect">
            <a:avLst/>
          </a:prstGeom>
        </p:spPr>
      </p:sp>
      <p:sp>
        <p:nvSpPr>
          <p:cNvPr id="212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Presentar la cadena completa de seguridad (autenticación → login → user → roles/permisos → objetos) y la frontera entre nivel de instancia y de base de datos.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petición atraviesa varias capas en orden. 1) Autenticación: ¿quién eres? Windows (Kerberos/NTLM) o SQL Server (usuario y contraseña). 2) Login: principal a nivel de servidor que permite entrar a la instancia (sys.server_principals).</a:t>
            </a:r>
            <a:endParaRPr b="0" lang="es-ES" sz="2000" spc="-1" strike="noStrike">
              <a:latin typeface="Arial"/>
            </a:endParaRPr>
          </a:p>
          <a:p>
            <a:pPr marL="216000" indent="-216000">
              <a:lnSpc>
                <a:spcPct val="100000"/>
              </a:lnSpc>
            </a:pPr>
            <a:r>
              <a:rPr b="0" lang="en-US" sz="2000" spc="-1" strike="noStrike">
                <a:latin typeface="Arial"/>
              </a:rPr>
              <a:t>- 3) User: principal de base de datos mapeado a un login (sys.database_principals); sin user (o guest) no se accede a la BD aunque el login sea válido. 4) Roles y permisos: GRANT/DENY/REVOKE sobre objetos, schemas o la propia BD. 5) Objetos: tablas, vistas, procedimientos, agrupados en schemas.</a:t>
            </a:r>
            <a:endParaRPr b="0" lang="es-ES" sz="2000" spc="-1" strike="noStrike">
              <a:latin typeface="Arial"/>
            </a:endParaRPr>
          </a:p>
          <a:p>
            <a:pPr marL="216000" indent="-216000">
              <a:lnSpc>
                <a:spcPct val="100000"/>
              </a:lnSpc>
            </a:pPr>
            <a:r>
              <a:rPr b="0" lang="en-US" sz="2000" spc="-1" strike="noStrike">
                <a:latin typeface="Arial"/>
              </a:rPr>
              <a:t>- Los permisos se evalúan jerárquicamente: servidor → base de datos → schema → objeto → columna. Un permiso concedido en un nivel alto (p. ej. SELECT sobre la BD) se hereda por los inferiores, salvo DENY.</a:t>
            </a:r>
            <a:endParaRPr b="0" lang="es-ES" sz="2000" spc="-1" strike="noStrike">
              <a:latin typeface="Arial"/>
            </a:endParaRPr>
          </a:p>
          <a:p>
            <a:pPr marL="216000" indent="-216000">
              <a:lnSpc>
                <a:spcPct val="100000"/>
              </a:lnSpc>
            </a:pPr>
            <a:r>
              <a:rPr b="0" lang="en-US" sz="2000" spc="-1" strike="noStrike">
                <a:latin typeface="Arial"/>
              </a:rPr>
              <a:t>- Principals: logins, users, roles de servidor/BD y roles de aplicación. Securables: servidor, BD, schema, objeto. Permission: CONNECT, SELECT, EXECUTE, ALTER, CONTROL, etc.</a:t>
            </a:r>
            <a:endParaRPr b="0" lang="es-ES" sz="2000" spc="-1" strike="noStrike">
              <a:latin typeface="Arial"/>
            </a:endParaRPr>
          </a:p>
          <a:p>
            <a:pPr marL="216000" indent="-216000">
              <a:lnSpc>
                <a:spcPct val="100000"/>
              </a:lnSpc>
            </a:pPr>
            <a:r>
              <a:rPr b="0" lang="en-US" sz="2000" spc="-1" strike="noStrike">
                <a:latin typeface="Arial"/>
              </a:rPr>
              <a:t>- Idea clave para el DBA: el login abre la puerta de la instancia, pero no da acceso a ningún dato; ahí entran el user, los roles y los permisos. Por eso «tener un login» y «tener acceso» no son lo mismo.</a:t>
            </a:r>
            <a:endParaRPr b="0" lang="es-ES" sz="2000" spc="-1" strike="noStrike">
              <a:latin typeface="Arial"/>
            </a:endParaRPr>
          </a:p>
          <a:p>
            <a:pPr marL="216000" indent="-216000">
              <a:lnSpc>
                <a:spcPct val="100000"/>
              </a:lnSpc>
            </a:pPr>
            <a:r>
              <a:rPr b="0" lang="en-US" sz="2000" spc="-1" strike="noStrike">
                <a:latin typeface="Arial"/>
              </a:rPr>
              <a:t>- Otras capas complementarias fuera de esta diapositiva: cifrado en tránsito (TLS), TDE, Always Encrypted, Row-Level Security y Dynamic Data Masking. Se mencionan, no se desarrollan.</a:t>
            </a:r>
            <a:endParaRPr b="0" lang="es-ES" sz="2000" spc="-1" strike="noStrike">
              <a:latin typeface="Arial"/>
            </a:endParaRPr>
          </a:p>
          <a:p>
            <a:pPr marL="216000" indent="-216000">
              <a:lnSpc>
                <a:spcPct val="100000"/>
              </a:lnSpc>
            </a:pPr>
            <a:r>
              <a:rPr b="0" lang="en-US" sz="2000" spc="-1" strike="noStrike">
                <a:latin typeface="Arial"/>
              </a:rPr>
              <a:t>- Vistas de catálogo de referencia: sys.server_principals, sys.database_principals, sys.server_permissions, sys.database_permissions y sys.fn_my_permissions.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¿Puede un login con credenciales válidas conectarse a la instancia y aun así no ver ninguna base de datos de usuario? ¿Por qué?</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un permiso concedido a nivel de schema y uno concedido tabla a tabla en una base de datos con 500 tablas?</a:t>
            </a:r>
            <a:endParaRPr b="0" lang="es-ES" sz="2000" spc="-1" strike="noStrike">
              <a:latin typeface="Arial"/>
            </a:endParaRPr>
          </a:p>
        </p:txBody>
      </p:sp>
      <p:sp>
        <p:nvSpPr>
          <p:cNvPr id="212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3055484-CE68-44EE-AF0B-268DE84582E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8" name="PlaceHolder 1"/>
          <p:cNvSpPr>
            <a:spLocks noGrp="1"/>
          </p:cNvSpPr>
          <p:nvPr>
            <p:ph type="sldImg"/>
          </p:nvPr>
        </p:nvSpPr>
        <p:spPr>
          <a:xfrm>
            <a:off x="685800" y="1143000"/>
            <a:ext cx="5485680" cy="3085560"/>
          </a:xfrm>
          <a:prstGeom prst="rect">
            <a:avLst/>
          </a:prstGeom>
        </p:spPr>
      </p:sp>
      <p:sp>
        <p:nvSpPr>
          <p:cNvPr id="212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los dos modos de autenticación, saber cuándo habilitar el modo mixto y cuáles son sus riesgos.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a:t>
            </a:r>
            <a:endParaRPr b="0" lang="es-ES" sz="2000" spc="-1" strike="noStrike">
              <a:latin typeface="Arial"/>
            </a:endParaRPr>
          </a:p>
          <a:p>
            <a:pPr marL="216000" indent="-216000">
              <a:lnSpc>
                <a:spcPct val="100000"/>
              </a:lnSpc>
            </a:pPr>
            <a:r>
              <a:rPr b="0" lang="en-US" sz="2000" spc="-1" strike="noStrike">
                <a:latin typeface="Arial"/>
              </a:rPr>
              <a:t>- Autenticación de SQL Server: el login y el hash de la contraseña (SHA-512 con sal desde 2012) se guardan en master (sys.sql_logins). Sirve para aplicaciones heredadas, servidores fuera de dominio, instancias en Linux o contenedores sin AD y herramientas de terceros.</a:t>
            </a:r>
            <a:endParaRPr b="0" lang="es-ES" sz="2000" spc="-1" strike="noStrike">
              <a:latin typeface="Arial"/>
            </a:endParaRPr>
          </a:p>
          <a:p>
            <a:pPr marL="216000" indent="-216000">
              <a:lnSpc>
                <a:spcPct val="100000"/>
              </a:lnSpc>
            </a:pPr>
            <a:r>
              <a:rPr b="0" lang="en-US" sz="2000" spc="-1" strike="noStrike">
                <a:latin typeface="Arial"/>
              </a:rPr>
              <a:t>- Modo de autenticación del servidor: «Sólo Windows» o «Mixto» (Windows + SQL). Se cambia en Propiedades del servidor → Seguridad y requiere reiniciar el servicio. SERVERPROPERTY('IsIntegratedSecurityOnly') indica el modo (1 = sólo Windows).</a:t>
            </a:r>
            <a:endParaRPr b="0" lang="es-ES" sz="2000" spc="-1" strike="noStrike">
              <a:latin typeface="Arial"/>
            </a:endParaRPr>
          </a:p>
          <a:p>
            <a:pPr marL="216000" indent="-216000">
              <a:lnSpc>
                <a:spcPct val="100000"/>
              </a:lnSpc>
            </a:pPr>
            <a:r>
              <a:rPr b="0" lang="en-US" sz="2000" spc="-1" strike="noStrike">
                <a:latin typeface="Arial"/>
              </a:rPr>
              <a:t>- En modo mixto la cuenta sa pasa a estar activa: es el objetivo número uno de los ataques de fuerza bruta. Buenas prácticas: contraseña robusta, cambiar el nombre (ALTER LOGIN sa WITH NAME = ...) o deshabilitarla (ALTER LOGIN sa DISABLE).</a:t>
            </a:r>
            <a:endParaRPr b="0" lang="es-ES" sz="2000" spc="-1" strike="noStrike">
              <a:latin typeface="Arial"/>
            </a:endParaRPr>
          </a:p>
          <a:p>
            <a:pPr marL="216000" indent="-216000">
              <a:lnSpc>
                <a:spcPct val="100000"/>
              </a:lnSpc>
            </a:pPr>
            <a:r>
              <a:rPr b="0" lang="en-US" sz="2000" spc="-1" strike="noStrike">
                <a:latin typeface="Arial"/>
              </a:rPr>
              <a:t>- Para logins SQL activar CHECK_POLICY = ON (aplica la política de contraseñas de Windows) y CHECK_EXPIRATION según el caso. Visible en sys.sql_logins (is_policy_checked, is_expiration_checked).</a:t>
            </a:r>
            <a:endParaRPr b="0" lang="es-ES" sz="2000" spc="-1" strike="noStrike">
              <a:latin typeface="Arial"/>
            </a:endParaRPr>
          </a:p>
          <a:p>
            <a:pPr marL="216000" indent="-216000">
              <a:lnSpc>
                <a:spcPct val="100000"/>
              </a:lnSpc>
            </a:pPr>
            <a:r>
              <a:rPr b="0" lang="en-US" sz="2000" spc="-1" strike="noStrike">
                <a:latin typeface="Arial"/>
              </a:rPr>
              <a:t>- Problema del doble salto (double hop): con Kerberos mal configurado (SPN ausente), las conexiones remotas caen a NTLM o fallan. Verificar con SELECT auth_scheme FROM sys.dm_exec_connections WHERE session_id = @@SPID.</a:t>
            </a:r>
            <a:endParaRPr b="0" lang="es-ES" sz="2000" spc="-1" strike="noStrike">
              <a:latin typeface="Arial"/>
            </a:endParaRPr>
          </a:p>
          <a:p>
            <a:pPr marL="216000" indent="-216000">
              <a:lnSpc>
                <a:spcPct val="100000"/>
              </a:lnSpc>
            </a:pPr>
            <a:r>
              <a:rPr b="0" lang="en-US" sz="2000" spc="-1" strike="noStrike">
                <a:latin typeface="Arial"/>
              </a:rPr>
              <a:t>- En Docker/Linux (contenedor del laboratorio) la autenticación inicial es SQL (sa); Windows/AD se habilita con adutil en SQL Server 2019+ pero queda fuera del alcance del 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operativas tiene crear un login para un grupo de Active Directory en lugar de uno por persona?</a:t>
            </a:r>
            <a:endParaRPr b="0" lang="es-ES" sz="2000" spc="-1" strike="noStrike">
              <a:latin typeface="Arial"/>
            </a:endParaRPr>
          </a:p>
          <a:p>
            <a:pPr marL="216000" indent="-215640">
              <a:lnSpc>
                <a:spcPct val="100000"/>
              </a:lnSpc>
              <a:tabLst>
                <a:tab algn="l" pos="0"/>
              </a:tabLst>
            </a:pPr>
            <a:r>
              <a:rPr b="0" lang="en-US" sz="2000" spc="-1" strike="noStrike">
                <a:latin typeface="Arial"/>
              </a:rPr>
              <a:t>- ¿Qué haríais con la cuenta sa en un servidor en modo mixto expuesto a varias aplicaciones? ¿Y si una aplicación sólo soporta SQL Auth?</a:t>
            </a:r>
            <a:endParaRPr b="0" lang="es-ES" sz="2000" spc="-1" strike="noStrike">
              <a:latin typeface="Arial"/>
            </a:endParaRPr>
          </a:p>
        </p:txBody>
      </p:sp>
      <p:sp>
        <p:nvSpPr>
          <p:cNvPr id="213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7BE46DD-DF74-450C-83D6-A1512C7E1BE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1" name="PlaceHolder 1"/>
          <p:cNvSpPr>
            <a:spLocks noGrp="1"/>
          </p:cNvSpPr>
          <p:nvPr>
            <p:ph type="sldImg"/>
          </p:nvPr>
        </p:nvSpPr>
        <p:spPr>
          <a:xfrm>
            <a:off x="685800" y="1143000"/>
            <a:ext cx="5485680" cy="3085560"/>
          </a:xfrm>
          <a:prstGeom prst="rect">
            <a:avLst/>
          </a:prstGeom>
        </p:spPr>
      </p:sp>
      <p:sp>
        <p:nvSpPr>
          <p:cNvPr id="213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login (instancia) de user (base de datos), entender su mapeo por SID y usar los schemas como espacio de nombres y unidad de permisos.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Login = principal de servidor; User = principal de base de datos. Se enlazan por el SID (Security Identifier). CREATE USER ... FOR LOGIN guarda el SID del login en sys.database_principals.</a:t>
            </a:r>
            <a:endParaRPr b="0" lang="es-ES" sz="2000" spc="-1" strike="noStrike">
              <a:latin typeface="Arial"/>
            </a:endParaRPr>
          </a:p>
          <a:p>
            <a:pPr marL="216000" indent="-216000">
              <a:lnSpc>
                <a:spcPct val="100000"/>
              </a:lnSpc>
            </a:pPr>
            <a:r>
              <a:rPr b="0" lang="en-US" sz="2000" spc="-1" strike="noStrike">
                <a:latin typeface="Arial"/>
              </a:rPr>
              <a:t>- Un login puede tener un user distinto en cada BD; sin user en la BD (y guest deshabilitado) no hay acceso. Cada BD tiene el user especial dbo (propietario) y los de sistema (guest, INFORMATION_SCHEMA, sys).</a:t>
            </a:r>
            <a:endParaRPr b="0" lang="es-ES" sz="2000" spc="-1" strike="noStrike">
              <a:latin typeface="Arial"/>
            </a:endParaRPr>
          </a:p>
          <a:p>
            <a:pPr marL="216000" indent="-216000">
              <a:lnSpc>
                <a:spcPct val="100000"/>
              </a:lnSpc>
            </a:pPr>
            <a:r>
              <a:rPr b="0" lang="en-US" sz="2000" spc="-1" strike="noStrike">
                <a:latin typeface="Arial"/>
              </a:rPr>
              <a:t>-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a:t>
            </a:r>
            <a:endParaRPr b="0" lang="es-ES" sz="2000" spc="-1" strike="noStrike">
              <a:latin typeface="Arial"/>
            </a:endParaRPr>
          </a:p>
          <a:p>
            <a:pPr marL="216000" indent="-216000">
              <a:lnSpc>
                <a:spcPct val="100000"/>
              </a:lnSpc>
            </a:pPr>
            <a:r>
              <a:rPr b="0" lang="en-US" sz="2000" spc="-1" strike="noStrike">
                <a:latin typeface="Arial"/>
              </a:rPr>
              <a:t>- Schema = espacio de nombres y contenedor de seguridad dentro de la BD. No es lo mismo que el user (desde 2005 están separados): el propietario del schema puede cambiarse sin renombrar objetos.</a:t>
            </a:r>
            <a:endParaRPr b="0" lang="es-ES" sz="2000" spc="-1" strike="noStrike">
              <a:latin typeface="Arial"/>
            </a:endParaRPr>
          </a:p>
          <a:p>
            <a:pPr marL="216000" indent="-216000">
              <a:lnSpc>
                <a:spcPct val="100000"/>
              </a:lnSpc>
            </a:pPr>
            <a:r>
              <a:rPr b="0" lang="en-US" sz="2000" spc="-1" strike="noStrike">
                <a:latin typeface="Arial"/>
              </a:rPr>
              <a:t>- Un permiso concedido a nivel de schema (GRANT SELECT ON SCHEMA::rpt) cubre los objetos actuales y los futuros; es la forma más mantenible de segregar permisos (rpt para informes, app para procedimientos de aplicación, dbo para administración).</a:t>
            </a:r>
            <a:endParaRPr b="0" lang="es-ES" sz="2000" spc="-1" strike="noStrike">
              <a:latin typeface="Arial"/>
            </a:endParaRPr>
          </a:p>
          <a:p>
            <a:pPr marL="216000" indent="-216000">
              <a:lnSpc>
                <a:spcPct val="100000"/>
              </a:lnSpc>
            </a:pPr>
            <a:r>
              <a:rPr b="0" lang="en-US" sz="2000" spc="-1" strike="noStrike">
                <a:latin typeface="Arial"/>
              </a:rPr>
              <a:t>- DEFAULT_SCHEMA del user determina cómo se resuelven nombres sin calificar; mejor calificar siempre (dbo.Pedido) para evitar resoluciones ambiguas y ahorrar recompilaciones en el plan cache.</a:t>
            </a:r>
            <a:endParaRPr b="0" lang="es-ES" sz="2000" spc="-1" strike="noStrike">
              <a:latin typeface="Arial"/>
            </a:endParaRPr>
          </a:p>
          <a:p>
            <a:pPr marL="216000" indent="-216000">
              <a:lnSpc>
                <a:spcPct val="100000"/>
              </a:lnSpc>
            </a:pPr>
            <a:r>
              <a:rPr b="0" lang="en-US" sz="2000" spc="-1" strike="noStrike">
                <a:latin typeface="Arial"/>
              </a:rPr>
              <a:t>- Cuidado con CREATE LOGIN ... WITH PASSWORD en scripts versionados: nunca contraseñas reales en el control de código. Para Windows: CREATE LOGIN [DOMINIO\ana] FROM WINDOWS (sólo con 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restauráis una copia de Ventas en otro servidor donde el login lg_analista existe pero se creó con otro SID?</a:t>
            </a:r>
            <a:endParaRPr b="0" lang="es-ES" sz="2000" spc="-1" strike="noStrike">
              <a:latin typeface="Arial"/>
            </a:endParaRPr>
          </a:p>
          <a:p>
            <a:pPr marL="216000" indent="-215640">
              <a:lnSpc>
                <a:spcPct val="100000"/>
              </a:lnSpc>
              <a:tabLst>
                <a:tab algn="l" pos="0"/>
              </a:tabLst>
            </a:pPr>
            <a:r>
              <a:rPr b="0" lang="en-US" sz="2000" spc="-1" strike="noStrike">
                <a:latin typeface="Arial"/>
              </a:rPr>
              <a:t>- ¿Qué ventaja tiene organizar los objetos en schemas (rpt, app, dbo) frente a tenerlo todo en dbo?</a:t>
            </a:r>
            <a:endParaRPr b="0" lang="es-ES" sz="2000" spc="-1" strike="noStrike">
              <a:latin typeface="Arial"/>
            </a:endParaRPr>
          </a:p>
        </p:txBody>
      </p:sp>
      <p:sp>
        <p:nvSpPr>
          <p:cNvPr id="213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01CEB39-7C7A-465C-86CB-DA026FE96C5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4" name="PlaceHolder 1"/>
          <p:cNvSpPr>
            <a:spLocks noGrp="1"/>
          </p:cNvSpPr>
          <p:nvPr>
            <p:ph type="sldImg"/>
          </p:nvPr>
        </p:nvSpPr>
        <p:spPr>
          <a:xfrm>
            <a:off x="685800" y="1143000"/>
            <a:ext cx="5485680" cy="3085560"/>
          </a:xfrm>
          <a:prstGeom prst="rect">
            <a:avLst/>
          </a:prstGeom>
        </p:spPr>
      </p:sp>
      <p:sp>
        <p:nvSpPr>
          <p:cNvPr id="213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los roles fijos más relevantes y justificar por qué se prefieren roles personalizados con permisos sobre schemas.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a:t>
            </a:r>
            <a:endParaRPr b="0" lang="es-ES" sz="2000" spc="-1" strike="noStrike">
              <a:latin typeface="Arial"/>
            </a:endParaRPr>
          </a:p>
          <a:p>
            <a:pPr marL="216000" indent="-216000">
              <a:lnSpc>
                <a:spcPct val="100000"/>
              </a:lnSpc>
            </a:pPr>
            <a:r>
              <a:rPr b="0" lang="en-US" sz="2000" spc="-1" strike="noStrike">
                <a:latin typeface="Arial"/>
              </a:rPr>
              <a:t>- Roles fijos de BD: db_owner (control total de la BD), db_datareader/db_datawriter (SELECT/INSERT-UPDATE-DELETE sobre todas las tablas), db_ddladmin (DDL), db_securityadmin, db_accessadmin, db_backupoperator y los db_denydatareader/db_denydatawriter.</a:t>
            </a:r>
            <a:endParaRPr b="0" lang="es-ES" sz="2000" spc="-1" strike="noStrike">
              <a:latin typeface="Arial"/>
            </a:endParaRPr>
          </a:p>
          <a:p>
            <a:pPr marL="216000" indent="-216000">
              <a:lnSpc>
                <a:spcPct val="100000"/>
              </a:lnSpc>
            </a:pPr>
            <a:r>
              <a:rPr b="0" lang="en-US" sz="2000" spc="-1" strike="noStrike">
                <a:latin typeface="Arial"/>
              </a:rPr>
              <a:t>- El rol public existe en servidor y BD, y todos los principals pertenecen a él: no se le debe conceder nada que no se quiera dar a todo el mundo.</a:t>
            </a:r>
            <a:endParaRPr b="0" lang="es-ES" sz="2000" spc="-1" strike="noStrike">
              <a:latin typeface="Arial"/>
            </a:endParaRPr>
          </a:p>
          <a:p>
            <a:pPr marL="216000" indent="-216000">
              <a:lnSpc>
                <a:spcPct val="100000"/>
              </a:lnSpc>
            </a:pPr>
            <a:r>
              <a:rPr b="0" lang="en-US" sz="2000" spc="-1" strike="noStrike">
                <a:latin typeface="Arial"/>
              </a:rPr>
              <a:t>- Problema de los roles fijos: son «todo o nada» (db_datareader lee todas las tablas presentes y futuras). Para el mínimo privilegio se definen roles personalizados (CREATE ROLE) y se les concede permisos sobre un schema o procedimientos concretos.</a:t>
            </a:r>
            <a:endParaRPr b="0" lang="es-ES" sz="2000" spc="-1" strike="noStrike">
              <a:latin typeface="Arial"/>
            </a:endParaRPr>
          </a:p>
          <a:p>
            <a:pPr marL="216000" indent="-216000">
              <a:lnSpc>
                <a:spcPct val="100000"/>
              </a:lnSpc>
            </a:pPr>
            <a:r>
              <a:rPr b="0" lang="en-US" sz="2000" spc="-1" strike="noStrike">
                <a:latin typeface="Arial"/>
              </a:rPr>
              <a:t>- Gestión: ALTER ROLE rol ADD MEMBER usuario (desde 2012; sp_addrolemember está obsoleto). En SQL Server 2012+ también existen roles de servidor definidos por el usuario (CREATE SERVER ROLE).</a:t>
            </a:r>
            <a:endParaRPr b="0" lang="es-ES" sz="2000" spc="-1" strike="noStrike">
              <a:latin typeface="Arial"/>
            </a:endParaRPr>
          </a:p>
          <a:p>
            <a:pPr marL="216000" indent="-216000">
              <a:lnSpc>
                <a:spcPct val="100000"/>
              </a:lnSpc>
            </a:pPr>
            <a:r>
              <a:rPr b="0" lang="en-US" sz="2000" spc="-1" strike="noStrike">
                <a:latin typeface="Arial"/>
              </a:rPr>
              <a:t>- Los roles pueden anidarse (un rol miembro de otro), pero la anidación excesiva complica las auditorías. Convención: rol_&lt;función&gt;, p. ej. rol_lectura_rpt, rol_operador.</a:t>
            </a:r>
            <a:endParaRPr b="0" lang="es-ES" sz="2000" spc="-1" strike="noStrike">
              <a:latin typeface="Arial"/>
            </a:endParaRPr>
          </a:p>
          <a:p>
            <a:pPr marL="216000" indent="-216000">
              <a:lnSpc>
                <a:spcPct val="100000"/>
              </a:lnSpc>
            </a:pPr>
            <a:r>
              <a:rPr b="0" lang="en-US" sz="2000" spc="-1" strike="noStrike">
                <a:latin typeface="Arial"/>
              </a:rPr>
              <a:t>- Auditar membresías: SELECT r.name AS rol, m.name AS miembro FROM sys.database_role_members rm JOIN sys.database_principals r ON r.principal_id = rm.role_principal_id JOIN sys.database_principals m ON m.principal_id = rm.member_principal_id; y sys.server_role_members para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login miembro de securityadmin debe tratarse casi como un sysadmin?</a:t>
            </a:r>
            <a:endParaRPr b="0" lang="es-ES" sz="2000" spc="-1" strike="noStrike">
              <a:latin typeface="Arial"/>
            </a:endParaRPr>
          </a:p>
          <a:p>
            <a:pPr marL="216000" indent="-215640">
              <a:lnSpc>
                <a:spcPct val="100000"/>
              </a:lnSpc>
              <a:tabLst>
                <a:tab algn="l" pos="0"/>
              </a:tabLst>
            </a:pPr>
            <a:r>
              <a:rPr b="0" lang="en-US" sz="2000" spc="-1" strike="noStrike">
                <a:latin typeface="Arial"/>
              </a:rPr>
              <a:t>- ¿Qué ocurre con las tablas creadas el próximo mes si añadimos a un usuario a db_datareader? ¿Y si le damos SELECT sobre un schema?</a:t>
            </a:r>
            <a:endParaRPr b="0" lang="es-ES" sz="2000" spc="-1" strike="noStrike">
              <a:latin typeface="Arial"/>
            </a:endParaRPr>
          </a:p>
        </p:txBody>
      </p:sp>
      <p:sp>
        <p:nvSpPr>
          <p:cNvPr id="213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3531C7F-14E1-4335-B54F-52042F5464E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7" name="PlaceHolder 1"/>
          <p:cNvSpPr>
            <a:spLocks noGrp="1"/>
          </p:cNvSpPr>
          <p:nvPr>
            <p:ph type="sldImg"/>
          </p:nvPr>
        </p:nvSpPr>
        <p:spPr>
          <a:xfrm>
            <a:off x="685800" y="1143000"/>
            <a:ext cx="5485680" cy="3085560"/>
          </a:xfrm>
          <a:prstGeom prst="rect">
            <a:avLst/>
          </a:prstGeom>
        </p:spPr>
      </p:sp>
      <p:sp>
        <p:nvSpPr>
          <p:cNvPr id="213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correctamente las tres sentencias de permisos y razonar sobre la precedencia entre ellas y entre roles.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GRANT concede un permiso (SELECT, INSERT, UPDATE, DELETE, EXECUTE, ALTER, CONTROL…) sobre un securable. WITH GRANT OPTION permite al receptor delegarlo; usarlo con extrema cautela.</a:t>
            </a:r>
            <a:endParaRPr b="0" lang="es-ES" sz="2000" spc="-1" strike="noStrike">
              <a:latin typeface="Arial"/>
            </a:endParaRPr>
          </a:p>
          <a:p>
            <a:pPr marL="216000" indent="-216000">
              <a:lnSpc>
                <a:spcPct val="100000"/>
              </a:lnSpc>
            </a:pPr>
            <a:r>
              <a:rPr b="0" lang="en-US" sz="2000" spc="-1" strike="noStrike">
                <a:latin typeface="Arial"/>
              </a:rPr>
              <a:t>- DENY prohíbe explícitamente el permiso y tiene precedencia sobre cualquier GRANT, incluso heredado de un rol o de un nivel superior. Excepciones: no afecta a sysadmin ni al user dbo.</a:t>
            </a:r>
            <a:endParaRPr b="0" lang="es-ES" sz="2000" spc="-1" strike="noStrike">
              <a:latin typeface="Arial"/>
            </a:endParaRPr>
          </a:p>
          <a:p>
            <a:pPr marL="216000" indent="-216000">
              <a:lnSpc>
                <a:spcPct val="100000"/>
              </a:lnSpc>
            </a:pPr>
            <a:r>
              <a:rPr b="0" lang="en-US" sz="2000" spc="-1" strike="noStrike">
                <a:latin typeface="Arial"/>
              </a:rPr>
              <a:t>- REVOKE elimina un GRANT o un DENY previo y devuelve al estado «sin permiso explícito»: no equivale a denegar, y el usuario puede seguir teniendo el permiso por otro camino (rol o schema).</a:t>
            </a:r>
            <a:endParaRPr b="0" lang="es-ES" sz="2000" spc="-1" strike="noStrike">
              <a:latin typeface="Arial"/>
            </a:endParaRPr>
          </a:p>
          <a:p>
            <a:pPr marL="216000" indent="-216000">
              <a:lnSpc>
                <a:spcPct val="100000"/>
              </a:lnSpc>
            </a:pPr>
            <a:r>
              <a:rPr b="0" lang="en-US" sz="2000" spc="-1" strike="noStrike">
                <a:latin typeface="Arial"/>
              </a:rPr>
              <a:t>- Orden de evaluación: DENY &gt; GRANT &gt; sin permiso (denegado implícito). Los permisos de roles se acumulan, salvo un DENY en cualquiera de ellos.</a:t>
            </a:r>
            <a:endParaRPr b="0" lang="es-ES" sz="2000" spc="-1" strike="noStrike">
              <a:latin typeface="Arial"/>
            </a:endParaRPr>
          </a:p>
          <a:p>
            <a:pPr marL="216000" indent="-216000">
              <a:lnSpc>
                <a:spcPct val="100000"/>
              </a:lnSpc>
            </a:pPr>
            <a:r>
              <a:rPr b="0" lang="en-US" sz="2000" spc="-1" strike="noStrike">
                <a:latin typeface="Arial"/>
              </a:rPr>
              <a:t>- Los permisos se pueden aplicar a niveles distintos: servidor, BD, schema (GRANT SELECT ON SCHEMA::rpt), objeto, columna (GRANT SELECT (Nombre, Email) ON dbo.Cliente). Favorecer schema y rol.</a:t>
            </a:r>
            <a:endParaRPr b="0" lang="es-ES" sz="2000" spc="-1" strike="noStrike">
              <a:latin typeface="Arial"/>
            </a:endParaRPr>
          </a:p>
          <a:p>
            <a:pPr marL="216000" indent="-216000">
              <a:lnSpc>
                <a:spcPct val="100000"/>
              </a:lnSpc>
            </a:pPr>
            <a:r>
              <a:rPr b="0" lang="en-US" sz="2000" spc="-1" strike="noStrike">
                <a:latin typeface="Arial"/>
              </a:rPr>
              <a:t>- Verificación: sys.fn_my_permissions('dbo.Pedido', 'OBJECT') para el contexto actual; combinar con EXECUTE AS USER = 'x' para probar como otro usuario (siempre cerrar con REVERT). Catálogo: sys.database_permissions.</a:t>
            </a:r>
            <a:endParaRPr b="0" lang="es-ES" sz="2000" spc="-1" strike="noStrike">
              <a:latin typeface="Arial"/>
            </a:endParaRPr>
          </a:p>
          <a:p>
            <a:pPr marL="216000" indent="-216000">
              <a:lnSpc>
                <a:spcPct val="100000"/>
              </a:lnSpc>
            </a:pPr>
            <a:r>
              <a:rPr b="0" lang="en-US" sz="2000" spc="-1" strike="noStrike">
                <a:latin typeface="Arial"/>
              </a:rPr>
              <a:t>- Error típico del alumno: usar DENY como mecanismo principal. DENY es una excepción, no una estrategia: complica el análisis de permisos efectivos. Mejor construir la lista de GRANT mínima.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usuario pertenece a dos roles: uno con GRANT SELECT sobre dbo.Pedido y otro con DENY SELECT. ¿Qué ocurre al consultar? ¿Y si se hace REVOKE del DENY?</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los permisos efectivos de un usuario sin iniciar sesión como él?</a:t>
            </a:r>
            <a:endParaRPr b="0" lang="es-ES" sz="2000" spc="-1" strike="noStrike">
              <a:latin typeface="Arial"/>
            </a:endParaRPr>
          </a:p>
        </p:txBody>
      </p:sp>
      <p:sp>
        <p:nvSpPr>
          <p:cNvPr id="213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9EDC97A-24D1-43E0-A6B4-E130A659E1C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PlaceHolder 1"/>
          <p:cNvSpPr>
            <a:spLocks noGrp="1"/>
          </p:cNvSpPr>
          <p:nvPr>
            <p:ph type="sldImg"/>
          </p:nvPr>
        </p:nvSpPr>
        <p:spPr>
          <a:xfrm>
            <a:off x="685800" y="1143000"/>
            <a:ext cx="5485680" cy="3085560"/>
          </a:xfrm>
          <a:prstGeom prst="rect">
            <a:avLst/>
          </a:prstGeom>
        </p:spPr>
      </p:sp>
      <p:sp>
        <p:nvSpPr>
          <p:cNvPr id="214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cómo la cadena de propiedad permite exponer datos sólo a través de procedimientos o vistas y cuándo se rompe.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Cuando un objeto (vista, procedimiento) accede a otro con el mismo propietario, SQL Server comprueba sólo el permiso sobre el primer objeto (p. ej. EXECUTE) y omite la comprobación sobre los objetos subyacentes. Eso es el ownership chaining.</a:t>
            </a:r>
            <a:endParaRPr b="0" lang="es-ES" sz="2000" spc="-1" strike="noStrike">
              <a:latin typeface="Arial"/>
            </a:endParaRPr>
          </a:p>
          <a:p>
            <a:pPr marL="216000" indent="-216000">
              <a:lnSpc>
                <a:spcPct val="100000"/>
              </a:lnSpc>
            </a:pPr>
            <a:r>
              <a:rPr b="0" lang="en-US" sz="2000" spc="-1" strike="noStrike">
                <a:latin typeface="Arial"/>
              </a:rPr>
              <a:t>- Aplicación práctica: el operador recibe EXECUTE sobre app.usp_AltaPedido y no tiene ningún permiso sobre dbo.Pedido. El procedimiento escribe en la tabla porque el propietario del schema app y de dbo es el mismo (dbo): la cadena es intacta.</a:t>
            </a:r>
            <a:endParaRPr b="0" lang="es-ES" sz="2000" spc="-1" strike="noStrike">
              <a:latin typeface="Arial"/>
            </a:endParaRPr>
          </a:p>
          <a:p>
            <a:pPr marL="216000" indent="-216000">
              <a:lnSpc>
                <a:spcPct val="100000"/>
              </a:lnSpc>
            </a:pPr>
            <a:r>
              <a:rPr b="0" lang="en-US" sz="2000" spc="-1" strike="noStrike">
                <a:latin typeface="Arial"/>
              </a:rPr>
              <a:t>- La cadena se rompe cuando el propietario cambia a lo largo de ella (p. ej. procedimiento propiedad de otro user): entonces se evalúan los permisos del llamador sobre el objeto siguiente y falla con error 229 si no los tiene.</a:t>
            </a:r>
            <a:endParaRPr b="0" lang="es-ES" sz="2000" spc="-1" strike="noStrike">
              <a:latin typeface="Arial"/>
            </a:endParaRPr>
          </a:p>
          <a:p>
            <a:pPr marL="216000" indent="-216000">
              <a:lnSpc>
                <a:spcPct val="100000"/>
              </a:lnSpc>
            </a:pPr>
            <a:r>
              <a:rPr b="0" lang="en-US" sz="2000" spc="-1" strike="noStrike">
                <a:latin typeface="Arial"/>
              </a:rPr>
              <a:t>- Limitaciones: sólo cubre SELECT, INSERT, UPDATE, DELETE y EXECUTE; no cubre DDL (TRUNCATE TABLE, CREATE, ALTER) ni, importante, SQL dinámico: EXEC(@sql) y sp_executesql se ejecutan en otro contexto y rompen la cadena.</a:t>
            </a:r>
            <a:endParaRPr b="0" lang="es-ES" sz="2000" spc="-1" strike="noStrike">
              <a:latin typeface="Arial"/>
            </a:endParaRPr>
          </a:p>
          <a:p>
            <a:pPr marL="216000" indent="-216000">
              <a:lnSpc>
                <a:spcPct val="100000"/>
              </a:lnSpc>
            </a:pPr>
            <a:r>
              <a:rPr b="0" lang="en-US" sz="2000" spc="-1" strike="noStrike">
                <a:latin typeface="Arial"/>
              </a:rPr>
              <a:t>- Entre bases de datos, el cross-database ownership chaining está desactivado por defecto (DB_CHAINING OFF) y es un riesgo si se activa: un propietario de BD con db_owner puede alcanzar objetos de otras BDs.</a:t>
            </a:r>
            <a:endParaRPr b="0" lang="es-ES" sz="2000" spc="-1" strike="noStrike">
              <a:latin typeface="Arial"/>
            </a:endParaRPr>
          </a:p>
          <a:p>
            <a:pPr marL="216000" indent="-216000">
              <a:lnSpc>
                <a:spcPct val="100000"/>
              </a:lnSpc>
            </a:pPr>
            <a:r>
              <a:rPr b="0" lang="en-US" sz="2000" spc="-1" strike="noStrike">
                <a:latin typeface="Arial"/>
              </a:rPr>
              <a:t>- Alternativas explícitas y más controlables: EXECUTE AS OWNER en el módulo (cambio de contexto) o firma de procedimientos con certificados (module signing).</a:t>
            </a:r>
            <a:endParaRPr b="0" lang="es-ES" sz="2000" spc="-1" strike="noStrike">
              <a:latin typeface="Arial"/>
            </a:endParaRPr>
          </a:p>
          <a:p>
            <a:pPr marL="216000" indent="-216000">
              <a:lnSpc>
                <a:spcPct val="100000"/>
              </a:lnSpc>
            </a:pPr>
            <a:r>
              <a:rPr b="0" lang="en-US" sz="2000" spc="-1" strike="noStrike">
                <a:latin typeface="Arial"/>
              </a:rPr>
              <a:t>- Comprobación en laboratorio: EXECUTE AS USER = 'operador'; EXEC app.usp_AltaPedido ...; SELECT * FROM dbo.Pedido; (error 229). Documentarlo: es la forma más clara de demostrarlo a los alumnos.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procedimiento con SQL dinámico (EXEC(@sql)) falla con «permiso denegado» aunque el usuario tenga EXECUTE sobre él?</a:t>
            </a:r>
            <a:endParaRPr b="0" lang="es-ES" sz="2000" spc="-1" strike="noStrike">
              <a:latin typeface="Arial"/>
            </a:endParaRPr>
          </a:p>
          <a:p>
            <a:pPr marL="216000" indent="-215640">
              <a:lnSpc>
                <a:spcPct val="100000"/>
              </a:lnSpc>
              <a:tabLst>
                <a:tab algn="l" pos="0"/>
              </a:tabLst>
            </a:pPr>
            <a:r>
              <a:rPr b="0" lang="en-US" sz="2000" spc="-1" strike="noStrike">
                <a:latin typeface="Arial"/>
              </a:rPr>
              <a:t>- ¿Qué riesgo introduce activar cross-database ownership chaining entre dos bases de datos con administradores distintos?</a:t>
            </a:r>
            <a:endParaRPr b="0" lang="es-ES" sz="2000" spc="-1" strike="noStrike">
              <a:latin typeface="Arial"/>
            </a:endParaRPr>
          </a:p>
        </p:txBody>
      </p:sp>
      <p:sp>
        <p:nvSpPr>
          <p:cNvPr id="214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0413FD9-7F0C-43CF-AEA1-6C5FD2E647F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3" name="PlaceHolder 1"/>
          <p:cNvSpPr>
            <a:spLocks noGrp="1"/>
          </p:cNvSpPr>
          <p:nvPr>
            <p:ph type="sldImg"/>
          </p:nvPr>
        </p:nvSpPr>
        <p:spPr>
          <a:xfrm>
            <a:off x="685800" y="1143000"/>
            <a:ext cx="5485680" cy="3085560"/>
          </a:xfrm>
          <a:prstGeom prst="rect">
            <a:avLst/>
          </a:prstGeom>
        </p:spPr>
      </p:sp>
      <p:sp>
        <p:nvSpPr>
          <p:cNvPr id="214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Traducir el principio de mínimo privilegio en reglas concretas y conocer las tres herramientas básicas de auditoría de SQL Server.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a:t>
            </a:r>
            <a:endParaRPr b="0" lang="es-ES" sz="2000" spc="-1" strike="noStrike">
              <a:latin typeface="Arial"/>
            </a:endParaRPr>
          </a:p>
          <a:p>
            <a:pPr marL="216000" indent="-216000">
              <a:lnSpc>
                <a:spcPct val="100000"/>
              </a:lnSpc>
            </a:pPr>
            <a:r>
              <a:rPr b="0" lang="en-US" sz="2000" spc="-1" strike="noStrike">
                <a:latin typeface="Arial"/>
              </a:rPr>
              <a:t>- Cuentas de servicio: ejecutar el motor con una cuenta de bajo privilegio (idealmente gMSA o cuenta virtual), no como administrador del dominio. Deshabilitar sa y el user guest; quitar CONNECT a guest en las BDs de usuario.</a:t>
            </a:r>
            <a:endParaRPr b="0" lang="es-ES" sz="2000" spc="-1" strike="noStrike">
              <a:latin typeface="Arial"/>
            </a:endParaRPr>
          </a:p>
          <a:p>
            <a:pPr marL="216000" indent="-216000">
              <a:lnSpc>
                <a:spcPct val="100000"/>
              </a:lnSpc>
            </a:pPr>
            <a:r>
              <a:rPr b="0" lang="en-US" sz="2000" spc="-1" strike="noStrike">
                <a:latin typeface="Arial"/>
              </a:rPr>
              <a:t>-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a:t>
            </a:r>
            <a:endParaRPr b="0" lang="es-ES" sz="2000" spc="-1" strike="noStrike">
              <a:latin typeface="Arial"/>
            </a:endParaRPr>
          </a:p>
          <a:p>
            <a:pPr marL="216000" indent="-216000">
              <a:lnSpc>
                <a:spcPct val="100000"/>
              </a:lnSpc>
            </a:pPr>
            <a:r>
              <a:rPr b="0" lang="en-US" sz="2000" spc="-1" strike="noStrike">
                <a:latin typeface="Arial"/>
              </a:rPr>
              <a:t>- Login auditing: Propiedades del servidor → Seguridad → Auditoría de inicio de sesión (Ninguno, Sólo erróneos, Sólo correctos, Ambos); escribe en el Error Log. Barato y suficiente para detectar ataques de fuerza bruta (error 18456).</a:t>
            </a:r>
            <a:endParaRPr b="0" lang="es-ES" sz="2000" spc="-1" strike="noStrike">
              <a:latin typeface="Arial"/>
            </a:endParaRPr>
          </a:p>
          <a:p>
            <a:pPr marL="216000" indent="-216000">
              <a:lnSpc>
                <a:spcPct val="100000"/>
              </a:lnSpc>
            </a:pPr>
            <a:r>
              <a:rPr b="0" lang="en-US" sz="2000" spc="-1" strike="noStrike">
                <a:latin typeface="Arial"/>
              </a:rPr>
              <a:t>- DMVs y catálogo para revisión: sys.dm_exec_sessions (quién está conectado y desde dónde), sys.dm_exec_connections (auth_scheme), sys.server_principals, sys.database_permissions y sys.dm_server_audit_status.</a:t>
            </a:r>
            <a:endParaRPr b="0" lang="es-ES" sz="2000" spc="-1" strike="noStrike">
              <a:latin typeface="Arial"/>
            </a:endParaRPr>
          </a:p>
          <a:p>
            <a:pPr marL="216000" indent="-216000">
              <a:lnSpc>
                <a:spcPct val="100000"/>
              </a:lnSpc>
            </a:pPr>
            <a:r>
              <a:rPr b="0" lang="en-US" sz="2000" spc="-1" strike="noStrike">
                <a:latin typeface="Arial"/>
              </a:rPr>
              <a:t>- Leer el resultado de la auditoría: SELECT * FROM sys.fn_get_audit_file('/var/opt/mssql/audit/*.sqlaudit', DEFAULT, DEFAULT). Extended Events y triggers DDL cubren cambios de esquema.</a:t>
            </a:r>
            <a:endParaRPr b="0" lang="es-ES" sz="2000" spc="-1" strike="noStrike">
              <a:latin typeface="Arial"/>
            </a:endParaRPr>
          </a:p>
          <a:p>
            <a:pPr marL="216000" indent="-216000">
              <a:lnSpc>
                <a:spcPct val="100000"/>
              </a:lnSpc>
            </a:pPr>
            <a:r>
              <a:rPr b="0" lang="en-US" sz="2000" spc="-1" strike="noStrike">
                <a:latin typeface="Arial"/>
              </a:rPr>
              <a:t>- Advertencia: una auditoría demasiado amplia (p. ej. SELECT sobre tablas calientes) genera mucho volumen y penaliza el rendimiento; auditar lo que importa y proteger el destino contra manipulación.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eventos auditaríais primero en un servidor de producción con presupuesto limitado de I/O?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detectaríais que un usuario ha sido añadido a db_owner la semana pasada sin que nadie lo notificara?</a:t>
            </a:r>
            <a:endParaRPr b="0" lang="es-ES" sz="2000" spc="-1" strike="noStrike">
              <a:latin typeface="Arial"/>
            </a:endParaRPr>
          </a:p>
        </p:txBody>
      </p:sp>
      <p:sp>
        <p:nvSpPr>
          <p:cNvPr id="214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3364F13-1B0F-44D6-9D20-3ED4B53E39F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6" name="PlaceHolder 1"/>
          <p:cNvSpPr>
            <a:spLocks noGrp="1"/>
          </p:cNvSpPr>
          <p:nvPr>
            <p:ph type="sldImg"/>
          </p:nvPr>
        </p:nvSpPr>
        <p:spPr>
          <a:xfrm>
            <a:off x="685800" y="1143000"/>
            <a:ext cx="5485680" cy="3085560"/>
          </a:xfrm>
          <a:prstGeom prst="rect">
            <a:avLst/>
          </a:prstGeom>
        </p:spPr>
      </p:sp>
      <p:sp>
        <p:nvSpPr>
          <p:cNvPr id="214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e implementar un esquema de permisos segregados (analista de lectura y operador de aplicación) siguiendo el mínimo privilegio, y verificarlo con EXECUTE 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60 min. Escenario: dos perfiles sobre la BD Ventas. El analista sólo consulta informes (schema rpt); el operador sólo da de alta pedidos mediante un procedimiento (schema app) y NO debe poder leer ni modificar dbo.Pedido directamente.</a:t>
            </a:r>
            <a:endParaRPr b="0" lang="es-ES" sz="2000" spc="-1" strike="noStrike">
              <a:latin typeface="Arial"/>
            </a:endParaRPr>
          </a:p>
          <a:p>
            <a:pPr marL="216000" indent="-216000">
              <a:lnSpc>
                <a:spcPct val="100000"/>
              </a:lnSpc>
            </a:pPr>
            <a:r>
              <a:rPr b="0" lang="en-US" sz="2000" spc="-1" strike="noStrike">
                <a:latin typeface="Arial"/>
              </a:rPr>
              <a:t>- Objetivo técnico: poner en práctica login → user → rol → permiso sobre schema, y demostrar ownership chaining (EXECUTE sobre el procedimiento basta para insertar).</a:t>
            </a:r>
            <a:endParaRPr b="0" lang="es-ES" sz="2000" spc="-1" strike="noStrike">
              <a:latin typeface="Arial"/>
            </a:endParaRPr>
          </a:p>
          <a:p>
            <a:pPr marL="216000" indent="-216000">
              <a:lnSpc>
                <a:spcPct val="100000"/>
              </a:lnSpc>
            </a:pPr>
            <a:r>
              <a:rPr b="0" lang="en-US" sz="2000" spc="-1" strike="noStrike">
                <a:latin typeface="Arial"/>
              </a:rPr>
              <a:t>- Criterio de éxito: el analista puede hacer SELECT en rpt.vVentasCliente pero no en dbo.Pedido; el operador ejecuta app.usp_AltaPedido con éxito pero recibe el error 229 al hacer SELECT directo.</a:t>
            </a:r>
            <a:endParaRPr b="0" lang="es-ES" sz="2000" spc="-1" strike="noStrike">
              <a:latin typeface="Arial"/>
            </a:endParaRPr>
          </a:p>
          <a:p>
            <a:pPr marL="216000" indent="-216000">
              <a:lnSpc>
                <a:spcPct val="100000"/>
              </a:lnSpc>
            </a:pPr>
            <a:r>
              <a:rPr b="0" lang="en-US" sz="2000" spc="-1" strike="noStrike">
                <a:latin typeface="Arial"/>
              </a:rPr>
              <a:t>- El docente debe insistir en el patrón de verificación: probar siempre lo que NO debe poder hacerse. Una prueba sólo de éxito no demuestra el mínimo privilegio.</a:t>
            </a:r>
            <a:endParaRPr b="0" lang="es-ES" sz="2000" spc="-1" strike="noStrike">
              <a:latin typeface="Arial"/>
            </a:endParaRPr>
          </a:p>
          <a:p>
            <a:pPr marL="216000" indent="-216000">
              <a:lnSpc>
                <a:spcPct val="100000"/>
              </a:lnSpc>
            </a:pPr>
            <a:r>
              <a:rPr b="0" lang="en-US" sz="2000" spc="-1" strike="noStrike">
                <a:latin typeface="Arial"/>
              </a:rPr>
              <a:t>- Cierre: revisar entre todos la salida de sys.database_permissions y sys.database_role_members como inventario de permisos del esquema creado.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permisos tiene realmente el operador? Demostrad con sys.fn_my_permissions y con pruebas negativas.</a:t>
            </a:r>
            <a:endParaRPr b="0" lang="es-ES" sz="2000" spc="-1" strike="noStrike">
              <a:latin typeface="Arial"/>
            </a:endParaRPr>
          </a:p>
          <a:p>
            <a:pPr marL="216000" indent="-216000">
              <a:lnSpc>
                <a:spcPct val="100000"/>
              </a:lnSpc>
            </a:pPr>
            <a:r>
              <a:rPr b="0" lang="en-US" sz="2000" spc="-1" strike="noStrike">
                <a:latin typeface="Arial"/>
              </a:rPr>
              <a:t>- ¿Qué pasaría si el procedimiento usara SQL dinámico para insertar? ¿Cómo lo resolveríais sin dar permisos sobre la tabla?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Requisito: BD Ventas con dbo.Cliente, dbo.Pedido y datos (Laboratorio 2A) y sesión con rol sysadmin.</a:t>
            </a:r>
            <a:endParaRPr b="0" lang="es-ES" sz="2000" spc="-1" strike="noStrike">
              <a:latin typeface="Arial"/>
            </a:endParaRPr>
          </a:p>
          <a:p>
            <a:pPr marL="216000" indent="-216000">
              <a:lnSpc>
                <a:spcPct val="100000"/>
              </a:lnSpc>
            </a:pPr>
            <a:r>
              <a:rPr b="0" lang="en-US" sz="2000" spc="-1" strike="noStrike">
                <a:latin typeface="Arial"/>
              </a:rPr>
              <a:t>-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a:t>
            </a:r>
            <a:endParaRPr b="0" lang="es-ES" sz="2000" spc="-1" strike="noStrike">
              <a:latin typeface="Arial"/>
            </a:endParaRPr>
          </a:p>
          <a:p>
            <a:pPr marL="216000" indent="-216000">
              <a:lnSpc>
                <a:spcPct val="100000"/>
              </a:lnSpc>
            </a:pPr>
            <a:r>
              <a:rPr b="0" lang="en-US" sz="2000" spc="-1" strike="noStrike">
                <a:latin typeface="Arial"/>
              </a:rPr>
              <a:t>-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a:t>
            </a:r>
            <a:endParaRPr b="0" lang="es-ES" sz="2000" spc="-1" strike="noStrike">
              <a:latin typeface="Arial"/>
            </a:endParaRPr>
          </a:p>
          <a:p>
            <a:pPr marL="216000" indent="-216000">
              <a:lnSpc>
                <a:spcPct val="100000"/>
              </a:lnSpc>
            </a:pPr>
            <a:r>
              <a:rPr b="0" lang="en-US" sz="2000" spc="-1" strike="noStrike">
                <a:latin typeface="Arial"/>
              </a:rPr>
              <a:t>-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a:t>
            </a:r>
            <a:endParaRPr b="0" lang="es-ES" sz="2000" spc="-1" strike="noStrike">
              <a:latin typeface="Arial"/>
            </a:endParaRPr>
          </a:p>
          <a:p>
            <a:pPr marL="216000" indent="-216000">
              <a:lnSpc>
                <a:spcPct val="100000"/>
              </a:lnSpc>
            </a:pPr>
            <a:r>
              <a:rPr b="0" lang="en-US" sz="2000" spc="-1" strike="noStrike">
                <a:latin typeface="Arial"/>
              </a:rPr>
              <a:t>-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a:t>
            </a:r>
            <a:endParaRPr b="0" lang="es-ES" sz="2000" spc="-1" strike="noStrike">
              <a:latin typeface="Arial"/>
            </a:endParaRPr>
          </a:p>
          <a:p>
            <a:pPr marL="216000" indent="-216000">
              <a:lnSpc>
                <a:spcPct val="100000"/>
              </a:lnSpc>
            </a:pPr>
            <a:r>
              <a:rPr b="0" lang="en-US" sz="2000" spc="-1" strike="noStrike">
                <a:latin typeface="Arial"/>
              </a:rPr>
              <a:t>- Paso 5 (opcional) — Conexión real: crear conexiones nuevas en SSMS (Autenticación SQL) con cada login y repetir las pruebas.</a:t>
            </a:r>
            <a:endParaRPr b="0" lang="es-ES" sz="2000" spc="-1" strike="noStrike">
              <a:latin typeface="Arial"/>
            </a:endParaRPr>
          </a:p>
          <a:p>
            <a:pPr marL="216000" indent="-216000">
              <a:lnSpc>
                <a:spcPct val="100000"/>
              </a:lnSpc>
            </a:pPr>
            <a:r>
              <a:rPr b="0" lang="en-US" sz="2000" spc="-1" strike="noStrike">
                <a:latin typeface="Arial"/>
              </a:rPr>
              <a:t>-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b="0" lang="es-ES" sz="2000" spc="-1" strike="noStrike">
              <a:latin typeface="Arial"/>
            </a:endParaRPr>
          </a:p>
        </p:txBody>
      </p:sp>
      <p:sp>
        <p:nvSpPr>
          <p:cNvPr id="214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B287A4DF-CF75-490C-A620-2B9F17E7031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9" name="PlaceHolder 1"/>
          <p:cNvSpPr>
            <a:spLocks noGrp="1"/>
          </p:cNvSpPr>
          <p:nvPr>
            <p:ph type="sldImg"/>
          </p:nvPr>
        </p:nvSpPr>
        <p:spPr>
          <a:xfrm>
            <a:off x="685800" y="1143000"/>
            <a:ext cx="5485680" cy="3085560"/>
          </a:xfrm>
          <a:prstGeom prst="rect">
            <a:avLst/>
          </a:prstGeom>
        </p:spPr>
      </p:sp>
      <p:sp>
        <p:nvSpPr>
          <p:cNvPr id="215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bloques del módulo y conectar con el siguiente (rendimiento y alta disponibilidad).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DDL e integridad: las cinco restricciones son la primera línea de calidad de datos; el índice de apoyo de las FK y los tipos ajustados evitan problemas de rendimiento futuros.</a:t>
            </a:r>
            <a:endParaRPr b="0" lang="es-ES" sz="2000" spc="-1" strike="noStrike">
              <a:latin typeface="Arial"/>
            </a:endParaRPr>
          </a:p>
          <a:p>
            <a:pPr marL="216000" indent="-216000">
              <a:lnSpc>
                <a:spcPct val="100000"/>
              </a:lnSpc>
            </a:pPr>
            <a:r>
              <a:rPr b="0" lang="en-US" sz="2000" spc="-1" strike="noStrike">
                <a:latin typeface="Arial"/>
              </a:rPr>
              <a:t>- Vistas y procedimientos: la vista indexada materializa agregaciones (coste en escritura); los procedimientos reutilizan plan y son la «API» de la BD, pero exigen vigilar el parameter sniffing y las recompilaciones.</a:t>
            </a:r>
            <a:endParaRPr b="0" lang="es-ES" sz="2000" spc="-1" strike="noStrike">
              <a:latin typeface="Arial"/>
            </a:endParaRPr>
          </a:p>
          <a:p>
            <a:pPr marL="216000" indent="-216000">
              <a:lnSpc>
                <a:spcPct val="100000"/>
              </a:lnSpc>
            </a:pPr>
            <a:r>
              <a:rPr b="0" lang="en-US" sz="2000" spc="-1" strike="noStrike">
                <a:latin typeface="Arial"/>
              </a:rPr>
              <a:t>- DML analítico: el orden lógico del SELECT explica alias, WHERE y HAVING; los tres algoritmos de join (Nested Loops, Merge, Hash) se reconocen en el plan; las window functions evitan auto-joins; usa ROWS en el frame.</a:t>
            </a:r>
            <a:endParaRPr b="0" lang="es-ES" sz="2000" spc="-1" strike="noStrike">
              <a:latin typeface="Arial"/>
            </a:endParaRPr>
          </a:p>
          <a:p>
            <a:pPr marL="216000" indent="-216000">
              <a:lnSpc>
                <a:spcPct val="100000"/>
              </a:lnSpc>
            </a:pPr>
            <a:r>
              <a:rPr b="0" lang="en-US" sz="2000" spc="-1" strike="noStrike">
                <a:latin typeface="Arial"/>
              </a:rPr>
              <a:t>- Seguridad: login (instancia) → user (BD) → rol → permiso sobre schema/objeto; DENY gana a GRANT; el ownership chaining permite exponer sólo procedimientos; mínimo privilegio y auditoría (SQL Server Audit, login auditing, DMVs).</a:t>
            </a:r>
            <a:endParaRPr b="0" lang="es-ES" sz="2000" spc="-1" strike="noStrike">
              <a:latin typeface="Arial"/>
            </a:endParaRPr>
          </a:p>
          <a:p>
            <a:pPr marL="216000" indent="-216000">
              <a:lnSpc>
                <a:spcPct val="100000"/>
              </a:lnSpc>
            </a:pPr>
            <a:r>
              <a:rPr b="0" lang="en-US" sz="2000" spc="-1" strike="noStrike">
                <a:latin typeface="Arial"/>
              </a:rPr>
              <a:t>- Hacer una ronda de «una cosa que aplicaré el lunes» (1 min por persona) y recoger dudas pendientes para repasarlas antes del siguiente módulo.</a:t>
            </a:r>
            <a:endParaRPr b="0" lang="es-ES" sz="2000" spc="-1" strike="noStrike">
              <a:latin typeface="Arial"/>
            </a:endParaRPr>
          </a:p>
          <a:p>
            <a:pPr marL="216000" indent="-216000">
              <a:lnSpc>
                <a:spcPct val="100000"/>
              </a:lnSpc>
            </a:pPr>
            <a:r>
              <a:rPr b="0" lang="en-US" sz="2000" spc="-1" strike="noStrike">
                <a:latin typeface="Arial"/>
              </a:rPr>
              <a:t>- Puente al Módulo 3: hemos visto que la elección de join, el Index Seek y el sniffing dependen de índices y estadísticas. El siguiente módulo explica cómo se construyen (B-Tree), cómo leer planes de ejecución y cómo detectar cuellos de botella con DMVs.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decisión de este módulo tendría mayor impacto en vuestra BD de producción esta semana?</a:t>
            </a:r>
            <a:endParaRPr b="0" lang="es-ES" sz="2000" spc="-1" strike="noStrike">
              <a:latin typeface="Arial"/>
            </a:endParaRPr>
          </a:p>
          <a:p>
            <a:pPr marL="216000" indent="-215640">
              <a:lnSpc>
                <a:spcPct val="100000"/>
              </a:lnSpc>
              <a:tabLst>
                <a:tab algn="l" pos="0"/>
              </a:tabLst>
            </a:pPr>
            <a:r>
              <a:rPr b="0" lang="en-US" sz="2000" spc="-1" strike="noStrike">
                <a:latin typeface="Arial"/>
              </a:rPr>
              <a:t>- ¿Qué concepto de seguridad os parece más difícil de explicar a un desarrollador y cómo lo haríais?</a:t>
            </a:r>
            <a:endParaRPr b="0" lang="es-ES" sz="2000" spc="-1" strike="noStrike">
              <a:latin typeface="Arial"/>
            </a:endParaRPr>
          </a:p>
        </p:txBody>
      </p:sp>
      <p:sp>
        <p:nvSpPr>
          <p:cNvPr id="215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B107259-E76E-4577-AA1B-0D51A268B77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2" name="PlaceHolder 1"/>
          <p:cNvSpPr>
            <a:spLocks noGrp="1"/>
          </p:cNvSpPr>
          <p:nvPr>
            <p:ph type="sldImg"/>
          </p:nvPr>
        </p:nvSpPr>
        <p:spPr>
          <a:xfrm>
            <a:off x="685800" y="1143000"/>
            <a:ext cx="5485680" cy="3085560"/>
          </a:xfrm>
          <a:prstGeom prst="rect">
            <a:avLst/>
          </a:prstGeom>
        </p:spPr>
      </p:sp>
      <p:sp>
        <p:nvSpPr>
          <p:cNvPr id="215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siguiente bloque del curso: pasar de "la base de datos funciona" a "la base de datos funciona rápido y no se cae". Se presenta el mapa del módulo y los resultados esperados.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dura unas 5 horas y se divide en tres bloques: (1) optimización a nivel de datos (índices, fragmentación y estadísticas), (2) diagnóstico (planes de ejecución y DMVs) y (3) continuidad de negocio (HA/DR).</a:t>
            </a:r>
            <a:endParaRPr b="0" lang="es-ES" sz="2000" spc="-1" strike="noStrike">
              <a:latin typeface="Arial"/>
            </a:endParaRPr>
          </a:p>
          <a:p>
            <a:pPr marL="216000" indent="-216000">
              <a:lnSpc>
                <a:spcPct val="100000"/>
              </a:lnSpc>
            </a:pPr>
            <a:r>
              <a:rPr b="0" lang="en-US" sz="2000" spc="-1" strike="noStrike">
                <a:latin typeface="Arial"/>
              </a:rPr>
              <a:t>- Mensaje clave: en rendimiento NO se adivina, se mide. Todo el módulo sigue el ciclo medir → hipótesis → cambio → volver a medir, usando STATISTICS IO/TIME, el plan real y las Dynamic Management Views (DMVs).</a:t>
            </a:r>
            <a:endParaRPr b="0" lang="es-ES" sz="2000" spc="-1" strike="noStrike">
              <a:latin typeface="Arial"/>
            </a:endParaRPr>
          </a:p>
          <a:p>
            <a:pPr marL="216000" indent="-216000">
              <a:lnSpc>
                <a:spcPct val="100000"/>
              </a:lnSpc>
            </a:pPr>
            <a:r>
              <a:rPr b="0" lang="en-US" sz="2000" spc="-1" strike="noStrike">
                <a:latin typeface="Arial"/>
              </a:rPr>
              <a:t>- Conectar con el Módulo 1: lo visto sobre páginas de 8 KB, extensiones y el Buffer Pool explica por qué un índice reduce lecturas lógicas; lo visto sobre el Transaction Log será la base de Log Shipping y Always On.</a:t>
            </a:r>
            <a:endParaRPr b="0" lang="es-ES" sz="2000" spc="-1" strike="noStrike">
              <a:latin typeface="Arial"/>
            </a:endParaRPr>
          </a:p>
          <a:p>
            <a:pPr marL="216000" indent="-216000">
              <a:lnSpc>
                <a:spcPct val="100000"/>
              </a:lnSpc>
            </a:pPr>
            <a:r>
              <a:rPr b="0" lang="en-US" sz="2000" spc="-1" strike="noStrike">
                <a:latin typeface="Arial"/>
              </a:rPr>
              <a:t>- Advertir de que la mayoría de problemas de rendimiento en producción se resuelven con un buen diseño de índices y estadísticas actualizadas, antes de tocar hardware o parámetros del servidor.</a:t>
            </a:r>
            <a:endParaRPr b="0" lang="es-ES" sz="2000" spc="-1" strike="noStrike">
              <a:latin typeface="Arial"/>
            </a:endParaRPr>
          </a:p>
          <a:p>
            <a:pPr marL="216000" indent="-216000">
              <a:lnSpc>
                <a:spcPct val="100000"/>
              </a:lnSpc>
            </a:pPr>
            <a:r>
              <a:rPr b="0" lang="en-US" sz="2000" spc="-1" strike="noStrike">
                <a:latin typeface="Arial"/>
              </a:rPr>
              <a:t>- En HA/DR veremos conceptos y comparativa; la configuración paso a paso de un Availability Group queda fuera del alcance del laboratorio, pero se deja claro qué pregunta de negocio responde cada tecnología.</a:t>
            </a:r>
            <a:endParaRPr b="0" lang="es-ES" sz="2000" spc="-1" strike="noStrike">
              <a:latin typeface="Arial"/>
            </a:endParaRPr>
          </a:p>
          <a:p>
            <a:pPr marL="216000" indent="-216000">
              <a:lnSpc>
                <a:spcPct val="100000"/>
              </a:lnSpc>
            </a:pPr>
            <a:r>
              <a:rPr b="0" lang="en-US" sz="2000" spc="-1" strike="noStrike">
                <a:latin typeface="Arial"/>
              </a:rPr>
              <a:t>- Entorno del laboratorio: SQL Server 2022/2025 en Docker o instancia local, base de datos Ventas (dbo.Cliente, dbo.Pedido, dbo.Producto) y SSMS. Verificar que todos pueden conectarse antes de empezar.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¿Cuál ha sido la consulta más lenta que habéis sufrido en producción y cómo se averiguó la causa?</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Recogemos ideas y las contrastamos al final del módulo.</a:t>
            </a:r>
            <a:endParaRPr b="0" lang="es-ES" sz="2000" spc="-1" strike="noStrike">
              <a:latin typeface="Arial"/>
            </a:endParaRPr>
          </a:p>
        </p:txBody>
      </p:sp>
      <p:sp>
        <p:nvSpPr>
          <p:cNvPr id="215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67724E2B-FB63-41F7-9512-94338EE7F95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5" name="PlaceHolder 1"/>
          <p:cNvSpPr>
            <a:spLocks noGrp="1"/>
          </p:cNvSpPr>
          <p:nvPr>
            <p:ph type="sldImg"/>
          </p:nvPr>
        </p:nvSpPr>
        <p:spPr>
          <a:xfrm>
            <a:off x="685800" y="1143000"/>
            <a:ext cx="5485680" cy="3085560"/>
          </a:xfrm>
          <a:prstGeom prst="rect">
            <a:avLst/>
          </a:prstGeom>
        </p:spPr>
      </p:sp>
      <p:sp>
        <p:nvSpPr>
          <p:cNvPr id="215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SQL Server organiza físicamente una tabla (Heap o Clustered Index) y por qué esa decisión condiciona todos los demás índices y el coste de cada consulta.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Una tabla sin Clustered Index es un Heap: las filas se guardan en páginas de 8 KB sin ningún orden lógico; el motor las localiza mediante las páginas IAM (Index Allocation Map). La única forma de leerlo entero es un Table Scan.</a:t>
            </a:r>
            <a:endParaRPr b="0" lang="es-ES" sz="2000" spc="-1" strike="noStrike">
              <a:latin typeface="Arial"/>
            </a:endParaRPr>
          </a:p>
          <a:p>
            <a:pPr marL="216000" indent="-216000">
              <a:lnSpc>
                <a:spcPct val="100000"/>
              </a:lnSpc>
            </a:pPr>
            <a:r>
              <a:rPr b="0" lang="en-US" sz="2000" spc="-1" strike="noStrike">
                <a:latin typeface="Arial"/>
              </a:rPr>
              <a:t>- Un Clustered Index ordena físicamente la tabla por la clave: el nivel hoja del B-Tree ES la tabla (data pages). Sólo puede haber uno por tabla. Al crear una PRIMARY KEY sin indicar otra cosa, SQL Server crea por defecto un Clustered Index único.</a:t>
            </a:r>
            <a:endParaRPr b="0" lang="es-ES" sz="2000" spc="-1" strike="noStrike">
              <a:latin typeface="Arial"/>
            </a:endParaRPr>
          </a:p>
          <a:p>
            <a:pPr marL="216000" indent="-216000">
              <a:lnSpc>
                <a:spcPct val="100000"/>
              </a:lnSpc>
            </a:pPr>
            <a:r>
              <a:rPr b="0" lang="en-US" sz="2000" spc="-1" strike="noStrike">
                <a:latin typeface="Arial"/>
              </a:rPr>
              <a:t>-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a:t>
            </a:r>
            <a:endParaRPr b="0" lang="es-ES" sz="2000" spc="-1" strike="noStrike">
              <a:latin typeface="Arial"/>
            </a:endParaRPr>
          </a:p>
          <a:p>
            <a:pPr marL="216000" indent="-216000">
              <a:lnSpc>
                <a:spcPct val="100000"/>
              </a:lnSpc>
            </a:pPr>
            <a:r>
              <a:rPr b="0" lang="en-US" sz="2000" spc="-1" strike="noStrike">
                <a:latin typeface="Arial"/>
              </a:rPr>
              <a:t>-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a:t>
            </a:r>
            <a:endParaRPr b="0" lang="es-ES" sz="2000" spc="-1" strike="noStrike">
              <a:latin typeface="Arial"/>
            </a:endParaRPr>
          </a:p>
          <a:p>
            <a:pPr marL="216000" indent="-216000">
              <a:lnSpc>
                <a:spcPct val="100000"/>
              </a:lnSpc>
            </a:pPr>
            <a:r>
              <a:rPr b="0" lang="en-US" sz="2000" spc="-1" strike="noStrike">
                <a:latin typeface="Arial"/>
              </a:rPr>
              <a:t>- Un GUID aleatorio (NEWID()) como clave clustered provoca Page Splits constantes y fragmentación; si hace falta un GUID, usar NEWSEQUENTIALID() o separar el GUID de la clave clustered.</a:t>
            </a:r>
            <a:endParaRPr b="0" lang="es-ES" sz="2000" spc="-1" strike="noStrike">
              <a:latin typeface="Arial"/>
            </a:endParaRPr>
          </a:p>
          <a:p>
            <a:pPr marL="216000" indent="-216000">
              <a:lnSpc>
                <a:spcPct val="100000"/>
              </a:lnSpc>
            </a:pPr>
            <a:r>
              <a:rPr b="0" lang="en-US" sz="2000" spc="-1" strike="noStrike">
                <a:latin typeface="Arial"/>
              </a:rPr>
              <a:t>- Cuándo un Heap sí tiene sentido: tablas de staging para cargas masivas (BULK INSERT, bcp) donde se escribe mucho y se lee una sola vez; incluso ahí conviene medir.</a:t>
            </a:r>
            <a:endParaRPr b="0" lang="es-ES" sz="2000" spc="-1" strike="noStrike">
              <a:latin typeface="Arial"/>
            </a:endParaRPr>
          </a:p>
          <a:p>
            <a:pPr marL="216000" indent="-216000">
              <a:lnSpc>
                <a:spcPct val="100000"/>
              </a:lnSpc>
            </a:pPr>
            <a:r>
              <a:rPr b="0" lang="en-US" sz="2000" spc="-1" strike="noStrike">
                <a:latin typeface="Arial"/>
              </a:rPr>
              <a:t>- Consulta útil para ver qué tiene cada tabla: SELECT OBJECT_NAME(object_id), type_desc FROM sys.indexes WHERE index_id IN (0,1); index_id 0 = Heap, 1 = Clustered.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le ocurre a una tabla con 20 índices no clustered si elegimos como clave clustered una columna NVARCHAR(200)?</a:t>
            </a:r>
            <a:endParaRPr b="0" lang="es-ES" sz="2000" spc="-1" strike="noStrike">
              <a:latin typeface="Arial"/>
            </a:endParaRPr>
          </a:p>
          <a:p>
            <a:pPr marL="216000" indent="-215640">
              <a:lnSpc>
                <a:spcPct val="100000"/>
              </a:lnSpc>
              <a:tabLst>
                <a:tab algn="l" pos="0"/>
              </a:tabLst>
            </a:pPr>
            <a:r>
              <a:rPr b="0" lang="en-US" sz="2000" spc="-1" strike="noStrike">
                <a:latin typeface="Arial"/>
              </a:rPr>
              <a:t>- Si una tabla de auditoría sólo recibe INSERT y nunca se consulta por clave, ¿Heap o Clustered? Argumentad el coste de cada opción.</a:t>
            </a:r>
            <a:endParaRPr b="0" lang="es-ES" sz="2000" spc="-1" strike="noStrike">
              <a:latin typeface="Arial"/>
            </a:endParaRPr>
          </a:p>
        </p:txBody>
      </p:sp>
      <p:sp>
        <p:nvSpPr>
          <p:cNvPr id="215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DE0A3B3-45A6-415A-94E3-AABC0C8BDDB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8" name="PlaceHolder 1"/>
          <p:cNvSpPr>
            <a:spLocks noGrp="1"/>
          </p:cNvSpPr>
          <p:nvPr>
            <p:ph type="sldImg"/>
          </p:nvPr>
        </p:nvSpPr>
        <p:spPr>
          <a:xfrm>
            <a:off x="685800" y="1143000"/>
            <a:ext cx="5485680" cy="3085560"/>
          </a:xfrm>
          <a:prstGeom prst="rect">
            <a:avLst/>
          </a:prstGeom>
        </p:spPr>
      </p:sp>
      <p:sp>
        <p:nvSpPr>
          <p:cNvPr id="215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Visualizar el B-Tree como estructura común de Clustered y Non-Clustered Index para entender por qué un Index Seek necesita pocas lecturas y qué contiene realmente el nivel hoja.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Todos los índices rowstore se almacenan como B-Tree balanceado: una página raíz (Root), cero o más niveles intermedios y el nivel hoja (Leaf). Un Seek recorre raíz → intermedio → hoja: típicamente 3–4 lecturas lógicas incluso en tablas de millones de filas.</a:t>
            </a:r>
            <a:endParaRPr b="0" lang="es-ES" sz="2000" spc="-1" strike="noStrike">
              <a:latin typeface="Arial"/>
            </a:endParaRPr>
          </a:p>
          <a:p>
            <a:pPr marL="216000" indent="-216000">
              <a:lnSpc>
                <a:spcPct val="100000"/>
              </a:lnSpc>
            </a:pPr>
            <a:r>
              <a:rPr b="0" lang="en-US" sz="2000" spc="-1" strike="noStrike">
                <a:latin typeface="Arial"/>
              </a:rPr>
              <a:t>- Clustered Index (izquierda): las hojas SON las páginas de datos, con todas las columnas de la fila. Las páginas de una misma hoja se enlazan en una lista doblemente enlazada, lo que permite recorrer rangos en orden (ORDER BY, BETWEEN) sin volver a la raíz.</a:t>
            </a:r>
            <a:endParaRPr b="0" lang="es-ES" sz="2000" spc="-1" strike="noStrike">
              <a:latin typeface="Arial"/>
            </a:endParaRPr>
          </a:p>
          <a:p>
            <a:pPr marL="216000" indent="-216000">
              <a:lnSpc>
                <a:spcPct val="100000"/>
              </a:lnSpc>
            </a:pPr>
            <a:r>
              <a:rPr b="0" lang="en-US" sz="2000" spc="-1" strike="noStrike">
                <a:latin typeface="Arial"/>
              </a:rPr>
              <a:t>- Non-Clustered Index (derecha): la hoja guarda las columnas de la clave del índice (más las INCLUDE) y un localizador de fila: la clave del Clustered Index o, en un Heap, el RID (File:Page:Slot). Por eso hace falta un Key Lookup/RID Lookup para recuperar el resto de columnas.</a:t>
            </a:r>
            <a:endParaRPr b="0" lang="es-ES" sz="2000" spc="-1" strike="noStrike">
              <a:latin typeface="Arial"/>
            </a:endParaRPr>
          </a:p>
          <a:p>
            <a:pPr marL="216000" indent="-216000">
              <a:lnSpc>
                <a:spcPct val="100000"/>
              </a:lnSpc>
            </a:pPr>
            <a:r>
              <a:rPr b="0" lang="en-US" sz="2000" spc="-1" strike="noStrike">
                <a:latin typeface="Arial"/>
              </a:rPr>
              <a:t>- La profundidad del árbol crece logarítmicamente: con claves de 8 bytes caben unos 600 punteros por página intermedia; con 3 niveles se direccionan cientos de millones de filas. Claves anchas reducen el fan-out y aumentan la profundidad.</a:t>
            </a:r>
            <a:endParaRPr b="0" lang="es-ES" sz="2000" spc="-1" strike="noStrike">
              <a:latin typeface="Arial"/>
            </a:endParaRPr>
          </a:p>
          <a:p>
            <a:pPr marL="216000" indent="-216000">
              <a:lnSpc>
                <a:spcPct val="100000"/>
              </a:lnSpc>
            </a:pPr>
            <a:r>
              <a:rPr b="0" lang="en-US" sz="2000" spc="-1" strike="noStrike">
                <a:latin typeface="Arial"/>
              </a:rPr>
              <a:t>- Se puede inspeccionar con sys.dm_db_index_physical_stats (columna index_depth) y con DBCC IND/DBCC PAGE (no documentados oficialmente) para mostrar páginas reales en clase.</a:t>
            </a:r>
            <a:endParaRPr b="0" lang="es-ES" sz="2000" spc="-1" strike="noStrike">
              <a:latin typeface="Arial"/>
            </a:endParaRPr>
          </a:p>
          <a:p>
            <a:pPr marL="216000" indent="-216000">
              <a:lnSpc>
                <a:spcPct val="100000"/>
              </a:lnSpc>
            </a:pPr>
            <a:r>
              <a:rPr b="0" lang="en-US" sz="2000" spc="-1" strike="noStrike">
                <a:latin typeface="Arial"/>
              </a:rPr>
              <a:t>- Impacto de escritura: cada INSERT/UPDATE/DELETE debe mantener el Clustered Index y todos los NCI afectados; de ahí que "más índices" no sea gratis.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¿Cuántas lecturas lógicas esperáis para un Seek por clave en una tabla de 100 millones de filas con clave INT? ¿Y para un Scan completo?</a:t>
            </a:r>
            <a:endParaRPr b="0" lang="es-ES" sz="2000" spc="-1" strike="noStrike">
              <a:latin typeface="Arial"/>
            </a:endParaRPr>
          </a:p>
          <a:p>
            <a:pPr marL="216000" indent="-215640">
              <a:lnSpc>
                <a:spcPct val="100000"/>
              </a:lnSpc>
              <a:tabLst>
                <a:tab algn="l" pos="0"/>
              </a:tabLst>
            </a:pPr>
            <a:r>
              <a:rPr b="0" lang="en-US" sz="2000" spc="-1" strike="noStrike">
                <a:latin typeface="Arial"/>
              </a:rPr>
              <a:t>- Si el NCI guarda la clave clustered como puntero, ¿qué pasa con todos los NCI cuando cambiamos el valor de la clave clustered de una fila?</a:t>
            </a:r>
            <a:endParaRPr b="0" lang="es-ES" sz="2000" spc="-1" strike="noStrike">
              <a:latin typeface="Arial"/>
            </a:endParaRPr>
          </a:p>
        </p:txBody>
      </p:sp>
      <p:sp>
        <p:nvSpPr>
          <p:cNvPr id="216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03B4F7D-E460-4A16-93C6-0E0D6D0DD66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1" name="PlaceHolder 1"/>
          <p:cNvSpPr>
            <a:spLocks noGrp="1"/>
          </p:cNvSpPr>
          <p:nvPr>
            <p:ph type="sldImg"/>
          </p:nvPr>
        </p:nvSpPr>
        <p:spPr>
          <a:xfrm>
            <a:off x="685800" y="1143000"/>
            <a:ext cx="5485680" cy="3085560"/>
          </a:xfrm>
          <a:prstGeom prst="rect">
            <a:avLst/>
          </a:prstGeom>
        </p:spPr>
      </p:sp>
      <p:sp>
        <p:nvSpPr>
          <p:cNvPr id="216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Explicar el Key Lookup como el coste oculto de los Non-Clustered Index y enseñar cómo un índice covering con INCLUDE lo elimina.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Non-Clustered Index (NCI) es una estructura adicional que apunta a las filas. Si la consulta pide columnas que no están en el índice, el motor hace un Key Lookup (en Heap, RID Lookup): por cada fila encontrada en el NCI hace una lectura aleatoria al Clustered Index.</a:t>
            </a:r>
            <a:endParaRPr b="0" lang="es-ES" sz="2000" spc="-1" strike="noStrike">
              <a:latin typeface="Arial"/>
            </a:endParaRPr>
          </a:p>
          <a:p>
            <a:pPr marL="216000" indent="-216000">
              <a:lnSpc>
                <a:spcPct val="100000"/>
              </a:lnSpc>
            </a:pPr>
            <a:r>
              <a:rPr b="0" lang="en-US" sz="2000" spc="-1" strike="noStrike">
                <a:latin typeface="Arial"/>
              </a:rPr>
              <a:t>-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a:t>
            </a:r>
            <a:endParaRPr b="0" lang="es-ES" sz="2000" spc="-1" strike="noStrike">
              <a:latin typeface="Arial"/>
            </a:endParaRPr>
          </a:p>
          <a:p>
            <a:pPr marL="216000" indent="-216000">
              <a:lnSpc>
                <a:spcPct val="100000"/>
              </a:lnSpc>
            </a:pPr>
            <a:r>
              <a:rPr b="0" lang="en-US" sz="2000" spc="-1" strike="noStrike">
                <a:latin typeface="Arial"/>
              </a:rPr>
              <a:t>-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a:t>
            </a:r>
            <a:endParaRPr b="0" lang="es-ES" sz="2000" spc="-1" strike="noStrike">
              <a:latin typeface="Arial"/>
            </a:endParaRPr>
          </a:p>
          <a:p>
            <a:pPr marL="216000" indent="-216000">
              <a:lnSpc>
                <a:spcPct val="100000"/>
              </a:lnSpc>
            </a:pPr>
            <a:r>
              <a:rPr b="0" lang="en-US" sz="2000" spc="-1" strike="noStrike">
                <a:latin typeface="Arial"/>
              </a:rPr>
              <a:t>- Orden de columnas de la clave: primero las de igualdad (=), luego la de rango (&gt;, &lt;, BETWEEN) y al final las usadas sólo para ordenar. La selectividad importa, pero el patrón de acceso manda.</a:t>
            </a:r>
            <a:endParaRPr b="0" lang="es-ES" sz="2000" spc="-1" strike="noStrike">
              <a:latin typeface="Arial"/>
            </a:endParaRPr>
          </a:p>
          <a:p>
            <a:pPr marL="216000" indent="-216000">
              <a:lnSpc>
                <a:spcPct val="100000"/>
              </a:lnSpc>
            </a:pPr>
            <a:r>
              <a:rPr b="0" lang="en-US" sz="2000" spc="-1" strike="noStrike">
                <a:latin typeface="Arial"/>
              </a:rPr>
              <a:t>- Advertencia: cada columna INCLUDE aumenta el tamaño del índice y el coste de cada escritura. No se debe "cubrir" cualquier consulta; se cubre la consulta crítica y frecuente.</a:t>
            </a:r>
            <a:endParaRPr b="0" lang="es-ES" sz="2000" spc="-1" strike="noStrike">
              <a:latin typeface="Arial"/>
            </a:endParaRPr>
          </a:p>
          <a:p>
            <a:pPr marL="216000" indent="-216000">
              <a:lnSpc>
                <a:spcPct val="100000"/>
              </a:lnSpc>
            </a:pPr>
            <a:r>
              <a:rPr b="0" lang="en-US" sz="2000" spc="-1" strike="noStrike">
                <a:latin typeface="Arial"/>
              </a:rPr>
              <a:t>- WITH (DROP_EXISTING = ON) permite redefinir un índice en una sola operación, evitando reconstruir los NCI dos veces; ONLINE = ON requiere Enterprise Edition.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SELECT * rara vez puede ser cubierto por un índice? ¿Qué alternativa propondríais al desarrollador?</a:t>
            </a:r>
            <a:endParaRPr b="0" lang="es-ES" sz="2000" spc="-1" strike="noStrike">
              <a:latin typeface="Arial"/>
            </a:endParaRPr>
          </a:p>
          <a:p>
            <a:pPr marL="216000" indent="-215640">
              <a:lnSpc>
                <a:spcPct val="100000"/>
              </a:lnSpc>
              <a:tabLst>
                <a:tab algn="l" pos="0"/>
              </a:tabLst>
            </a:pPr>
            <a:r>
              <a:rPr b="0" lang="en-US" sz="2000" spc="-1" strike="noStrike">
                <a:latin typeface="Arial"/>
              </a:rPr>
              <a:t>- Vemos un Key Lookup con 80 % del coste del plan: ¿añadimos INCLUDE siempre? ¿Qué comprobaríais antes (nº de filas, columnas, frecuencia)?</a:t>
            </a:r>
            <a:endParaRPr b="0" lang="es-ES" sz="2000" spc="-1" strike="noStrike">
              <a:latin typeface="Arial"/>
            </a:endParaRPr>
          </a:p>
        </p:txBody>
      </p:sp>
      <p:sp>
        <p:nvSpPr>
          <p:cNvPr id="216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A0C4421-7458-424D-B99B-74172CA94D07}"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4" name="PlaceHolder 1"/>
          <p:cNvSpPr>
            <a:spLocks noGrp="1"/>
          </p:cNvSpPr>
          <p:nvPr>
            <p:ph type="sldImg"/>
          </p:nvPr>
        </p:nvSpPr>
        <p:spPr>
          <a:xfrm>
            <a:off x="685800" y="1143000"/>
            <a:ext cx="5485680" cy="3085560"/>
          </a:xfrm>
          <a:prstGeom prst="rect">
            <a:avLst/>
          </a:prstGeom>
        </p:spPr>
      </p:sp>
      <p:sp>
        <p:nvSpPr>
          <p:cNvPr id="216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dos tipos especiales de índice (filtered y columnstore) y aprender a usar con cautela las sugerencias de índices que expone el propio motor.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Filtered Index: es un NCI con cláusula WHERE que indexa sólo un subconjunto de filas (por ejemplo, pedidos abiertos, Estado = 1). Es más pequeño, más barato de mantener y sus estadísticas son más precisas para ese subconjunto.</a:t>
            </a:r>
            <a:endParaRPr b="0" lang="es-ES" sz="2000" spc="-1" strike="noStrike">
              <a:latin typeface="Arial"/>
            </a:endParaRPr>
          </a:p>
          <a:p>
            <a:pPr marL="216000" indent="-216000">
              <a:lnSpc>
                <a:spcPct val="100000"/>
              </a:lnSpc>
            </a:pPr>
            <a:r>
              <a:rPr b="0" lang="en-US" sz="2000" spc="-1" strike="noStrike">
                <a:latin typeface="Arial"/>
              </a:rPr>
              <a:t>-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a:t>
            </a:r>
            <a:endParaRPr b="0" lang="es-ES" sz="2000" spc="-1" strike="noStrike">
              <a:latin typeface="Arial"/>
            </a:endParaRPr>
          </a:p>
          <a:p>
            <a:pPr marL="216000" indent="-216000">
              <a:lnSpc>
                <a:spcPct val="100000"/>
              </a:lnSpc>
            </a:pPr>
            <a:r>
              <a:rPr b="0" lang="en-US" sz="2000" spc="-1" strike="noStrike">
                <a:latin typeface="Arial"/>
              </a:rPr>
              <a:t>-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a:t>
            </a:r>
            <a:endParaRPr b="0" lang="es-ES" sz="2000" spc="-1" strike="noStrike">
              <a:latin typeface="Arial"/>
            </a:endParaRPr>
          </a:p>
          <a:p>
            <a:pPr marL="216000" indent="-216000">
              <a:lnSpc>
                <a:spcPct val="100000"/>
              </a:lnSpc>
            </a:pPr>
            <a:r>
              <a:rPr b="0" lang="en-US" sz="2000" spc="-1" strike="noStrike">
                <a:latin typeface="Arial"/>
              </a:rPr>
              <a:t>-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a:t>
            </a:r>
            <a:endParaRPr b="0" lang="es-ES" sz="2000" spc="-1" strike="noStrike">
              <a:latin typeface="Arial"/>
            </a:endParaRPr>
          </a:p>
          <a:p>
            <a:pPr marL="216000" indent="-216000">
              <a:lnSpc>
                <a:spcPct val="100000"/>
              </a:lnSpc>
            </a:pPr>
            <a:r>
              <a:rPr b="0" lang="en-US" sz="2000" spc="-1" strike="noStrike">
                <a:latin typeface="Arial"/>
              </a:rPr>
              <a:t>- Procedimiento sano: usar las DMVs como punto de partida, validar con el plan real de la consulta, consolidar con índices existentes (sys.dm_db_index_usage_stats muestra user_seeks/scans/lookups frente a user_updates) y medir antes/después.</a:t>
            </a:r>
            <a:endParaRPr b="0" lang="es-ES" sz="2000" spc="-1" strike="noStrike">
              <a:latin typeface="Arial"/>
            </a:endParaRPr>
          </a:p>
          <a:p>
            <a:pPr marL="216000" indent="-216000">
              <a:lnSpc>
                <a:spcPct val="100000"/>
              </a:lnSpc>
            </a:pPr>
            <a:r>
              <a:rPr b="0" lang="en-US" sz="2000" spc="-1" strike="noStrike">
                <a:latin typeface="Arial"/>
              </a:rPr>
              <a:t>- Un índice con muchos user_updates y cero lecturas es candidato a eliminarse, pero hay que observar un ciclo de negocio completo (cierre mensual, informes anuales) y recordar que estas cifras se reinician al reiniciar la instancia.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casos de vuestro negocio tienen un subconjunto "caliente" de filas (pedidos abiertos, usuarios activos) donde un filtered index aportaría valor?</a:t>
            </a:r>
            <a:endParaRPr b="0" lang="es-ES" sz="2000" spc="-1" strike="noStrike">
              <a:latin typeface="Arial"/>
            </a:endParaRPr>
          </a:p>
          <a:p>
            <a:pPr marL="216000" indent="-215640">
              <a:lnSpc>
                <a:spcPct val="100000"/>
              </a:lnSpc>
              <a:tabLst>
                <a:tab algn="l" pos="0"/>
              </a:tabLst>
            </a:pPr>
            <a:r>
              <a:rPr b="0" lang="en-US" sz="2000" spc="-1" strike="noStrike">
                <a:latin typeface="Arial"/>
              </a:rPr>
              <a:t>- Si el servidor lleva 3 días encendido, ¿es fiable concluir que un índice no se usa? ¿Qué información adicional necesitaríais?</a:t>
            </a:r>
            <a:endParaRPr b="0" lang="es-ES" sz="2000" spc="-1" strike="noStrike">
              <a:latin typeface="Arial"/>
            </a:endParaRPr>
          </a:p>
        </p:txBody>
      </p:sp>
      <p:sp>
        <p:nvSpPr>
          <p:cNvPr id="216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6BF759E-7B52-40BA-AC4E-C9393163937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7" name="PlaceHolder 1"/>
          <p:cNvSpPr>
            <a:spLocks noGrp="1"/>
          </p:cNvSpPr>
          <p:nvPr>
            <p:ph type="sldImg"/>
          </p:nvPr>
        </p:nvSpPr>
        <p:spPr>
          <a:xfrm>
            <a:off x="685800" y="1143000"/>
            <a:ext cx="5485680" cy="3085560"/>
          </a:xfrm>
          <a:prstGeom prst="rect">
            <a:avLst/>
          </a:prstGeom>
        </p:spPr>
      </p:sp>
      <p:sp>
        <p:nvSpPr>
          <p:cNvPr id="216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qué es la fragmentación de índices, cómo se mide con sys.dm_db_index_physical_stats y cómo decidir entre REORGANIZE y REBUILD apoyándose en el fillfactor.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a:t>
            </a:r>
            <a:endParaRPr b="0" lang="es-ES" sz="2000" spc="-1" strike="noStrike">
              <a:latin typeface="Arial"/>
            </a:endParaRPr>
          </a:p>
          <a:p>
            <a:pPr marL="216000" indent="-216000">
              <a:lnSpc>
                <a:spcPct val="100000"/>
              </a:lnSpc>
            </a:pPr>
            <a:r>
              <a:rPr b="0" lang="en-US" sz="2000" spc="-1" strike="noStrike">
                <a:latin typeface="Arial"/>
              </a:rPr>
              <a:t>-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a:t>
            </a:r>
            <a:endParaRPr b="0" lang="es-ES" sz="2000" spc="-1" strike="noStrike">
              <a:latin typeface="Arial"/>
            </a:endParaRPr>
          </a:p>
          <a:p>
            <a:pPr marL="216000" indent="-216000">
              <a:lnSpc>
                <a:spcPct val="100000"/>
              </a:lnSpc>
            </a:pPr>
            <a:r>
              <a:rPr b="0" lang="en-US" sz="2000" spc="-1" strike="noStrike">
                <a:latin typeface="Arial"/>
              </a:rPr>
              <a:t>- Se mide con sys.dm_db_index_physical_stats; el modo LIMITED es rápido (sólo niveles superiores) y suficiente para avg_fragmentation_in_percent; DETAILED recorre todo y es caro: no usarlo en horario de producción en tablas grandes.</a:t>
            </a:r>
            <a:endParaRPr b="0" lang="es-ES" sz="2000" spc="-1" strike="noStrike">
              <a:latin typeface="Arial"/>
            </a:endParaRPr>
          </a:p>
          <a:p>
            <a:pPr marL="216000" indent="-216000">
              <a:lnSpc>
                <a:spcPct val="100000"/>
              </a:lnSpc>
            </a:pPr>
            <a:r>
              <a:rPr b="0" lang="en-US" sz="2000" spc="-1" strike="noStrike">
                <a:latin typeface="Arial"/>
              </a:rPr>
              <a:t>-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a:t>
            </a:r>
            <a:endParaRPr b="0" lang="es-ES" sz="2000" spc="-1" strike="noStrike">
              <a:latin typeface="Arial"/>
            </a:endParaRPr>
          </a:p>
          <a:p>
            <a:pPr marL="216000" indent="-216000">
              <a:lnSpc>
                <a:spcPct val="100000"/>
              </a:lnSpc>
            </a:pPr>
            <a:r>
              <a:rPr b="0" lang="en-US" sz="2000" spc="-1" strike="noStrike">
                <a:latin typeface="Arial"/>
              </a:rPr>
              <a:t>-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a:t>
            </a:r>
            <a:endParaRPr b="0" lang="es-ES" sz="2000" spc="-1" strike="noStrike">
              <a:latin typeface="Arial"/>
            </a:endParaRPr>
          </a:p>
          <a:p>
            <a:pPr marL="216000" indent="-216000">
              <a:lnSpc>
                <a:spcPct val="100000"/>
              </a:lnSpc>
            </a:pPr>
            <a:r>
              <a:rPr b="0" lang="en-US" sz="2000" spc="-1" strike="noStrike">
                <a:latin typeface="Arial"/>
              </a:rPr>
              <a:t>- En almacenamiento SSD/flash la fragmentación lógica penaliza menos; la densidad de página y las estadísticas siguen siendo relevantes. Un REBUILD masivo diario puede ser peor (log, bloqueos, réplicas) que el problema que intenta resolver.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 índice de 300 páginas con 60 % de fragmentación: ¿lo reconstruiríais? ¿Por qué?</a:t>
            </a:r>
            <a:endParaRPr b="0" lang="es-ES" sz="2000" spc="-1" strike="noStrike">
              <a:latin typeface="Arial"/>
            </a:endParaRPr>
          </a:p>
          <a:p>
            <a:pPr marL="216000" indent="-216000">
              <a:lnSpc>
                <a:spcPct val="100000"/>
              </a:lnSpc>
            </a:pPr>
            <a:r>
              <a:rPr b="0" lang="en-US" sz="2000" spc="-1" strike="noStrike">
                <a:latin typeface="Arial"/>
              </a:rPr>
              <a:t>- ¿Qué efecto tendría un FILLFACTOR = 70 en una tabla de solo lectura? ¿Y en una con inserciones aleatorias?</a:t>
            </a:r>
            <a:endParaRPr b="0" lang="es-ES" sz="2000" spc="-1" strike="noStrike">
              <a:latin typeface="Arial"/>
            </a:endParaRPr>
          </a:p>
          <a:p>
            <a:pPr marL="216000" indent="-215640">
              <a:lnSpc>
                <a:spcPct val="100000"/>
              </a:lnSpc>
              <a:tabLst>
                <a:tab algn="l" pos="0"/>
              </a:tabLst>
            </a:pPr>
            <a:r>
              <a:rPr b="0" lang="en-US" sz="2000" spc="-1" strike="noStrike">
                <a:latin typeface="Arial"/>
              </a:rPr>
              <a:t>- ¿Cómo comprobaríais, tras cambiar el fillfactor, que de verdad disminuyen los Page Splits?</a:t>
            </a:r>
            <a:endParaRPr b="0" lang="es-ES" sz="2000" spc="-1" strike="noStrike">
              <a:latin typeface="Arial"/>
            </a:endParaRPr>
          </a:p>
        </p:txBody>
      </p:sp>
      <p:sp>
        <p:nvSpPr>
          <p:cNvPr id="216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7F9842B-6620-4D74-AEAA-AD6A59D42A9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0" name="PlaceHolder 1"/>
          <p:cNvSpPr>
            <a:spLocks noGrp="1"/>
          </p:cNvSpPr>
          <p:nvPr>
            <p:ph type="sldImg"/>
          </p:nvPr>
        </p:nvSpPr>
        <p:spPr>
          <a:xfrm>
            <a:off x="685800" y="1143000"/>
            <a:ext cx="5485680" cy="3085560"/>
          </a:xfrm>
          <a:prstGeom prst="rect">
            <a:avLst/>
          </a:prstGeom>
        </p:spPr>
      </p:sp>
      <p:sp>
        <p:nvSpPr>
          <p:cNvPr id="217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que el optimizador elige el plan a partir de estimaciones de cardinalidad basadas en estadísticas, y saber inspeccionarlas, mantenerlas y reconocer cuándo fallan.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estadísticas describen la distribución de valores de una o varias columnas. El Query Optimizer las usa para estimar cuántas filas devolverá cada operador (cardinalidad) y, con ello, elegir Seek vs Scan, tipo de JOIN y concesión de memoria. Estadísticas malas = planes malos.</a:t>
            </a:r>
            <a:endParaRPr b="0" lang="es-ES" sz="2000" spc="-1" strike="noStrike">
              <a:latin typeface="Arial"/>
            </a:endParaRPr>
          </a:p>
          <a:p>
            <a:pPr marL="216000" indent="-216000">
              <a:lnSpc>
                <a:spcPct val="100000"/>
              </a:lnSpc>
            </a:pPr>
            <a:r>
              <a:rPr b="0" lang="en-US" sz="2000" spc="-1" strike="noStrike">
                <a:latin typeface="Arial"/>
              </a:rPr>
              <a:t>-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a:t>
            </a:r>
            <a:endParaRPr b="0" lang="es-ES" sz="2000" spc="-1" strike="noStrike">
              <a:latin typeface="Arial"/>
            </a:endParaRPr>
          </a:p>
          <a:p>
            <a:pPr marL="216000" indent="-216000">
              <a:lnSpc>
                <a:spcPct val="100000"/>
              </a:lnSpc>
            </a:pPr>
            <a:r>
              <a:rPr b="0" lang="en-US" sz="2000" spc="-1" strike="noStrike">
                <a:latin typeface="Arial"/>
              </a:rPr>
              <a:t>-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a:t>
            </a:r>
            <a:endParaRPr b="0" lang="es-ES" sz="2000" spc="-1" strike="noStrike">
              <a:latin typeface="Arial"/>
            </a:endParaRPr>
          </a:p>
          <a:p>
            <a:pPr marL="216000" indent="-216000">
              <a:lnSpc>
                <a:spcPct val="100000"/>
              </a:lnSpc>
            </a:pPr>
            <a:r>
              <a:rPr b="0" lang="en-US" sz="2000" spc="-1" strike="noStrike">
                <a:latin typeface="Arial"/>
              </a:rPr>
              <a:t>- Las estadísticas del índice se actualizan con FULLSCAN al hacer REBUILD, no con REORGANIZE; el muestreo por defecto de UPDATE STATISTICS puede ser insuficiente en datos muy sesgados: considerar WITH FULLSCAN o PERSIST_SAMPLE_PERCENT (2016 SP1+/2019).</a:t>
            </a:r>
            <a:endParaRPr b="0" lang="es-ES" sz="2000" spc="-1" strike="noStrike">
              <a:latin typeface="Arial"/>
            </a:endParaRPr>
          </a:p>
          <a:p>
            <a:pPr marL="216000" indent="-216000">
              <a:lnSpc>
                <a:spcPct val="100000"/>
              </a:lnSpc>
            </a:pPr>
            <a:r>
              <a:rPr b="0" lang="en-US" sz="2000" spc="-1" strike="noStrike">
                <a:latin typeface="Arial"/>
              </a:rPr>
              <a:t>-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a:t>
            </a:r>
            <a:endParaRPr b="0" lang="es-ES" sz="2000" spc="-1" strike="noStrike">
              <a:latin typeface="Arial"/>
            </a:endParaRPr>
          </a:p>
          <a:p>
            <a:pPr marL="216000" indent="-216000">
              <a:lnSpc>
                <a:spcPct val="100000"/>
              </a:lnSpc>
            </a:pPr>
            <a:r>
              <a:rPr b="0" lang="en-US" sz="2000" spc="-1" strike="noStrike">
                <a:latin typeface="Arial"/>
              </a:rPr>
              <a:t>- Síntoma clásico: en el plan real, Estimated Number of Rows muy distinto de Actual Number of Rows. Causas habituales: estadísticas obsoletas, parameter sniffing, variables locales, tablas variable, columnas correlacionadas.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de índice "arregla" a veces un plan lento aunque la fragmentación fuera baja?</a:t>
            </a:r>
            <a:endParaRPr b="0" lang="es-ES" sz="2000" spc="-1" strike="noStrike">
              <a:latin typeface="Arial"/>
            </a:endParaRPr>
          </a:p>
          <a:p>
            <a:pPr marL="216000" indent="-215640">
              <a:lnSpc>
                <a:spcPct val="100000"/>
              </a:lnSpc>
              <a:tabLst>
                <a:tab algn="l" pos="0"/>
              </a:tabLst>
            </a:pPr>
            <a:r>
              <a:rPr b="0" lang="en-US" sz="2000" spc="-1" strike="noStrike">
                <a:latin typeface="Arial"/>
              </a:rPr>
              <a:t>- Una tabla de 50 millones de filas con auto-update clásico necesitaría 10 millones de cambios para actualizar estadísticas: ¿qué consecuencias tiene y cómo lo mitiga el umbral dinámico?</a:t>
            </a:r>
            <a:endParaRPr b="0" lang="es-ES" sz="2000" spc="-1" strike="noStrike">
              <a:latin typeface="Arial"/>
            </a:endParaRPr>
          </a:p>
        </p:txBody>
      </p:sp>
      <p:sp>
        <p:nvSpPr>
          <p:cNvPr id="217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32253EC-A2D5-4BCF-A233-CBE93FFC639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3" name="PlaceHolder 1"/>
          <p:cNvSpPr>
            <a:spLocks noGrp="1"/>
          </p:cNvSpPr>
          <p:nvPr>
            <p:ph type="sldImg"/>
          </p:nvPr>
        </p:nvSpPr>
        <p:spPr>
          <a:xfrm>
            <a:off x="685800" y="1143000"/>
            <a:ext cx="5485680" cy="3085560"/>
          </a:xfrm>
          <a:prstGeom prst="rect">
            <a:avLst/>
          </a:prstGeom>
        </p:spPr>
      </p:sp>
      <p:sp>
        <p:nvSpPr>
          <p:cNvPr id="217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Reconocer los tres operadores de acceso a datos más frecuentes en un plan de ejecución y saber cuándo son normales y cuándo son una señal de alarma.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a:t>
            </a:r>
            <a:endParaRPr b="0" lang="es-ES" sz="2000" spc="-1" strike="noStrike">
              <a:latin typeface="Arial"/>
            </a:endParaRPr>
          </a:p>
          <a:p>
            <a:pPr marL="216000" indent="-216000">
              <a:lnSpc>
                <a:spcPct val="100000"/>
              </a:lnSpc>
            </a:pPr>
            <a:r>
              <a:rPr b="0" lang="en-US" sz="2000" spc="-1" strike="noStrike">
                <a:latin typeface="Arial"/>
              </a:rPr>
              <a:t>-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a:t>
            </a:r>
            <a:endParaRPr b="0" lang="es-ES" sz="2000" spc="-1" strike="noStrike">
              <a:latin typeface="Arial"/>
            </a:endParaRPr>
          </a:p>
          <a:p>
            <a:pPr marL="216000" indent="-216000">
              <a:lnSpc>
                <a:spcPct val="100000"/>
              </a:lnSpc>
            </a:pPr>
            <a:r>
              <a:rPr b="0" lang="en-US" sz="2000" spc="-1" strike="noStrike">
                <a:latin typeface="Arial"/>
              </a:rPr>
              <a:t>- Un Seek también puede ser caro si devuelve millones de filas o se ejecuta muchas veces dentro de un Nested Loops (mirar Number of Executions y Actual Rows en las propiedades del operador).</a:t>
            </a:r>
            <a:endParaRPr b="0" lang="es-ES" sz="2000" spc="-1" strike="noStrike">
              <a:latin typeface="Arial"/>
            </a:endParaRPr>
          </a:p>
          <a:p>
            <a:pPr marL="216000" indent="-216000">
              <a:lnSpc>
                <a:spcPct val="100000"/>
              </a:lnSpc>
            </a:pPr>
            <a:r>
              <a:rPr b="0" lang="en-US" sz="2000" spc="-1" strike="noStrike">
                <a:latin typeface="Arial"/>
              </a:rPr>
              <a:t>- Key Lookup (Clustered) / RID Lookup (Heap): obtiene las columnas que el NCI no contiene. Va acompañado de Nested Loops. Si el nº de ejecuciones es alto, es el candidato nº 1 para un índice covering (INCLUDE).</a:t>
            </a:r>
            <a:endParaRPr b="0" lang="es-ES" sz="2000" spc="-1" strike="noStrike">
              <a:latin typeface="Arial"/>
            </a:endParaRPr>
          </a:p>
          <a:p>
            <a:pPr marL="216000" indent="-216000">
              <a:lnSpc>
                <a:spcPct val="100000"/>
              </a:lnSpc>
            </a:pPr>
            <a:r>
              <a:rPr b="0" lang="en-US" sz="2000" spc="-1" strike="noStrike">
                <a:latin typeface="Arial"/>
              </a:rPr>
              <a:t>- Coste CPU y E/S: cada operador muestra Estimated I/O Cost y Estimated CPU Cost; el porcentaje del plan es una estimación relativa del optimizador, calculada con un modelo de hardware de referencia, y NO equivale a tiempo real. Para tiempo real, usar el plan real y SET STATISTICS TIME.</a:t>
            </a:r>
            <a:endParaRPr b="0" lang="es-ES" sz="2000" spc="-1" strike="noStrike">
              <a:latin typeface="Arial"/>
            </a:endParaRPr>
          </a:p>
          <a:p>
            <a:pPr marL="216000" indent="-216000">
              <a:lnSpc>
                <a:spcPct val="100000"/>
              </a:lnSpc>
            </a:pPr>
            <a:r>
              <a:rPr b="0" lang="en-US" sz="2000" spc="-1" strike="noStrike">
                <a:latin typeface="Arial"/>
              </a:rPr>
              <a:t>- Orden de lectura: de derecha a izquierda y de arriba abajo (el flujo de datos va hacia la izquierda); el grosor de las flechas indica el volumen de filas.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Veis un Clustered Index Scan sobre una tabla de 200 filas: ¿hay que arreglarlo? ¿Y si la tabla tiene 200 millones?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WHERE CONVERT(VARCHAR(10), FechaPedido, 120) = '2024-03-15' impide el Index Seek? ¿Cómo lo reescribiríais?</a:t>
            </a:r>
            <a:endParaRPr b="0" lang="es-ES" sz="2000" spc="-1" strike="noStrike">
              <a:latin typeface="Arial"/>
            </a:endParaRPr>
          </a:p>
        </p:txBody>
      </p:sp>
      <p:sp>
        <p:nvSpPr>
          <p:cNvPr id="217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C94DB6E-A6B6-4D99-8B9A-79802E188F4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6" name="PlaceHolder 1"/>
          <p:cNvSpPr>
            <a:spLocks noGrp="1"/>
          </p:cNvSpPr>
          <p:nvPr>
            <p:ph type="sldImg"/>
          </p:nvPr>
        </p:nvSpPr>
        <p:spPr>
          <a:xfrm>
            <a:off x="685800" y="1143000"/>
            <a:ext cx="5485680" cy="3085560"/>
          </a:xfrm>
          <a:prstGeom prst="rect">
            <a:avLst/>
          </a:prstGeom>
        </p:spPr>
      </p:sp>
      <p:sp>
        <p:nvSpPr>
          <p:cNvPr id="217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obtener y leer un plan de ejecución real, medir E/S y tiempo con STATISTICS IO/TIME y detectar las desviaciones y avisos que indican un problema.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Plan estimado (Ctrl+L): se genera sin ejecutar la consulta; sólo contiene estimaciones. Plan real (Ctrl+M antes de ejecutar): incluye métricas reales (Actual Rows, Actual Executions, tiempos) y avisos de ejecución como spills.</a:t>
            </a:r>
            <a:endParaRPr b="0" lang="es-ES" sz="2000" spc="-1" strike="noStrike">
              <a:latin typeface="Arial"/>
            </a:endParaRPr>
          </a:p>
          <a:p>
            <a:pPr marL="216000" indent="-216000">
              <a:lnSpc>
                <a:spcPct val="100000"/>
              </a:lnSpc>
            </a:pPr>
            <a:r>
              <a:rPr b="0" lang="en-US" sz="2000" spc="-1" strike="noStrike">
                <a:latin typeface="Arial"/>
              </a:rPr>
              <a:t>- SET STATISTICS IO ON muestra por tabla: Scan count, logical reads (páginas leídas de memoria), physical reads y read-ahead reads. Las lecturas lógicas son la métrica más estable para comparar versiones de una consulta, porque no dependen de la caché ni de la carga del servidor.</a:t>
            </a:r>
            <a:endParaRPr b="0" lang="es-ES" sz="2000" spc="-1" strike="noStrike">
              <a:latin typeface="Arial"/>
            </a:endParaRPr>
          </a:p>
          <a:p>
            <a:pPr marL="216000" indent="-216000">
              <a:lnSpc>
                <a:spcPct val="100000"/>
              </a:lnSpc>
            </a:pPr>
            <a:r>
              <a:rPr b="0" lang="en-US" sz="2000" spc="-1" strike="noStrike">
                <a:latin typeface="Arial"/>
              </a:rPr>
              <a:t>- SET STATISTICS TIME ON informa de CPU time y elapsed time; el elapsed incluye esperas (bloqueos, E/S). Comparar siempre con la caché caliente y repetir varias ejecuciones; evitar DBCC DROPCLEANBUFFERS en producción.</a:t>
            </a:r>
            <a:endParaRPr b="0" lang="es-ES" sz="2000" spc="-1" strike="noStrike">
              <a:latin typeface="Arial"/>
            </a:endParaRPr>
          </a:p>
          <a:p>
            <a:pPr marL="216000" indent="-216000">
              <a:lnSpc>
                <a:spcPct val="100000"/>
              </a:lnSpc>
            </a:pPr>
            <a:r>
              <a:rPr b="0" lang="en-US" sz="2000" spc="-1" strike="noStrike">
                <a:latin typeface="Arial"/>
              </a:rPr>
              <a:t>- Estimated vs Actual Rows: una diferencia de un orden de magnitud o más es la principal pista de estadísticas obsoletas, parameter sniffing o de un predicado que el CE no sabe estimar. Se ven en las propiedades de cada operador (F4).</a:t>
            </a:r>
            <a:endParaRPr b="0" lang="es-ES" sz="2000" spc="-1" strike="noStrike">
              <a:latin typeface="Arial"/>
            </a:endParaRPr>
          </a:p>
          <a:p>
            <a:pPr marL="216000" indent="-216000">
              <a:lnSpc>
                <a:spcPct val="100000"/>
              </a:lnSpc>
            </a:pPr>
            <a:r>
              <a:rPr b="0" lang="en-US" sz="2000" spc="-1" strike="noStrike">
                <a:latin typeface="Arial"/>
              </a:rPr>
              <a:t>- Warnings (triángulo amarillo): Sort/Hash Spill a tempdb por concesión de memoria insuficiente, conversión implícita (CONVERT_IMPLICIT) que anula Seeks, columnas sin estadísticas, Missing Index. Un spill indica memory grant mal estimado.</a:t>
            </a:r>
            <a:endParaRPr b="0" lang="es-ES" sz="2000" spc="-1" strike="noStrike">
              <a:latin typeface="Arial"/>
            </a:endParaRPr>
          </a:p>
          <a:p>
            <a:pPr marL="216000" indent="-216000">
              <a:lnSpc>
                <a:spcPct val="100000"/>
              </a:lnSpc>
            </a:pPr>
            <a:r>
              <a:rPr b="0" lang="en-US" sz="2000" spc="-1" strike="noStrike">
                <a:latin typeface="Arial"/>
              </a:rPr>
              <a:t>-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elegimos lecturas lógicas y no el tiempo transcurrido para comparar dos versiones de una consulta?</a:t>
            </a:r>
            <a:endParaRPr b="0" lang="es-ES" sz="2000" spc="-1" strike="noStrike">
              <a:latin typeface="Arial"/>
            </a:endParaRPr>
          </a:p>
          <a:p>
            <a:pPr marL="216000" indent="-215640">
              <a:lnSpc>
                <a:spcPct val="100000"/>
              </a:lnSpc>
              <a:tabLst>
                <a:tab algn="l" pos="0"/>
              </a:tabLst>
            </a:pPr>
            <a:r>
              <a:rPr b="0" lang="en-US" sz="2000" spc="-1" strike="noStrike">
                <a:latin typeface="Arial"/>
              </a:rPr>
              <a:t>- El plan muestra Estimated Rows = 1 y Actual Rows = 900.000: ¿qué hipótesis plantearíais y qué comprobaríais primero?</a:t>
            </a:r>
            <a:endParaRPr b="0" lang="es-ES" sz="2000" spc="-1" strike="noStrike">
              <a:latin typeface="Arial"/>
            </a:endParaRPr>
          </a:p>
        </p:txBody>
      </p:sp>
      <p:sp>
        <p:nvSpPr>
          <p:cNvPr id="217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71FF9FB-EC52-4FD3-ABDA-2A9FA4C819A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9" name="PlaceHolder 1"/>
          <p:cNvSpPr>
            <a:spLocks noGrp="1"/>
          </p:cNvSpPr>
          <p:nvPr>
            <p:ph type="sldImg"/>
          </p:nvPr>
        </p:nvSpPr>
        <p:spPr>
          <a:xfrm>
            <a:off x="685800" y="1143000"/>
            <a:ext cx="5485680" cy="3085560"/>
          </a:xfrm>
          <a:prstGeom prst="rect">
            <a:avLst/>
          </a:prstGeom>
        </p:spPr>
      </p:sp>
      <p:sp>
        <p:nvSpPr>
          <p:cNvPr id="218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Usar las DMVs sys.dm_exec_query_stats y sys.dm_exec_requests junto con sys.dm_exec_sql_text/query_plan para localizar las consultas más costosas y ver qué está ejecutándose ahora mismo.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Las Dynamic Management Views exponen el estado interno del motor sin instalar nada. Requieren el permiso VIEW SERVER STATE (VIEW SERVER PERFORMANCE STATE en SQL Server 2022) y sus datos son volátiles: se reinician al reiniciar la instancia.</a:t>
            </a:r>
            <a:endParaRPr b="0" lang="es-ES" sz="2000" spc="-1" strike="noStrike">
              <a:latin typeface="Arial"/>
            </a:endParaRPr>
          </a:p>
          <a:p>
            <a:pPr marL="216000" indent="-216000">
              <a:lnSpc>
                <a:spcPct val="100000"/>
              </a:lnSpc>
            </a:pPr>
            <a:r>
              <a:rPr b="0" lang="en-US" sz="2000" spc="-1" strike="noStrike">
                <a:latin typeface="Arial"/>
              </a:rPr>
              <a:t>-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a:t>
            </a:r>
            <a:endParaRPr b="0" lang="es-ES" sz="2000" spc="-1" strike="noStrike">
              <a:latin typeface="Arial"/>
            </a:endParaRPr>
          </a:p>
          <a:p>
            <a:pPr marL="216000" indent="-216000">
              <a:lnSpc>
                <a:spcPct val="100000"/>
              </a:lnSpc>
            </a:pPr>
            <a:r>
              <a:rPr b="0" lang="en-US" sz="2000" spc="-1" strike="noStrike">
                <a:latin typeface="Arial"/>
              </a:rPr>
              <a:t>- Importante: sólo ve consultas cuyo plan sigue en caché; los planes expulsados por memoria o recompilados desaparecen, y las consultas con OPTION (RECOMPILE) no aparecen. Para histórico fiable, Query Store.</a:t>
            </a:r>
            <a:endParaRPr b="0" lang="es-ES" sz="2000" spc="-1" strike="noStrike">
              <a:latin typeface="Arial"/>
            </a:endParaRPr>
          </a:p>
          <a:p>
            <a:pPr marL="216000" indent="-216000">
              <a:lnSpc>
                <a:spcPct val="100000"/>
              </a:lnSpc>
            </a:pPr>
            <a:r>
              <a:rPr b="0" lang="en-US" sz="2000" spc="-1" strike="noStrike">
                <a:latin typeface="Arial"/>
              </a:rPr>
              <a:t>-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a:t>
            </a:r>
            <a:endParaRPr b="0" lang="es-ES" sz="2000" spc="-1" strike="noStrike">
              <a:latin typeface="Arial"/>
            </a:endParaRPr>
          </a:p>
          <a:p>
            <a:pPr marL="216000" indent="-216000">
              <a:lnSpc>
                <a:spcPct val="100000"/>
              </a:lnSpc>
            </a:pPr>
            <a:r>
              <a:rPr b="0" lang="en-US" sz="2000" spc="-1" strike="noStrike">
                <a:latin typeface="Arial"/>
              </a:rPr>
              <a:t>- sys.dm_exec_requests muestra las peticiones activas ahora: status, command, wait_type, wait_time, blocking_session_id, cpu_time, logical_reads, database_id y sql_handle. Es el primer sitio al que mirar cuando "va lento ahora".</a:t>
            </a:r>
            <a:endParaRPr b="0" lang="es-ES" sz="2000" spc="-1" strike="noStrike">
              <a:latin typeface="Arial"/>
            </a:endParaRPr>
          </a:p>
          <a:p>
            <a:pPr marL="216000" indent="-216000">
              <a:lnSpc>
                <a:spcPct val="100000"/>
              </a:lnSpc>
            </a:pPr>
            <a:r>
              <a:rPr b="0" lang="en-US" sz="2000" spc="-1" strike="noStrike">
                <a:latin typeface="Arial"/>
              </a:rPr>
              <a:t>- Buenas prácticas: filtrar session_id &gt; 50 o unir con sys.dm_exec_sessions (is_user_process = 1), excluir @@SPID y limitar columnas de texto (LEFT/SUBSTRING) para no devolver lotes enormes a SSMS.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ordenar sólo por duración media puede ocultar la consulta que más daño hace al servidor?</a:t>
            </a:r>
            <a:endParaRPr b="0" lang="es-ES" sz="2000" spc="-1" strike="noStrike">
              <a:latin typeface="Arial"/>
            </a:endParaRPr>
          </a:p>
          <a:p>
            <a:pPr marL="216000" indent="-215640">
              <a:lnSpc>
                <a:spcPct val="100000"/>
              </a:lnSpc>
              <a:tabLst>
                <a:tab algn="l" pos="0"/>
              </a:tabLst>
            </a:pPr>
            <a:r>
              <a:rPr b="0" lang="en-US" sz="2000" spc="-1" strike="noStrike">
                <a:latin typeface="Arial"/>
              </a:rPr>
              <a:t>- Reiniciamos el servicio ayer y hoy sys.dm_exec_query_stats está casi vacío: ¿qué conclusiones podemos (y no) extraer?</a:t>
            </a:r>
            <a:endParaRPr b="0" lang="es-ES" sz="2000" spc="-1" strike="noStrike">
              <a:latin typeface="Arial"/>
            </a:endParaRPr>
          </a:p>
        </p:txBody>
      </p:sp>
      <p:sp>
        <p:nvSpPr>
          <p:cNvPr id="218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A0E5238-5779-4ABA-9FCB-4DCDB60BBDC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2" name="PlaceHolder 1"/>
          <p:cNvSpPr>
            <a:spLocks noGrp="1"/>
          </p:cNvSpPr>
          <p:nvPr>
            <p:ph type="sldImg"/>
          </p:nvPr>
        </p:nvSpPr>
        <p:spPr>
          <a:xfrm>
            <a:off x="685800" y="1143000"/>
            <a:ext cx="5485680" cy="3085560"/>
          </a:xfrm>
          <a:prstGeom prst="rect">
            <a:avLst/>
          </a:prstGeom>
        </p:spPr>
      </p:sp>
      <p:sp>
        <p:nvSpPr>
          <p:cNvPr id="218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Aplicar el método de Wait Statistics: identificar los tipos de espera dominantes con sys.dm_os_wait_stats y localizar bloqueos con sys.dm_os_waiting_tasks.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Cada hilo (worker) de SQL Server pasa por estados RUNNING, RUNNABLE y SUSPENDED. Cuando no puede avanzar (espera un bloqueo, una E/S, memoria…) registra una espera. Analizar dónde espera el servidor indica cuál es el cuello de botella dominante.</a:t>
            </a:r>
            <a:endParaRPr b="0" lang="es-ES" sz="2000" spc="-1" strike="noStrike">
              <a:latin typeface="Arial"/>
            </a:endParaRPr>
          </a:p>
          <a:p>
            <a:pPr marL="216000" indent="-216000">
              <a:lnSpc>
                <a:spcPct val="100000"/>
              </a:lnSpc>
            </a:pPr>
            <a:r>
              <a:rPr b="0" lang="en-US" sz="2000" spc="-1" strike="noStrike">
                <a:latin typeface="Arial"/>
              </a:rPr>
              <a:t>-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a:t>
            </a:r>
            <a:endParaRPr b="0" lang="es-ES" sz="2000" spc="-1" strike="noStrike">
              <a:latin typeface="Arial"/>
            </a:endParaRPr>
          </a:p>
          <a:p>
            <a:pPr marL="216000" indent="-216000">
              <a:lnSpc>
                <a:spcPct val="100000"/>
              </a:lnSpc>
            </a:pPr>
            <a:r>
              <a:rPr b="0" lang="en-US" sz="2000" spc="-1" strike="noStrike">
                <a:latin typeface="Arial"/>
              </a:rPr>
              <a:t>-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a:t>
            </a:r>
            <a:endParaRPr b="0" lang="es-ES" sz="2000" spc="-1" strike="noStrike">
              <a:latin typeface="Arial"/>
            </a:endParaRPr>
          </a:p>
          <a:p>
            <a:pPr marL="216000" indent="-216000">
              <a:lnSpc>
                <a:spcPct val="100000"/>
              </a:lnSpc>
            </a:pPr>
            <a:r>
              <a:rPr b="0" lang="en-US" sz="2000" spc="-1" strike="noStrike">
                <a:latin typeface="Arial"/>
              </a:rPr>
              <a:t>-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a:t>
            </a:r>
            <a:endParaRPr b="0" lang="es-ES" sz="2000" spc="-1" strike="noStrike">
              <a:latin typeface="Arial"/>
            </a:endParaRPr>
          </a:p>
          <a:p>
            <a:pPr marL="216000" indent="-216000">
              <a:lnSpc>
                <a:spcPct val="100000"/>
              </a:lnSpc>
            </a:pPr>
            <a:r>
              <a:rPr b="0" lang="en-US" sz="2000" spc="-1" strike="noStrike">
                <a:latin typeface="Arial"/>
              </a:rPr>
              <a:t>-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a:t>
            </a:r>
            <a:endParaRPr b="0" lang="es-ES" sz="2000" spc="-1" strike="noStrike">
              <a:latin typeface="Arial"/>
            </a:endParaRPr>
          </a:p>
          <a:p>
            <a:pPr marL="216000" indent="-216000">
              <a:lnSpc>
                <a:spcPct val="100000"/>
              </a:lnSpc>
            </a:pPr>
            <a:r>
              <a:rPr b="0" lang="en-US" sz="2000" spc="-1" strike="noStrike">
                <a:latin typeface="Arial"/>
              </a:rPr>
              <a:t>- Método sano: tomar dos snapshots de wait_stats separados por unos minutos y calcular la diferencia; los valores acumulados desde hace semanas diluyen el problema actual.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El 60 % de las esperas es PAGEIOLATCH_SH: ¿qué dos líneas de actuación distintas se os ocurren (E/S y memoria/consultas)?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una consulta puede tardar 30 s con CPU time de 200 ms? ¿Dónde lo veríais?</a:t>
            </a:r>
            <a:endParaRPr b="0" lang="es-ES" sz="2000" spc="-1" strike="noStrike">
              <a:latin typeface="Arial"/>
            </a:endParaRPr>
          </a:p>
        </p:txBody>
      </p:sp>
      <p:sp>
        <p:nvSpPr>
          <p:cNvPr id="218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3E5A9C5C-07E8-4749-B0FD-68C84B1411A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5" name="PlaceHolder 1"/>
          <p:cNvSpPr>
            <a:spLocks noGrp="1"/>
          </p:cNvSpPr>
          <p:nvPr>
            <p:ph type="sldImg"/>
          </p:nvPr>
        </p:nvSpPr>
        <p:spPr>
          <a:xfrm>
            <a:off x="685800" y="1143000"/>
            <a:ext cx="5485680" cy="3085560"/>
          </a:xfrm>
          <a:prstGeom prst="rect">
            <a:avLst/>
          </a:prstGeom>
        </p:spPr>
      </p:sp>
      <p:sp>
        <p:nvSpPr>
          <p:cNvPr id="218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Definir RTO y RPO como los dos requisitos de negocio que determinan qué tecnología de HA/DR elegir, y distinguir alta disponibilidad de recuperación ante desastres.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RPO (Recovery Point Objective): cuántos datos, medidos en tiempo, puede perder el negocio. RPO = 15 min significa que tras un fallo se aceptan hasta 15 minutos de transacciones perdidas. RPO ≈ 0 exige que cada commit esté ya en otro lugar antes de confirmarse (replicación síncrona).</a:t>
            </a:r>
            <a:endParaRPr b="0" lang="es-ES" sz="2000" spc="-1" strike="noStrike">
              <a:latin typeface="Arial"/>
            </a:endParaRPr>
          </a:p>
          <a:p>
            <a:pPr marL="216000" indent="-216000">
              <a:lnSpc>
                <a:spcPct val="100000"/>
              </a:lnSpc>
            </a:pPr>
            <a:r>
              <a:rPr b="0" lang="en-US" sz="2000" spc="-1" strike="noStrike">
                <a:latin typeface="Arial"/>
              </a:rPr>
              <a:t>- RTO (Recovery Time Objective): cuánto tiempo puede estar caído el servicio hasta restablecerse (incluye detección, decisión, failover y recuperación de la BD). RTO = 1 min exige failover automático; RTO = 4 h permite restaurar desde backup.</a:t>
            </a:r>
            <a:endParaRPr b="0" lang="es-ES" sz="2000" spc="-1" strike="noStrike">
              <a:latin typeface="Arial"/>
            </a:endParaRPr>
          </a:p>
          <a:p>
            <a:pPr marL="216000" indent="-216000">
              <a:lnSpc>
                <a:spcPct val="100000"/>
              </a:lnSpc>
            </a:pPr>
            <a:r>
              <a:rPr b="0" lang="en-US" sz="2000" spc="-1" strike="noStrike">
                <a:latin typeface="Arial"/>
              </a:rPr>
              <a:t>-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a:t>
            </a:r>
            <a:endParaRPr b="0" lang="es-ES" sz="2000" spc="-1" strike="noStrike">
              <a:latin typeface="Arial"/>
            </a:endParaRPr>
          </a:p>
          <a:p>
            <a:pPr marL="216000" indent="-216000">
              <a:lnSpc>
                <a:spcPct val="100000"/>
              </a:lnSpc>
            </a:pPr>
            <a:r>
              <a:rPr b="0" lang="en-US" sz="2000" spc="-1" strike="noStrike">
                <a:latin typeface="Arial"/>
              </a:rPr>
              <a:t>- Cuanto más cercanos a cero son RTO y RPO, mayor es el coste (licencias Enterprise, hardware duplicado, red de baja latencia, complejidad operativa). Los requisitos los define el negocio, no el DBA; el DBA los traduce a arquitectura.</a:t>
            </a:r>
            <a:endParaRPr b="0" lang="es-ES" sz="2000" spc="-1" strike="noStrike">
              <a:latin typeface="Arial"/>
            </a:endParaRPr>
          </a:p>
          <a:p>
            <a:pPr marL="216000" indent="-216000">
              <a:lnSpc>
                <a:spcPct val="100000"/>
              </a:lnSpc>
            </a:pPr>
            <a:r>
              <a:rPr b="0" lang="en-US" sz="2000" spc="-1" strike="noStrike">
                <a:latin typeface="Arial"/>
              </a:rPr>
              <a:t>- La replicación y HA NO sustituyen a los backups: un DROP TABLE accidental o la corrupción lógica se replican al secundario. Los backups (Módulo 4) siguen siendo la defensa frente a errores humanos y ransomware.</a:t>
            </a:r>
            <a:endParaRPr b="0" lang="es-ES" sz="2000" spc="-1" strike="noStrike">
              <a:latin typeface="Arial"/>
            </a:endParaRPr>
          </a:p>
          <a:p>
            <a:pPr marL="216000" indent="-216000">
              <a:lnSpc>
                <a:spcPct val="100000"/>
              </a:lnSpc>
            </a:pPr>
            <a:r>
              <a:rPr b="0" lang="en-US" sz="2000" spc="-1" strike="noStrike">
                <a:latin typeface="Arial"/>
              </a:rPr>
              <a:t>- Para un ejercicio rápido: dar tres sistemas (tienda online, ERP interno, informes mensuales) y pedir que propongan RPO y RTO razonables y su justificación económica.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RPO y RTO fijaríais para el sistema de pedidos de una tienda online en campaña de Black Friday y para un datamart de informes mensuales?</a:t>
            </a:r>
            <a:endParaRPr b="0" lang="es-ES" sz="2000" spc="-1" strike="noStrike">
              <a:latin typeface="Arial"/>
            </a:endParaRPr>
          </a:p>
          <a:p>
            <a:pPr marL="216000" indent="-215640">
              <a:lnSpc>
                <a:spcPct val="100000"/>
              </a:lnSpc>
              <a:tabLst>
                <a:tab algn="l" pos="0"/>
              </a:tabLst>
            </a:pPr>
            <a:r>
              <a:rPr b="0" lang="en-US" sz="2000" spc="-1" strike="noStrike">
                <a:latin typeface="Arial"/>
              </a:rPr>
              <a:t>- Si el RPO es 0 y el RTO 30 s, ¿qué opciones tecnológicas siguen disponibles? ¿Y si además hay que cubrir la pérdida de todo el CPD?</a:t>
            </a:r>
            <a:endParaRPr b="0" lang="es-ES" sz="2000" spc="-1" strike="noStrike">
              <a:latin typeface="Arial"/>
            </a:endParaRPr>
          </a:p>
        </p:txBody>
      </p:sp>
      <p:sp>
        <p:nvSpPr>
          <p:cNvPr id="218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92C55EA-6765-43BC-BDAF-01C3594F410F}"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8" name="PlaceHolder 1"/>
          <p:cNvSpPr>
            <a:spLocks noGrp="1"/>
          </p:cNvSpPr>
          <p:nvPr>
            <p:ph type="sldImg"/>
          </p:nvPr>
        </p:nvSpPr>
        <p:spPr>
          <a:xfrm>
            <a:off x="685800" y="1143000"/>
            <a:ext cx="5485680" cy="3085560"/>
          </a:xfrm>
          <a:prstGeom prst="rect">
            <a:avLst/>
          </a:prstGeom>
        </p:spPr>
      </p:sp>
      <p:sp>
        <p:nvSpPr>
          <p:cNvPr id="218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Comparar Log Shipping, Replicación, Failover Cluster Instances y Always On Availability Groups según alcance, failover, pérdida de datos y requisitos, para saber elegir cada una.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a:t>
            </a:r>
            <a:endParaRPr b="0" lang="es-ES" sz="2000" spc="-1" strike="noStrike">
              <a:latin typeface="Arial"/>
            </a:endParaRPr>
          </a:p>
          <a:p>
            <a:pPr marL="216000" indent="-216000">
              <a:lnSpc>
                <a:spcPct val="100000"/>
              </a:lnSpc>
            </a:pPr>
            <a:r>
              <a:rPr b="0" lang="en-US" sz="2000" spc="-1" strike="noStrike">
                <a:latin typeface="Arial"/>
              </a:rPr>
              <a:t>- Replicación (Snapshot, Transactional, Merge): distribuye datos a nivel de tablas/artículos, no de base de datos completa. Sirve para informes descargados, consolidación y escenarios de datos distribuidos; no es una solución de HA/DR completa (no replica logins, jobs, ni el esquema entero).</a:t>
            </a:r>
            <a:endParaRPr b="0" lang="es-ES" sz="2000" spc="-1" strike="noStrike">
              <a:latin typeface="Arial"/>
            </a:endParaRPr>
          </a:p>
          <a:p>
            <a:pPr marL="216000" indent="-216000">
              <a:lnSpc>
                <a:spcPct val="100000"/>
              </a:lnSpc>
            </a:pPr>
            <a:r>
              <a:rPr b="0" lang="en-US" sz="2000" spc="-1" strike="noStrike">
                <a:latin typeface="Arial"/>
              </a:rPr>
              <a:t>-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a:t>
            </a:r>
            <a:endParaRPr b="0" lang="es-ES" sz="2000" spc="-1" strike="noStrike">
              <a:latin typeface="Arial"/>
            </a:endParaRPr>
          </a:p>
          <a:p>
            <a:pPr marL="216000" indent="-216000">
              <a:lnSpc>
                <a:spcPct val="100000"/>
              </a:lnSpc>
            </a:pPr>
            <a:r>
              <a:rPr b="0" lang="en-US" sz="2000" spc="-1" strike="noStrike">
                <a:latin typeface="Arial"/>
              </a:rPr>
              <a:t>-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a:t>
            </a:r>
            <a:endParaRPr b="0" lang="es-ES" sz="2000" spc="-1" strike="noStrike">
              <a:latin typeface="Arial"/>
            </a:endParaRPr>
          </a:p>
          <a:p>
            <a:pPr marL="216000" indent="-216000">
              <a:lnSpc>
                <a:spcPct val="100000"/>
              </a:lnSpc>
            </a:pPr>
            <a:r>
              <a:rPr b="0" lang="en-US" sz="2000" spc="-1" strike="noStrike">
                <a:latin typeface="Arial"/>
              </a:rPr>
              <a:t>- Un AG no replica objetos a nivel de instancia (logins, SQL Agent jobs, linked servers): hay que sincronizarlos aparte. FCI y AG pueden combinarse (FCI como réplicas de un AG).</a:t>
            </a:r>
            <a:endParaRPr b="0" lang="es-ES" sz="2000" spc="-1" strike="noStrike">
              <a:latin typeface="Arial"/>
            </a:endParaRPr>
          </a:p>
          <a:p>
            <a:pPr marL="216000" indent="-216000">
              <a:lnSpc>
                <a:spcPct val="100000"/>
              </a:lnSpc>
            </a:pPr>
            <a:r>
              <a:rPr b="0" lang="en-US" sz="2000" spc="-1" strike="noStrike">
                <a:latin typeface="Arial"/>
              </a:rPr>
              <a:t>- Criterios de elección: RTO/RPO exigidos, edición y licencias, topología de red y almacenamiento, capacidad del equipo para operar un WSFC y presupuesto. No hay una opción "mejor" en abstracto.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Una pyme con SQL Server Standard, un solo CPD y RTO de 30 min: ¿qué tecnología propondríais y qué limitaciones explicaríais a la dirección?</a:t>
            </a:r>
            <a:endParaRPr b="0" lang="es-ES" sz="2000" spc="-1" strike="noStrike">
              <a:latin typeface="Arial"/>
            </a:endParaRPr>
          </a:p>
          <a:p>
            <a:pPr marL="216000" indent="-215640">
              <a:lnSpc>
                <a:spcPct val="100000"/>
              </a:lnSpc>
              <a:tabLst>
                <a:tab algn="l" pos="0"/>
              </a:tabLst>
            </a:pPr>
            <a:r>
              <a:rPr b="0" lang="en-US" sz="2000" spc="-1" strike="noStrike">
                <a:latin typeface="Arial"/>
              </a:rPr>
              <a:t>- ¿Por qué un FCI no protege frente a la corrupción del almacenamiento compartido? ¿Cómo lo complementaríais?</a:t>
            </a:r>
            <a:endParaRPr b="0" lang="es-ES" sz="2000" spc="-1" strike="noStrike">
              <a:latin typeface="Arial"/>
            </a:endParaRPr>
          </a:p>
        </p:txBody>
      </p:sp>
      <p:sp>
        <p:nvSpPr>
          <p:cNvPr id="219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C54C7B9-9CBE-4A6A-BB42-C1515BF5F493}"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1" name="PlaceHolder 1"/>
          <p:cNvSpPr>
            <a:spLocks noGrp="1"/>
          </p:cNvSpPr>
          <p:nvPr>
            <p:ph type="sldImg"/>
          </p:nvPr>
        </p:nvSpPr>
        <p:spPr>
          <a:xfrm>
            <a:off x="685800" y="1143000"/>
            <a:ext cx="5485680" cy="3085560"/>
          </a:xfrm>
          <a:prstGeom prst="rect">
            <a:avLst/>
          </a:prstGeom>
        </p:spPr>
      </p:sp>
      <p:sp>
        <p:nvSpPr>
          <p:cNvPr id="219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Interpretar la topología de un Always On Availability Group (réplicas, modos de disponibilidad, listener y quorum) y conocer las variantes Basic AG y Distributed AG.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a:t>
            </a:r>
            <a:endParaRPr b="0" lang="es-ES" sz="2000" spc="-1" strike="noStrike">
              <a:latin typeface="Arial"/>
            </a:endParaRPr>
          </a:p>
          <a:p>
            <a:pPr marL="216000" indent="-216000">
              <a:lnSpc>
                <a:spcPct val="100000"/>
              </a:lnSpc>
            </a:pPr>
            <a:r>
              <a:rPr b="0" lang="en-US" sz="2000" spc="-1" strike="noStrike">
                <a:latin typeface="Arial"/>
              </a:rPr>
              <a:t>-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a:t>
            </a:r>
            <a:endParaRPr b="0" lang="es-ES" sz="2000" spc="-1" strike="noStrike">
              <a:latin typeface="Arial"/>
            </a:endParaRPr>
          </a:p>
          <a:p>
            <a:pPr marL="216000" indent="-216000">
              <a:lnSpc>
                <a:spcPct val="100000"/>
              </a:lnSpc>
            </a:pPr>
            <a:r>
              <a:rPr b="0" lang="en-US" sz="2000" spc="-1" strike="noStrike">
                <a:latin typeface="Arial"/>
              </a:rPr>
              <a:t>-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a:t>
            </a:r>
            <a:endParaRPr b="0" lang="es-ES" sz="2000" spc="-1" strike="noStrike">
              <a:latin typeface="Arial"/>
            </a:endParaRPr>
          </a:p>
          <a:p>
            <a:pPr marL="216000" indent="-216000">
              <a:lnSpc>
                <a:spcPct val="100000"/>
              </a:lnSpc>
            </a:pPr>
            <a:r>
              <a:rPr b="0" lang="en-US" sz="2000" spc="-1" strike="noStrike">
                <a:latin typeface="Arial"/>
              </a:rPr>
              <a:t>- Basic Availability Groups (Standard Edition, desde 2016 SP1): un único par de réplicas, una sola base de datos por AG, sin lectura en la secundaria ni backups en ella. Es el sustituto de Database Mirroring, obsoleto.</a:t>
            </a:r>
            <a:endParaRPr b="0" lang="es-ES" sz="2000" spc="-1" strike="noStrike">
              <a:latin typeface="Arial"/>
            </a:endParaRPr>
          </a:p>
          <a:p>
            <a:pPr marL="216000" indent="-216000">
              <a:lnSpc>
                <a:spcPct val="100000"/>
              </a:lnSpc>
            </a:pPr>
            <a:r>
              <a:rPr b="0" lang="en-US" sz="2000" spc="-1" strike="noStrike">
                <a:latin typeface="Arial"/>
              </a:rPr>
              <a:t>- Distributed Availability Group (mención): un AG que contiene otros dos AG en clústeres WSFC distintos; útil para DR entre sitios, migraciones sin downtime y cambios de versión/SO. Enterprise Edition.</a:t>
            </a:r>
            <a:endParaRPr b="0" lang="es-ES" sz="2000" spc="-1" strike="noStrike">
              <a:latin typeface="Arial"/>
            </a:endParaRPr>
          </a:p>
          <a:p>
            <a:pPr marL="216000" indent="-216000">
              <a:lnSpc>
                <a:spcPct val="100000"/>
              </a:lnSpc>
            </a:pPr>
            <a:r>
              <a:rPr b="0" lang="en-US" sz="2000" spc="-1" strike="noStrike">
                <a:latin typeface="Arial"/>
              </a:rPr>
              <a:t>- Monitorización: sys.dm_hadr_availability_replica_states, sys.dm_hadr_database_replica_states (log_send_queue_size, redo_queue_size, synchronization_state_desc) y el Dashboard de Always On en SSMS.</a:t>
            </a:r>
            <a:endParaRPr b="0" lang="es-ES" sz="2000" spc="-1" strike="noStrike">
              <a:latin typeface="Arial"/>
            </a:endParaRPr>
          </a:p>
          <a:p>
            <a:pPr marL="216000" indent="-216000">
              <a:lnSpc>
                <a:spcPct val="100000"/>
              </a:lnSpc>
            </a:pPr>
            <a:r>
              <a:rPr b="0" lang="en-US" sz="2000" spc="-1" strike="noStrike">
                <a:latin typeface="Arial"/>
              </a:rPr>
              <a:t>- Advertencia de rendimiento: una réplica síncrona con red lenta o disco de log saturado en la secundaria penaliza a TODAS las transacciones de la primaria (esperas HADR_SYNC_COMMIT).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ocurriría con las escrituras en la primaria si la réplica síncrona pierde conectividad? ¿Cómo lo gestiona el AG?</a:t>
            </a:r>
            <a:endParaRPr b="0" lang="es-ES" sz="2000" spc="-1" strike="noStrike">
              <a:latin typeface="Arial"/>
            </a:endParaRPr>
          </a:p>
          <a:p>
            <a:pPr marL="216000" indent="-215640">
              <a:lnSpc>
                <a:spcPct val="100000"/>
              </a:lnSpc>
              <a:tabLst>
                <a:tab algn="l" pos="0"/>
              </a:tabLst>
            </a:pPr>
            <a:r>
              <a:rPr b="0" lang="en-US" sz="2000" spc="-1" strike="noStrike">
                <a:latin typeface="Arial"/>
              </a:rPr>
              <a:t>- Tenéis dos nodos en un mismo CPD y quorum de mayoría de nodos: ¿qué pasa si cae uno? ¿Cómo ayuda un Cloud Witness?</a:t>
            </a:r>
            <a:endParaRPr b="0" lang="es-ES" sz="2000" spc="-1" strike="noStrike">
              <a:latin typeface="Arial"/>
            </a:endParaRPr>
          </a:p>
        </p:txBody>
      </p:sp>
      <p:sp>
        <p:nvSpPr>
          <p:cNvPr id="219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C33C37B-14E3-4BFA-AD81-B3998642E1D4}"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4" name="PlaceHolder 1"/>
          <p:cNvSpPr>
            <a:spLocks noGrp="1"/>
          </p:cNvSpPr>
          <p:nvPr>
            <p:ph type="sldImg"/>
          </p:nvPr>
        </p:nvSpPr>
        <p:spPr>
          <a:xfrm>
            <a:off x="685800" y="1143000"/>
            <a:ext cx="5485680" cy="3085560"/>
          </a:xfrm>
          <a:prstGeom prst="rect">
            <a:avLst/>
          </a:prstGeom>
        </p:spPr>
      </p:sp>
      <p:sp>
        <p:nvSpPr>
          <p:cNvPr id="219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Crear índices Non-Clustered y covering sobre dbo.Pedido y cuantificar su efecto comparando operador, lecturas lógicas y plan antes y después.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35–40 minutos. Se trabaja en parejas con SSMS conectado a la instancia (Docker: localhost,1433).</a:t>
            </a:r>
            <a:endParaRPr b="0" lang="es-ES" sz="2000" spc="-1" strike="noStrike">
              <a:latin typeface="Arial"/>
            </a:endParaRPr>
          </a:p>
          <a:p>
            <a:pPr marL="216000" indent="-216000">
              <a:lnSpc>
                <a:spcPct val="100000"/>
              </a:lnSpc>
            </a:pPr>
            <a:r>
              <a:rPr b="0" lang="en-US" sz="2000" spc="-1" strike="noStrike">
                <a:latin typeface="Arial"/>
              </a:rPr>
              <a:t>- Idea central del laboratorio: el mismo SELECT pasa de un Clustered Index Scan, a un Index Seek con Key Lookup, y finalmente a un Index Seek puro cuando el índice es covering. Cada paso se mide con STATISTICS IO.</a:t>
            </a:r>
            <a:endParaRPr b="0" lang="es-ES" sz="2000" spc="-1" strike="noStrike">
              <a:latin typeface="Arial"/>
            </a:endParaRPr>
          </a:p>
          <a:p>
            <a:pPr marL="216000" indent="-216000">
              <a:lnSpc>
                <a:spcPct val="100000"/>
              </a:lnSpc>
            </a:pPr>
            <a:r>
              <a:rPr b="0" lang="en-US" sz="2000" spc="-1" strike="noStrike">
                <a:latin typeface="Arial"/>
              </a:rPr>
              <a:t>- Recalcar la disciplina de medir: anotar en una tabla (operador, logical reads, CPU/elapsed) para la versión sin índice, con índice de clave y con índice covering.</a:t>
            </a:r>
            <a:endParaRPr b="0" lang="es-ES" sz="2000" spc="-1" strike="noStrike">
              <a:latin typeface="Arial"/>
            </a:endParaRPr>
          </a:p>
          <a:p>
            <a:pPr marL="216000" indent="-216000">
              <a:lnSpc>
                <a:spcPct val="100000"/>
              </a:lnSpc>
            </a:pPr>
            <a:r>
              <a:rPr b="0" lang="en-US" sz="2000" spc="-1" strike="noStrike">
                <a:latin typeface="Arial"/>
              </a:rPr>
              <a:t>- Aviso de rendimiento: crear índices sobre 500.000 filas es rápido en el laboratorio, pero en producción es una operación pesada (bloqueos de esquema, log, E/S); se haría fuera de horario o con ONLINE = ON (Enterprise).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¿Cuánto bajan las lecturas lógicas entre el Scan y el Seek? ¿Y entre Seek+Lookup y covering?</a:t>
            </a:r>
            <a:endParaRPr b="0" lang="es-ES" sz="2000" spc="-1" strike="noStrike">
              <a:latin typeface="Arial"/>
            </a:endParaRPr>
          </a:p>
          <a:p>
            <a:pPr marL="216000" indent="-216000">
              <a:lnSpc>
                <a:spcPct val="100000"/>
              </a:lnSpc>
            </a:pPr>
            <a:r>
              <a:rPr b="0" lang="en-US" sz="2000" spc="-1" strike="noStrike">
                <a:latin typeface="Arial"/>
              </a:rPr>
              <a:t>- ¿Qué coste adicional tiene ahora un INSERT en dbo.Pedido? ¿Cómo lo medirías?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0 · Preparar datos (si no existen ya de módulos anteriores). Ejecutar en SSMS: CREATE DATABASE Ventas; (si no existe) y USE Ventas;</a:t>
            </a:r>
            <a:endParaRPr b="0" lang="es-ES" sz="2000" spc="-1" strike="noStrike">
              <a:latin typeface="Arial"/>
            </a:endParaRPr>
          </a:p>
          <a:p>
            <a:pPr marL="216000" indent="-216000">
              <a:lnSpc>
                <a:spcPct val="100000"/>
              </a:lnSpc>
            </a:pPr>
            <a:r>
              <a:rPr b="0" lang="en-US" sz="2000" spc="-1" strike="noStrike">
                <a:latin typeface="Arial"/>
              </a:rPr>
              <a:t>- CREATE TABLE dbo.Cliente (ClienteId INT IDENTITY(1,1) CONSTRAINT PK_Cliente PRIMARY KEY, Nombre NVARCHAR(100) NOT NULL, Activo BIT NOT NULL DEFAULT 1);</a:t>
            </a:r>
            <a:endParaRPr b="0" lang="es-ES" sz="2000" spc="-1" strike="noStrike">
              <a:latin typeface="Arial"/>
            </a:endParaRPr>
          </a:p>
          <a:p>
            <a:pPr marL="216000" indent="-216000">
              <a:lnSpc>
                <a:spcPct val="100000"/>
              </a:lnSpc>
            </a:pPr>
            <a:r>
              <a:rPr b="0" lang="en-US" sz="2000" spc="-1" strike="noStrike">
                <a:latin typeface="Arial"/>
              </a:rPr>
              <a:t>- INSERT dbo.Cliente (Nombre) SELECT TOP (10000) N'Cliente ' + CAST(ROW_NUMBER() OVER (ORDER BY (SELECT NULL)) AS NVARCHAR(10)) FROM sys.all_objects a CROSS JOIN sys.all_objects b;</a:t>
            </a:r>
            <a:endParaRPr b="0" lang="es-ES" sz="2000" spc="-1" strike="noStrike">
              <a:latin typeface="Arial"/>
            </a:endParaRPr>
          </a:p>
          <a:p>
            <a:pPr marL="216000" indent="-216000">
              <a:lnSpc>
                <a:spcPct val="100000"/>
              </a:lnSpc>
            </a:pPr>
            <a:r>
              <a:rPr b="0" lang="en-US" sz="2000" spc="-1" strike="noStrike">
                <a:latin typeface="Arial"/>
              </a:rPr>
              <a:t>- CREATE TABLE dbo.Pedido (PedidoId INT IDENTITY(1,1) CONSTRAINT PK_Pedido PRIMARY KEY, ClienteId INT NOT NULL, FechaPedido DATE NOT NULL, Total DECIMAL(12,2) NOT NULL, Estado TINYINT NOT NULL DEFAULT 1, Notas CHAR(200) NOT NULL DEFAULT '');</a:t>
            </a:r>
            <a:endParaRPr b="0" lang="es-ES" sz="2000" spc="-1" strike="noStrike">
              <a:latin typeface="Arial"/>
            </a:endParaRPr>
          </a:p>
          <a:p>
            <a:pPr marL="216000" indent="-216000">
              <a:lnSpc>
                <a:spcPct val="100000"/>
              </a:lnSpc>
            </a:pPr>
            <a:r>
              <a:rPr b="0" lang="en-US" sz="2000" spc="-1" strike="noStrike">
                <a:latin typeface="Arial"/>
              </a:rPr>
              <a:t>- INSERT dbo.Pedido (ClienteId, FechaPedido, Total) SELECT TOP (500000) ABS(CHECKSUM(NEWID())) % 10000 + 1, DATEADD(DAY, -(ABS(CHECKSUM(NEWID())) % 1460), CAST(GETDATE() AS DATE)), CAST(ABS(CHECKSUM(NEWID())) % 100000 / 100.0 AS DECIMAL(12,2)) FROM sys.all_objects a CROSS JOIN sys.all_objects b CROSS JOIN sys.all_objects c;</a:t>
            </a:r>
            <a:endParaRPr b="0" lang="es-ES" sz="2000" spc="-1" strike="noStrike">
              <a:latin typeface="Arial"/>
            </a:endParaRPr>
          </a:p>
          <a:p>
            <a:pPr marL="216000" indent="-216000">
              <a:lnSpc>
                <a:spcPct val="100000"/>
              </a:lnSpc>
            </a:pPr>
            <a:r>
              <a:rPr b="0" lang="en-US" sz="2000" spc="-1" strike="noStrike">
                <a:latin typeface="Arial"/>
              </a:rPr>
              <a:t>- PASO 1 · Línea base. SET STATISTICS IO, TIME ON; activar Ctrl+M (Incluir plan de ejecución real) y ejecutar: SELECT PedidoId, FechaPedido, Total FROM dbo.Pedido WHERE ClienteId = 4217 AND FechaPedido &gt;= '20240101'; Anotar operador (Clustered Index Scan) y logical reads (varios miles).</a:t>
            </a:r>
            <a:endParaRPr b="0" lang="es-ES" sz="2000" spc="-1" strike="noStrike">
              <a:latin typeface="Arial"/>
            </a:endParaRPr>
          </a:p>
          <a:p>
            <a:pPr marL="216000" indent="-216000">
              <a:lnSpc>
                <a:spcPct val="100000"/>
              </a:lnSpc>
            </a:pPr>
            <a:r>
              <a:rPr b="0" lang="en-US" sz="2000" spc="-1" strike="noStrike">
                <a:latin typeface="Arial"/>
              </a:rPr>
              <a:t>- PASO 2 · Índice de clave. CREATE NONCLUSTERED INDEX IX_Pedido_Cli_Fecha ON dbo.Pedido (ClienteId, FechaPedido); Repetir la consulta: aparece Index Seek + Key Lookup (Nested Loops). Anotar lecturas.</a:t>
            </a:r>
            <a:endParaRPr b="0" lang="es-ES" sz="2000" spc="-1" strike="noStrike">
              <a:latin typeface="Arial"/>
            </a:endParaRPr>
          </a:p>
          <a:p>
            <a:pPr marL="216000" indent="-216000">
              <a:lnSpc>
                <a:spcPct val="100000"/>
              </a:lnSpc>
            </a:pPr>
            <a:r>
              <a:rPr b="0" lang="en-US" sz="2000" spc="-1" strike="noStrike">
                <a:latin typeface="Arial"/>
              </a:rPr>
              <a:t>- PASO 3 · Índice covering. CREATE NONCLUSTERED INDEX IX_Pedido_Cli_Fecha ON dbo.Pedido (ClienteId, FechaPedido) INCLUDE (Total) WITH (DROP_EXISTING = ON); Repetir: Index Seek sin Key Lookup, lecturas lógicas de un dígito.</a:t>
            </a:r>
            <a:endParaRPr b="0" lang="es-ES" sz="2000" spc="-1" strike="noStrike">
              <a:latin typeface="Arial"/>
            </a:endParaRPr>
          </a:p>
          <a:p>
            <a:pPr marL="216000" indent="-216000">
              <a:lnSpc>
                <a:spcPct val="100000"/>
              </a:lnSpc>
            </a:pPr>
            <a:r>
              <a:rPr b="0" lang="en-US" sz="2000" spc="-1" strike="noStrike">
                <a:latin typeface="Arial"/>
              </a:rPr>
              <a:t>-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a:t>
            </a:r>
            <a:endParaRPr b="0" lang="es-ES" sz="2000" spc="-1" strike="noStrike">
              <a:latin typeface="Arial"/>
            </a:endParaRPr>
          </a:p>
          <a:p>
            <a:pPr marL="216000" indent="-216000">
              <a:lnSpc>
                <a:spcPct val="100000"/>
              </a:lnSpc>
            </a:pPr>
            <a:r>
              <a:rPr b="0" lang="en-US" sz="2000" spc="-1" strike="noStrike">
                <a:latin typeface="Arial"/>
              </a:rPr>
              <a:t>-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b="0" lang="es-ES" sz="2000" spc="-1" strike="noStrike">
              <a:latin typeface="Arial"/>
            </a:endParaRPr>
          </a:p>
        </p:txBody>
      </p:sp>
      <p:sp>
        <p:nvSpPr>
          <p:cNvPr id="219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9E551004-A1B1-47E4-B392-7C5472DCDAE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7" name="PlaceHolder 1"/>
          <p:cNvSpPr>
            <a:spLocks noGrp="1"/>
          </p:cNvSpPr>
          <p:nvPr>
            <p:ph type="sldImg"/>
          </p:nvPr>
        </p:nvSpPr>
        <p:spPr>
          <a:xfrm>
            <a:off x="685800" y="1143000"/>
            <a:ext cx="5485680" cy="3085560"/>
          </a:xfrm>
          <a:prstGeom prst="rect">
            <a:avLst/>
          </a:prstGeom>
        </p:spPr>
      </p:sp>
      <p:sp>
        <p:nvSpPr>
          <p:cNvPr id="219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a:t>
            </a:r>
            <a:r>
              <a:rPr b="0" lang="en-US" sz="2000" spc="-1" strike="noStrike">
                <a:latin typeface="Arial"/>
              </a:rPr>
              <a:t>Pedagógi</a:t>
            </a:r>
            <a:r>
              <a:rPr b="0" lang="en-US" sz="2000" spc="-1" strike="noStrike">
                <a:latin typeface="Arial"/>
              </a:rPr>
              <a:t>co:</a:t>
            </a:r>
            <a:endParaRPr b="0" lang="es-ES" sz="2000" spc="-1" strike="noStrike">
              <a:latin typeface="Arial"/>
            </a:endParaRPr>
          </a:p>
          <a:p>
            <a:pPr marL="216000" indent="-216000">
              <a:lnSpc>
                <a:spcPct val="100000"/>
              </a:lnSpc>
            </a:pPr>
            <a:r>
              <a:rPr b="0" lang="en-US" sz="2000" spc="-1" strike="noStrike">
                <a:latin typeface="Arial"/>
              </a:rPr>
              <a:t>Practicar la </a:t>
            </a:r>
            <a:r>
              <a:rPr b="0" lang="en-US" sz="2000" spc="-1" strike="noStrike">
                <a:latin typeface="Arial"/>
              </a:rPr>
              <a:t>lectura de </a:t>
            </a:r>
            <a:r>
              <a:rPr b="0" lang="en-US" sz="2000" spc="-1" strike="noStrike">
                <a:latin typeface="Arial"/>
              </a:rPr>
              <a:t>planes </a:t>
            </a:r>
            <a:r>
              <a:rPr b="0" lang="en-US" sz="2000" spc="-1" strike="noStrike">
                <a:latin typeface="Arial"/>
              </a:rPr>
              <a:t>reales: </a:t>
            </a:r>
            <a:r>
              <a:rPr b="0" lang="en-US" sz="2000" spc="-1" strike="noStrike">
                <a:latin typeface="Arial"/>
              </a:rPr>
              <a:t>contrastar </a:t>
            </a:r>
            <a:r>
              <a:rPr b="0" lang="en-US" sz="2000" spc="-1" strike="noStrike">
                <a:latin typeface="Arial"/>
              </a:rPr>
              <a:t>un </a:t>
            </a:r>
            <a:r>
              <a:rPr b="0" lang="en-US" sz="2000" spc="-1" strike="noStrike">
                <a:latin typeface="Arial"/>
              </a:rPr>
              <a:t>predicado </a:t>
            </a:r>
            <a:r>
              <a:rPr b="0" lang="en-US" sz="2000" spc="-1" strike="noStrike">
                <a:latin typeface="Arial"/>
              </a:rPr>
              <a:t>no </a:t>
            </a:r>
            <a:r>
              <a:rPr b="0" lang="en-US" sz="2000" spc="-1" strike="noStrike">
                <a:latin typeface="Arial"/>
              </a:rPr>
              <a:t>SARGabl</a:t>
            </a:r>
            <a:r>
              <a:rPr b="0" lang="en-US" sz="2000" spc="-1" strike="noStrike">
                <a:latin typeface="Arial"/>
              </a:rPr>
              <a:t>e con uno </a:t>
            </a:r>
            <a:r>
              <a:rPr b="0" lang="en-US" sz="2000" spc="-1" strike="noStrike">
                <a:latin typeface="Arial"/>
              </a:rPr>
              <a:t>SARGabl</a:t>
            </a:r>
            <a:r>
              <a:rPr b="0" lang="en-US" sz="2000" spc="-1" strike="noStrike">
                <a:latin typeface="Arial"/>
              </a:rPr>
              <a:t>e, </a:t>
            </a:r>
            <a:r>
              <a:rPr b="0" lang="en-US" sz="2000" spc="-1" strike="noStrike">
                <a:latin typeface="Arial"/>
              </a:rPr>
              <a:t>localizar </a:t>
            </a:r>
            <a:r>
              <a:rPr b="0" lang="en-US" sz="2000" spc="-1" strike="noStrike">
                <a:latin typeface="Arial"/>
              </a:rPr>
              <a:t>un Key </a:t>
            </a:r>
            <a:r>
              <a:rPr b="0" lang="en-US" sz="2000" spc="-1" strike="noStrike">
                <a:latin typeface="Arial"/>
              </a:rPr>
              <a:t>Lookup y </a:t>
            </a:r>
            <a:r>
              <a:rPr b="0" lang="en-US" sz="2000" spc="-1" strike="noStrike">
                <a:latin typeface="Arial"/>
              </a:rPr>
              <a:t>registrar </a:t>
            </a:r>
            <a:r>
              <a:rPr b="0" lang="en-US" sz="2000" spc="-1" strike="noStrike">
                <a:latin typeface="Arial"/>
              </a:rPr>
              <a:t>lecturas y </a:t>
            </a:r>
            <a:r>
              <a:rPr b="0" lang="en-US" sz="2000" spc="-1" strike="noStrike">
                <a:latin typeface="Arial"/>
              </a:rPr>
              <a:t>desviacio</a:t>
            </a:r>
            <a:r>
              <a:rPr b="0" lang="en-US" sz="2000" spc="-1" strike="noStrike">
                <a:latin typeface="Arial"/>
              </a:rPr>
              <a:t>nes de </a:t>
            </a:r>
            <a:r>
              <a:rPr b="0" lang="en-US" sz="2000" spc="-1" strike="noStrike">
                <a:latin typeface="Arial"/>
              </a:rPr>
              <a:t>cardinalid</a:t>
            </a:r>
            <a:r>
              <a:rPr b="0" lang="en-US" sz="2000" spc="-1" strike="noStrike">
                <a:latin typeface="Arial"/>
              </a:rPr>
              <a:t>ad.</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a:t>
            </a:r>
            <a:r>
              <a:rPr b="0" lang="en-US" sz="2000" spc="-1" strike="noStrike">
                <a:latin typeface="Arial"/>
              </a:rPr>
              <a:t>Explicaci</a:t>
            </a:r>
            <a:r>
              <a:rPr b="0" lang="en-US" sz="2000" spc="-1" strike="noStrike">
                <a:latin typeface="Arial"/>
              </a:rPr>
              <a:t>ón </a:t>
            </a:r>
            <a:r>
              <a:rPr b="0" lang="en-US" sz="2000" spc="-1" strike="noStrike">
                <a:latin typeface="Arial"/>
              </a:rPr>
              <a:t>Técnica:</a:t>
            </a:r>
            <a:endParaRPr b="0" lang="es-ES" sz="2000" spc="-1" strike="noStrike">
              <a:latin typeface="Arial"/>
            </a:endParaRPr>
          </a:p>
          <a:p>
            <a:pPr marL="216000" indent="-216000">
              <a:lnSpc>
                <a:spcPct val="100000"/>
              </a:lnSpc>
            </a:pPr>
            <a:r>
              <a:rPr b="0" lang="en-US" sz="2000" spc="-1" strike="noStrike">
                <a:latin typeface="Arial"/>
              </a:rPr>
              <a:t>- Duración </a:t>
            </a:r>
            <a:r>
              <a:rPr b="0" lang="en-US" sz="2000" spc="-1" strike="noStrike">
                <a:latin typeface="Arial"/>
              </a:rPr>
              <a:t>orientativ</a:t>
            </a:r>
            <a:r>
              <a:rPr b="0" lang="en-US" sz="2000" spc="-1" strike="noStrike">
                <a:latin typeface="Arial"/>
              </a:rPr>
              <a:t>a: 30–35 </a:t>
            </a:r>
            <a:r>
              <a:rPr b="0" lang="en-US" sz="2000" spc="-1" strike="noStrike">
                <a:latin typeface="Arial"/>
              </a:rPr>
              <a:t>minutos. </a:t>
            </a:r>
            <a:r>
              <a:rPr b="0" lang="en-US" sz="2000" spc="-1" strike="noStrike">
                <a:latin typeface="Arial"/>
              </a:rPr>
              <a:t>Requiere </a:t>
            </a:r>
            <a:r>
              <a:rPr b="0" lang="en-US" sz="2000" spc="-1" strike="noStrike">
                <a:latin typeface="Arial"/>
              </a:rPr>
              <a:t>haber </a:t>
            </a:r>
            <a:r>
              <a:rPr b="0" lang="en-US" sz="2000" spc="-1" strike="noStrike">
                <a:latin typeface="Arial"/>
              </a:rPr>
              <a:t>completa</a:t>
            </a:r>
            <a:r>
              <a:rPr b="0" lang="en-US" sz="2000" spc="-1" strike="noStrike">
                <a:latin typeface="Arial"/>
              </a:rPr>
              <a:t>do el Lab </a:t>
            </a:r>
            <a:r>
              <a:rPr b="0" lang="en-US" sz="2000" spc="-1" strike="noStrike">
                <a:latin typeface="Arial"/>
              </a:rPr>
              <a:t>3.1 </a:t>
            </a:r>
            <a:r>
              <a:rPr b="0" lang="en-US" sz="2000" spc="-1" strike="noStrike">
                <a:latin typeface="Arial"/>
              </a:rPr>
              <a:t>(tablas </a:t>
            </a:r>
            <a:r>
              <a:rPr b="0" lang="en-US" sz="2000" spc="-1" strike="noStrike">
                <a:latin typeface="Arial"/>
              </a:rPr>
              <a:t>Ventas.db</a:t>
            </a:r>
            <a:r>
              <a:rPr b="0" lang="en-US" sz="2000" spc="-1" strike="noStrike">
                <a:latin typeface="Arial"/>
              </a:rPr>
              <a:t>o.Pedido </a:t>
            </a:r>
            <a:r>
              <a:rPr b="0" lang="en-US" sz="2000" spc="-1" strike="noStrike">
                <a:latin typeface="Arial"/>
              </a:rPr>
              <a:t>con </a:t>
            </a:r>
            <a:r>
              <a:rPr b="0" lang="en-US" sz="2000" spc="-1" strike="noStrike">
                <a:latin typeface="Arial"/>
              </a:rPr>
              <a:t>500.000 </a:t>
            </a:r>
            <a:r>
              <a:rPr b="0" lang="en-US" sz="2000" spc="-1" strike="noStrike">
                <a:latin typeface="Arial"/>
              </a:rPr>
              <a:t>filas).</a:t>
            </a:r>
            <a:endParaRPr b="0" lang="es-ES" sz="2000" spc="-1" strike="noStrike">
              <a:latin typeface="Arial"/>
            </a:endParaRPr>
          </a:p>
          <a:p>
            <a:pPr marL="216000" indent="-216000">
              <a:lnSpc>
                <a:spcPct val="100000"/>
              </a:lnSpc>
            </a:pPr>
            <a:r>
              <a:rPr b="0" lang="en-US" sz="2000" spc="-1" strike="noStrike">
                <a:latin typeface="Arial"/>
              </a:rPr>
              <a:t>- Objetivo: </a:t>
            </a:r>
            <a:r>
              <a:rPr b="0" lang="en-US" sz="2000" spc="-1" strike="noStrike">
                <a:latin typeface="Arial"/>
              </a:rPr>
              <a:t>tres </a:t>
            </a:r>
            <a:r>
              <a:rPr b="0" lang="en-US" sz="2000" spc="-1" strike="noStrike">
                <a:latin typeface="Arial"/>
              </a:rPr>
              <a:t>consultas </a:t>
            </a:r>
            <a:r>
              <a:rPr b="0" lang="en-US" sz="2000" spc="-1" strike="noStrike">
                <a:latin typeface="Arial"/>
              </a:rPr>
              <a:t>casi </a:t>
            </a:r>
            <a:r>
              <a:rPr b="0" lang="en-US" sz="2000" spc="-1" strike="noStrike">
                <a:latin typeface="Arial"/>
              </a:rPr>
              <a:t>idénticas </a:t>
            </a:r>
            <a:r>
              <a:rPr b="0" lang="en-US" sz="2000" spc="-1" strike="noStrike">
                <a:latin typeface="Arial"/>
              </a:rPr>
              <a:t>con </a:t>
            </a:r>
            <a:r>
              <a:rPr b="0" lang="en-US" sz="2000" spc="-1" strike="noStrike">
                <a:latin typeface="Arial"/>
              </a:rPr>
              <a:t>planes </a:t>
            </a:r>
            <a:r>
              <a:rPr b="0" lang="en-US" sz="2000" spc="-1" strike="noStrike">
                <a:latin typeface="Arial"/>
              </a:rPr>
              <a:t>muy </a:t>
            </a:r>
            <a:r>
              <a:rPr b="0" lang="en-US" sz="2000" spc="-1" strike="noStrike">
                <a:latin typeface="Arial"/>
              </a:rPr>
              <a:t>distintos. </a:t>
            </a:r>
            <a:r>
              <a:rPr b="0" lang="en-US" sz="2000" spc="-1" strike="noStrike">
                <a:latin typeface="Arial"/>
              </a:rPr>
              <a:t>A) </a:t>
            </a:r>
            <a:r>
              <a:rPr b="0" lang="en-US" sz="2000" spc="-1" strike="noStrike">
                <a:latin typeface="Arial"/>
              </a:rPr>
              <a:t>YEAR(Fe</a:t>
            </a:r>
            <a:r>
              <a:rPr b="0" lang="en-US" sz="2000" spc="-1" strike="noStrike">
                <a:latin typeface="Arial"/>
              </a:rPr>
              <a:t>chaPedid</a:t>
            </a:r>
            <a:r>
              <a:rPr b="0" lang="en-US" sz="2000" spc="-1" strike="noStrike">
                <a:latin typeface="Arial"/>
              </a:rPr>
              <a:t>o) = 2024 </a:t>
            </a:r>
            <a:r>
              <a:rPr b="0" lang="en-US" sz="2000" spc="-1" strike="noStrike">
                <a:latin typeface="Arial"/>
              </a:rPr>
              <a:t>obliga a </a:t>
            </a:r>
            <a:r>
              <a:rPr b="0" lang="en-US" sz="2000" spc="-1" strike="noStrike">
                <a:latin typeface="Arial"/>
              </a:rPr>
              <a:t>evaluar la </a:t>
            </a:r>
            <a:r>
              <a:rPr b="0" lang="en-US" sz="2000" spc="-1" strike="noStrike">
                <a:latin typeface="Arial"/>
              </a:rPr>
              <a:t>función </a:t>
            </a:r>
            <a:r>
              <a:rPr b="0" lang="en-US" sz="2000" spc="-1" strike="noStrike">
                <a:latin typeface="Arial"/>
              </a:rPr>
              <a:t>sobre </a:t>
            </a:r>
            <a:r>
              <a:rPr b="0" lang="en-US" sz="2000" spc="-1" strike="noStrike">
                <a:latin typeface="Arial"/>
              </a:rPr>
              <a:t>cada fila: </a:t>
            </a:r>
            <a:r>
              <a:rPr b="0" lang="en-US" sz="2000" spc="-1" strike="noStrike">
                <a:latin typeface="Arial"/>
              </a:rPr>
              <a:t>Index </a:t>
            </a:r>
            <a:r>
              <a:rPr b="0" lang="en-US" sz="2000" spc="-1" strike="noStrike">
                <a:latin typeface="Arial"/>
              </a:rPr>
              <a:t>Scan; B) </a:t>
            </a:r>
            <a:r>
              <a:rPr b="0" lang="en-US" sz="2000" spc="-1" strike="noStrike">
                <a:latin typeface="Arial"/>
              </a:rPr>
              <a:t>rango de </a:t>
            </a:r>
            <a:r>
              <a:rPr b="0" lang="en-US" sz="2000" spc="-1" strike="noStrike">
                <a:latin typeface="Arial"/>
              </a:rPr>
              <a:t>fechas </a:t>
            </a:r>
            <a:r>
              <a:rPr b="0" lang="en-US" sz="2000" spc="-1" strike="noStrike">
                <a:latin typeface="Arial"/>
              </a:rPr>
              <a:t>SARGabl</a:t>
            </a:r>
            <a:r>
              <a:rPr b="0" lang="en-US" sz="2000" spc="-1" strike="noStrike">
                <a:latin typeface="Arial"/>
              </a:rPr>
              <a:t>e: Index </a:t>
            </a:r>
            <a:r>
              <a:rPr b="0" lang="en-US" sz="2000" spc="-1" strike="noStrike">
                <a:latin typeface="Arial"/>
              </a:rPr>
              <a:t>Seek; C) </a:t>
            </a:r>
            <a:r>
              <a:rPr b="0" lang="en-US" sz="2000" spc="-1" strike="noStrike">
                <a:latin typeface="Arial"/>
              </a:rPr>
              <a:t>consulta </a:t>
            </a:r>
            <a:r>
              <a:rPr b="0" lang="en-US" sz="2000" spc="-1" strike="noStrike">
                <a:latin typeface="Arial"/>
              </a:rPr>
              <a:t>que pide </a:t>
            </a:r>
            <a:r>
              <a:rPr b="0" lang="en-US" sz="2000" spc="-1" strike="noStrike">
                <a:latin typeface="Arial"/>
              </a:rPr>
              <a:t>Total </a:t>
            </a:r>
            <a:r>
              <a:rPr b="0" lang="en-US" sz="2000" spc="-1" strike="noStrike">
                <a:latin typeface="Arial"/>
              </a:rPr>
              <a:t>sobre un </a:t>
            </a:r>
            <a:r>
              <a:rPr b="0" lang="en-US" sz="2000" spc="-1" strike="noStrike">
                <a:latin typeface="Arial"/>
              </a:rPr>
              <a:t>índice </a:t>
            </a:r>
            <a:r>
              <a:rPr b="0" lang="en-US" sz="2000" spc="-1" strike="noStrike">
                <a:latin typeface="Arial"/>
              </a:rPr>
              <a:t>que no lo </a:t>
            </a:r>
            <a:r>
              <a:rPr b="0" lang="en-US" sz="2000" spc="-1" strike="noStrike">
                <a:latin typeface="Arial"/>
              </a:rPr>
              <a:t>incluye: </a:t>
            </a:r>
            <a:r>
              <a:rPr b="0" lang="en-US" sz="2000" spc="-1" strike="noStrike">
                <a:latin typeface="Arial"/>
              </a:rPr>
              <a:t>Seek + </a:t>
            </a:r>
            <a:r>
              <a:rPr b="0" lang="en-US" sz="2000" spc="-1" strike="noStrike">
                <a:latin typeface="Arial"/>
              </a:rPr>
              <a:t>Key </a:t>
            </a:r>
            <a:r>
              <a:rPr b="0" lang="en-US" sz="2000" spc="-1" strike="noStrike">
                <a:latin typeface="Arial"/>
              </a:rPr>
              <a:t>Lookup.</a:t>
            </a:r>
            <a:endParaRPr b="0" lang="es-ES" sz="2000" spc="-1" strike="noStrike">
              <a:latin typeface="Arial"/>
            </a:endParaRPr>
          </a:p>
          <a:p>
            <a:pPr marL="216000" indent="-216000">
              <a:lnSpc>
                <a:spcPct val="100000"/>
              </a:lnSpc>
            </a:pPr>
            <a:r>
              <a:rPr b="0" lang="en-US" sz="2000" spc="-1" strike="noStrike">
                <a:latin typeface="Arial"/>
              </a:rPr>
              <a:t>- Pedir que </a:t>
            </a:r>
            <a:r>
              <a:rPr b="0" lang="en-US" sz="2000" spc="-1" strike="noStrike">
                <a:latin typeface="Arial"/>
              </a:rPr>
              <a:t>cada </a:t>
            </a:r>
            <a:r>
              <a:rPr b="0" lang="en-US" sz="2000" spc="-1" strike="noStrike">
                <a:latin typeface="Arial"/>
              </a:rPr>
              <a:t>pareja </a:t>
            </a:r>
            <a:r>
              <a:rPr b="0" lang="en-US" sz="2000" spc="-1" strike="noStrike">
                <a:latin typeface="Arial"/>
              </a:rPr>
              <a:t>rellene </a:t>
            </a:r>
            <a:r>
              <a:rPr b="0" lang="en-US" sz="2000" spc="-1" strike="noStrike">
                <a:latin typeface="Arial"/>
              </a:rPr>
              <a:t>una tabla </a:t>
            </a:r>
            <a:r>
              <a:rPr b="0" lang="en-US" sz="2000" spc="-1" strike="noStrike">
                <a:latin typeface="Arial"/>
              </a:rPr>
              <a:t>con </a:t>
            </a:r>
            <a:r>
              <a:rPr b="0" lang="en-US" sz="2000" spc="-1" strike="noStrike">
                <a:latin typeface="Arial"/>
              </a:rPr>
              <a:t>operador, </a:t>
            </a:r>
            <a:r>
              <a:rPr b="0" lang="en-US" sz="2000" spc="-1" strike="noStrike">
                <a:latin typeface="Arial"/>
              </a:rPr>
              <a:t>logical </a:t>
            </a:r>
            <a:r>
              <a:rPr b="0" lang="en-US" sz="2000" spc="-1" strike="noStrike">
                <a:latin typeface="Arial"/>
              </a:rPr>
              <a:t>reads, </a:t>
            </a:r>
            <a:r>
              <a:rPr b="0" lang="en-US" sz="2000" spc="-1" strike="noStrike">
                <a:latin typeface="Arial"/>
              </a:rPr>
              <a:t>Estimated </a:t>
            </a:r>
            <a:r>
              <a:rPr b="0" lang="en-US" sz="2000" spc="-1" strike="noStrike">
                <a:latin typeface="Arial"/>
              </a:rPr>
              <a:t>vs Actual </a:t>
            </a:r>
            <a:r>
              <a:rPr b="0" lang="en-US" sz="2000" spc="-1" strike="noStrike">
                <a:latin typeface="Arial"/>
              </a:rPr>
              <a:t>Rows y si </a:t>
            </a:r>
            <a:r>
              <a:rPr b="0" lang="en-US" sz="2000" spc="-1" strike="noStrike">
                <a:latin typeface="Arial"/>
              </a:rPr>
              <a:t>hay </a:t>
            </a:r>
            <a:r>
              <a:rPr b="0" lang="en-US" sz="2000" spc="-1" strike="noStrike">
                <a:latin typeface="Arial"/>
              </a:rPr>
              <a:t>warnings, </a:t>
            </a:r>
            <a:r>
              <a:rPr b="0" lang="en-US" sz="2000" spc="-1" strike="noStrike">
                <a:latin typeface="Arial"/>
              </a:rPr>
              <a:t>y que </a:t>
            </a:r>
            <a:r>
              <a:rPr b="0" lang="en-US" sz="2000" spc="-1" strike="noStrike">
                <a:latin typeface="Arial"/>
              </a:rPr>
              <a:t>justifique </a:t>
            </a:r>
            <a:r>
              <a:rPr b="0" lang="en-US" sz="2000" spc="-1" strike="noStrike">
                <a:latin typeface="Arial"/>
              </a:rPr>
              <a:t>cuál es la </a:t>
            </a:r>
            <a:r>
              <a:rPr b="0" lang="en-US" sz="2000" spc="-1" strike="noStrike">
                <a:latin typeface="Arial"/>
              </a:rPr>
              <a:t>mejor </a:t>
            </a:r>
            <a:r>
              <a:rPr b="0" lang="en-US" sz="2000" spc="-1" strike="noStrike">
                <a:latin typeface="Arial"/>
              </a:rPr>
              <a:t>versión y </a:t>
            </a:r>
            <a:r>
              <a:rPr b="0" lang="en-US" sz="2000" spc="-1" strike="noStrike">
                <a:latin typeface="Arial"/>
              </a:rPr>
              <a:t>por qué.</a:t>
            </a:r>
            <a:endParaRPr b="0" lang="es-ES" sz="2000" spc="-1" strike="noStrike">
              <a:latin typeface="Arial"/>
            </a:endParaRPr>
          </a:p>
          <a:p>
            <a:pPr marL="216000" indent="-216000">
              <a:lnSpc>
                <a:spcPct val="100000"/>
              </a:lnSpc>
            </a:pPr>
            <a:r>
              <a:rPr b="0" lang="en-US" sz="2000" spc="-1" strike="noStrike">
                <a:latin typeface="Arial"/>
              </a:rPr>
              <a:t>- Cerrar con </a:t>
            </a:r>
            <a:r>
              <a:rPr b="0" lang="en-US" sz="2000" spc="-1" strike="noStrike">
                <a:latin typeface="Arial"/>
              </a:rPr>
              <a:t>una </a:t>
            </a:r>
            <a:r>
              <a:rPr b="0" lang="en-US" sz="2000" spc="-1" strike="noStrike">
                <a:latin typeface="Arial"/>
              </a:rPr>
              <a:t>puesta en </a:t>
            </a:r>
            <a:r>
              <a:rPr b="0" lang="en-US" sz="2000" spc="-1" strike="noStrike">
                <a:latin typeface="Arial"/>
              </a:rPr>
              <a:t>común: </a:t>
            </a:r>
            <a:r>
              <a:rPr b="0" lang="en-US" sz="2000" spc="-1" strike="noStrike">
                <a:latin typeface="Arial"/>
              </a:rPr>
              <a:t>¿qué </a:t>
            </a:r>
            <a:r>
              <a:rPr b="0" lang="en-US" sz="2000" spc="-1" strike="noStrike">
                <a:latin typeface="Arial"/>
              </a:rPr>
              <a:t>cambio </a:t>
            </a:r>
            <a:r>
              <a:rPr b="0" lang="en-US" sz="2000" spc="-1" strike="noStrike">
                <a:latin typeface="Arial"/>
              </a:rPr>
              <a:t>de código </a:t>
            </a:r>
            <a:r>
              <a:rPr b="0" lang="en-US" sz="2000" spc="-1" strike="noStrike">
                <a:latin typeface="Arial"/>
              </a:rPr>
              <a:t>(no de </a:t>
            </a:r>
            <a:r>
              <a:rPr b="0" lang="en-US" sz="2000" spc="-1" strike="noStrike">
                <a:latin typeface="Arial"/>
              </a:rPr>
              <a:t>índice) </a:t>
            </a:r>
            <a:r>
              <a:rPr b="0" lang="en-US" sz="2000" spc="-1" strike="noStrike">
                <a:latin typeface="Arial"/>
              </a:rPr>
              <a:t>mejoró </a:t>
            </a:r>
            <a:r>
              <a:rPr b="0" lang="en-US" sz="2000" spc="-1" strike="noStrike">
                <a:latin typeface="Arial"/>
              </a:rPr>
              <a:t>más? </a:t>
            </a:r>
            <a:r>
              <a:rPr b="0" lang="en-US" sz="2000" spc="-1" strike="noStrike">
                <a:latin typeface="Arial"/>
              </a:rPr>
              <a:t>Insistir en </a:t>
            </a:r>
            <a:r>
              <a:rPr b="0" lang="en-US" sz="2000" spc="-1" strike="noStrike">
                <a:latin typeface="Arial"/>
              </a:rPr>
              <a:t>que </a:t>
            </a:r>
            <a:r>
              <a:rPr b="0" lang="en-US" sz="2000" spc="-1" strike="noStrike">
                <a:latin typeface="Arial"/>
              </a:rPr>
              <a:t>reescribir </a:t>
            </a:r>
            <a:r>
              <a:rPr b="0" lang="en-US" sz="2000" spc="-1" strike="noStrike">
                <a:latin typeface="Arial"/>
              </a:rPr>
              <a:t>predicado</a:t>
            </a:r>
            <a:r>
              <a:rPr b="0" lang="en-US" sz="2000" spc="-1" strike="noStrike">
                <a:latin typeface="Arial"/>
              </a:rPr>
              <a:t>s suele </a:t>
            </a:r>
            <a:r>
              <a:rPr b="0" lang="en-US" sz="2000" spc="-1" strike="noStrike">
                <a:latin typeface="Arial"/>
              </a:rPr>
              <a:t>ser más </a:t>
            </a:r>
            <a:r>
              <a:rPr b="0" lang="en-US" sz="2000" spc="-1" strike="noStrike">
                <a:latin typeface="Arial"/>
              </a:rPr>
              <a:t>barato </a:t>
            </a:r>
            <a:r>
              <a:rPr b="0" lang="en-US" sz="2000" spc="-1" strike="noStrike">
                <a:latin typeface="Arial"/>
              </a:rPr>
              <a:t>que crear </a:t>
            </a:r>
            <a:r>
              <a:rPr b="0" lang="en-US" sz="2000" spc="-1" strike="noStrike">
                <a:latin typeface="Arial"/>
              </a:rPr>
              <a:t>índices.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a:t>
            </a:r>
            <a:r>
              <a:rPr b="0" lang="en-US" sz="2000" spc="-1" strike="noStrike">
                <a:latin typeface="Arial"/>
              </a:rPr>
              <a:t>Interacció</a:t>
            </a:r>
            <a:r>
              <a:rPr b="0" lang="en-US" sz="2000" spc="-1" strike="noStrike">
                <a:latin typeface="Arial"/>
              </a:rPr>
              <a:t>n / </a:t>
            </a:r>
            <a:r>
              <a:rPr b="0" lang="en-US" sz="2000" spc="-1" strike="noStrike">
                <a:latin typeface="Arial"/>
              </a:rPr>
              <a:t>Pregunta</a:t>
            </a:r>
            <a:r>
              <a:rPr b="0" lang="en-US" sz="2000" spc="-1" strike="noStrike">
                <a:latin typeface="Arial"/>
              </a:rPr>
              <a:t>s:</a:t>
            </a:r>
            <a:endParaRPr b="0" lang="es-ES" sz="2000" spc="-1" strike="noStrike">
              <a:latin typeface="Arial"/>
            </a:endParaRPr>
          </a:p>
          <a:p>
            <a:pPr marL="216000" indent="-216000">
              <a:lnSpc>
                <a:spcPct val="100000"/>
              </a:lnSpc>
            </a:pPr>
            <a:r>
              <a:rPr b="0" lang="en-US" sz="2000" spc="-1" strike="noStrike">
                <a:latin typeface="Arial"/>
              </a:rPr>
              <a:t>- ¿Por qué </a:t>
            </a:r>
            <a:r>
              <a:rPr b="0" lang="en-US" sz="2000" spc="-1" strike="noStrike">
                <a:latin typeface="Arial"/>
              </a:rPr>
              <a:t>en la </a:t>
            </a:r>
            <a:r>
              <a:rPr b="0" lang="en-US" sz="2000" spc="-1" strike="noStrike">
                <a:latin typeface="Arial"/>
              </a:rPr>
              <a:t>consulta </a:t>
            </a:r>
            <a:r>
              <a:rPr b="0" lang="en-US" sz="2000" spc="-1" strike="noStrike">
                <a:latin typeface="Arial"/>
              </a:rPr>
              <a:t>A el </a:t>
            </a:r>
            <a:r>
              <a:rPr b="0" lang="en-US" sz="2000" spc="-1" strike="noStrike">
                <a:latin typeface="Arial"/>
              </a:rPr>
              <a:t>optimizad</a:t>
            </a:r>
            <a:r>
              <a:rPr b="0" lang="en-US" sz="2000" spc="-1" strike="noStrike">
                <a:latin typeface="Arial"/>
              </a:rPr>
              <a:t>or no </a:t>
            </a:r>
            <a:r>
              <a:rPr b="0" lang="en-US" sz="2000" spc="-1" strike="noStrike">
                <a:latin typeface="Arial"/>
              </a:rPr>
              <a:t>puede </a:t>
            </a:r>
            <a:r>
              <a:rPr b="0" lang="en-US" sz="2000" spc="-1" strike="noStrike">
                <a:latin typeface="Arial"/>
              </a:rPr>
              <a:t>hacer un </a:t>
            </a:r>
            <a:r>
              <a:rPr b="0" lang="en-US" sz="2000" spc="-1" strike="noStrike">
                <a:latin typeface="Arial"/>
              </a:rPr>
              <a:t>Seek </a:t>
            </a:r>
            <a:r>
              <a:rPr b="0" lang="en-US" sz="2000" spc="-1" strike="noStrike">
                <a:latin typeface="Arial"/>
              </a:rPr>
              <a:t>aunque </a:t>
            </a:r>
            <a:r>
              <a:rPr b="0" lang="en-US" sz="2000" spc="-1" strike="noStrike">
                <a:latin typeface="Arial"/>
              </a:rPr>
              <a:t>exista el </a:t>
            </a:r>
            <a:r>
              <a:rPr b="0" lang="en-US" sz="2000" spc="-1" strike="noStrike">
                <a:latin typeface="Arial"/>
              </a:rPr>
              <a:t>índice </a:t>
            </a:r>
            <a:r>
              <a:rPr b="0" lang="en-US" sz="2000" spc="-1" strike="noStrike">
                <a:latin typeface="Arial"/>
              </a:rPr>
              <a:t>sobre </a:t>
            </a:r>
            <a:r>
              <a:rPr b="0" lang="en-US" sz="2000" spc="-1" strike="noStrike">
                <a:latin typeface="Arial"/>
              </a:rPr>
              <a:t>FechaPe</a:t>
            </a:r>
            <a:r>
              <a:rPr b="0" lang="en-US" sz="2000" spc="-1" strike="noStrike">
                <a:latin typeface="Arial"/>
              </a:rPr>
              <a:t>dido?</a:t>
            </a:r>
            <a:endParaRPr b="0" lang="es-ES" sz="2000" spc="-1" strike="noStrike">
              <a:latin typeface="Arial"/>
            </a:endParaRPr>
          </a:p>
          <a:p>
            <a:pPr marL="216000" indent="-216000">
              <a:lnSpc>
                <a:spcPct val="100000"/>
              </a:lnSpc>
            </a:pPr>
            <a:r>
              <a:rPr b="0" lang="en-US" sz="2000" spc="-1" strike="noStrike">
                <a:latin typeface="Arial"/>
              </a:rPr>
              <a:t>- ¿Qué </a:t>
            </a:r>
            <a:r>
              <a:rPr b="0" lang="en-US" sz="2000" spc="-1" strike="noStrike">
                <a:latin typeface="Arial"/>
              </a:rPr>
              <a:t>indica </a:t>
            </a:r>
            <a:r>
              <a:rPr b="0" lang="en-US" sz="2000" spc="-1" strike="noStrike">
                <a:latin typeface="Arial"/>
              </a:rPr>
              <a:t>que </a:t>
            </a:r>
            <a:r>
              <a:rPr b="0" lang="en-US" sz="2000" spc="-1" strike="noStrike">
                <a:latin typeface="Arial"/>
              </a:rPr>
              <a:t>Estimated </a:t>
            </a:r>
            <a:r>
              <a:rPr b="0" lang="en-US" sz="2000" spc="-1" strike="noStrike">
                <a:latin typeface="Arial"/>
              </a:rPr>
              <a:t>Rows y </a:t>
            </a:r>
            <a:r>
              <a:rPr b="0" lang="en-US" sz="2000" spc="-1" strike="noStrike">
                <a:latin typeface="Arial"/>
              </a:rPr>
              <a:t>Actual </a:t>
            </a:r>
            <a:r>
              <a:rPr b="0" lang="en-US" sz="2000" spc="-1" strike="noStrike">
                <a:latin typeface="Arial"/>
              </a:rPr>
              <a:t>Rows </a:t>
            </a:r>
            <a:r>
              <a:rPr b="0" lang="en-US" sz="2000" spc="-1" strike="noStrike">
                <a:latin typeface="Arial"/>
              </a:rPr>
              <a:t>difieran </a:t>
            </a:r>
            <a:r>
              <a:rPr b="0" lang="en-US" sz="2000" spc="-1" strike="noStrike">
                <a:latin typeface="Arial"/>
              </a:rPr>
              <a:t>mucho en </a:t>
            </a:r>
            <a:r>
              <a:rPr b="0" lang="en-US" sz="2000" spc="-1" strike="noStrike">
                <a:latin typeface="Arial"/>
              </a:rPr>
              <a:t>la </a:t>
            </a:r>
            <a:r>
              <a:rPr b="0" lang="en-US" sz="2000" spc="-1" strike="noStrike">
                <a:latin typeface="Arial"/>
              </a:rPr>
              <a:t>consulta </a:t>
            </a:r>
            <a:r>
              <a:rPr b="0" lang="en-US" sz="2000" spc="-1" strike="noStrike">
                <a:latin typeface="Arial"/>
              </a:rPr>
              <a:t>C y qué </a:t>
            </a:r>
            <a:r>
              <a:rPr b="0" lang="en-US" sz="2000" spc="-1" strike="noStrike">
                <a:latin typeface="Arial"/>
              </a:rPr>
              <a:t>haríais </a:t>
            </a:r>
            <a:r>
              <a:rPr b="0" lang="en-US" sz="2000" spc="-1" strike="noStrike">
                <a:latin typeface="Arial"/>
              </a:rPr>
              <a:t>para </a:t>
            </a:r>
            <a:r>
              <a:rPr b="0" lang="en-US" sz="2000" spc="-1" strike="noStrike">
                <a:latin typeface="Arial"/>
              </a:rPr>
              <a:t>corregirlo</a:t>
            </a:r>
            <a:r>
              <a:rPr b="0" lang="en-US" sz="2000" spc="-1" strike="noStrike">
                <a:latin typeface="Arial"/>
              </a:rPr>
              <a:t>?</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a:t>
            </a:r>
            <a:r>
              <a:rPr b="0" lang="en-US" sz="2000" spc="-1" strike="noStrike">
                <a:latin typeface="Arial"/>
              </a:rPr>
              <a:t>es de </a:t>
            </a:r>
            <a:r>
              <a:rPr b="0" lang="en-US" sz="2000" spc="-1" strike="noStrike">
                <a:latin typeface="Arial"/>
              </a:rPr>
              <a:t>Laboratori</a:t>
            </a:r>
            <a:r>
              <a:rPr b="0" lang="en-US" sz="2000" spc="-1" strike="noStrike">
                <a:latin typeface="Arial"/>
              </a:rPr>
              <a:t>o:</a:t>
            </a:r>
            <a:endParaRPr b="0" lang="es-ES" sz="2000" spc="-1" strike="noStrike">
              <a:latin typeface="Arial"/>
            </a:endParaRPr>
          </a:p>
          <a:p>
            <a:pPr marL="216000" indent="-216000">
              <a:lnSpc>
                <a:spcPct val="100000"/>
              </a:lnSpc>
            </a:pPr>
            <a:r>
              <a:rPr b="0" lang="en-US" sz="2000" spc="-1" strike="noStrike">
                <a:latin typeface="Arial"/>
              </a:rPr>
              <a:t>- PASO 1 · </a:t>
            </a:r>
            <a:r>
              <a:rPr b="0" lang="en-US" sz="2000" spc="-1" strike="noStrike">
                <a:latin typeface="Arial"/>
              </a:rPr>
              <a:t>SET </a:t>
            </a:r>
            <a:r>
              <a:rPr b="0" lang="en-US" sz="2000" spc="-1" strike="noStrike">
                <a:latin typeface="Arial"/>
              </a:rPr>
              <a:t>STATISTI</a:t>
            </a:r>
            <a:r>
              <a:rPr b="0" lang="en-US" sz="2000" spc="-1" strike="noStrike">
                <a:latin typeface="Arial"/>
              </a:rPr>
              <a:t>CS IO </a:t>
            </a:r>
            <a:r>
              <a:rPr b="0" lang="en-US" sz="2000" spc="-1" strike="noStrike">
                <a:latin typeface="Arial"/>
              </a:rPr>
              <a:t>ON; </a:t>
            </a:r>
            <a:r>
              <a:rPr b="0" lang="en-US" sz="2000" spc="-1" strike="noStrike">
                <a:latin typeface="Arial"/>
              </a:rPr>
              <a:t>activar </a:t>
            </a:r>
            <a:r>
              <a:rPr b="0" lang="en-US" sz="2000" spc="-1" strike="noStrike">
                <a:latin typeface="Arial"/>
              </a:rPr>
              <a:t>Ctrl+M. </a:t>
            </a:r>
            <a:r>
              <a:rPr b="0" lang="en-US" sz="2000" spc="-1" strike="noStrike">
                <a:latin typeface="Arial"/>
              </a:rPr>
              <a:t>Crear el </a:t>
            </a:r>
            <a:r>
              <a:rPr b="0" lang="en-US" sz="2000" spc="-1" strike="noStrike">
                <a:latin typeface="Arial"/>
              </a:rPr>
              <a:t>índice: </a:t>
            </a:r>
            <a:r>
              <a:rPr b="0" lang="en-US" sz="2000" spc="-1" strike="noStrike">
                <a:latin typeface="Arial"/>
              </a:rPr>
              <a:t>CREATE </a:t>
            </a:r>
            <a:r>
              <a:rPr b="0" lang="en-US" sz="2000" spc="-1" strike="noStrike">
                <a:latin typeface="Arial"/>
              </a:rPr>
              <a:t>NONCLU</a:t>
            </a:r>
            <a:r>
              <a:rPr b="0" lang="en-US" sz="2000" spc="-1" strike="noStrike">
                <a:latin typeface="Arial"/>
              </a:rPr>
              <a:t>STERED </a:t>
            </a:r>
            <a:r>
              <a:rPr b="0" lang="en-US" sz="2000" spc="-1" strike="noStrike">
                <a:latin typeface="Arial"/>
              </a:rPr>
              <a:t>INDEX </a:t>
            </a:r>
            <a:r>
              <a:rPr b="0" lang="en-US" sz="2000" spc="-1" strike="noStrike">
                <a:latin typeface="Arial"/>
              </a:rPr>
              <a:t>IX_Pedid</a:t>
            </a:r>
            <a:r>
              <a:rPr b="0" lang="en-US" sz="2000" spc="-1" strike="noStrike">
                <a:latin typeface="Arial"/>
              </a:rPr>
              <a:t>o_Fecha </a:t>
            </a:r>
            <a:r>
              <a:rPr b="0" lang="en-US" sz="2000" spc="-1" strike="noStrike">
                <a:latin typeface="Arial"/>
              </a:rPr>
              <a:t>ON </a:t>
            </a:r>
            <a:r>
              <a:rPr b="0" lang="en-US" sz="2000" spc="-1" strike="noStrike">
                <a:latin typeface="Arial"/>
              </a:rPr>
              <a:t>dbo.Pedid</a:t>
            </a:r>
            <a:r>
              <a:rPr b="0" lang="en-US" sz="2000" spc="-1" strike="noStrike">
                <a:latin typeface="Arial"/>
              </a:rPr>
              <a:t>o </a:t>
            </a:r>
            <a:r>
              <a:rPr b="0" lang="en-US" sz="2000" spc="-1" strike="noStrike">
                <a:latin typeface="Arial"/>
              </a:rPr>
              <a:t>(FechaPe</a:t>
            </a:r>
            <a:r>
              <a:rPr b="0" lang="en-US" sz="2000" spc="-1" strike="noStrike">
                <a:latin typeface="Arial"/>
              </a:rPr>
              <a:t>dido);</a:t>
            </a:r>
            <a:endParaRPr b="0" lang="es-ES" sz="2000" spc="-1" strike="noStrike">
              <a:latin typeface="Arial"/>
            </a:endParaRPr>
          </a:p>
          <a:p>
            <a:pPr marL="216000" indent="-216000">
              <a:lnSpc>
                <a:spcPct val="100000"/>
              </a:lnSpc>
            </a:pPr>
            <a:r>
              <a:rPr b="0" lang="en-US" sz="2000" spc="-1" strike="noStrike">
                <a:latin typeface="Arial"/>
              </a:rPr>
              <a:t>- PASO 2 · </a:t>
            </a:r>
            <a:r>
              <a:rPr b="0" lang="en-US" sz="2000" spc="-1" strike="noStrike">
                <a:latin typeface="Arial"/>
              </a:rPr>
              <a:t>Consulta </a:t>
            </a:r>
            <a:r>
              <a:rPr b="0" lang="en-US" sz="2000" spc="-1" strike="noStrike">
                <a:latin typeface="Arial"/>
              </a:rPr>
              <a:t>A (no </a:t>
            </a:r>
            <a:r>
              <a:rPr b="0" lang="en-US" sz="2000" spc="-1" strike="noStrike">
                <a:latin typeface="Arial"/>
              </a:rPr>
              <a:t>SARGabl</a:t>
            </a:r>
            <a:r>
              <a:rPr b="0" lang="en-US" sz="2000" spc="-1" strike="noStrike">
                <a:latin typeface="Arial"/>
              </a:rPr>
              <a:t>e): </a:t>
            </a:r>
            <a:r>
              <a:rPr b="0" lang="en-US" sz="2000" spc="-1" strike="noStrike">
                <a:latin typeface="Arial"/>
              </a:rPr>
              <a:t>SELECT </a:t>
            </a:r>
            <a:r>
              <a:rPr b="0" lang="en-US" sz="2000" spc="-1" strike="noStrike">
                <a:latin typeface="Arial"/>
              </a:rPr>
              <a:t>PedidoId </a:t>
            </a:r>
            <a:r>
              <a:rPr b="0" lang="en-US" sz="2000" spc="-1" strike="noStrike">
                <a:latin typeface="Arial"/>
              </a:rPr>
              <a:t>FROM </a:t>
            </a:r>
            <a:r>
              <a:rPr b="0" lang="en-US" sz="2000" spc="-1" strike="noStrike">
                <a:latin typeface="Arial"/>
              </a:rPr>
              <a:t>dbo.Pedid</a:t>
            </a:r>
            <a:r>
              <a:rPr b="0" lang="en-US" sz="2000" spc="-1" strike="noStrike">
                <a:latin typeface="Arial"/>
              </a:rPr>
              <a:t>o WHERE </a:t>
            </a:r>
            <a:r>
              <a:rPr b="0" lang="en-US" sz="2000" spc="-1" strike="noStrike">
                <a:latin typeface="Arial"/>
              </a:rPr>
              <a:t>YEAR(Fe</a:t>
            </a:r>
            <a:r>
              <a:rPr b="0" lang="en-US" sz="2000" spc="-1" strike="noStrike">
                <a:latin typeface="Arial"/>
              </a:rPr>
              <a:t>chaPedid</a:t>
            </a:r>
            <a:r>
              <a:rPr b="0" lang="en-US" sz="2000" spc="-1" strike="noStrike">
                <a:latin typeface="Arial"/>
              </a:rPr>
              <a:t>o) = </a:t>
            </a:r>
            <a:r>
              <a:rPr b="0" lang="en-US" sz="2000" spc="-1" strike="noStrike">
                <a:latin typeface="Arial"/>
              </a:rPr>
              <a:t>2024; </a:t>
            </a:r>
            <a:r>
              <a:rPr b="0" lang="en-US" sz="2000" spc="-1" strike="noStrike">
                <a:latin typeface="Arial"/>
              </a:rPr>
              <a:t>Resultado </a:t>
            </a:r>
            <a:r>
              <a:rPr b="0" lang="en-US" sz="2000" spc="-1" strike="noStrike">
                <a:latin typeface="Arial"/>
              </a:rPr>
              <a:t>esperado: </a:t>
            </a:r>
            <a:r>
              <a:rPr b="0" lang="en-US" sz="2000" spc="-1" strike="noStrike">
                <a:latin typeface="Arial"/>
              </a:rPr>
              <a:t>Index </a:t>
            </a:r>
            <a:r>
              <a:rPr b="0" lang="en-US" sz="2000" spc="-1" strike="noStrike">
                <a:latin typeface="Arial"/>
              </a:rPr>
              <a:t>Scan </a:t>
            </a:r>
            <a:r>
              <a:rPr b="0" lang="en-US" sz="2000" spc="-1" strike="noStrike">
                <a:latin typeface="Arial"/>
              </a:rPr>
              <a:t>sobre </a:t>
            </a:r>
            <a:r>
              <a:rPr b="0" lang="en-US" sz="2000" spc="-1" strike="noStrike">
                <a:latin typeface="Arial"/>
              </a:rPr>
              <a:t>IX_Pedid</a:t>
            </a:r>
            <a:r>
              <a:rPr b="0" lang="en-US" sz="2000" spc="-1" strike="noStrike">
                <a:latin typeface="Arial"/>
              </a:rPr>
              <a:t>o_Fecha, </a:t>
            </a:r>
            <a:r>
              <a:rPr b="0" lang="en-US" sz="2000" spc="-1" strike="noStrike">
                <a:latin typeface="Arial"/>
              </a:rPr>
              <a:t>lecturas </a:t>
            </a:r>
            <a:r>
              <a:rPr b="0" lang="en-US" sz="2000" spc="-1" strike="noStrike">
                <a:latin typeface="Arial"/>
              </a:rPr>
              <a:t>lógicas </a:t>
            </a:r>
            <a:r>
              <a:rPr b="0" lang="en-US" sz="2000" spc="-1" strike="noStrike">
                <a:latin typeface="Arial"/>
              </a:rPr>
              <a:t>altas. </a:t>
            </a:r>
            <a:r>
              <a:rPr b="0" lang="en-US" sz="2000" spc="-1" strike="noStrike">
                <a:latin typeface="Arial"/>
              </a:rPr>
              <a:t>Anotar </a:t>
            </a:r>
            <a:r>
              <a:rPr b="0" lang="en-US" sz="2000" spc="-1" strike="noStrike">
                <a:latin typeface="Arial"/>
              </a:rPr>
              <a:t>operador, </a:t>
            </a:r>
            <a:r>
              <a:rPr b="0" lang="en-US" sz="2000" spc="-1" strike="noStrike">
                <a:latin typeface="Arial"/>
              </a:rPr>
              <a:t>logical </a:t>
            </a:r>
            <a:r>
              <a:rPr b="0" lang="en-US" sz="2000" spc="-1" strike="noStrike">
                <a:latin typeface="Arial"/>
              </a:rPr>
              <a:t>reads y </a:t>
            </a:r>
            <a:r>
              <a:rPr b="0" lang="en-US" sz="2000" spc="-1" strike="noStrike">
                <a:latin typeface="Arial"/>
              </a:rPr>
              <a:t>Estimated</a:t>
            </a:r>
            <a:r>
              <a:rPr b="0" lang="en-US" sz="2000" spc="-1" strike="noStrike">
                <a:latin typeface="Arial"/>
              </a:rPr>
              <a:t>/Actual </a:t>
            </a:r>
            <a:r>
              <a:rPr b="0" lang="en-US" sz="2000" spc="-1" strike="noStrike">
                <a:latin typeface="Arial"/>
              </a:rPr>
              <a:t>Rows.</a:t>
            </a:r>
            <a:endParaRPr b="0" lang="es-ES" sz="2000" spc="-1" strike="noStrike">
              <a:latin typeface="Arial"/>
            </a:endParaRPr>
          </a:p>
          <a:p>
            <a:pPr marL="216000" indent="-216000">
              <a:lnSpc>
                <a:spcPct val="100000"/>
              </a:lnSpc>
            </a:pPr>
            <a:r>
              <a:rPr b="0" lang="en-US" sz="2000" spc="-1" strike="noStrike">
                <a:latin typeface="Arial"/>
              </a:rPr>
              <a:t>- PASO 3 · </a:t>
            </a:r>
            <a:r>
              <a:rPr b="0" lang="en-US" sz="2000" spc="-1" strike="noStrike">
                <a:latin typeface="Arial"/>
              </a:rPr>
              <a:t>Consulta </a:t>
            </a:r>
            <a:r>
              <a:rPr b="0" lang="en-US" sz="2000" spc="-1" strike="noStrike">
                <a:latin typeface="Arial"/>
              </a:rPr>
              <a:t>B </a:t>
            </a:r>
            <a:r>
              <a:rPr b="0" lang="en-US" sz="2000" spc="-1" strike="noStrike">
                <a:latin typeface="Arial"/>
              </a:rPr>
              <a:t>(SARGabl</a:t>
            </a:r>
            <a:r>
              <a:rPr b="0" lang="en-US" sz="2000" spc="-1" strike="noStrike">
                <a:latin typeface="Arial"/>
              </a:rPr>
              <a:t>e): </a:t>
            </a:r>
            <a:r>
              <a:rPr b="0" lang="en-US" sz="2000" spc="-1" strike="noStrike">
                <a:latin typeface="Arial"/>
              </a:rPr>
              <a:t>SELECT </a:t>
            </a:r>
            <a:r>
              <a:rPr b="0" lang="en-US" sz="2000" spc="-1" strike="noStrike">
                <a:latin typeface="Arial"/>
              </a:rPr>
              <a:t>PedidoId </a:t>
            </a:r>
            <a:r>
              <a:rPr b="0" lang="en-US" sz="2000" spc="-1" strike="noStrike">
                <a:latin typeface="Arial"/>
              </a:rPr>
              <a:t>FROM </a:t>
            </a:r>
            <a:r>
              <a:rPr b="0" lang="en-US" sz="2000" spc="-1" strike="noStrike">
                <a:latin typeface="Arial"/>
              </a:rPr>
              <a:t>dbo.Pedid</a:t>
            </a:r>
            <a:r>
              <a:rPr b="0" lang="en-US" sz="2000" spc="-1" strike="noStrike">
                <a:latin typeface="Arial"/>
              </a:rPr>
              <a:t>o WHERE </a:t>
            </a:r>
            <a:r>
              <a:rPr b="0" lang="en-US" sz="2000" spc="-1" strike="noStrike">
                <a:latin typeface="Arial"/>
              </a:rPr>
              <a:t>FechaPe</a:t>
            </a:r>
            <a:r>
              <a:rPr b="0" lang="en-US" sz="2000" spc="-1" strike="noStrike">
                <a:latin typeface="Arial"/>
              </a:rPr>
              <a:t>dido &gt;= </a:t>
            </a:r>
            <a:r>
              <a:rPr b="0" lang="en-US" sz="2000" spc="-1" strike="noStrike">
                <a:latin typeface="Arial"/>
              </a:rPr>
              <a:t>'2024010</a:t>
            </a:r>
            <a:r>
              <a:rPr b="0" lang="en-US" sz="2000" spc="-1" strike="noStrike">
                <a:latin typeface="Arial"/>
              </a:rPr>
              <a:t>1' AND </a:t>
            </a:r>
            <a:r>
              <a:rPr b="0" lang="en-US" sz="2000" spc="-1" strike="noStrike">
                <a:latin typeface="Arial"/>
              </a:rPr>
              <a:t>FechaPe</a:t>
            </a:r>
            <a:r>
              <a:rPr b="0" lang="en-US" sz="2000" spc="-1" strike="noStrike">
                <a:latin typeface="Arial"/>
              </a:rPr>
              <a:t>dido &lt; </a:t>
            </a:r>
            <a:r>
              <a:rPr b="0" lang="en-US" sz="2000" spc="-1" strike="noStrike">
                <a:latin typeface="Arial"/>
              </a:rPr>
              <a:t>'2025010</a:t>
            </a:r>
            <a:r>
              <a:rPr b="0" lang="en-US" sz="2000" spc="-1" strike="noStrike">
                <a:latin typeface="Arial"/>
              </a:rPr>
              <a:t>1'; </a:t>
            </a:r>
            <a:r>
              <a:rPr b="0" lang="en-US" sz="2000" spc="-1" strike="noStrike">
                <a:latin typeface="Arial"/>
              </a:rPr>
              <a:t>Resultado </a:t>
            </a:r>
            <a:r>
              <a:rPr b="0" lang="en-US" sz="2000" spc="-1" strike="noStrike">
                <a:latin typeface="Arial"/>
              </a:rPr>
              <a:t>esperado: </a:t>
            </a:r>
            <a:r>
              <a:rPr b="0" lang="en-US" sz="2000" spc="-1" strike="noStrike">
                <a:latin typeface="Arial"/>
              </a:rPr>
              <a:t>Index </a:t>
            </a:r>
            <a:r>
              <a:rPr b="0" lang="en-US" sz="2000" spc="-1" strike="noStrike">
                <a:latin typeface="Arial"/>
              </a:rPr>
              <a:t>Seek con </a:t>
            </a:r>
            <a:r>
              <a:rPr b="0" lang="en-US" sz="2000" spc="-1" strike="noStrike">
                <a:latin typeface="Arial"/>
              </a:rPr>
              <a:t>las </a:t>
            </a:r>
            <a:r>
              <a:rPr b="0" lang="en-US" sz="2000" spc="-1" strike="noStrike">
                <a:latin typeface="Arial"/>
              </a:rPr>
              <a:t>mismas </a:t>
            </a:r>
            <a:r>
              <a:rPr b="0" lang="en-US" sz="2000" spc="-1" strike="noStrike">
                <a:latin typeface="Arial"/>
              </a:rPr>
              <a:t>filas. </a:t>
            </a:r>
            <a:r>
              <a:rPr b="0" lang="en-US" sz="2000" spc="-1" strike="noStrike">
                <a:latin typeface="Arial"/>
              </a:rPr>
              <a:t>Comparar </a:t>
            </a:r>
            <a:r>
              <a:rPr b="0" lang="en-US" sz="2000" spc="-1" strike="noStrike">
                <a:latin typeface="Arial"/>
              </a:rPr>
              <a:t>lecturas </a:t>
            </a:r>
            <a:r>
              <a:rPr b="0" lang="en-US" sz="2000" spc="-1" strike="noStrike">
                <a:latin typeface="Arial"/>
              </a:rPr>
              <a:t>con A.</a:t>
            </a:r>
            <a:endParaRPr b="0" lang="es-ES" sz="2000" spc="-1" strike="noStrike">
              <a:latin typeface="Arial"/>
            </a:endParaRPr>
          </a:p>
          <a:p>
            <a:pPr marL="216000" indent="-216000">
              <a:lnSpc>
                <a:spcPct val="100000"/>
              </a:lnSpc>
            </a:pPr>
            <a:r>
              <a:rPr b="0" lang="en-US" sz="2000" spc="-1" strike="noStrike">
                <a:latin typeface="Arial"/>
              </a:rPr>
              <a:t>- PASO 4 · </a:t>
            </a:r>
            <a:r>
              <a:rPr b="0" lang="en-US" sz="2000" spc="-1" strike="noStrike">
                <a:latin typeface="Arial"/>
              </a:rPr>
              <a:t>Consulta </a:t>
            </a:r>
            <a:r>
              <a:rPr b="0" lang="en-US" sz="2000" spc="-1" strike="noStrike">
                <a:latin typeface="Arial"/>
              </a:rPr>
              <a:t>C: </a:t>
            </a:r>
            <a:r>
              <a:rPr b="0" lang="en-US" sz="2000" spc="-1" strike="noStrike">
                <a:latin typeface="Arial"/>
              </a:rPr>
              <a:t>SELECT </a:t>
            </a:r>
            <a:r>
              <a:rPr b="0" lang="en-US" sz="2000" spc="-1" strike="noStrike">
                <a:latin typeface="Arial"/>
              </a:rPr>
              <a:t>PedidoId, </a:t>
            </a:r>
            <a:r>
              <a:rPr b="0" lang="en-US" sz="2000" spc="-1" strike="noStrike">
                <a:latin typeface="Arial"/>
              </a:rPr>
              <a:t>Total </a:t>
            </a:r>
            <a:r>
              <a:rPr b="0" lang="en-US" sz="2000" spc="-1" strike="noStrike">
                <a:latin typeface="Arial"/>
              </a:rPr>
              <a:t>FROM </a:t>
            </a:r>
            <a:r>
              <a:rPr b="0" lang="en-US" sz="2000" spc="-1" strike="noStrike">
                <a:latin typeface="Arial"/>
              </a:rPr>
              <a:t>dbo.Pedid</a:t>
            </a:r>
            <a:r>
              <a:rPr b="0" lang="en-US" sz="2000" spc="-1" strike="noStrike">
                <a:latin typeface="Arial"/>
              </a:rPr>
              <a:t>o WHERE </a:t>
            </a:r>
            <a:r>
              <a:rPr b="0" lang="en-US" sz="2000" spc="-1" strike="noStrike">
                <a:latin typeface="Arial"/>
              </a:rPr>
              <a:t>FechaPe</a:t>
            </a:r>
            <a:r>
              <a:rPr b="0" lang="en-US" sz="2000" spc="-1" strike="noStrike">
                <a:latin typeface="Arial"/>
              </a:rPr>
              <a:t>dido = </a:t>
            </a:r>
            <a:r>
              <a:rPr b="0" lang="en-US" sz="2000" spc="-1" strike="noStrike">
                <a:latin typeface="Arial"/>
              </a:rPr>
              <a:t>'2024031</a:t>
            </a:r>
            <a:r>
              <a:rPr b="0" lang="en-US" sz="2000" spc="-1" strike="noStrike">
                <a:latin typeface="Arial"/>
              </a:rPr>
              <a:t>5'; </a:t>
            </a:r>
            <a:r>
              <a:rPr b="0" lang="en-US" sz="2000" spc="-1" strike="noStrike">
                <a:latin typeface="Arial"/>
              </a:rPr>
              <a:t>Resultado </a:t>
            </a:r>
            <a:r>
              <a:rPr b="0" lang="en-US" sz="2000" spc="-1" strike="noStrike">
                <a:latin typeface="Arial"/>
              </a:rPr>
              <a:t>esperado: </a:t>
            </a:r>
            <a:r>
              <a:rPr b="0" lang="en-US" sz="2000" spc="-1" strike="noStrike">
                <a:latin typeface="Arial"/>
              </a:rPr>
              <a:t>Index </a:t>
            </a:r>
            <a:r>
              <a:rPr b="0" lang="en-US" sz="2000" spc="-1" strike="noStrike">
                <a:latin typeface="Arial"/>
              </a:rPr>
              <a:t>Seek + </a:t>
            </a:r>
            <a:r>
              <a:rPr b="0" lang="en-US" sz="2000" spc="-1" strike="noStrike">
                <a:latin typeface="Arial"/>
              </a:rPr>
              <a:t>Key </a:t>
            </a:r>
            <a:r>
              <a:rPr b="0" lang="en-US" sz="2000" spc="-1" strike="noStrike">
                <a:latin typeface="Arial"/>
              </a:rPr>
              <a:t>Lookup </a:t>
            </a:r>
            <a:r>
              <a:rPr b="0" lang="en-US" sz="2000" spc="-1" strike="noStrike">
                <a:latin typeface="Arial"/>
              </a:rPr>
              <a:t>(Total no </a:t>
            </a:r>
            <a:r>
              <a:rPr b="0" lang="en-US" sz="2000" spc="-1" strike="noStrike">
                <a:latin typeface="Arial"/>
              </a:rPr>
              <a:t>está en el </a:t>
            </a:r>
            <a:r>
              <a:rPr b="0" lang="en-US" sz="2000" spc="-1" strike="noStrike">
                <a:latin typeface="Arial"/>
              </a:rPr>
              <a:t>índice). </a:t>
            </a:r>
            <a:r>
              <a:rPr b="0" lang="en-US" sz="2000" spc="-1" strike="noStrike">
                <a:latin typeface="Arial"/>
              </a:rPr>
              <a:t>Abrir las </a:t>
            </a:r>
            <a:r>
              <a:rPr b="0" lang="en-US" sz="2000" spc="-1" strike="noStrike">
                <a:latin typeface="Arial"/>
              </a:rPr>
              <a:t>propiedad</a:t>
            </a:r>
            <a:r>
              <a:rPr b="0" lang="en-US" sz="2000" spc="-1" strike="noStrike">
                <a:latin typeface="Arial"/>
              </a:rPr>
              <a:t>es del </a:t>
            </a:r>
            <a:r>
              <a:rPr b="0" lang="en-US" sz="2000" spc="-1" strike="noStrike">
                <a:latin typeface="Arial"/>
              </a:rPr>
              <a:t>Key </a:t>
            </a:r>
            <a:r>
              <a:rPr b="0" lang="en-US" sz="2000" spc="-1" strike="noStrike">
                <a:latin typeface="Arial"/>
              </a:rPr>
              <a:t>Lookup </a:t>
            </a:r>
            <a:r>
              <a:rPr b="0" lang="en-US" sz="2000" spc="-1" strike="noStrike">
                <a:latin typeface="Arial"/>
              </a:rPr>
              <a:t>(F4) y ver </a:t>
            </a:r>
            <a:r>
              <a:rPr b="0" lang="en-US" sz="2000" spc="-1" strike="noStrike">
                <a:latin typeface="Arial"/>
              </a:rPr>
              <a:t>Number </a:t>
            </a:r>
            <a:r>
              <a:rPr b="0" lang="en-US" sz="2000" spc="-1" strike="noStrike">
                <a:latin typeface="Arial"/>
              </a:rPr>
              <a:t>of </a:t>
            </a:r>
            <a:r>
              <a:rPr b="0" lang="en-US" sz="2000" spc="-1" strike="noStrike">
                <a:latin typeface="Arial"/>
              </a:rPr>
              <a:t>Execution</a:t>
            </a:r>
            <a:r>
              <a:rPr b="0" lang="en-US" sz="2000" spc="-1" strike="noStrike">
                <a:latin typeface="Arial"/>
              </a:rPr>
              <a:t>s.</a:t>
            </a:r>
            <a:endParaRPr b="0" lang="es-ES" sz="2000" spc="-1" strike="noStrike">
              <a:latin typeface="Arial"/>
            </a:endParaRPr>
          </a:p>
          <a:p>
            <a:pPr marL="216000" indent="-216000">
              <a:lnSpc>
                <a:spcPct val="100000"/>
              </a:lnSpc>
            </a:pPr>
            <a:r>
              <a:rPr b="0" lang="en-US" sz="2000" spc="-1" strike="noStrike">
                <a:latin typeface="Arial"/>
              </a:rPr>
              <a:t>- PASO 5 · </a:t>
            </a:r>
            <a:r>
              <a:rPr b="0" lang="en-US" sz="2000" spc="-1" strike="noStrike">
                <a:latin typeface="Arial"/>
              </a:rPr>
              <a:t>Resolver </a:t>
            </a:r>
            <a:r>
              <a:rPr b="0" lang="en-US" sz="2000" spc="-1" strike="noStrike">
                <a:latin typeface="Arial"/>
              </a:rPr>
              <a:t>C: </a:t>
            </a:r>
            <a:r>
              <a:rPr b="0" lang="en-US" sz="2000" spc="-1" strike="noStrike">
                <a:latin typeface="Arial"/>
              </a:rPr>
              <a:t>CREATE </a:t>
            </a:r>
            <a:r>
              <a:rPr b="0" lang="en-US" sz="2000" spc="-1" strike="noStrike">
                <a:latin typeface="Arial"/>
              </a:rPr>
              <a:t>NONCLU</a:t>
            </a:r>
            <a:r>
              <a:rPr b="0" lang="en-US" sz="2000" spc="-1" strike="noStrike">
                <a:latin typeface="Arial"/>
              </a:rPr>
              <a:t>STERED </a:t>
            </a:r>
            <a:r>
              <a:rPr b="0" lang="en-US" sz="2000" spc="-1" strike="noStrike">
                <a:latin typeface="Arial"/>
              </a:rPr>
              <a:t>INDEX </a:t>
            </a:r>
            <a:r>
              <a:rPr b="0" lang="en-US" sz="2000" spc="-1" strike="noStrike">
                <a:latin typeface="Arial"/>
              </a:rPr>
              <a:t>IX_Pedid</a:t>
            </a:r>
            <a:r>
              <a:rPr b="0" lang="en-US" sz="2000" spc="-1" strike="noStrike">
                <a:latin typeface="Arial"/>
              </a:rPr>
              <a:t>o_Fecha </a:t>
            </a:r>
            <a:r>
              <a:rPr b="0" lang="en-US" sz="2000" spc="-1" strike="noStrike">
                <a:latin typeface="Arial"/>
              </a:rPr>
              <a:t>ON </a:t>
            </a:r>
            <a:r>
              <a:rPr b="0" lang="en-US" sz="2000" spc="-1" strike="noStrike">
                <a:latin typeface="Arial"/>
              </a:rPr>
              <a:t>dbo.Pedid</a:t>
            </a:r>
            <a:r>
              <a:rPr b="0" lang="en-US" sz="2000" spc="-1" strike="noStrike">
                <a:latin typeface="Arial"/>
              </a:rPr>
              <a:t>o </a:t>
            </a:r>
            <a:r>
              <a:rPr b="0" lang="en-US" sz="2000" spc="-1" strike="noStrike">
                <a:latin typeface="Arial"/>
              </a:rPr>
              <a:t>(FechaPe</a:t>
            </a:r>
            <a:r>
              <a:rPr b="0" lang="en-US" sz="2000" spc="-1" strike="noStrike">
                <a:latin typeface="Arial"/>
              </a:rPr>
              <a:t>dido) </a:t>
            </a:r>
            <a:r>
              <a:rPr b="0" lang="en-US" sz="2000" spc="-1" strike="noStrike">
                <a:latin typeface="Arial"/>
              </a:rPr>
              <a:t>INCLUDE </a:t>
            </a:r>
            <a:r>
              <a:rPr b="0" lang="en-US" sz="2000" spc="-1" strike="noStrike">
                <a:latin typeface="Arial"/>
              </a:rPr>
              <a:t>(Total) </a:t>
            </a:r>
            <a:r>
              <a:rPr b="0" lang="en-US" sz="2000" spc="-1" strike="noStrike">
                <a:latin typeface="Arial"/>
              </a:rPr>
              <a:t>WITH </a:t>
            </a:r>
            <a:r>
              <a:rPr b="0" lang="en-US" sz="2000" spc="-1" strike="noStrike">
                <a:latin typeface="Arial"/>
              </a:rPr>
              <a:t>(DROP_E</a:t>
            </a:r>
            <a:r>
              <a:rPr b="0" lang="en-US" sz="2000" spc="-1" strike="noStrike">
                <a:latin typeface="Arial"/>
              </a:rPr>
              <a:t>XISTING </a:t>
            </a:r>
            <a:r>
              <a:rPr b="0" lang="en-US" sz="2000" spc="-1" strike="noStrike">
                <a:latin typeface="Arial"/>
              </a:rPr>
              <a:t>= ON); y </a:t>
            </a:r>
            <a:r>
              <a:rPr b="0" lang="en-US" sz="2000" spc="-1" strike="noStrike">
                <a:latin typeface="Arial"/>
              </a:rPr>
              <a:t>repetir. El </a:t>
            </a:r>
            <a:r>
              <a:rPr b="0" lang="en-US" sz="2000" spc="-1" strike="noStrike">
                <a:latin typeface="Arial"/>
              </a:rPr>
              <a:t>Key </a:t>
            </a:r>
            <a:r>
              <a:rPr b="0" lang="en-US" sz="2000" spc="-1" strike="noStrike">
                <a:latin typeface="Arial"/>
              </a:rPr>
              <a:t>Lookup </a:t>
            </a:r>
            <a:r>
              <a:rPr b="0" lang="en-US" sz="2000" spc="-1" strike="noStrike">
                <a:latin typeface="Arial"/>
              </a:rPr>
              <a:t>desapare</a:t>
            </a:r>
            <a:r>
              <a:rPr b="0" lang="en-US" sz="2000" spc="-1" strike="noStrike">
                <a:latin typeface="Arial"/>
              </a:rPr>
              <a:t>ce.</a:t>
            </a:r>
            <a:endParaRPr b="0" lang="es-ES" sz="2000" spc="-1" strike="noStrike">
              <a:latin typeface="Arial"/>
            </a:endParaRPr>
          </a:p>
          <a:p>
            <a:pPr marL="216000" indent="-216000">
              <a:lnSpc>
                <a:spcPct val="100000"/>
              </a:lnSpc>
            </a:pPr>
            <a:r>
              <a:rPr b="0" lang="en-US" sz="2000" spc="-1" strike="noStrike">
                <a:latin typeface="Arial"/>
              </a:rPr>
              <a:t>- PASO 6 · </a:t>
            </a:r>
            <a:r>
              <a:rPr b="0" lang="en-US" sz="2000" spc="-1" strike="noStrike">
                <a:latin typeface="Arial"/>
              </a:rPr>
              <a:t>Opcional: </a:t>
            </a:r>
            <a:r>
              <a:rPr b="0" lang="en-US" sz="2000" spc="-1" strike="noStrike">
                <a:latin typeface="Arial"/>
              </a:rPr>
              <a:t>en el </a:t>
            </a:r>
            <a:r>
              <a:rPr b="0" lang="en-US" sz="2000" spc="-1" strike="noStrike">
                <a:latin typeface="Arial"/>
              </a:rPr>
              <a:t>plan, clic </a:t>
            </a:r>
            <a:r>
              <a:rPr b="0" lang="en-US" sz="2000" spc="-1" strike="noStrike">
                <a:latin typeface="Arial"/>
              </a:rPr>
              <a:t>derecho </a:t>
            </a:r>
            <a:r>
              <a:rPr b="0" lang="en-US" sz="2000" spc="-1" strike="noStrike">
                <a:latin typeface="Arial"/>
              </a:rPr>
              <a:t>→ Show </a:t>
            </a:r>
            <a:r>
              <a:rPr b="0" lang="en-US" sz="2000" spc="-1" strike="noStrike">
                <a:latin typeface="Arial"/>
              </a:rPr>
              <a:t>Execution </a:t>
            </a:r>
            <a:r>
              <a:rPr b="0" lang="en-US" sz="2000" spc="-1" strike="noStrike">
                <a:latin typeface="Arial"/>
              </a:rPr>
              <a:t>Plan XML </a:t>
            </a:r>
            <a:r>
              <a:rPr b="0" lang="en-US" sz="2000" spc="-1" strike="noStrike">
                <a:latin typeface="Arial"/>
              </a:rPr>
              <a:t>y localizar </a:t>
            </a:r>
            <a:r>
              <a:rPr b="0" lang="en-US" sz="2000" spc="-1" strike="noStrike">
                <a:latin typeface="Arial"/>
              </a:rPr>
              <a:t>Cardinalit</a:t>
            </a:r>
            <a:r>
              <a:rPr b="0" lang="en-US" sz="2000" spc="-1" strike="noStrike">
                <a:latin typeface="Arial"/>
              </a:rPr>
              <a:t>yEstimati</a:t>
            </a:r>
            <a:r>
              <a:rPr b="0" lang="en-US" sz="2000" spc="-1" strike="noStrike">
                <a:latin typeface="Arial"/>
              </a:rPr>
              <a:t>onModelV</a:t>
            </a:r>
            <a:r>
              <a:rPr b="0" lang="en-US" sz="2000" spc="-1" strike="noStrike">
                <a:latin typeface="Arial"/>
              </a:rPr>
              <a:t>ersion y </a:t>
            </a:r>
            <a:r>
              <a:rPr b="0" lang="en-US" sz="2000" spc="-1" strike="noStrike">
                <a:latin typeface="Arial"/>
              </a:rPr>
              <a:t>Statemen</a:t>
            </a:r>
            <a:r>
              <a:rPr b="0" lang="en-US" sz="2000" spc="-1" strike="noStrike">
                <a:latin typeface="Arial"/>
              </a:rPr>
              <a:t>tOptmLev</a:t>
            </a:r>
            <a:r>
              <a:rPr b="0" lang="en-US" sz="2000" spc="-1" strike="noStrike">
                <a:latin typeface="Arial"/>
              </a:rPr>
              <a:t>el; luego </a:t>
            </a:r>
            <a:r>
              <a:rPr b="0" lang="en-US" sz="2000" spc="-1" strike="noStrike">
                <a:latin typeface="Arial"/>
              </a:rPr>
              <a:t>comparar </a:t>
            </a:r>
            <a:r>
              <a:rPr b="0" lang="en-US" sz="2000" spc="-1" strike="noStrike">
                <a:latin typeface="Arial"/>
              </a:rPr>
              <a:t>con </a:t>
            </a:r>
            <a:r>
              <a:rPr b="0" lang="en-US" sz="2000" spc="-1" strike="noStrike">
                <a:latin typeface="Arial"/>
              </a:rPr>
              <a:t>ALTER </a:t>
            </a:r>
            <a:r>
              <a:rPr b="0" lang="en-US" sz="2000" spc="-1" strike="noStrike">
                <a:latin typeface="Arial"/>
              </a:rPr>
              <a:t>DATABAS</a:t>
            </a:r>
            <a:r>
              <a:rPr b="0" lang="en-US" sz="2000" spc="-1" strike="noStrike">
                <a:latin typeface="Arial"/>
              </a:rPr>
              <a:t>E </a:t>
            </a:r>
            <a:r>
              <a:rPr b="0" lang="en-US" sz="2000" spc="-1" strike="noStrike">
                <a:latin typeface="Arial"/>
              </a:rPr>
              <a:t>SCOPED </a:t>
            </a:r>
            <a:r>
              <a:rPr b="0" lang="en-US" sz="2000" spc="-1" strike="noStrike">
                <a:latin typeface="Arial"/>
              </a:rPr>
              <a:t>CONFIG</a:t>
            </a:r>
            <a:r>
              <a:rPr b="0" lang="en-US" sz="2000" spc="-1" strike="noStrike">
                <a:latin typeface="Arial"/>
              </a:rPr>
              <a:t>URATION </a:t>
            </a:r>
            <a:r>
              <a:rPr b="0" lang="en-US" sz="2000" spc="-1" strike="noStrike">
                <a:latin typeface="Arial"/>
              </a:rPr>
              <a:t>SET </a:t>
            </a:r>
            <a:r>
              <a:rPr b="0" lang="en-US" sz="2000" spc="-1" strike="noStrike">
                <a:latin typeface="Arial"/>
              </a:rPr>
              <a:t>LEGACY</a:t>
            </a:r>
            <a:r>
              <a:rPr b="0" lang="en-US" sz="2000" spc="-1" strike="noStrike">
                <a:latin typeface="Arial"/>
              </a:rPr>
              <a:t>_CARDIN</a:t>
            </a:r>
            <a:r>
              <a:rPr b="0" lang="en-US" sz="2000" spc="-1" strike="noStrike">
                <a:latin typeface="Arial"/>
              </a:rPr>
              <a:t>ALITY_E</a:t>
            </a:r>
            <a:r>
              <a:rPr b="0" lang="en-US" sz="2000" spc="-1" strike="noStrike">
                <a:latin typeface="Arial"/>
              </a:rPr>
              <a:t>STIMATI</a:t>
            </a:r>
            <a:r>
              <a:rPr b="0" lang="en-US" sz="2000" spc="-1" strike="noStrike">
                <a:latin typeface="Arial"/>
              </a:rPr>
              <a:t>ON = ON; </a:t>
            </a:r>
            <a:r>
              <a:rPr b="0" lang="en-US" sz="2000" spc="-1" strike="noStrike">
                <a:latin typeface="Arial"/>
              </a:rPr>
              <a:t>(volver a </a:t>
            </a:r>
            <a:r>
              <a:rPr b="0" lang="en-US" sz="2000" spc="-1" strike="noStrike">
                <a:latin typeface="Arial"/>
              </a:rPr>
              <a:t>OFF al </a:t>
            </a:r>
            <a:r>
              <a:rPr b="0" lang="en-US" sz="2000" spc="-1" strike="noStrike">
                <a:latin typeface="Arial"/>
              </a:rPr>
              <a:t>terminar).</a:t>
            </a:r>
            <a:endParaRPr b="0" lang="es-ES" sz="2000" spc="-1" strike="noStrike">
              <a:latin typeface="Arial"/>
            </a:endParaRPr>
          </a:p>
          <a:p>
            <a:pPr marL="216000" indent="-216000">
              <a:lnSpc>
                <a:spcPct val="100000"/>
              </a:lnSpc>
            </a:pPr>
            <a:r>
              <a:rPr b="0" lang="en-US" sz="2000" spc="-1" strike="noStrike">
                <a:latin typeface="Arial"/>
              </a:rPr>
              <a:t>- TRAMPAS </a:t>
            </a:r>
            <a:r>
              <a:rPr b="0" lang="en-US" sz="2000" spc="-1" strike="noStrike">
                <a:latin typeface="Arial"/>
              </a:rPr>
              <a:t>HABITUA</a:t>
            </a:r>
            <a:r>
              <a:rPr b="0" lang="en-US" sz="2000" spc="-1" strike="noStrike">
                <a:latin typeface="Arial"/>
              </a:rPr>
              <a:t>LES: (a) </a:t>
            </a:r>
            <a:r>
              <a:rPr b="0" lang="en-US" sz="2000" spc="-1" strike="noStrike">
                <a:latin typeface="Arial"/>
              </a:rPr>
              <a:t>comparar </a:t>
            </a:r>
            <a:r>
              <a:rPr b="0" lang="en-US" sz="2000" spc="-1" strike="noStrike">
                <a:latin typeface="Arial"/>
              </a:rPr>
              <a:t>planes </a:t>
            </a:r>
            <a:r>
              <a:rPr b="0" lang="en-US" sz="2000" spc="-1" strike="noStrike">
                <a:latin typeface="Arial"/>
              </a:rPr>
              <a:t>estimado</a:t>
            </a:r>
            <a:r>
              <a:rPr b="0" lang="en-US" sz="2000" spc="-1" strike="noStrike">
                <a:latin typeface="Arial"/>
              </a:rPr>
              <a:t>s en lugar </a:t>
            </a:r>
            <a:r>
              <a:rPr b="0" lang="en-US" sz="2000" spc="-1" strike="noStrike">
                <a:latin typeface="Arial"/>
              </a:rPr>
              <a:t>de reales; </a:t>
            </a:r>
            <a:r>
              <a:rPr b="0" lang="en-US" sz="2000" spc="-1" strike="noStrike">
                <a:latin typeface="Arial"/>
              </a:rPr>
              <a:t>(b) el </a:t>
            </a:r>
            <a:r>
              <a:rPr b="0" lang="en-US" sz="2000" spc="-1" strike="noStrike">
                <a:latin typeface="Arial"/>
              </a:rPr>
              <a:t>optimizad</a:t>
            </a:r>
            <a:r>
              <a:rPr b="0" lang="en-US" sz="2000" spc="-1" strike="noStrike">
                <a:latin typeface="Arial"/>
              </a:rPr>
              <a:t>or elige </a:t>
            </a:r>
            <a:r>
              <a:rPr b="0" lang="en-US" sz="2000" spc="-1" strike="noStrike">
                <a:latin typeface="Arial"/>
              </a:rPr>
              <a:t>Scan en </a:t>
            </a:r>
            <a:r>
              <a:rPr b="0" lang="en-US" sz="2000" spc="-1" strike="noStrike">
                <a:latin typeface="Arial"/>
              </a:rPr>
              <a:t>la </a:t>
            </a:r>
            <a:r>
              <a:rPr b="0" lang="en-US" sz="2000" spc="-1" strike="noStrike">
                <a:latin typeface="Arial"/>
              </a:rPr>
              <a:t>consulta </a:t>
            </a:r>
            <a:r>
              <a:rPr b="0" lang="en-US" sz="2000" spc="-1" strike="noStrike">
                <a:latin typeface="Arial"/>
              </a:rPr>
              <a:t>B si el </a:t>
            </a:r>
            <a:r>
              <a:rPr b="0" lang="en-US" sz="2000" spc="-1" strike="noStrike">
                <a:latin typeface="Arial"/>
              </a:rPr>
              <a:t>año </a:t>
            </a:r>
            <a:r>
              <a:rPr b="0" lang="en-US" sz="2000" spc="-1" strike="noStrike">
                <a:latin typeface="Arial"/>
              </a:rPr>
              <a:t>consultad</a:t>
            </a:r>
            <a:r>
              <a:rPr b="0" lang="en-US" sz="2000" spc="-1" strike="noStrike">
                <a:latin typeface="Arial"/>
              </a:rPr>
              <a:t>o abarca </a:t>
            </a:r>
            <a:r>
              <a:rPr b="0" lang="en-US" sz="2000" spc="-1" strike="noStrike">
                <a:latin typeface="Arial"/>
              </a:rPr>
              <a:t>gran </a:t>
            </a:r>
            <a:r>
              <a:rPr b="0" lang="en-US" sz="2000" spc="-1" strike="noStrike">
                <a:latin typeface="Arial"/>
              </a:rPr>
              <a:t>parte de </a:t>
            </a:r>
            <a:r>
              <a:rPr b="0" lang="en-US" sz="2000" spc="-1" strike="noStrike">
                <a:latin typeface="Arial"/>
              </a:rPr>
              <a:t>la tabla: </a:t>
            </a:r>
            <a:r>
              <a:rPr b="0" lang="en-US" sz="2000" spc="-1" strike="noStrike">
                <a:latin typeface="Arial"/>
              </a:rPr>
              <a:t>probar </a:t>
            </a:r>
            <a:r>
              <a:rPr b="0" lang="en-US" sz="2000" spc="-1" strike="noStrike">
                <a:latin typeface="Arial"/>
              </a:rPr>
              <a:t>con un </a:t>
            </a:r>
            <a:r>
              <a:rPr b="0" lang="en-US" sz="2000" spc="-1" strike="noStrike">
                <a:latin typeface="Arial"/>
              </a:rPr>
              <a:t>mes en </a:t>
            </a:r>
            <a:r>
              <a:rPr b="0" lang="en-US" sz="2000" spc="-1" strike="noStrike">
                <a:latin typeface="Arial"/>
              </a:rPr>
              <a:t>vez de un </a:t>
            </a:r>
            <a:r>
              <a:rPr b="0" lang="en-US" sz="2000" spc="-1" strike="noStrike">
                <a:latin typeface="Arial"/>
              </a:rPr>
              <a:t>año; (c) </a:t>
            </a:r>
            <a:r>
              <a:rPr b="0" lang="en-US" sz="2000" spc="-1" strike="noStrike">
                <a:latin typeface="Arial"/>
              </a:rPr>
              <a:t>mezclar </a:t>
            </a:r>
            <a:r>
              <a:rPr b="0" lang="en-US" sz="2000" spc="-1" strike="noStrike">
                <a:latin typeface="Arial"/>
              </a:rPr>
              <a:t>tipos </a:t>
            </a:r>
            <a:r>
              <a:rPr b="0" lang="en-US" sz="2000" spc="-1" strike="noStrike">
                <a:latin typeface="Arial"/>
              </a:rPr>
              <a:t>(compara</a:t>
            </a:r>
            <a:r>
              <a:rPr b="0" lang="en-US" sz="2000" spc="-1" strike="noStrike">
                <a:latin typeface="Arial"/>
              </a:rPr>
              <a:t>r con un </a:t>
            </a:r>
            <a:r>
              <a:rPr b="0" lang="en-US" sz="2000" spc="-1" strike="noStrike">
                <a:latin typeface="Arial"/>
              </a:rPr>
              <a:t>literal </a:t>
            </a:r>
            <a:r>
              <a:rPr b="0" lang="en-US" sz="2000" spc="-1" strike="noStrike">
                <a:latin typeface="Arial"/>
              </a:rPr>
              <a:t>NVARCH</a:t>
            </a:r>
            <a:r>
              <a:rPr b="0" lang="en-US" sz="2000" spc="-1" strike="noStrike">
                <a:latin typeface="Arial"/>
              </a:rPr>
              <a:t>AR o con </a:t>
            </a:r>
            <a:r>
              <a:rPr b="0" lang="en-US" sz="2000" spc="-1" strike="noStrike">
                <a:latin typeface="Arial"/>
              </a:rPr>
              <a:t>una </a:t>
            </a:r>
            <a:r>
              <a:rPr b="0" lang="en-US" sz="2000" spc="-1" strike="noStrike">
                <a:latin typeface="Arial"/>
              </a:rPr>
              <a:t>columna </a:t>
            </a:r>
            <a:r>
              <a:rPr b="0" lang="en-US" sz="2000" spc="-1" strike="noStrike">
                <a:latin typeface="Arial"/>
              </a:rPr>
              <a:t>de otro </a:t>
            </a:r>
            <a:r>
              <a:rPr b="0" lang="en-US" sz="2000" spc="-1" strike="noStrike">
                <a:latin typeface="Arial"/>
              </a:rPr>
              <a:t>tipo) </a:t>
            </a:r>
            <a:r>
              <a:rPr b="0" lang="en-US" sz="2000" spc="-1" strike="noStrike">
                <a:latin typeface="Arial"/>
              </a:rPr>
              <a:t>provoca </a:t>
            </a:r>
            <a:r>
              <a:rPr b="0" lang="en-US" sz="2000" spc="-1" strike="noStrike">
                <a:latin typeface="Arial"/>
              </a:rPr>
              <a:t>CONVER</a:t>
            </a:r>
            <a:r>
              <a:rPr b="0" lang="en-US" sz="2000" spc="-1" strike="noStrike">
                <a:latin typeface="Arial"/>
              </a:rPr>
              <a:t>T_IMPLIC</a:t>
            </a:r>
            <a:r>
              <a:rPr b="0" lang="en-US" sz="2000" spc="-1" strike="noStrike">
                <a:latin typeface="Arial"/>
              </a:rPr>
              <a:t>IT y </a:t>
            </a:r>
            <a:r>
              <a:rPr b="0" lang="en-US" sz="2000" spc="-1" strike="noStrike">
                <a:latin typeface="Arial"/>
              </a:rPr>
              <a:t>warnings; </a:t>
            </a:r>
            <a:r>
              <a:rPr b="0" lang="en-US" sz="2000" spc="-1" strike="noStrike">
                <a:latin typeface="Arial"/>
              </a:rPr>
              <a:t>(d) el plan </a:t>
            </a:r>
            <a:r>
              <a:rPr b="0" lang="en-US" sz="2000" spc="-1" strike="noStrike">
                <a:latin typeface="Arial"/>
              </a:rPr>
              <a:t>cacheado </a:t>
            </a:r>
            <a:r>
              <a:rPr b="0" lang="en-US" sz="2000" spc="-1" strike="noStrike">
                <a:latin typeface="Arial"/>
              </a:rPr>
              <a:t>de </a:t>
            </a:r>
            <a:r>
              <a:rPr b="0" lang="en-US" sz="2000" spc="-1" strike="noStrike">
                <a:latin typeface="Arial"/>
              </a:rPr>
              <a:t>ejecucion</a:t>
            </a:r>
            <a:r>
              <a:rPr b="0" lang="en-US" sz="2000" spc="-1" strike="noStrike">
                <a:latin typeface="Arial"/>
              </a:rPr>
              <a:t>es </a:t>
            </a:r>
            <a:r>
              <a:rPr b="0" lang="en-US" sz="2000" spc="-1" strike="noStrike">
                <a:latin typeface="Arial"/>
              </a:rPr>
              <a:t>previas: </a:t>
            </a:r>
            <a:r>
              <a:rPr b="0" lang="en-US" sz="2000" spc="-1" strike="noStrike">
                <a:latin typeface="Arial"/>
              </a:rPr>
              <a:t>usar </a:t>
            </a:r>
            <a:r>
              <a:rPr b="0" lang="en-US" sz="2000" spc="-1" strike="noStrike">
                <a:latin typeface="Arial"/>
              </a:rPr>
              <a:t>OPTION </a:t>
            </a:r>
            <a:r>
              <a:rPr b="0" lang="en-US" sz="2000" spc="-1" strike="noStrike">
                <a:latin typeface="Arial"/>
              </a:rPr>
              <a:t>(RECOM</a:t>
            </a:r>
            <a:r>
              <a:rPr b="0" lang="en-US" sz="2000" spc="-1" strike="noStrike">
                <a:latin typeface="Arial"/>
              </a:rPr>
              <a:t>PILE) si </a:t>
            </a:r>
            <a:r>
              <a:rPr b="0" lang="en-US" sz="2000" spc="-1" strike="noStrike">
                <a:latin typeface="Arial"/>
              </a:rPr>
              <a:t>hay </a:t>
            </a:r>
            <a:r>
              <a:rPr b="0" lang="en-US" sz="2000" spc="-1" strike="noStrike">
                <a:latin typeface="Arial"/>
              </a:rPr>
              <a:t>dudas </a:t>
            </a:r>
            <a:r>
              <a:rPr b="0" lang="en-US" sz="2000" spc="-1" strike="noStrike">
                <a:latin typeface="Arial"/>
              </a:rPr>
              <a:t>con </a:t>
            </a:r>
            <a:r>
              <a:rPr b="0" lang="en-US" sz="2000" spc="-1" strike="noStrike">
                <a:latin typeface="Arial"/>
              </a:rPr>
              <a:t>parametri</a:t>
            </a:r>
            <a:r>
              <a:rPr b="0" lang="en-US" sz="2000" spc="-1" strike="noStrike">
                <a:latin typeface="Arial"/>
              </a:rPr>
              <a:t>zación.</a:t>
            </a:r>
            <a:endParaRPr b="0" lang="es-ES" sz="2000" spc="-1" strike="noStrike">
              <a:latin typeface="Arial"/>
            </a:endParaRPr>
          </a:p>
          <a:p>
            <a:pPr marL="216000" indent="-215640">
              <a:lnSpc>
                <a:spcPct val="100000"/>
              </a:lnSpc>
              <a:tabLst>
                <a:tab algn="l" pos="0"/>
              </a:tabLst>
            </a:pPr>
            <a:r>
              <a:rPr b="0" lang="en-US" sz="2000" spc="-1" strike="noStrike">
                <a:latin typeface="Arial"/>
              </a:rPr>
              <a:t>- GUÍA DE </a:t>
            </a:r>
            <a:r>
              <a:rPr b="0" lang="en-US" sz="2000" spc="-1" strike="noStrike">
                <a:latin typeface="Arial"/>
              </a:rPr>
              <a:t>RESOLU</a:t>
            </a:r>
            <a:r>
              <a:rPr b="0" lang="en-US" sz="2000" spc="-1" strike="noStrike">
                <a:latin typeface="Arial"/>
              </a:rPr>
              <a:t>CIÓN: si </a:t>
            </a:r>
            <a:r>
              <a:rPr b="0" lang="en-US" sz="2000" spc="-1" strike="noStrike">
                <a:latin typeface="Arial"/>
              </a:rPr>
              <a:t>B no </a:t>
            </a:r>
            <a:r>
              <a:rPr b="0" lang="en-US" sz="2000" spc="-1" strike="noStrike">
                <a:latin typeface="Arial"/>
              </a:rPr>
              <a:t>hace </a:t>
            </a:r>
            <a:r>
              <a:rPr b="0" lang="en-US" sz="2000" spc="-1" strike="noStrike">
                <a:latin typeface="Arial"/>
              </a:rPr>
              <a:t>Seek, </a:t>
            </a:r>
            <a:r>
              <a:rPr b="0" lang="en-US" sz="2000" spc="-1" strike="noStrike">
                <a:latin typeface="Arial"/>
              </a:rPr>
              <a:t>comproba</a:t>
            </a:r>
            <a:r>
              <a:rPr b="0" lang="en-US" sz="2000" spc="-1" strike="noStrike">
                <a:latin typeface="Arial"/>
              </a:rPr>
              <a:t>r que el </a:t>
            </a:r>
            <a:r>
              <a:rPr b="0" lang="en-US" sz="2000" spc="-1" strike="noStrike">
                <a:latin typeface="Arial"/>
              </a:rPr>
              <a:t>índice </a:t>
            </a:r>
            <a:r>
              <a:rPr b="0" lang="en-US" sz="2000" spc="-1" strike="noStrike">
                <a:latin typeface="Arial"/>
              </a:rPr>
              <a:t>IX_Pedid</a:t>
            </a:r>
            <a:r>
              <a:rPr b="0" lang="en-US" sz="2000" spc="-1" strike="noStrike">
                <a:latin typeface="Arial"/>
              </a:rPr>
              <a:t>o_Fecha </a:t>
            </a:r>
            <a:r>
              <a:rPr b="0" lang="en-US" sz="2000" spc="-1" strike="noStrike">
                <a:latin typeface="Arial"/>
              </a:rPr>
              <a:t>existe </a:t>
            </a:r>
            <a:r>
              <a:rPr b="0" lang="en-US" sz="2000" spc="-1" strike="noStrike">
                <a:latin typeface="Arial"/>
              </a:rPr>
              <a:t>(sys.inde</a:t>
            </a:r>
            <a:r>
              <a:rPr b="0" lang="en-US" sz="2000" spc="-1" strike="noStrike">
                <a:latin typeface="Arial"/>
              </a:rPr>
              <a:t>xes) y </a:t>
            </a:r>
            <a:r>
              <a:rPr b="0" lang="en-US" sz="2000" spc="-1" strike="noStrike">
                <a:latin typeface="Arial"/>
              </a:rPr>
              <a:t>que se ha </a:t>
            </a:r>
            <a:r>
              <a:rPr b="0" lang="en-US" sz="2000" spc="-1" strike="noStrike">
                <a:latin typeface="Arial"/>
              </a:rPr>
              <a:t>ejecutado </a:t>
            </a:r>
            <a:r>
              <a:rPr b="0" lang="en-US" sz="2000" spc="-1" strike="noStrike">
                <a:latin typeface="Arial"/>
              </a:rPr>
              <a:t>en la </a:t>
            </a:r>
            <a:r>
              <a:rPr b="0" lang="en-US" sz="2000" spc="-1" strike="noStrike">
                <a:latin typeface="Arial"/>
              </a:rPr>
              <a:t>base </a:t>
            </a:r>
            <a:r>
              <a:rPr b="0" lang="en-US" sz="2000" spc="-1" strike="noStrike">
                <a:latin typeface="Arial"/>
              </a:rPr>
              <a:t>Ventas; si </a:t>
            </a:r>
            <a:r>
              <a:rPr b="0" lang="en-US" sz="2000" spc="-1" strike="noStrike">
                <a:latin typeface="Arial"/>
              </a:rPr>
              <a:t>hay </a:t>
            </a:r>
            <a:r>
              <a:rPr b="0" lang="en-US" sz="2000" spc="-1" strike="noStrike">
                <a:latin typeface="Arial"/>
              </a:rPr>
              <a:t>desviació</a:t>
            </a:r>
            <a:r>
              <a:rPr b="0" lang="en-US" sz="2000" spc="-1" strike="noStrike">
                <a:latin typeface="Arial"/>
              </a:rPr>
              <a:t>n de </a:t>
            </a:r>
            <a:r>
              <a:rPr b="0" lang="en-US" sz="2000" spc="-1" strike="noStrike">
                <a:latin typeface="Arial"/>
              </a:rPr>
              <a:t>estimacio</a:t>
            </a:r>
            <a:r>
              <a:rPr b="0" lang="en-US" sz="2000" spc="-1" strike="noStrike">
                <a:latin typeface="Arial"/>
              </a:rPr>
              <a:t>nes, </a:t>
            </a:r>
            <a:r>
              <a:rPr b="0" lang="en-US" sz="2000" spc="-1" strike="noStrike">
                <a:latin typeface="Arial"/>
              </a:rPr>
              <a:t>UPDATE </a:t>
            </a:r>
            <a:r>
              <a:rPr b="0" lang="en-US" sz="2000" spc="-1" strike="noStrike">
                <a:latin typeface="Arial"/>
              </a:rPr>
              <a:t>STATISTI</a:t>
            </a:r>
            <a:r>
              <a:rPr b="0" lang="en-US" sz="2000" spc="-1" strike="noStrike">
                <a:latin typeface="Arial"/>
              </a:rPr>
              <a:t>CS </a:t>
            </a:r>
            <a:r>
              <a:rPr b="0" lang="en-US" sz="2000" spc="-1" strike="noStrike">
                <a:latin typeface="Arial"/>
              </a:rPr>
              <a:t>dbo.Pedid</a:t>
            </a:r>
            <a:r>
              <a:rPr b="0" lang="en-US" sz="2000" spc="-1" strike="noStrike">
                <a:latin typeface="Arial"/>
              </a:rPr>
              <a:t>o WITH </a:t>
            </a:r>
            <a:r>
              <a:rPr b="0" lang="en-US" sz="2000" spc="-1" strike="noStrike">
                <a:latin typeface="Arial"/>
              </a:rPr>
              <a:t>FULLSCA</a:t>
            </a:r>
            <a:r>
              <a:rPr b="0" lang="en-US" sz="2000" spc="-1" strike="noStrike">
                <a:latin typeface="Arial"/>
              </a:rPr>
              <a:t>N y </a:t>
            </a:r>
            <a:r>
              <a:rPr b="0" lang="en-US" sz="2000" spc="-1" strike="noStrike">
                <a:latin typeface="Arial"/>
              </a:rPr>
              <a:t>repetir.</a:t>
            </a:r>
            <a:endParaRPr b="0" lang="es-ES" sz="2000" spc="-1" strike="noStrike">
              <a:latin typeface="Arial"/>
            </a:endParaRPr>
          </a:p>
        </p:txBody>
      </p:sp>
      <p:sp>
        <p:nvSpPr>
          <p:cNvPr id="219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F2C764F-6F2F-4F85-A8E5-B985253B01E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0" name="PlaceHolder 1"/>
          <p:cNvSpPr>
            <a:spLocks noGrp="1"/>
          </p:cNvSpPr>
          <p:nvPr>
            <p:ph type="sldImg"/>
          </p:nvPr>
        </p:nvSpPr>
        <p:spPr>
          <a:xfrm>
            <a:off x="685800" y="1143000"/>
            <a:ext cx="5485680" cy="3085560"/>
          </a:xfrm>
          <a:prstGeom prst="rect">
            <a:avLst/>
          </a:prstGeom>
        </p:spPr>
      </p:sp>
      <p:sp>
        <p:nvSpPr>
          <p:cNvPr id="220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bloqueo controlado y localizarlo con DMVs (sys.dm_exec_requests, sys.dm_os_waiting_tasks, sys.dm_os_wait_stats), identificando al head blocker y resolviendo la incidencia.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Duración orientativa: 30 minutos. Se necesitan tres pestañas de consulta en SSMS (tres sesiones) contra la base Ventas.</a:t>
            </a:r>
            <a:endParaRPr b="0" lang="es-ES" sz="2000" spc="-1" strike="noStrike">
              <a:latin typeface="Arial"/>
            </a:endParaRPr>
          </a:p>
          <a:p>
            <a:pPr marL="216000" indent="-216000">
              <a:lnSpc>
                <a:spcPct val="100000"/>
              </a:lnSpc>
            </a:pPr>
            <a:r>
              <a:rPr b="0" lang="en-US" sz="2000" spc="-1" strike="noStrike">
                <a:latin typeface="Arial"/>
              </a:rPr>
              <a:t>- Narrativa: "la aplicación se queda colgada". Un desarrollador dejó una transacción abierta (Sesión 1); otra consulta (Sesión 2) queda bloqueada con LCK_M_S. La Sesión 3 es la del DBA que investiga solo con DMVs.</a:t>
            </a:r>
            <a:endParaRPr b="0" lang="es-ES" sz="2000" spc="-1" strike="noStrike">
              <a:latin typeface="Arial"/>
            </a:endParaRPr>
          </a:p>
          <a:p>
            <a:pPr marL="216000" indent="-216000">
              <a:lnSpc>
                <a:spcPct val="100000"/>
              </a:lnSpc>
            </a:pPr>
            <a:r>
              <a:rPr b="0" lang="en-US" sz="2000" spc="-1" strike="noStrike">
                <a:latin typeface="Arial"/>
              </a:rPr>
              <a:t>- Conceptos reforzados: blocking_session_id, wait_type LCK_M_*, head blocker, dm_os_waiting_tasks vs dm_exec_requests, y la lectura de dm_os_wait_stats antes/después.</a:t>
            </a:r>
            <a:endParaRPr b="0" lang="es-ES" sz="2000" spc="-1" strike="noStrike">
              <a:latin typeface="Arial"/>
            </a:endParaRPr>
          </a:p>
          <a:p>
            <a:pPr marL="216000" indent="-216000">
              <a:lnSpc>
                <a:spcPct val="100000"/>
              </a:lnSpc>
            </a:pPr>
            <a:r>
              <a:rPr b="0" lang="en-US" sz="2000" spc="-1" strike="noStrike">
                <a:latin typeface="Arial"/>
              </a:rPr>
              <a:t>- Cuando acabe el laboratorio, es el momento de mencionar READ_COMMITTED_SNAPSHOT (RCSI) como mitigación de bloqueos lector-escritor y de mantener transacciones cortas en la aplicación.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distinguiríais entre una consulta lenta por CPU y una lenta por bloqueo mirando únicamente sys.dm_exec_requests?</a:t>
            </a:r>
            <a:endParaRPr b="0" lang="es-ES" sz="2000" spc="-1" strike="noStrike">
              <a:latin typeface="Arial"/>
            </a:endParaRPr>
          </a:p>
          <a:p>
            <a:pPr marL="216000" indent="-216000">
              <a:lnSpc>
                <a:spcPct val="100000"/>
              </a:lnSpc>
            </a:pPr>
            <a:r>
              <a:rPr b="0" lang="en-US" sz="2000" spc="-1" strike="noStrike">
                <a:latin typeface="Arial"/>
              </a:rPr>
              <a:t>- ¿Es razonable ejecutar KILL sobre el head blocker en producción? ¿Qué información necesitáis antes?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 SESIÓN 1 (pestaña 1): USE Ventas; BEGIN TRAN; UPDATE dbo.Cliente SET Activo = 0 WHERE ClienteId = 1; (no ejecutar COMMIT). Anotar el SPID con SELECT @@SPID;</a:t>
            </a:r>
            <a:endParaRPr b="0" lang="es-ES" sz="2000" spc="-1" strike="noStrike">
              <a:latin typeface="Arial"/>
            </a:endParaRPr>
          </a:p>
          <a:p>
            <a:pPr marL="216000" indent="-216000">
              <a:lnSpc>
                <a:spcPct val="100000"/>
              </a:lnSpc>
            </a:pPr>
            <a:r>
              <a:rPr b="0" lang="en-US" sz="2000" spc="-1" strike="noStrike">
                <a:latin typeface="Arial"/>
              </a:rPr>
              <a:t>- PASO 2 · SESIÓN 2 (pestaña 2): USE Ventas; SELECT Nombre FROM dbo.Cliente WHERE ClienteId = 1; La consulta queda "Ejecutando…" sin devolver resultados (bloqueada por LCK_M_S).</a:t>
            </a:r>
            <a:endParaRPr b="0" lang="es-ES" sz="2000" spc="-1" strike="noStrike">
              <a:latin typeface="Arial"/>
            </a:endParaRPr>
          </a:p>
          <a:p>
            <a:pPr marL="216000" indent="-216000">
              <a:lnSpc>
                <a:spcPct val="100000"/>
              </a:lnSpc>
            </a:pPr>
            <a:r>
              <a:rPr b="0" lang="en-US" sz="2000" spc="-1" strike="noStrike">
                <a:latin typeface="Arial"/>
              </a:rPr>
              <a:t>-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a:t>
            </a:r>
            <a:endParaRPr b="0" lang="es-ES" sz="2000" spc="-1" strike="noStrike">
              <a:latin typeface="Arial"/>
            </a:endParaRPr>
          </a:p>
          <a:p>
            <a:pPr marL="216000" indent="-216000">
              <a:lnSpc>
                <a:spcPct val="100000"/>
              </a:lnSpc>
            </a:pPr>
            <a:r>
              <a:rPr b="0" lang="en-US" sz="2000" spc="-1" strike="noStrike">
                <a:latin typeface="Arial"/>
              </a:rPr>
              <a:t>-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a:t>
            </a:r>
            <a:endParaRPr b="0" lang="es-ES" sz="2000" spc="-1" strike="noStrike">
              <a:latin typeface="Arial"/>
            </a:endParaRPr>
          </a:p>
          <a:p>
            <a:pPr marL="216000" indent="-216000">
              <a:lnSpc>
                <a:spcPct val="100000"/>
              </a:lnSpc>
            </a:pPr>
            <a:r>
              <a:rPr b="0" lang="en-US" sz="2000" spc="-1" strike="noStrike">
                <a:latin typeface="Arial"/>
              </a:rPr>
              <a:t>- PASO 5 · Resolver: en la Sesión 1 ejecutar ROLLBACK; (o KILL &lt;spid&gt; desde la sesión 3 en un caso real tras confirmar con el responsable). La Sesión 2 se completa.</a:t>
            </a:r>
            <a:endParaRPr b="0" lang="es-ES" sz="2000" spc="-1" strike="noStrike">
              <a:latin typeface="Arial"/>
            </a:endParaRPr>
          </a:p>
          <a:p>
            <a:pPr marL="216000" indent="-216000">
              <a:lnSpc>
                <a:spcPct val="100000"/>
              </a:lnSpc>
            </a:pPr>
            <a:r>
              <a:rPr b="0" lang="en-US" sz="2000" spc="-1" strike="noStrike">
                <a:latin typeface="Arial"/>
              </a:rPr>
              <a:t>- PASO 6 · Revisar esperas acumuladas: SELECT TOP (5) wait_type, wait_time_ms FROM sys.dm_os_wait_stats ORDER BY wait_time_ms DESC; y comentar que LCK_M_S de este experimento es insignificante frente a las esperas del sistema; por eso se necesitan dos snapshots.</a:t>
            </a:r>
            <a:endParaRPr b="0" lang="es-ES" sz="2000" spc="-1" strike="noStrike">
              <a:latin typeface="Arial"/>
            </a:endParaRPr>
          </a:p>
          <a:p>
            <a:pPr marL="216000" indent="-216000">
              <a:lnSpc>
                <a:spcPct val="100000"/>
              </a:lnSpc>
            </a:pPr>
            <a:r>
              <a:rPr b="0" lang="en-US" sz="2000" spc="-1" strike="noStrike">
                <a:latin typeface="Arial"/>
              </a:rPr>
              <a:t>-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no ves bloqueo, repetir con SET TRANSACTION ISOLATION LEVEL READ COMMITTED en la sesión 2 o actualizar la misma fila; para ver también las transacciones abiertas usar DBCC OPENTRAN o sys.dm_tran_active_transactions.</a:t>
            </a:r>
            <a:endParaRPr b="0" lang="es-ES" sz="2000" spc="-1" strike="noStrike">
              <a:latin typeface="Arial"/>
            </a:endParaRPr>
          </a:p>
        </p:txBody>
      </p:sp>
      <p:sp>
        <p:nvSpPr>
          <p:cNvPr id="220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58AD79D-1A3B-47B5-9E75-A96B3C1B2AC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PlaceHolder 1"/>
          <p:cNvSpPr>
            <a:spLocks noGrp="1"/>
          </p:cNvSpPr>
          <p:nvPr>
            <p:ph type="sldImg"/>
          </p:nvPr>
        </p:nvSpPr>
        <p:spPr>
          <a:xfrm>
            <a:off x="685800" y="1143000"/>
            <a:ext cx="5485680" cy="3085560"/>
          </a:xfrm>
          <a:prstGeom prst="rect">
            <a:avLst/>
          </a:prstGeom>
        </p:spPr>
      </p:sp>
      <p:sp>
        <p:nvSpPr>
          <p:cNvPr id="220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los cuatro mensajes del módulo (diseño de índices, diagnóstico, mantenimiento y HA/DR) y repasar los errores más frecuentes antes de pasar al Módulo 4.</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Recapitular con el ciclo: medir → hipótesis → cambio → volver a medir. Cada herramienta del módulo (plan real, STATISTICS IO/TIME, DMVs, Query Store) sirve a una de esas fases.</a:t>
            </a:r>
            <a:endParaRPr b="0" lang="es-ES" sz="2000" spc="-1" strike="noStrike">
              <a:latin typeface="Arial"/>
            </a:endParaRPr>
          </a:p>
          <a:p>
            <a:pPr marL="216000" indent="-216000">
              <a:lnSpc>
                <a:spcPct val="100000"/>
              </a:lnSpc>
            </a:pPr>
            <a:r>
              <a:rPr b="0" lang="en-US" sz="2000" spc="-1" strike="noStrike">
                <a:latin typeface="Arial"/>
              </a:rPr>
              <a:t>- Índices: un Clustered Index estrecho, único, estático y creciente; NCI diseñados para las consultas críticas, con la clave en orden igualdad → rango y columnas de lectura en INCLUDE; revisar user_updates frente a user_seeks para eliminar índices inútiles.</a:t>
            </a:r>
            <a:endParaRPr b="0" lang="es-ES" sz="2000" spc="-1" strike="noStrike">
              <a:latin typeface="Arial"/>
            </a:endParaRPr>
          </a:p>
          <a:p>
            <a:pPr marL="216000" indent="-216000">
              <a:lnSpc>
                <a:spcPct val="100000"/>
              </a:lnSpc>
            </a:pPr>
            <a:r>
              <a:rPr b="0" lang="en-US" sz="2000" spc="-1" strike="noStrike">
                <a:latin typeface="Arial"/>
              </a:rPr>
              <a:t>-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a:t>
            </a:r>
            <a:endParaRPr b="0" lang="es-ES" sz="2000" spc="-1" strike="noStrike">
              <a:latin typeface="Arial"/>
            </a:endParaRPr>
          </a:p>
          <a:p>
            <a:pPr marL="216000" indent="-216000">
              <a:lnSpc>
                <a:spcPct val="100000"/>
              </a:lnSpc>
            </a:pPr>
            <a:r>
              <a:rPr b="0" lang="en-US" sz="2000" spc="-1" strike="noStrike">
                <a:latin typeface="Arial"/>
              </a:rPr>
              <a:t>- Mantenimiento: sys.dm_db_index_physical_stats en modo LIMITED, reorganizar entre 5 y 30 %, reconstruir por encima de 30 % en índices de más de ~1000 páginas; mantener estadísticas actualizadas (el REBUILD ya lo hace con FULLSCAN; tras REORGANIZE, actualizarlas aparte).</a:t>
            </a:r>
            <a:endParaRPr b="0" lang="es-ES" sz="2000" spc="-1" strike="noStrike">
              <a:latin typeface="Arial"/>
            </a:endParaRPr>
          </a:p>
          <a:p>
            <a:pPr marL="216000" indent="-216000">
              <a:lnSpc>
                <a:spcPct val="100000"/>
              </a:lnSpc>
            </a:pPr>
            <a:r>
              <a:rPr b="0" lang="en-US" sz="2000" spc="-1" strike="noStrike">
                <a:latin typeface="Arial"/>
              </a:rPr>
              <a:t>- HA/DR: empezar siempre por RTO y RPO acordados con el negocio; Log Shipping (simple, manual), FCI (instancia, almacenamiento compartido), AG (base de datos, réplicas síncronas/asíncronas) y recordar que ninguna sustituye a los backups (Módulo 4).</a:t>
            </a:r>
            <a:endParaRPr b="0" lang="es-ES" sz="2000" spc="-1" strike="noStrike">
              <a:latin typeface="Arial"/>
            </a:endParaRPr>
          </a:p>
          <a:p>
            <a:pPr marL="216000" indent="-216000">
              <a:lnSpc>
                <a:spcPct val="100000"/>
              </a:lnSpc>
            </a:pPr>
            <a:r>
              <a:rPr b="0" lang="en-US" sz="2000" spc="-1" strike="noStrike">
                <a:latin typeface="Arial"/>
              </a:rPr>
              <a:t>- Transición: en el Módulo 4 se automatiza el mantenimiento de índices y estadísticas, se diseña la estrategia de backups y restauración, y se practican incidencias reales (LDF lleno, tempdb, deadlocks).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cambio de este módulo aplicaríais primero mañana en vuestro entorno real y cómo mediríais que ha funcionado?</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"alta disponibilidad" y "copia de seguridad" tras lo visto? Comparad con la respuesta de inicio del módulo.</a:t>
            </a:r>
            <a:endParaRPr b="0" lang="es-ES" sz="2000" spc="-1" strike="noStrike">
              <a:latin typeface="Arial"/>
            </a:endParaRPr>
          </a:p>
        </p:txBody>
      </p:sp>
      <p:sp>
        <p:nvSpPr>
          <p:cNvPr id="220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95913DF-5F5B-4553-A701-756CD21FAF1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6" name="PlaceHolder 1"/>
          <p:cNvSpPr>
            <a:spLocks noGrp="1"/>
          </p:cNvSpPr>
          <p:nvPr>
            <p:ph type="sldImg"/>
          </p:nvPr>
        </p:nvSpPr>
        <p:spPr>
          <a:xfrm>
            <a:off x="685800" y="1143000"/>
            <a:ext cx="5485680" cy="3085560"/>
          </a:xfrm>
          <a:prstGeom prst="rect">
            <a:avLst/>
          </a:prstGeom>
        </p:spPr>
      </p:sp>
      <p:sp>
        <p:nvSpPr>
          <p:cNvPr id="220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Situar al alumnado en el último bloque del curso: pasar de «saber crear y consultar» a «saber proteger, mantener y recuperar» una instancia en producción.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Este módulo es el que separa a un desarrollador con conocimientos de SQL Server de un DBA: aquí se juega la continuidad del negocio. Todo lo anterior (arquitectura, seguridad, índices, HA) converge en una pregunta: ¿qué ocurre cuando algo falla a las 3 de la madrugada?</a:t>
            </a:r>
            <a:endParaRPr b="0" lang="es-ES" sz="2000" spc="-1" strike="noStrike">
              <a:latin typeface="Arial"/>
            </a:endParaRPr>
          </a:p>
          <a:p>
            <a:pPr marL="216000" indent="-216000">
              <a:lnSpc>
                <a:spcPct val="100000"/>
              </a:lnSpc>
            </a:pPr>
            <a:r>
              <a:rPr b="0" lang="en-US" sz="2000" spc="-1" strike="noStrike">
                <a:latin typeface="Arial"/>
              </a:rPr>
              <a:t>-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a:t>
            </a:r>
            <a:endParaRPr b="0" lang="es-ES" sz="2000" spc="-1" strike="noStrike">
              <a:latin typeface="Arial"/>
            </a:endParaRPr>
          </a:p>
          <a:p>
            <a:pPr marL="216000" indent="-216000">
              <a:lnSpc>
                <a:spcPct val="100000"/>
              </a:lnSpc>
            </a:pPr>
            <a:r>
              <a:rPr b="0" lang="en-US" sz="2000" spc="-1" strike="noStrike">
                <a:latin typeface="Arial"/>
              </a:rPr>
              <a:t>- Cerraremos con el Laboratorio 4 (pérdida de datos simulada y recuperación a un instante exacto) y un caso integrador que evalúa todo el curso: seguridad, índices, backups y RPO/RTO.</a:t>
            </a:r>
            <a:endParaRPr b="0" lang="es-ES" sz="2000" spc="-1" strike="noStrike">
              <a:latin typeface="Arial"/>
            </a:endParaRPr>
          </a:p>
          <a:p>
            <a:pPr marL="216000" indent="-216000">
              <a:lnSpc>
                <a:spcPct val="100000"/>
              </a:lnSpc>
            </a:pPr>
            <a:r>
              <a:rPr b="0" lang="en-US" sz="2000" spc="-1" strike="noStrike">
                <a:latin typeface="Arial"/>
              </a:rPr>
              <a:t>- Recordar el hilo conductor: el Transaction Log (WAL) que vimos en el Módulo 1 es la pieza que hace posible la durabilidad (la «D» de ACID), el crash recovery y la restauración a un punto en el tiempo. Casi todo lo de este módulo es una consecuencia del WAL.</a:t>
            </a:r>
            <a:endParaRPr b="0" lang="es-ES" sz="2000" spc="-1" strike="noStrike">
              <a:latin typeface="Arial"/>
            </a:endParaRPr>
          </a:p>
          <a:p>
            <a:pPr marL="216000" indent="-216000">
              <a:lnSpc>
                <a:spcPct val="100000"/>
              </a:lnSpc>
            </a:pPr>
            <a:r>
              <a:rPr b="0" lang="en-US" sz="2000" spc="-1" strike="noStrike">
                <a:latin typeface="Arial"/>
              </a:rPr>
              <a:t>- Tiempo orientativo: 5 h (teoría ~2,5 h, laboratorio 4 ~1,5 h, caso integrador ~1 h). Si el grupo va justo de tiempo, la diapositiva de mantenimiento de índices puede darse como lectura y recuperarse en el caso final.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¿Quién ha sufrido alguna vez una pérdida de datos o ha tenido que restaurar una base de datos? ¿Qué falló: el backup, el proceso o la comunicación?</a:t>
            </a:r>
            <a:endParaRPr b="0" lang="es-ES" sz="2000" spc="-1" strike="noStrike">
              <a:latin typeface="Arial"/>
            </a:endParaRPr>
          </a:p>
          <a:p>
            <a:pPr marL="216000" indent="-215640">
              <a:lnSpc>
                <a:spcPct val="100000"/>
              </a:lnSpc>
              <a:tabLst>
                <a:tab algn="l" pos="0"/>
              </a:tabLst>
            </a:pPr>
            <a:r>
              <a:rPr b="0" lang="en-US" sz="2000" spc="-1" strike="noStrike">
                <a:latin typeface="Arial"/>
              </a:rPr>
              <a:t>- ¿Cuál es el backup más importante: el que se hace o el que se ha probado restaurar?</a:t>
            </a:r>
            <a:endParaRPr b="0" lang="es-ES" sz="2000" spc="-1" strike="noStrike">
              <a:latin typeface="Arial"/>
            </a:endParaRPr>
          </a:p>
        </p:txBody>
      </p:sp>
      <p:sp>
        <p:nvSpPr>
          <p:cNvPr id="220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F35FAF13-EA62-4ED2-9F2B-0EDD7C3D5E80}"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9" name="PlaceHolder 1"/>
          <p:cNvSpPr>
            <a:spLocks noGrp="1"/>
          </p:cNvSpPr>
          <p:nvPr>
            <p:ph type="sldImg"/>
          </p:nvPr>
        </p:nvSpPr>
        <p:spPr>
          <a:xfrm>
            <a:off x="685800" y="1143000"/>
            <a:ext cx="5485680" cy="3085560"/>
          </a:xfrm>
          <a:prstGeom prst="rect">
            <a:avLst/>
          </a:prstGeom>
        </p:spPr>
      </p:sp>
      <p:sp>
        <p:nvSpPr>
          <p:cNvPr id="221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Entender que el recovery model no cambia lo que se registra para el crash recovery, sino cuándo se puede truncar el log y hasta qué punto se puede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Recovery model Simple: el log se sigue usando (rollback y crash recovery) pero se trunca automáticamente en cada checkpoint cuando no hay otro motivo de retención. No existe BACKUP LOG y sólo se puede restaurar al último Full o Diferencial: RPO = tiempo desde el último backup.</a:t>
            </a:r>
            <a:endParaRPr b="0" lang="es-ES" sz="2000" spc="-1" strike="noStrike">
              <a:latin typeface="Arial"/>
            </a:endParaRPr>
          </a:p>
          <a:p>
            <a:pPr marL="216000" indent="-216000">
              <a:lnSpc>
                <a:spcPct val="100000"/>
              </a:lnSpc>
            </a:pPr>
            <a:r>
              <a:rPr b="0" lang="en-US" sz="2000" spc="-1" strike="noStrike">
                <a:latin typeface="Arial"/>
              </a:rPr>
              <a:t>-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a:t>
            </a:r>
            <a:endParaRPr b="0" lang="es-ES" sz="2000" spc="-1" strike="noStrike">
              <a:latin typeface="Arial"/>
            </a:endParaRPr>
          </a:p>
          <a:p>
            <a:pPr marL="216000" indent="-216000">
              <a:lnSpc>
                <a:spcPct val="100000"/>
              </a:lnSpc>
            </a:pPr>
            <a:r>
              <a:rPr b="0" lang="en-US" sz="2000" spc="-1" strike="noStrike">
                <a:latin typeface="Arial"/>
              </a:rPr>
              <a:t>-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a:t>
            </a:r>
            <a:endParaRPr b="0" lang="es-ES" sz="2000" spc="-1" strike="noStrike">
              <a:latin typeface="Arial"/>
            </a:endParaRPr>
          </a:p>
          <a:p>
            <a:pPr marL="216000" indent="-216000">
              <a:lnSpc>
                <a:spcPct val="100000"/>
              </a:lnSpc>
            </a:pPr>
            <a:r>
              <a:rPr b="0" lang="en-US" sz="2000" spc="-1" strike="noStrike">
                <a:latin typeface="Arial"/>
              </a:rPr>
              <a:t>-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a:t>
            </a:r>
            <a:endParaRPr b="0" lang="es-ES" sz="2000" spc="-1" strike="noStrike">
              <a:latin typeface="Arial"/>
            </a:endParaRPr>
          </a:p>
          <a:p>
            <a:pPr marL="216000" indent="-216000">
              <a:lnSpc>
                <a:spcPct val="100000"/>
              </a:lnSpc>
            </a:pPr>
            <a:r>
              <a:rPr b="0" lang="en-US" sz="2000" spc="-1" strike="noStrike">
                <a:latin typeface="Arial"/>
              </a:rPr>
              <a:t>- Cambiar de modelo: ALTER DATABASE Ventas SET RECOVERY FULL. De Simple a Full hay que tomar un Full (o Diferencial) para iniciar la cadena. De Full a Simple se rompe la log chain: tras volver a Full, nuevo Full obligatorio.</a:t>
            </a:r>
            <a:endParaRPr b="0" lang="es-ES" sz="2000" spc="-1" strike="noStrike">
              <a:latin typeface="Arial"/>
            </a:endParaRPr>
          </a:p>
          <a:p>
            <a:pPr marL="216000" indent="-216000">
              <a:lnSpc>
                <a:spcPct val="100000"/>
              </a:lnSpc>
            </a:pPr>
            <a:r>
              <a:rPr b="0" lang="en-US" sz="2000" spc="-1" strike="noStrike">
                <a:latin typeface="Arial"/>
              </a:rPr>
              <a:t>-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Si una base es Simple, ¿cuántos datos puedes perder como máximo si el disco falla justo antes del siguiente backup? ¿Es aceptable para un ERP?</a:t>
            </a:r>
            <a:endParaRPr b="0" lang="es-ES" sz="2000" spc="-1" strike="noStrike">
              <a:latin typeface="Arial"/>
            </a:endParaRPr>
          </a:p>
          <a:p>
            <a:pPr marL="216000" indent="-216000">
              <a:lnSpc>
                <a:spcPct val="100000"/>
              </a:lnSpc>
            </a:pPr>
            <a:r>
              <a:rPr b="0" lang="en-US" sz="2000" spc="-1" strike="noStrike">
                <a:latin typeface="Arial"/>
              </a:rPr>
              <a:t>- ¿Por qué cambiar a Bulk-Logged «sólo un rato» es una decisión con riesgo para el RPO?</a:t>
            </a:r>
            <a:endParaRPr b="0" lang="es-ES" sz="2000" spc="-1" strike="noStrike">
              <a:latin typeface="Arial"/>
            </a:endParaRPr>
          </a:p>
          <a:p>
            <a:pPr marL="216000" indent="-215640">
              <a:lnSpc>
                <a:spcPct val="100000"/>
              </a:lnSpc>
              <a:tabLst>
                <a:tab algn="l" pos="0"/>
              </a:tabLst>
            </a:pPr>
            <a:r>
              <a:rPr b="0" lang="en-US" sz="2000" spc="-1" strike="noStrike">
                <a:latin typeface="Arial"/>
              </a:rPr>
              <a:t>- ¿Qué recovery model elegirías para un entorno de desarrollo y cuál para la base Ventas de producción?</a:t>
            </a:r>
            <a:endParaRPr b="0" lang="es-ES" sz="2000" spc="-1" strike="noStrike">
              <a:latin typeface="Arial"/>
            </a:endParaRPr>
          </a:p>
        </p:txBody>
      </p:sp>
      <p:sp>
        <p:nvSpPr>
          <p:cNvPr id="221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4A773C0-E8D8-4EF4-B837-3DBDBA3B1B6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2" name="PlaceHolder 1"/>
          <p:cNvSpPr>
            <a:spLocks noGrp="1"/>
          </p:cNvSpPr>
          <p:nvPr>
            <p:ph type="sldImg"/>
          </p:nvPr>
        </p:nvSpPr>
        <p:spPr>
          <a:xfrm>
            <a:off x="685800" y="1143000"/>
            <a:ext cx="5485680" cy="3085560"/>
          </a:xfrm>
          <a:prstGeom prst="rect">
            <a:avLst/>
          </a:prstGeom>
        </p:spPr>
      </p:sp>
      <p:sp>
        <p:nvSpPr>
          <p:cNvPr id="221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Diseñar una estrategia de backups que combine los tres tipos para cumplir un RPO y un RTO concretos, y entender la log chain y los LSN.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Full: copia todas las páginas asignadas más la parte activa del log necesaria para dejar la base consistente al terminar. Es la base de cualquier restauración; en el ejemplo, cada domingo a las 22:00.</a:t>
            </a:r>
            <a:endParaRPr b="0" lang="es-ES" sz="2000" spc="-1" strike="noStrike">
              <a:latin typeface="Arial"/>
            </a:endParaRPr>
          </a:p>
          <a:p>
            <a:pPr marL="216000" indent="-216000">
              <a:lnSpc>
                <a:spcPct val="100000"/>
              </a:lnSpc>
            </a:pPr>
            <a:r>
              <a:rPr b="0" lang="en-US" sz="2000" spc="-1" strike="noStrike">
                <a:latin typeface="Arial"/>
              </a:rPr>
              <a:t>-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a:t>
            </a:r>
            <a:endParaRPr b="0" lang="es-ES" sz="2000" spc="-1" strike="noStrike">
              <a:latin typeface="Arial"/>
            </a:endParaRPr>
          </a:p>
          <a:p>
            <a:pPr marL="216000" indent="-216000">
              <a:lnSpc>
                <a:spcPct val="100000"/>
              </a:lnSpc>
            </a:pPr>
            <a:r>
              <a:rPr b="0" lang="en-US" sz="2000" spc="-1" strike="noStrike">
                <a:latin typeface="Arial"/>
              </a:rPr>
              <a:t>- Log backup: copia el log desde el último BACKUP LOG y permite truncar. Cada log backup enlaza con el anterior mediante LSN (el first_lsn de uno es el last_lsn del anterior); esa secuencia ininterrumpida es la log chain. Se rompe al pasar a Simple o si se pierde/borra un .trn.</a:t>
            </a:r>
            <a:endParaRPr b="0" lang="es-ES" sz="2000" spc="-1" strike="noStrike">
              <a:latin typeface="Arial"/>
            </a:endParaRPr>
          </a:p>
          <a:p>
            <a:pPr marL="216000" indent="-216000">
              <a:lnSpc>
                <a:spcPct val="100000"/>
              </a:lnSpc>
            </a:pPr>
            <a:r>
              <a:rPr b="0" lang="en-US" sz="2000" spc="-1" strike="noStrike">
                <a:latin typeface="Arial"/>
              </a:rPr>
              <a:t>-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a:t>
            </a:r>
            <a:endParaRPr b="0" lang="es-ES" sz="2000" spc="-1" strike="noStrike">
              <a:latin typeface="Arial"/>
            </a:endParaRPr>
          </a:p>
          <a:p>
            <a:pPr marL="216000" indent="-216000">
              <a:lnSpc>
                <a:spcPct val="100000"/>
              </a:lnSpc>
            </a:pPr>
            <a:r>
              <a:rPr b="0" lang="en-US" sz="2000" spc="-1" strike="noStrike">
                <a:latin typeface="Arial"/>
              </a:rPr>
              <a:t>- Ejemplo del diagrama: fallo el miércoles a las 10:37. Restauramos el Full del domingo (NORECOVERY), el diferencial del martes (NORECOVERY), los logs del martes 22:15 al miércoles 10:30 (NORECOVERY) y el último con STOPAT 10:36 y RECOVERY. Cualquier log que falte interrumpe la secuencia.</a:t>
            </a:r>
            <a:endParaRPr b="0" lang="es-ES" sz="2000" spc="-1" strike="noStrike">
              <a:latin typeface="Arial"/>
            </a:endParaRPr>
          </a:p>
          <a:p>
            <a:pPr marL="216000" indent="-216000">
              <a:lnSpc>
                <a:spcPct val="100000"/>
              </a:lnSpc>
            </a:pPr>
            <a:r>
              <a:rPr b="0" lang="en-US" sz="2000" spc="-1" strike="noStrike">
                <a:latin typeface="Arial"/>
              </a:rPr>
              <a:t>-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Con un Full semanal, diferencial diario y log cada 15 minutos, ¿cuál es el peor caso de pérdida de datos? ¿Y qué ocurre si falla el disco donde están también los backups?</a:t>
            </a:r>
            <a:endParaRPr b="0" lang="es-ES" sz="2000" spc="-1" strike="noStrike">
              <a:latin typeface="Arial"/>
            </a:endParaRPr>
          </a:p>
          <a:p>
            <a:pPr marL="216000" indent="-216000">
              <a:lnSpc>
                <a:spcPct val="100000"/>
              </a:lnSpc>
            </a:pPr>
            <a:r>
              <a:rPr b="0" lang="en-US" sz="2000" spc="-1" strike="noStrike">
                <a:latin typeface="Arial"/>
              </a:rPr>
              <a:t>- ¿Qué backups hay que restaurar si el fallo ocurre el jueves a las 09:00 y el diferencial del miércoles está corrupto?</a:t>
            </a:r>
            <a:endParaRPr b="0" lang="es-ES" sz="2000" spc="-1" strike="noStrike">
              <a:latin typeface="Arial"/>
            </a:endParaRPr>
          </a:p>
          <a:p>
            <a:pPr marL="216000" indent="-215640">
              <a:lnSpc>
                <a:spcPct val="100000"/>
              </a:lnSpc>
              <a:tabLst>
                <a:tab algn="l" pos="0"/>
              </a:tabLst>
            </a:pPr>
            <a:r>
              <a:rPr b="0" lang="en-US" sz="2000" spc="-1" strike="noStrike">
                <a:latin typeface="Arial"/>
              </a:rPr>
              <a:t>- ¿Cómo equilibrarías RTO y coste de almacenamiento al decidir entre más diferenciales o más logs?</a:t>
            </a:r>
            <a:endParaRPr b="0" lang="es-ES" sz="2000" spc="-1" strike="noStrike">
              <a:latin typeface="Arial"/>
            </a:endParaRPr>
          </a:p>
        </p:txBody>
      </p:sp>
      <p:sp>
        <p:nvSpPr>
          <p:cNvPr id="221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825C1291-F652-4DE2-8C35-87D77D9718E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5" name="PlaceHolder 1"/>
          <p:cNvSpPr>
            <a:spLocks noGrp="1"/>
          </p:cNvSpPr>
          <p:nvPr>
            <p:ph type="sldImg"/>
          </p:nvPr>
        </p:nvSpPr>
        <p:spPr>
          <a:xfrm>
            <a:off x="685800" y="1143000"/>
            <a:ext cx="5485680" cy="3085560"/>
          </a:xfrm>
          <a:prstGeom prst="rect">
            <a:avLst/>
          </a:prstGeom>
        </p:spPr>
      </p:sp>
      <p:sp>
        <p:nvSpPr>
          <p:cNvPr id="221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la sintaxis de BACKUP con las opciones que se usan en producción (COMPRESSION, CHECKSUM, COPY_ONLY, TO URL) y saber por qué se usan.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a:t>
            </a:r>
            <a:endParaRPr b="0" lang="es-ES" sz="2000" spc="-1" strike="noStrike">
              <a:latin typeface="Arial"/>
            </a:endParaRPr>
          </a:p>
          <a:p>
            <a:pPr marL="216000" indent="-216000">
              <a:lnSpc>
                <a:spcPct val="100000"/>
              </a:lnSpc>
            </a:pPr>
            <a:r>
              <a:rPr b="0" lang="en-US" sz="2000" spc="-1" strike="noStrike">
                <a:latin typeface="Arial"/>
              </a:rPr>
              <a:t>-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a:t>
            </a:r>
            <a:endParaRPr b="0" lang="es-ES" sz="2000" spc="-1" strike="noStrike">
              <a:latin typeface="Arial"/>
            </a:endParaRPr>
          </a:p>
          <a:p>
            <a:pPr marL="216000" indent="-216000">
              <a:lnSpc>
                <a:spcPct val="100000"/>
              </a:lnSpc>
            </a:pPr>
            <a:r>
              <a:rPr b="0" lang="en-US" sz="2000" spc="-1" strike="noStrike">
                <a:latin typeface="Arial"/>
              </a:rPr>
              <a:t>- INIT sobrescribe el fichero; sin él se anexan sets al mismo medio (NOINIT). STATS = 10 muestra el avance. Convención de nombres con fecha y hora (Ventas_FULL_20250312_2200.bak) para evitar sobrescrituras y facilitar la limpieza.</a:t>
            </a:r>
            <a:endParaRPr b="0" lang="es-ES" sz="2000" spc="-1" strike="noStrike">
              <a:latin typeface="Arial"/>
            </a:endParaRPr>
          </a:p>
          <a:p>
            <a:pPr marL="216000" indent="-216000">
              <a:lnSpc>
                <a:spcPct val="100000"/>
              </a:lnSpc>
            </a:pPr>
            <a:r>
              <a:rPr b="0" lang="en-US" sz="2000" spc="-1" strike="noStrike">
                <a:latin typeface="Arial"/>
              </a:rPr>
              <a:t>- DIFFERENTIAL: sólo cambios desde el último Full «base». Un BACKUP LOG sólo es posible en Full/Bulk-Logged y tras un primer Full; si la base está en Simple devuelve el error 4208.</a:t>
            </a:r>
            <a:endParaRPr b="0" lang="es-ES" sz="2000" spc="-1" strike="noStrike">
              <a:latin typeface="Arial"/>
            </a:endParaRPr>
          </a:p>
          <a:p>
            <a:pPr marL="216000" indent="-216000">
              <a:lnSpc>
                <a:spcPct val="100000"/>
              </a:lnSpc>
            </a:pPr>
            <a:r>
              <a:rPr b="0" lang="en-US" sz="2000" spc="-1" strike="noStrike">
                <a:latin typeface="Arial"/>
              </a:rPr>
              <a:t>- COPY_ONLY: copia independiente que no actualiza differential_base_lsn ni trunca el log (en BACKUP LOG). Úsalo para extraer copias para desarrollo o auditoría.</a:t>
            </a:r>
            <a:endParaRPr b="0" lang="es-ES" sz="2000" spc="-1" strike="noStrike">
              <a:latin typeface="Arial"/>
            </a:endParaRPr>
          </a:p>
          <a:p>
            <a:pPr marL="216000" indent="-216000">
              <a:lnSpc>
                <a:spcPct val="100000"/>
              </a:lnSpc>
            </a:pPr>
            <a:r>
              <a:rPr b="0" lang="en-US" sz="2000" spc="-1" strike="noStrike">
                <a:latin typeface="Arial"/>
              </a:rPr>
              <a:t>-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a:t>
            </a:r>
            <a:endParaRPr b="0" lang="es-ES" sz="2000" spc="-1" strike="noStrike">
              <a:latin typeface="Arial"/>
            </a:endParaRPr>
          </a:p>
          <a:p>
            <a:pPr marL="216000" indent="-216000">
              <a:lnSpc>
                <a:spcPct val="100000"/>
              </a:lnSpc>
            </a:pPr>
            <a:r>
              <a:rPr b="0" lang="en-US" sz="2000" spc="-1" strike="noStrike">
                <a:latin typeface="Arial"/>
              </a:rPr>
              <a:t>- En Docker/Linux las rutas son /var/opt/mssql/backup/…; el proceso mssql necesita permisos de escritura en esa carpeta (usuario mssql). Un backup en el mismo disco que los datos no es un backup.</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 tiene CHECKSUM frente a lanzar un backup sin verificación de páginas?</a:t>
            </a:r>
            <a:endParaRPr b="0" lang="es-ES" sz="2000" spc="-1" strike="noStrike">
              <a:latin typeface="Arial"/>
            </a:endParaRPr>
          </a:p>
          <a:p>
            <a:pPr marL="216000" indent="-216000">
              <a:lnSpc>
                <a:spcPct val="100000"/>
              </a:lnSpc>
            </a:pPr>
            <a:r>
              <a:rPr b="0" lang="en-US" sz="2000" spc="-1" strike="noStrike">
                <a:latin typeface="Arial"/>
              </a:rPr>
              <a:t>- ¿Cuándo usarías COPY_ONLY y qué se rompería si hicieras ese backup sin la opción?</a:t>
            </a:r>
            <a:endParaRPr b="0" lang="es-ES" sz="2000" spc="-1" strike="noStrike">
              <a:latin typeface="Arial"/>
            </a:endParaRPr>
          </a:p>
          <a:p>
            <a:pPr marL="216000" indent="-215640">
              <a:lnSpc>
                <a:spcPct val="100000"/>
              </a:lnSpc>
              <a:tabLst>
                <a:tab algn="l" pos="0"/>
              </a:tabLst>
            </a:pPr>
            <a:r>
              <a:rPr b="0" lang="en-US" sz="2000" spc="-1" strike="noStrike">
                <a:latin typeface="Arial"/>
              </a:rPr>
              <a:t>- ¿Dónde guardarías los ficheros .bak para cumplir la regla 3-2-1?</a:t>
            </a:r>
            <a:endParaRPr b="0" lang="es-ES" sz="2000" spc="-1" strike="noStrike">
              <a:latin typeface="Arial"/>
            </a:endParaRPr>
          </a:p>
        </p:txBody>
      </p:sp>
      <p:sp>
        <p:nvSpPr>
          <p:cNvPr id="221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FDC6D7E-6935-48B1-B166-D060BC33AD4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8" name="PlaceHolder 1"/>
          <p:cNvSpPr>
            <a:spLocks noGrp="1"/>
          </p:cNvSpPr>
          <p:nvPr>
            <p:ph type="sldImg"/>
          </p:nvPr>
        </p:nvSpPr>
        <p:spPr>
          <a:xfrm>
            <a:off x="685800" y="1143000"/>
            <a:ext cx="5485680" cy="3085560"/>
          </a:xfrm>
          <a:prstGeom prst="rect">
            <a:avLst/>
          </a:prstGeom>
        </p:spPr>
      </p:sp>
      <p:sp>
        <p:nvSpPr>
          <p:cNvPr id="221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Saber salvar la cola del log antes de restaurar, verificar que un backup es legible y consultar el historial de backups en msdb.</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a:t>
            </a:r>
            <a:endParaRPr b="0" lang="es-ES" sz="2000" spc="-1" strike="noStrike">
              <a:latin typeface="Arial"/>
            </a:endParaRPr>
          </a:p>
          <a:p>
            <a:pPr marL="216000" indent="-216000">
              <a:lnSpc>
                <a:spcPct val="100000"/>
              </a:lnSpc>
            </a:pPr>
            <a:r>
              <a:rPr b="0" lang="en-US" sz="2000" spc="-1" strike="noStrike">
                <a:latin typeface="Arial"/>
              </a:rPr>
              <a:t>- Si el LDF también se ha perdido, el tail-log es imposible y el RPO queda en el último log backup. Por eso conviene separar MDF y LDF en discos distintos, y por eso los log backups frecuentes importan más que los Full.</a:t>
            </a:r>
            <a:endParaRPr b="0" lang="es-ES" sz="2000" spc="-1" strike="noStrike">
              <a:latin typeface="Arial"/>
            </a:endParaRPr>
          </a:p>
          <a:p>
            <a:pPr marL="216000" indent="-216000">
              <a:lnSpc>
                <a:spcPct val="100000"/>
              </a:lnSpc>
            </a:pPr>
            <a:r>
              <a:rPr b="0" lang="en-US" sz="2000" spc="-1" strike="noStrike">
                <a:latin typeface="Arial"/>
              </a:rPr>
              <a:t>- RESTORE VERIFYONLY comprueba que el set de backup está completo y es legible (cabecera, checksums si se tomó WITH CHECKSUM). NO restaura datos ni garantiza que la base sea consistente: es una verificación mínima. La prueba real es restaurar en otro servidor y lanzar DBCC CHECKDB.</a:t>
            </a:r>
            <a:endParaRPr b="0" lang="es-ES" sz="2000" spc="-1" strike="noStrike">
              <a:latin typeface="Arial"/>
            </a:endParaRPr>
          </a:p>
          <a:p>
            <a:pPr marL="216000" indent="-216000">
              <a:lnSpc>
                <a:spcPct val="100000"/>
              </a:lnSpc>
            </a:pPr>
            <a:r>
              <a:rPr b="0" lang="en-US" sz="2000" spc="-1" strike="noStrike">
                <a:latin typeface="Arial"/>
              </a:rPr>
              <a:t>-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a:t>
            </a:r>
            <a:endParaRPr b="0" lang="es-ES" sz="2000" spc="-1" strike="noStrike">
              <a:latin typeface="Arial"/>
            </a:endParaRPr>
          </a:p>
          <a:p>
            <a:pPr marL="216000" indent="-216000">
              <a:lnSpc>
                <a:spcPct val="100000"/>
              </a:lnSpc>
            </a:pPr>
            <a:r>
              <a:rPr b="0" lang="en-US" sz="2000" spc="-1" strike="noStrike">
                <a:latin typeface="Arial"/>
              </a:rPr>
              <a:t>- Limpieza: msdb crece con el historial; programar sp_delete_backuphistory @oldest_date (lo veremos en mantenimiento) y vigilar el tamaño de msdb. Alerta: un backup «reciente» en msdb no implica que el fichero exista aún en disco.</a:t>
            </a:r>
            <a:endParaRPr b="0" lang="es-ES" sz="2000" spc="-1" strike="noStrike">
              <a:latin typeface="Arial"/>
            </a:endParaRPr>
          </a:p>
          <a:p>
            <a:pPr marL="216000" indent="-216000">
              <a:lnSpc>
                <a:spcPct val="100000"/>
              </a:lnSpc>
            </a:pPr>
            <a:r>
              <a:rPr b="0" lang="en-US" sz="2000" spc="-1" strike="noStrike">
                <a:latin typeface="Arial"/>
              </a:rPr>
              <a:t>- RESTORE HEADERONLY, RESTORE FILELISTONLY y RESTORE LABELONLY inspeccionan el contenido de un .bak sin restaurarlo; FILELISTONLY es imprescindible para saber qué nombres lógicos usar en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«el backup se ha verificado» y «la base se puede restaurar»?</a:t>
            </a:r>
            <a:endParaRPr b="0" lang="es-ES" sz="2000" spc="-1" strike="noStrike">
              <a:latin typeface="Arial"/>
            </a:endParaRPr>
          </a:p>
          <a:p>
            <a:pPr marL="216000" indent="-216000">
              <a:lnSpc>
                <a:spcPct val="100000"/>
              </a:lnSpc>
            </a:pPr>
            <a:r>
              <a:rPr b="0" lang="en-US" sz="2000" spc="-1" strike="noStrike">
                <a:latin typeface="Arial"/>
              </a:rPr>
              <a:t>- ¿Qué haces si el servidor ha caído, el MDF está corrupto pero el LDF está intacto?</a:t>
            </a:r>
            <a:endParaRPr b="0" lang="es-ES" sz="2000" spc="-1" strike="noStrike">
              <a:latin typeface="Arial"/>
            </a:endParaRPr>
          </a:p>
          <a:p>
            <a:pPr marL="216000" indent="-215640">
              <a:lnSpc>
                <a:spcPct val="100000"/>
              </a:lnSpc>
              <a:tabLst>
                <a:tab algn="l" pos="0"/>
              </a:tabLst>
            </a:pPr>
            <a:r>
              <a:rPr b="0" lang="en-US" sz="2000" spc="-1" strike="noStrike">
                <a:latin typeface="Arial"/>
              </a:rPr>
              <a:t>- ¿Cómo detectarías con una consulta que lleva dos semanas sin hacerse un log backup en alguna base?</a:t>
            </a:r>
            <a:endParaRPr b="0" lang="es-ES" sz="2000" spc="-1" strike="noStrike">
              <a:latin typeface="Arial"/>
            </a:endParaRPr>
          </a:p>
        </p:txBody>
      </p:sp>
      <p:sp>
        <p:nvSpPr>
          <p:cNvPr id="222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63C2F60-DD93-406D-9820-819FA5B6F0A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1" name="PlaceHolder 1"/>
          <p:cNvSpPr>
            <a:spLocks noGrp="1"/>
          </p:cNvSpPr>
          <p:nvPr>
            <p:ph type="sldImg"/>
          </p:nvPr>
        </p:nvSpPr>
        <p:spPr>
          <a:xfrm>
            <a:off x="685800" y="1143000"/>
            <a:ext cx="5485680" cy="3085560"/>
          </a:xfrm>
          <a:prstGeom prst="rect">
            <a:avLst/>
          </a:prstGeom>
        </p:spPr>
      </p:sp>
      <p:sp>
        <p:nvSpPr>
          <p:cNvPr id="222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Ser capaz de escribir y razonar la secuencia completa de RESTORE (Full → Diff → Logs) para volver a un instante concreto, entendiendo NORECOVERY, RECOVERY, STANDBY y MOVE.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Orden estricto: 1) RESTORE DATABASE del Full con NORECOVERY; 2) el último Diferencial con NORECOVERY (opcional pero acelera); 3) todos los RESTORE LOG en orden de LSN con NORECOVERY; 4) el último log con STOPAT y RECOVERY (o sólo RECOVERY si se quiere hasta el final).</a:t>
            </a:r>
            <a:endParaRPr b="0" lang="es-ES" sz="2000" spc="-1" strike="noStrike">
              <a:latin typeface="Arial"/>
            </a:endParaRPr>
          </a:p>
          <a:p>
            <a:pPr marL="216000" indent="-216000">
              <a:lnSpc>
                <a:spcPct val="100000"/>
              </a:lnSpc>
            </a:pPr>
            <a:r>
              <a:rPr b="0" lang="en-US" sz="2000" spc="-1" strike="noStrike">
                <a:latin typeface="Arial"/>
              </a:rPr>
              <a:t>-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a:t>
            </a:r>
            <a:endParaRPr b="0" lang="es-ES" sz="2000" spc="-1" strike="noStrike">
              <a:latin typeface="Arial"/>
            </a:endParaRPr>
          </a:p>
          <a:p>
            <a:pPr marL="216000" indent="-216000">
              <a:lnSpc>
                <a:spcPct val="100000"/>
              </a:lnSpc>
            </a:pPr>
            <a:r>
              <a:rPr b="0" lang="en-US" sz="2000" spc="-1" strike="noStrike">
                <a:latin typeface="Arial"/>
              </a:rPr>
              <a:t>- STOPAT = fecha/hora: el motor reaplica el log hasta ese instante y descarta las transacciones posteriores (la hora es la del servidor, no UTC). Alternativas: STOPATMARK / STOPBEFOREMARK con transacciones marcadas (BEGIN TRAN … WITH MARK) y STOPAT con LSN en 2022.</a:t>
            </a:r>
            <a:endParaRPr b="0" lang="es-ES" sz="2000" spc="-1" strike="noStrike">
              <a:latin typeface="Arial"/>
            </a:endParaRPr>
          </a:p>
          <a:p>
            <a:pPr marL="216000" indent="-216000">
              <a:lnSpc>
                <a:spcPct val="100000"/>
              </a:lnSpc>
            </a:pPr>
            <a:r>
              <a:rPr b="0" lang="en-US" sz="2000" spc="-1" strike="noStrike">
                <a:latin typeface="Arial"/>
              </a:rPr>
              <a:t>- MOVE reubica los ficheros lógicos al restaurar (otro volumen o servidor). Los nombres lógicos se ven con RESTORE FILELISTONLY. En Linux/Docker las rutas son /var/opt/mssql/data/…; si no se usa MOVE, el motor intenta usar las rutas originales y falla si no existen.</a:t>
            </a:r>
            <a:endParaRPr b="0" lang="es-ES" sz="2000" spc="-1" strike="noStrike">
              <a:latin typeface="Arial"/>
            </a:endParaRPr>
          </a:p>
          <a:p>
            <a:pPr marL="216000" indent="-216000">
              <a:lnSpc>
                <a:spcPct val="100000"/>
              </a:lnSpc>
            </a:pPr>
            <a:r>
              <a:rPr b="0" lang="en-US" sz="2000" spc="-1" strike="noStrike">
                <a:latin typeface="Arial"/>
              </a:rPr>
              <a:t>- REPLACE sobrescribe una base existente: úsalo sólo si estás seguro. Antes, hacer siempre un tail-log. Para restauraciones parciales existen RESTORE … PAGE (restauración de página, online en Enterprise) y RESTORE con PARTIAL / filegroups.</a:t>
            </a:r>
            <a:endParaRPr b="0" lang="es-ES" sz="2000" spc="-1" strike="noStrike">
              <a:latin typeface="Arial"/>
            </a:endParaRPr>
          </a:p>
          <a:p>
            <a:pPr marL="216000" indent="-216000">
              <a:lnSpc>
                <a:spcPct val="100000"/>
              </a:lnSpc>
            </a:pPr>
            <a:r>
              <a:rPr b="0" lang="en-US" sz="2000" spc="-1" strike="noStrike">
                <a:latin typeface="Arial"/>
              </a:rPr>
              <a:t>- Progreso: STATS = 5 o sys.dm_exec_requests.percent_complete. El tiempo de restauración incluye la fase de recovery (redo/undo): un log de transacción largo con una transacción grande abierta alarga el undo. El Instant File Initialization acelera la creación de los MDF/NDF, no del LDF.</a:t>
            </a:r>
            <a:endParaRPr b="0" lang="es-ES" sz="2000" spc="-1" strike="noStrike">
              <a:latin typeface="Arial"/>
            </a:endParaRPr>
          </a:p>
          <a:p>
            <a:pPr marL="216000" indent="-216000">
              <a:lnSpc>
                <a:spcPct val="100000"/>
              </a:lnSpc>
            </a:pPr>
            <a:r>
              <a:rPr b="0" lang="en-US" sz="2000" spc="-1" strike="noStrike">
                <a:latin typeface="Arial"/>
              </a:rPr>
              <a:t>- Tras RECOVERY: validar el negocio (COUNT(*) de tablas clave), ejecutar DBCC CHECKDB y recrear logins huérfanos con ALTER USER … WITH LOGIN o sp_change_users_login (mismatch de SID al restaurar en otro servidor).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pasa si restauras el Full con RECOVERY y luego intentas aplicar un diferencial?</a:t>
            </a:r>
            <a:endParaRPr b="0" lang="es-ES" sz="2000" spc="-1" strike="noStrike">
              <a:latin typeface="Arial"/>
            </a:endParaRPr>
          </a:p>
          <a:p>
            <a:pPr marL="216000" indent="-216000">
              <a:lnSpc>
                <a:spcPct val="100000"/>
              </a:lnSpc>
            </a:pPr>
            <a:r>
              <a:rPr b="0" lang="en-US" sz="2000" spc="-1" strike="noStrike">
                <a:latin typeface="Arial"/>
              </a:rPr>
              <a:t>- Un compañero ejecutó DELETE sin WHERE a las 10:36. ¿Qué STOPAT usarías y qué harías con los datos introducidos entre las 10:36 y las 10:50?</a:t>
            </a:r>
            <a:endParaRPr b="0" lang="es-ES" sz="2000" spc="-1" strike="noStrike">
              <a:latin typeface="Arial"/>
            </a:endParaRPr>
          </a:p>
          <a:p>
            <a:pPr marL="216000" indent="-215640">
              <a:lnSpc>
                <a:spcPct val="100000"/>
              </a:lnSpc>
              <a:tabLst>
                <a:tab algn="l" pos="0"/>
              </a:tabLst>
            </a:pPr>
            <a:r>
              <a:rPr b="0" lang="en-US" sz="2000" spc="-1" strike="noStrike">
                <a:latin typeface="Arial"/>
              </a:rPr>
              <a:t>- ¿Por qué conviene restaurar con otro nombre en un servidor distinto antes de tocar producción?</a:t>
            </a:r>
            <a:endParaRPr b="0" lang="es-ES" sz="2000" spc="-1" strike="noStrike">
              <a:latin typeface="Arial"/>
            </a:endParaRPr>
          </a:p>
        </p:txBody>
      </p:sp>
      <p:sp>
        <p:nvSpPr>
          <p:cNvPr id="222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DDBCE43-D0F0-4452-B42C-4F17626CD40A}"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4" name="PlaceHolder 1"/>
          <p:cNvSpPr>
            <a:spLocks noGrp="1"/>
          </p:cNvSpPr>
          <p:nvPr>
            <p:ph type="sldImg"/>
          </p:nvPr>
        </p:nvSpPr>
        <p:spPr>
          <a:xfrm>
            <a:off x="685800" y="1143000"/>
            <a:ext cx="5485680" cy="3085560"/>
          </a:xfrm>
          <a:prstGeom prst="rect">
            <a:avLst/>
          </a:prstGeom>
        </p:spPr>
      </p:sp>
      <p:sp>
        <p:nvSpPr>
          <p:cNvPr id="222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cómo se detecta la corrupción (PAGE_VERIFY CHECKSUM, DBCC CHECKDB, errores 823/824/825) y por qué la reparación con pérdida de datos es el último recurso.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a:t>
            </a:r>
            <a:endParaRPr b="0" lang="es-ES" sz="2000" spc="-1" strike="noStrike">
              <a:latin typeface="Arial"/>
            </a:endParaRPr>
          </a:p>
          <a:p>
            <a:pPr marL="216000" indent="-216000">
              <a:lnSpc>
                <a:spcPct val="100000"/>
              </a:lnSpc>
            </a:pPr>
            <a:r>
              <a:rPr b="0" lang="en-US" sz="2000" spc="-1" strike="noStrike">
                <a:latin typeface="Arial"/>
              </a:rPr>
              <a:t>-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a:t>
            </a:r>
            <a:endParaRPr b="0" lang="es-ES" sz="2000" spc="-1" strike="noStrike">
              <a:latin typeface="Arial"/>
            </a:endParaRPr>
          </a:p>
          <a:p>
            <a:pPr marL="216000" indent="-216000">
              <a:lnSpc>
                <a:spcPct val="100000"/>
              </a:lnSpc>
            </a:pPr>
            <a:r>
              <a:rPr b="0" lang="en-US" sz="2000" spc="-1" strike="noStrike">
                <a:latin typeface="Arial"/>
              </a:rPr>
              <a:t>-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a:t>
            </a:r>
            <a:endParaRPr b="0" lang="es-ES" sz="2000" spc="-1" strike="noStrike">
              <a:latin typeface="Arial"/>
            </a:endParaRPr>
          </a:p>
          <a:p>
            <a:pPr marL="216000" indent="-216000">
              <a:lnSpc>
                <a:spcPct val="100000"/>
              </a:lnSpc>
            </a:pPr>
            <a:r>
              <a:rPr b="0" lang="en-US" sz="2000" spc="-1" strike="noStrike">
                <a:latin typeface="Arial"/>
              </a:rPr>
              <a:t>- msdb.dbo.suspect_pages registra las páginas con error 823/824 (event_type 1–3: error de E/S, mal checksum, torn page; 4 = restaurada; 5 = reparada; 7 = desasignada). En un Availability Group, la réplica puede reparar páginas automáticamente (sys.dm_hadr_auto_page_repair).</a:t>
            </a:r>
            <a:endParaRPr b="0" lang="es-ES" sz="2000" spc="-1" strike="noStrike">
              <a:latin typeface="Arial"/>
            </a:endParaRPr>
          </a:p>
          <a:p>
            <a:pPr marL="216000" indent="-216000">
              <a:lnSpc>
                <a:spcPct val="100000"/>
              </a:lnSpc>
            </a:pPr>
            <a:r>
              <a:rPr b="0" lang="en-US" sz="2000" spc="-1" strike="noStrike">
                <a:latin typeface="Arial"/>
              </a:rPr>
              <a:t>-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a:t>
            </a:r>
            <a:endParaRPr b="0" lang="es-ES" sz="2000" spc="-1" strike="noStrike">
              <a:latin typeface="Arial"/>
            </a:endParaRPr>
          </a:p>
          <a:p>
            <a:pPr marL="216000" indent="-216000">
              <a:lnSpc>
                <a:spcPct val="100000"/>
              </a:lnSpc>
            </a:pPr>
            <a:r>
              <a:rPr b="0" lang="en-US" sz="2000" spc="-1" strike="noStrike">
                <a:latin typeface="Arial"/>
              </a:rPr>
              <a:t>- Primera opción ante corrupción: restaurar desde backup (o RESTORE … PAGE si afecta a pocas páginas y existe log chain) y reaplicar logs; así no se pierden datos. Ejecuta CHECKDB sobre una copia restaurada para descargar producción y, de paso, probar los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backup WITH CHECKSUM no sustituye a DBCC CHECKDB?</a:t>
            </a:r>
            <a:endParaRPr b="0" lang="es-ES" sz="2000" spc="-1" strike="noStrike">
              <a:latin typeface="Arial"/>
            </a:endParaRPr>
          </a:p>
          <a:p>
            <a:pPr marL="216000" indent="-216000">
              <a:lnSpc>
                <a:spcPct val="100000"/>
              </a:lnSpc>
            </a:pPr>
            <a:r>
              <a:rPr b="0" lang="en-US" sz="2000" spc="-1" strike="noStrike">
                <a:latin typeface="Arial"/>
              </a:rPr>
              <a:t>- Aparece un error 825 en el errorlog, pero las aplicaciones funcionan. ¿Qué haces y con qué urgencia?</a:t>
            </a:r>
            <a:endParaRPr b="0" lang="es-ES" sz="2000" spc="-1" strike="noStrike">
              <a:latin typeface="Arial"/>
            </a:endParaRPr>
          </a:p>
          <a:p>
            <a:pPr marL="216000" indent="-215640">
              <a:lnSpc>
                <a:spcPct val="100000"/>
              </a:lnSpc>
              <a:tabLst>
                <a:tab algn="l" pos="0"/>
              </a:tabLst>
            </a:pPr>
            <a:r>
              <a:rPr b="0" lang="en-US" sz="2000" spc="-1" strike="noStrike">
                <a:latin typeface="Arial"/>
              </a:rPr>
              <a:t>- ¿Cuándo es defendible usar REPAIR_ALLOW_DATA_LOSS, y qué comunicarías al negocio después?</a:t>
            </a:r>
            <a:endParaRPr b="0" lang="es-ES" sz="2000" spc="-1" strike="noStrike">
              <a:latin typeface="Arial"/>
            </a:endParaRPr>
          </a:p>
        </p:txBody>
      </p:sp>
      <p:sp>
        <p:nvSpPr>
          <p:cNvPr id="222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292FE6A-451E-47C2-AAC0-9C1DE8B64B4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7" name="PlaceHolder 1"/>
          <p:cNvSpPr>
            <a:spLocks noGrp="1"/>
          </p:cNvSpPr>
          <p:nvPr>
            <p:ph type="sldImg"/>
          </p:nvPr>
        </p:nvSpPr>
        <p:spPr>
          <a:xfrm>
            <a:off x="685800" y="1143000"/>
            <a:ext cx="5485680" cy="3085560"/>
          </a:xfrm>
          <a:prstGeom prst="rect">
            <a:avLst/>
          </a:prstGeom>
        </p:spPr>
      </p:sp>
      <p:sp>
        <p:nvSpPr>
          <p:cNvPr id="222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Elegir entre REORGANIZE y REBUILD según el nivel de fragmentación y entender por qué las estadísticas actualizadas importan más que la fragmentación.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a:t>
            </a:r>
            <a:endParaRPr b="0" lang="es-ES" sz="2000" spc="-1" strike="noStrike">
              <a:latin typeface="Arial"/>
            </a:endParaRPr>
          </a:p>
          <a:p>
            <a:pPr marL="216000" indent="-216000">
              <a:lnSpc>
                <a:spcPct val="100000"/>
              </a:lnSpc>
            </a:pPr>
            <a:r>
              <a:rPr b="0" lang="en-US" sz="2000" spc="-1" strike="noStrike">
                <a:latin typeface="Arial"/>
              </a:rPr>
              <a:t>- REORGANIZE: compacta y reordena las páginas hoja en el sitio, siempre ONLINE, en pequeñas transacciones, se puede interrumpir sin perder el trabajo hecho, y NO actualiza estadísticas. Usa poco log pero lo genera de forma sostenida.</a:t>
            </a:r>
            <a:endParaRPr b="0" lang="es-ES" sz="2000" spc="-1" strike="noStrike">
              <a:latin typeface="Arial"/>
            </a:endParaRPr>
          </a:p>
          <a:p>
            <a:pPr marL="216000" indent="-216000">
              <a:lnSpc>
                <a:spcPct val="100000"/>
              </a:lnSpc>
            </a:pPr>
            <a:r>
              <a:rPr b="0" lang="en-US" sz="2000" spc="-1" strike="noStrike">
                <a:latin typeface="Arial"/>
              </a:rPr>
              <a:t>-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a:t>
            </a:r>
            <a:endParaRPr b="0" lang="es-ES" sz="2000" spc="-1" strike="noStrike">
              <a:latin typeface="Arial"/>
            </a:endParaRPr>
          </a:p>
          <a:p>
            <a:pPr marL="216000" indent="-216000">
              <a:lnSpc>
                <a:spcPct val="100000"/>
              </a:lnSpc>
            </a:pPr>
            <a:r>
              <a:rPr b="0" lang="en-US" sz="2000" spc="-1" strike="noStrike">
                <a:latin typeface="Arial"/>
              </a:rPr>
              <a:t>- Realidad moderna: con SSD/SAN y Buffer Pool grande la fragmentación influye menos que antes (sobre todo en scans y read-ahead). Lo realmente importante son las estadísticas: el optimizador estima cardinalidades con el histograma; estadísticas obsoletas = planes malos.</a:t>
            </a:r>
            <a:endParaRPr b="0" lang="es-ES" sz="2000" spc="-1" strike="noStrike">
              <a:latin typeface="Arial"/>
            </a:endParaRPr>
          </a:p>
          <a:p>
            <a:pPr marL="216000" indent="-216000">
              <a:lnSpc>
                <a:spcPct val="100000"/>
              </a:lnSpc>
            </a:pPr>
            <a:r>
              <a:rPr b="0" lang="en-US" sz="2000" spc="-1" strike="noStrike">
                <a:latin typeface="Arial"/>
              </a:rPr>
              <a:t>-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a:t>
            </a:r>
            <a:endParaRPr b="0" lang="es-ES" sz="2000" spc="-1" strike="noStrike">
              <a:latin typeface="Arial"/>
            </a:endParaRPr>
          </a:p>
          <a:p>
            <a:pPr marL="216000" indent="-216000">
              <a:lnSpc>
                <a:spcPct val="100000"/>
              </a:lnSpc>
            </a:pPr>
            <a:r>
              <a:rPr b="0" lang="en-US" sz="2000" spc="-1" strike="noStrike">
                <a:latin typeface="Arial"/>
              </a:rPr>
              <a:t>- Recordatorio: REBUILD de todos los índices cada noche es un antipatrón de los Maintenance Plans clásicos; genera log, bloquea y no suele mejorar nada. Mejor soluciones por umbrales (Ola Hallengren) y fill factor adecuado para reducir los Page Splits.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un REBUILD no necesita luego un UPDATE STATISTICS sobre el mismo índice, pero un REORGANIZE sí?</a:t>
            </a:r>
            <a:endParaRPr b="0" lang="es-ES" sz="2000" spc="-1" strike="noStrike">
              <a:latin typeface="Arial"/>
            </a:endParaRPr>
          </a:p>
          <a:p>
            <a:pPr marL="216000" indent="-216000">
              <a:lnSpc>
                <a:spcPct val="100000"/>
              </a:lnSpc>
            </a:pPr>
            <a:r>
              <a:rPr b="0" lang="en-US" sz="2000" spc="-1" strike="noStrike">
                <a:latin typeface="Arial"/>
              </a:rPr>
              <a:t>- ¿Qué riesgo tiene un REBUILD nocturno de todos los índices en una base en recovery Full?</a:t>
            </a:r>
            <a:endParaRPr b="0" lang="es-ES" sz="2000" spc="-1" strike="noStrike">
              <a:latin typeface="Arial"/>
            </a:endParaRPr>
          </a:p>
          <a:p>
            <a:pPr marL="216000" indent="-215640">
              <a:lnSpc>
                <a:spcPct val="100000"/>
              </a:lnSpc>
              <a:tabLst>
                <a:tab algn="l" pos="0"/>
              </a:tabLst>
            </a:pPr>
            <a:r>
              <a:rPr b="0" lang="en-US" sz="2000" spc="-1" strike="noStrike">
                <a:latin typeface="Arial"/>
              </a:rPr>
              <a:t>- Si la fragmentación está al 40 % en un índice de 200 páginas, ¿merece la pena actuar?</a:t>
            </a:r>
            <a:endParaRPr b="0" lang="es-ES" sz="2000" spc="-1" strike="noStrike">
              <a:latin typeface="Arial"/>
            </a:endParaRPr>
          </a:p>
        </p:txBody>
      </p:sp>
      <p:sp>
        <p:nvSpPr>
          <p:cNvPr id="222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9905863-3C5E-4A62-BA09-31032603918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0" name="PlaceHolder 1"/>
          <p:cNvSpPr>
            <a:spLocks noGrp="1"/>
          </p:cNvSpPr>
          <p:nvPr>
            <p:ph type="sldImg"/>
          </p:nvPr>
        </p:nvSpPr>
        <p:spPr>
          <a:xfrm>
            <a:off x="685800" y="1143000"/>
            <a:ext cx="5485680" cy="3085560"/>
          </a:xfrm>
          <a:prstGeom prst="rect">
            <a:avLst/>
          </a:prstGeom>
        </p:spPr>
      </p:sp>
      <p:sp>
        <p:nvSpPr>
          <p:cNvPr id="223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Conocer las piezas para automatizar el mantenimiento (Agent jobs, Maintenance Plans, scripts de Ola Hallengren, limpieza de msdb, Database Mail y alertas) y saber elegir entre ellas.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Agent ejecuta jobs: pasos (T-SQL, CmdExec, PowerShell, SSIS), schedules, notificaciones y reintentos. El estado vive en msdb (sysjobs, sysjobsteps, sysjobhistory). No existe en Express. En Docker/Linux se activa con MSSQL_AGENT_ENABLED=true (o mssql-conf set sqlagent.enabled true).</a:t>
            </a:r>
            <a:endParaRPr b="0" lang="es-ES" sz="2000" spc="-1" strike="noStrike">
              <a:latin typeface="Arial"/>
            </a:endParaRPr>
          </a:p>
          <a:p>
            <a:pPr marL="216000" indent="-216000">
              <a:lnSpc>
                <a:spcPct val="100000"/>
              </a:lnSpc>
            </a:pPr>
            <a:r>
              <a:rPr b="0" lang="en-US" sz="2000" spc="-1" strike="noStrike">
                <a:latin typeface="Arial"/>
              </a:rPr>
              <a:t>- Maintenance Plans: asistente gráfico, genera paquetes SSIS. Son fáciles pero poco flexibles: la tarea «Rebuild Index» reconstruye todo sin mirar fragmentación y la tarea «Shrink Database» es un antipatrón (fragmenta de nuevo y provoca crecimiento posterior).</a:t>
            </a:r>
            <a:endParaRPr b="0" lang="es-ES" sz="2000" spc="-1" strike="noStrike">
              <a:latin typeface="Arial"/>
            </a:endParaRPr>
          </a:p>
          <a:p>
            <a:pPr marL="216000" indent="-216000">
              <a:lnSpc>
                <a:spcPct val="100000"/>
              </a:lnSpc>
            </a:pPr>
            <a:r>
              <a:rPr b="0" lang="en-US" sz="2000" spc="-1" strike="noStrike">
                <a:latin typeface="Arial"/>
              </a:rPr>
              <a:t>-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a:t>
            </a:r>
            <a:endParaRPr b="0" lang="es-ES" sz="2000" spc="-1" strike="noStrike">
              <a:latin typeface="Arial"/>
            </a:endParaRPr>
          </a:p>
          <a:p>
            <a:pPr marL="216000" indent="-216000">
              <a:lnSpc>
                <a:spcPct val="100000"/>
              </a:lnSpc>
            </a:pPr>
            <a:r>
              <a:rPr b="0" lang="en-US" sz="2000" spc="-1" strike="noStrike">
                <a:latin typeface="Arial"/>
              </a:rPr>
              <a:t>- Limpieza de msdb: sp_delete_backuphistory @oldest_date, sp_purge_jobhistory, sysmail_delete_mailitems_sp y sysmail_delete_log_sp. Un msdb con años de historial ralentiza SSMS y las restauraciones (el asistente consulta backupset).</a:t>
            </a:r>
            <a:endParaRPr b="0" lang="es-ES" sz="2000" spc="-1" strike="noStrike">
              <a:latin typeface="Arial"/>
            </a:endParaRPr>
          </a:p>
          <a:p>
            <a:pPr marL="216000" indent="-216000">
              <a:lnSpc>
                <a:spcPct val="100000"/>
              </a:lnSpc>
            </a:pPr>
            <a:r>
              <a:rPr b="0" lang="en-US" sz="2000" spc="-1" strike="noStrike">
                <a:latin typeface="Arial"/>
              </a:rPr>
              <a:t>-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a:t>
            </a:r>
            <a:endParaRPr b="0" lang="es-ES" sz="2000" spc="-1" strike="noStrike">
              <a:latin typeface="Arial"/>
            </a:endParaRPr>
          </a:p>
          <a:p>
            <a:pPr marL="216000" indent="-216000">
              <a:lnSpc>
                <a:spcPct val="100000"/>
              </a:lnSpc>
            </a:pPr>
            <a:r>
              <a:rPr b="0" lang="en-US" sz="2000" spc="-1" strike="noStrike">
                <a:latin typeface="Arial"/>
              </a:rPr>
              <a:t>- Calendario de referencia en producción: log backup cada 15 min; diferencial diario; Full semanal; CHECKDB semanal; IndexOptimize diario/semanal; limpieza de historial semanal. Todo con notificación de fallo y vigilancia de que el job «no se ha ejecutado» (un job que nunca corre no falla).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ventajas ofrece una solución basada en scripts frente a un Maintenance Plan gráfico? ¿Y desventajas?</a:t>
            </a:r>
            <a:endParaRPr b="0" lang="es-ES" sz="2000" spc="-1" strike="noStrike">
              <a:latin typeface="Arial"/>
            </a:endParaRPr>
          </a:p>
          <a:p>
            <a:pPr marL="216000" indent="-216000">
              <a:lnSpc>
                <a:spcPct val="100000"/>
              </a:lnSpc>
            </a:pPr>
            <a:r>
              <a:rPr b="0" lang="en-US" sz="2000" spc="-1" strike="noStrike">
                <a:latin typeface="Arial"/>
              </a:rPr>
              <a:t>- ¿Cómo te enterarías de que un job de backup lleva tres noches sin ejecutarse?</a:t>
            </a:r>
            <a:endParaRPr b="0" lang="es-ES" sz="2000" spc="-1" strike="noStrike">
              <a:latin typeface="Arial"/>
            </a:endParaRPr>
          </a:p>
          <a:p>
            <a:pPr marL="216000" indent="-215640">
              <a:lnSpc>
                <a:spcPct val="100000"/>
              </a:lnSpc>
              <a:tabLst>
                <a:tab algn="l" pos="0"/>
              </a:tabLst>
            </a:pPr>
            <a:r>
              <a:rPr b="0" lang="en-US" sz="2000" spc="-1" strike="noStrike">
                <a:latin typeface="Arial"/>
              </a:rPr>
              <a:t>- ¿Qué errores y gravedades darías de alta como alertas en una instancia nueva?</a:t>
            </a:r>
            <a:endParaRPr b="0" lang="es-ES" sz="2000" spc="-1" strike="noStrike">
              <a:latin typeface="Arial"/>
            </a:endParaRPr>
          </a:p>
        </p:txBody>
      </p:sp>
      <p:sp>
        <p:nvSpPr>
          <p:cNvPr id="223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88BE847-F17F-43A5-9708-D8A050E8CA0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3" name="PlaceHolder 1"/>
          <p:cNvSpPr>
            <a:spLocks noGrp="1"/>
          </p:cNvSpPr>
          <p:nvPr>
            <p:ph type="sldImg"/>
          </p:nvPr>
        </p:nvSpPr>
        <p:spPr>
          <a:xfrm>
            <a:off x="685800" y="1143000"/>
            <a:ext cx="5485680" cy="3085560"/>
          </a:xfrm>
          <a:prstGeom prst="rect">
            <a:avLst/>
          </a:prstGeom>
        </p:spPr>
      </p:sp>
      <p:sp>
        <p:nvSpPr>
          <p:cNvPr id="223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Diagnosticar un LDF lleno (error 9002) mediante log_reuse_wait_desc, tratar la causa raíz y evitar «soluciones» peligrosas como borrar el fichero o encadenar SHRINKFILE.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Síntoma: error 9002 «The transaction log for database is full due to …». El motivo se indica al final del mensaje y en sys.databases.log_reuse_wait_desc: es lo que impide que los VLFs inactivos se marquen como reutilizables (truncado lógico).</a:t>
            </a:r>
            <a:endParaRPr b="0" lang="es-ES" sz="2000" spc="-1" strike="noStrike">
              <a:latin typeface="Arial"/>
            </a:endParaRPr>
          </a:p>
          <a:p>
            <a:pPr marL="216000" indent="-216000">
              <a:lnSpc>
                <a:spcPct val="100000"/>
              </a:lnSpc>
            </a:pPr>
            <a:r>
              <a:rPr b="0" lang="en-US" sz="2000" spc="-1" strike="noStrike">
                <a:latin typeface="Arial"/>
              </a:rPr>
              <a:t>- LOG_BACKUP: la causa más habitual; la base está en Full/Bulk-Logged y no hay BACKUP LOG programado (o ha fallado). Solución: hacer log backup y programarlos cada 15 min.</a:t>
            </a:r>
            <a:endParaRPr b="0" lang="es-ES" sz="2000" spc="-1" strike="noStrike">
              <a:latin typeface="Arial"/>
            </a:endParaRPr>
          </a:p>
          <a:p>
            <a:pPr marL="216000" indent="-216000">
              <a:lnSpc>
                <a:spcPct val="100000"/>
              </a:lnSpc>
            </a:pPr>
            <a:r>
              <a:rPr b="0" lang="en-US" sz="2000" spc="-1" strike="noStrike">
                <a:latin typeface="Arial"/>
              </a:rPr>
              <a:t>-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a:t>
            </a:r>
            <a:endParaRPr b="0" lang="es-ES" sz="2000" spc="-1" strike="noStrike">
              <a:latin typeface="Arial"/>
            </a:endParaRPr>
          </a:p>
          <a:p>
            <a:pPr marL="216000" indent="-216000">
              <a:lnSpc>
                <a:spcPct val="100000"/>
              </a:lnSpc>
            </a:pPr>
            <a:r>
              <a:rPr b="0" lang="en-US" sz="2000" spc="-1" strike="noStrike">
                <a:latin typeface="Arial"/>
              </a:rPr>
              <a:t>- AVAILABILITY_REPLICA y REPLICATION: una réplica del AG atrasada (sys.dm_hadr_database_replica_states) o un Log Reader Agent parado retienen el log hasta que el consumidor lo lea. También hay OLDEST_PAGE, CHECKPOINT, ACTIVE_BACKUP_OR_RESTORE y DATABASE_MIRRORING.</a:t>
            </a:r>
            <a:endParaRPr b="0" lang="es-ES" sz="2000" spc="-1" strike="noStrike">
              <a:latin typeface="Arial"/>
            </a:endParaRPr>
          </a:p>
          <a:p>
            <a:pPr marL="216000" indent="-216000">
              <a:lnSpc>
                <a:spcPct val="100000"/>
              </a:lnSpc>
            </a:pPr>
            <a:r>
              <a:rPr b="0" lang="en-US" sz="2000" spc="-1" strike="noStrike">
                <a:latin typeface="Arial"/>
              </a:rPr>
              <a:t>- Medición: DBCC SQLPERF (LOGSPACE) o sys.dm_db_log_space_usage; sys.dm_db_log_info (2016 SP2+) muestra los VLFs. Un autogrowth pequeño (1 MB o 10 %) crea cientos de VLFs y ralentiza recuperación y backups: configurar crecimiento fijo (p. ej. 512 MB–1 GB) y tamaño inicial adecuado.</a:t>
            </a:r>
            <a:endParaRPr b="0" lang="es-ES" sz="2000" spc="-1" strike="noStrike">
              <a:latin typeface="Arial"/>
            </a:endParaRPr>
          </a:p>
          <a:p>
            <a:pPr marL="216000" indent="-216000">
              <a:lnSpc>
                <a:spcPct val="100000"/>
              </a:lnSpc>
            </a:pPr>
            <a:r>
              <a:rPr b="0" lang="en-US" sz="2000" spc="-1" strike="noStrike">
                <a:latin typeface="Arial"/>
              </a:rPr>
              <a:t>-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hacer un BACKUP LOG no libera espacio si hay una transacción abierta desde ayer?</a:t>
            </a:r>
            <a:endParaRPr b="0" lang="es-ES" sz="2000" spc="-1" strike="noStrike">
              <a:latin typeface="Arial"/>
            </a:endParaRPr>
          </a:p>
          <a:p>
            <a:pPr marL="216000" indent="-216000">
              <a:lnSpc>
                <a:spcPct val="100000"/>
              </a:lnSpc>
            </a:pPr>
            <a:r>
              <a:rPr b="0" lang="en-US" sz="2000" spc="-1" strike="noStrike">
                <a:latin typeface="Arial"/>
              </a:rPr>
              <a:t>- ¿Qué implica cambiar la base a Simple en mitad de la incidencia para el RPO del negocio?</a:t>
            </a:r>
            <a:endParaRPr b="0" lang="es-ES" sz="2000" spc="-1" strike="noStrike">
              <a:latin typeface="Arial"/>
            </a:endParaRPr>
          </a:p>
          <a:p>
            <a:pPr marL="216000" indent="-215640">
              <a:lnSpc>
                <a:spcPct val="100000"/>
              </a:lnSpc>
              <a:tabLst>
                <a:tab algn="l" pos="0"/>
              </a:tabLst>
            </a:pPr>
            <a:r>
              <a:rPr b="0" lang="en-US" sz="2000" spc="-1" strike="noStrike">
                <a:latin typeface="Arial"/>
              </a:rPr>
              <a:t>- ¿Cómo evitarías que se repita (monitorización, tamaño inicial, autogrowth, alertas)?</a:t>
            </a:r>
            <a:endParaRPr b="0" lang="es-ES" sz="2000" spc="-1" strike="noStrike">
              <a:latin typeface="Arial"/>
            </a:endParaRPr>
          </a:p>
        </p:txBody>
      </p:sp>
      <p:sp>
        <p:nvSpPr>
          <p:cNvPr id="223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CC6BA966-A0BA-4A88-924F-E4973ABF36A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6" name="PlaceHolder 1"/>
          <p:cNvSpPr>
            <a:spLocks noGrp="1"/>
          </p:cNvSpPr>
          <p:nvPr>
            <p:ph type="sldImg"/>
          </p:nvPr>
        </p:nvSpPr>
        <p:spPr>
          <a:xfrm>
            <a:off x="685800" y="1143000"/>
            <a:ext cx="5485680" cy="3085560"/>
          </a:xfrm>
          <a:prstGeom prst="rect">
            <a:avLst/>
          </a:prstGeom>
        </p:spPr>
      </p:sp>
      <p:sp>
        <p:nvSpPr>
          <p:cNvPr id="223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Identificar qué consume TempDB (objetos de usuario, internos y version store) y reconocer y mitigar la contención de páginas de asignación PFS/GAM/SGAM.</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TempDB se recrea en cada arranque a partir de model; usa un log que no hace redo y es siempre «minimal». Todas las sesiones la comparten: una consulta descontrolada o una transacción larga puede llenarla y afectar a toda la instancia (errores 1105 y 9002 sobre tempdb).</a:t>
            </a:r>
            <a:endParaRPr b="0" lang="es-ES" sz="2000" spc="-1" strike="noStrike">
              <a:latin typeface="Arial"/>
            </a:endParaRPr>
          </a:p>
          <a:p>
            <a:pPr marL="216000" indent="-216000">
              <a:lnSpc>
                <a:spcPct val="100000"/>
              </a:lnSpc>
            </a:pPr>
            <a:r>
              <a:rPr b="0" lang="en-US" sz="2000" spc="-1" strike="noStrike">
                <a:latin typeface="Arial"/>
              </a:rPr>
              <a:t>-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a:t>
            </a:r>
            <a:endParaRPr b="0" lang="es-ES" sz="2000" spc="-1" strike="noStrike">
              <a:latin typeface="Arial"/>
            </a:endParaRPr>
          </a:p>
          <a:p>
            <a:pPr marL="216000" indent="-216000">
              <a:lnSpc>
                <a:spcPct val="100000"/>
              </a:lnSpc>
            </a:pPr>
            <a:r>
              <a:rPr b="0" lang="en-US" sz="2000" spc="-1" strike="noStrike">
                <a:latin typeface="Arial"/>
              </a:rPr>
              <a:t>-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a:t>
            </a:r>
            <a:endParaRPr b="0" lang="es-ES" sz="2000" spc="-1" strike="noStrike">
              <a:latin typeface="Arial"/>
            </a:endParaRPr>
          </a:p>
          <a:p>
            <a:pPr marL="216000" indent="-216000">
              <a:lnSpc>
                <a:spcPct val="100000"/>
              </a:lnSpc>
            </a:pPr>
            <a:r>
              <a:rPr b="0" lang="en-US" sz="2000" spc="-1" strike="noStrike">
                <a:latin typeface="Arial"/>
              </a:rPr>
              <a:t>-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a:t>
            </a:r>
            <a:endParaRPr b="0" lang="es-ES" sz="2000" spc="-1" strike="noStrike">
              <a:latin typeface="Arial"/>
            </a:endParaRPr>
          </a:p>
          <a:p>
            <a:pPr marL="216000" indent="-216000">
              <a:lnSpc>
                <a:spcPct val="100000"/>
              </a:lnSpc>
            </a:pPr>
            <a:r>
              <a:rPr b="0" lang="en-US" sz="2000" spc="-1" strike="noStrike">
                <a:latin typeface="Arial"/>
              </a:rPr>
              <a:t>- Mitigación: varios ficheros de datos del MISMO tamaño y FILEGROWTH (1 por núcleo lógico hasta 8; si persiste, de 4 en 4); el instalador (2016+) propone el número y los TF 1117/1118 son comportamiento por defecto en tempdb. Pre-dimensionar y ponerla en almacenamiento rápido.</a:t>
            </a:r>
            <a:endParaRPr b="0" lang="es-ES" sz="2000" spc="-1" strike="noStrike">
              <a:latin typeface="Arial"/>
            </a:endParaRPr>
          </a:p>
          <a:p>
            <a:pPr marL="216000" indent="-216000">
              <a:lnSpc>
                <a:spcPct val="100000"/>
              </a:lnSpc>
            </a:pPr>
            <a:r>
              <a:rPr b="0" lang="en-US" sz="2000" spc="-1" strike="noStrike">
                <a:latin typeface="Arial"/>
              </a:rPr>
              <a:t>- No reducir tempdb de forma rutinaria: reiniciar la instancia la devuelve a su tamaño configurado. Si se llena, localizar la sesión (KILL con cautela), corregir la consulta (índices, estadísticas, memory grant) o acortar la transacción que retiene el version store.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hay entre un spill a TempDB y la creación explícita de una #tabla? ¿Cómo lo reconoces en el plan?</a:t>
            </a:r>
            <a:endParaRPr b="0" lang="es-ES" sz="2000" spc="-1" strike="noStrike">
              <a:latin typeface="Arial"/>
            </a:endParaRPr>
          </a:p>
          <a:p>
            <a:pPr marL="216000" indent="-216000">
              <a:lnSpc>
                <a:spcPct val="100000"/>
              </a:lnSpc>
            </a:pPr>
            <a:r>
              <a:rPr b="0" lang="en-US" sz="2000" spc="-1" strike="noStrike">
                <a:latin typeface="Arial"/>
              </a:rPr>
              <a:t>- Si activamos RCSI en Ventas, ¿qué cambia en el consumo de TempDB y qué vigilarías?</a:t>
            </a:r>
            <a:endParaRPr b="0" lang="es-ES" sz="2000" spc="-1" strike="noStrike">
              <a:latin typeface="Arial"/>
            </a:endParaRPr>
          </a:p>
          <a:p>
            <a:pPr marL="216000" indent="-215640">
              <a:lnSpc>
                <a:spcPct val="100000"/>
              </a:lnSpc>
              <a:tabLst>
                <a:tab algn="l" pos="0"/>
              </a:tabLst>
            </a:pPr>
            <a:r>
              <a:rPr b="0" lang="en-US" sz="2000" spc="-1" strike="noStrike">
                <a:latin typeface="Arial"/>
              </a:rPr>
              <a:t>- ¿Por qué los ficheros de tempdb deben tener el mismo tamaño?</a:t>
            </a:r>
            <a:endParaRPr b="0" lang="es-ES" sz="2000" spc="-1" strike="noStrike">
              <a:latin typeface="Arial"/>
            </a:endParaRPr>
          </a:p>
        </p:txBody>
      </p:sp>
      <p:sp>
        <p:nvSpPr>
          <p:cNvPr id="223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0011787A-0BBA-4DAB-930A-F571A3FBD6F6}"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9" name="PlaceHolder 1"/>
          <p:cNvSpPr>
            <a:spLocks noGrp="1"/>
          </p:cNvSpPr>
          <p:nvPr>
            <p:ph type="sldImg"/>
          </p:nvPr>
        </p:nvSpPr>
        <p:spPr>
          <a:xfrm>
            <a:off x="685800" y="1143000"/>
            <a:ext cx="5485680" cy="3085560"/>
          </a:xfrm>
          <a:prstGeom prst="rect">
            <a:avLst/>
          </a:prstGeom>
        </p:spPr>
      </p:sp>
      <p:sp>
        <p:nvSpPr>
          <p:cNvPr id="2240"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Distinguir bloqueo prolongado de deadlock, localizar al bloqueador raíz con DMVs, leer el grafo de deadlock de system_health y aplicar mitigaciones (RCSI, índices, orden de acceso) sin abusar de KILL.</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Bloqueo (blocking): una sesión pide un lock incompatible con el que otra mantiene y espera (LCK_M_S, LCK_M_X, LCK_M_U…). Es normal y breve; es incidencia cuando se prolonga porque el bloqueador tiene una transacción abierta (sesión sleeping con open_transaction_count &gt; 0).</a:t>
            </a:r>
            <a:endParaRPr b="0" lang="es-ES" sz="2000" spc="-1" strike="noStrike">
              <a:latin typeface="Arial"/>
            </a:endParaRPr>
          </a:p>
          <a:p>
            <a:pPr marL="216000" indent="-216000">
              <a:lnSpc>
                <a:spcPct val="100000"/>
              </a:lnSpc>
            </a:pPr>
            <a:r>
              <a:rPr b="0" lang="en-US" sz="2000" spc="-1" strike="noStrike">
                <a:latin typeface="Arial"/>
              </a:rPr>
              <a:t>-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a:t>
            </a:r>
            <a:endParaRPr b="0" lang="es-ES" sz="2000" spc="-1" strike="noStrike">
              <a:latin typeface="Arial"/>
            </a:endParaRPr>
          </a:p>
          <a:p>
            <a:pPr marL="216000" indent="-216000">
              <a:lnSpc>
                <a:spcPct val="100000"/>
              </a:lnSpc>
            </a:pPr>
            <a:r>
              <a:rPr b="0" lang="en-US" sz="2000" spc="-1" strike="noStrike">
                <a:latin typeface="Arial"/>
              </a:rPr>
              <a:t>-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a:t>
            </a:r>
            <a:endParaRPr b="0" lang="es-ES" sz="2000" spc="-1" strike="noStrike">
              <a:latin typeface="Arial"/>
            </a:endParaRPr>
          </a:p>
          <a:p>
            <a:pPr marL="216000" indent="-216000">
              <a:lnSpc>
                <a:spcPct val="100000"/>
              </a:lnSpc>
            </a:pPr>
            <a:r>
              <a:rPr b="0" lang="en-US" sz="2000" spc="-1" strike="noStrike">
                <a:latin typeface="Arial"/>
              </a:rPr>
              <a:t>- Mitigación: transacciones cortas, acceder a los objetos siempre en el mismo orden, índices adecuados (menos filas bloqueadas, evita table scans bajo lock y la escalada a lock de tabla a las ~5000 locks), reintentos con TRY…CATCH ante el error 1205 y LOCK_TIMEOUT.</a:t>
            </a:r>
            <a:endParaRPr b="0" lang="es-ES" sz="2000" spc="-1" strike="noStrike">
              <a:latin typeface="Arial"/>
            </a:endParaRPr>
          </a:p>
          <a:p>
            <a:pPr marL="216000" indent="-216000">
              <a:lnSpc>
                <a:spcPct val="100000"/>
              </a:lnSpc>
            </a:pPr>
            <a:r>
              <a:rPr b="0" lang="en-US" sz="2000" spc="-1" strike="noStrike">
                <a:latin typeface="Arial"/>
              </a:rPr>
              <a:t>-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a:t>
            </a:r>
            <a:endParaRPr b="0" lang="es-ES" sz="2000" spc="-1" strike="noStrike">
              <a:latin typeface="Arial"/>
            </a:endParaRPr>
          </a:p>
          <a:p>
            <a:pPr marL="216000" indent="-216000">
              <a:lnSpc>
                <a:spcPct val="100000"/>
              </a:lnSpc>
            </a:pPr>
            <a:r>
              <a:rPr b="0" lang="en-US" sz="2000" spc="-1" strike="noStrike">
                <a:latin typeface="Arial"/>
              </a:rPr>
              <a:t>-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distingues desde las DMVs entre un bloqueo largo y un deadlock? ¿Qué ve el usuario en cada caso?</a:t>
            </a:r>
            <a:endParaRPr b="0" lang="es-ES" sz="2000" spc="-1" strike="noStrike">
              <a:latin typeface="Arial"/>
            </a:endParaRPr>
          </a:p>
          <a:p>
            <a:pPr marL="216000" indent="-216000">
              <a:lnSpc>
                <a:spcPct val="100000"/>
              </a:lnSpc>
            </a:pPr>
            <a:r>
              <a:rPr b="0" lang="en-US" sz="2000" spc="-1" strike="noStrike">
                <a:latin typeface="Arial"/>
              </a:rPr>
              <a:t>- ¿Qué gana y qué pierde Ventas al activar RCSI? ¿Quién paga el coste?</a:t>
            </a:r>
            <a:endParaRPr b="0" lang="es-ES" sz="2000" spc="-1" strike="noStrike">
              <a:latin typeface="Arial"/>
            </a:endParaRPr>
          </a:p>
          <a:p>
            <a:pPr marL="216000" indent="-215640">
              <a:lnSpc>
                <a:spcPct val="100000"/>
              </a:lnSpc>
              <a:tabLst>
                <a:tab algn="l" pos="0"/>
              </a:tabLst>
            </a:pPr>
            <a:r>
              <a:rPr b="0" lang="en-US" sz="2000" spc="-1" strike="noStrike">
                <a:latin typeface="Arial"/>
              </a:rPr>
              <a:t>- Encuentras que el bloqueador raíz es una sesión «sleeping» con una transacción abierta de hace 3 horas. ¿Qué haces antes de ejecutar KILL?</a:t>
            </a:r>
            <a:endParaRPr b="0" lang="es-ES" sz="2000" spc="-1" strike="noStrike">
              <a:latin typeface="Arial"/>
            </a:endParaRPr>
          </a:p>
        </p:txBody>
      </p:sp>
      <p:sp>
        <p:nvSpPr>
          <p:cNvPr id="2241"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D9DA63D-6FCD-49A8-9FA1-C8A3B5B4200B}"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2" name="PlaceHolder 1"/>
          <p:cNvSpPr>
            <a:spLocks noGrp="1"/>
          </p:cNvSpPr>
          <p:nvPr>
            <p:ph type="sldImg"/>
          </p:nvPr>
        </p:nvSpPr>
        <p:spPr>
          <a:xfrm>
            <a:off x="685800" y="1143000"/>
            <a:ext cx="5485680" cy="3085560"/>
          </a:xfrm>
          <a:prstGeom prst="rect">
            <a:avLst/>
          </a:prstGeom>
        </p:spPr>
      </p:sp>
      <p:sp>
        <p:nvSpPr>
          <p:cNvPr id="2243"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Comprender la arquitectura desacoplada de SQL Server Integration Services (SSIS), los pasos para instalar el motor en el servidor y la configuración del entorno de desarrollo visual en Visual Studio.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SQL Server Integration Services (SSIS) es la plataforma empresarial de Microsoft para extracción, transformación y carga (ETL). Para un DBA, es crucial distinguir el motor de ejecución en el servidor del entorno de diseño en el cliente.</a:t>
            </a:r>
            <a:endParaRPr b="0" lang="es-ES" sz="2000" spc="-1" strike="noStrike">
              <a:latin typeface="Arial"/>
            </a:endParaRPr>
          </a:p>
          <a:p>
            <a:pPr marL="216000" indent="-216000">
              <a:lnSpc>
                <a:spcPct val="100000"/>
              </a:lnSpc>
            </a:pPr>
            <a:r>
              <a:rPr b="0" lang="en-US" sz="2000" spc="-1" strike="noStrike">
                <a:latin typeface="Arial"/>
              </a:rPr>
              <a:t>-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a:t>
            </a:r>
            <a:endParaRPr b="0" lang="es-ES" sz="2000" spc="-1" strike="noStrike">
              <a:latin typeface="Arial"/>
            </a:endParaRPr>
          </a:p>
          <a:p>
            <a:pPr marL="216000" indent="-216000">
              <a:lnSpc>
                <a:spcPct val="100000"/>
              </a:lnSpc>
            </a:pPr>
            <a:r>
              <a:rPr b="0" lang="en-US" sz="2000" spc="-1" strike="noStrike">
                <a:latin typeface="Arial"/>
              </a:rPr>
              <a:t>-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a:t>
            </a:r>
            <a:endParaRPr b="0" lang="es-ES" sz="2000" spc="-1" strike="noStrike">
              <a:latin typeface="Arial"/>
            </a:endParaRPr>
          </a:p>
          <a:p>
            <a:pPr marL="216000" indent="-216000">
              <a:lnSpc>
                <a:spcPct val="100000"/>
              </a:lnSpc>
            </a:pPr>
            <a:r>
              <a:rPr b="0" lang="en-US" sz="2000" spc="-1" strike="noStrike">
                <a:latin typeface="Arial"/>
              </a:rPr>
              <a:t>-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a:t>
            </a:r>
            <a:endParaRPr b="0" lang="es-ES" sz="2000" spc="-1" strike="noStrike">
              <a:latin typeface="Arial"/>
            </a:endParaRPr>
          </a:p>
          <a:p>
            <a:pPr marL="216000" indent="-216000">
              <a:lnSpc>
                <a:spcPct val="100000"/>
              </a:lnSpc>
            </a:pPr>
            <a:r>
              <a:rPr b="0" lang="en-US" sz="2000" spc="-1" strike="noStrike">
                <a:latin typeface="Arial"/>
              </a:rPr>
              <a:t>- El artefacto final de diseño es un archivo .ispac que empaqueta el proyecto completo con sus parámetros de entorno, conexiones y paquetes .dtsx.</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Microsoft separó la herramienta de diseño visual del instalador del motor de base de datos?</a:t>
            </a:r>
            <a:endParaRPr b="0" lang="es-ES" sz="2000" spc="-1" strike="noStrike">
              <a:latin typeface="Arial"/>
            </a:endParaRPr>
          </a:p>
          <a:p>
            <a:pPr marL="216000" indent="-216000">
              <a:lnSpc>
                <a:spcPct val="100000"/>
              </a:lnSpc>
            </a:pPr>
            <a:r>
              <a:rPr b="0" lang="en-US" sz="2000" spc="-1" strike="noStrike">
                <a:latin typeface="Arial"/>
              </a:rPr>
              <a:t>- ¿Qué consecuencias tendría perder la contraseña de cifrado del catálogo SSISDB al migrar a otro servidor?</a:t>
            </a:r>
            <a:endParaRPr b="0" lang="es-ES" sz="2000" spc="-1" strike="noStrike">
              <a:latin typeface="Arial"/>
            </a:endParaRPr>
          </a:p>
          <a:p>
            <a:pPr marL="216000" indent="-215640">
              <a:lnSpc>
                <a:spcPct val="100000"/>
              </a:lnSpc>
              <a:tabLst>
                <a:tab algn="l" pos="0"/>
              </a:tabLst>
            </a:pPr>
            <a:r>
              <a:rPr b="0" lang="en-US" sz="2000" spc="-1" strike="noStrike">
                <a:latin typeface="Arial"/>
              </a:rPr>
              <a:t>- ¿Qué diferencia hay entre ejecutar un paquete en modo depuración dentro de Visual Studio y ejecutarlo en el motor de producción?</a:t>
            </a:r>
            <a:endParaRPr b="0" lang="es-ES" sz="2000" spc="-1" strike="noStrike">
              <a:latin typeface="Arial"/>
            </a:endParaRPr>
          </a:p>
        </p:txBody>
      </p:sp>
      <p:sp>
        <p:nvSpPr>
          <p:cNvPr id="2244"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2A50CD2A-D3B8-40F9-8D38-E388AE462308}"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5" name="PlaceHolder 1"/>
          <p:cNvSpPr>
            <a:spLocks noGrp="1"/>
          </p:cNvSpPr>
          <p:nvPr>
            <p:ph type="sldImg"/>
          </p:nvPr>
        </p:nvSpPr>
        <p:spPr>
          <a:xfrm>
            <a:off x="685800" y="1143000"/>
            <a:ext cx="5485680" cy="3085560"/>
          </a:xfrm>
          <a:prstGeom prst="rect">
            <a:avLst/>
          </a:prstGeom>
        </p:spPr>
      </p:sp>
      <p:sp>
        <p:nvSpPr>
          <p:cNvPr id="2246"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Aprender a construir un pipeline de carga masiva en el Data Flow de SSIS desde un archivo plano CSV hacia una tabla relacional en SQL Server, comprendiendo los tipos de datos internos y la optimización de carga.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En SSIS, la arquitectura distingue dos niveles fundamentales: el Control Flow (orquesta tareas, bucles y lógica condicional de ejecución) y el Data Flow Task (mueve y transforma datos en memoria RAM).</a:t>
            </a:r>
            <a:endParaRPr b="0" lang="es-ES" sz="2000" spc="-1" strike="noStrike">
              <a:latin typeface="Arial"/>
            </a:endParaRPr>
          </a:p>
          <a:p>
            <a:pPr marL="216000" indent="-216000">
              <a:lnSpc>
                <a:spcPct val="100000"/>
              </a:lnSpc>
            </a:pPr>
            <a:r>
              <a:rPr b="0" lang="en-US" sz="2000" spc="-1" strike="noStrike">
                <a:latin typeface="Arial"/>
              </a:rPr>
              <a:t>- Dentro de la tarea Data Flow, el motor de SSIS utiliza un pipeline basado en buffers en memoria RAM (gobernados por DefaultBufferMaxRows y DefaultBufferSize). Los datos nunca tocan el disco mientras viajan del origen al destino a menos que se sature la RAM (spooling).</a:t>
            </a:r>
            <a:endParaRPr b="0" lang="es-ES" sz="2000" spc="-1" strike="noStrike">
              <a:latin typeface="Arial"/>
            </a:endParaRPr>
          </a:p>
          <a:p>
            <a:pPr marL="216000" indent="-216000">
              <a:lnSpc>
                <a:spcPct val="100000"/>
              </a:lnSpc>
            </a:pPr>
            <a:r>
              <a:rPr b="0" lang="en-US" sz="2000" spc="-1" strike="noStrike">
                <a:latin typeface="Arial"/>
              </a:rPr>
              <a:t>-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a:t>
            </a:r>
            <a:endParaRPr b="0" lang="es-ES" sz="2000" spc="-1" strike="noStrike">
              <a:latin typeface="Arial"/>
            </a:endParaRPr>
          </a:p>
          <a:p>
            <a:pPr marL="216000" indent="-216000">
              <a:lnSpc>
                <a:spcPct val="100000"/>
              </a:lnSpc>
            </a:pPr>
            <a:r>
              <a:rPr b="0" lang="en-US" sz="2000" spc="-1" strike="noStrike">
                <a:latin typeface="Arial"/>
              </a:rPr>
              <a:t>-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a:t>
            </a:r>
            <a:endParaRPr b="0" lang="es-ES" sz="2000" spc="-1" strike="noStrike">
              <a:latin typeface="Arial"/>
            </a:endParaRPr>
          </a:p>
          <a:p>
            <a:pPr marL="216000" indent="-216000">
              <a:lnSpc>
                <a:spcPct val="100000"/>
              </a:lnSpc>
            </a:pPr>
            <a:r>
              <a:rPr b="0" lang="en-US" sz="2000" spc="-1" strike="noStrike">
                <a:latin typeface="Arial"/>
              </a:rPr>
              <a:t>-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con el rendimiento de la base de datos si dejamos OLE DB Destination en modo estándar en vez de Fast Load?</a:t>
            </a:r>
            <a:endParaRPr b="0" lang="es-ES" sz="2000" spc="-1" strike="noStrike">
              <a:latin typeface="Arial"/>
            </a:endParaRPr>
          </a:p>
          <a:p>
            <a:pPr marL="216000" indent="-216000">
              <a:lnSpc>
                <a:spcPct val="100000"/>
              </a:lnSpc>
            </a:pPr>
            <a:r>
              <a:rPr b="0" lang="en-US" sz="2000" spc="-1" strike="noStrike">
                <a:latin typeface="Arial"/>
              </a:rPr>
              <a:t>- ¿Por qué es preferible usar Flat File (CSV) frente a Excel para procesos batch automáticos y desatendidos?</a:t>
            </a:r>
            <a:endParaRPr b="0" lang="es-ES" sz="2000" spc="-1" strike="noStrike">
              <a:latin typeface="Arial"/>
            </a:endParaRPr>
          </a:p>
          <a:p>
            <a:pPr marL="216000" indent="-215640">
              <a:lnSpc>
                <a:spcPct val="100000"/>
              </a:lnSpc>
              <a:tabLst>
                <a:tab algn="l" pos="0"/>
              </a:tabLst>
            </a:pPr>
            <a:r>
              <a:rPr b="0" lang="en-US" sz="2000" spc="-1" strike="noStrike">
                <a:latin typeface="Arial"/>
              </a:rPr>
              <a:t>- ¿Cómo configurarías la salida de errores (Error Output) para no detener la carga si 5 filas de 100.000 vienen con datos corruptos?</a:t>
            </a:r>
            <a:endParaRPr b="0" lang="es-ES" sz="2000" spc="-1" strike="noStrike">
              <a:latin typeface="Arial"/>
            </a:endParaRPr>
          </a:p>
        </p:txBody>
      </p:sp>
      <p:sp>
        <p:nvSpPr>
          <p:cNvPr id="2247"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4561985D-4B93-40FC-BD64-6AF88FBEC339}"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8" name="PlaceHolder 1"/>
          <p:cNvSpPr>
            <a:spLocks noGrp="1"/>
          </p:cNvSpPr>
          <p:nvPr>
            <p:ph type="sldImg"/>
          </p:nvPr>
        </p:nvSpPr>
        <p:spPr>
          <a:xfrm>
            <a:off x="685800" y="1143000"/>
            <a:ext cx="5485680" cy="3085560"/>
          </a:xfrm>
          <a:prstGeom prst="rect">
            <a:avLst/>
          </a:prstGeom>
        </p:spPr>
      </p:sp>
      <p:sp>
        <p:nvSpPr>
          <p:cNvPr id="2249"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Dominar el ciclo de vida de producción de un paquete SSIS: despliegue en SSISDB, automatización mediante SQL Server Agent y aseguramiento con Proxies para cumplimiento del mínimo privilegio.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ciclo de vida de un paquete SSIS no termina en Visual Studio: el rol del DBA comienza cuando el desarrollador entrega el archivo compilado .ispac (Project Deployment Model).</a:t>
            </a:r>
            <a:endParaRPr b="0" lang="es-ES" sz="2000" spc="-1" strike="noStrike">
              <a:latin typeface="Arial"/>
            </a:endParaRPr>
          </a:p>
          <a:p>
            <a:pPr marL="216000" indent="-216000">
              <a:lnSpc>
                <a:spcPct val="100000"/>
              </a:lnSpc>
            </a:pPr>
            <a:r>
              <a:rPr b="0" lang="en-US" sz="2000" spc="-1" strike="noStrike">
                <a:latin typeface="Arial"/>
              </a:rPr>
              <a:t>-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a:t>
            </a:r>
            <a:endParaRPr b="0" lang="es-ES" sz="2000" spc="-1" strike="noStrike">
              <a:latin typeface="Arial"/>
            </a:endParaRPr>
          </a:p>
          <a:p>
            <a:pPr marL="216000" indent="-216000">
              <a:lnSpc>
                <a:spcPct val="100000"/>
              </a:lnSpc>
            </a:pPr>
            <a:r>
              <a:rPr b="0" lang="en-US" sz="2000" spc="-1" strike="noStrike">
                <a:latin typeface="Arial"/>
              </a:rPr>
              <a:t>- Automatización: en SQL Server Agent se crea un nuevo Job. Al añadir un paso (Job Step), se selecciona el tipo de subsistema «SQL Server Integration Services Package», apuntando al proyecto y paquete en SSISDB.</a:t>
            </a:r>
            <a:endParaRPr b="0" lang="es-ES" sz="2000" spc="-1" strike="noStrike">
              <a:latin typeface="Arial"/>
            </a:endParaRPr>
          </a:p>
          <a:p>
            <a:pPr marL="216000" indent="-216000">
              <a:lnSpc>
                <a:spcPct val="100000"/>
              </a:lnSpc>
            </a:pPr>
            <a:r>
              <a:rPr b="0" lang="en-US" sz="2000" spc="-1" strike="noStrike">
                <a:latin typeface="Arial"/>
              </a:rPr>
              <a:t>-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a:t>
            </a:r>
            <a:endParaRPr b="0" lang="es-ES" sz="2000" spc="-1" strike="noStrike">
              <a:latin typeface="Arial"/>
            </a:endParaRPr>
          </a:p>
          <a:p>
            <a:pPr marL="216000" indent="-216000">
              <a:lnSpc>
                <a:spcPct val="100000"/>
              </a:lnSpc>
            </a:pPr>
            <a:r>
              <a:rPr b="0" lang="en-US" sz="2000" spc="-1" strike="noStrike">
                <a:latin typeface="Arial"/>
              </a:rPr>
              <a:t>-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es una mala práctica convertir en sysadmin al usuario que ejecuta los jobs de SSIS para solucionar problemas de permisos?</a:t>
            </a:r>
            <a:endParaRPr b="0" lang="es-ES" sz="2000" spc="-1" strike="noStrike">
              <a:latin typeface="Arial"/>
            </a:endParaRPr>
          </a:p>
          <a:p>
            <a:pPr marL="216000" indent="-216000">
              <a:lnSpc>
                <a:spcPct val="100000"/>
              </a:lnSpc>
            </a:pPr>
            <a:r>
              <a:rPr b="0" lang="en-US" sz="2000" spc="-1" strike="noStrike">
                <a:latin typeface="Arial"/>
              </a:rPr>
              <a:t>- ¿Dónde buscarías el mensaje detallado de error si el historial del Agent solo indica «falló el paso 1»?</a:t>
            </a:r>
            <a:endParaRPr b="0" lang="es-ES" sz="2000" spc="-1" strike="noStrike">
              <a:latin typeface="Arial"/>
            </a:endParaRPr>
          </a:p>
          <a:p>
            <a:pPr marL="216000" indent="-215640">
              <a:lnSpc>
                <a:spcPct val="100000"/>
              </a:lnSpc>
              <a:tabLst>
                <a:tab algn="l" pos="0"/>
              </a:tabLst>
            </a:pPr>
            <a:r>
              <a:rPr b="0" lang="en-US" sz="2000" spc="-1" strike="noStrike">
                <a:latin typeface="Arial"/>
              </a:rPr>
              <a:t>- ¿Cómo ayudan los «Environments» de SSISDB a separar los entornos de pruebas y producción sin tocar el código del paquete?</a:t>
            </a:r>
            <a:endParaRPr b="0" lang="es-ES" sz="2000" spc="-1" strike="noStrike">
              <a:latin typeface="Arial"/>
            </a:endParaRPr>
          </a:p>
        </p:txBody>
      </p:sp>
      <p:sp>
        <p:nvSpPr>
          <p:cNvPr id="2250"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DEDF3D41-01E9-468E-9B17-C81623E79FE5}"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1" name="PlaceHolder 1"/>
          <p:cNvSpPr>
            <a:spLocks noGrp="1"/>
          </p:cNvSpPr>
          <p:nvPr>
            <p:ph type="sldImg"/>
          </p:nvPr>
        </p:nvSpPr>
        <p:spPr>
          <a:xfrm>
            <a:off x="685800" y="1143000"/>
            <a:ext cx="5485680" cy="3085560"/>
          </a:xfrm>
          <a:prstGeom prst="rect">
            <a:avLst/>
          </a:prstGeom>
        </p:spPr>
      </p:sp>
      <p:sp>
        <p:nvSpPr>
          <p:cNvPr id="2252"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Dejar la base Ventas lista para el ejercicio de desastre: recovery model Full y una log chain completa (Full, log, diferencial, log) con actividad entre backups.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Contexto: el laboratorio simula el escenario del diagrama de la estrategia: un Full, actividad, backups intermedios y un desastre posterior. Todo se hace sobre Ventas (la base creada en los laboratorios anteriores) en el contenedor Docker de SQL Server.</a:t>
            </a:r>
            <a:endParaRPr b="0" lang="es-ES" sz="2000" spc="-1" strike="noStrike">
              <a:latin typeface="Arial"/>
            </a:endParaRPr>
          </a:p>
          <a:p>
            <a:pPr marL="216000" indent="-216000">
              <a:lnSpc>
                <a:spcPct val="100000"/>
              </a:lnSpc>
            </a:pPr>
            <a:r>
              <a:rPr b="0" lang="en-US" sz="2000" spc="-1" strike="noStrike">
                <a:latin typeface="Arial"/>
              </a:rPr>
              <a:t>- Importancia del orden: sin Full previo, BACKUP LOG falla (error 4214 / «no hay backup actual de la base»); un diferencial exige un Full base. Por eso el primer paso es el Full, y por eso la log chain empieza aquí.</a:t>
            </a:r>
            <a:endParaRPr b="0" lang="es-ES" sz="2000" spc="-1" strike="noStrike">
              <a:latin typeface="Arial"/>
            </a:endParaRPr>
          </a:p>
          <a:p>
            <a:pPr marL="216000" indent="-216000">
              <a:lnSpc>
                <a:spcPct val="100000"/>
              </a:lnSpc>
            </a:pPr>
            <a:r>
              <a:rPr b="0" lang="en-US" sz="2000" spc="-1" strike="noStrike">
                <a:latin typeface="Arial"/>
              </a:rPr>
              <a:t>- WITH COMPRESSION, CHECKSUM, INIT: INIT sobrescribe el fichero si se repite el ejercicio; CHECKSUM valida páginas. Las rutas son /var/opt/mssql/backup/ dentro del contenedor; hay que montarla como volumen (docker run -v …) si se quiere ver desde el host.</a:t>
            </a:r>
            <a:endParaRPr b="0" lang="es-ES" sz="2000" spc="-1" strike="noStrike">
              <a:latin typeface="Arial"/>
            </a:endParaRPr>
          </a:p>
          <a:p>
            <a:pPr marL="216000" indent="-216000">
              <a:lnSpc>
                <a:spcPct val="100000"/>
              </a:lnSpc>
            </a:pPr>
            <a:r>
              <a:rPr b="0" lang="en-US" sz="2000" spc="-1" strike="noStrike">
                <a:latin typeface="Arial"/>
              </a:rPr>
              <a:t>- La actividad entre backups (INSERT en dbo.Cliente) sirve para que cada tipo de backup contenga datos distintos y para poder comprobar después hasta dónde se restauró.</a:t>
            </a:r>
            <a:endParaRPr b="0" lang="es-ES" sz="2000" spc="-1" strike="noStrike">
              <a:latin typeface="Arial"/>
            </a:endParaRPr>
          </a:p>
          <a:p>
            <a:pPr marL="216000" indent="-216000">
              <a:lnSpc>
                <a:spcPct val="100000"/>
              </a:lnSpc>
            </a:pPr>
            <a:r>
              <a:rPr b="0" lang="en-US" sz="2000" spc="-1" strike="noStrike">
                <a:latin typeface="Arial"/>
              </a:rPr>
              <a:t>- Anotar la hora (SYSDATETIME) justo antes del desastre es el dato más importante de la práctica: será el STOPAT. Pedir al alumnado que lo copie en un bloc de notas.</a:t>
            </a:r>
            <a:endParaRPr b="0" lang="es-ES" sz="2000" spc="-1" strike="noStrike">
              <a:latin typeface="Arial"/>
            </a:endParaRPr>
          </a:p>
          <a:p>
            <a:pPr marL="216000" indent="-216000">
              <a:lnSpc>
                <a:spcPct val="100000"/>
              </a:lnSpc>
            </a:pPr>
            <a:r>
              <a:rPr b="0" lang="en-US" sz="2000" spc="-1" strike="noStrike">
                <a:latin typeface="Arial"/>
              </a:rPr>
              <a:t>- Tiempo: ~20 min. Mientras corren los backups, aprovechar para repasar msdb.dbo.backupset y la columna type.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ocurre si se lanza BACKUP LOG antes del primer Full? ¿Por qué?</a:t>
            </a:r>
            <a:endParaRPr b="0" lang="es-ES" sz="2000" spc="-1" strike="noStrike">
              <a:latin typeface="Arial"/>
            </a:endParaRPr>
          </a:p>
          <a:p>
            <a:pPr marL="216000" indent="-216000">
              <a:lnSpc>
                <a:spcPct val="100000"/>
              </a:lnSpc>
            </a:pPr>
            <a:r>
              <a:rPr b="0" lang="en-US" sz="2000" spc="-1" strike="noStrike">
                <a:latin typeface="Arial"/>
              </a:rPr>
              <a:t>- ¿Qué contiene el diferencial respecto del log backup anterior?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(SSMS o sqlcmd conectado al contenedor): ejecutar USE master; ALTER DATABASE Ventas SET RECOVERY FULL; y comprobar con SELECT recovery_model_desc FROM sys.databases WHERE name = N'Ventas'.</a:t>
            </a:r>
            <a:endParaRPr b="0" lang="es-ES" sz="2000" spc="-1" strike="noStrike">
              <a:latin typeface="Arial"/>
            </a:endParaRPr>
          </a:p>
          <a:p>
            <a:pPr marL="216000" indent="-216000">
              <a:lnSpc>
                <a:spcPct val="100000"/>
              </a:lnSpc>
            </a:pPr>
            <a:r>
              <a:rPr b="0" lang="en-US" sz="2000" spc="-1" strike="noStrike">
                <a:latin typeface="Arial"/>
              </a:rPr>
              <a:t>- Paso 2: tomar el Full inicial (Ventas_L4_FULL.bak). Verificar que aparece en msdb.dbo.backupset con type = D.</a:t>
            </a:r>
            <a:endParaRPr b="0" lang="es-ES" sz="2000" spc="-1" strike="noStrike">
              <a:latin typeface="Arial"/>
            </a:endParaRPr>
          </a:p>
          <a:p>
            <a:pPr marL="216000" indent="-216000">
              <a:lnSpc>
                <a:spcPct val="100000"/>
              </a:lnSpc>
            </a:pPr>
            <a:r>
              <a:rPr b="0" lang="en-US" sz="2000" spc="-1" strike="noStrike">
                <a:latin typeface="Arial"/>
              </a:rPr>
              <a:t>- Paso 3: insertar un cliente y tomar el primer log backup (Ventas_L4_LOG1.trn); insertar otro y tomar el diferencial (Ventas_L4_DIFF.bak).</a:t>
            </a:r>
            <a:endParaRPr b="0" lang="es-ES" sz="2000" spc="-1" strike="noStrike">
              <a:latin typeface="Arial"/>
            </a:endParaRPr>
          </a:p>
          <a:p>
            <a:pPr marL="216000" indent="-216000">
              <a:lnSpc>
                <a:spcPct val="100000"/>
              </a:lnSpc>
            </a:pPr>
            <a:r>
              <a:rPr b="0" lang="en-US" sz="2000" spc="-1" strike="noStrike">
                <a:latin typeface="Arial"/>
              </a:rPr>
              <a:t>- Paso 4: insertar un tercer cliente y tomar un segundo log backup (Ventas_L4_LOG2.trn). Ejecutar SELECT COUNT(*) FROM dbo.Pedido y anotar el resultado (baseline).</a:t>
            </a:r>
            <a:endParaRPr b="0" lang="es-ES" sz="2000" spc="-1" strike="noStrike">
              <a:latin typeface="Arial"/>
            </a:endParaRPr>
          </a:p>
          <a:p>
            <a:pPr marL="216000" indent="-216000">
              <a:lnSpc>
                <a:spcPct val="100000"/>
              </a:lnSpc>
            </a:pPr>
            <a:r>
              <a:rPr b="0" lang="en-US" sz="2000" spc="-1" strike="noStrike">
                <a:latin typeface="Arial"/>
              </a:rPr>
              <a:t>-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b="0" lang="es-ES" sz="2000" spc="-1" strike="noStrike">
              <a:latin typeface="Arial"/>
            </a:endParaRPr>
          </a:p>
        </p:txBody>
      </p:sp>
      <p:sp>
        <p:nvSpPr>
          <p:cNvPr id="2253"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AEAE817-8404-4B8A-B66D-4AFD3D54D8C2}"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4" name="PlaceHolder 1"/>
          <p:cNvSpPr>
            <a:spLocks noGrp="1"/>
          </p:cNvSpPr>
          <p:nvPr>
            <p:ph type="sldImg"/>
          </p:nvPr>
        </p:nvSpPr>
        <p:spPr>
          <a:xfrm>
            <a:off x="685800" y="1143000"/>
            <a:ext cx="5485680" cy="3085560"/>
          </a:xfrm>
          <a:prstGeom prst="rect">
            <a:avLst/>
          </a:prstGeom>
        </p:spPr>
      </p:sp>
      <p:sp>
        <p:nvSpPr>
          <p:cNvPr id="2255"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Provocar un error humano (DELETE sin WHERE), registrar la hora previa y salvar las transacciones con un tail-log backup antes de restaurar.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El error humano es la causa de pérdida de datos más frecuente en producción (más que el fallo hardware). Simulamos un DELETE FROM dbo.Pedido sin WHERE: las filas desaparecen de forma lógica pero el log las contiene.</a:t>
            </a:r>
            <a:endParaRPr b="0" lang="es-ES" sz="2000" spc="-1" strike="noStrike">
              <a:latin typeface="Arial"/>
            </a:endParaRPr>
          </a:p>
          <a:p>
            <a:pPr marL="216000" indent="-216000">
              <a:lnSpc>
                <a:spcPct val="100000"/>
              </a:lnSpc>
            </a:pPr>
            <a:r>
              <a:rPr b="0" lang="en-US" sz="2000" spc="-1" strike="noStrike">
                <a:latin typeface="Arial"/>
              </a:rPr>
              <a:t>- Capturar SYSDATETIME() justo antes, y esperar unos segundos (WAITFOR DELAY) antes del DELETE para que haya margen entre HoraOK y el accidente al fijar STOPAT. La hora es la del servidor: en Docker normalmente UTC.</a:t>
            </a:r>
            <a:endParaRPr b="0" lang="es-ES" sz="2000" spc="-1" strike="noStrike">
              <a:latin typeface="Arial"/>
            </a:endParaRPr>
          </a:p>
          <a:p>
            <a:pPr marL="216000" indent="-216000">
              <a:lnSpc>
                <a:spcPct val="100000"/>
              </a:lnSpc>
            </a:pPr>
            <a:r>
              <a:rPr b="0" lang="en-US" sz="2000" spc="-1" strike="noStrike">
                <a:latin typeface="Arial"/>
              </a:rPr>
              <a:t>- Tail-log backup con NORECOVERY: toma la cola del log (incluye el DELETE y todo lo anterior) y deja la base en RESTORING, bloqueando nuevas escrituras mientras se restaura. En producción es el paso que evita perder los últimos minutos.</a:t>
            </a:r>
            <a:endParaRPr b="0" lang="es-ES" sz="2000" spc="-1" strike="noStrike">
              <a:latin typeface="Arial"/>
            </a:endParaRPr>
          </a:p>
          <a:p>
            <a:pPr marL="216000" indent="-216000">
              <a:lnSpc>
                <a:spcPct val="100000"/>
              </a:lnSpc>
            </a:pPr>
            <a:r>
              <a:rPr b="0" lang="en-US" sz="2000" spc="-1" strike="noStrike">
                <a:latin typeface="Arial"/>
              </a:rPr>
              <a:t>- Explicar la lección: lo que se restaura es la base anterior al DELETE, pero los datos legítimos hechos entre el accidente y la detección se perderían; alternativa: restaurar con otro nombre (RESTORE … AS Ventas_Recup) y copiar sólo las filas borradas con INSERT…SELECT.</a:t>
            </a:r>
            <a:endParaRPr b="0" lang="es-ES" sz="2000" spc="-1" strike="noStrike">
              <a:latin typeface="Arial"/>
            </a:endParaRPr>
          </a:p>
          <a:p>
            <a:pPr marL="216000" indent="-216000">
              <a:lnSpc>
                <a:spcPct val="100000"/>
              </a:lnSpc>
            </a:pPr>
            <a:r>
              <a:rPr b="0" lang="en-US" sz="2000" spc="-1" strike="noStrike">
                <a:latin typeface="Arial"/>
              </a:rPr>
              <a:t>- Verificar el estado tras el tail-log: SELECT name, state_desc FROM sys.databases WHERE name = N'Ventas'; debe mostrar RESTORING.</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¿Por qué hay que hacer el tail-log ANTES de empezar a restaurar?</a:t>
            </a:r>
            <a:endParaRPr b="0" lang="es-ES" sz="2000" spc="-1" strike="noStrike">
              <a:latin typeface="Arial"/>
            </a:endParaRPr>
          </a:p>
          <a:p>
            <a:pPr marL="216000" indent="-216000">
              <a:lnSpc>
                <a:spcPct val="100000"/>
              </a:lnSpc>
            </a:pPr>
            <a:r>
              <a:rPr b="0" lang="en-US" sz="2000" spc="-1" strike="noStrike">
                <a:latin typeface="Arial"/>
              </a:rPr>
              <a:t>- ¿Qué alternativa tendrías si sólo quisieras recuperar las filas borradas sin revertir toda la base?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en una pestaña de SSMS ejecutar USE Ventas; SELECT COUNT(*) AS Pedidos FROM dbo.Pedido; y anotar el valor.</a:t>
            </a:r>
            <a:endParaRPr b="0" lang="es-ES" sz="2000" spc="-1" strike="noStrike">
              <a:latin typeface="Arial"/>
            </a:endParaRPr>
          </a:p>
          <a:p>
            <a:pPr marL="216000" indent="-216000">
              <a:lnSpc>
                <a:spcPct val="100000"/>
              </a:lnSpc>
            </a:pPr>
            <a:r>
              <a:rPr b="0" lang="en-US" sz="2000" spc="-1" strike="noStrike">
                <a:latin typeface="Arial"/>
              </a:rPr>
              <a:t>- Paso 2: ejecutar SELECT SYSDATETIME() AS HoraOK; copiar el valor (p. ej. 2025-03-12 10:36:05.1234567) y esperar 5 s con WAITFOR DELAY.</a:t>
            </a:r>
            <a:endParaRPr b="0" lang="es-ES" sz="2000" spc="-1" strike="noStrike">
              <a:latin typeface="Arial"/>
            </a:endParaRPr>
          </a:p>
          <a:p>
            <a:pPr marL="216000" indent="-216000">
              <a:lnSpc>
                <a:spcPct val="100000"/>
              </a:lnSpc>
            </a:pPr>
            <a:r>
              <a:rPr b="0" lang="en-US" sz="2000" spc="-1" strike="noStrike">
                <a:latin typeface="Arial"/>
              </a:rPr>
              <a:t>- Paso 3: ejecutar el «accidente»: DELETE FROM dbo.Pedido; y comprobar COUNT(*) = 0.</a:t>
            </a:r>
            <a:endParaRPr b="0" lang="es-ES" sz="2000" spc="-1" strike="noStrike">
              <a:latin typeface="Arial"/>
            </a:endParaRPr>
          </a:p>
          <a:p>
            <a:pPr marL="216000" indent="-216000">
              <a:lnSpc>
                <a:spcPct val="100000"/>
              </a:lnSpc>
            </a:pPr>
            <a:r>
              <a:rPr b="0" lang="en-US" sz="2000" spc="-1" strike="noStrike">
                <a:latin typeface="Arial"/>
              </a:rPr>
              <a:t>- Paso 4: desde master tomar el tail-log (Ventas_L4_TAIL.trn) WITH NORECOVERY, CHECKSUM. Si la sesión que borró sigue conectada a Ventas, cerrarla antes o añadir ALTER DATABASE … SET SINGLE_USER WITH ROLLBACK IMMEDIATE.</a:t>
            </a:r>
            <a:endParaRPr b="0" lang="es-ES" sz="2000" spc="-1" strike="noStrike">
              <a:latin typeface="Arial"/>
            </a:endParaRPr>
          </a:p>
          <a:p>
            <a:pPr marL="216000" indent="-216000">
              <a:lnSpc>
                <a:spcPct val="100000"/>
              </a:lnSpc>
            </a:pPr>
            <a:r>
              <a:rPr b="0" lang="en-US" sz="2000" spc="-1" strike="noStrike">
                <a:latin typeface="Arial"/>
              </a:rPr>
              <a:t>- Trampas habituales: (a) dejar USE Ventas activo y no poder pasar a RESTORING (hay conexiones abiertas); (b) olvidar anotar la hora; (c) usar NORECOVERY en el tail-log y luego querer consultar la base (está en RESTORING, es lo esperado); (d) confundir hora local y UTC.</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b="0" lang="es-ES" sz="2000" spc="-1" strike="noStrike">
              <a:latin typeface="Arial"/>
            </a:endParaRPr>
          </a:p>
        </p:txBody>
      </p:sp>
      <p:sp>
        <p:nvSpPr>
          <p:cNvPr id="2256"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13BFC260-A064-4EA4-84A1-09A5110D8F4C}"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7" name="PlaceHolder 1"/>
          <p:cNvSpPr>
            <a:spLocks noGrp="1"/>
          </p:cNvSpPr>
          <p:nvPr>
            <p:ph type="sldImg"/>
          </p:nvPr>
        </p:nvSpPr>
        <p:spPr>
          <a:xfrm>
            <a:off x="685800" y="1143000"/>
            <a:ext cx="5485680" cy="3085560"/>
          </a:xfrm>
          <a:prstGeom prst="rect">
            <a:avLst/>
          </a:prstGeom>
        </p:spPr>
      </p:sp>
      <p:sp>
        <p:nvSpPr>
          <p:cNvPr id="2258"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Ejecutar la secuencia completa de restauración con STOPAT, recuperar Pedido y verificar el resultado comparándolo con el baseline.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Secuencia: Full (NORECOVERY, REPLACE) → diferencial (NORECOVERY) → log 1 (NORECOVERY) → log 2 (NORECOVERY, si se tomó) → tail-log con STOPAT = HoraOK y RECOVERY. Cada paso debe devolver «RESTORE DATABASE successfully processed» antes del siguiente.</a:t>
            </a:r>
            <a:endParaRPr b="0" lang="es-ES" sz="2000" spc="-1" strike="noStrike">
              <a:latin typeface="Arial"/>
            </a:endParaRPr>
          </a:p>
          <a:p>
            <a:pPr marL="216000" indent="-216000">
              <a:lnSpc>
                <a:spcPct val="100000"/>
              </a:lnSpc>
            </a:pPr>
            <a:r>
              <a:rPr b="0" lang="en-US" sz="2000" spc="-1" strike="noStrike">
                <a:latin typeface="Arial"/>
              </a:rPr>
              <a:t>-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a:t>
            </a:r>
            <a:endParaRPr b="0" lang="es-ES" sz="2000" spc="-1" strike="noStrike">
              <a:latin typeface="Arial"/>
            </a:endParaRPr>
          </a:p>
          <a:p>
            <a:pPr marL="216000" indent="-216000">
              <a:lnSpc>
                <a:spcPct val="100000"/>
              </a:lnSpc>
            </a:pPr>
            <a:r>
              <a:rPr b="0" lang="en-US" sz="2000" spc="-1" strike="noStrike">
                <a:latin typeface="Arial"/>
              </a:rPr>
              <a:t>- REPLACE es necesario porque la base existe (en RESTORING) y se sobrescribe. Si alguien omite NORECOVERY en el Full, el siguiente RESTORE falla («the database is online / el log no se puede restaurar»): hay que volver a empezar.</a:t>
            </a:r>
            <a:endParaRPr b="0" lang="es-ES" sz="2000" spc="-1" strike="noStrike">
              <a:latin typeface="Arial"/>
            </a:endParaRPr>
          </a:p>
          <a:p>
            <a:pPr marL="216000" indent="-216000">
              <a:lnSpc>
                <a:spcPct val="100000"/>
              </a:lnSpc>
            </a:pPr>
            <a:r>
              <a:rPr b="0" lang="en-US" sz="2000" spc="-1" strike="noStrike">
                <a:latin typeface="Arial"/>
              </a:rPr>
              <a:t>- Verificación: SELECT COUNT(*) FROM dbo.Pedido debe igualar el baseline anotado antes del DELETE. Después: DBCC CHECKDB (Ventas) WITH NO_INFOMSGS y una consulta a msdb.dbo.restorehistory para ver la secuencia.</a:t>
            </a:r>
            <a:endParaRPr b="0" lang="es-ES" sz="2000" spc="-1" strike="noStrike">
              <a:latin typeface="Arial"/>
            </a:endParaRPr>
          </a:p>
          <a:p>
            <a:pPr marL="216000" indent="-216000">
              <a:lnSpc>
                <a:spcPct val="100000"/>
              </a:lnSpc>
            </a:pPr>
            <a:r>
              <a:rPr b="0" lang="en-US" sz="2000" spc="-1" strike="noStrike">
                <a:latin typeface="Arial"/>
              </a:rPr>
              <a:t>- Cierre pedagógico: discutir el RTO real medido (cuánto tardó) y el RPO (qué se perdió, en este caso nada gracias al tail-log); conectar con el caso integrador.</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diferencia habría si en vez de STOPAT usáramos sólo RECOVERY con el tail-log completo?</a:t>
            </a:r>
            <a:endParaRPr b="0" lang="es-ES" sz="2000" spc="-1" strike="noStrike">
              <a:latin typeface="Arial"/>
            </a:endParaRPr>
          </a:p>
          <a:p>
            <a:pPr marL="216000" indent="-216000">
              <a:lnSpc>
                <a:spcPct val="100000"/>
              </a:lnSpc>
            </a:pPr>
            <a:r>
              <a:rPr b="0" lang="en-US" sz="2000" spc="-1" strike="noStrike">
                <a:latin typeface="Arial"/>
              </a:rPr>
              <a:t>- Si el COUNT(*) es menor que el baseline, ¿qué hipótesis comprobarías primero?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Paso 1: desde master, RESTORE DATABASE Ventas FROM DISK = Ventas_L4_FULL.bak WITH NORECOVERY, REPLACE.</a:t>
            </a:r>
            <a:endParaRPr b="0" lang="es-ES" sz="2000" spc="-1" strike="noStrike">
              <a:latin typeface="Arial"/>
            </a:endParaRPr>
          </a:p>
          <a:p>
            <a:pPr marL="216000" indent="-216000">
              <a:lnSpc>
                <a:spcPct val="100000"/>
              </a:lnSpc>
            </a:pPr>
            <a:r>
              <a:rPr b="0" lang="en-US" sz="2000" spc="-1" strike="noStrike">
                <a:latin typeface="Arial"/>
              </a:rPr>
              <a:t>- Paso 2: RESTORE DATABASE Ventas FROM DISK = Ventas_L4_DIFF.bak WITH NORECOVERY.</a:t>
            </a:r>
            <a:endParaRPr b="0" lang="es-ES" sz="2000" spc="-1" strike="noStrike">
              <a:latin typeface="Arial"/>
            </a:endParaRPr>
          </a:p>
          <a:p>
            <a:pPr marL="216000" indent="-216000">
              <a:lnSpc>
                <a:spcPct val="100000"/>
              </a:lnSpc>
            </a:pPr>
            <a:r>
              <a:rPr b="0" lang="en-US" sz="2000" spc="-1" strike="noStrike">
                <a:latin typeface="Arial"/>
              </a:rPr>
              <a:t>- Paso 3: RESTORE LOG con Ventas_L4_LOG1.trn (NORECOVERY); si se tomó el segundo log (LOG2), restaurarlo también en orden.</a:t>
            </a:r>
            <a:endParaRPr b="0" lang="es-ES" sz="2000" spc="-1" strike="noStrike">
              <a:latin typeface="Arial"/>
            </a:endParaRPr>
          </a:p>
          <a:p>
            <a:pPr marL="216000" indent="-216000">
              <a:lnSpc>
                <a:spcPct val="100000"/>
              </a:lnSpc>
            </a:pPr>
            <a:r>
              <a:rPr b="0" lang="en-US" sz="2000" spc="-1" strike="noStrike">
                <a:latin typeface="Arial"/>
              </a:rPr>
              <a:t>- Paso 4: RESTORE LOG con Ventas_L4_TAIL.trn WITH STOPAT = N'&lt;HoraOK&gt;', RECOVERY (usar el valor anotado; formato aaaa-mm-ddThh:mm:ss).</a:t>
            </a:r>
            <a:endParaRPr b="0" lang="es-ES" sz="2000" spc="-1" strike="noStrike">
              <a:latin typeface="Arial"/>
            </a:endParaRPr>
          </a:p>
          <a:p>
            <a:pPr marL="216000" indent="-216000">
              <a:lnSpc>
                <a:spcPct val="100000"/>
              </a:lnSpc>
            </a:pPr>
            <a:r>
              <a:rPr b="0" lang="en-US" sz="2000" spc="-1" strike="noStrike">
                <a:latin typeface="Arial"/>
              </a:rPr>
              <a:t>- Paso 5: comprobar COUNT(*) FROM dbo.Pedido = baseline, state_desc = ONLINE y ejecutar DBCC CHECKDB.</a:t>
            </a:r>
            <a:endParaRPr b="0" lang="es-ES" sz="2000" spc="-1" strike="noStrike">
              <a:latin typeface="Arial"/>
            </a:endParaRPr>
          </a:p>
          <a:p>
            <a:pPr marL="216000" indent="-216000">
              <a:lnSpc>
                <a:spcPct val="100000"/>
              </a:lnSpc>
            </a:pPr>
            <a:r>
              <a:rPr b="0" lang="en-US" sz="2000" spc="-1" strike="noStrike">
                <a:latin typeface="Arial"/>
              </a:rPr>
              <a:t>-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b="0" lang="es-ES" sz="2000" spc="-1" strike="noStrike">
              <a:latin typeface="Arial"/>
            </a:endParaRPr>
          </a:p>
        </p:txBody>
      </p:sp>
      <p:sp>
        <p:nvSpPr>
          <p:cNvPr id="2259"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ACE63ED2-9511-4B4D-9983-9A5A4534257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0" name="PlaceHolder 1"/>
          <p:cNvSpPr>
            <a:spLocks noGrp="1"/>
          </p:cNvSpPr>
          <p:nvPr>
            <p:ph type="sldImg"/>
          </p:nvPr>
        </p:nvSpPr>
        <p:spPr>
          <a:xfrm>
            <a:off x="685800" y="1143000"/>
            <a:ext cx="5485680" cy="3085560"/>
          </a:xfrm>
          <a:prstGeom prst="rect">
            <a:avLst/>
          </a:prstGeom>
        </p:spPr>
      </p:sp>
      <p:sp>
        <p:nvSpPr>
          <p:cNvPr id="2261"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Integrar todo el curso en un único entregable: dejar una instancia lista para producción con seguridad, rendimiento, estrategia de backups y mantenimiento que cumpla un RPO y un RTO dados.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Escenario: «Ventas S.A.» pone en producción la base Ventas (Cliente, Pedido, Producto) en una instancia nueva. Se pide un plan de operación defendible ante el responsable de sistemas, con un RPO ≤ 15 min y un RTO ≤ 60 min.</a:t>
            </a:r>
            <a:endParaRPr b="0" lang="es-ES" sz="2000" spc="-1" strike="noStrike">
              <a:latin typeface="Arial"/>
            </a:endParaRPr>
          </a:p>
          <a:p>
            <a:pPr marL="216000" indent="-216000">
              <a:lnSpc>
                <a:spcPct val="100000"/>
              </a:lnSpc>
            </a:pPr>
            <a:r>
              <a:rPr b="0" lang="en-US" sz="2000" spc="-1" strike="noStrike">
                <a:latin typeface="Arial"/>
              </a:rPr>
              <a:t>- Requisitos de seguridad (Módulo 2): login SQL o de dominio para la aplicación con permisos mínimos (db_datareader/db_datawriter o permisos sobre schema), rol de sólo lectura para informes, ningún miembro de sysadmin salvo el DBA; auditoría básica de logins fallidos.</a:t>
            </a:r>
            <a:endParaRPr b="0" lang="es-ES" sz="2000" spc="-1" strike="noStrike">
              <a:latin typeface="Arial"/>
            </a:endParaRPr>
          </a:p>
          <a:p>
            <a:pPr marL="216000" indent="-216000">
              <a:lnSpc>
                <a:spcPct val="100000"/>
              </a:lnSpc>
            </a:pPr>
            <a:r>
              <a:rPr b="0" lang="en-US" sz="2000" spc="-1" strike="noStrike">
                <a:latin typeface="Arial"/>
              </a:rPr>
              <a:t>- Requisitos de rendimiento (Módulo 3): al menos 2 índices justificados con plan de ejecución antes/después (por ejemplo, Pedido por ClienteId + Fecha con INCLUDE de Total) y una consulta analítica que pase de scan a seek; evidencias con SET STATISTICS IO.</a:t>
            </a:r>
            <a:endParaRPr b="0" lang="es-ES" sz="2000" spc="-1" strike="noStrike">
              <a:latin typeface="Arial"/>
            </a:endParaRPr>
          </a:p>
          <a:p>
            <a:pPr marL="216000" indent="-216000">
              <a:lnSpc>
                <a:spcPct val="100000"/>
              </a:lnSpc>
            </a:pPr>
            <a:r>
              <a:rPr b="0" lang="en-US" sz="2000" spc="-1" strike="noStrike">
                <a:latin typeface="Arial"/>
              </a:rPr>
              <a:t>- Requisitos de backups (Módulo 4): recovery Full, Full semanal, Diferencial diario, Log cada 15 min con COMPRESSION y CHECKSUM, copia fuera del servidor (Azure Blob o ruta de red), restauración de prueba en otro nombre (Ventas_Test) con medición del tiempo real.</a:t>
            </a:r>
            <a:endParaRPr b="0" lang="es-ES" sz="2000" spc="-1" strike="noStrike">
              <a:latin typeface="Arial"/>
            </a:endParaRPr>
          </a:p>
          <a:p>
            <a:pPr marL="216000" indent="-216000">
              <a:lnSpc>
                <a:spcPct val="100000"/>
              </a:lnSpc>
            </a:pPr>
            <a:r>
              <a:rPr b="0" lang="en-US" sz="2000" spc="-1" strike="noStrike">
                <a:latin typeface="Arial"/>
              </a:rPr>
              <a:t>- Mantenimiento: jobs de Agent para backups, CHECKDB semanal, mantenimiento de índices y estadísticas por umbrales, limpieza de msdb, alertas 823/824/825 y gravedad 19–25, Database Mail y operador DBA.</a:t>
            </a:r>
            <a:endParaRPr b="0" lang="es-ES" sz="2000" spc="-1" strike="noStrike">
              <a:latin typeface="Arial"/>
            </a:endParaRPr>
          </a:p>
          <a:p>
            <a:pPr marL="216000" indent="-216000">
              <a:lnSpc>
                <a:spcPct val="100000"/>
              </a:lnSpc>
            </a:pPr>
            <a:r>
              <a:rPr b="0" lang="en-US" sz="2000" spc="-1" strike="noStrike">
                <a:latin typeface="Arial"/>
              </a:rPr>
              <a:t>- Evaluación: seguridad 25 %, rendimiento 25 %, backups y restauración 30 %, mantenimiento y alertas 20 %. Entregables: script T-SQL (idempotente y comentado), informe breve de 1–2 páginas con RPO/RTO medidos y capturas de la restauración.</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¿Cómo demostrarías con datos que se cumple el RPO de 15 minutos? ¿Y el RTO de 60 minutos?</a:t>
            </a:r>
            <a:endParaRPr b="0" lang="es-ES" sz="2000" spc="-1" strike="noStrike">
              <a:latin typeface="Arial"/>
            </a:endParaRPr>
          </a:p>
          <a:p>
            <a:pPr marL="216000" indent="-216000">
              <a:lnSpc>
                <a:spcPct val="100000"/>
              </a:lnSpc>
            </a:pPr>
            <a:r>
              <a:rPr b="0" lang="en-US" sz="2000" spc="-1" strike="noStrike">
                <a:latin typeface="Arial"/>
              </a:rPr>
              <a:t>- ¿Qué riesgo queda sin cubrir con este diseño (p. ej. fallo del sitio completo) y cómo lo mitigarías con lo visto en HA/DR?</a:t>
            </a:r>
            <a:endParaRPr b="0" lang="es-ES" sz="2000" spc="-1" strike="noStrike">
              <a:latin typeface="Arial"/>
            </a:endParaRPr>
          </a:p>
          <a:p>
            <a:pPr marL="216000" indent="-216000">
              <a:lnSpc>
                <a:spcPct val="100000"/>
              </a:lnSpc>
            </a:pPr>
            <a:r>
              <a:rPr b="0" lang="en-US" sz="2000" spc="-1" strike="noStrike">
                <a:latin typeface="Arial"/>
              </a:rPr>
              <a:t>- ¿Qué pondrías en el runbook para que otra persona pueda restaurar a las 3 de la madrugada?</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Instrucciones de Laboratorio:</a:t>
            </a:r>
            <a:endParaRPr b="0" lang="es-ES" sz="2000" spc="-1" strike="noStrike">
              <a:latin typeface="Arial"/>
            </a:endParaRPr>
          </a:p>
          <a:p>
            <a:pPr marL="216000" indent="-216000">
              <a:lnSpc>
                <a:spcPct val="100000"/>
              </a:lnSpc>
            </a:pPr>
            <a:r>
              <a:rPr b="0" lang="en-US" sz="2000" spc="-1" strike="noStrike">
                <a:latin typeface="Arial"/>
              </a:rPr>
              <a:t>- Dinámica: trabajo individual o en parejas, ~60 min más 10 min de puesta en común. El docente recorre los grupos con la rúbrica.</a:t>
            </a:r>
            <a:endParaRPr b="0" lang="es-ES" sz="2000" spc="-1" strike="noStrike">
              <a:latin typeface="Arial"/>
            </a:endParaRPr>
          </a:p>
          <a:p>
            <a:pPr marL="216000" indent="-216000">
              <a:lnSpc>
                <a:spcPct val="100000"/>
              </a:lnSpc>
            </a:pPr>
            <a:r>
              <a:rPr b="0" lang="en-US" sz="2000" spc="-1" strike="noStrike">
                <a:latin typeface="Arial"/>
              </a:rPr>
              <a:t>- Paso 1 (10 min): seguridad: CREATE LOGIN + CREATE USER + roles; probar con EXECUTE AS que la app no puede DROP ni leer fuera de su schema.</a:t>
            </a:r>
            <a:endParaRPr b="0" lang="es-ES" sz="2000" spc="-1" strike="noStrike">
              <a:latin typeface="Arial"/>
            </a:endParaRPr>
          </a:p>
          <a:p>
            <a:pPr marL="216000" indent="-216000">
              <a:lnSpc>
                <a:spcPct val="100000"/>
              </a:lnSpc>
            </a:pPr>
            <a:r>
              <a:rPr b="0" lang="en-US" sz="2000" spc="-1" strike="noStrike">
                <a:latin typeface="Arial"/>
              </a:rPr>
              <a:t>- Paso 2 (15 min): índices: capturar el plan antes (Table Scan / Key Lookup), crear el índice (con INCLUDE), capturar después (Index Seek) y comparar lecturas lógicas.</a:t>
            </a:r>
            <a:endParaRPr b="0" lang="es-ES" sz="2000" spc="-1" strike="noStrike">
              <a:latin typeface="Arial"/>
            </a:endParaRPr>
          </a:p>
          <a:p>
            <a:pPr marL="216000" indent="-216000">
              <a:lnSpc>
                <a:spcPct val="100000"/>
              </a:lnSpc>
            </a:pPr>
            <a:r>
              <a:rPr b="0" lang="en-US" sz="2000" spc="-1" strike="noStrike">
                <a:latin typeface="Arial"/>
              </a:rPr>
              <a:t>- Paso 3 (20 min): backups: recovery Full, Full + Diff + Log con CHECKSUM, simular un fallo y restaurar a otro nombre con MOVE, medir el RTO.</a:t>
            </a:r>
            <a:endParaRPr b="0" lang="es-ES" sz="2000" spc="-1" strike="noStrike">
              <a:latin typeface="Arial"/>
            </a:endParaRPr>
          </a:p>
          <a:p>
            <a:pPr marL="216000" indent="-216000">
              <a:lnSpc>
                <a:spcPct val="100000"/>
              </a:lnSpc>
            </a:pPr>
            <a:r>
              <a:rPr b="0" lang="en-US" sz="2000" spc="-1" strike="noStrike">
                <a:latin typeface="Arial"/>
              </a:rPr>
              <a:t>- Paso 4 (15 min): mantenimiento: crear al menos un job (log backup cada 15 min), una alerta (error 823 o gravedad 24) y el operador DBA.</a:t>
            </a:r>
            <a:endParaRPr b="0" lang="es-ES" sz="2000" spc="-1" strike="noStrike">
              <a:latin typeface="Arial"/>
            </a:endParaRPr>
          </a:p>
          <a:p>
            <a:pPr marL="216000" indent="-216000">
              <a:lnSpc>
                <a:spcPct val="100000"/>
              </a:lnSpc>
            </a:pPr>
            <a:r>
              <a:rPr b="0" lang="en-US" sz="2000" spc="-1" strike="noStrike">
                <a:latin typeface="Arial"/>
              </a:rPr>
              <a:t>- Trampas habituales: backups en el mismo volumen que los datos; no probar la restauración; dar sysadmin a la aplicación «para ir más rápido»; índices duplicados; olvidar el INCLUDE y mantener el Key Lookup; no iniciar la log chain (falta del primer Full).</a:t>
            </a:r>
            <a:endParaRPr b="0" lang="es-ES" sz="2000" spc="-1" strike="noStrike">
              <a:latin typeface="Arial"/>
            </a:endParaRPr>
          </a:p>
          <a:p>
            <a:pPr marL="216000" indent="-215640">
              <a:lnSpc>
                <a:spcPct val="100000"/>
              </a:lnSpc>
              <a:tabLst>
                <a:tab algn="l" pos="0"/>
              </a:tabLst>
            </a:pPr>
            <a:r>
              <a:rPr b="0" lang="en-US" sz="2000" spc="-1" strike="noStrike">
                <a:latin typeface="Arial"/>
              </a:rPr>
              <a:t>-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b="0" lang="es-ES" sz="2000" spc="-1" strike="noStrike">
              <a:latin typeface="Arial"/>
            </a:endParaRPr>
          </a:p>
        </p:txBody>
      </p:sp>
      <p:sp>
        <p:nvSpPr>
          <p:cNvPr id="2262"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73535676-9BB2-4EDD-A26F-757D9500AB1E}"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3" name="PlaceHolder 1"/>
          <p:cNvSpPr>
            <a:spLocks noGrp="1"/>
          </p:cNvSpPr>
          <p:nvPr>
            <p:ph type="sldImg"/>
          </p:nvPr>
        </p:nvSpPr>
        <p:spPr>
          <a:xfrm>
            <a:off x="685800" y="1143000"/>
            <a:ext cx="5485680" cy="3085560"/>
          </a:xfrm>
          <a:prstGeom prst="rect">
            <a:avLst/>
          </a:prstGeom>
        </p:spPr>
      </p:sp>
      <p:sp>
        <p:nvSpPr>
          <p:cNvPr id="2264"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Consolidar en una lista accionable los hábitos que protegen la instancia y que el alumnado puede aplicar desde el primer día de trabajo.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Backups: el estándar es recovery Full con Full + Diff + Log según RPO/RTO, siempre con CHECKSUM y compresión, guardados fuera del servidor (3-2-1) y con una restauración de prueba mensual. «Un backup no probado es una esperanza».</a:t>
            </a:r>
            <a:endParaRPr b="0" lang="es-ES" sz="2000" spc="-1" strike="noStrike">
              <a:latin typeface="Arial"/>
            </a:endParaRPr>
          </a:p>
          <a:p>
            <a:pPr marL="216000" indent="-216000">
              <a:lnSpc>
                <a:spcPct val="100000"/>
              </a:lnSpc>
            </a:pPr>
            <a:r>
              <a:rPr b="0" lang="en-US" sz="2000" spc="-1" strike="noStrike">
                <a:latin typeface="Arial"/>
              </a:rPr>
              <a:t>- Integridad: PAGE_VERIFY CHECKSUM en todas las bases, DBCC CHECKDB al menos semanal (idealmente sobre una copia restaurada) y alertas 823, 824, 825 y gravedad 19–25 enviadas por Database Mail.</a:t>
            </a:r>
            <a:endParaRPr b="0" lang="es-ES" sz="2000" spc="-1" strike="noStrike">
              <a:latin typeface="Arial"/>
            </a:endParaRPr>
          </a:p>
          <a:p>
            <a:pPr marL="216000" indent="-216000">
              <a:lnSpc>
                <a:spcPct val="100000"/>
              </a:lnSpc>
            </a:pPr>
            <a:r>
              <a:rPr b="0" lang="en-US" sz="2000" spc="-1" strike="noStrike">
                <a:latin typeface="Arial"/>
              </a:rPr>
              <a:t>- Mantenimiento: reorganizar/reconstruir por umbrales (5 %/30 %, &gt; 1000 páginas), estadísticas actualizadas, limpieza de msdb y revisión del historial de jobs. Evitar SHRINK y rebuild ciegos.</a:t>
            </a:r>
            <a:endParaRPr b="0" lang="es-ES" sz="2000" spc="-1" strike="noStrike">
              <a:latin typeface="Arial"/>
            </a:endParaRPr>
          </a:p>
          <a:p>
            <a:pPr marL="216000" indent="-216000">
              <a:lnSpc>
                <a:spcPct val="100000"/>
              </a:lnSpc>
            </a:pPr>
            <a:r>
              <a:rPr b="0" lang="en-US" sz="2000" spc="-1" strike="noStrike">
                <a:latin typeface="Arial"/>
              </a:rPr>
              <a:t>- Capacidad y rendimiento: autogrowth en MB fijos y tamaños iniciales realistas, ficheros de tempdb iguales, monitorización de espacio, log_reuse_wait_desc y esperas con DMVs. Baseline para detectar desviaciones.</a:t>
            </a:r>
            <a:endParaRPr b="0" lang="es-ES" sz="2000" spc="-1" strike="noStrike">
              <a:latin typeface="Arial"/>
            </a:endParaRPr>
          </a:p>
          <a:p>
            <a:pPr marL="216000" indent="-216000">
              <a:lnSpc>
                <a:spcPct val="100000"/>
              </a:lnSpc>
            </a:pPr>
            <a:r>
              <a:rPr b="0" lang="en-US" sz="2000" spc="-1" strike="noStrike">
                <a:latin typeface="Arial"/>
              </a:rPr>
              <a:t>- Seguridad: mínimo privilegio, sin cuentas compartidas, sa deshabilitada o con contraseña robusta, auditoría de sysadmin y parches (CU) al día con ventana de mantenimiento.</a:t>
            </a:r>
            <a:endParaRPr b="0" lang="es-ES" sz="2000" spc="-1" strike="noStrike">
              <a:latin typeface="Arial"/>
            </a:endParaRPr>
          </a:p>
          <a:p>
            <a:pPr marL="216000" indent="-216000">
              <a:lnSpc>
                <a:spcPct val="100000"/>
              </a:lnSpc>
            </a:pPr>
            <a:r>
              <a:rPr b="0" lang="en-US" sz="2000" spc="-1" strike="noStrike">
                <a:latin typeface="Arial"/>
              </a:rPr>
              <a:t>- Operación: runbooks documentados, contactos de escalado, pruebas de DR periódicas (RPO/RTO medidos) y control de cambios. La automatización reduce errores humanos, la principal causa de incidentes.</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elemento del checklist es el más barato de implantar y el más caro de olvidar?</a:t>
            </a:r>
            <a:endParaRPr b="0" lang="es-ES" sz="2000" spc="-1" strike="noStrike">
              <a:latin typeface="Arial"/>
            </a:endParaRPr>
          </a:p>
          <a:p>
            <a:pPr marL="216000" indent="-215640">
              <a:lnSpc>
                <a:spcPct val="100000"/>
              </a:lnSpc>
              <a:tabLst>
                <a:tab algn="l" pos="0"/>
              </a:tabLst>
            </a:pPr>
            <a:r>
              <a:rPr b="0" lang="en-US" sz="2000" spc="-1" strike="noStrike">
                <a:latin typeface="Arial"/>
              </a:rPr>
              <a:t>- ¿Cuáles de estos hábitos ya se aplican en vuestra organización y cuáles no? ¿Qué impide hacerlo?</a:t>
            </a:r>
            <a:endParaRPr b="0" lang="es-ES" sz="2000" spc="-1" strike="noStrike">
              <a:latin typeface="Arial"/>
            </a:endParaRPr>
          </a:p>
        </p:txBody>
      </p:sp>
      <p:sp>
        <p:nvSpPr>
          <p:cNvPr id="2265"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EC56A591-6C1E-4EE6-AAF0-77A5E5E302ED}"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6" name="PlaceHolder 1"/>
          <p:cNvSpPr>
            <a:spLocks noGrp="1"/>
          </p:cNvSpPr>
          <p:nvPr>
            <p:ph type="sldImg"/>
          </p:nvPr>
        </p:nvSpPr>
        <p:spPr>
          <a:xfrm>
            <a:off x="685800" y="1143000"/>
            <a:ext cx="5485680" cy="3085560"/>
          </a:xfrm>
          <a:prstGeom prst="rect">
            <a:avLst/>
          </a:prstGeom>
        </p:spPr>
      </p:sp>
      <p:sp>
        <p:nvSpPr>
          <p:cNvPr id="2267" name="PlaceHolder 2"/>
          <p:cNvSpPr>
            <a:spLocks noGrp="1"/>
          </p:cNvSpPr>
          <p:nvPr>
            <p:ph type="body"/>
          </p:nvPr>
        </p:nvSpPr>
        <p:spPr>
          <a:xfrm>
            <a:off x="685800" y="4400640"/>
            <a:ext cx="5485680" cy="3599640"/>
          </a:xfrm>
          <a:prstGeom prst="rect">
            <a:avLst/>
          </a:prstGeom>
        </p:spPr>
        <p:txBody>
          <a:bodyPr lIns="0" rIns="0" tIns="0" bIns="0">
            <a:noAutofit/>
          </a:bodyPr>
          <a:p>
            <a:pPr marL="216000" indent="-216000">
              <a:lnSpc>
                <a:spcPct val="100000"/>
              </a:lnSpc>
            </a:pPr>
            <a:r>
              <a:rPr b="0" lang="en-US" sz="2000" spc="-1" strike="noStrike">
                <a:latin typeface="Arial"/>
              </a:rPr>
              <a:t>Objetivo Pedagógico:</a:t>
            </a:r>
            <a:endParaRPr b="0" lang="es-ES" sz="2000" spc="-1" strike="noStrike">
              <a:latin typeface="Arial"/>
            </a:endParaRPr>
          </a:p>
          <a:p>
            <a:pPr marL="216000" indent="-216000">
              <a:lnSpc>
                <a:spcPct val="100000"/>
              </a:lnSpc>
            </a:pPr>
            <a:r>
              <a:rPr b="0" lang="en-US" sz="2000" spc="-1" strike="noStrike">
                <a:latin typeface="Arial"/>
              </a:rPr>
              <a:t>Cerrar el curso resumiendo las ideas que el alumnado debe recordar y animarle a seguir practicando con un entorno propio.</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Guion y Explicación Técnica:</a:t>
            </a:r>
            <a:endParaRPr b="0" lang="es-ES" sz="2000" spc="-1" strike="noStrike">
              <a:latin typeface="Arial"/>
            </a:endParaRPr>
          </a:p>
          <a:p>
            <a:pPr marL="216000" indent="-216000">
              <a:lnSpc>
                <a:spcPct val="100000"/>
              </a:lnSpc>
            </a:pPr>
            <a:r>
              <a:rPr b="0" lang="en-US" sz="2000" spc="-1" strike="noStrike">
                <a:latin typeface="Arial"/>
              </a:rPr>
              <a:t>- Resumen en cuatro ideas. 1) Entender el motor: Relational Engine, Storage Engine, Buffer Pool y el Transaction Log (WAL) explican por qué SQL Server rinde y se recupera como lo hace; casi todo problema se resuelve mejor sabiendo qué hay debajo.</a:t>
            </a:r>
            <a:endParaRPr b="0" lang="es-ES" sz="2000" spc="-1" strike="noStrike">
              <a:latin typeface="Arial"/>
            </a:endParaRPr>
          </a:p>
          <a:p>
            <a:pPr marL="216000" indent="-216000">
              <a:lnSpc>
                <a:spcPct val="100000"/>
              </a:lnSpc>
            </a:pPr>
            <a:r>
              <a:rPr b="0" lang="en-US" sz="2000" spc="-1" strike="noStrike">
                <a:latin typeface="Arial"/>
              </a:rPr>
              <a:t>- 2) Proteger los datos: mínimo privilegio, estrategia de backups alineada con RPO/RTO, CHECKSUM, tail-log, restauraciones de prueba y DBCC CHECKDB. La disciplina vale más que las herramientas.</a:t>
            </a:r>
            <a:endParaRPr b="0" lang="es-ES" sz="2000" spc="-1" strike="noStrike">
              <a:latin typeface="Arial"/>
            </a:endParaRPr>
          </a:p>
          <a:p>
            <a:pPr marL="216000" indent="-216000">
              <a:lnSpc>
                <a:spcPct val="100000"/>
              </a:lnSpc>
            </a:pPr>
            <a:r>
              <a:rPr b="0" lang="en-US" sz="2000" spc="-1" strike="noStrike">
                <a:latin typeface="Arial"/>
              </a:rPr>
              <a:t>- 3) Optimizar con evidencia: medir primero (DMVs, planes de ejecución, esperas) y actuar después (índices adecuados, estadísticas actualizadas), evitando «recetas» como rebuild nocturno o shrink.</a:t>
            </a:r>
            <a:endParaRPr b="0" lang="es-ES" sz="2000" spc="-1" strike="noStrike">
              <a:latin typeface="Arial"/>
            </a:endParaRPr>
          </a:p>
          <a:p>
            <a:pPr marL="216000" indent="-216000">
              <a:lnSpc>
                <a:spcPct val="100000"/>
              </a:lnSpc>
            </a:pPr>
            <a:r>
              <a:rPr b="0" lang="en-US" sz="2000" spc="-1" strike="noStrike">
                <a:latin typeface="Arial"/>
              </a:rPr>
              <a:t>- 4) Automatizar y vigilar: jobs del Agent, alertas, Database Mail y runbooks. Un DBA eficaz es el que consigue que lo previsible no requiera intervención y que lo imprevisto se detecte pronto.</a:t>
            </a:r>
            <a:endParaRPr b="0" lang="es-ES" sz="2000" spc="-1" strike="noStrike">
              <a:latin typeface="Arial"/>
            </a:endParaRPr>
          </a:p>
          <a:p>
            <a:pPr marL="216000" indent="-216000">
              <a:lnSpc>
                <a:spcPct val="100000"/>
              </a:lnSpc>
            </a:pPr>
            <a:r>
              <a:rPr b="0" lang="en-US" sz="2000" spc="-1" strike="noStrike">
                <a:latin typeface="Arial"/>
              </a:rPr>
              <a:t>- Próximos pasos recomendados: montar un laboratorio personal en Docker; practicar Always On Availability Groups, TDE y Always Encrypted; explorar Query Store y Extended Events; preparar las certificaciones DP-300 (Azure Database Administrator) o similares.</a:t>
            </a:r>
            <a:endParaRPr b="0" lang="es-ES" sz="2000" spc="-1" strike="noStrike">
              <a:latin typeface="Arial"/>
            </a:endParaRPr>
          </a:p>
          <a:p>
            <a:pPr marL="216000" indent="-216000">
              <a:lnSpc>
                <a:spcPct val="100000"/>
              </a:lnSpc>
            </a:pPr>
            <a:r>
              <a:rPr b="0" lang="en-US" sz="2000" spc="-1" strike="noStrike">
                <a:latin typeface="Arial"/>
              </a:rPr>
              <a:t>- Cerrar con la evaluación del caso integrador, la encuesta del curso y un espacio para dudas. Agradecer la participación y compartir los scripts y la guía del docente.</a:t>
            </a:r>
            <a:endParaRPr b="0" lang="es-ES" sz="2000" spc="-1" strike="noStrike">
              <a:latin typeface="Arial"/>
            </a:endParaRPr>
          </a:p>
          <a:p>
            <a:pPr marL="216000" indent="-216000">
              <a:lnSpc>
                <a:spcPct val="100000"/>
              </a:lnSpc>
            </a:pPr>
            <a:endParaRPr b="0" lang="es-ES" sz="2000" spc="-1" strike="noStrike">
              <a:latin typeface="Arial"/>
            </a:endParaRPr>
          </a:p>
          <a:p>
            <a:pPr marL="216000" indent="-216000">
              <a:lnSpc>
                <a:spcPct val="100000"/>
              </a:lnSpc>
            </a:pPr>
            <a:r>
              <a:rPr b="0" lang="en-US" sz="2000" spc="-1" strike="noStrike">
                <a:latin typeface="Arial"/>
              </a:rPr>
              <a:t>Puntos de Interacción / Preguntas:</a:t>
            </a:r>
            <a:endParaRPr b="0" lang="es-ES" sz="2000" spc="-1" strike="noStrike">
              <a:latin typeface="Arial"/>
            </a:endParaRPr>
          </a:p>
          <a:p>
            <a:pPr marL="216000" indent="-216000">
              <a:lnSpc>
                <a:spcPct val="100000"/>
              </a:lnSpc>
            </a:pPr>
            <a:r>
              <a:rPr b="0" lang="en-US" sz="2000" spc="-1" strike="noStrike">
                <a:latin typeface="Arial"/>
              </a:rPr>
              <a:t>- ¿Qué es lo primero que cambiarías mañana en tu instancia de producción tras este curso?</a:t>
            </a:r>
            <a:endParaRPr b="0" lang="es-ES" sz="2000" spc="-1" strike="noStrike">
              <a:latin typeface="Arial"/>
            </a:endParaRPr>
          </a:p>
          <a:p>
            <a:pPr marL="216000" indent="-215640">
              <a:lnSpc>
                <a:spcPct val="100000"/>
              </a:lnSpc>
              <a:tabLst>
                <a:tab algn="l" pos="0"/>
              </a:tabLst>
            </a:pPr>
            <a:r>
              <a:rPr b="0" lang="en-US" sz="2000" spc="-1" strike="noStrike">
                <a:latin typeface="Arial"/>
              </a:rPr>
              <a:t>- ¿Qué parte te gustaría profundizar: alta disponibilidad, tuning de consultas o seguridad avanzada?</a:t>
            </a:r>
            <a:endParaRPr b="0" lang="es-ES" sz="2000" spc="-1" strike="noStrike">
              <a:latin typeface="Arial"/>
            </a:endParaRPr>
          </a:p>
        </p:txBody>
      </p:sp>
      <p:sp>
        <p:nvSpPr>
          <p:cNvPr id="2268" name="CustomShape 3"/>
          <p:cNvSpPr/>
          <p:nvPr/>
        </p:nvSpPr>
        <p:spPr>
          <a:xfrm>
            <a:off x="3884760" y="8685360"/>
            <a:ext cx="2971080" cy="457920"/>
          </a:xfrm>
          <a:prstGeom prst="rect">
            <a:avLst/>
          </a:prstGeom>
          <a:noFill/>
          <a:ln>
            <a:noFill/>
          </a:ln>
        </p:spPr>
        <p:style>
          <a:lnRef idx="0"/>
          <a:fillRef idx="0"/>
          <a:effectRef idx="0"/>
          <a:fontRef idx="minor"/>
        </p:style>
        <p:txBody>
          <a:bodyPr lIns="90000" rIns="90000" tIns="45000" bIns="45000" anchor="b">
            <a:noAutofit/>
          </a:bodyPr>
          <a:p>
            <a:pPr algn="r">
              <a:lnSpc>
                <a:spcPct val="100000"/>
              </a:lnSpc>
            </a:pPr>
            <a:fld id="{51D2DF1D-CC63-4D33-9575-E0BED0679B51}" type="slidenum">
              <a:rPr b="0" lang="en-US" sz="1200" spc="-1" strike="noStrike">
                <a:solidFill>
                  <a:srgbClr val="000000"/>
                </a:solidFill>
                <a:latin typeface="+mn-lt"/>
                <a:ea typeface="+mn-ea"/>
              </a:rPr>
              <a:t>&lt;número&gt;</a:t>
            </a:fld>
            <a:endParaRPr b="0" lang="es-ES" sz="1200" spc="-1" strike="noStrike">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s-E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s-E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s-E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s-E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s-E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s-E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s-E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endParaRPr b="0" lang="es-E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s-E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s-E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s-E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s-E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s-E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s-ES"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s-ES" sz="4400" spc="-1" strike="noStrike">
                <a:latin typeface="Arial"/>
              </a:rPr>
              <a:t>Pulse para </a:t>
            </a:r>
            <a:r>
              <a:rPr b="0" lang="es-ES" sz="4400" spc="-1" strike="noStrike">
                <a:latin typeface="Arial"/>
              </a:rPr>
              <a:t>editar el </a:t>
            </a:r>
            <a:r>
              <a:rPr b="0" lang="es-ES" sz="4400" spc="-1" strike="noStrike">
                <a:latin typeface="Arial"/>
              </a:rPr>
              <a:t>formato del </a:t>
            </a:r>
            <a:r>
              <a:rPr b="0" lang="es-ES" sz="4400" spc="-1" strike="noStrike">
                <a:latin typeface="Arial"/>
              </a:rPr>
              <a:t>texto de título</a:t>
            </a:r>
            <a:endParaRPr b="0" lang="es-E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s-ES" sz="3200" spc="-1" strike="noStrike">
                <a:latin typeface="Arial"/>
              </a:rPr>
              <a:t>Pulse para editar el formato de texto del esquema</a:t>
            </a:r>
            <a:endParaRPr b="0" lang="es-ES" sz="3200" spc="-1" strike="noStrike">
              <a:latin typeface="Arial"/>
            </a:endParaRPr>
          </a:p>
          <a:p>
            <a:pPr lvl="1" marL="864000" indent="-324000">
              <a:spcBef>
                <a:spcPts val="1134"/>
              </a:spcBef>
              <a:buClr>
                <a:srgbClr val="000000"/>
              </a:buClr>
              <a:buSzPct val="75000"/>
              <a:buFont typeface="Symbol" charset="2"/>
              <a:buChar char=""/>
            </a:pPr>
            <a:r>
              <a:rPr b="0" lang="es-ES" sz="2800" spc="-1" strike="noStrike">
                <a:latin typeface="Arial"/>
              </a:rPr>
              <a:t>Segundo nivel del esquema</a:t>
            </a:r>
            <a:endParaRPr b="0" lang="es-ES" sz="2800" spc="-1" strike="noStrike">
              <a:latin typeface="Arial"/>
            </a:endParaRPr>
          </a:p>
          <a:p>
            <a:pPr lvl="2" marL="1296000" indent="-288000">
              <a:spcBef>
                <a:spcPts val="850"/>
              </a:spcBef>
              <a:buClr>
                <a:srgbClr val="000000"/>
              </a:buClr>
              <a:buSzPct val="45000"/>
              <a:buFont typeface="Wingdings" charset="2"/>
              <a:buChar char=""/>
            </a:pPr>
            <a:r>
              <a:rPr b="0" lang="es-ES" sz="2400" spc="-1" strike="noStrike">
                <a:latin typeface="Arial"/>
              </a:rPr>
              <a:t>Tercer nivel del esquema</a:t>
            </a:r>
            <a:endParaRPr b="0" lang="es-ES" sz="2400" spc="-1" strike="noStrike">
              <a:latin typeface="Arial"/>
            </a:endParaRPr>
          </a:p>
          <a:p>
            <a:pPr lvl="3" marL="1728000" indent="-216000">
              <a:spcBef>
                <a:spcPts val="567"/>
              </a:spcBef>
              <a:buClr>
                <a:srgbClr val="000000"/>
              </a:buClr>
              <a:buSzPct val="75000"/>
              <a:buFont typeface="Symbol" charset="2"/>
              <a:buChar char=""/>
            </a:pPr>
            <a:r>
              <a:rPr b="0" lang="es-ES" sz="2000" spc="-1" strike="noStrike">
                <a:latin typeface="Arial"/>
              </a:rPr>
              <a:t>Cuarto nivel del esquema</a:t>
            </a:r>
            <a:endParaRPr b="0" lang="es-ES" sz="2000" spc="-1" strike="noStrike">
              <a:latin typeface="Arial"/>
            </a:endParaRPr>
          </a:p>
          <a:p>
            <a:pPr lvl="4" marL="2160000" indent="-216000">
              <a:spcBef>
                <a:spcPts val="283"/>
              </a:spcBef>
              <a:buClr>
                <a:srgbClr val="000000"/>
              </a:buClr>
              <a:buSzPct val="45000"/>
              <a:buFont typeface="Wingdings" charset="2"/>
              <a:buChar char=""/>
            </a:pPr>
            <a:r>
              <a:rPr b="0" lang="es-ES" sz="2000" spc="-1" strike="noStrike">
                <a:latin typeface="Arial"/>
              </a:rPr>
              <a:t>Quinto nivel del esquema</a:t>
            </a:r>
            <a:endParaRPr b="0" lang="es-ES" sz="2000" spc="-1" strike="noStrike">
              <a:latin typeface="Arial"/>
            </a:endParaRPr>
          </a:p>
          <a:p>
            <a:pPr lvl="5" marL="2592000" indent="-216000">
              <a:spcBef>
                <a:spcPts val="283"/>
              </a:spcBef>
              <a:buClr>
                <a:srgbClr val="000000"/>
              </a:buClr>
              <a:buSzPct val="45000"/>
              <a:buFont typeface="Wingdings" charset="2"/>
              <a:buChar char=""/>
            </a:pPr>
            <a:r>
              <a:rPr b="0" lang="es-ES" sz="2000" spc="-1" strike="noStrike">
                <a:latin typeface="Arial"/>
              </a:rPr>
              <a:t>Sexto nivel del esquema</a:t>
            </a:r>
            <a:endParaRPr b="0" lang="es-ES" sz="2000" spc="-1" strike="noStrike">
              <a:latin typeface="Arial"/>
            </a:endParaRPr>
          </a:p>
          <a:p>
            <a:pPr lvl="6" marL="3024000" indent="-216000">
              <a:spcBef>
                <a:spcPts val="283"/>
              </a:spcBef>
              <a:buClr>
                <a:srgbClr val="000000"/>
              </a:buClr>
              <a:buSzPct val="45000"/>
              <a:buFont typeface="Wingdings" charset="2"/>
              <a:buChar char=""/>
            </a:pPr>
            <a:r>
              <a:rPr b="0" lang="es-ES" sz="2000" spc="-1" strike="noStrike">
                <a:latin typeface="Arial"/>
              </a:rPr>
              <a:t>Séptimo nivel del esquema</a:t>
            </a:r>
            <a:endParaRPr b="0" lang="es-E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xml"/><Relationship Id="rId7"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1.xml"/><Relationship Id="rId6"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slideLayout" Target="../slideLayouts/slideLayout1.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image" Target="../media/image2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40.png"/><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image" Target="../media/image48.png"/><Relationship Id="rId3" Type="http://schemas.openxmlformats.org/officeDocument/2006/relationships/slideLayout" Target="../slideLayouts/slideLayout1.xml"/><Relationship Id="rId4"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54.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55.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56.png"/><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slideLayout" Target="../slideLayouts/slideLayout1.xml"/><Relationship Id="rId5"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59.png"/><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slideLayout" Target="../slideLayouts/slideLayout1.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66.png"/><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72.png"/><Relationship Id="rId2" Type="http://schemas.openxmlformats.org/officeDocument/2006/relationships/image" Target="../media/image73.png"/><Relationship Id="rId3" Type="http://schemas.openxmlformats.org/officeDocument/2006/relationships/slideLayout" Target="../slideLayouts/slideLayout1.xml"/><Relationship Id="rId4"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74.png"/><Relationship Id="rId2" Type="http://schemas.openxmlformats.org/officeDocument/2006/relationships/image" Target="../media/image75.png"/><Relationship Id="rId3" Type="http://schemas.openxmlformats.org/officeDocument/2006/relationships/slideLayout" Target="../slideLayouts/slideLayout1.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1.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77.png"/><Relationship Id="rId2" Type="http://schemas.openxmlformats.org/officeDocument/2006/relationships/slideLayout" Target="../slideLayouts/slideLayout1.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78.png"/><Relationship Id="rId2" Type="http://schemas.openxmlformats.org/officeDocument/2006/relationships/slideLayout" Target="../slideLayouts/slideLayout1.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79.png"/><Relationship Id="rId2" Type="http://schemas.openxmlformats.org/officeDocument/2006/relationships/slideLayout" Target="../slideLayouts/slideLayout1.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80.png"/><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84.png"/><Relationship Id="rId2" Type="http://schemas.openxmlformats.org/officeDocument/2006/relationships/slideLayout" Target="../slideLayouts/slideLayout1.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85.png"/><Relationship Id="rId2" Type="http://schemas.openxmlformats.org/officeDocument/2006/relationships/slideLayout" Target="../slideLayouts/slideLayout1.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86.png"/><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slideLayout" Target="../slideLayouts/slideLayout1.xml"/><Relationship Id="rId5"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89.png"/><Relationship Id="rId2" Type="http://schemas.openxmlformats.org/officeDocument/2006/relationships/slideLayout" Target="../slideLayouts/slideLayout1.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90.png"/><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96.png"/><Relationship Id="rId2" Type="http://schemas.openxmlformats.org/officeDocument/2006/relationships/slideLayout" Target="../slideLayouts/slideLayout1.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97.png"/><Relationship Id="rId2" Type="http://schemas.openxmlformats.org/officeDocument/2006/relationships/slideLayout" Target="../slideLayouts/slideLayout1.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98.png"/><Relationship Id="rId2" Type="http://schemas.openxmlformats.org/officeDocument/2006/relationships/slideLayout" Target="../slideLayouts/slideLayout1.xml"/><Relationship Id="rId3"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99.png"/><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103.pn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slideLayout" Target="../slideLayouts/slideLayout1.xml"/><Relationship Id="rId5"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108.png"/><Relationship Id="rId2" Type="http://schemas.openxmlformats.org/officeDocument/2006/relationships/slideLayout" Target="../slideLayouts/slideLayout1.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109.png"/><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 Id="rId7" Type="http://schemas.openxmlformats.org/officeDocument/2006/relationships/slideLayout" Target="../slideLayouts/slideLayout1.xml"/><Relationship Id="rId8"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120.png"/><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23.png"/><Relationship Id="rId2" Type="http://schemas.openxmlformats.org/officeDocument/2006/relationships/slideLayout" Target="../slideLayouts/slideLayout1.xml"/><Relationship Id="rId3"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slideLayout" Target="../slideLayouts/slideLayout1.xml"/><Relationship Id="rId6"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image" Target="../media/image129.png"/><Relationship Id="rId2" Type="http://schemas.openxmlformats.org/officeDocument/2006/relationships/image" Target="../media/image130.png"/><Relationship Id="rId3" Type="http://schemas.openxmlformats.org/officeDocument/2006/relationships/slideLayout" Target="../slideLayouts/slideLayout1.xml"/><Relationship Id="rId4"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132.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image" Target="../media/image133.png"/><Relationship Id="rId2" Type="http://schemas.openxmlformats.org/officeDocument/2006/relationships/slideLayout" Target="../slideLayouts/slideLayout1.xml"/><Relationship Id="rId3"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134.png"/><Relationship Id="rId2" Type="http://schemas.openxmlformats.org/officeDocument/2006/relationships/image" Target="../media/image135.png"/><Relationship Id="rId3" Type="http://schemas.openxmlformats.org/officeDocument/2006/relationships/slideLayout" Target="../slideLayouts/slideLayout1.xml"/><Relationship Id="rId4"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136.png"/><Relationship Id="rId2" Type="http://schemas.openxmlformats.org/officeDocument/2006/relationships/image" Target="../media/image137.png"/><Relationship Id="rId3" Type="http://schemas.openxmlformats.org/officeDocument/2006/relationships/image" Target="../media/image138.png"/><Relationship Id="rId4" Type="http://schemas.openxmlformats.org/officeDocument/2006/relationships/image" Target="../media/image139.png"/><Relationship Id="rId5" Type="http://schemas.openxmlformats.org/officeDocument/2006/relationships/slideLayout" Target="../slideLayouts/slideLayout1.xml"/><Relationship Id="rId6"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140.png"/><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146.png"/><Relationship Id="rId2" Type="http://schemas.openxmlformats.org/officeDocument/2006/relationships/slideLayout" Target="../slideLayouts/slideLayout1.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slideLayout" Target="../slideLayouts/slideLayout1.xml"/><Relationship Id="rId5"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image" Target="../media/image150.png"/><Relationship Id="rId2" Type="http://schemas.openxmlformats.org/officeDocument/2006/relationships/slideLayout" Target="../slideLayouts/slideLayout1.xml"/><Relationship Id="rId3"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image" Target="../media/image154.png"/><Relationship Id="rId2" Type="http://schemas.openxmlformats.org/officeDocument/2006/relationships/slideLayout" Target="../slideLayouts/slideLayout1.xml"/><Relationship Id="rId3"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image" Target="../media/image155.png"/><Relationship Id="rId2" Type="http://schemas.openxmlformats.org/officeDocument/2006/relationships/slideLayout" Target="../slideLayouts/slideLayout1.xml"/><Relationship Id="rId3"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image" Target="../media/image156.png"/><Relationship Id="rId2" Type="http://schemas.openxmlformats.org/officeDocument/2006/relationships/image" Target="../media/image157.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slideLayout" Target="../slideLayouts/slideLayout1.xml"/><Relationship Id="rId8"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image" Target="../media/image162.png"/><Relationship Id="rId2" Type="http://schemas.openxmlformats.org/officeDocument/2006/relationships/slideLayout" Target="../slideLayouts/slideLayout1.xml"/><Relationship Id="rId3"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image" Target="../media/image163.png"/><Relationship Id="rId2" Type="http://schemas.openxmlformats.org/officeDocument/2006/relationships/image" Target="../media/image164.png"/><Relationship Id="rId3" Type="http://schemas.openxmlformats.org/officeDocument/2006/relationships/image" Target="../media/image165.png"/><Relationship Id="rId4" Type="http://schemas.openxmlformats.org/officeDocument/2006/relationships/image" Target="../media/image166.png"/><Relationship Id="rId5" Type="http://schemas.openxmlformats.org/officeDocument/2006/relationships/image" Target="../media/image167.png"/><Relationship Id="rId6" Type="http://schemas.openxmlformats.org/officeDocument/2006/relationships/slideLayout" Target="../slideLayouts/slideLayout1.xml"/><Relationship Id="rId7"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image" Target="../media/image168.png"/><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slideLayout" Target="../slideLayouts/slideLayout1.xml"/><Relationship Id="rId5"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image" Target="../media/image174.png"/><Relationship Id="rId2" Type="http://schemas.openxmlformats.org/officeDocument/2006/relationships/slideLayout" Target="../slideLayouts/slideLayout1.xml"/><Relationship Id="rId3"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176.png"/><Relationship Id="rId3" Type="http://schemas.openxmlformats.org/officeDocument/2006/relationships/image" Target="../media/image177.png"/><Relationship Id="rId4" Type="http://schemas.openxmlformats.org/officeDocument/2006/relationships/image" Target="../media/image178.png"/><Relationship Id="rId5" Type="http://schemas.openxmlformats.org/officeDocument/2006/relationships/image" Target="../media/image179.png"/><Relationship Id="rId6" Type="http://schemas.openxmlformats.org/officeDocument/2006/relationships/slideLayout" Target="../slideLayouts/slideLayout1.xml"/><Relationship Id="rId7"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80.png"/><Relationship Id="rId2" Type="http://schemas.openxmlformats.org/officeDocument/2006/relationships/slideLayout" Target="../slideLayouts/slideLayout1.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83.png"/><Relationship Id="rId2" Type="http://schemas.openxmlformats.org/officeDocument/2006/relationships/image" Target="../media/image184.png"/><Relationship Id="rId3" Type="http://schemas.openxmlformats.org/officeDocument/2006/relationships/slideLayout" Target="../slideLayouts/slideLayout1.xml"/><Relationship Id="rId4"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image" Target="../media/image185.png"/><Relationship Id="rId2" Type="http://schemas.openxmlformats.org/officeDocument/2006/relationships/image" Target="../media/image186.png"/><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 Id="rId6" Type="http://schemas.openxmlformats.org/officeDocument/2006/relationships/image" Target="../media/image190.png"/><Relationship Id="rId7" Type="http://schemas.openxmlformats.org/officeDocument/2006/relationships/image" Target="../media/image191.png"/><Relationship Id="rId8" Type="http://schemas.openxmlformats.org/officeDocument/2006/relationships/image" Target="../media/image192.png"/><Relationship Id="rId9" Type="http://schemas.openxmlformats.org/officeDocument/2006/relationships/slideLayout" Target="../slideLayouts/slideLayout1.xml"/><Relationship Id="rId10"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slideLayout" Target="../slideLayouts/slideLayout1.xml"/><Relationship Id="rId6" Type="http://schemas.openxmlformats.org/officeDocument/2006/relationships/notesSlide" Target="../notesSlides/notesSlide8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44" name="CustomShape 1"/>
          <p:cNvSpPr/>
          <p:nvPr/>
        </p:nvSpPr>
        <p:spPr>
          <a:xfrm>
            <a:off x="7406640" y="822960"/>
            <a:ext cx="4754160" cy="4754160"/>
          </a:xfrm>
          <a:prstGeom prst="ellipse">
            <a:avLst/>
          </a:prstGeom>
          <a:solidFill>
            <a:srgbClr val="134074">
              <a:alpha val="30000"/>
            </a:srgbClr>
          </a:solidFill>
          <a:ln>
            <a:noFill/>
          </a:ln>
        </p:spPr>
        <p:style>
          <a:lnRef idx="0"/>
          <a:fillRef idx="0"/>
          <a:effectRef idx="0"/>
          <a:fontRef idx="minor"/>
        </p:style>
      </p:sp>
      <p:sp>
        <p:nvSpPr>
          <p:cNvPr id="45" name="CustomShape 2"/>
          <p:cNvSpPr/>
          <p:nvPr/>
        </p:nvSpPr>
        <p:spPr>
          <a:xfrm>
            <a:off x="8001000" y="1417320"/>
            <a:ext cx="3565440" cy="3565440"/>
          </a:xfrm>
          <a:prstGeom prst="ellipse">
            <a:avLst/>
          </a:prstGeom>
          <a:solidFill>
            <a:srgbClr val="134074">
              <a:alpha val="55000"/>
            </a:srgbClr>
          </a:solidFill>
          <a:ln>
            <a:noFill/>
          </a:ln>
        </p:spPr>
        <p:style>
          <a:lnRef idx="0"/>
          <a:fillRef idx="0"/>
          <a:effectRef idx="0"/>
          <a:fontRef idx="minor"/>
        </p:style>
      </p:sp>
      <p:sp>
        <p:nvSpPr>
          <p:cNvPr id="46" name="CustomShape 3"/>
          <p:cNvSpPr/>
          <p:nvPr/>
        </p:nvSpPr>
        <p:spPr>
          <a:xfrm>
            <a:off x="8732520" y="2148840"/>
            <a:ext cx="2102400" cy="2102400"/>
          </a:xfrm>
          <a:prstGeom prst="ellipse">
            <a:avLst/>
          </a:prstGeom>
          <a:solidFill>
            <a:srgbClr val="d95d39"/>
          </a:solidFill>
          <a:ln>
            <a:noFill/>
          </a:ln>
        </p:spPr>
        <p:style>
          <a:lnRef idx="0"/>
          <a:fillRef idx="0"/>
          <a:effectRef idx="0"/>
          <a:fontRef idx="minor"/>
        </p:style>
      </p:sp>
      <p:pic>
        <p:nvPicPr>
          <p:cNvPr id="47" name="Image 0" descr="preencoded.png"/>
          <p:cNvPicPr/>
          <p:nvPr/>
        </p:nvPicPr>
        <p:blipFill>
          <a:blip r:embed="rId1"/>
          <a:stretch/>
        </p:blipFill>
        <p:spPr>
          <a:xfrm>
            <a:off x="9258480" y="2674800"/>
            <a:ext cx="1050840" cy="1050840"/>
          </a:xfrm>
          <a:prstGeom prst="rect">
            <a:avLst/>
          </a:prstGeom>
          <a:ln>
            <a:noFill/>
          </a:ln>
        </p:spPr>
      </p:pic>
      <p:sp>
        <p:nvSpPr>
          <p:cNvPr id="48" name="CustomShape 4"/>
          <p:cNvSpPr/>
          <p:nvPr/>
        </p:nvSpPr>
        <p:spPr>
          <a:xfrm>
            <a:off x="7498080" y="1143000"/>
            <a:ext cx="639360" cy="639360"/>
          </a:xfrm>
          <a:prstGeom prst="ellipse">
            <a:avLst/>
          </a:prstGeom>
          <a:solidFill>
            <a:srgbClr val="0b2545"/>
          </a:solidFill>
          <a:ln>
            <a:noFill/>
          </a:ln>
        </p:spPr>
        <p:style>
          <a:lnRef idx="0"/>
          <a:fillRef idx="0"/>
          <a:effectRef idx="0"/>
          <a:fontRef idx="minor"/>
        </p:style>
      </p:sp>
      <p:pic>
        <p:nvPicPr>
          <p:cNvPr id="49" name="Image 1" descr="preencoded.png"/>
          <p:cNvPicPr/>
          <p:nvPr/>
        </p:nvPicPr>
        <p:blipFill>
          <a:blip r:embed="rId2"/>
          <a:stretch/>
        </p:blipFill>
        <p:spPr>
          <a:xfrm>
            <a:off x="7658280" y="1303200"/>
            <a:ext cx="319320" cy="319320"/>
          </a:xfrm>
          <a:prstGeom prst="rect">
            <a:avLst/>
          </a:prstGeom>
          <a:ln>
            <a:noFill/>
          </a:ln>
        </p:spPr>
      </p:pic>
      <p:sp>
        <p:nvSpPr>
          <p:cNvPr id="50" name="CustomShape 5"/>
          <p:cNvSpPr/>
          <p:nvPr/>
        </p:nvSpPr>
        <p:spPr>
          <a:xfrm>
            <a:off x="10972800" y="1417320"/>
            <a:ext cx="639360" cy="639360"/>
          </a:xfrm>
          <a:prstGeom prst="ellipse">
            <a:avLst/>
          </a:prstGeom>
          <a:solidFill>
            <a:srgbClr val="0b2545"/>
          </a:solidFill>
          <a:ln>
            <a:noFill/>
          </a:ln>
        </p:spPr>
        <p:style>
          <a:lnRef idx="0"/>
          <a:fillRef idx="0"/>
          <a:effectRef idx="0"/>
          <a:fontRef idx="minor"/>
        </p:style>
      </p:sp>
      <p:pic>
        <p:nvPicPr>
          <p:cNvPr id="51" name="Image 2" descr="preencoded.png"/>
          <p:cNvPicPr/>
          <p:nvPr/>
        </p:nvPicPr>
        <p:blipFill>
          <a:blip r:embed="rId3"/>
          <a:stretch/>
        </p:blipFill>
        <p:spPr>
          <a:xfrm>
            <a:off x="11133000" y="1577520"/>
            <a:ext cx="319320" cy="319320"/>
          </a:xfrm>
          <a:prstGeom prst="rect">
            <a:avLst/>
          </a:prstGeom>
          <a:ln>
            <a:noFill/>
          </a:ln>
        </p:spPr>
      </p:pic>
      <p:sp>
        <p:nvSpPr>
          <p:cNvPr id="52" name="CustomShape 6"/>
          <p:cNvSpPr/>
          <p:nvPr/>
        </p:nvSpPr>
        <p:spPr>
          <a:xfrm>
            <a:off x="7818120" y="4709160"/>
            <a:ext cx="639360" cy="639360"/>
          </a:xfrm>
          <a:prstGeom prst="ellipse">
            <a:avLst/>
          </a:prstGeom>
          <a:solidFill>
            <a:srgbClr val="0b2545"/>
          </a:solidFill>
          <a:ln>
            <a:noFill/>
          </a:ln>
        </p:spPr>
        <p:style>
          <a:lnRef idx="0"/>
          <a:fillRef idx="0"/>
          <a:effectRef idx="0"/>
          <a:fontRef idx="minor"/>
        </p:style>
      </p:sp>
      <p:pic>
        <p:nvPicPr>
          <p:cNvPr id="53" name="Image 3" descr="preencoded.png"/>
          <p:cNvPicPr/>
          <p:nvPr/>
        </p:nvPicPr>
        <p:blipFill>
          <a:blip r:embed="rId4"/>
          <a:stretch/>
        </p:blipFill>
        <p:spPr>
          <a:xfrm>
            <a:off x="7978320" y="4869360"/>
            <a:ext cx="319320" cy="319320"/>
          </a:xfrm>
          <a:prstGeom prst="rect">
            <a:avLst/>
          </a:prstGeom>
          <a:ln>
            <a:noFill/>
          </a:ln>
        </p:spPr>
      </p:pic>
      <p:sp>
        <p:nvSpPr>
          <p:cNvPr id="54" name="CustomShape 7"/>
          <p:cNvSpPr/>
          <p:nvPr/>
        </p:nvSpPr>
        <p:spPr>
          <a:xfrm>
            <a:off x="10835640" y="4617720"/>
            <a:ext cx="639360" cy="639360"/>
          </a:xfrm>
          <a:prstGeom prst="ellipse">
            <a:avLst/>
          </a:prstGeom>
          <a:solidFill>
            <a:srgbClr val="0b2545"/>
          </a:solidFill>
          <a:ln>
            <a:noFill/>
          </a:ln>
        </p:spPr>
        <p:style>
          <a:lnRef idx="0"/>
          <a:fillRef idx="0"/>
          <a:effectRef idx="0"/>
          <a:fontRef idx="minor"/>
        </p:style>
      </p:sp>
      <p:pic>
        <p:nvPicPr>
          <p:cNvPr id="55" name="Image 4" descr="preencoded.png"/>
          <p:cNvPicPr/>
          <p:nvPr/>
        </p:nvPicPr>
        <p:blipFill>
          <a:blip r:embed="rId5"/>
          <a:stretch/>
        </p:blipFill>
        <p:spPr>
          <a:xfrm>
            <a:off x="10995840" y="4777920"/>
            <a:ext cx="319320" cy="319320"/>
          </a:xfrm>
          <a:prstGeom prst="rect">
            <a:avLst/>
          </a:prstGeom>
          <a:ln>
            <a:noFill/>
          </a:ln>
        </p:spPr>
      </p:pic>
      <p:sp>
        <p:nvSpPr>
          <p:cNvPr id="56" name="CustomShape 8"/>
          <p:cNvSpPr/>
          <p:nvPr/>
        </p:nvSpPr>
        <p:spPr>
          <a:xfrm>
            <a:off x="731520" y="1463040"/>
            <a:ext cx="292536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CURSO DE FORMACIÓN · 20 H</a:t>
            </a:r>
            <a:endParaRPr b="0" lang="es-ES" sz="1100" spc="-1" strike="noStrike">
              <a:latin typeface="Arial"/>
            </a:endParaRPr>
          </a:p>
        </p:txBody>
      </p:sp>
      <p:sp>
        <p:nvSpPr>
          <p:cNvPr id="57" name="CustomShape 9"/>
          <p:cNvSpPr/>
          <p:nvPr/>
        </p:nvSpPr>
        <p:spPr>
          <a:xfrm>
            <a:off x="731520" y="2011680"/>
            <a:ext cx="6400080" cy="2010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4600" spc="-1" strike="noStrike">
                <a:solidFill>
                  <a:srgbClr val="ffffff"/>
                </a:solidFill>
                <a:latin typeface="Calibri"/>
                <a:ea typeface="Calibri"/>
              </a:rPr>
              <a:t>Administración de SQL Server</a:t>
            </a:r>
            <a:endParaRPr b="0" lang="es-ES" sz="4600" spc="-1" strike="noStrike">
              <a:latin typeface="Arial"/>
            </a:endParaRPr>
          </a:p>
        </p:txBody>
      </p:sp>
      <p:sp>
        <p:nvSpPr>
          <p:cNvPr id="58" name="CustomShape 10"/>
          <p:cNvSpPr/>
          <p:nvPr/>
        </p:nvSpPr>
        <p:spPr>
          <a:xfrm>
            <a:off x="731520" y="4206240"/>
            <a:ext cx="6217200" cy="9136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2000" spc="-1" strike="noStrike">
                <a:solidFill>
                  <a:srgbClr val="8da9c4"/>
                </a:solidFill>
                <a:latin typeface="Calibri"/>
                <a:ea typeface="Calibri"/>
              </a:rPr>
              <a:t>De la arquitectura del motor a la alta disponibilidad: operar bases de datos en producción</a:t>
            </a:r>
            <a:endParaRPr b="0" lang="es-ES" sz="2000" spc="-1" strike="noStrike">
              <a:latin typeface="Arial"/>
            </a:endParaRPr>
          </a:p>
        </p:txBody>
      </p:sp>
      <p:sp>
        <p:nvSpPr>
          <p:cNvPr id="59" name="CustomShape 11"/>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60" name="CustomShape 12"/>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0   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Qué vamos a aprender: 20 horas, 4 módulos</a:t>
            </a:r>
            <a:endParaRPr b="0" lang="es-ES" sz="3400" spc="-1" strike="noStrike">
              <a:latin typeface="Arial"/>
            </a:endParaRPr>
          </a:p>
        </p:txBody>
      </p:sp>
      <p:sp>
        <p:nvSpPr>
          <p:cNvPr id="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2</a:t>
            </a:r>
            <a:endParaRPr b="0" lang="es-ES" sz="1000" spc="-1" strike="noStrike">
              <a:latin typeface="Arial"/>
            </a:endParaRPr>
          </a:p>
        </p:txBody>
      </p:sp>
      <p:sp>
        <p:nvSpPr>
          <p:cNvPr id="65" name="CustomShape 5"/>
          <p:cNvSpPr/>
          <p:nvPr/>
        </p:nvSpPr>
        <p:spPr>
          <a:xfrm>
            <a:off x="548640" y="1600200"/>
            <a:ext cx="2035440" cy="1736640"/>
          </a:xfrm>
          <a:prstGeom prst="roundRect">
            <a:avLst>
              <a:gd name="adj" fmla="val 6316"/>
            </a:avLst>
          </a:prstGeom>
          <a:solidFill>
            <a:srgbClr val="0b2545"/>
          </a:solidFill>
          <a:ln>
            <a:noFill/>
          </a:ln>
        </p:spPr>
        <p:style>
          <a:lnRef idx="0"/>
          <a:fillRef idx="0"/>
          <a:effectRef idx="0"/>
          <a:fontRef idx="minor"/>
        </p:style>
      </p:sp>
      <p:sp>
        <p:nvSpPr>
          <p:cNvPr id="66" name="CustomShape 6"/>
          <p:cNvSpPr/>
          <p:nvPr/>
        </p:nvSpPr>
        <p:spPr>
          <a:xfrm>
            <a:off x="73152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0,5 h</a:t>
            </a:r>
            <a:endParaRPr b="0" lang="es-ES" sz="4000" spc="-1" strike="noStrike">
              <a:latin typeface="Arial"/>
            </a:endParaRPr>
          </a:p>
        </p:txBody>
      </p:sp>
      <p:sp>
        <p:nvSpPr>
          <p:cNvPr id="67" name="CustomShape 7"/>
          <p:cNvSpPr/>
          <p:nvPr/>
        </p:nvSpPr>
        <p:spPr>
          <a:xfrm>
            <a:off x="73152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M0 · Bienvenida y entorno</a:t>
            </a:r>
            <a:endParaRPr b="0" lang="es-ES" sz="1300" spc="-1" strike="noStrike">
              <a:latin typeface="Arial"/>
            </a:endParaRPr>
          </a:p>
        </p:txBody>
      </p:sp>
      <p:sp>
        <p:nvSpPr>
          <p:cNvPr id="68" name="CustomShape 8"/>
          <p:cNvSpPr/>
          <p:nvPr/>
        </p:nvSpPr>
        <p:spPr>
          <a:xfrm>
            <a:off x="28134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 name="CustomShape 9"/>
          <p:cNvSpPr/>
          <p:nvPr/>
        </p:nvSpPr>
        <p:spPr>
          <a:xfrm>
            <a:off x="29962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4,0 h</a:t>
            </a:r>
            <a:endParaRPr b="0" lang="es-ES" sz="4000" spc="-1" strike="noStrike">
              <a:latin typeface="Arial"/>
            </a:endParaRPr>
          </a:p>
        </p:txBody>
      </p:sp>
      <p:sp>
        <p:nvSpPr>
          <p:cNvPr id="70" name="CustomShape 10"/>
          <p:cNvSpPr/>
          <p:nvPr/>
        </p:nvSpPr>
        <p:spPr>
          <a:xfrm>
            <a:off x="29962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M1 · Fundamentos y arquitectura</a:t>
            </a:r>
            <a:endParaRPr b="0" lang="es-ES" sz="1300" spc="-1" strike="noStrike">
              <a:latin typeface="Arial"/>
            </a:endParaRPr>
          </a:p>
        </p:txBody>
      </p:sp>
      <p:sp>
        <p:nvSpPr>
          <p:cNvPr id="71" name="CustomShape 11"/>
          <p:cNvSpPr/>
          <p:nvPr/>
        </p:nvSpPr>
        <p:spPr>
          <a:xfrm>
            <a:off x="507780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 name="CustomShape 12"/>
          <p:cNvSpPr/>
          <p:nvPr/>
        </p:nvSpPr>
        <p:spPr>
          <a:xfrm>
            <a:off x="526068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5,5 h</a:t>
            </a:r>
            <a:endParaRPr b="0" lang="es-ES" sz="4000" spc="-1" strike="noStrike">
              <a:latin typeface="Arial"/>
            </a:endParaRPr>
          </a:p>
        </p:txBody>
      </p:sp>
      <p:sp>
        <p:nvSpPr>
          <p:cNvPr id="73" name="CustomShape 13"/>
          <p:cNvSpPr/>
          <p:nvPr/>
        </p:nvSpPr>
        <p:spPr>
          <a:xfrm>
            <a:off x="526068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M2 · Gestión y seguridad</a:t>
            </a:r>
            <a:endParaRPr b="0" lang="es-ES" sz="1300" spc="-1" strike="noStrike">
              <a:latin typeface="Arial"/>
            </a:endParaRPr>
          </a:p>
        </p:txBody>
      </p:sp>
      <p:sp>
        <p:nvSpPr>
          <p:cNvPr id="74" name="CustomShape 14"/>
          <p:cNvSpPr/>
          <p:nvPr/>
        </p:nvSpPr>
        <p:spPr>
          <a:xfrm>
            <a:off x="73425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 name="CustomShape 15"/>
          <p:cNvSpPr/>
          <p:nvPr/>
        </p:nvSpPr>
        <p:spPr>
          <a:xfrm>
            <a:off x="75254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6" name="CustomShape 16"/>
          <p:cNvSpPr/>
          <p:nvPr/>
        </p:nvSpPr>
        <p:spPr>
          <a:xfrm>
            <a:off x="75254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M3 · Optimización y alta disponibilidad</a:t>
            </a:r>
            <a:endParaRPr b="0" lang="es-ES" sz="1300" spc="-1" strike="noStrike">
              <a:latin typeface="Arial"/>
            </a:endParaRPr>
          </a:p>
        </p:txBody>
      </p:sp>
      <p:sp>
        <p:nvSpPr>
          <p:cNvPr id="77" name="CustomShape 17"/>
          <p:cNvSpPr/>
          <p:nvPr/>
        </p:nvSpPr>
        <p:spPr>
          <a:xfrm>
            <a:off x="9606960" y="1600200"/>
            <a:ext cx="2035440" cy="1736640"/>
          </a:xfrm>
          <a:prstGeom prst="roundRect">
            <a:avLst>
              <a:gd name="adj" fmla="val 631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 name="CustomShape 18"/>
          <p:cNvSpPr/>
          <p:nvPr/>
        </p:nvSpPr>
        <p:spPr>
          <a:xfrm>
            <a:off x="9789840" y="1737360"/>
            <a:ext cx="1669680" cy="8679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5,0 h</a:t>
            </a:r>
            <a:endParaRPr b="0" lang="es-ES" sz="4000" spc="-1" strike="noStrike">
              <a:latin typeface="Arial"/>
            </a:endParaRPr>
          </a:p>
        </p:txBody>
      </p:sp>
      <p:sp>
        <p:nvSpPr>
          <p:cNvPr id="79" name="CustomShape 19"/>
          <p:cNvSpPr/>
          <p:nvPr/>
        </p:nvSpPr>
        <p:spPr>
          <a:xfrm>
            <a:off x="9789840" y="2555640"/>
            <a:ext cx="1669680" cy="6940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M4 · Mantenimiento y buenas prácticas</a:t>
            </a:r>
            <a:endParaRPr b="0" lang="es-ES" sz="1300" spc="-1" strike="noStrike">
              <a:latin typeface="Arial"/>
            </a:endParaRPr>
          </a:p>
        </p:txBody>
      </p:sp>
      <p:sp>
        <p:nvSpPr>
          <p:cNvPr id="80" name="CustomShape 20"/>
          <p:cNvSpPr/>
          <p:nvPr/>
        </p:nvSpPr>
        <p:spPr>
          <a:xfrm>
            <a:off x="548640" y="3611880"/>
            <a:ext cx="5409360" cy="2559600"/>
          </a:xfrm>
          <a:prstGeom prst="roundRect">
            <a:avLst>
              <a:gd name="adj" fmla="val 4286"/>
            </a:avLst>
          </a:prstGeom>
          <a:solidFill>
            <a:srgbClr val="e8eef5"/>
          </a:solidFill>
          <a:ln>
            <a:noFill/>
          </a:ln>
        </p:spPr>
        <p:style>
          <a:lnRef idx="0"/>
          <a:fillRef idx="0"/>
          <a:effectRef idx="0"/>
          <a:fontRef idx="minor"/>
        </p:style>
      </p:sp>
      <p:sp>
        <p:nvSpPr>
          <p:cNvPr id="81" name="CustomShape 21"/>
          <p:cNvSpPr/>
          <p:nvPr/>
        </p:nvSpPr>
        <p:spPr>
          <a:xfrm>
            <a:off x="777240" y="3840480"/>
            <a:ext cx="547920" cy="547920"/>
          </a:xfrm>
          <a:prstGeom prst="ellipse">
            <a:avLst/>
          </a:prstGeom>
          <a:solidFill>
            <a:srgbClr val="134074"/>
          </a:solidFill>
          <a:ln>
            <a:noFill/>
          </a:ln>
        </p:spPr>
        <p:style>
          <a:lnRef idx="0"/>
          <a:fillRef idx="0"/>
          <a:effectRef idx="0"/>
          <a:fontRef idx="minor"/>
        </p:style>
      </p:sp>
      <p:pic>
        <p:nvPicPr>
          <p:cNvPr id="82" name="Image 0" descr="preencoded.png"/>
          <p:cNvPicPr/>
          <p:nvPr/>
        </p:nvPicPr>
        <p:blipFill>
          <a:blip r:embed="rId1"/>
          <a:stretch/>
        </p:blipFill>
        <p:spPr>
          <a:xfrm>
            <a:off x="914400" y="3977640"/>
            <a:ext cx="273600" cy="273600"/>
          </a:xfrm>
          <a:prstGeom prst="rect">
            <a:avLst/>
          </a:prstGeom>
          <a:ln>
            <a:noFill/>
          </a:ln>
        </p:spPr>
      </p:pic>
      <p:sp>
        <p:nvSpPr>
          <p:cNvPr id="83" name="CustomShape 22"/>
          <p:cNvSpPr/>
          <p:nvPr/>
        </p:nvSpPr>
        <p:spPr>
          <a:xfrm>
            <a:off x="14630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Al terminar sabrás…</a:t>
            </a:r>
            <a:endParaRPr b="0" lang="es-ES" sz="1700" spc="-1" strike="noStrike">
              <a:latin typeface="Arial"/>
            </a:endParaRPr>
          </a:p>
        </p:txBody>
      </p:sp>
      <p:sp>
        <p:nvSpPr>
          <p:cNvPr id="84" name="CustomShape 23"/>
          <p:cNvSpPr/>
          <p:nvPr/>
        </p:nvSpPr>
        <p:spPr>
          <a:xfrm>
            <a:off x="7772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Explicar cómo ejecuta el motor una consulta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Crear objetos y un modelo de permisos seguro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Leer un plan de ejecución y diagnosticar con DMVs</a:t>
            </a:r>
            <a:endParaRPr b="0" lang="es-ES" sz="1400" spc="-1" strike="noStrike">
              <a:latin typeface="Arial"/>
            </a:endParaRPr>
          </a:p>
        </p:txBody>
      </p:sp>
      <p:sp>
        <p:nvSpPr>
          <p:cNvPr id="85" name="CustomShape 24"/>
          <p:cNvSpPr/>
          <p:nvPr/>
        </p:nvSpPr>
        <p:spPr>
          <a:xfrm>
            <a:off x="6233040" y="3611880"/>
            <a:ext cx="5409360" cy="2559600"/>
          </a:xfrm>
          <a:prstGeom prst="roundRect">
            <a:avLst>
              <a:gd name="adj" fmla="val 4286"/>
            </a:avLst>
          </a:prstGeom>
          <a:solidFill>
            <a:srgbClr val="e8eef5"/>
          </a:solidFill>
          <a:ln>
            <a:noFill/>
          </a:ln>
        </p:spPr>
        <p:style>
          <a:lnRef idx="0"/>
          <a:fillRef idx="0"/>
          <a:effectRef idx="0"/>
          <a:fontRef idx="minor"/>
        </p:style>
      </p:sp>
      <p:sp>
        <p:nvSpPr>
          <p:cNvPr id="86" name="CustomShape 25"/>
          <p:cNvSpPr/>
          <p:nvPr/>
        </p:nvSpPr>
        <p:spPr>
          <a:xfrm>
            <a:off x="6461640" y="3840480"/>
            <a:ext cx="547920" cy="547920"/>
          </a:xfrm>
          <a:prstGeom prst="ellipse">
            <a:avLst/>
          </a:prstGeom>
          <a:solidFill>
            <a:srgbClr val="134074"/>
          </a:solidFill>
          <a:ln>
            <a:noFill/>
          </a:ln>
        </p:spPr>
        <p:style>
          <a:lnRef idx="0"/>
          <a:fillRef idx="0"/>
          <a:effectRef idx="0"/>
          <a:fontRef idx="minor"/>
        </p:style>
      </p:sp>
      <p:pic>
        <p:nvPicPr>
          <p:cNvPr id="87" name="Image 1" descr="preencoded.png"/>
          <p:cNvPicPr/>
          <p:nvPr/>
        </p:nvPicPr>
        <p:blipFill>
          <a:blip r:embed="rId2"/>
          <a:stretch/>
        </p:blipFill>
        <p:spPr>
          <a:xfrm>
            <a:off x="6598800" y="3977640"/>
            <a:ext cx="273600" cy="273600"/>
          </a:xfrm>
          <a:prstGeom prst="rect">
            <a:avLst/>
          </a:prstGeom>
          <a:ln>
            <a:noFill/>
          </a:ln>
        </p:spPr>
      </p:pic>
      <p:sp>
        <p:nvSpPr>
          <p:cNvPr id="88" name="CustomShape 26"/>
          <p:cNvSpPr/>
          <p:nvPr/>
        </p:nvSpPr>
        <p:spPr>
          <a:xfrm>
            <a:off x="7147440" y="384048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a:t>
            </a:r>
            <a:r>
              <a:rPr b="1" lang="en-US" sz="1700" spc="-1" strike="noStrike">
                <a:solidFill>
                  <a:srgbClr val="0b2545"/>
                </a:solidFill>
                <a:latin typeface="Calibri"/>
                <a:ea typeface="Calibri"/>
              </a:rPr>
              <a:t>y serás capaz de operar</a:t>
            </a:r>
            <a:endParaRPr b="0" lang="es-ES" sz="1700" spc="-1" strike="noStrike">
              <a:latin typeface="Arial"/>
            </a:endParaRPr>
          </a:p>
        </p:txBody>
      </p:sp>
      <p:sp>
        <p:nvSpPr>
          <p:cNvPr id="89" name="CustomShape 27"/>
          <p:cNvSpPr/>
          <p:nvPr/>
        </p:nvSpPr>
        <p:spPr>
          <a:xfrm>
            <a:off x="6461640" y="4572000"/>
            <a:ext cx="4952160" cy="137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Diseñar backups según RPO/RTO y restaurar a un punto exacto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Automatizar mantenimiento y resolver incidencias comunes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Elegir la solución de HA/DR adecuada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BIENVENIDA</a:t>
            </a:r>
            <a:endParaRPr b="0" lang="es-ES" sz="1000" spc="-1" strike="noStrike">
              <a:latin typeface="Arial"/>
            </a:endParaRPr>
          </a:p>
        </p:txBody>
      </p:sp>
      <p:sp>
        <p:nvSpPr>
          <p:cNvPr id="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Cómo trabajaremos</a:t>
            </a:r>
            <a:endParaRPr b="0" lang="es-ES" sz="3400" spc="-1" strike="noStrike">
              <a:latin typeface="Arial"/>
            </a:endParaRPr>
          </a:p>
        </p:txBody>
      </p:sp>
      <p:sp>
        <p:nvSpPr>
          <p:cNvPr id="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3</a:t>
            </a:r>
            <a:endParaRPr b="0" lang="es-ES" sz="1000" spc="-1" strike="noStrike">
              <a:latin typeface="Arial"/>
            </a:endParaRPr>
          </a:p>
        </p:txBody>
      </p:sp>
      <p:sp>
        <p:nvSpPr>
          <p:cNvPr id="94" name="CustomShape 5"/>
          <p:cNvSpPr/>
          <p:nvPr/>
        </p:nvSpPr>
        <p:spPr>
          <a:xfrm>
            <a:off x="54864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6" name="Image 0" descr="preencoded.png"/>
          <p:cNvPicPr/>
          <p:nvPr/>
        </p:nvPicPr>
        <p:blipFill>
          <a:blip r:embed="rId1"/>
          <a:stretch/>
        </p:blipFill>
        <p:spPr>
          <a:xfrm>
            <a:off x="914400" y="1965960"/>
            <a:ext cx="273600" cy="273600"/>
          </a:xfrm>
          <a:prstGeom prst="rect">
            <a:avLst/>
          </a:prstGeom>
          <a:ln>
            <a:noFill/>
          </a:ln>
        </p:spPr>
      </p:pic>
      <p:sp>
        <p:nvSpPr>
          <p:cNvPr id="9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Teoría breve</a:t>
            </a:r>
            <a:endParaRPr b="0" lang="es-ES" sz="1700" spc="-1" strike="noStrike">
              <a:latin typeface="Arial"/>
            </a:endParaRPr>
          </a:p>
        </p:txBody>
      </p:sp>
      <p:sp>
        <p:nvSpPr>
          <p:cNvPr id="98" name="CustomShape 8"/>
          <p:cNvSpPr/>
          <p:nvPr/>
        </p:nvSpPr>
        <p:spPr>
          <a:xfrm>
            <a:off x="77724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Bloques de 20-30 min con esquemas, demostraciones en vivo y fragmentos T-SQL reales.</a:t>
            </a:r>
            <a:endParaRPr b="0" lang="es-ES" sz="1400" spc="-1" strike="noStrike">
              <a:latin typeface="Arial"/>
            </a:endParaRPr>
          </a:p>
        </p:txBody>
      </p:sp>
      <p:sp>
        <p:nvSpPr>
          <p:cNvPr id="99" name="CustomShape 9"/>
          <p:cNvSpPr/>
          <p:nvPr/>
        </p:nvSpPr>
        <p:spPr>
          <a:xfrm>
            <a:off x="433836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101" name="Image 1" descr="preencoded.png"/>
          <p:cNvPicPr/>
          <p:nvPr/>
        </p:nvPicPr>
        <p:blipFill>
          <a:blip r:embed="rId2"/>
          <a:stretch/>
        </p:blipFill>
        <p:spPr>
          <a:xfrm>
            <a:off x="4704120" y="1965960"/>
            <a:ext cx="273600" cy="273600"/>
          </a:xfrm>
          <a:prstGeom prst="rect">
            <a:avLst/>
          </a:prstGeom>
          <a:ln>
            <a:noFill/>
          </a:ln>
        </p:spPr>
      </p:pic>
      <p:sp>
        <p:nvSpPr>
          <p:cNvPr id="10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Laboratorios guiados</a:t>
            </a:r>
            <a:endParaRPr b="0" lang="es-ES" sz="1700" spc="-1" strike="noStrike">
              <a:latin typeface="Arial"/>
            </a:endParaRPr>
          </a:p>
        </p:txBody>
      </p:sp>
      <p:sp>
        <p:nvSpPr>
          <p:cNvPr id="103" name="CustomShape 12"/>
          <p:cNvSpPr/>
          <p:nvPr/>
        </p:nvSpPr>
        <p:spPr>
          <a:xfrm>
            <a:off x="456696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laboratorios y un caso integrador. Cada alumno trabaja en su propia instancia.</a:t>
            </a:r>
            <a:endParaRPr b="0" lang="es-ES" sz="1400" spc="-1" strike="noStrike">
              <a:latin typeface="Arial"/>
            </a:endParaRPr>
          </a:p>
        </p:txBody>
      </p:sp>
      <p:sp>
        <p:nvSpPr>
          <p:cNvPr id="104" name="CustomShape 13"/>
          <p:cNvSpPr/>
          <p:nvPr/>
        </p:nvSpPr>
        <p:spPr>
          <a:xfrm>
            <a:off x="8127720" y="1600200"/>
            <a:ext cx="351468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106" name="Image 2" descr="preencoded.png"/>
          <p:cNvPicPr/>
          <p:nvPr/>
        </p:nvPicPr>
        <p:blipFill>
          <a:blip r:embed="rId3"/>
          <a:stretch/>
        </p:blipFill>
        <p:spPr>
          <a:xfrm>
            <a:off x="8493480" y="1965960"/>
            <a:ext cx="273600" cy="273600"/>
          </a:xfrm>
          <a:prstGeom prst="rect">
            <a:avLst/>
          </a:prstGeom>
          <a:ln>
            <a:noFill/>
          </a:ln>
        </p:spPr>
      </p:pic>
      <p:sp>
        <p:nvSpPr>
          <p:cNvPr id="10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Participación</a:t>
            </a:r>
            <a:endParaRPr b="0" lang="es-ES" sz="1700" spc="-1" strike="noStrike">
              <a:latin typeface="Arial"/>
            </a:endParaRPr>
          </a:p>
        </p:txBody>
      </p:sp>
      <p:sp>
        <p:nvSpPr>
          <p:cNvPr id="108" name="CustomShape 16"/>
          <p:cNvSpPr/>
          <p:nvPr/>
        </p:nvSpPr>
        <p:spPr>
          <a:xfrm>
            <a:off x="8356320" y="2560320"/>
            <a:ext cx="305748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Preguntas y debates en cada tema. Los errores son material de aprendizaje.</a:t>
            </a:r>
            <a:endParaRPr b="0" lang="es-ES" sz="1400" spc="-1" strike="noStrike">
              <a:latin typeface="Arial"/>
            </a:endParaRPr>
          </a:p>
        </p:txBody>
      </p:sp>
      <p:sp>
        <p:nvSpPr>
          <p:cNvPr id="109" name="CustomShape 17"/>
          <p:cNvSpPr/>
          <p:nvPr/>
        </p:nvSpPr>
        <p:spPr>
          <a:xfrm>
            <a:off x="548640" y="4572000"/>
            <a:ext cx="11093760" cy="913680"/>
          </a:xfrm>
          <a:prstGeom prst="roundRect">
            <a:avLst>
              <a:gd name="adj" fmla="val 12000"/>
            </a:avLst>
          </a:prstGeom>
          <a:solidFill>
            <a:srgbClr val="fdede8"/>
          </a:solidFill>
          <a:ln>
            <a:noFill/>
          </a:ln>
        </p:spPr>
        <p:style>
          <a:lnRef idx="0"/>
          <a:fillRef idx="0"/>
          <a:effectRef idx="0"/>
          <a:fontRef idx="minor"/>
        </p:style>
      </p:sp>
      <p:sp>
        <p:nvSpPr>
          <p:cNvPr id="110" name="CustomShape 18"/>
          <p:cNvSpPr/>
          <p:nvPr/>
        </p:nvSpPr>
        <p:spPr>
          <a:xfrm>
            <a:off x="731520" y="4800600"/>
            <a:ext cx="456480" cy="456480"/>
          </a:xfrm>
          <a:prstGeom prst="ellipse">
            <a:avLst/>
          </a:prstGeom>
          <a:solidFill>
            <a:srgbClr val="d95d39"/>
          </a:solidFill>
          <a:ln>
            <a:noFill/>
          </a:ln>
        </p:spPr>
        <p:style>
          <a:lnRef idx="0"/>
          <a:fillRef idx="0"/>
          <a:effectRef idx="0"/>
          <a:fontRef idx="minor"/>
        </p:style>
      </p:sp>
      <p:pic>
        <p:nvPicPr>
          <p:cNvPr id="111" name="Image 3" descr="preencoded.png"/>
          <p:cNvPicPr/>
          <p:nvPr/>
        </p:nvPicPr>
        <p:blipFill>
          <a:blip r:embed="rId4"/>
          <a:stretch/>
        </p:blipFill>
        <p:spPr>
          <a:xfrm>
            <a:off x="846000" y="4915080"/>
            <a:ext cx="227880" cy="227880"/>
          </a:xfrm>
          <a:prstGeom prst="rect">
            <a:avLst/>
          </a:prstGeom>
          <a:ln>
            <a:noFill/>
          </a:ln>
        </p:spPr>
      </p:pic>
      <p:sp>
        <p:nvSpPr>
          <p:cNvPr id="112" name="CustomShape 19"/>
          <p:cNvSpPr/>
          <p:nvPr/>
        </p:nvSpPr>
        <p:spPr>
          <a:xfrm>
            <a:off x="1371600" y="457200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Regla de seguridad: </a:t>
            </a:r>
            <a:r>
              <a:rPr b="0" lang="en-US" sz="1400" spc="-1" strike="noStrike">
                <a:solidFill>
                  <a:srgbClr val="1f2933"/>
                </a:solidFill>
                <a:latin typeface="Calibri"/>
                <a:ea typeface="Calibri"/>
              </a:rPr>
              <a:t>los scripts del curso son destructivos a propósito. Comprueba siempre SELECT @@SERVERNAME antes de ejecutarlos y nunca los lances contra producción.</a:t>
            </a:r>
            <a:endParaRPr b="0" lang="es-ES" sz="1400" spc="-1" strike="noStrike">
              <a:latin typeface="Arial"/>
            </a:endParaRPr>
          </a:p>
        </p:txBody>
      </p:sp>
      <p:sp>
        <p:nvSpPr>
          <p:cNvPr id="113" name="CustomShape 20"/>
          <p:cNvSpPr/>
          <p:nvPr/>
        </p:nvSpPr>
        <p:spPr>
          <a:xfrm>
            <a:off x="548640" y="5212080"/>
            <a:ext cx="11093760" cy="913680"/>
          </a:xfrm>
          <a:prstGeom prst="roundRect">
            <a:avLst>
              <a:gd name="adj" fmla="val 12000"/>
            </a:avLst>
          </a:prstGeom>
          <a:solidFill>
            <a:srgbClr val="e8eef5"/>
          </a:solidFill>
          <a:ln>
            <a:noFill/>
          </a:ln>
        </p:spPr>
        <p:style>
          <a:lnRef idx="0"/>
          <a:fillRef idx="0"/>
          <a:effectRef idx="0"/>
          <a:fontRef idx="minor"/>
        </p:style>
      </p:sp>
      <p:sp>
        <p:nvSpPr>
          <p:cNvPr id="114" name="CustomShape 21"/>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15" name="Image 4" descr="preencoded.png"/>
          <p:cNvPicPr/>
          <p:nvPr/>
        </p:nvPicPr>
        <p:blipFill>
          <a:blip r:embed="rId5"/>
          <a:stretch/>
        </p:blipFill>
        <p:spPr>
          <a:xfrm>
            <a:off x="846000" y="5555160"/>
            <a:ext cx="227880" cy="227880"/>
          </a:xfrm>
          <a:prstGeom prst="rect">
            <a:avLst/>
          </a:prstGeom>
          <a:ln>
            <a:noFill/>
          </a:ln>
        </p:spPr>
      </p:pic>
      <p:sp>
        <p:nvSpPr>
          <p:cNvPr id="116" name="CustomShape 22"/>
          <p:cNvSpPr/>
          <p:nvPr/>
        </p:nvSpPr>
        <p:spPr>
          <a:xfrm>
            <a:off x="1371600" y="5212080"/>
            <a:ext cx="1008792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Material: </a:t>
            </a:r>
            <a:r>
              <a:rPr b="0" lang="en-US" sz="1400" spc="-1" strike="noStrike">
                <a:solidFill>
                  <a:srgbClr val="1f2933"/>
                </a:solidFill>
                <a:latin typeface="Calibri"/>
                <a:ea typeface="Calibri"/>
              </a:rPr>
              <a:t>diapositivas con guion completo en las notas, scripts T-SQL del curso y la Guía del Docente en Markdown.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ENTORNO</a:t>
            </a:r>
            <a:endParaRPr b="0" lang="es-ES" sz="1000" spc="-1" strike="noStrike">
              <a:latin typeface="Arial"/>
            </a:endParaRPr>
          </a:p>
        </p:txBody>
      </p:sp>
      <p:sp>
        <p:nvSpPr>
          <p:cNvPr id="1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Entorno de trabajo del curso</a:t>
            </a:r>
            <a:endParaRPr b="0" lang="es-ES" sz="3400" spc="-1" strike="noStrike">
              <a:latin typeface="Arial"/>
            </a:endParaRPr>
          </a:p>
        </p:txBody>
      </p:sp>
      <p:sp>
        <p:nvSpPr>
          <p:cNvPr id="1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0   4</a:t>
            </a:r>
            <a:endParaRPr b="0" lang="es-ES" sz="1000" spc="-1" strike="noStrike">
              <a:latin typeface="Arial"/>
            </a:endParaRPr>
          </a:p>
        </p:txBody>
      </p:sp>
      <p:sp>
        <p:nvSpPr>
          <p:cNvPr id="121" name="CustomShape 5"/>
          <p:cNvSpPr/>
          <p:nvPr/>
        </p:nvSpPr>
        <p:spPr>
          <a:xfrm>
            <a:off x="548640" y="16002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 name="CustomShape 6"/>
          <p:cNvSpPr/>
          <p:nvPr/>
        </p:nvSpPr>
        <p:spPr>
          <a:xfrm>
            <a:off x="777240" y="1965960"/>
            <a:ext cx="639360" cy="639360"/>
          </a:xfrm>
          <a:prstGeom prst="ellipse">
            <a:avLst/>
          </a:prstGeom>
          <a:solidFill>
            <a:srgbClr val="134074"/>
          </a:solidFill>
          <a:ln>
            <a:noFill/>
          </a:ln>
        </p:spPr>
        <p:style>
          <a:lnRef idx="0"/>
          <a:fillRef idx="0"/>
          <a:effectRef idx="0"/>
          <a:fontRef idx="minor"/>
        </p:style>
      </p:sp>
      <p:pic>
        <p:nvPicPr>
          <p:cNvPr id="123" name="Image 0" descr="preencoded.png"/>
          <p:cNvPicPr/>
          <p:nvPr/>
        </p:nvPicPr>
        <p:blipFill>
          <a:blip r:embed="rId1"/>
          <a:stretch/>
        </p:blipFill>
        <p:spPr>
          <a:xfrm>
            <a:off x="937440" y="2126160"/>
            <a:ext cx="319320" cy="319320"/>
          </a:xfrm>
          <a:prstGeom prst="rect">
            <a:avLst/>
          </a:prstGeom>
          <a:ln>
            <a:noFill/>
          </a:ln>
        </p:spPr>
      </p:pic>
      <p:sp>
        <p:nvSpPr>
          <p:cNvPr id="124" name="CustomShape 7"/>
          <p:cNvSpPr/>
          <p:nvPr/>
        </p:nvSpPr>
        <p:spPr>
          <a:xfrm>
            <a:off x="1645920" y="16916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SSMS (Windows)</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Cliente completo: objetos, planes de ejecución, Agent, Profiler.</a:t>
            </a:r>
            <a:endParaRPr b="0" lang="es-ES" sz="1400" spc="-1" strike="noStrike">
              <a:latin typeface="Arial"/>
            </a:endParaRPr>
          </a:p>
        </p:txBody>
      </p:sp>
      <p:sp>
        <p:nvSpPr>
          <p:cNvPr id="125" name="CustomShape 8"/>
          <p:cNvSpPr/>
          <p:nvPr/>
        </p:nvSpPr>
        <p:spPr>
          <a:xfrm>
            <a:off x="548640" y="32004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 name="CustomShape 9"/>
          <p:cNvSpPr/>
          <p:nvPr/>
        </p:nvSpPr>
        <p:spPr>
          <a:xfrm>
            <a:off x="777240" y="3566160"/>
            <a:ext cx="639360" cy="639360"/>
          </a:xfrm>
          <a:prstGeom prst="ellipse">
            <a:avLst/>
          </a:prstGeom>
          <a:solidFill>
            <a:srgbClr val="134074"/>
          </a:solidFill>
          <a:ln>
            <a:noFill/>
          </a:ln>
        </p:spPr>
        <p:style>
          <a:lnRef idx="0"/>
          <a:fillRef idx="0"/>
          <a:effectRef idx="0"/>
          <a:fontRef idx="minor"/>
        </p:style>
      </p:sp>
      <p:pic>
        <p:nvPicPr>
          <p:cNvPr id="127" name="Image 1" descr="preencoded.png"/>
          <p:cNvPicPr/>
          <p:nvPr/>
        </p:nvPicPr>
        <p:blipFill>
          <a:blip r:embed="rId2"/>
          <a:stretch/>
        </p:blipFill>
        <p:spPr>
          <a:xfrm>
            <a:off x="937440" y="3726360"/>
            <a:ext cx="319320" cy="319320"/>
          </a:xfrm>
          <a:prstGeom prst="rect">
            <a:avLst/>
          </a:prstGeom>
          <a:ln>
            <a:noFill/>
          </a:ln>
        </p:spPr>
      </p:pic>
      <p:sp>
        <p:nvSpPr>
          <p:cNvPr id="128" name="CustomShape 10"/>
          <p:cNvSpPr/>
          <p:nvPr/>
        </p:nvSpPr>
        <p:spPr>
          <a:xfrm>
            <a:off x="1645920" y="32918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Multiplataforma; sustituye a Azure Data Studio (fin de soporte 28/02/2026).</a:t>
            </a:r>
            <a:endParaRPr b="0" lang="es-ES" sz="1400" spc="-1" strike="noStrike">
              <a:latin typeface="Arial"/>
            </a:endParaRPr>
          </a:p>
        </p:txBody>
      </p:sp>
      <p:sp>
        <p:nvSpPr>
          <p:cNvPr id="129" name="CustomShape 11"/>
          <p:cNvSpPr/>
          <p:nvPr/>
        </p:nvSpPr>
        <p:spPr>
          <a:xfrm>
            <a:off x="548640" y="4800600"/>
            <a:ext cx="539424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0" name="CustomShape 12"/>
          <p:cNvSpPr/>
          <p:nvPr/>
        </p:nvSpPr>
        <p:spPr>
          <a:xfrm>
            <a:off x="777240" y="5166360"/>
            <a:ext cx="639360" cy="639360"/>
          </a:xfrm>
          <a:prstGeom prst="ellipse">
            <a:avLst/>
          </a:prstGeom>
          <a:solidFill>
            <a:srgbClr val="134074"/>
          </a:solidFill>
          <a:ln>
            <a:noFill/>
          </a:ln>
        </p:spPr>
        <p:style>
          <a:lnRef idx="0"/>
          <a:fillRef idx="0"/>
          <a:effectRef idx="0"/>
          <a:fontRef idx="minor"/>
        </p:style>
      </p:sp>
      <p:pic>
        <p:nvPicPr>
          <p:cNvPr id="131" name="Image 2" descr="preencoded.png"/>
          <p:cNvPicPr/>
          <p:nvPr/>
        </p:nvPicPr>
        <p:blipFill>
          <a:blip r:embed="rId3"/>
          <a:stretch/>
        </p:blipFill>
        <p:spPr>
          <a:xfrm>
            <a:off x="937440" y="5326560"/>
            <a:ext cx="319320" cy="319320"/>
          </a:xfrm>
          <a:prstGeom prst="rect">
            <a:avLst/>
          </a:prstGeom>
          <a:ln>
            <a:noFill/>
          </a:ln>
        </p:spPr>
      </p:pic>
      <p:sp>
        <p:nvSpPr>
          <p:cNvPr id="132" name="CustomShape 13"/>
          <p:cNvSpPr/>
          <p:nvPr/>
        </p:nvSpPr>
        <p:spPr>
          <a:xfrm>
            <a:off x="1645920" y="4892040"/>
            <a:ext cx="4068360" cy="1188000"/>
          </a:xfrm>
          <a:prstGeom prst="rect">
            <a:avLst/>
          </a:prstGeom>
          <a:noFill/>
          <a:ln>
            <a:noFill/>
          </a:ln>
        </p:spPr>
        <p:style>
          <a:lnRef idx="0"/>
          <a:fillRef idx="0"/>
          <a:effectRef idx="0"/>
          <a:fontRef idx="minor"/>
        </p:style>
        <p:txBody>
          <a:bodyPr lIns="0" rIns="0" tIns="0" bIns="0" anchor="ctr">
            <a:noAutofit/>
          </a:bodyPr>
          <a:p>
            <a:pPr>
              <a:lnSpc>
                <a:spcPct val="100000"/>
              </a:lnSpc>
              <a:spcAft>
                <a:spcPts val="400"/>
              </a:spcAft>
              <a:tabLst>
                <a:tab algn="l" pos="0"/>
              </a:tabLst>
            </a:pPr>
            <a:r>
              <a:rPr b="1" lang="en-US" sz="1700" spc="-1" strike="noStrike">
                <a:solidFill>
                  <a:srgbClr val="0b2545"/>
                </a:solidFill>
                <a:latin typeface="Calibri"/>
                <a:ea typeface="Calibri"/>
              </a:rPr>
              <a:t>Docker o instalación local</a:t>
            </a:r>
            <a:endParaRPr b="0" lang="es-ES" sz="1700" spc="-1" strike="noStrike">
              <a:latin typeface="Arial"/>
            </a:endParaRPr>
          </a:p>
          <a:p>
            <a:pPr>
              <a:lnSpc>
                <a:spcPct val="100000"/>
              </a:lnSpc>
              <a:spcAft>
                <a:spcPts val="400"/>
              </a:spcAft>
              <a:tabLst>
                <a:tab algn="l" pos="0"/>
              </a:tabLst>
            </a:pPr>
            <a:r>
              <a:rPr b="0" lang="en-US" sz="1400" spc="-1" strike="noStrike">
                <a:solidFill>
                  <a:srgbClr val="1f2933"/>
                </a:solidFill>
                <a:latin typeface="Calibri"/>
                <a:ea typeface="Calibri"/>
              </a:rPr>
              <a:t>Imagen oficial 2025-latest, o Developer Edition en Windows.</a:t>
            </a:r>
            <a:endParaRPr b="0" lang="es-ES" sz="1400" spc="-1" strike="noStrike">
              <a:latin typeface="Arial"/>
            </a:endParaRPr>
          </a:p>
        </p:txBody>
      </p:sp>
      <p:sp>
        <p:nvSpPr>
          <p:cNvPr id="133" name="CustomShape 14"/>
          <p:cNvSpPr/>
          <p:nvPr/>
        </p:nvSpPr>
        <p:spPr>
          <a:xfrm>
            <a:off x="6309360" y="1600200"/>
            <a:ext cx="5330160" cy="3108240"/>
          </a:xfrm>
          <a:prstGeom prst="roundRect">
            <a:avLst>
              <a:gd name="adj" fmla="val 2941"/>
            </a:avLst>
          </a:prstGeom>
          <a:solidFill>
            <a:srgbClr val="eceff3"/>
          </a:solidFill>
          <a:ln w="9360">
            <a:solidFill>
              <a:srgbClr val="d0d7de"/>
            </a:solidFill>
            <a:round/>
          </a:ln>
        </p:spPr>
        <p:style>
          <a:lnRef idx="0"/>
          <a:fillRef idx="0"/>
          <a:effectRef idx="0"/>
          <a:fontRef idx="minor"/>
        </p:style>
      </p:sp>
      <p:sp>
        <p:nvSpPr>
          <p:cNvPr id="134" name="CustomShape 15"/>
          <p:cNvSpPr/>
          <p:nvPr/>
        </p:nvSpPr>
        <p:spPr>
          <a:xfrm>
            <a:off x="64922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DOCKER</a:t>
            </a:r>
            <a:endParaRPr b="0" lang="es-ES" sz="1000" spc="-1" strike="noStrike">
              <a:latin typeface="Arial"/>
            </a:endParaRPr>
          </a:p>
        </p:txBody>
      </p:sp>
      <p:sp>
        <p:nvSpPr>
          <p:cNvPr id="135" name="CustomShape 16"/>
          <p:cNvSpPr/>
          <p:nvPr/>
        </p:nvSpPr>
        <p:spPr>
          <a:xfrm>
            <a:off x="6492240" y="1965960"/>
            <a:ext cx="4964400" cy="2651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docker run -d </a:t>
            </a:r>
            <a:r>
              <a:rPr b="0" i="1" lang="en-US" sz="1200" spc="-1" strike="noStrike">
                <a:solidFill>
                  <a:srgbClr val="6b7280"/>
                </a:solidFill>
                <a:latin typeface="Consolas"/>
                <a:ea typeface="Consolas"/>
              </a:rPr>
              <a:t>--name 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"ACCEPT_EULA=Y"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 "MSSQL_SA_PASSWORD=Curso#SQL2025!"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-v sqldata:/var/opt/mssql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mcr.microsoft.com/mssql/server:</a:t>
            </a:r>
            <a:r>
              <a:rPr b="0" lang="en-US" sz="1200" spc="-1" strike="noStrike">
                <a:solidFill>
                  <a:srgbClr val="9a3412"/>
                </a:solidFill>
                <a:latin typeface="Consolas"/>
                <a:ea typeface="Consolas"/>
              </a:rPr>
              <a:t>2025</a:t>
            </a:r>
            <a:r>
              <a:rPr b="0" lang="en-US" sz="1200" spc="-1" strike="noStrike">
                <a:solidFill>
                  <a:srgbClr val="1f2933"/>
                </a:solidFill>
                <a:latin typeface="Consolas"/>
                <a:ea typeface="Consolas"/>
              </a:rPr>
              <a:t>-latest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ps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docker logs sql2025 | tail -n </a:t>
            </a:r>
            <a:r>
              <a:rPr b="0" lang="en-US" sz="1200" spc="-1" strike="noStrike">
                <a:solidFill>
                  <a:srgbClr val="9a3412"/>
                </a:solidFill>
                <a:latin typeface="Consolas"/>
                <a:ea typeface="Consolas"/>
              </a:rPr>
              <a:t>5</a:t>
            </a:r>
            <a:endParaRPr b="0" lang="es-ES" sz="1200" spc="-1" strike="noStrike">
              <a:latin typeface="Arial"/>
            </a:endParaRPr>
          </a:p>
        </p:txBody>
      </p:sp>
      <p:sp>
        <p:nvSpPr>
          <p:cNvPr id="136" name="CustomShape 17"/>
          <p:cNvSpPr/>
          <p:nvPr/>
        </p:nvSpPr>
        <p:spPr>
          <a:xfrm>
            <a:off x="6309360" y="4983480"/>
            <a:ext cx="5330160" cy="1188000"/>
          </a:xfrm>
          <a:prstGeom prst="roundRect">
            <a:avLst>
              <a:gd name="adj" fmla="val 9231"/>
            </a:avLst>
          </a:prstGeom>
          <a:solidFill>
            <a:srgbClr val="fdede8"/>
          </a:solidFill>
          <a:ln>
            <a:noFill/>
          </a:ln>
        </p:spPr>
        <p:style>
          <a:lnRef idx="0"/>
          <a:fillRef idx="0"/>
          <a:effectRef idx="0"/>
          <a:fontRef idx="minor"/>
        </p:style>
      </p:sp>
      <p:sp>
        <p:nvSpPr>
          <p:cNvPr id="137" name="CustomShape 18"/>
          <p:cNvSpPr/>
          <p:nvPr/>
        </p:nvSpPr>
        <p:spPr>
          <a:xfrm>
            <a:off x="6492240" y="5349240"/>
            <a:ext cx="456480" cy="456480"/>
          </a:xfrm>
          <a:prstGeom prst="ellipse">
            <a:avLst/>
          </a:prstGeom>
          <a:solidFill>
            <a:srgbClr val="d95d39"/>
          </a:solidFill>
          <a:ln>
            <a:noFill/>
          </a:ln>
        </p:spPr>
        <p:style>
          <a:lnRef idx="0"/>
          <a:fillRef idx="0"/>
          <a:effectRef idx="0"/>
          <a:fontRef idx="minor"/>
        </p:style>
      </p:sp>
      <p:pic>
        <p:nvPicPr>
          <p:cNvPr id="138" name="Image 3" descr="preencoded.png"/>
          <p:cNvPicPr/>
          <p:nvPr/>
        </p:nvPicPr>
        <p:blipFill>
          <a:blip r:embed="rId4"/>
          <a:stretch/>
        </p:blipFill>
        <p:spPr>
          <a:xfrm>
            <a:off x="6606720" y="5463720"/>
            <a:ext cx="227880" cy="227880"/>
          </a:xfrm>
          <a:prstGeom prst="rect">
            <a:avLst/>
          </a:prstGeom>
          <a:ln>
            <a:noFill/>
          </a:ln>
        </p:spPr>
      </p:pic>
      <p:sp>
        <p:nvSpPr>
          <p:cNvPr id="139" name="CustomShape 19"/>
          <p:cNvSpPr/>
          <p:nvPr/>
        </p:nvSpPr>
        <p:spPr>
          <a:xfrm>
            <a:off x="7132320" y="4983480"/>
            <a:ext cx="432432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 el contenedor se para: </a:t>
            </a:r>
            <a:r>
              <a:rPr b="0" lang="en-US" sz="1400" spc="-1" strike="noStrike">
                <a:solidFill>
                  <a:srgbClr val="1f2933"/>
                </a:solidFill>
                <a:latin typeface="Calibri"/>
                <a:ea typeface="Calibri"/>
              </a:rPr>
              <a:t>revisa docker logs. Casi siempre es una contraseña de sa que no cumple la política de complejidad.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0"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01</a:t>
            </a:r>
            <a:endParaRPr b="0" lang="es-ES" sz="12000" spc="-1" strike="noStrike">
              <a:latin typeface="Arial"/>
            </a:endParaRPr>
          </a:p>
        </p:txBody>
      </p:sp>
      <p:sp>
        <p:nvSpPr>
          <p:cNvPr id="141"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1 · ≈ 4,0 H</a:t>
            </a:r>
            <a:endParaRPr b="0" lang="es-ES" sz="1100" spc="-1" strike="noStrike">
              <a:latin typeface="Arial"/>
            </a:endParaRPr>
          </a:p>
        </p:txBody>
      </p:sp>
      <p:sp>
        <p:nvSpPr>
          <p:cNvPr id="142"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Fundamentos y arquitectura</a:t>
            </a:r>
            <a:endParaRPr b="0" lang="es-ES" sz="3800" spc="-1" strike="noStrike">
              <a:latin typeface="Arial"/>
            </a:endParaRPr>
          </a:p>
        </p:txBody>
      </p:sp>
      <p:sp>
        <p:nvSpPr>
          <p:cNvPr id="143"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Incluye licenciamiento: cómo es SQL Server por dentro y qué edición y licencia necesitas</a:t>
            </a:r>
            <a:endParaRPr b="0" lang="es-ES" sz="1600" spc="-1" strike="noStrike">
              <a:latin typeface="Arial"/>
            </a:endParaRPr>
          </a:p>
        </p:txBody>
      </p:sp>
      <p:sp>
        <p:nvSpPr>
          <p:cNvPr id="144"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5"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6" name="Image 0" descr="preencoded.png"/>
          <p:cNvPicPr/>
          <p:nvPr/>
        </p:nvPicPr>
        <p:blipFill>
          <a:blip r:embed="rId1"/>
          <a:stretch/>
        </p:blipFill>
        <p:spPr>
          <a:xfrm>
            <a:off x="6926760" y="1280160"/>
            <a:ext cx="227880" cy="227880"/>
          </a:xfrm>
          <a:prstGeom prst="rect">
            <a:avLst/>
          </a:prstGeom>
          <a:ln>
            <a:noFill/>
          </a:ln>
        </p:spPr>
      </p:pic>
      <p:sp>
        <p:nvSpPr>
          <p:cNvPr id="147"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Historia y versiones</a:t>
            </a:r>
            <a:endParaRPr b="0" lang="es-ES" sz="1600" spc="-1" strike="noStrike">
              <a:latin typeface="Arial"/>
            </a:endParaRPr>
          </a:p>
        </p:txBody>
      </p:sp>
      <p:sp>
        <p:nvSpPr>
          <p:cNvPr id="148"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50" name="Image 1" descr="preencoded.png"/>
          <p:cNvPicPr/>
          <p:nvPr/>
        </p:nvPicPr>
        <p:blipFill>
          <a:blip r:embed="rId2"/>
          <a:stretch/>
        </p:blipFill>
        <p:spPr>
          <a:xfrm>
            <a:off x="6926760" y="2057400"/>
            <a:ext cx="227880" cy="227880"/>
          </a:xfrm>
          <a:prstGeom prst="rect">
            <a:avLst/>
          </a:prstGeom>
          <a:ln>
            <a:noFill/>
          </a:ln>
        </p:spPr>
      </p:pic>
      <p:sp>
        <p:nvSpPr>
          <p:cNvPr id="151"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del motor</a:t>
            </a:r>
            <a:endParaRPr b="0" lang="es-ES" sz="1600" spc="-1" strike="noStrike">
              <a:latin typeface="Arial"/>
            </a:endParaRPr>
          </a:p>
        </p:txBody>
      </p:sp>
      <p:sp>
        <p:nvSpPr>
          <p:cNvPr id="152"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3"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54" name="Image 2" descr="preencoded.png"/>
          <p:cNvPicPr/>
          <p:nvPr/>
        </p:nvPicPr>
        <p:blipFill>
          <a:blip r:embed="rId3"/>
          <a:stretch/>
        </p:blipFill>
        <p:spPr>
          <a:xfrm>
            <a:off x="6926760" y="2834640"/>
            <a:ext cx="227880" cy="227880"/>
          </a:xfrm>
          <a:prstGeom prst="rect">
            <a:avLst/>
          </a:prstGeom>
          <a:ln>
            <a:noFill/>
          </a:ln>
        </p:spPr>
      </p:pic>
      <p:sp>
        <p:nvSpPr>
          <p:cNvPr id="155"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Páginas, extensiones y ficheros</a:t>
            </a:r>
            <a:endParaRPr b="0" lang="es-ES" sz="1600" spc="-1" strike="noStrike">
              <a:latin typeface="Arial"/>
            </a:endParaRPr>
          </a:p>
        </p:txBody>
      </p:sp>
      <p:sp>
        <p:nvSpPr>
          <p:cNvPr id="156"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7"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8" name="Image 3" descr="preencoded.png"/>
          <p:cNvPicPr/>
          <p:nvPr/>
        </p:nvPicPr>
        <p:blipFill>
          <a:blip r:embed="rId4"/>
          <a:stretch/>
        </p:blipFill>
        <p:spPr>
          <a:xfrm>
            <a:off x="6926760" y="3611880"/>
            <a:ext cx="227880" cy="227880"/>
          </a:xfrm>
          <a:prstGeom prst="rect">
            <a:avLst/>
          </a:prstGeom>
          <a:ln>
            <a:noFill/>
          </a:ln>
        </p:spPr>
      </p:pic>
      <p:sp>
        <p:nvSpPr>
          <p:cNvPr id="159"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Instancias y bases del sistema</a:t>
            </a:r>
            <a:endParaRPr b="0" lang="es-ES" sz="1600" spc="-1" strike="noStrike">
              <a:latin typeface="Arial"/>
            </a:endParaRPr>
          </a:p>
        </p:txBody>
      </p:sp>
      <p:sp>
        <p:nvSpPr>
          <p:cNvPr id="160"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1"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62" name="Image 4" descr="preencoded.png"/>
          <p:cNvPicPr/>
          <p:nvPr/>
        </p:nvPicPr>
        <p:blipFill>
          <a:blip r:embed="rId5"/>
          <a:stretch/>
        </p:blipFill>
        <p:spPr>
          <a:xfrm>
            <a:off x="6926760" y="4389120"/>
            <a:ext cx="227880" cy="227880"/>
          </a:xfrm>
          <a:prstGeom prst="rect">
            <a:avLst/>
          </a:prstGeom>
          <a:ln>
            <a:noFill/>
          </a:ln>
        </p:spPr>
      </p:pic>
      <p:sp>
        <p:nvSpPr>
          <p:cNvPr id="163"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Ediciones y licenciamiento</a:t>
            </a:r>
            <a:endParaRPr b="0" lang="es-ES" sz="1600" spc="-1" strike="noStrike">
              <a:latin typeface="Arial"/>
            </a:endParaRPr>
          </a:p>
        </p:txBody>
      </p:sp>
      <p:sp>
        <p:nvSpPr>
          <p:cNvPr id="164"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65"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66" name="Image 5" descr="preencoded.png"/>
          <p:cNvPicPr/>
          <p:nvPr/>
        </p:nvPicPr>
        <p:blipFill>
          <a:blip r:embed="rId6"/>
          <a:stretch/>
        </p:blipFill>
        <p:spPr>
          <a:xfrm>
            <a:off x="6926760" y="5166360"/>
            <a:ext cx="227880" cy="227880"/>
          </a:xfrm>
          <a:prstGeom prst="rect">
            <a:avLst/>
          </a:prstGeom>
          <a:ln>
            <a:noFill/>
          </a:ln>
        </p:spPr>
      </p:pic>
      <p:sp>
        <p:nvSpPr>
          <p:cNvPr id="167"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1</a:t>
            </a:r>
            <a:endParaRPr b="0" lang="es-ES" sz="1600" spc="-1" strike="noStrike">
              <a:latin typeface="Arial"/>
            </a:endParaRPr>
          </a:p>
        </p:txBody>
      </p:sp>
      <p:sp>
        <p:nvSpPr>
          <p:cNvPr id="168"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69"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1   5</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HISTORIA</a:t>
            </a:r>
            <a:endParaRPr b="0" lang="es-ES" sz="1000" spc="-1" strike="noStrike">
              <a:latin typeface="Arial"/>
            </a:endParaRPr>
          </a:p>
        </p:txBody>
      </p:sp>
      <p:sp>
        <p:nvSpPr>
          <p:cNvPr id="1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Versiones de SQL Server</a:t>
            </a:r>
            <a:endParaRPr b="0" lang="es-ES" sz="3400" spc="-1" strike="noStrike">
              <a:latin typeface="Arial"/>
            </a:endParaRPr>
          </a:p>
        </p:txBody>
      </p:sp>
      <p:sp>
        <p:nvSpPr>
          <p:cNvPr id="1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6</a:t>
            </a:r>
            <a:endParaRPr b="0" lang="es-ES" sz="1000" spc="-1" strike="noStrike">
              <a:latin typeface="Arial"/>
            </a:endParaRPr>
          </a:p>
        </p:txBody>
      </p:sp>
      <p:sp>
        <p:nvSpPr>
          <p:cNvPr id="174" name="CustomShape 5"/>
          <p:cNvSpPr/>
          <p:nvPr/>
        </p:nvSpPr>
        <p:spPr>
          <a:xfrm>
            <a:off x="5486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5" name="CustomShape 6"/>
          <p:cNvSpPr/>
          <p:nvPr/>
        </p:nvSpPr>
        <p:spPr>
          <a:xfrm>
            <a:off x="5486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2012</a:t>
            </a:r>
            <a:endParaRPr b="0" lang="es-ES" sz="2800" spc="-1" strike="noStrike">
              <a:latin typeface="Arial"/>
            </a:endParaRPr>
          </a:p>
        </p:txBody>
      </p:sp>
      <p:sp>
        <p:nvSpPr>
          <p:cNvPr id="176" name="CustomShape 7"/>
          <p:cNvSpPr/>
          <p:nvPr/>
        </p:nvSpPr>
        <p:spPr>
          <a:xfrm>
            <a:off x="6858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On AG</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Columnstore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Secuencias</a:t>
            </a:r>
            <a:endParaRPr b="0" lang="es-ES" sz="1300" spc="-1" strike="noStrike">
              <a:latin typeface="Arial"/>
            </a:endParaRPr>
          </a:p>
        </p:txBody>
      </p:sp>
      <p:sp>
        <p:nvSpPr>
          <p:cNvPr id="177" name="CustomShape 8"/>
          <p:cNvSpPr/>
          <p:nvPr/>
        </p:nvSpPr>
        <p:spPr>
          <a:xfrm>
            <a:off x="215316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8" name="CustomShape 9"/>
          <p:cNvSpPr/>
          <p:nvPr/>
        </p:nvSpPr>
        <p:spPr>
          <a:xfrm>
            <a:off x="21531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2014</a:t>
            </a:r>
            <a:endParaRPr b="0" lang="es-ES" sz="2800" spc="-1" strike="noStrike">
              <a:latin typeface="Arial"/>
            </a:endParaRPr>
          </a:p>
        </p:txBody>
      </p:sp>
      <p:sp>
        <p:nvSpPr>
          <p:cNvPr id="179" name="CustomShape 10"/>
          <p:cNvSpPr/>
          <p:nvPr/>
        </p:nvSpPr>
        <p:spPr>
          <a:xfrm>
            <a:off x="22903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In-Memory OLTP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Buffer Pool Ext.</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Backup cifrado</a:t>
            </a:r>
            <a:endParaRPr b="0" lang="es-ES" sz="1300" spc="-1" strike="noStrike">
              <a:latin typeface="Arial"/>
            </a:endParaRPr>
          </a:p>
        </p:txBody>
      </p:sp>
      <p:sp>
        <p:nvSpPr>
          <p:cNvPr id="180" name="CustomShape 11"/>
          <p:cNvSpPr/>
          <p:nvPr/>
        </p:nvSpPr>
        <p:spPr>
          <a:xfrm>
            <a:off x="375768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 name="CustomShape 12"/>
          <p:cNvSpPr/>
          <p:nvPr/>
        </p:nvSpPr>
        <p:spPr>
          <a:xfrm>
            <a:off x="375768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2016</a:t>
            </a:r>
            <a:endParaRPr b="0" lang="es-ES" sz="2800" spc="-1" strike="noStrike">
              <a:latin typeface="Arial"/>
            </a:endParaRPr>
          </a:p>
        </p:txBody>
      </p:sp>
      <p:sp>
        <p:nvSpPr>
          <p:cNvPr id="182" name="CustomShape 13"/>
          <p:cNvSpPr/>
          <p:nvPr/>
        </p:nvSpPr>
        <p:spPr>
          <a:xfrm>
            <a:off x="389484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Query Store</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Always Encrypted</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Temporal tables</a:t>
            </a:r>
            <a:endParaRPr b="0" lang="es-ES" sz="1300" spc="-1" strike="noStrike">
              <a:latin typeface="Arial"/>
            </a:endParaRPr>
          </a:p>
        </p:txBody>
      </p:sp>
      <p:sp>
        <p:nvSpPr>
          <p:cNvPr id="183" name="CustomShape 14"/>
          <p:cNvSpPr/>
          <p:nvPr/>
        </p:nvSpPr>
        <p:spPr>
          <a:xfrm>
            <a:off x="536220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 name="CustomShape 15"/>
          <p:cNvSpPr/>
          <p:nvPr/>
        </p:nvSpPr>
        <p:spPr>
          <a:xfrm>
            <a:off x="536220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2017</a:t>
            </a:r>
            <a:endParaRPr b="0" lang="es-ES" sz="2800" spc="-1" strike="noStrike">
              <a:latin typeface="Arial"/>
            </a:endParaRPr>
          </a:p>
        </p:txBody>
      </p:sp>
      <p:sp>
        <p:nvSpPr>
          <p:cNvPr id="185" name="CustomShape 16"/>
          <p:cNvSpPr/>
          <p:nvPr/>
        </p:nvSpPr>
        <p:spPr>
          <a:xfrm>
            <a:off x="549936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Linux y Docker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Adaptive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Python</a:t>
            </a:r>
            <a:endParaRPr b="0" lang="es-ES" sz="1300" spc="-1" strike="noStrike">
              <a:latin typeface="Arial"/>
            </a:endParaRPr>
          </a:p>
        </p:txBody>
      </p:sp>
      <p:sp>
        <p:nvSpPr>
          <p:cNvPr id="186" name="CustomShape 17"/>
          <p:cNvSpPr/>
          <p:nvPr/>
        </p:nvSpPr>
        <p:spPr>
          <a:xfrm>
            <a:off x="696672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7" name="CustomShape 18"/>
          <p:cNvSpPr/>
          <p:nvPr/>
        </p:nvSpPr>
        <p:spPr>
          <a:xfrm>
            <a:off x="696672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2019</a:t>
            </a:r>
            <a:endParaRPr b="0" lang="es-ES" sz="2800" spc="-1" strike="noStrike">
              <a:latin typeface="Arial"/>
            </a:endParaRPr>
          </a:p>
        </p:txBody>
      </p:sp>
      <p:sp>
        <p:nvSpPr>
          <p:cNvPr id="188" name="CustomShape 19"/>
          <p:cNvSpPr/>
          <p:nvPr/>
        </p:nvSpPr>
        <p:spPr>
          <a:xfrm>
            <a:off x="710388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Intelligent QP</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ADR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UTF-8</a:t>
            </a:r>
            <a:endParaRPr b="0" lang="es-ES" sz="1300" spc="-1" strike="noStrike">
              <a:latin typeface="Arial"/>
            </a:endParaRPr>
          </a:p>
        </p:txBody>
      </p:sp>
      <p:sp>
        <p:nvSpPr>
          <p:cNvPr id="189" name="CustomShape 20"/>
          <p:cNvSpPr/>
          <p:nvPr/>
        </p:nvSpPr>
        <p:spPr>
          <a:xfrm>
            <a:off x="8571240" y="1600200"/>
            <a:ext cx="1466640" cy="3108240"/>
          </a:xfrm>
          <a:prstGeom prst="roundRect">
            <a:avLst>
              <a:gd name="adj" fmla="val 7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 name="CustomShape 21"/>
          <p:cNvSpPr/>
          <p:nvPr/>
        </p:nvSpPr>
        <p:spPr>
          <a:xfrm>
            <a:off x="857124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d95d39"/>
                </a:solidFill>
                <a:latin typeface="Calibri"/>
                <a:ea typeface="Calibri"/>
              </a:rPr>
              <a:t>2022</a:t>
            </a:r>
            <a:endParaRPr b="0" lang="es-ES" sz="2800" spc="-1" strike="noStrike">
              <a:latin typeface="Arial"/>
            </a:endParaRPr>
          </a:p>
        </p:txBody>
      </p:sp>
      <p:sp>
        <p:nvSpPr>
          <p:cNvPr id="191" name="CustomShape 22"/>
          <p:cNvSpPr/>
          <p:nvPr/>
        </p:nvSpPr>
        <p:spPr>
          <a:xfrm>
            <a:off x="870840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Ledger</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PSP optimization</a:t>
            </a:r>
            <a:endParaRPr b="0" lang="es-ES" sz="1300" spc="-1" strike="noStrike">
              <a:latin typeface="Arial"/>
            </a:endParaRPr>
          </a:p>
          <a:p>
            <a:pPr marL="203040" indent="-202320">
              <a:lnSpc>
                <a:spcPct val="100000"/>
              </a:lnSpc>
              <a:spcAft>
                <a:spcPts val="799"/>
              </a:spcAft>
              <a:buClr>
                <a:srgbClr val="1f2933"/>
              </a:buClr>
              <a:buFont typeface="Symbol"/>
              <a:buChar char=""/>
            </a:pPr>
            <a:r>
              <a:rPr b="0" lang="en-US" sz="1300" spc="-1" strike="noStrike">
                <a:solidFill>
                  <a:srgbClr val="1f2933"/>
                </a:solidFill>
                <a:latin typeface="Calibri"/>
                <a:ea typeface="Calibri"/>
              </a:rPr>
              <a:t>Contained AG</a:t>
            </a:r>
            <a:endParaRPr b="0" lang="es-ES" sz="1300" spc="-1" strike="noStrike">
              <a:latin typeface="Arial"/>
            </a:endParaRPr>
          </a:p>
        </p:txBody>
      </p:sp>
      <p:sp>
        <p:nvSpPr>
          <p:cNvPr id="192" name="CustomShape 23"/>
          <p:cNvSpPr/>
          <p:nvPr/>
        </p:nvSpPr>
        <p:spPr>
          <a:xfrm>
            <a:off x="10175760" y="1600200"/>
            <a:ext cx="1466640" cy="3108240"/>
          </a:xfrm>
          <a:prstGeom prst="roundRect">
            <a:avLst>
              <a:gd name="adj" fmla="val 7478"/>
            </a:avLst>
          </a:prstGeom>
          <a:solidFill>
            <a:srgbClr val="0b2545"/>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3" name="CustomShape 24"/>
          <p:cNvSpPr/>
          <p:nvPr/>
        </p:nvSpPr>
        <p:spPr>
          <a:xfrm>
            <a:off x="10175760" y="1783080"/>
            <a:ext cx="146664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2800" spc="-1" strike="noStrike">
                <a:solidFill>
                  <a:srgbClr val="ffffff"/>
                </a:solidFill>
                <a:latin typeface="Calibri"/>
                <a:ea typeface="Calibri"/>
              </a:rPr>
              <a:t>2025</a:t>
            </a:r>
            <a:endParaRPr b="0" lang="es-ES" sz="2800" spc="-1" strike="noStrike">
              <a:latin typeface="Arial"/>
            </a:endParaRPr>
          </a:p>
        </p:txBody>
      </p:sp>
      <p:sp>
        <p:nvSpPr>
          <p:cNvPr id="194" name="CustomShape 25"/>
          <p:cNvSpPr/>
          <p:nvPr/>
        </p:nvSpPr>
        <p:spPr>
          <a:xfrm>
            <a:off x="10312920" y="2514600"/>
            <a:ext cx="1238040" cy="2102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vector (IA)</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Tipo json</a:t>
            </a:r>
            <a:endParaRPr b="0" lang="es-ES" sz="1300" spc="-1" strike="noStrike">
              <a:latin typeface="Arial"/>
            </a:endParaRPr>
          </a:p>
          <a:p>
            <a:pPr marL="203040" indent="-202320">
              <a:lnSpc>
                <a:spcPct val="100000"/>
              </a:lnSpc>
              <a:spcAft>
                <a:spcPts val="799"/>
              </a:spcAft>
              <a:buClr>
                <a:srgbClr val="ffffff"/>
              </a:buClr>
              <a:buFont typeface="Symbol"/>
              <a:buChar char=""/>
            </a:pPr>
            <a:r>
              <a:rPr b="0" lang="en-US" sz="1300" spc="-1" strike="noStrike">
                <a:solidFill>
                  <a:srgbClr val="ffffff"/>
                </a:solidFill>
                <a:latin typeface="Calibri"/>
                <a:ea typeface="Calibri"/>
              </a:rPr>
              <a:t>Regex en T-SQL</a:t>
            </a:r>
            <a:endParaRPr b="0" lang="es-ES" sz="1300" spc="-1" strike="noStrike">
              <a:latin typeface="Arial"/>
            </a:endParaRPr>
          </a:p>
        </p:txBody>
      </p:sp>
      <p:sp>
        <p:nvSpPr>
          <p:cNvPr id="195" name="CustomShape 26"/>
          <p:cNvSpPr/>
          <p:nvPr/>
        </p:nvSpPr>
        <p:spPr>
          <a:xfrm>
            <a:off x="548640" y="5029200"/>
            <a:ext cx="11093760" cy="1096560"/>
          </a:xfrm>
          <a:prstGeom prst="roundRect">
            <a:avLst>
              <a:gd name="adj" fmla="val 10000"/>
            </a:avLst>
          </a:prstGeom>
          <a:solidFill>
            <a:srgbClr val="fdede8"/>
          </a:solidFill>
          <a:ln>
            <a:noFill/>
          </a:ln>
        </p:spPr>
        <p:style>
          <a:lnRef idx="0"/>
          <a:fillRef idx="0"/>
          <a:effectRef idx="0"/>
          <a:fontRef idx="minor"/>
        </p:style>
      </p:sp>
      <p:sp>
        <p:nvSpPr>
          <p:cNvPr id="196" name="CustomShape 27"/>
          <p:cNvSpPr/>
          <p:nvPr/>
        </p:nvSpPr>
        <p:spPr>
          <a:xfrm>
            <a:off x="731520" y="5349240"/>
            <a:ext cx="456480" cy="456480"/>
          </a:xfrm>
          <a:prstGeom prst="ellipse">
            <a:avLst/>
          </a:prstGeom>
          <a:solidFill>
            <a:srgbClr val="d95d39"/>
          </a:solidFill>
          <a:ln>
            <a:noFill/>
          </a:ln>
        </p:spPr>
        <p:style>
          <a:lnRef idx="0"/>
          <a:fillRef idx="0"/>
          <a:effectRef idx="0"/>
          <a:fontRef idx="minor"/>
        </p:style>
      </p:sp>
      <p:pic>
        <p:nvPicPr>
          <p:cNvPr id="197" name="Image 0" descr="preencoded.png"/>
          <p:cNvPicPr/>
          <p:nvPr/>
        </p:nvPicPr>
        <p:blipFill>
          <a:blip r:embed="rId1"/>
          <a:stretch/>
        </p:blipFill>
        <p:spPr>
          <a:xfrm>
            <a:off x="846000" y="5463720"/>
            <a:ext cx="227880" cy="227880"/>
          </a:xfrm>
          <a:prstGeom prst="rect">
            <a:avLst/>
          </a:prstGeom>
          <a:ln>
            <a:noFill/>
          </a:ln>
        </p:spPr>
      </p:pic>
      <p:sp>
        <p:nvSpPr>
          <p:cNvPr id="198" name="CustomShape 2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Ciclo de vida: </a:t>
            </a:r>
            <a:r>
              <a:rPr b="0" lang="en-US" sz="1400" spc="-1" strike="noStrike">
                <a:solidFill>
                  <a:srgbClr val="1f2933"/>
                </a:solidFill>
                <a:latin typeface="Calibri"/>
                <a:ea typeface="Calibri"/>
              </a:rPr>
              <a:t>5 años de soporte principal + 5 de soporte extendido. SQL Server 2016 ya no recibe parches de seguridad (jul-2026); 2025 es la referencia del 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Arquitectura interna del motor</a:t>
            </a:r>
            <a:endParaRPr b="0" lang="es-ES" sz="3400" spc="-1" strike="noStrike">
              <a:latin typeface="Arial"/>
            </a:endParaRPr>
          </a:p>
        </p:txBody>
      </p:sp>
      <p:sp>
        <p:nvSpPr>
          <p:cNvPr id="2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7</a:t>
            </a:r>
            <a:endParaRPr b="0" lang="es-ES" sz="1000" spc="-1" strike="noStrike">
              <a:latin typeface="Arial"/>
            </a:endParaRPr>
          </a:p>
        </p:txBody>
      </p:sp>
      <p:sp>
        <p:nvSpPr>
          <p:cNvPr id="203" name="CustomShape 5"/>
          <p:cNvSpPr/>
          <p:nvPr/>
        </p:nvSpPr>
        <p:spPr>
          <a:xfrm>
            <a:off x="548640" y="1600200"/>
            <a:ext cx="5302800" cy="410760"/>
          </a:xfrm>
          <a:prstGeom prst="roundRect">
            <a:avLst>
              <a:gd name="adj" fmla="val 17778"/>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0b2545"/>
                </a:solidFill>
                <a:latin typeface="Calibri"/>
                <a:ea typeface="Calibri"/>
              </a:rPr>
              <a:t>Aplicación cliente · SSMS · sqlcmd · .NET</a:t>
            </a:r>
            <a:endParaRPr b="0" lang="es-ES" sz="1300" spc="-1" strike="noStrike">
              <a:latin typeface="Arial"/>
            </a:endParaRPr>
          </a:p>
        </p:txBody>
      </p:sp>
      <p:sp>
        <p:nvSpPr>
          <p:cNvPr id="204" name="Line 6"/>
          <p:cNvSpPr/>
          <p:nvPr/>
        </p:nvSpPr>
        <p:spPr>
          <a:xfrm>
            <a:off x="3200400" y="2011680"/>
            <a:ext cx="0" cy="146160"/>
          </a:xfrm>
          <a:prstGeom prst="line">
            <a:avLst/>
          </a:prstGeom>
          <a:ln w="25560">
            <a:solidFill>
              <a:srgbClr val="d95d39"/>
            </a:solidFill>
            <a:round/>
            <a:tailEnd len="med" type="triangle" w="med"/>
          </a:ln>
        </p:spPr>
        <p:style>
          <a:lnRef idx="0"/>
          <a:fillRef idx="0"/>
          <a:effectRef idx="0"/>
          <a:fontRef idx="minor"/>
        </p:style>
      </p:sp>
      <p:sp>
        <p:nvSpPr>
          <p:cNvPr id="205" name="CustomShape 7"/>
          <p:cNvSpPr/>
          <p:nvPr/>
        </p:nvSpPr>
        <p:spPr>
          <a:xfrm>
            <a:off x="3310200" y="1993320"/>
            <a:ext cx="547920" cy="182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d95d39"/>
                </a:solidFill>
                <a:latin typeface="Calibri"/>
                <a:ea typeface="Calibri"/>
              </a:rPr>
              <a:t>TDS</a:t>
            </a:r>
            <a:endParaRPr b="0" lang="es-ES" sz="1100" spc="-1" strike="noStrike">
              <a:latin typeface="Arial"/>
            </a:endParaRPr>
          </a:p>
        </p:txBody>
      </p:sp>
      <p:sp>
        <p:nvSpPr>
          <p:cNvPr id="206" name="CustomShape 8"/>
          <p:cNvSpPr/>
          <p:nvPr/>
        </p:nvSpPr>
        <p:spPr>
          <a:xfrm>
            <a:off x="548640" y="2157840"/>
            <a:ext cx="5302800" cy="776520"/>
          </a:xfrm>
          <a:prstGeom prst="roundRect">
            <a:avLst>
              <a:gd name="adj" fmla="val 11765"/>
            </a:avLst>
          </a:prstGeom>
          <a:solidFill>
            <a:srgbClr val="e8eef5"/>
          </a:solidFill>
          <a:ln w="9360">
            <a:solidFill>
              <a:srgbClr val="134074"/>
            </a:solidFill>
            <a:round/>
          </a:ln>
        </p:spPr>
        <p:style>
          <a:lnRef idx="0"/>
          <a:fillRef idx="0"/>
          <a:effectRef idx="0"/>
          <a:fontRef idx="minor"/>
        </p:style>
      </p:sp>
      <p:sp>
        <p:nvSpPr>
          <p:cNvPr id="207" name="CustomShape 9"/>
          <p:cNvSpPr/>
          <p:nvPr/>
        </p:nvSpPr>
        <p:spPr>
          <a:xfrm>
            <a:off x="685800" y="22129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SNI · SQL Network Interface</a:t>
            </a:r>
            <a:endParaRPr b="0" lang="es-ES" sz="1100" spc="-1" strike="noStrike">
              <a:latin typeface="Arial"/>
            </a:endParaRPr>
          </a:p>
        </p:txBody>
      </p:sp>
      <p:sp>
        <p:nvSpPr>
          <p:cNvPr id="208" name="CustomShape 10"/>
          <p:cNvSpPr/>
          <p:nvPr/>
        </p:nvSpPr>
        <p:spPr>
          <a:xfrm>
            <a:off x="68580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Shared Memory</a:t>
            </a:r>
            <a:endParaRPr b="0" lang="es-ES" sz="1200" spc="-1" strike="noStrike">
              <a:latin typeface="Arial"/>
            </a:endParaRPr>
          </a:p>
        </p:txBody>
      </p:sp>
      <p:sp>
        <p:nvSpPr>
          <p:cNvPr id="209" name="CustomShape 11"/>
          <p:cNvSpPr/>
          <p:nvPr/>
        </p:nvSpPr>
        <p:spPr>
          <a:xfrm>
            <a:off x="239868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TCP/IP</a:t>
            </a:r>
            <a:endParaRPr b="0" lang="es-ES" sz="1200" spc="-1" strike="noStrike">
              <a:latin typeface="Arial"/>
            </a:endParaRPr>
          </a:p>
        </p:txBody>
      </p:sp>
      <p:sp>
        <p:nvSpPr>
          <p:cNvPr id="210" name="CustomShape 12"/>
          <p:cNvSpPr/>
          <p:nvPr/>
        </p:nvSpPr>
        <p:spPr>
          <a:xfrm>
            <a:off x="4111920" y="2487240"/>
            <a:ext cx="1602360" cy="356040"/>
          </a:xfrm>
          <a:prstGeom prst="roundRect">
            <a:avLst>
              <a:gd name="adj" fmla="val 20513"/>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Named Pipes</a:t>
            </a:r>
            <a:endParaRPr b="0" lang="es-ES" sz="1200" spc="-1" strike="noStrike">
              <a:latin typeface="Arial"/>
            </a:endParaRPr>
          </a:p>
        </p:txBody>
      </p:sp>
      <p:sp>
        <p:nvSpPr>
          <p:cNvPr id="211" name="Line 13"/>
          <p:cNvSpPr/>
          <p:nvPr/>
        </p:nvSpPr>
        <p:spPr>
          <a:xfrm>
            <a:off x="3200400" y="2935080"/>
            <a:ext cx="0" cy="146160"/>
          </a:xfrm>
          <a:prstGeom prst="line">
            <a:avLst/>
          </a:prstGeom>
          <a:ln w="25560">
            <a:solidFill>
              <a:srgbClr val="d95d39"/>
            </a:solidFill>
            <a:round/>
            <a:tailEnd len="med" type="triangle" w="med"/>
          </a:ln>
        </p:spPr>
        <p:style>
          <a:lnRef idx="0"/>
          <a:fillRef idx="0"/>
          <a:effectRef idx="0"/>
          <a:fontRef idx="minor"/>
        </p:style>
      </p:sp>
      <p:sp>
        <p:nvSpPr>
          <p:cNvPr id="212" name="CustomShape 14"/>
          <p:cNvSpPr/>
          <p:nvPr/>
        </p:nvSpPr>
        <p:spPr>
          <a:xfrm>
            <a:off x="548640" y="3081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13" name="CustomShape 15"/>
          <p:cNvSpPr/>
          <p:nvPr/>
        </p:nvSpPr>
        <p:spPr>
          <a:xfrm>
            <a:off x="685800" y="313632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RELATIONAL ENGINE (Query Processor)</a:t>
            </a:r>
            <a:endParaRPr b="0" lang="es-ES" sz="1100" spc="-1" strike="noStrike">
              <a:latin typeface="Arial"/>
            </a:endParaRPr>
          </a:p>
        </p:txBody>
      </p:sp>
      <p:sp>
        <p:nvSpPr>
          <p:cNvPr id="214" name="CustomShape 16"/>
          <p:cNvSpPr/>
          <p:nvPr/>
        </p:nvSpPr>
        <p:spPr>
          <a:xfrm>
            <a:off x="68580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Parser</a:t>
            </a:r>
            <a:endParaRPr b="0" lang="es-ES" sz="1200" spc="-1" strike="noStrike">
              <a:latin typeface="Arial"/>
            </a:endParaRPr>
          </a:p>
        </p:txBody>
      </p:sp>
      <p:sp>
        <p:nvSpPr>
          <p:cNvPr id="215" name="CustomShape 17"/>
          <p:cNvSpPr/>
          <p:nvPr/>
        </p:nvSpPr>
        <p:spPr>
          <a:xfrm>
            <a:off x="197064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Algebrizer</a:t>
            </a:r>
            <a:endParaRPr b="0" lang="es-ES" sz="1200" spc="-1" strike="noStrike">
              <a:latin typeface="Arial"/>
            </a:endParaRPr>
          </a:p>
        </p:txBody>
      </p:sp>
      <p:sp>
        <p:nvSpPr>
          <p:cNvPr id="216" name="CustomShape 18"/>
          <p:cNvSpPr/>
          <p:nvPr/>
        </p:nvSpPr>
        <p:spPr>
          <a:xfrm>
            <a:off x="325512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Optimizer</a:t>
            </a:r>
            <a:endParaRPr b="0" lang="es-ES" sz="1200" spc="-1" strike="noStrike">
              <a:latin typeface="Arial"/>
            </a:endParaRPr>
          </a:p>
        </p:txBody>
      </p:sp>
      <p:sp>
        <p:nvSpPr>
          <p:cNvPr id="217" name="CustomShape 19"/>
          <p:cNvSpPr/>
          <p:nvPr/>
        </p:nvSpPr>
        <p:spPr>
          <a:xfrm>
            <a:off x="4539960" y="3410640"/>
            <a:ext cx="1174320" cy="584640"/>
          </a:xfrm>
          <a:prstGeom prst="roundRect">
            <a:avLst>
              <a:gd name="adj" fmla="val 125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Query Executor</a:t>
            </a:r>
            <a:endParaRPr b="0" lang="es-ES" sz="1200" spc="-1" strike="noStrike">
              <a:latin typeface="Arial"/>
            </a:endParaRPr>
          </a:p>
        </p:txBody>
      </p:sp>
      <p:sp>
        <p:nvSpPr>
          <p:cNvPr id="218" name="Line 20"/>
          <p:cNvSpPr/>
          <p:nvPr/>
        </p:nvSpPr>
        <p:spPr>
          <a:xfrm>
            <a:off x="3200400" y="4087080"/>
            <a:ext cx="0" cy="146520"/>
          </a:xfrm>
          <a:prstGeom prst="line">
            <a:avLst/>
          </a:prstGeom>
          <a:ln w="25560">
            <a:solidFill>
              <a:srgbClr val="d95d39"/>
            </a:solidFill>
            <a:round/>
            <a:tailEnd len="med" type="triangle" w="med"/>
          </a:ln>
        </p:spPr>
        <p:style>
          <a:lnRef idx="0"/>
          <a:fillRef idx="0"/>
          <a:effectRef idx="0"/>
          <a:fontRef idx="minor"/>
        </p:style>
      </p:sp>
      <p:sp>
        <p:nvSpPr>
          <p:cNvPr id="219" name="CustomShape 21"/>
          <p:cNvSpPr/>
          <p:nvPr/>
        </p:nvSpPr>
        <p:spPr>
          <a:xfrm>
            <a:off x="548640" y="4233600"/>
            <a:ext cx="5302800" cy="1005120"/>
          </a:xfrm>
          <a:prstGeom prst="roundRect">
            <a:avLst>
              <a:gd name="adj" fmla="val 9091"/>
            </a:avLst>
          </a:prstGeom>
          <a:solidFill>
            <a:srgbClr val="dde7f3"/>
          </a:solidFill>
          <a:ln w="9360">
            <a:solidFill>
              <a:srgbClr val="0b2545"/>
            </a:solidFill>
            <a:round/>
          </a:ln>
        </p:spPr>
        <p:style>
          <a:lnRef idx="0"/>
          <a:fillRef idx="0"/>
          <a:effectRef idx="0"/>
          <a:fontRef idx="minor"/>
        </p:style>
      </p:sp>
      <p:sp>
        <p:nvSpPr>
          <p:cNvPr id="220" name="CustomShape 22"/>
          <p:cNvSpPr/>
          <p:nvPr/>
        </p:nvSpPr>
        <p:spPr>
          <a:xfrm>
            <a:off x="685800" y="4288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0b2545"/>
                </a:solidFill>
                <a:latin typeface="Calibri"/>
                <a:ea typeface="Calibri"/>
              </a:rPr>
              <a:t>STORAGE ENGINE</a:t>
            </a:r>
            <a:endParaRPr b="0" lang="es-ES" sz="1100" spc="-1" strike="noStrike">
              <a:latin typeface="Arial"/>
            </a:endParaRPr>
          </a:p>
        </p:txBody>
      </p:sp>
      <p:sp>
        <p:nvSpPr>
          <p:cNvPr id="221" name="CustomShape 23"/>
          <p:cNvSpPr/>
          <p:nvPr/>
        </p:nvSpPr>
        <p:spPr>
          <a:xfrm>
            <a:off x="68580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Access Methods</a:t>
            </a:r>
            <a:endParaRPr b="0" lang="es-ES" sz="1200" spc="-1" strike="noStrike">
              <a:latin typeface="Arial"/>
            </a:endParaRPr>
          </a:p>
        </p:txBody>
      </p:sp>
      <p:sp>
        <p:nvSpPr>
          <p:cNvPr id="222" name="CustomShape 24"/>
          <p:cNvSpPr/>
          <p:nvPr/>
        </p:nvSpPr>
        <p:spPr>
          <a:xfrm>
            <a:off x="239868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Buffer Manager</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(Buffer Pool)</a:t>
            </a:r>
            <a:endParaRPr b="0" lang="es-ES" sz="1200" spc="-1" strike="noStrike">
              <a:latin typeface="Arial"/>
            </a:endParaRPr>
          </a:p>
        </p:txBody>
      </p:sp>
      <p:sp>
        <p:nvSpPr>
          <p:cNvPr id="223" name="CustomShape 25"/>
          <p:cNvSpPr/>
          <p:nvPr/>
        </p:nvSpPr>
        <p:spPr>
          <a:xfrm>
            <a:off x="4111920" y="4563000"/>
            <a:ext cx="1602360" cy="584640"/>
          </a:xfrm>
          <a:prstGeom prst="roundRect">
            <a:avLst>
              <a:gd name="adj" fmla="val 125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Transaction Manager</a:t>
            </a:r>
            <a:endParaRPr b="0" lang="es-ES" sz="1200" spc="-1" strike="noStrike">
              <a:latin typeface="Arial"/>
            </a:endParaRPr>
          </a:p>
        </p:txBody>
      </p:sp>
      <p:sp>
        <p:nvSpPr>
          <p:cNvPr id="224" name="CustomShape 26"/>
          <p:cNvSpPr/>
          <p:nvPr/>
        </p:nvSpPr>
        <p:spPr>
          <a:xfrm>
            <a:off x="548640" y="5385960"/>
            <a:ext cx="5302800" cy="776520"/>
          </a:xfrm>
          <a:prstGeom prst="roundRect">
            <a:avLst>
              <a:gd name="adj" fmla="val 11765"/>
            </a:avLst>
          </a:prstGeom>
          <a:solidFill>
            <a:srgbClr val="e8eef5"/>
          </a:solidFill>
          <a:ln w="9360">
            <a:solidFill>
              <a:srgbClr val="5c6b7a"/>
            </a:solidFill>
            <a:round/>
          </a:ln>
        </p:spPr>
        <p:style>
          <a:lnRef idx="0"/>
          <a:fillRef idx="0"/>
          <a:effectRef idx="0"/>
          <a:fontRef idx="minor"/>
        </p:style>
      </p:sp>
      <p:sp>
        <p:nvSpPr>
          <p:cNvPr id="225" name="CustomShape 27"/>
          <p:cNvSpPr/>
          <p:nvPr/>
        </p:nvSpPr>
        <p:spPr>
          <a:xfrm>
            <a:off x="685800" y="5440680"/>
            <a:ext cx="5028480" cy="236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5c6b7a"/>
                </a:solidFill>
                <a:latin typeface="Calibri"/>
                <a:ea typeface="Calibri"/>
              </a:rPr>
              <a:t>SQLOS · servicios del sistema operativo</a:t>
            </a:r>
            <a:endParaRPr b="0" lang="es-ES" sz="1100" spc="-1" strike="noStrike">
              <a:latin typeface="Arial"/>
            </a:endParaRPr>
          </a:p>
        </p:txBody>
      </p:sp>
      <p:sp>
        <p:nvSpPr>
          <p:cNvPr id="226" name="CustomShape 28"/>
          <p:cNvSpPr/>
          <p:nvPr/>
        </p:nvSpPr>
        <p:spPr>
          <a:xfrm>
            <a:off x="68580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Schedulers</a:t>
            </a:r>
            <a:endParaRPr b="0" lang="es-ES" sz="1200" spc="-1" strike="noStrike">
              <a:latin typeface="Arial"/>
            </a:endParaRPr>
          </a:p>
        </p:txBody>
      </p:sp>
      <p:sp>
        <p:nvSpPr>
          <p:cNvPr id="227" name="CustomShape 29"/>
          <p:cNvSpPr/>
          <p:nvPr/>
        </p:nvSpPr>
        <p:spPr>
          <a:xfrm>
            <a:off x="197064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Memory Manager</a:t>
            </a:r>
            <a:endParaRPr b="0" lang="es-ES" sz="1200" spc="-1" strike="noStrike">
              <a:latin typeface="Arial"/>
            </a:endParaRPr>
          </a:p>
        </p:txBody>
      </p:sp>
      <p:sp>
        <p:nvSpPr>
          <p:cNvPr id="228" name="CustomShape 30"/>
          <p:cNvSpPr/>
          <p:nvPr/>
        </p:nvSpPr>
        <p:spPr>
          <a:xfrm>
            <a:off x="325512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I/O</a:t>
            </a:r>
            <a:endParaRPr b="0" lang="es-ES" sz="1200" spc="-1" strike="noStrike">
              <a:latin typeface="Arial"/>
            </a:endParaRPr>
          </a:p>
        </p:txBody>
      </p:sp>
      <p:sp>
        <p:nvSpPr>
          <p:cNvPr id="229" name="CustomShape 31"/>
          <p:cNvSpPr/>
          <p:nvPr/>
        </p:nvSpPr>
        <p:spPr>
          <a:xfrm>
            <a:off x="4539960" y="5715000"/>
            <a:ext cx="1174320" cy="356040"/>
          </a:xfrm>
          <a:prstGeom prst="roundRect">
            <a:avLst>
              <a:gd name="adj" fmla="val 20513"/>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Locks</a:t>
            </a:r>
            <a:endParaRPr b="0" lang="es-ES" sz="1200" spc="-1" strike="noStrike">
              <a:latin typeface="Arial"/>
            </a:endParaRPr>
          </a:p>
        </p:txBody>
      </p:sp>
      <p:sp>
        <p:nvSpPr>
          <p:cNvPr id="230" name="Line 32"/>
          <p:cNvSpPr/>
          <p:nvPr/>
        </p:nvSpPr>
        <p:spPr>
          <a:xfrm>
            <a:off x="5852160" y="4736520"/>
            <a:ext cx="594360" cy="0"/>
          </a:xfrm>
          <a:prstGeom prst="line">
            <a:avLst/>
          </a:prstGeom>
          <a:ln w="25560">
            <a:solidFill>
              <a:srgbClr val="d95d39"/>
            </a:solidFill>
            <a:round/>
            <a:headEnd len="med" type="triangle" w="med"/>
            <a:tailEnd len="med" type="triangle" w="med"/>
          </a:ln>
        </p:spPr>
        <p:style>
          <a:lnRef idx="0"/>
          <a:fillRef idx="0"/>
          <a:effectRef idx="0"/>
          <a:fontRef idx="minor"/>
        </p:style>
      </p:sp>
      <p:sp>
        <p:nvSpPr>
          <p:cNvPr id="231" name="CustomShape 33"/>
          <p:cNvSpPr/>
          <p:nvPr/>
        </p:nvSpPr>
        <p:spPr>
          <a:xfrm>
            <a:off x="6492240" y="3730680"/>
            <a:ext cx="1096560" cy="2278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200" spc="-1" strike="noStrike">
                <a:solidFill>
                  <a:srgbClr val="0b2545"/>
                </a:solidFill>
                <a:latin typeface="Calibri"/>
                <a:ea typeface="Calibri"/>
              </a:rPr>
              <a:t>Disco</a:t>
            </a:r>
            <a:endParaRPr b="0" lang="es-ES" sz="1200" spc="-1" strike="noStrike">
              <a:latin typeface="Arial"/>
            </a:endParaRPr>
          </a:p>
        </p:txBody>
      </p:sp>
      <p:sp>
        <p:nvSpPr>
          <p:cNvPr id="232" name="CustomShape 34"/>
          <p:cNvSpPr/>
          <p:nvPr/>
        </p:nvSpPr>
        <p:spPr>
          <a:xfrm>
            <a:off x="6583680" y="4005000"/>
            <a:ext cx="913680" cy="867960"/>
          </a:xfrm>
          <a:prstGeom prst="can">
            <a:avLst>
              <a:gd name="adj" fmla="val 25000"/>
            </a:avLst>
          </a:prstGeom>
          <a:solidFill>
            <a:srgbClr val="134074"/>
          </a:solidFill>
          <a:ln>
            <a:noFill/>
          </a:ln>
        </p:spPr>
        <p:style>
          <a:lnRef idx="0"/>
          <a:fillRef idx="0"/>
          <a:effectRef idx="0"/>
          <a:fontRef idx="minor"/>
        </p:style>
      </p:sp>
      <p:sp>
        <p:nvSpPr>
          <p:cNvPr id="233" name="CustomShape 35"/>
          <p:cNvSpPr/>
          <p:nvPr/>
        </p:nvSpPr>
        <p:spPr>
          <a:xfrm>
            <a:off x="6492240" y="423360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a:t>
            </a:r>
            <a:endParaRPr b="0" lang="es-ES" sz="1200" spc="-1" strike="noStrike">
              <a:latin typeface="Arial"/>
            </a:endParaRPr>
          </a:p>
        </p:txBody>
      </p:sp>
      <p:sp>
        <p:nvSpPr>
          <p:cNvPr id="234" name="CustomShape 36"/>
          <p:cNvSpPr/>
          <p:nvPr/>
        </p:nvSpPr>
        <p:spPr>
          <a:xfrm>
            <a:off x="6583680" y="5010840"/>
            <a:ext cx="913680" cy="867960"/>
          </a:xfrm>
          <a:prstGeom prst="can">
            <a:avLst>
              <a:gd name="adj" fmla="val 25000"/>
            </a:avLst>
          </a:prstGeom>
          <a:solidFill>
            <a:srgbClr val="d95d39"/>
          </a:solidFill>
          <a:ln>
            <a:noFill/>
          </a:ln>
        </p:spPr>
        <p:style>
          <a:lnRef idx="0"/>
          <a:fillRef idx="0"/>
          <a:effectRef idx="0"/>
          <a:fontRef idx="minor"/>
        </p:style>
      </p:sp>
      <p:sp>
        <p:nvSpPr>
          <p:cNvPr id="235" name="CustomShape 37"/>
          <p:cNvSpPr/>
          <p:nvPr/>
        </p:nvSpPr>
        <p:spPr>
          <a:xfrm>
            <a:off x="6492240" y="5239440"/>
            <a:ext cx="109656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libri"/>
                <a:ea typeface="Calibri"/>
              </a:rPr>
              <a:t>.ldf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(log WAL)</a:t>
            </a:r>
            <a:endParaRPr b="0" lang="es-ES" sz="1200" spc="-1" strike="noStrike">
              <a:latin typeface="Arial"/>
            </a:endParaRPr>
          </a:p>
        </p:txBody>
      </p:sp>
      <p:sp>
        <p:nvSpPr>
          <p:cNvPr id="236" name="CustomShape 38"/>
          <p:cNvSpPr/>
          <p:nvPr/>
        </p:nvSpPr>
        <p:spPr>
          <a:xfrm>
            <a:off x="7955280" y="160020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37" name="CustomShape 39"/>
          <p:cNvSpPr/>
          <p:nvPr/>
        </p:nvSpPr>
        <p:spPr>
          <a:xfrm>
            <a:off x="8183880" y="1828800"/>
            <a:ext cx="547920" cy="547920"/>
          </a:xfrm>
          <a:prstGeom prst="ellipse">
            <a:avLst/>
          </a:prstGeom>
          <a:solidFill>
            <a:srgbClr val="134074"/>
          </a:solidFill>
          <a:ln>
            <a:noFill/>
          </a:ln>
        </p:spPr>
        <p:style>
          <a:lnRef idx="0"/>
          <a:fillRef idx="0"/>
          <a:effectRef idx="0"/>
          <a:fontRef idx="minor"/>
        </p:style>
      </p:sp>
      <p:pic>
        <p:nvPicPr>
          <p:cNvPr id="238" name="Image 0" descr="preencoded.png"/>
          <p:cNvPicPr/>
          <p:nvPr/>
        </p:nvPicPr>
        <p:blipFill>
          <a:blip r:embed="rId1"/>
          <a:stretch/>
        </p:blipFill>
        <p:spPr>
          <a:xfrm>
            <a:off x="8321040" y="1965960"/>
            <a:ext cx="273600" cy="273600"/>
          </a:xfrm>
          <a:prstGeom prst="rect">
            <a:avLst/>
          </a:prstGeom>
          <a:ln>
            <a:noFill/>
          </a:ln>
        </p:spPr>
      </p:pic>
      <p:sp>
        <p:nvSpPr>
          <p:cNvPr id="239" name="CustomShape 40"/>
          <p:cNvSpPr/>
          <p:nvPr/>
        </p:nvSpPr>
        <p:spPr>
          <a:xfrm>
            <a:off x="8869680" y="182880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Relational Engine</a:t>
            </a:r>
            <a:endParaRPr b="0" lang="es-ES" sz="1700" spc="-1" strike="noStrike">
              <a:latin typeface="Arial"/>
            </a:endParaRPr>
          </a:p>
        </p:txBody>
      </p:sp>
      <p:sp>
        <p:nvSpPr>
          <p:cNvPr id="240" name="CustomShape 41"/>
          <p:cNvSpPr/>
          <p:nvPr/>
        </p:nvSpPr>
        <p:spPr>
          <a:xfrm>
            <a:off x="8183880" y="256032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Decide el cómo (plan)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Parser → Algebrizer → Optimizer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Cost-based con estadísticas</a:t>
            </a:r>
            <a:endParaRPr b="0" lang="es-ES" sz="1400" spc="-1" strike="noStrike">
              <a:latin typeface="Arial"/>
            </a:endParaRPr>
          </a:p>
        </p:txBody>
      </p:sp>
      <p:sp>
        <p:nvSpPr>
          <p:cNvPr id="241" name="CustomShape 42"/>
          <p:cNvSpPr/>
          <p:nvPr/>
        </p:nvSpPr>
        <p:spPr>
          <a:xfrm>
            <a:off x="7955280" y="3977640"/>
            <a:ext cx="368424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42" name="CustomShape 43"/>
          <p:cNvSpPr/>
          <p:nvPr/>
        </p:nvSpPr>
        <p:spPr>
          <a:xfrm>
            <a:off x="8183880" y="4206240"/>
            <a:ext cx="547920" cy="547920"/>
          </a:xfrm>
          <a:prstGeom prst="ellipse">
            <a:avLst/>
          </a:prstGeom>
          <a:solidFill>
            <a:srgbClr val="134074"/>
          </a:solidFill>
          <a:ln>
            <a:noFill/>
          </a:ln>
        </p:spPr>
        <p:style>
          <a:lnRef idx="0"/>
          <a:fillRef idx="0"/>
          <a:effectRef idx="0"/>
          <a:fontRef idx="minor"/>
        </p:style>
      </p:sp>
      <p:pic>
        <p:nvPicPr>
          <p:cNvPr id="243" name="Image 1" descr="preencoded.png"/>
          <p:cNvPicPr/>
          <p:nvPr/>
        </p:nvPicPr>
        <p:blipFill>
          <a:blip r:embed="rId2"/>
          <a:stretch/>
        </p:blipFill>
        <p:spPr>
          <a:xfrm>
            <a:off x="8321040" y="4343400"/>
            <a:ext cx="273600" cy="273600"/>
          </a:xfrm>
          <a:prstGeom prst="rect">
            <a:avLst/>
          </a:prstGeom>
          <a:ln>
            <a:noFill/>
          </a:ln>
        </p:spPr>
      </p:pic>
      <p:sp>
        <p:nvSpPr>
          <p:cNvPr id="244" name="CustomShape 44"/>
          <p:cNvSpPr/>
          <p:nvPr/>
        </p:nvSpPr>
        <p:spPr>
          <a:xfrm>
            <a:off x="8869680" y="4206240"/>
            <a:ext cx="254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Storage Engine</a:t>
            </a:r>
            <a:endParaRPr b="0" lang="es-ES" sz="1700" spc="-1" strike="noStrike">
              <a:latin typeface="Arial"/>
            </a:endParaRPr>
          </a:p>
        </p:txBody>
      </p:sp>
      <p:sp>
        <p:nvSpPr>
          <p:cNvPr id="245" name="CustomShape 45"/>
          <p:cNvSpPr/>
          <p:nvPr/>
        </p:nvSpPr>
        <p:spPr>
          <a:xfrm>
            <a:off x="8183880" y="4937760"/>
            <a:ext cx="3227040" cy="10051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Ejecuta el acceso a los 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Buffer Pool y Access Methods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Log, bloqueos y transacciones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46"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4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Ciclo de vida de una consulta</a:t>
            </a:r>
            <a:endParaRPr b="0" lang="es-ES" sz="3400" spc="-1" strike="noStrike">
              <a:latin typeface="Arial"/>
            </a:endParaRPr>
          </a:p>
        </p:txBody>
      </p:sp>
      <p:sp>
        <p:nvSpPr>
          <p:cNvPr id="24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4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8</a:t>
            </a:r>
            <a:endParaRPr b="0" lang="es-ES" sz="1000" spc="-1" strike="noStrike">
              <a:latin typeface="Arial"/>
            </a:endParaRPr>
          </a:p>
        </p:txBody>
      </p:sp>
      <p:sp>
        <p:nvSpPr>
          <p:cNvPr id="250" name="CustomShape 5"/>
          <p:cNvSpPr/>
          <p:nvPr/>
        </p:nvSpPr>
        <p:spPr>
          <a:xfrm>
            <a:off x="5486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1"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252"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253" name="CustomShape 8"/>
          <p:cNvSpPr/>
          <p:nvPr/>
        </p:nvSpPr>
        <p:spPr>
          <a:xfrm>
            <a:off x="7772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Parse + Algebrize</a:t>
            </a:r>
            <a:endParaRPr b="0" lang="es-ES" sz="1600" spc="-1" strike="noStrike">
              <a:latin typeface="Arial"/>
            </a:endParaRPr>
          </a:p>
        </p:txBody>
      </p:sp>
      <p:sp>
        <p:nvSpPr>
          <p:cNvPr id="254" name="CustomShape 9"/>
          <p:cNvSpPr/>
          <p:nvPr/>
        </p:nvSpPr>
        <p:spPr>
          <a:xfrm>
            <a:off x="7772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Sintaxis, resolución de objetos y permisos.</a:t>
            </a:r>
            <a:endParaRPr b="0" lang="es-ES" sz="1400" spc="-1" strike="noStrike">
              <a:latin typeface="Arial"/>
            </a:endParaRPr>
          </a:p>
        </p:txBody>
      </p:sp>
      <p:sp>
        <p:nvSpPr>
          <p:cNvPr id="255" name="CustomShape 10"/>
          <p:cNvSpPr/>
          <p:nvPr/>
        </p:nvSpPr>
        <p:spPr>
          <a:xfrm>
            <a:off x="2548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56" name="CustomShape 11"/>
          <p:cNvSpPr/>
          <p:nvPr/>
        </p:nvSpPr>
        <p:spPr>
          <a:xfrm>
            <a:off x="283140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57" name="CustomShape 12"/>
          <p:cNvSpPr/>
          <p:nvPr/>
        </p:nvSpPr>
        <p:spPr>
          <a:xfrm>
            <a:off x="3060000" y="1828800"/>
            <a:ext cx="502200" cy="502200"/>
          </a:xfrm>
          <a:prstGeom prst="ellipse">
            <a:avLst/>
          </a:prstGeom>
          <a:solidFill>
            <a:srgbClr val="134074"/>
          </a:solidFill>
          <a:ln>
            <a:noFill/>
          </a:ln>
        </p:spPr>
        <p:style>
          <a:lnRef idx="0"/>
          <a:fillRef idx="0"/>
          <a:effectRef idx="0"/>
          <a:fontRef idx="minor"/>
        </p:style>
      </p:sp>
      <p:sp>
        <p:nvSpPr>
          <p:cNvPr id="258" name="CustomShape 13"/>
          <p:cNvSpPr/>
          <p:nvPr/>
        </p:nvSpPr>
        <p:spPr>
          <a:xfrm>
            <a:off x="3060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259" name="CustomShape 14"/>
          <p:cNvSpPr/>
          <p:nvPr/>
        </p:nvSpPr>
        <p:spPr>
          <a:xfrm>
            <a:off x="306000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cache</a:t>
            </a:r>
            <a:endParaRPr b="0" lang="es-ES" sz="1600" spc="-1" strike="noStrike">
              <a:latin typeface="Arial"/>
            </a:endParaRPr>
          </a:p>
        </p:txBody>
      </p:sp>
      <p:sp>
        <p:nvSpPr>
          <p:cNvPr id="260" name="CustomShape 15"/>
          <p:cNvSpPr/>
          <p:nvPr/>
        </p:nvSpPr>
        <p:spPr>
          <a:xfrm>
            <a:off x="306000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¿Existe un plan reutilizable? Si sí, se salta la optimización.</a:t>
            </a:r>
            <a:endParaRPr b="0" lang="es-ES" sz="1400" spc="-1" strike="noStrike">
              <a:latin typeface="Arial"/>
            </a:endParaRPr>
          </a:p>
        </p:txBody>
      </p:sp>
      <p:sp>
        <p:nvSpPr>
          <p:cNvPr id="261" name="CustomShape 16"/>
          <p:cNvSpPr/>
          <p:nvPr/>
        </p:nvSpPr>
        <p:spPr>
          <a:xfrm>
            <a:off x="4830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2" name="CustomShape 17"/>
          <p:cNvSpPr/>
          <p:nvPr/>
        </p:nvSpPr>
        <p:spPr>
          <a:xfrm>
            <a:off x="511452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3" name="CustomShape 18"/>
          <p:cNvSpPr/>
          <p:nvPr/>
        </p:nvSpPr>
        <p:spPr>
          <a:xfrm>
            <a:off x="5343120" y="1828800"/>
            <a:ext cx="502200" cy="502200"/>
          </a:xfrm>
          <a:prstGeom prst="ellipse">
            <a:avLst/>
          </a:prstGeom>
          <a:solidFill>
            <a:srgbClr val="134074"/>
          </a:solidFill>
          <a:ln>
            <a:noFill/>
          </a:ln>
        </p:spPr>
        <p:style>
          <a:lnRef idx="0"/>
          <a:fillRef idx="0"/>
          <a:effectRef idx="0"/>
          <a:fontRef idx="minor"/>
        </p:style>
      </p:sp>
      <p:sp>
        <p:nvSpPr>
          <p:cNvPr id="264" name="CustomShape 19"/>
          <p:cNvSpPr/>
          <p:nvPr/>
        </p:nvSpPr>
        <p:spPr>
          <a:xfrm>
            <a:off x="5343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265" name="CustomShape 20"/>
          <p:cNvSpPr/>
          <p:nvPr/>
        </p:nvSpPr>
        <p:spPr>
          <a:xfrm>
            <a:off x="534312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Optimize</a:t>
            </a:r>
            <a:endParaRPr b="0" lang="es-ES" sz="1600" spc="-1" strike="noStrike">
              <a:latin typeface="Arial"/>
            </a:endParaRPr>
          </a:p>
        </p:txBody>
      </p:sp>
      <p:sp>
        <p:nvSpPr>
          <p:cNvPr id="266" name="CustomShape 21"/>
          <p:cNvSpPr/>
          <p:nvPr/>
        </p:nvSpPr>
        <p:spPr>
          <a:xfrm>
            <a:off x="534312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Elige el plan de menor coste estimado con estadísticas.</a:t>
            </a:r>
            <a:endParaRPr b="0" lang="es-ES" sz="1400" spc="-1" strike="noStrike">
              <a:latin typeface="Arial"/>
            </a:endParaRPr>
          </a:p>
        </p:txBody>
      </p:sp>
      <p:sp>
        <p:nvSpPr>
          <p:cNvPr id="267" name="CustomShape 22"/>
          <p:cNvSpPr/>
          <p:nvPr/>
        </p:nvSpPr>
        <p:spPr>
          <a:xfrm>
            <a:off x="711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68" name="CustomShape 23"/>
          <p:cNvSpPr/>
          <p:nvPr/>
        </p:nvSpPr>
        <p:spPr>
          <a:xfrm>
            <a:off x="739728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69" name="CustomShape 24"/>
          <p:cNvSpPr/>
          <p:nvPr/>
        </p:nvSpPr>
        <p:spPr>
          <a:xfrm>
            <a:off x="7625880" y="1828800"/>
            <a:ext cx="502200" cy="502200"/>
          </a:xfrm>
          <a:prstGeom prst="ellipse">
            <a:avLst/>
          </a:prstGeom>
          <a:solidFill>
            <a:srgbClr val="134074"/>
          </a:solidFill>
          <a:ln>
            <a:noFill/>
          </a:ln>
        </p:spPr>
        <p:style>
          <a:lnRef idx="0"/>
          <a:fillRef idx="0"/>
          <a:effectRef idx="0"/>
          <a:fontRef idx="minor"/>
        </p:style>
      </p:sp>
      <p:sp>
        <p:nvSpPr>
          <p:cNvPr id="270" name="CustomShape 25"/>
          <p:cNvSpPr/>
          <p:nvPr/>
        </p:nvSpPr>
        <p:spPr>
          <a:xfrm>
            <a:off x="762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271" name="CustomShape 26"/>
          <p:cNvSpPr/>
          <p:nvPr/>
        </p:nvSpPr>
        <p:spPr>
          <a:xfrm>
            <a:off x="762588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Execute</a:t>
            </a:r>
            <a:endParaRPr b="0" lang="es-ES" sz="1600" spc="-1" strike="noStrike">
              <a:latin typeface="Arial"/>
            </a:endParaRPr>
          </a:p>
        </p:txBody>
      </p:sp>
      <p:sp>
        <p:nvSpPr>
          <p:cNvPr id="272" name="CustomShape 27"/>
          <p:cNvSpPr/>
          <p:nvPr/>
        </p:nvSpPr>
        <p:spPr>
          <a:xfrm>
            <a:off x="762588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Operadores en iteradores piden filas y páginas.</a:t>
            </a:r>
            <a:endParaRPr b="0" lang="es-ES" sz="1400" spc="-1" strike="noStrike">
              <a:latin typeface="Arial"/>
            </a:endParaRPr>
          </a:p>
        </p:txBody>
      </p:sp>
      <p:sp>
        <p:nvSpPr>
          <p:cNvPr id="273" name="CustomShape 28"/>
          <p:cNvSpPr/>
          <p:nvPr/>
        </p:nvSpPr>
        <p:spPr>
          <a:xfrm>
            <a:off x="93967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274" name="CustomShape 29"/>
          <p:cNvSpPr/>
          <p:nvPr/>
        </p:nvSpPr>
        <p:spPr>
          <a:xfrm>
            <a:off x="9680040" y="1600200"/>
            <a:ext cx="1962000" cy="3108240"/>
          </a:xfrm>
          <a:prstGeom prst="roundRect">
            <a:avLst>
              <a:gd name="adj" fmla="val 559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75" name="CustomShape 30"/>
          <p:cNvSpPr/>
          <p:nvPr/>
        </p:nvSpPr>
        <p:spPr>
          <a:xfrm>
            <a:off x="9908640" y="1828800"/>
            <a:ext cx="502200" cy="502200"/>
          </a:xfrm>
          <a:prstGeom prst="ellipse">
            <a:avLst/>
          </a:prstGeom>
          <a:solidFill>
            <a:srgbClr val="134074"/>
          </a:solidFill>
          <a:ln>
            <a:noFill/>
          </a:ln>
        </p:spPr>
        <p:style>
          <a:lnRef idx="0"/>
          <a:fillRef idx="0"/>
          <a:effectRef idx="0"/>
          <a:fontRef idx="minor"/>
        </p:style>
      </p:sp>
      <p:sp>
        <p:nvSpPr>
          <p:cNvPr id="276" name="CustomShape 31"/>
          <p:cNvSpPr/>
          <p:nvPr/>
        </p:nvSpPr>
        <p:spPr>
          <a:xfrm>
            <a:off x="99086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277" name="CustomShape 32"/>
          <p:cNvSpPr/>
          <p:nvPr/>
        </p:nvSpPr>
        <p:spPr>
          <a:xfrm>
            <a:off x="9908640" y="2468880"/>
            <a:ext cx="1504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Buffer Pool + TDS</a:t>
            </a:r>
            <a:endParaRPr b="0" lang="es-ES" sz="1600" spc="-1" strike="noStrike">
              <a:latin typeface="Arial"/>
            </a:endParaRPr>
          </a:p>
        </p:txBody>
      </p:sp>
      <p:sp>
        <p:nvSpPr>
          <p:cNvPr id="278" name="CustomShape 33"/>
          <p:cNvSpPr/>
          <p:nvPr/>
        </p:nvSpPr>
        <p:spPr>
          <a:xfrm>
            <a:off x="9908640" y="3154680"/>
            <a:ext cx="1504800" cy="14623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Lectura lógica o física; resultado al cliente.</a:t>
            </a:r>
            <a:endParaRPr b="0" lang="es-ES" sz="1400" spc="-1" strike="noStrike">
              <a:latin typeface="Arial"/>
            </a:endParaRPr>
          </a:p>
        </p:txBody>
      </p:sp>
      <p:sp>
        <p:nvSpPr>
          <p:cNvPr id="279" name="CustomShape 34"/>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280" name="CustomShape 35"/>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281" name="Image 0" descr="preencoded.png"/>
          <p:cNvPicPr/>
          <p:nvPr/>
        </p:nvPicPr>
        <p:blipFill>
          <a:blip r:embed="rId1"/>
          <a:stretch/>
        </p:blipFill>
        <p:spPr>
          <a:xfrm>
            <a:off x="846000" y="5463720"/>
            <a:ext cx="227880" cy="227880"/>
          </a:xfrm>
          <a:prstGeom prst="rect">
            <a:avLst/>
          </a:prstGeom>
          <a:ln>
            <a:noFill/>
          </a:ln>
        </p:spPr>
      </p:pic>
      <p:sp>
        <p:nvSpPr>
          <p:cNvPr id="282" name="CustomShape 36"/>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Pruébalo: </a:t>
            </a:r>
            <a:r>
              <a:rPr b="0" lang="en-US" sz="1400" spc="-1" strike="noStrike">
                <a:solidFill>
                  <a:srgbClr val="1f2933"/>
                </a:solidFill>
                <a:latin typeface="Calibri"/>
                <a:ea typeface="Calibri"/>
              </a:rPr>
              <a:t>SET STATISTICS IO, TIME ON; muestra lecturas lógicas, físicas y tiempo de compilación frente a ejecución.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28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ARQUITECTURA</a:t>
            </a:r>
            <a:endParaRPr b="0" lang="es-ES" sz="1000" spc="-1" strike="noStrike">
              <a:latin typeface="Arial"/>
            </a:endParaRPr>
          </a:p>
        </p:txBody>
      </p:sp>
      <p:sp>
        <p:nvSpPr>
          <p:cNvPr id="28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Buffer Pool y gestión de memoria</a:t>
            </a:r>
            <a:endParaRPr b="0" lang="es-ES" sz="3400" spc="-1" strike="noStrike">
              <a:latin typeface="Arial"/>
            </a:endParaRPr>
          </a:p>
        </p:txBody>
      </p:sp>
      <p:sp>
        <p:nvSpPr>
          <p:cNvPr id="28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28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9</a:t>
            </a:r>
            <a:endParaRPr b="0" lang="es-ES" sz="1000" spc="-1" strike="noStrike">
              <a:latin typeface="Arial"/>
            </a:endParaRPr>
          </a:p>
        </p:txBody>
      </p:sp>
      <p:sp>
        <p:nvSpPr>
          <p:cNvPr id="287" name="CustomShape 5"/>
          <p:cNvSpPr/>
          <p:nvPr/>
        </p:nvSpPr>
        <p:spPr>
          <a:xfrm>
            <a:off x="54864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8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289" name="Image 0" descr="preencoded.png"/>
          <p:cNvPicPr/>
          <p:nvPr/>
        </p:nvPicPr>
        <p:blipFill>
          <a:blip r:embed="rId1"/>
          <a:stretch/>
        </p:blipFill>
        <p:spPr>
          <a:xfrm>
            <a:off x="914400" y="1965960"/>
            <a:ext cx="273600" cy="273600"/>
          </a:xfrm>
          <a:prstGeom prst="rect">
            <a:avLst/>
          </a:prstGeom>
          <a:ln>
            <a:noFill/>
          </a:ln>
        </p:spPr>
      </p:pic>
      <p:sp>
        <p:nvSpPr>
          <p:cNvPr id="290"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Buffer Pool</a:t>
            </a:r>
            <a:endParaRPr b="0" lang="es-ES" sz="1700" spc="-1" strike="noStrike">
              <a:latin typeface="Arial"/>
            </a:endParaRPr>
          </a:p>
        </p:txBody>
      </p:sp>
      <p:sp>
        <p:nvSpPr>
          <p:cNvPr id="291" name="CustomShape 8"/>
          <p:cNvSpPr/>
          <p:nvPr/>
        </p:nvSpPr>
        <p:spPr>
          <a:xfrm>
            <a:off x="77724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Caché de páginas de datos de 8 KB. Lectura lógica (memoria) frente a física (disco).</a:t>
            </a:r>
            <a:endParaRPr b="0" lang="es-ES" sz="1400" spc="-1" strike="noStrike">
              <a:latin typeface="Arial"/>
            </a:endParaRPr>
          </a:p>
        </p:txBody>
      </p:sp>
      <p:sp>
        <p:nvSpPr>
          <p:cNvPr id="292" name="CustomShape 9"/>
          <p:cNvSpPr/>
          <p:nvPr/>
        </p:nvSpPr>
        <p:spPr>
          <a:xfrm>
            <a:off x="433836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3"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294" name="Image 1" descr="preencoded.png"/>
          <p:cNvPicPr/>
          <p:nvPr/>
        </p:nvPicPr>
        <p:blipFill>
          <a:blip r:embed="rId2"/>
          <a:stretch/>
        </p:blipFill>
        <p:spPr>
          <a:xfrm>
            <a:off x="4704120" y="1965960"/>
            <a:ext cx="273600" cy="273600"/>
          </a:xfrm>
          <a:prstGeom prst="rect">
            <a:avLst/>
          </a:prstGeom>
          <a:ln>
            <a:noFill/>
          </a:ln>
        </p:spPr>
      </p:pic>
      <p:sp>
        <p:nvSpPr>
          <p:cNvPr id="295"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Plan Cache</a:t>
            </a:r>
            <a:endParaRPr b="0" lang="es-ES" sz="1700" spc="-1" strike="noStrike">
              <a:latin typeface="Arial"/>
            </a:endParaRPr>
          </a:p>
        </p:txBody>
      </p:sp>
      <p:sp>
        <p:nvSpPr>
          <p:cNvPr id="296" name="CustomShape 12"/>
          <p:cNvSpPr/>
          <p:nvPr/>
        </p:nvSpPr>
        <p:spPr>
          <a:xfrm>
            <a:off x="456696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Planes compilados reutilizables. Se pierde al reiniciar o por presión de memoria.</a:t>
            </a:r>
            <a:endParaRPr b="0" lang="es-ES" sz="1400" spc="-1" strike="noStrike">
              <a:latin typeface="Arial"/>
            </a:endParaRPr>
          </a:p>
        </p:txBody>
      </p:sp>
      <p:sp>
        <p:nvSpPr>
          <p:cNvPr id="297" name="CustomShape 13"/>
          <p:cNvSpPr/>
          <p:nvPr/>
        </p:nvSpPr>
        <p:spPr>
          <a:xfrm>
            <a:off x="8127720" y="1600200"/>
            <a:ext cx="351468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298"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299" name="Image 2" descr="preencoded.png"/>
          <p:cNvPicPr/>
          <p:nvPr/>
        </p:nvPicPr>
        <p:blipFill>
          <a:blip r:embed="rId3"/>
          <a:stretch/>
        </p:blipFill>
        <p:spPr>
          <a:xfrm>
            <a:off x="8493480" y="1965960"/>
            <a:ext cx="273600" cy="273600"/>
          </a:xfrm>
          <a:prstGeom prst="rect">
            <a:avLst/>
          </a:prstGeom>
          <a:ln>
            <a:noFill/>
          </a:ln>
        </p:spPr>
      </p:pic>
      <p:sp>
        <p:nvSpPr>
          <p:cNvPr id="300"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Checkpoint y Lazy Writer</a:t>
            </a:r>
            <a:endParaRPr b="0" lang="es-ES" sz="1700" spc="-1" strike="noStrike">
              <a:latin typeface="Arial"/>
            </a:endParaRPr>
          </a:p>
        </p:txBody>
      </p:sp>
      <p:sp>
        <p:nvSpPr>
          <p:cNvPr id="301" name="CustomShape 16"/>
          <p:cNvSpPr/>
          <p:nvPr/>
        </p:nvSpPr>
        <p:spPr>
          <a:xfrm>
            <a:off x="8356320" y="2560320"/>
            <a:ext cx="305748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Checkpoint escribe páginas sucias periódicamente; Lazy Writer libera memoria bajo presión.</a:t>
            </a:r>
            <a:endParaRPr b="0" lang="es-ES" sz="1400" spc="-1" strike="noStrike">
              <a:latin typeface="Arial"/>
            </a:endParaRPr>
          </a:p>
        </p:txBody>
      </p:sp>
      <p:sp>
        <p:nvSpPr>
          <p:cNvPr id="302" name="CustomShape 17"/>
          <p:cNvSpPr/>
          <p:nvPr/>
        </p:nvSpPr>
        <p:spPr>
          <a:xfrm>
            <a:off x="548640" y="4709160"/>
            <a:ext cx="6674400" cy="1462320"/>
          </a:xfrm>
          <a:prstGeom prst="roundRect">
            <a:avLst>
              <a:gd name="adj" fmla="val 6250"/>
            </a:avLst>
          </a:prstGeom>
          <a:solidFill>
            <a:srgbClr val="eceff3"/>
          </a:solidFill>
          <a:ln w="9360">
            <a:solidFill>
              <a:srgbClr val="d0d7de"/>
            </a:solidFill>
            <a:round/>
          </a:ln>
        </p:spPr>
        <p:style>
          <a:lnRef idx="0"/>
          <a:fillRef idx="0"/>
          <a:effectRef idx="0"/>
          <a:fontRef idx="minor"/>
        </p:style>
      </p:sp>
      <p:sp>
        <p:nvSpPr>
          <p:cNvPr id="303" name="CustomShape 18"/>
          <p:cNvSpPr/>
          <p:nvPr/>
        </p:nvSpPr>
        <p:spPr>
          <a:xfrm>
            <a:off x="731520" y="48006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LIMITAR LA MEMORIA</a:t>
            </a:r>
            <a:endParaRPr b="0" lang="es-ES" sz="1000" spc="-1" strike="noStrike">
              <a:latin typeface="Arial"/>
            </a:endParaRPr>
          </a:p>
        </p:txBody>
      </p:sp>
      <p:sp>
        <p:nvSpPr>
          <p:cNvPr id="304" name="CustomShape 19"/>
          <p:cNvSpPr/>
          <p:nvPr/>
        </p:nvSpPr>
        <p:spPr>
          <a:xfrm>
            <a:off x="731520" y="5074920"/>
            <a:ext cx="6308640" cy="10051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'show advanced options'</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RECONFIGURE;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sp_configure </a:t>
            </a:r>
            <a:r>
              <a:rPr b="0" lang="en-US" sz="1200" spc="-1" strike="noStrike">
                <a:solidFill>
                  <a:srgbClr val="b4441f"/>
                </a:solidFill>
                <a:latin typeface="Consolas"/>
                <a:ea typeface="Consolas"/>
              </a:rPr>
              <a:t>'max server memory (MB)'</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12288</a:t>
            </a:r>
            <a:r>
              <a:rPr b="0" lang="en-US" sz="1200" spc="-1" strike="noStrike">
                <a:solidFill>
                  <a:srgbClr val="1f2933"/>
                </a:solidFill>
                <a:latin typeface="Consolas"/>
                <a:ea typeface="Consolas"/>
              </a:rPr>
              <a:t>; RECONFIGURE;</a:t>
            </a:r>
            <a:endParaRPr b="0" lang="es-ES" sz="1200" spc="-1" strike="noStrike">
              <a:latin typeface="Arial"/>
            </a:endParaRPr>
          </a:p>
        </p:txBody>
      </p:sp>
      <p:sp>
        <p:nvSpPr>
          <p:cNvPr id="305" name="CustomShape 20"/>
          <p:cNvSpPr/>
          <p:nvPr/>
        </p:nvSpPr>
        <p:spPr>
          <a:xfrm>
            <a:off x="7498080" y="4709160"/>
            <a:ext cx="4141440" cy="1462320"/>
          </a:xfrm>
          <a:prstGeom prst="roundRect">
            <a:avLst>
              <a:gd name="adj" fmla="val 7500"/>
            </a:avLst>
          </a:prstGeom>
          <a:solidFill>
            <a:srgbClr val="fdede8"/>
          </a:solidFill>
          <a:ln>
            <a:noFill/>
          </a:ln>
        </p:spPr>
        <p:style>
          <a:lnRef idx="0"/>
          <a:fillRef idx="0"/>
          <a:effectRef idx="0"/>
          <a:fontRef idx="minor"/>
        </p:style>
      </p:sp>
      <p:sp>
        <p:nvSpPr>
          <p:cNvPr id="306" name="CustomShape 21"/>
          <p:cNvSpPr/>
          <p:nvPr/>
        </p:nvSpPr>
        <p:spPr>
          <a:xfrm>
            <a:off x="7680960" y="5212080"/>
            <a:ext cx="456480" cy="456480"/>
          </a:xfrm>
          <a:prstGeom prst="ellipse">
            <a:avLst/>
          </a:prstGeom>
          <a:solidFill>
            <a:srgbClr val="d95d39"/>
          </a:solidFill>
          <a:ln>
            <a:noFill/>
          </a:ln>
        </p:spPr>
        <p:style>
          <a:lnRef idx="0"/>
          <a:fillRef idx="0"/>
          <a:effectRef idx="0"/>
          <a:fontRef idx="minor"/>
        </p:style>
      </p:sp>
      <p:pic>
        <p:nvPicPr>
          <p:cNvPr id="307" name="Image 3" descr="preencoded.png"/>
          <p:cNvPicPr/>
          <p:nvPr/>
        </p:nvPicPr>
        <p:blipFill>
          <a:blip r:embed="rId4"/>
          <a:stretch/>
        </p:blipFill>
        <p:spPr>
          <a:xfrm>
            <a:off x="7795440" y="5326560"/>
            <a:ext cx="227880" cy="227880"/>
          </a:xfrm>
          <a:prstGeom prst="rect">
            <a:avLst/>
          </a:prstGeom>
          <a:ln>
            <a:noFill/>
          </a:ln>
        </p:spPr>
      </p:pic>
      <p:sp>
        <p:nvSpPr>
          <p:cNvPr id="308" name="CustomShape 22"/>
          <p:cNvSpPr/>
          <p:nvPr/>
        </p:nvSpPr>
        <p:spPr>
          <a:xfrm>
            <a:off x="8321040" y="4709160"/>
            <a:ext cx="3135600" cy="14623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Siempre limita </a:t>
            </a:r>
            <a:r>
              <a:rPr b="0" lang="en-US" sz="1400" spc="-1" strike="noStrike">
                <a:solidFill>
                  <a:srgbClr val="1f2933"/>
                </a:solidFill>
                <a:latin typeface="Calibri"/>
                <a:ea typeface="Calibri"/>
              </a:rPr>
              <a:t>max server memory en producción y deja memoria libre para el sistema operativo.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09"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física: páginas y extensiones</a:t>
            </a:r>
            <a:endParaRPr b="0" lang="es-ES" sz="3400" spc="-1" strike="noStrike">
              <a:latin typeface="Arial"/>
            </a:endParaRPr>
          </a:p>
        </p:txBody>
      </p:sp>
      <p:sp>
        <p:nvSpPr>
          <p:cNvPr id="3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10</a:t>
            </a:r>
            <a:endParaRPr b="0" lang="es-ES" sz="1000" spc="-1" strike="noStrike">
              <a:latin typeface="Arial"/>
            </a:endParaRPr>
          </a:p>
        </p:txBody>
      </p:sp>
      <p:sp>
        <p:nvSpPr>
          <p:cNvPr id="313" name="CustomShape 5"/>
          <p:cNvSpPr/>
          <p:nvPr/>
        </p:nvSpPr>
        <p:spPr>
          <a:xfrm>
            <a:off x="548640" y="1600200"/>
            <a:ext cx="301680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Página = 8 KB (unidad mínima de E/S)</a:t>
            </a:r>
            <a:endParaRPr b="0" lang="es-ES" sz="1400" spc="-1" strike="noStrike">
              <a:latin typeface="Arial"/>
            </a:endParaRPr>
          </a:p>
        </p:txBody>
      </p:sp>
      <p:sp>
        <p:nvSpPr>
          <p:cNvPr id="314" name="CustomShape 6"/>
          <p:cNvSpPr/>
          <p:nvPr/>
        </p:nvSpPr>
        <p:spPr>
          <a:xfrm>
            <a:off x="548640" y="1965960"/>
            <a:ext cx="3016800" cy="502200"/>
          </a:xfrm>
          <a:prstGeom prst="rect">
            <a:avLst/>
          </a:prstGeom>
          <a:solidFill>
            <a:srgbClr val="0b254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Page Header · 96 bytes</a:t>
            </a:r>
            <a:endParaRPr b="0" lang="es-ES" sz="1300" spc="-1" strike="noStrike">
              <a:latin typeface="Arial"/>
            </a:endParaRPr>
          </a:p>
        </p:txBody>
      </p:sp>
      <p:sp>
        <p:nvSpPr>
          <p:cNvPr id="315" name="CustomShape 7"/>
          <p:cNvSpPr/>
          <p:nvPr/>
        </p:nvSpPr>
        <p:spPr>
          <a:xfrm>
            <a:off x="548640" y="2468880"/>
            <a:ext cx="3016800" cy="1508040"/>
          </a:xfrm>
          <a:prstGeom prst="rect">
            <a:avLst/>
          </a:prstGeom>
          <a:solidFill>
            <a:srgbClr val="134074"/>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Filas de datos</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(crecen hacia abajo ↓)</a:t>
            </a:r>
            <a:endParaRPr b="0" lang="es-ES" sz="1300" spc="-1" strike="noStrike">
              <a:latin typeface="Arial"/>
            </a:endParaRPr>
          </a:p>
        </p:txBody>
      </p:sp>
      <p:sp>
        <p:nvSpPr>
          <p:cNvPr id="316" name="CustomShape 8"/>
          <p:cNvSpPr/>
          <p:nvPr/>
        </p:nvSpPr>
        <p:spPr>
          <a:xfrm>
            <a:off x="548640" y="3977640"/>
            <a:ext cx="3016800" cy="822240"/>
          </a:xfrm>
          <a:prstGeom prst="rect">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5c6b7a"/>
                </a:solidFill>
                <a:latin typeface="Calibri"/>
                <a:ea typeface="Calibri"/>
              </a:rPr>
              <a:t>Espacio libre</a:t>
            </a:r>
            <a:endParaRPr b="0" lang="es-ES" sz="1300" spc="-1" strike="noStrike">
              <a:latin typeface="Arial"/>
            </a:endParaRPr>
          </a:p>
        </p:txBody>
      </p:sp>
      <p:sp>
        <p:nvSpPr>
          <p:cNvPr id="317" name="CustomShape 9"/>
          <p:cNvSpPr/>
          <p:nvPr/>
        </p:nvSpPr>
        <p:spPr>
          <a:xfrm>
            <a:off x="548640" y="4800600"/>
            <a:ext cx="3016800" cy="822240"/>
          </a:xfrm>
          <a:prstGeom prst="rect">
            <a:avLst/>
          </a:prstGeom>
          <a:solidFill>
            <a:srgbClr val="d95d39"/>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Row Offset Array</a:t>
            </a:r>
            <a:endParaRPr b="0" lang="es-ES" sz="1300" spc="-1" strike="noStrike">
              <a:latin typeface="Arial"/>
            </a:endParaRPr>
          </a:p>
          <a:p>
            <a:pPr algn="ctr">
              <a:lnSpc>
                <a:spcPct val="100000"/>
              </a:lnSpc>
              <a:tabLst>
                <a:tab algn="l" pos="0"/>
              </a:tabLst>
            </a:pPr>
            <a:r>
              <a:rPr b="1" lang="en-US" sz="1300" spc="-1" strike="noStrike">
                <a:solidFill>
                  <a:srgbClr val="ffffff"/>
                </a:solidFill>
                <a:latin typeface="Calibri"/>
                <a:ea typeface="Calibri"/>
              </a:rPr>
              <a:t>(2 bytes/fila, crece hacia arriba ↑)</a:t>
            </a:r>
            <a:endParaRPr b="0" lang="es-ES" sz="1300" spc="-1" strike="noStrike">
              <a:latin typeface="Arial"/>
            </a:endParaRPr>
          </a:p>
        </p:txBody>
      </p:sp>
      <p:sp>
        <p:nvSpPr>
          <p:cNvPr id="318" name="CustomShape 10"/>
          <p:cNvSpPr/>
          <p:nvPr/>
        </p:nvSpPr>
        <p:spPr>
          <a:xfrm>
            <a:off x="548640" y="5733360"/>
            <a:ext cx="301680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Máx. 8060 bytes de datos por fila en página (límite en fila)</a:t>
            </a:r>
            <a:endParaRPr b="0" lang="es-ES" sz="1200" spc="-1" strike="noStrike">
              <a:latin typeface="Arial"/>
            </a:endParaRPr>
          </a:p>
        </p:txBody>
      </p:sp>
      <p:sp>
        <p:nvSpPr>
          <p:cNvPr id="319" name="CustomShape 11"/>
          <p:cNvSpPr/>
          <p:nvPr/>
        </p:nvSpPr>
        <p:spPr>
          <a:xfrm>
            <a:off x="4023360" y="160020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Extensión = 8 páginas contiguas = 64 KB</a:t>
            </a:r>
            <a:endParaRPr b="0" lang="es-ES" sz="1400" spc="-1" strike="noStrike">
              <a:latin typeface="Arial"/>
            </a:endParaRPr>
          </a:p>
        </p:txBody>
      </p:sp>
      <p:sp>
        <p:nvSpPr>
          <p:cNvPr id="320" name="CustomShape 12"/>
          <p:cNvSpPr/>
          <p:nvPr/>
        </p:nvSpPr>
        <p:spPr>
          <a:xfrm>
            <a:off x="4023360" y="1965960"/>
            <a:ext cx="887760" cy="547920"/>
          </a:xfrm>
          <a:prstGeom prst="roundRect">
            <a:avLst>
              <a:gd name="adj" fmla="val 100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P1</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1" name="CustomShape 13"/>
          <p:cNvSpPr/>
          <p:nvPr/>
        </p:nvSpPr>
        <p:spPr>
          <a:xfrm>
            <a:off x="49849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P2</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2" name="CustomShape 14"/>
          <p:cNvSpPr/>
          <p:nvPr/>
        </p:nvSpPr>
        <p:spPr>
          <a:xfrm>
            <a:off x="59464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P3</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3" name="CustomShape 15"/>
          <p:cNvSpPr/>
          <p:nvPr/>
        </p:nvSpPr>
        <p:spPr>
          <a:xfrm>
            <a:off x="69080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P4</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4" name="CustomShape 16"/>
          <p:cNvSpPr/>
          <p:nvPr/>
        </p:nvSpPr>
        <p:spPr>
          <a:xfrm>
            <a:off x="786996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P5</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5" name="CustomShape 17"/>
          <p:cNvSpPr/>
          <p:nvPr/>
        </p:nvSpPr>
        <p:spPr>
          <a:xfrm>
            <a:off x="883152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P6</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6" name="CustomShape 18"/>
          <p:cNvSpPr/>
          <p:nvPr/>
        </p:nvSpPr>
        <p:spPr>
          <a:xfrm>
            <a:off x="979308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P7</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7" name="CustomShape 19"/>
          <p:cNvSpPr/>
          <p:nvPr/>
        </p:nvSpPr>
        <p:spPr>
          <a:xfrm>
            <a:off x="10754640" y="1965960"/>
            <a:ext cx="887760" cy="547920"/>
          </a:xfrm>
          <a:prstGeom prst="roundRect">
            <a:avLst>
              <a:gd name="adj" fmla="val 10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P8</a:t>
            </a:r>
            <a:endParaRPr b="0" lang="es-ES" sz="1100" spc="-1" strike="noStrike">
              <a:latin typeface="Arial"/>
            </a:endParaRPr>
          </a:p>
          <a:p>
            <a:pPr algn="ctr">
              <a:lnSpc>
                <a:spcPct val="100000"/>
              </a:lnSpc>
              <a:tabLst>
                <a:tab algn="l" pos="0"/>
              </a:tabLst>
            </a:pPr>
            <a:r>
              <a:rPr b="1" lang="en-US" sz="1100" spc="-1" strike="noStrike">
                <a:solidFill>
                  <a:srgbClr val="ffffff"/>
                </a:solidFill>
                <a:latin typeface="Calibri"/>
                <a:ea typeface="Calibri"/>
              </a:rPr>
              <a:t>8 KB</a:t>
            </a:r>
            <a:endParaRPr b="0" lang="es-ES" sz="1100" spc="-1" strike="noStrike">
              <a:latin typeface="Arial"/>
            </a:endParaRPr>
          </a:p>
        </p:txBody>
      </p:sp>
      <p:sp>
        <p:nvSpPr>
          <p:cNvPr id="328" name="CustomShape 20"/>
          <p:cNvSpPr/>
          <p:nvPr/>
        </p:nvSpPr>
        <p:spPr>
          <a:xfrm>
            <a:off x="4023360" y="25603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200" spc="-1" strike="noStrike">
                <a:solidFill>
                  <a:srgbClr val="5c6b7a"/>
                </a:solidFill>
                <a:latin typeface="Calibri"/>
                <a:ea typeface="Calibri"/>
              </a:rPr>
              <a:t>Mixta: páginas de distintos objetos · Uniforme: un solo objeto (desde la 9.ª página)</a:t>
            </a:r>
            <a:endParaRPr b="0" lang="es-ES" sz="1200" spc="-1" strike="noStrike">
              <a:latin typeface="Arial"/>
            </a:endParaRPr>
          </a:p>
        </p:txBody>
      </p:sp>
      <p:sp>
        <p:nvSpPr>
          <p:cNvPr id="329" name="CustomShape 21"/>
          <p:cNvSpPr/>
          <p:nvPr/>
        </p:nvSpPr>
        <p:spPr>
          <a:xfrm>
            <a:off x="4023360" y="301752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Ficheros de datos agrupados en filegroups</a:t>
            </a:r>
            <a:endParaRPr b="0" lang="es-ES" sz="1400" spc="-1" strike="noStrike">
              <a:latin typeface="Arial"/>
            </a:endParaRPr>
          </a:p>
        </p:txBody>
      </p:sp>
      <p:sp>
        <p:nvSpPr>
          <p:cNvPr id="330" name="CustomShape 22"/>
          <p:cNvSpPr/>
          <p:nvPr/>
        </p:nvSpPr>
        <p:spPr>
          <a:xfrm>
            <a:off x="4023360" y="3364920"/>
            <a:ext cx="7619040" cy="1050840"/>
          </a:xfrm>
          <a:prstGeom prst="roundRect">
            <a:avLst>
              <a:gd name="adj" fmla="val 8696"/>
            </a:avLst>
          </a:prstGeom>
          <a:solidFill>
            <a:srgbClr val="e8eef5"/>
          </a:solidFill>
          <a:ln w="9360">
            <a:solidFill>
              <a:srgbClr val="134074"/>
            </a:solidFill>
            <a:round/>
          </a:ln>
        </p:spPr>
        <p:style>
          <a:lnRef idx="0"/>
          <a:fillRef idx="0"/>
          <a:effectRef idx="0"/>
          <a:fontRef idx="minor"/>
        </p:style>
      </p:sp>
      <p:sp>
        <p:nvSpPr>
          <p:cNvPr id="331" name="CustomShape 23"/>
          <p:cNvSpPr/>
          <p:nvPr/>
        </p:nvSpPr>
        <p:spPr>
          <a:xfrm>
            <a:off x="4160520" y="3410640"/>
            <a:ext cx="7344720" cy="227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100" spc="-1" strike="noStrike">
                <a:solidFill>
                  <a:srgbClr val="134074"/>
                </a:solidFill>
                <a:latin typeface="Calibri"/>
                <a:ea typeface="Calibri"/>
              </a:rPr>
              <a:t>Filegroup PRIMARY (por defecto)</a:t>
            </a:r>
            <a:endParaRPr b="0" lang="es-ES" sz="1100" spc="-1" strike="noStrike">
              <a:latin typeface="Arial"/>
            </a:endParaRPr>
          </a:p>
        </p:txBody>
      </p:sp>
      <p:sp>
        <p:nvSpPr>
          <p:cNvPr id="332" name="CustomShape 24"/>
          <p:cNvSpPr/>
          <p:nvPr/>
        </p:nvSpPr>
        <p:spPr>
          <a:xfrm>
            <a:off x="416052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Primario .mdf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(catálogo + datos)</a:t>
            </a:r>
            <a:endParaRPr b="0" lang="es-ES" sz="1200" spc="-1" strike="noStrike">
              <a:latin typeface="Arial"/>
            </a:endParaRPr>
          </a:p>
        </p:txBody>
      </p:sp>
      <p:sp>
        <p:nvSpPr>
          <p:cNvPr id="333" name="CustomShape 25"/>
          <p:cNvSpPr/>
          <p:nvPr/>
        </p:nvSpPr>
        <p:spPr>
          <a:xfrm>
            <a:off x="7901640" y="3703320"/>
            <a:ext cx="3603240" cy="593640"/>
          </a:xfrm>
          <a:prstGeom prst="roundRect">
            <a:avLst>
              <a:gd name="adj" fmla="val 12308"/>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200" spc="-1" strike="noStrike">
                <a:solidFill>
                  <a:srgbClr val="ffffff"/>
                </a:solidFill>
                <a:latin typeface="Calibri"/>
                <a:ea typeface="Calibri"/>
              </a:rPr>
              <a:t>Secundario .ndf</a:t>
            </a:r>
            <a:endParaRPr b="0" lang="es-ES" sz="1200" spc="-1" strike="noStrike">
              <a:latin typeface="Arial"/>
            </a:endParaRPr>
          </a:p>
          <a:p>
            <a:pPr algn="ctr">
              <a:lnSpc>
                <a:spcPct val="100000"/>
              </a:lnSpc>
              <a:tabLst>
                <a:tab algn="l" pos="0"/>
              </a:tabLst>
            </a:pPr>
            <a:r>
              <a:rPr b="1" lang="en-US" sz="1200" spc="-1" strike="noStrike">
                <a:solidFill>
                  <a:srgbClr val="ffffff"/>
                </a:solidFill>
                <a:latin typeface="Calibri"/>
                <a:ea typeface="Calibri"/>
              </a:rPr>
              <a:t>(datos adicionales)</a:t>
            </a:r>
            <a:endParaRPr b="0" lang="es-ES" sz="1200" spc="-1" strike="noStrike">
              <a:latin typeface="Arial"/>
            </a:endParaRPr>
          </a:p>
        </p:txBody>
      </p:sp>
      <p:sp>
        <p:nvSpPr>
          <p:cNvPr id="334" name="CustomShape 26"/>
          <p:cNvSpPr/>
          <p:nvPr/>
        </p:nvSpPr>
        <p:spPr>
          <a:xfrm>
            <a:off x="4023360" y="4663440"/>
            <a:ext cx="761904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400" spc="-1" strike="noStrike">
                <a:solidFill>
                  <a:srgbClr val="0b2545"/>
                </a:solidFill>
                <a:latin typeface="Calibri"/>
                <a:ea typeface="Calibri"/>
              </a:rPr>
              <a:t>Transaction log (.ldf) — secuencia circular de VLFs</a:t>
            </a:r>
            <a:endParaRPr b="0" lang="es-ES" sz="1400" spc="-1" strike="noStrike">
              <a:latin typeface="Arial"/>
            </a:endParaRPr>
          </a:p>
        </p:txBody>
      </p:sp>
      <p:sp>
        <p:nvSpPr>
          <p:cNvPr id="335" name="CustomShape 27"/>
          <p:cNvSpPr/>
          <p:nvPr/>
        </p:nvSpPr>
        <p:spPr>
          <a:xfrm>
            <a:off x="4023360" y="5010840"/>
            <a:ext cx="7619040" cy="867960"/>
          </a:xfrm>
          <a:prstGeom prst="roundRect">
            <a:avLst>
              <a:gd name="adj" fmla="val 10526"/>
            </a:avLst>
          </a:prstGeom>
          <a:solidFill>
            <a:srgbClr val="fdede8"/>
          </a:solidFill>
          <a:ln w="9360">
            <a:solidFill>
              <a:srgbClr val="d95d39"/>
            </a:solidFill>
            <a:round/>
          </a:ln>
        </p:spPr>
        <p:style>
          <a:lnRef idx="0"/>
          <a:fillRef idx="0"/>
          <a:effectRef idx="0"/>
          <a:fontRef idx="minor"/>
        </p:style>
      </p:sp>
      <p:sp>
        <p:nvSpPr>
          <p:cNvPr id="336" name="CustomShape 28"/>
          <p:cNvSpPr/>
          <p:nvPr/>
        </p:nvSpPr>
        <p:spPr>
          <a:xfrm>
            <a:off x="41605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1</a:t>
            </a:r>
            <a:endParaRPr b="0" lang="es-ES" sz="1100" spc="-1" strike="noStrike">
              <a:latin typeface="Arial"/>
            </a:endParaRPr>
          </a:p>
        </p:txBody>
      </p:sp>
      <p:sp>
        <p:nvSpPr>
          <p:cNvPr id="337" name="CustomShape 29"/>
          <p:cNvSpPr/>
          <p:nvPr/>
        </p:nvSpPr>
        <p:spPr>
          <a:xfrm>
            <a:off x="508572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2</a:t>
            </a:r>
            <a:endParaRPr b="0" lang="es-ES" sz="1100" spc="-1" strike="noStrike">
              <a:latin typeface="Arial"/>
            </a:endParaRPr>
          </a:p>
        </p:txBody>
      </p:sp>
      <p:sp>
        <p:nvSpPr>
          <p:cNvPr id="338" name="CustomShape 30"/>
          <p:cNvSpPr/>
          <p:nvPr/>
        </p:nvSpPr>
        <p:spPr>
          <a:xfrm>
            <a:off x="6010560" y="5120640"/>
            <a:ext cx="869400" cy="365040"/>
          </a:xfrm>
          <a:prstGeom prst="roundRect">
            <a:avLst>
              <a:gd name="adj" fmla="val 12500"/>
            </a:avLst>
          </a:prstGeom>
          <a:solidFill>
            <a:srgbClr val="5c6b7a"/>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3</a:t>
            </a:r>
            <a:endParaRPr b="0" lang="es-ES" sz="1100" spc="-1" strike="noStrike">
              <a:latin typeface="Arial"/>
            </a:endParaRPr>
          </a:p>
        </p:txBody>
      </p:sp>
      <p:sp>
        <p:nvSpPr>
          <p:cNvPr id="339" name="CustomShape 31"/>
          <p:cNvSpPr/>
          <p:nvPr/>
        </p:nvSpPr>
        <p:spPr>
          <a:xfrm>
            <a:off x="693576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4</a:t>
            </a:r>
            <a:endParaRPr b="0" lang="es-ES" sz="1100" spc="-1" strike="noStrike">
              <a:latin typeface="Arial"/>
            </a:endParaRPr>
          </a:p>
        </p:txBody>
      </p:sp>
      <p:sp>
        <p:nvSpPr>
          <p:cNvPr id="340" name="CustomShape 32"/>
          <p:cNvSpPr/>
          <p:nvPr/>
        </p:nvSpPr>
        <p:spPr>
          <a:xfrm>
            <a:off x="78606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5</a:t>
            </a:r>
            <a:endParaRPr b="0" lang="es-ES" sz="1100" spc="-1" strike="noStrike">
              <a:latin typeface="Arial"/>
            </a:endParaRPr>
          </a:p>
        </p:txBody>
      </p:sp>
      <p:sp>
        <p:nvSpPr>
          <p:cNvPr id="341" name="CustomShape 33"/>
          <p:cNvSpPr/>
          <p:nvPr/>
        </p:nvSpPr>
        <p:spPr>
          <a:xfrm>
            <a:off x="8785800" y="5120640"/>
            <a:ext cx="869400" cy="365040"/>
          </a:xfrm>
          <a:prstGeom prst="roundRect">
            <a:avLst>
              <a:gd name="adj" fmla="val 12500"/>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ffffff"/>
                </a:solidFill>
                <a:latin typeface="Calibri"/>
                <a:ea typeface="Calibri"/>
              </a:rPr>
              <a:t>VLF 6</a:t>
            </a:r>
            <a:endParaRPr b="0" lang="es-ES" sz="1100" spc="-1" strike="noStrike">
              <a:latin typeface="Arial"/>
            </a:endParaRPr>
          </a:p>
        </p:txBody>
      </p:sp>
      <p:sp>
        <p:nvSpPr>
          <p:cNvPr id="342" name="CustomShape 34"/>
          <p:cNvSpPr/>
          <p:nvPr/>
        </p:nvSpPr>
        <p:spPr>
          <a:xfrm>
            <a:off x="97106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7</a:t>
            </a:r>
            <a:endParaRPr b="0" lang="es-ES" sz="1100" spc="-1" strike="noStrike">
              <a:latin typeface="Arial"/>
            </a:endParaRPr>
          </a:p>
        </p:txBody>
      </p:sp>
      <p:sp>
        <p:nvSpPr>
          <p:cNvPr id="343" name="CustomShape 35"/>
          <p:cNvSpPr/>
          <p:nvPr/>
        </p:nvSpPr>
        <p:spPr>
          <a:xfrm>
            <a:off x="10635840" y="5120640"/>
            <a:ext cx="869400" cy="365040"/>
          </a:xfrm>
          <a:prstGeom prst="roundRect">
            <a:avLst>
              <a:gd name="adj" fmla="val 12500"/>
            </a:avLst>
          </a:prstGeom>
          <a:solidFill>
            <a:srgbClr val="ffffff"/>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100" spc="-1" strike="noStrike">
                <a:solidFill>
                  <a:srgbClr val="5c6b7a"/>
                </a:solidFill>
                <a:latin typeface="Calibri"/>
                <a:ea typeface="Calibri"/>
              </a:rPr>
              <a:t>VLF 8</a:t>
            </a:r>
            <a:endParaRPr b="0" lang="es-ES" sz="1100" spc="-1" strike="noStrike">
              <a:latin typeface="Arial"/>
            </a:endParaRPr>
          </a:p>
        </p:txBody>
      </p:sp>
      <p:sp>
        <p:nvSpPr>
          <p:cNvPr id="344" name="CustomShape 36"/>
          <p:cNvSpPr/>
          <p:nvPr/>
        </p:nvSpPr>
        <p:spPr>
          <a:xfrm>
            <a:off x="4160520" y="5541120"/>
            <a:ext cx="7344720" cy="2736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100" spc="-1" strike="noStrike">
                <a:solidFill>
                  <a:srgbClr val="5c6b7a"/>
                </a:solidFill>
                <a:latin typeface="Calibri"/>
                <a:ea typeface="Calibri"/>
              </a:rPr>
              <a:t>Gris: reutilizables · Naranja: activos (log activo) · Blanco: libres</a:t>
            </a:r>
            <a:endParaRPr b="0" lang="es-ES" sz="11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45"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Ficheros de datos y de log: MDF, NDF, LDF</a:t>
            </a:r>
            <a:endParaRPr b="0" lang="es-ES" sz="3400" spc="-1" strike="noStrike">
              <a:latin typeface="Arial"/>
            </a:endParaRPr>
          </a:p>
        </p:txBody>
      </p:sp>
      <p:sp>
        <p:nvSpPr>
          <p:cNvPr id="3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11</a:t>
            </a:r>
            <a:endParaRPr b="0" lang="es-ES" sz="1000" spc="-1" strike="noStrike">
              <a:latin typeface="Arial"/>
            </a:endParaRPr>
          </a:p>
        </p:txBody>
      </p:sp>
      <p:sp>
        <p:nvSpPr>
          <p:cNvPr id="349" name="CustomShape 5"/>
          <p:cNvSpPr/>
          <p:nvPr/>
        </p:nvSpPr>
        <p:spPr>
          <a:xfrm>
            <a:off x="54864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351" name="Image 0" descr="preencoded.png"/>
          <p:cNvPicPr/>
          <p:nvPr/>
        </p:nvPicPr>
        <p:blipFill>
          <a:blip r:embed="rId1"/>
          <a:stretch/>
        </p:blipFill>
        <p:spPr>
          <a:xfrm>
            <a:off x="914400" y="1965960"/>
            <a:ext cx="273600" cy="273600"/>
          </a:xfrm>
          <a:prstGeom prst="rect">
            <a:avLst/>
          </a:prstGeom>
          <a:ln>
            <a:noFill/>
          </a:ln>
        </p:spPr>
      </p:pic>
      <p:sp>
        <p:nvSpPr>
          <p:cNvPr id="352"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Primario · .mdf</a:t>
            </a:r>
            <a:endParaRPr b="0" lang="es-ES" sz="1700" spc="-1" strike="noStrike">
              <a:latin typeface="Arial"/>
            </a:endParaRPr>
          </a:p>
        </p:txBody>
      </p:sp>
      <p:sp>
        <p:nvSpPr>
          <p:cNvPr id="353" name="CustomShape 8"/>
          <p:cNvSpPr/>
          <p:nvPr/>
        </p:nvSpPr>
        <p:spPr>
          <a:xfrm>
            <a:off x="77724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Uno por BD. Contiene el catálogo y, si no hay más, los datos. Filegroup PRIMARY.</a:t>
            </a:r>
            <a:endParaRPr b="0" lang="es-ES" sz="1400" spc="-1" strike="noStrike">
              <a:latin typeface="Arial"/>
            </a:endParaRPr>
          </a:p>
        </p:txBody>
      </p:sp>
      <p:sp>
        <p:nvSpPr>
          <p:cNvPr id="354" name="CustomShape 9"/>
          <p:cNvSpPr/>
          <p:nvPr/>
        </p:nvSpPr>
        <p:spPr>
          <a:xfrm>
            <a:off x="433836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55"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356" name="Image 1" descr="preencoded.png"/>
          <p:cNvPicPr/>
          <p:nvPr/>
        </p:nvPicPr>
        <p:blipFill>
          <a:blip r:embed="rId2"/>
          <a:stretch/>
        </p:blipFill>
        <p:spPr>
          <a:xfrm>
            <a:off x="4704120" y="1965960"/>
            <a:ext cx="273600" cy="273600"/>
          </a:xfrm>
          <a:prstGeom prst="rect">
            <a:avLst/>
          </a:prstGeom>
          <a:ln>
            <a:noFill/>
          </a:ln>
        </p:spPr>
      </p:pic>
      <p:sp>
        <p:nvSpPr>
          <p:cNvPr id="357"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Secundarios · .ndf</a:t>
            </a:r>
            <a:endParaRPr b="0" lang="es-ES" sz="1700" spc="-1" strike="noStrike">
              <a:latin typeface="Arial"/>
            </a:endParaRPr>
          </a:p>
        </p:txBody>
      </p:sp>
      <p:sp>
        <p:nvSpPr>
          <p:cNvPr id="358" name="CustomShape 12"/>
          <p:cNvSpPr/>
          <p:nvPr/>
        </p:nvSpPr>
        <p:spPr>
          <a:xfrm>
            <a:off x="456696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Opcionales. Reparten datos en varios discos y permiten restaurar por filegroup.</a:t>
            </a:r>
            <a:endParaRPr b="0" lang="es-ES" sz="1400" spc="-1" strike="noStrike">
              <a:latin typeface="Arial"/>
            </a:endParaRPr>
          </a:p>
        </p:txBody>
      </p:sp>
      <p:sp>
        <p:nvSpPr>
          <p:cNvPr id="359" name="CustomShape 13"/>
          <p:cNvSpPr/>
          <p:nvPr/>
        </p:nvSpPr>
        <p:spPr>
          <a:xfrm>
            <a:off x="8127720" y="1600200"/>
            <a:ext cx="3514680" cy="2559600"/>
          </a:xfrm>
          <a:prstGeom prst="roundRect">
            <a:avLst>
              <a:gd name="adj" fmla="val 428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60"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361" name="Image 2" descr="preencoded.png"/>
          <p:cNvPicPr/>
          <p:nvPr/>
        </p:nvPicPr>
        <p:blipFill>
          <a:blip r:embed="rId3"/>
          <a:stretch/>
        </p:blipFill>
        <p:spPr>
          <a:xfrm>
            <a:off x="8493480" y="1965960"/>
            <a:ext cx="273600" cy="273600"/>
          </a:xfrm>
          <a:prstGeom prst="rect">
            <a:avLst/>
          </a:prstGeom>
          <a:ln>
            <a:noFill/>
          </a:ln>
        </p:spPr>
      </p:pic>
      <p:sp>
        <p:nvSpPr>
          <p:cNvPr id="362"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Log · .ldf</a:t>
            </a:r>
            <a:endParaRPr b="0" lang="es-ES" sz="1700" spc="-1" strike="noStrike">
              <a:latin typeface="Arial"/>
            </a:endParaRPr>
          </a:p>
        </p:txBody>
      </p:sp>
      <p:sp>
        <p:nvSpPr>
          <p:cNvPr id="363" name="CustomShape 16"/>
          <p:cNvSpPr/>
          <p:nvPr/>
        </p:nvSpPr>
        <p:spPr>
          <a:xfrm>
            <a:off x="8356320" y="2560320"/>
            <a:ext cx="3057480" cy="13708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secuencial de cambios (WAL). Con uno es suficiente y no pertenece a ningún filegroup.</a:t>
            </a:r>
            <a:endParaRPr b="0" lang="es-ES" sz="1400" spc="-1" strike="noStrike">
              <a:latin typeface="Arial"/>
            </a:endParaRPr>
          </a:p>
        </p:txBody>
      </p:sp>
      <p:sp>
        <p:nvSpPr>
          <p:cNvPr id="364" name="CustomShape 17"/>
          <p:cNvSpPr/>
          <p:nvPr/>
        </p:nvSpPr>
        <p:spPr>
          <a:xfrm>
            <a:off x="548640" y="4526280"/>
            <a:ext cx="5409360" cy="1645200"/>
          </a:xfrm>
          <a:prstGeom prst="roundRect">
            <a:avLst>
              <a:gd name="adj" fmla="val 6667"/>
            </a:avLst>
          </a:prstGeom>
          <a:solidFill>
            <a:srgbClr val="fdede8"/>
          </a:solidFill>
          <a:ln>
            <a:noFill/>
          </a:ln>
        </p:spPr>
        <p:style>
          <a:lnRef idx="0"/>
          <a:fillRef idx="0"/>
          <a:effectRef idx="0"/>
          <a:fontRef idx="minor"/>
        </p:style>
      </p:sp>
      <p:sp>
        <p:nvSpPr>
          <p:cNvPr id="365" name="CustomShape 18"/>
          <p:cNvSpPr/>
          <p:nvPr/>
        </p:nvSpPr>
        <p:spPr>
          <a:xfrm>
            <a:off x="731520" y="5120640"/>
            <a:ext cx="456480" cy="456480"/>
          </a:xfrm>
          <a:prstGeom prst="ellipse">
            <a:avLst/>
          </a:prstGeom>
          <a:solidFill>
            <a:srgbClr val="d95d39"/>
          </a:solidFill>
          <a:ln>
            <a:noFill/>
          </a:ln>
        </p:spPr>
        <p:style>
          <a:lnRef idx="0"/>
          <a:fillRef idx="0"/>
          <a:effectRef idx="0"/>
          <a:fontRef idx="minor"/>
        </p:style>
      </p:sp>
      <p:pic>
        <p:nvPicPr>
          <p:cNvPr id="366" name="Image 3" descr="preencoded.png"/>
          <p:cNvPicPr/>
          <p:nvPr/>
        </p:nvPicPr>
        <p:blipFill>
          <a:blip r:embed="rId4"/>
          <a:stretch/>
        </p:blipFill>
        <p:spPr>
          <a:xfrm>
            <a:off x="846000" y="5235120"/>
            <a:ext cx="227880" cy="227880"/>
          </a:xfrm>
          <a:prstGeom prst="rect">
            <a:avLst/>
          </a:prstGeom>
          <a:ln>
            <a:noFill/>
          </a:ln>
        </p:spPr>
      </p:pic>
      <p:sp>
        <p:nvSpPr>
          <p:cNvPr id="367" name="CustomShape 19"/>
          <p:cNvSpPr/>
          <p:nvPr/>
        </p:nvSpPr>
        <p:spPr>
          <a:xfrm>
            <a:off x="13716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Autogrowth en MB, no en %: </a:t>
            </a:r>
            <a:r>
              <a:rPr b="0" lang="en-US" sz="1400" spc="-1" strike="noStrike">
                <a:solidFill>
                  <a:srgbClr val="1f2933"/>
                </a:solidFill>
                <a:latin typeface="Calibri"/>
                <a:ea typeface="Calibri"/>
              </a:rPr>
              <a:t>un 10% de 500 GB son 50 GB de golpe. Dimensiona el tamaño inicial para evitar crecer.</a:t>
            </a:r>
            <a:endParaRPr b="0" lang="es-ES" sz="1400" spc="-1" strike="noStrike">
              <a:latin typeface="Arial"/>
            </a:endParaRPr>
          </a:p>
        </p:txBody>
      </p:sp>
      <p:sp>
        <p:nvSpPr>
          <p:cNvPr id="368" name="CustomShape 20"/>
          <p:cNvSpPr/>
          <p:nvPr/>
        </p:nvSpPr>
        <p:spPr>
          <a:xfrm>
            <a:off x="6233040" y="4526280"/>
            <a:ext cx="5409360" cy="1645200"/>
          </a:xfrm>
          <a:prstGeom prst="roundRect">
            <a:avLst>
              <a:gd name="adj" fmla="val 6667"/>
            </a:avLst>
          </a:prstGeom>
          <a:solidFill>
            <a:srgbClr val="e8eef5"/>
          </a:solidFill>
          <a:ln>
            <a:noFill/>
          </a:ln>
        </p:spPr>
        <p:style>
          <a:lnRef idx="0"/>
          <a:fillRef idx="0"/>
          <a:effectRef idx="0"/>
          <a:fontRef idx="minor"/>
        </p:style>
      </p:sp>
      <p:sp>
        <p:nvSpPr>
          <p:cNvPr id="369" name="CustomShape 21"/>
          <p:cNvSpPr/>
          <p:nvPr/>
        </p:nvSpPr>
        <p:spPr>
          <a:xfrm>
            <a:off x="6415920" y="5120640"/>
            <a:ext cx="456480" cy="456480"/>
          </a:xfrm>
          <a:prstGeom prst="ellipse">
            <a:avLst/>
          </a:prstGeom>
          <a:solidFill>
            <a:srgbClr val="134074"/>
          </a:solidFill>
          <a:ln>
            <a:noFill/>
          </a:ln>
        </p:spPr>
        <p:style>
          <a:lnRef idx="0"/>
          <a:fillRef idx="0"/>
          <a:effectRef idx="0"/>
          <a:fontRef idx="minor"/>
        </p:style>
      </p:sp>
      <p:pic>
        <p:nvPicPr>
          <p:cNvPr id="370" name="Image 4" descr="preencoded.png"/>
          <p:cNvPicPr/>
          <p:nvPr/>
        </p:nvPicPr>
        <p:blipFill>
          <a:blip r:embed="rId5"/>
          <a:stretch/>
        </p:blipFill>
        <p:spPr>
          <a:xfrm>
            <a:off x="6530040" y="5235120"/>
            <a:ext cx="227880" cy="227880"/>
          </a:xfrm>
          <a:prstGeom prst="rect">
            <a:avLst/>
          </a:prstGeom>
          <a:ln>
            <a:noFill/>
          </a:ln>
        </p:spPr>
      </p:pic>
      <p:sp>
        <p:nvSpPr>
          <p:cNvPr id="371" name="CustomShape 22"/>
          <p:cNvSpPr/>
          <p:nvPr/>
        </p:nvSpPr>
        <p:spPr>
          <a:xfrm>
            <a:off x="7056000" y="4526280"/>
            <a:ext cx="440352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IFI (Instant File Initialization): </a:t>
            </a:r>
            <a:r>
              <a:rPr b="0" lang="en-US" sz="1400" spc="-1" strike="noStrike">
                <a:solidFill>
                  <a:srgbClr val="1f2933"/>
                </a:solidFill>
                <a:latin typeface="Calibri"/>
                <a:ea typeface="Calibri"/>
              </a:rPr>
              <a:t>concede "Perform volume maintenance tasks" a la cuenta del servicio para crear y restaurar ficheros de datos mucho más rápido.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372"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ALMACENAMIENTO</a:t>
            </a:r>
            <a:endParaRPr b="0" lang="es-ES" sz="1000" spc="-1" strike="noStrike">
              <a:latin typeface="Arial"/>
            </a:endParaRPr>
          </a:p>
        </p:txBody>
      </p:sp>
      <p:sp>
        <p:nvSpPr>
          <p:cNvPr id="37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Transaction Log: WAL y VLFs</a:t>
            </a:r>
            <a:endParaRPr b="0" lang="es-ES" sz="3400" spc="-1" strike="noStrike">
              <a:latin typeface="Arial"/>
            </a:endParaRPr>
          </a:p>
        </p:txBody>
      </p:sp>
      <p:sp>
        <p:nvSpPr>
          <p:cNvPr id="37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37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12</a:t>
            </a:r>
            <a:endParaRPr b="0" lang="es-ES" sz="1000" spc="-1" strike="noStrike">
              <a:latin typeface="Arial"/>
            </a:endParaRPr>
          </a:p>
        </p:txBody>
      </p:sp>
      <p:sp>
        <p:nvSpPr>
          <p:cNvPr id="376" name="CustomShape 5"/>
          <p:cNvSpPr/>
          <p:nvPr/>
        </p:nvSpPr>
        <p:spPr>
          <a:xfrm>
            <a:off x="5486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77"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378"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379" name="CustomShape 8"/>
          <p:cNvSpPr/>
          <p:nvPr/>
        </p:nvSpPr>
        <p:spPr>
          <a:xfrm>
            <a:off x="7772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modifica la página</a:t>
            </a:r>
            <a:endParaRPr b="0" lang="es-ES" sz="1600" spc="-1" strike="noStrike">
              <a:latin typeface="Arial"/>
            </a:endParaRPr>
          </a:p>
        </p:txBody>
      </p:sp>
      <p:sp>
        <p:nvSpPr>
          <p:cNvPr id="380" name="CustomShape 9"/>
          <p:cNvSpPr/>
          <p:nvPr/>
        </p:nvSpPr>
        <p:spPr>
          <a:xfrm>
            <a:off x="7772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 en el Buffer Pool; la página queda sucia.</a:t>
            </a:r>
            <a:endParaRPr b="0" lang="es-ES" sz="1400" spc="-1" strike="noStrike">
              <a:latin typeface="Arial"/>
            </a:endParaRPr>
          </a:p>
        </p:txBody>
      </p:sp>
      <p:sp>
        <p:nvSpPr>
          <p:cNvPr id="381" name="CustomShape 10"/>
          <p:cNvSpPr/>
          <p:nvPr/>
        </p:nvSpPr>
        <p:spPr>
          <a:xfrm>
            <a:off x="31186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2" name="CustomShape 11"/>
          <p:cNvSpPr/>
          <p:nvPr/>
        </p:nvSpPr>
        <p:spPr>
          <a:xfrm>
            <a:off x="340236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3" name="CustomShape 12"/>
          <p:cNvSpPr/>
          <p:nvPr/>
        </p:nvSpPr>
        <p:spPr>
          <a:xfrm>
            <a:off x="3630960" y="1828800"/>
            <a:ext cx="502200" cy="502200"/>
          </a:xfrm>
          <a:prstGeom prst="ellipse">
            <a:avLst/>
          </a:prstGeom>
          <a:solidFill>
            <a:srgbClr val="134074"/>
          </a:solidFill>
          <a:ln>
            <a:noFill/>
          </a:ln>
        </p:spPr>
        <p:style>
          <a:lnRef idx="0"/>
          <a:fillRef idx="0"/>
          <a:effectRef idx="0"/>
          <a:fontRef idx="minor"/>
        </p:style>
      </p:sp>
      <p:sp>
        <p:nvSpPr>
          <p:cNvPr id="384" name="CustomShape 13"/>
          <p:cNvSpPr/>
          <p:nvPr/>
        </p:nvSpPr>
        <p:spPr>
          <a:xfrm>
            <a:off x="36309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385" name="CustomShape 14"/>
          <p:cNvSpPr/>
          <p:nvPr/>
        </p:nvSpPr>
        <p:spPr>
          <a:xfrm>
            <a:off x="363096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 escribe el log</a:t>
            </a:r>
            <a:endParaRPr b="0" lang="es-ES" sz="1600" spc="-1" strike="noStrike">
              <a:latin typeface="Arial"/>
            </a:endParaRPr>
          </a:p>
        </p:txBody>
      </p:sp>
      <p:sp>
        <p:nvSpPr>
          <p:cNvPr id="386" name="CustomShape 15"/>
          <p:cNvSpPr/>
          <p:nvPr/>
        </p:nvSpPr>
        <p:spPr>
          <a:xfrm>
            <a:off x="363096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Registro con LSN en el log buffer.</a:t>
            </a:r>
            <a:endParaRPr b="0" lang="es-ES" sz="1400" spc="-1" strike="noStrike">
              <a:latin typeface="Arial"/>
            </a:endParaRPr>
          </a:p>
        </p:txBody>
      </p:sp>
      <p:sp>
        <p:nvSpPr>
          <p:cNvPr id="387" name="CustomShape 16"/>
          <p:cNvSpPr/>
          <p:nvPr/>
        </p:nvSpPr>
        <p:spPr>
          <a:xfrm>
            <a:off x="597240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88" name="CustomShape 17"/>
          <p:cNvSpPr/>
          <p:nvPr/>
        </p:nvSpPr>
        <p:spPr>
          <a:xfrm>
            <a:off x="625572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89" name="CustomShape 18"/>
          <p:cNvSpPr/>
          <p:nvPr/>
        </p:nvSpPr>
        <p:spPr>
          <a:xfrm>
            <a:off x="6484320" y="1828800"/>
            <a:ext cx="502200" cy="502200"/>
          </a:xfrm>
          <a:prstGeom prst="ellipse">
            <a:avLst/>
          </a:prstGeom>
          <a:solidFill>
            <a:srgbClr val="134074"/>
          </a:solidFill>
          <a:ln>
            <a:noFill/>
          </a:ln>
        </p:spPr>
        <p:style>
          <a:lnRef idx="0"/>
          <a:fillRef idx="0"/>
          <a:effectRef idx="0"/>
          <a:fontRef idx="minor"/>
        </p:style>
      </p:sp>
      <p:sp>
        <p:nvSpPr>
          <p:cNvPr id="390" name="CustomShape 19"/>
          <p:cNvSpPr/>
          <p:nvPr/>
        </p:nvSpPr>
        <p:spPr>
          <a:xfrm>
            <a:off x="64843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391" name="CustomShape 20"/>
          <p:cNvSpPr/>
          <p:nvPr/>
        </p:nvSpPr>
        <p:spPr>
          <a:xfrm>
            <a:off x="648432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COMMIT</a:t>
            </a:r>
            <a:endParaRPr b="0" lang="es-ES" sz="1600" spc="-1" strike="noStrike">
              <a:latin typeface="Arial"/>
            </a:endParaRPr>
          </a:p>
        </p:txBody>
      </p:sp>
      <p:sp>
        <p:nvSpPr>
          <p:cNvPr id="392" name="CustomShape 21"/>
          <p:cNvSpPr/>
          <p:nvPr/>
        </p:nvSpPr>
        <p:spPr>
          <a:xfrm>
            <a:off x="648432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Flush del log a disco. El cliente recibe OK.</a:t>
            </a:r>
            <a:endParaRPr b="0" lang="es-ES" sz="1400" spc="-1" strike="noStrike">
              <a:latin typeface="Arial"/>
            </a:endParaRPr>
          </a:p>
        </p:txBody>
      </p:sp>
      <p:sp>
        <p:nvSpPr>
          <p:cNvPr id="393" name="CustomShape 22"/>
          <p:cNvSpPr/>
          <p:nvPr/>
        </p:nvSpPr>
        <p:spPr>
          <a:xfrm>
            <a:off x="882612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394" name="CustomShape 23"/>
          <p:cNvSpPr/>
          <p:nvPr/>
        </p:nvSpPr>
        <p:spPr>
          <a:xfrm>
            <a:off x="9109440" y="1600200"/>
            <a:ext cx="2532960" cy="2651040"/>
          </a:xfrm>
          <a:prstGeom prst="roundRect">
            <a:avLst>
              <a:gd name="adj" fmla="val 433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395" name="CustomShape 24"/>
          <p:cNvSpPr/>
          <p:nvPr/>
        </p:nvSpPr>
        <p:spPr>
          <a:xfrm>
            <a:off x="9338040" y="1828800"/>
            <a:ext cx="502200" cy="502200"/>
          </a:xfrm>
          <a:prstGeom prst="ellipse">
            <a:avLst/>
          </a:prstGeom>
          <a:solidFill>
            <a:srgbClr val="134074"/>
          </a:solidFill>
          <a:ln>
            <a:noFill/>
          </a:ln>
        </p:spPr>
        <p:style>
          <a:lnRef idx="0"/>
          <a:fillRef idx="0"/>
          <a:effectRef idx="0"/>
          <a:fontRef idx="minor"/>
        </p:style>
      </p:sp>
      <p:sp>
        <p:nvSpPr>
          <p:cNvPr id="396" name="CustomShape 25"/>
          <p:cNvSpPr/>
          <p:nvPr/>
        </p:nvSpPr>
        <p:spPr>
          <a:xfrm>
            <a:off x="93380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397" name="CustomShape 26"/>
          <p:cNvSpPr/>
          <p:nvPr/>
        </p:nvSpPr>
        <p:spPr>
          <a:xfrm>
            <a:off x="9338040" y="2468880"/>
            <a:ext cx="207576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Checkpoint</a:t>
            </a:r>
            <a:endParaRPr b="0" lang="es-ES" sz="1600" spc="-1" strike="noStrike">
              <a:latin typeface="Arial"/>
            </a:endParaRPr>
          </a:p>
        </p:txBody>
      </p:sp>
      <p:sp>
        <p:nvSpPr>
          <p:cNvPr id="398" name="CustomShape 27"/>
          <p:cNvSpPr/>
          <p:nvPr/>
        </p:nvSpPr>
        <p:spPr>
          <a:xfrm>
            <a:off x="9338040" y="3154680"/>
            <a:ext cx="20757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tarde, las páginas sucias se escriben al .mdf.</a:t>
            </a:r>
            <a:endParaRPr b="0" lang="es-ES" sz="1400" spc="-1" strike="noStrike">
              <a:latin typeface="Arial"/>
            </a:endParaRPr>
          </a:p>
        </p:txBody>
      </p:sp>
      <p:sp>
        <p:nvSpPr>
          <p:cNvPr id="399" name="CustomShape 28"/>
          <p:cNvSpPr/>
          <p:nvPr/>
        </p:nvSpPr>
        <p:spPr>
          <a:xfrm>
            <a:off x="548640" y="4526280"/>
            <a:ext cx="694872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400" name="CustomShape 29"/>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VLFS DE LA BD ACTUAL</a:t>
            </a:r>
            <a:endParaRPr b="0" lang="es-ES" sz="1000" spc="-1" strike="noStrike">
              <a:latin typeface="Arial"/>
            </a:endParaRPr>
          </a:p>
        </p:txBody>
      </p:sp>
      <p:sp>
        <p:nvSpPr>
          <p:cNvPr id="401" name="CustomShape 30"/>
          <p:cNvSpPr/>
          <p:nvPr/>
        </p:nvSpPr>
        <p:spPr>
          <a:xfrm>
            <a:off x="731520" y="4892040"/>
            <a:ext cx="658296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a:t>
            </a:r>
            <a:r>
              <a:rPr b="1" lang="en-US" sz="1200" spc="-1" strike="noStrike">
                <a:solidFill>
                  <a:srgbClr val="1d4ed8"/>
                </a:solidFill>
                <a:latin typeface="Consolas"/>
                <a:ea typeface="Consolas"/>
              </a:rPr>
              <a:t>CASE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WHEN</a:t>
            </a:r>
            <a:r>
              <a:rPr b="0" lang="en-US" sz="1200" spc="-1" strike="noStrike">
                <a:solidFill>
                  <a:srgbClr val="1f2933"/>
                </a:solidFill>
                <a:latin typeface="Consolas"/>
                <a:ea typeface="Consolas"/>
              </a:rPr>
              <a:t> vlf_active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THEN</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ELSE</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END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vlf_activos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sys.dm_db_log_info(DB_ID());</a:t>
            </a:r>
            <a:endParaRPr b="0" lang="es-ES" sz="1200" spc="-1" strike="noStrike">
              <a:latin typeface="Arial"/>
            </a:endParaRPr>
          </a:p>
        </p:txBody>
      </p:sp>
      <p:sp>
        <p:nvSpPr>
          <p:cNvPr id="402" name="CustomShape 31"/>
          <p:cNvSpPr/>
          <p:nvPr/>
        </p:nvSpPr>
        <p:spPr>
          <a:xfrm>
            <a:off x="7772400" y="4526280"/>
            <a:ext cx="3867120" cy="1645200"/>
          </a:xfrm>
          <a:prstGeom prst="roundRect">
            <a:avLst>
              <a:gd name="adj" fmla="val 6667"/>
            </a:avLst>
          </a:prstGeom>
          <a:solidFill>
            <a:srgbClr val="fdede8"/>
          </a:solidFill>
          <a:ln>
            <a:noFill/>
          </a:ln>
        </p:spPr>
        <p:style>
          <a:lnRef idx="0"/>
          <a:fillRef idx="0"/>
          <a:effectRef idx="0"/>
          <a:fontRef idx="minor"/>
        </p:style>
      </p:sp>
      <p:sp>
        <p:nvSpPr>
          <p:cNvPr id="403" name="CustomShape 32"/>
          <p:cNvSpPr/>
          <p:nvPr/>
        </p:nvSpPr>
        <p:spPr>
          <a:xfrm>
            <a:off x="7955280" y="5120640"/>
            <a:ext cx="456480" cy="456480"/>
          </a:xfrm>
          <a:prstGeom prst="ellipse">
            <a:avLst/>
          </a:prstGeom>
          <a:solidFill>
            <a:srgbClr val="d95d39"/>
          </a:solidFill>
          <a:ln>
            <a:noFill/>
          </a:ln>
        </p:spPr>
        <p:style>
          <a:lnRef idx="0"/>
          <a:fillRef idx="0"/>
          <a:effectRef idx="0"/>
          <a:fontRef idx="minor"/>
        </p:style>
      </p:sp>
      <p:pic>
        <p:nvPicPr>
          <p:cNvPr id="404" name="Image 0" descr="preencoded.png"/>
          <p:cNvPicPr/>
          <p:nvPr/>
        </p:nvPicPr>
        <p:blipFill>
          <a:blip r:embed="rId1"/>
          <a:stretch/>
        </p:blipFill>
        <p:spPr>
          <a:xfrm>
            <a:off x="8069760" y="5235120"/>
            <a:ext cx="227880" cy="227880"/>
          </a:xfrm>
          <a:prstGeom prst="rect">
            <a:avLst/>
          </a:prstGeom>
          <a:ln>
            <a:noFill/>
          </a:ln>
        </p:spPr>
      </p:pic>
      <p:sp>
        <p:nvSpPr>
          <p:cNvPr id="405" name="CustomShape 33"/>
          <p:cNvSpPr/>
          <p:nvPr/>
        </p:nvSpPr>
        <p:spPr>
          <a:xfrm>
            <a:off x="8595360" y="4526280"/>
            <a:ext cx="286128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Miles de VLFs </a:t>
            </a:r>
            <a:r>
              <a:rPr b="0" lang="en-US" sz="1400" spc="-1" strike="noStrike">
                <a:solidFill>
                  <a:srgbClr val="1f2933"/>
                </a:solidFill>
                <a:latin typeface="Calibri"/>
                <a:ea typeface="Calibri"/>
              </a:rPr>
              <a:t>por autogrowths pequeños ralentizan arranque y recuperación. Dimensiona el log de una vez.</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0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0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Instancias: predeterminada y con nombre</a:t>
            </a:r>
            <a:endParaRPr b="0" lang="es-ES" sz="3400" spc="-1" strike="noStrike">
              <a:latin typeface="Arial"/>
            </a:endParaRPr>
          </a:p>
        </p:txBody>
      </p:sp>
      <p:sp>
        <p:nvSpPr>
          <p:cNvPr id="40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0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13</a:t>
            </a:r>
            <a:endParaRPr b="0" lang="es-ES" sz="1000" spc="-1" strike="noStrike">
              <a:latin typeface="Arial"/>
            </a:endParaRPr>
          </a:p>
        </p:txBody>
      </p:sp>
      <p:sp>
        <p:nvSpPr>
          <p:cNvPr id="410" name="CustomShape 5"/>
          <p:cNvSpPr/>
          <p:nvPr/>
        </p:nvSpPr>
        <p:spPr>
          <a:xfrm>
            <a:off x="5486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1"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12" name="Image 0" descr="preencoded.png"/>
          <p:cNvPicPr/>
          <p:nvPr/>
        </p:nvPicPr>
        <p:blipFill>
          <a:blip r:embed="rId1"/>
          <a:stretch/>
        </p:blipFill>
        <p:spPr>
          <a:xfrm>
            <a:off x="914400" y="1965960"/>
            <a:ext cx="273600" cy="273600"/>
          </a:xfrm>
          <a:prstGeom prst="rect">
            <a:avLst/>
          </a:prstGeom>
          <a:ln>
            <a:noFill/>
          </a:ln>
        </p:spPr>
      </p:pic>
      <p:sp>
        <p:nvSpPr>
          <p:cNvPr id="413"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Predeterminada</a:t>
            </a:r>
            <a:endParaRPr b="0" lang="es-ES" sz="1700" spc="-1" strike="noStrike">
              <a:latin typeface="Arial"/>
            </a:endParaRPr>
          </a:p>
        </p:txBody>
      </p:sp>
      <p:sp>
        <p:nvSpPr>
          <p:cNvPr id="414" name="CustomShape 8"/>
          <p:cNvSpPr/>
          <p:nvPr/>
        </p:nvSpPr>
        <p:spPr>
          <a:xfrm>
            <a:off x="7772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Nombre de servicio MSSQLSERVER. Se conecta por nombre de host, puerto TCP 1433.</a:t>
            </a:r>
            <a:endParaRPr b="0" lang="es-ES" sz="1400" spc="-1" strike="noStrike">
              <a:latin typeface="Arial"/>
            </a:endParaRPr>
          </a:p>
        </p:txBody>
      </p:sp>
      <p:sp>
        <p:nvSpPr>
          <p:cNvPr id="415" name="CustomShape 9"/>
          <p:cNvSpPr/>
          <p:nvPr/>
        </p:nvSpPr>
        <p:spPr>
          <a:xfrm>
            <a:off x="6233040" y="1600200"/>
            <a:ext cx="540936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16"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17" name="Image 1" descr="preencoded.png"/>
          <p:cNvPicPr/>
          <p:nvPr/>
        </p:nvPicPr>
        <p:blipFill>
          <a:blip r:embed="rId2"/>
          <a:stretch/>
        </p:blipFill>
        <p:spPr>
          <a:xfrm>
            <a:off x="6598800" y="1965960"/>
            <a:ext cx="273600" cy="273600"/>
          </a:xfrm>
          <a:prstGeom prst="rect">
            <a:avLst/>
          </a:prstGeom>
          <a:ln>
            <a:noFill/>
          </a:ln>
        </p:spPr>
      </p:pic>
      <p:sp>
        <p:nvSpPr>
          <p:cNvPr id="418"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 nombre</a:t>
            </a:r>
            <a:endParaRPr b="0" lang="es-ES" sz="1700" spc="-1" strike="noStrike">
              <a:latin typeface="Arial"/>
            </a:endParaRPr>
          </a:p>
        </p:txBody>
      </p:sp>
      <p:sp>
        <p:nvSpPr>
          <p:cNvPr id="419" name="CustomShape 12"/>
          <p:cNvSpPr/>
          <p:nvPr/>
        </p:nvSpPr>
        <p:spPr>
          <a:xfrm>
            <a:off x="6461640" y="2560320"/>
            <a:ext cx="4952160" cy="10051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SERVIDOR\INSTANCIA. Puerto dinámico resuelto por SQL Server Browser (UDP 1434).</a:t>
            </a:r>
            <a:endParaRPr b="0" lang="es-ES" sz="1400" spc="-1" strike="noStrike">
              <a:latin typeface="Arial"/>
            </a:endParaRPr>
          </a:p>
        </p:txBody>
      </p:sp>
      <p:sp>
        <p:nvSpPr>
          <p:cNvPr id="420" name="CustomShape 13"/>
          <p:cNvSpPr/>
          <p:nvPr/>
        </p:nvSpPr>
        <p:spPr>
          <a:xfrm>
            <a:off x="548640" y="4069080"/>
            <a:ext cx="6582960" cy="2102400"/>
          </a:xfrm>
          <a:prstGeom prst="roundRect">
            <a:avLst>
              <a:gd name="adj" fmla="val 4348"/>
            </a:avLst>
          </a:prstGeom>
          <a:solidFill>
            <a:srgbClr val="eceff3"/>
          </a:solidFill>
          <a:ln w="9360">
            <a:solidFill>
              <a:srgbClr val="d0d7de"/>
            </a:solidFill>
            <a:round/>
          </a:ln>
        </p:spPr>
        <p:style>
          <a:lnRef idx="0"/>
          <a:fillRef idx="0"/>
          <a:effectRef idx="0"/>
          <a:fontRef idx="minor"/>
        </p:style>
      </p:sp>
      <p:sp>
        <p:nvSpPr>
          <p:cNvPr id="421" name="CustomShape 14"/>
          <p:cNvSpPr/>
          <p:nvPr/>
        </p:nvSpPr>
        <p:spPr>
          <a:xfrm>
            <a:off x="731520" y="41605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IDENTIFICAR LA INSTANCIA</a:t>
            </a:r>
            <a:endParaRPr b="0" lang="es-ES" sz="1000" spc="-1" strike="noStrike">
              <a:latin typeface="Arial"/>
            </a:endParaRPr>
          </a:p>
        </p:txBody>
      </p:sp>
      <p:sp>
        <p:nvSpPr>
          <p:cNvPr id="422" name="CustomShape 15"/>
          <p:cNvSpPr/>
          <p:nvPr/>
        </p:nvSpPr>
        <p:spPr>
          <a:xfrm>
            <a:off x="731520" y="4434840"/>
            <a:ext cx="6217200" cy="1645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@@SERVERNAME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servidor,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'InstanceName'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instancia,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'Edition'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edicion,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SERVERPROPERTY(</a:t>
            </a:r>
            <a:r>
              <a:rPr b="0" lang="en-US" sz="1200" spc="-1" strike="noStrike">
                <a:solidFill>
                  <a:srgbClr val="b4441f"/>
                </a:solidFill>
                <a:latin typeface="Consolas"/>
                <a:ea typeface="Consolas"/>
              </a:rPr>
              <a:t>'ProductVersion'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version;</a:t>
            </a:r>
            <a:endParaRPr b="0" lang="es-ES" sz="1200" spc="-1" strike="noStrike">
              <a:latin typeface="Arial"/>
            </a:endParaRPr>
          </a:p>
        </p:txBody>
      </p:sp>
      <p:sp>
        <p:nvSpPr>
          <p:cNvPr id="423" name="CustomShape 16"/>
          <p:cNvSpPr/>
          <p:nvPr/>
        </p:nvSpPr>
        <p:spPr>
          <a:xfrm>
            <a:off x="7406640" y="4069080"/>
            <a:ext cx="4232880" cy="2102400"/>
          </a:xfrm>
          <a:prstGeom prst="roundRect">
            <a:avLst>
              <a:gd name="adj" fmla="val 5217"/>
            </a:avLst>
          </a:prstGeom>
          <a:solidFill>
            <a:srgbClr val="e8eef5"/>
          </a:solidFill>
          <a:ln>
            <a:noFill/>
          </a:ln>
        </p:spPr>
        <p:style>
          <a:lnRef idx="0"/>
          <a:fillRef idx="0"/>
          <a:effectRef idx="0"/>
          <a:fontRef idx="minor"/>
        </p:style>
      </p:sp>
      <p:sp>
        <p:nvSpPr>
          <p:cNvPr id="424" name="CustomShape 17"/>
          <p:cNvSpPr/>
          <p:nvPr/>
        </p:nvSpPr>
        <p:spPr>
          <a:xfrm>
            <a:off x="7589520" y="4892040"/>
            <a:ext cx="456480" cy="456480"/>
          </a:xfrm>
          <a:prstGeom prst="ellipse">
            <a:avLst/>
          </a:prstGeom>
          <a:solidFill>
            <a:srgbClr val="134074"/>
          </a:solidFill>
          <a:ln>
            <a:noFill/>
          </a:ln>
        </p:spPr>
        <p:style>
          <a:lnRef idx="0"/>
          <a:fillRef idx="0"/>
          <a:effectRef idx="0"/>
          <a:fontRef idx="minor"/>
        </p:style>
      </p:sp>
      <p:pic>
        <p:nvPicPr>
          <p:cNvPr id="425" name="Image 2" descr="preencoded.png"/>
          <p:cNvPicPr/>
          <p:nvPr/>
        </p:nvPicPr>
        <p:blipFill>
          <a:blip r:embed="rId3"/>
          <a:stretch/>
        </p:blipFill>
        <p:spPr>
          <a:xfrm>
            <a:off x="7704000" y="5006520"/>
            <a:ext cx="227880" cy="227880"/>
          </a:xfrm>
          <a:prstGeom prst="rect">
            <a:avLst/>
          </a:prstGeom>
          <a:ln>
            <a:noFill/>
          </a:ln>
        </p:spPr>
      </p:pic>
      <p:sp>
        <p:nvSpPr>
          <p:cNvPr id="426" name="CustomShape 18"/>
          <p:cNvSpPr/>
          <p:nvPr/>
        </p:nvSpPr>
        <p:spPr>
          <a:xfrm>
            <a:off x="8229600" y="4069080"/>
            <a:ext cx="322704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producción: </a:t>
            </a:r>
            <a:r>
              <a:rPr b="0" lang="en-US" sz="1400" spc="-1" strike="noStrike">
                <a:solidFill>
                  <a:srgbClr val="1f2933"/>
                </a:solidFill>
                <a:latin typeface="Calibri"/>
                <a:ea typeface="Calibri"/>
              </a:rPr>
              <a:t>fija puertos estáticos, usa cuentas de servicio dedicadas (gMSA) y configura max server memory en cada instancia.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2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INSTANCIAS</a:t>
            </a:r>
            <a:endParaRPr b="0" lang="es-ES" sz="1000" spc="-1" strike="noStrike">
              <a:latin typeface="Arial"/>
            </a:endParaRPr>
          </a:p>
        </p:txBody>
      </p:sp>
      <p:sp>
        <p:nvSpPr>
          <p:cNvPr id="4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Bases de datos del sistema</a:t>
            </a:r>
            <a:endParaRPr b="0" lang="es-ES" sz="3400" spc="-1" strike="noStrike">
              <a:latin typeface="Arial"/>
            </a:endParaRPr>
          </a:p>
        </p:txBody>
      </p:sp>
      <p:sp>
        <p:nvSpPr>
          <p:cNvPr id="4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14</a:t>
            </a:r>
            <a:endParaRPr b="0" lang="es-ES" sz="1000" spc="-1" strike="noStrike">
              <a:latin typeface="Arial"/>
            </a:endParaRPr>
          </a:p>
        </p:txBody>
      </p:sp>
      <p:sp>
        <p:nvSpPr>
          <p:cNvPr id="431"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33" name="Image 0" descr="preencoded.png"/>
          <p:cNvPicPr/>
          <p:nvPr/>
        </p:nvPicPr>
        <p:blipFill>
          <a:blip r:embed="rId1"/>
          <a:stretch/>
        </p:blipFill>
        <p:spPr>
          <a:xfrm>
            <a:off x="914400" y="1965960"/>
            <a:ext cx="273600" cy="273600"/>
          </a:xfrm>
          <a:prstGeom prst="rect">
            <a:avLst/>
          </a:prstGeom>
          <a:ln>
            <a:noFill/>
          </a:ln>
        </p:spPr>
      </p:pic>
      <p:sp>
        <p:nvSpPr>
          <p:cNvPr id="434"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master</a:t>
            </a:r>
            <a:endParaRPr b="0" lang="es-ES" sz="1700" spc="-1" strike="noStrike">
              <a:latin typeface="Arial"/>
            </a:endParaRPr>
          </a:p>
        </p:txBody>
      </p:sp>
      <p:sp>
        <p:nvSpPr>
          <p:cNvPr id="435"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Catálogo de la instancia: logins, configuración, ubicación de las BD. Sin ella no arranca.</a:t>
            </a:r>
            <a:endParaRPr b="0" lang="es-ES" sz="1400" spc="-1" strike="noStrike">
              <a:latin typeface="Arial"/>
            </a:endParaRPr>
          </a:p>
        </p:txBody>
      </p:sp>
      <p:sp>
        <p:nvSpPr>
          <p:cNvPr id="436"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37"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438" name="Image 1" descr="preencoded.png"/>
          <p:cNvPicPr/>
          <p:nvPr/>
        </p:nvPicPr>
        <p:blipFill>
          <a:blip r:embed="rId2"/>
          <a:stretch/>
        </p:blipFill>
        <p:spPr>
          <a:xfrm>
            <a:off x="4704120" y="1965960"/>
            <a:ext cx="273600" cy="273600"/>
          </a:xfrm>
          <a:prstGeom prst="rect">
            <a:avLst/>
          </a:prstGeom>
          <a:ln>
            <a:noFill/>
          </a:ln>
        </p:spPr>
      </p:pic>
      <p:sp>
        <p:nvSpPr>
          <p:cNvPr id="439"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model</a:t>
            </a:r>
            <a:endParaRPr b="0" lang="es-ES" sz="1700" spc="-1" strike="noStrike">
              <a:latin typeface="Arial"/>
            </a:endParaRPr>
          </a:p>
        </p:txBody>
      </p:sp>
      <p:sp>
        <p:nvSpPr>
          <p:cNvPr id="440"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Plantilla de las nuevas BD y de tempdb en cada arranque.</a:t>
            </a:r>
            <a:endParaRPr b="0" lang="es-ES" sz="1400" spc="-1" strike="noStrike">
              <a:latin typeface="Arial"/>
            </a:endParaRPr>
          </a:p>
        </p:txBody>
      </p:sp>
      <p:sp>
        <p:nvSpPr>
          <p:cNvPr id="441"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2"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443" name="Image 2" descr="preencoded.png"/>
          <p:cNvPicPr/>
          <p:nvPr/>
        </p:nvPicPr>
        <p:blipFill>
          <a:blip r:embed="rId3"/>
          <a:stretch/>
        </p:blipFill>
        <p:spPr>
          <a:xfrm>
            <a:off x="8493480" y="1965960"/>
            <a:ext cx="273600" cy="273600"/>
          </a:xfrm>
          <a:prstGeom prst="rect">
            <a:avLst/>
          </a:prstGeom>
          <a:ln>
            <a:noFill/>
          </a:ln>
        </p:spPr>
      </p:pic>
      <p:sp>
        <p:nvSpPr>
          <p:cNvPr id="444"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msdb</a:t>
            </a:r>
            <a:endParaRPr b="0" lang="es-ES" sz="1700" spc="-1" strike="noStrike">
              <a:latin typeface="Arial"/>
            </a:endParaRPr>
          </a:p>
        </p:txBody>
      </p:sp>
      <p:sp>
        <p:nvSpPr>
          <p:cNvPr id="445"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Agent: jobs y alertas; historial de backups; Database Mail.</a:t>
            </a:r>
            <a:endParaRPr b="0" lang="es-ES" sz="1400" spc="-1" strike="noStrike">
              <a:latin typeface="Arial"/>
            </a:endParaRPr>
          </a:p>
        </p:txBody>
      </p:sp>
      <p:sp>
        <p:nvSpPr>
          <p:cNvPr id="446"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47"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448" name="Image 3" descr="preencoded.png"/>
          <p:cNvPicPr/>
          <p:nvPr/>
        </p:nvPicPr>
        <p:blipFill>
          <a:blip r:embed="rId4"/>
          <a:stretch/>
        </p:blipFill>
        <p:spPr>
          <a:xfrm>
            <a:off x="914400" y="4389120"/>
            <a:ext cx="273600" cy="273600"/>
          </a:xfrm>
          <a:prstGeom prst="rect">
            <a:avLst/>
          </a:prstGeom>
          <a:ln>
            <a:noFill/>
          </a:ln>
        </p:spPr>
      </p:pic>
      <p:sp>
        <p:nvSpPr>
          <p:cNvPr id="449"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tempdb</a:t>
            </a:r>
            <a:endParaRPr b="0" lang="es-ES" sz="1700" spc="-1" strike="noStrike">
              <a:latin typeface="Arial"/>
            </a:endParaRPr>
          </a:p>
        </p:txBody>
      </p:sp>
      <p:sp>
        <p:nvSpPr>
          <p:cNvPr id="450"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Objetos temporales, spills y version store. Se recrea al arrancar. Sin backup.</a:t>
            </a:r>
            <a:endParaRPr b="0" lang="es-ES" sz="1400" spc="-1" strike="noStrike">
              <a:latin typeface="Arial"/>
            </a:endParaRPr>
          </a:p>
        </p:txBody>
      </p:sp>
      <p:sp>
        <p:nvSpPr>
          <p:cNvPr id="451"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52"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453" name="Image 4" descr="preencoded.png"/>
          <p:cNvPicPr/>
          <p:nvPr/>
        </p:nvPicPr>
        <p:blipFill>
          <a:blip r:embed="rId5"/>
          <a:stretch/>
        </p:blipFill>
        <p:spPr>
          <a:xfrm>
            <a:off x="4704120" y="4389120"/>
            <a:ext cx="273600" cy="273600"/>
          </a:xfrm>
          <a:prstGeom prst="rect">
            <a:avLst/>
          </a:prstGeom>
          <a:ln>
            <a:noFill/>
          </a:ln>
        </p:spPr>
      </p:pic>
      <p:sp>
        <p:nvSpPr>
          <p:cNvPr id="454"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mssqlsystemresource</a:t>
            </a:r>
            <a:endParaRPr b="0" lang="es-ES" sz="1700" spc="-1" strike="noStrike">
              <a:latin typeface="Arial"/>
            </a:endParaRPr>
          </a:p>
        </p:txBody>
      </p:sp>
      <p:sp>
        <p:nvSpPr>
          <p:cNvPr id="455"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Sólo lectura y oculta. Contiene los objetos del sistema (sys.*).</a:t>
            </a:r>
            <a:endParaRPr b="0" lang="es-ES" sz="1400" spc="-1" strike="noStrike">
              <a:latin typeface="Arial"/>
            </a:endParaRPr>
          </a:p>
        </p:txBody>
      </p:sp>
      <p:sp>
        <p:nvSpPr>
          <p:cNvPr id="456" name="CustomShape 25"/>
          <p:cNvSpPr/>
          <p:nvPr/>
        </p:nvSpPr>
        <p:spPr>
          <a:xfrm>
            <a:off x="8127720" y="4023360"/>
            <a:ext cx="3514680" cy="2148120"/>
          </a:xfrm>
          <a:prstGeom prst="roundRect">
            <a:avLst>
              <a:gd name="adj" fmla="val 5106"/>
            </a:avLst>
          </a:prstGeom>
          <a:solidFill>
            <a:srgbClr val="134074"/>
          </a:solidFill>
          <a:ln>
            <a:noFill/>
          </a:ln>
        </p:spPr>
        <p:style>
          <a:lnRef idx="0"/>
          <a:fillRef idx="0"/>
          <a:effectRef idx="0"/>
          <a:fontRef idx="minor"/>
        </p:style>
      </p:sp>
      <p:sp>
        <p:nvSpPr>
          <p:cNvPr id="457" name="CustomShape 26"/>
          <p:cNvSpPr/>
          <p:nvPr/>
        </p:nvSpPr>
        <p:spPr>
          <a:xfrm>
            <a:off x="8356320" y="4251960"/>
            <a:ext cx="547920" cy="547920"/>
          </a:xfrm>
          <a:prstGeom prst="ellipse">
            <a:avLst/>
          </a:prstGeom>
          <a:solidFill>
            <a:srgbClr val="d95d39"/>
          </a:solidFill>
          <a:ln>
            <a:noFill/>
          </a:ln>
        </p:spPr>
        <p:style>
          <a:lnRef idx="0"/>
          <a:fillRef idx="0"/>
          <a:effectRef idx="0"/>
          <a:fontRef idx="minor"/>
        </p:style>
      </p:sp>
      <p:pic>
        <p:nvPicPr>
          <p:cNvPr id="458" name="Image 5" descr="preencoded.png"/>
          <p:cNvPicPr/>
          <p:nvPr/>
        </p:nvPicPr>
        <p:blipFill>
          <a:blip r:embed="rId6"/>
          <a:stretch/>
        </p:blipFill>
        <p:spPr>
          <a:xfrm>
            <a:off x="8493480" y="4389120"/>
            <a:ext cx="273600" cy="273600"/>
          </a:xfrm>
          <a:prstGeom prst="rect">
            <a:avLst/>
          </a:prstGeom>
          <a:ln>
            <a:noFill/>
          </a:ln>
        </p:spPr>
      </p:pic>
      <p:sp>
        <p:nvSpPr>
          <p:cNvPr id="459"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Backup obligatorio</a:t>
            </a:r>
            <a:endParaRPr b="0" lang="es-ES" sz="1700" spc="-1" strike="noStrike">
              <a:latin typeface="Arial"/>
            </a:endParaRPr>
          </a:p>
        </p:txBody>
      </p:sp>
      <p:sp>
        <p:nvSpPr>
          <p:cNvPr id="460"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master, model y msdb. tempdb y Resource no se respaldan.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61"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Ediciones de SQL Server 2025</a:t>
            </a:r>
            <a:endParaRPr b="0" lang="es-ES" sz="3400" spc="-1" strike="noStrike">
              <a:latin typeface="Arial"/>
            </a:endParaRPr>
          </a:p>
        </p:txBody>
      </p:sp>
      <p:sp>
        <p:nvSpPr>
          <p:cNvPr id="4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15</a:t>
            </a:r>
            <a:endParaRPr b="0" lang="es-ES" sz="1000" spc="-1" strike="noStrike">
              <a:latin typeface="Arial"/>
            </a:endParaRPr>
          </a:p>
        </p:txBody>
      </p:sp>
      <p:graphicFrame>
        <p:nvGraphicFramePr>
          <p:cNvPr id="465" name="Table 5"/>
          <p:cNvGraphicFramePr/>
          <p:nvPr/>
        </p:nvGraphicFramePr>
        <p:xfrm>
          <a:off x="548640" y="1600200"/>
          <a:ext cx="11093760" cy="2407320"/>
        </p:xfrm>
        <a:graphic>
          <a:graphicData uri="http://schemas.openxmlformats.org/drawingml/2006/table">
            <a:tbl>
              <a:tblPr/>
              <a:tblGrid>
                <a:gridCol w="1375200"/>
                <a:gridCol w="2567160"/>
                <a:gridCol w="2017080"/>
                <a:gridCol w="2017080"/>
                <a:gridCol w="3117600"/>
              </a:tblGrid>
              <a:tr h="609480">
                <a:tc>
                  <a:txBody>
                    <a:bodyPr lIns="109440" rIns="109440">
                      <a:noAutofit/>
                    </a:bodyPr>
                    <a:p>
                      <a:pPr>
                        <a:lnSpc>
                          <a:spcPct val="100000"/>
                        </a:lnSpc>
                        <a:tabLst>
                          <a:tab algn="l" pos="0"/>
                        </a:tabLst>
                      </a:pPr>
                      <a:r>
                        <a:rPr b="1" lang="en-US" sz="1400" spc="-1" strike="noStrike">
                          <a:solidFill>
                            <a:srgbClr val="ffffff"/>
                          </a:solidFill>
                          <a:latin typeface="Calibri"/>
                          <a:ea typeface="Calibri"/>
                        </a:rPr>
                        <a:t>Edición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Uso típico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Cómputo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Memoria (Buffer Pool)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Claves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Express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pequeñas, aprendizaje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 socket o 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1,4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Gratuita · 10 GB/BD · sin Agent</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Standard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Cargas departamentales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4 sockets o 24 cores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128 GB</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Basic AG · backup comprimido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Misión crítica y alta carga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Máximo del SO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AG completos · online · particionado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Developer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Desarrollo y laboratorio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Como Enterprise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Gratis · prohibido en producción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466" name="CustomShape 6"/>
          <p:cNvSpPr/>
          <p:nvPr/>
        </p:nvSpPr>
        <p:spPr>
          <a:xfrm>
            <a:off x="548640" y="5029200"/>
            <a:ext cx="11093760" cy="1096560"/>
          </a:xfrm>
          <a:prstGeom prst="roundRect">
            <a:avLst>
              <a:gd name="adj" fmla="val 10000"/>
            </a:avLst>
          </a:prstGeom>
          <a:solidFill>
            <a:srgbClr val="e8eef5"/>
          </a:solidFill>
          <a:ln>
            <a:noFill/>
          </a:ln>
        </p:spPr>
        <p:style>
          <a:lnRef idx="0"/>
          <a:fillRef idx="0"/>
          <a:effectRef idx="0"/>
          <a:fontRef idx="minor"/>
        </p:style>
      </p:sp>
      <p:sp>
        <p:nvSpPr>
          <p:cNvPr id="467" name="CustomShape 7"/>
          <p:cNvSpPr/>
          <p:nvPr/>
        </p:nvSpPr>
        <p:spPr>
          <a:xfrm>
            <a:off x="731520" y="5349240"/>
            <a:ext cx="456480" cy="456480"/>
          </a:xfrm>
          <a:prstGeom prst="ellipse">
            <a:avLst/>
          </a:prstGeom>
          <a:solidFill>
            <a:srgbClr val="134074"/>
          </a:solidFill>
          <a:ln>
            <a:noFill/>
          </a:ln>
        </p:spPr>
        <p:style>
          <a:lnRef idx="0"/>
          <a:fillRef idx="0"/>
          <a:effectRef idx="0"/>
          <a:fontRef idx="minor"/>
        </p:style>
      </p:sp>
      <p:pic>
        <p:nvPicPr>
          <p:cNvPr id="468" name="Image 0" descr="preencoded.png"/>
          <p:cNvPicPr/>
          <p:nvPr/>
        </p:nvPicPr>
        <p:blipFill>
          <a:blip r:embed="rId1"/>
          <a:stretch/>
        </p:blipFill>
        <p:spPr>
          <a:xfrm>
            <a:off x="846000" y="5463720"/>
            <a:ext cx="227880" cy="227880"/>
          </a:xfrm>
          <a:prstGeom prst="rect">
            <a:avLst/>
          </a:prstGeom>
          <a:ln>
            <a:noFill/>
          </a:ln>
        </p:spPr>
      </p:pic>
      <p:sp>
        <p:nvSpPr>
          <p:cNvPr id="469" name="CustomShape 8"/>
          <p:cNvSpPr/>
          <p:nvPr/>
        </p:nvSpPr>
        <p:spPr>
          <a:xfrm>
            <a:off x="1371600" y="5029200"/>
            <a:ext cx="1008792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Regla práctica: </a:t>
            </a:r>
            <a:r>
              <a:rPr b="0" lang="en-US" sz="1400" spc="-1" strike="noStrike">
                <a:solidFill>
                  <a:srgbClr val="1f2933"/>
                </a:solidFill>
                <a:latin typeface="Calibri"/>
                <a:ea typeface="Calibri"/>
              </a:rPr>
              <a:t>empieza por Standard y justifica Enterprise con una función concreta. Developer para pruebas, nunca para producción.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7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LICENCIAMIENTO</a:t>
            </a:r>
            <a:endParaRPr b="0" lang="es-ES" sz="1000" spc="-1" strike="noStrike">
              <a:latin typeface="Arial"/>
            </a:endParaRPr>
          </a:p>
        </p:txBody>
      </p:sp>
      <p:sp>
        <p:nvSpPr>
          <p:cNvPr id="47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licencia: Core vs Server + CAL</a:t>
            </a:r>
            <a:endParaRPr b="0" lang="es-ES" sz="3400" spc="-1" strike="noStrike">
              <a:latin typeface="Arial"/>
            </a:endParaRPr>
          </a:p>
        </p:txBody>
      </p:sp>
      <p:sp>
        <p:nvSpPr>
          <p:cNvPr id="47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7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16</a:t>
            </a:r>
            <a:endParaRPr b="0" lang="es-ES" sz="1000" spc="-1" strike="noStrike">
              <a:latin typeface="Arial"/>
            </a:endParaRPr>
          </a:p>
        </p:txBody>
      </p:sp>
      <p:sp>
        <p:nvSpPr>
          <p:cNvPr id="474" name="CustomShape 5"/>
          <p:cNvSpPr/>
          <p:nvPr/>
        </p:nvSpPr>
        <p:spPr>
          <a:xfrm>
            <a:off x="548640" y="1600200"/>
            <a:ext cx="5409360" cy="2651040"/>
          </a:xfrm>
          <a:prstGeom prst="roundRect">
            <a:avLst>
              <a:gd name="adj" fmla="val 41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7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76" name="Image 0" descr="preencoded.png"/>
          <p:cNvPicPr/>
          <p:nvPr/>
        </p:nvPicPr>
        <p:blipFill>
          <a:blip r:embed="rId1"/>
          <a:stretch/>
        </p:blipFill>
        <p:spPr>
          <a:xfrm>
            <a:off x="914400" y="1965960"/>
            <a:ext cx="273600" cy="273600"/>
          </a:xfrm>
          <a:prstGeom prst="rect">
            <a:avLst/>
          </a:prstGeom>
          <a:ln>
            <a:noFill/>
          </a:ln>
        </p:spPr>
      </p:pic>
      <p:sp>
        <p:nvSpPr>
          <p:cNvPr id="477"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Per Core (por núcleo)</a:t>
            </a:r>
            <a:endParaRPr b="0" lang="es-ES" sz="1700" spc="-1" strike="noStrike">
              <a:latin typeface="Arial"/>
            </a:endParaRPr>
          </a:p>
        </p:txBody>
      </p:sp>
      <p:sp>
        <p:nvSpPr>
          <p:cNvPr id="478" name="CustomShape 8"/>
          <p:cNvSpPr/>
          <p:nvPr/>
        </p:nvSpPr>
        <p:spPr>
          <a:xfrm>
            <a:off x="7772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Standard y Enterprise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Usuarios y dispositivos ilimitados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Mínimo 4 núcleos por procesador y VM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Paquetes de 2 núcleos</a:t>
            </a:r>
            <a:endParaRPr b="0" lang="es-ES" sz="1400" spc="-1" strike="noStrike">
              <a:latin typeface="Arial"/>
            </a:endParaRPr>
          </a:p>
        </p:txBody>
      </p:sp>
      <p:sp>
        <p:nvSpPr>
          <p:cNvPr id="479" name="CustomShape 9"/>
          <p:cNvSpPr/>
          <p:nvPr/>
        </p:nvSpPr>
        <p:spPr>
          <a:xfrm>
            <a:off x="6233040" y="1600200"/>
            <a:ext cx="5409360" cy="2651040"/>
          </a:xfrm>
          <a:prstGeom prst="roundRect">
            <a:avLst>
              <a:gd name="adj" fmla="val 4138"/>
            </a:avLst>
          </a:prstGeom>
          <a:solidFill>
            <a:srgbClr val="e8eef5"/>
          </a:solidFill>
          <a:ln>
            <a:noFill/>
          </a:ln>
        </p:spPr>
        <p:style>
          <a:lnRef idx="0"/>
          <a:fillRef idx="0"/>
          <a:effectRef idx="0"/>
          <a:fontRef idx="minor"/>
        </p:style>
      </p:sp>
      <p:sp>
        <p:nvSpPr>
          <p:cNvPr id="480"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481" name="Image 1" descr="preencoded.png"/>
          <p:cNvPicPr/>
          <p:nvPr/>
        </p:nvPicPr>
        <p:blipFill>
          <a:blip r:embed="rId2"/>
          <a:stretch/>
        </p:blipFill>
        <p:spPr>
          <a:xfrm>
            <a:off x="6598800" y="1965960"/>
            <a:ext cx="273600" cy="273600"/>
          </a:xfrm>
          <a:prstGeom prst="rect">
            <a:avLst/>
          </a:prstGeom>
          <a:ln>
            <a:noFill/>
          </a:ln>
        </p:spPr>
      </p:pic>
      <p:sp>
        <p:nvSpPr>
          <p:cNvPr id="482"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Server + CAL</a:t>
            </a:r>
            <a:endParaRPr b="0" lang="es-ES" sz="1700" spc="-1" strike="noStrike">
              <a:latin typeface="Arial"/>
            </a:endParaRPr>
          </a:p>
        </p:txBody>
      </p:sp>
      <p:sp>
        <p:nvSpPr>
          <p:cNvPr id="483" name="CustomShape 12"/>
          <p:cNvSpPr/>
          <p:nvPr/>
        </p:nvSpPr>
        <p:spPr>
          <a:xfrm>
            <a:off x="6461640" y="2560320"/>
            <a:ext cx="4952160" cy="1462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Sólo Standard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Licencia de servidor + CAL por usuario o dispositivo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Conviene con pocos usuarios identificados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válido para acceso masivo desde internet</a:t>
            </a:r>
            <a:endParaRPr b="0" lang="es-ES" sz="1400" spc="-1" strike="noStrike">
              <a:latin typeface="Arial"/>
            </a:endParaRPr>
          </a:p>
        </p:txBody>
      </p:sp>
      <p:sp>
        <p:nvSpPr>
          <p:cNvPr id="484" name="CustomShape 13"/>
          <p:cNvSpPr/>
          <p:nvPr/>
        </p:nvSpPr>
        <p:spPr>
          <a:xfrm>
            <a:off x="54864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5" name="CustomShape 14"/>
          <p:cNvSpPr/>
          <p:nvPr/>
        </p:nvSpPr>
        <p:spPr>
          <a:xfrm>
            <a:off x="73152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4</a:t>
            </a:r>
            <a:endParaRPr b="0" lang="es-ES" sz="4000" spc="-1" strike="noStrike">
              <a:latin typeface="Arial"/>
            </a:endParaRPr>
          </a:p>
        </p:txBody>
      </p:sp>
      <p:sp>
        <p:nvSpPr>
          <p:cNvPr id="486" name="CustomShape 15"/>
          <p:cNvSpPr/>
          <p:nvPr/>
        </p:nvSpPr>
        <p:spPr>
          <a:xfrm>
            <a:off x="73152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mínimos por procesador</a:t>
            </a:r>
            <a:endParaRPr b="0" lang="es-ES" sz="1300" spc="-1" strike="noStrike">
              <a:latin typeface="Arial"/>
            </a:endParaRPr>
          </a:p>
        </p:txBody>
      </p:sp>
      <p:sp>
        <p:nvSpPr>
          <p:cNvPr id="487" name="CustomShape 16"/>
          <p:cNvSpPr/>
          <p:nvPr/>
        </p:nvSpPr>
        <p:spPr>
          <a:xfrm>
            <a:off x="4338360" y="4526280"/>
            <a:ext cx="3514680" cy="1645200"/>
          </a:xfrm>
          <a:prstGeom prst="roundRect">
            <a:avLst>
              <a:gd name="adj" fmla="val 6667"/>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88" name="CustomShape 17"/>
          <p:cNvSpPr/>
          <p:nvPr/>
        </p:nvSpPr>
        <p:spPr>
          <a:xfrm>
            <a:off x="452124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2</a:t>
            </a:r>
            <a:endParaRPr b="0" lang="es-ES" sz="4000" spc="-1" strike="noStrike">
              <a:latin typeface="Arial"/>
            </a:endParaRPr>
          </a:p>
        </p:txBody>
      </p:sp>
      <p:sp>
        <p:nvSpPr>
          <p:cNvPr id="489" name="CustomShape 18"/>
          <p:cNvSpPr/>
          <p:nvPr/>
        </p:nvSpPr>
        <p:spPr>
          <a:xfrm>
            <a:off x="452124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núcleos por paquete de licencia</a:t>
            </a:r>
            <a:endParaRPr b="0" lang="es-ES" sz="1300" spc="-1" strike="noStrike">
              <a:latin typeface="Arial"/>
            </a:endParaRPr>
          </a:p>
        </p:txBody>
      </p:sp>
      <p:sp>
        <p:nvSpPr>
          <p:cNvPr id="490" name="CustomShape 19"/>
          <p:cNvSpPr/>
          <p:nvPr/>
        </p:nvSpPr>
        <p:spPr>
          <a:xfrm>
            <a:off x="8127720" y="4526280"/>
            <a:ext cx="3514680" cy="1645200"/>
          </a:xfrm>
          <a:prstGeom prst="roundRect">
            <a:avLst>
              <a:gd name="adj" fmla="val 6667"/>
            </a:avLst>
          </a:prstGeom>
          <a:solidFill>
            <a:srgbClr val="0b2545"/>
          </a:solidFill>
          <a:ln>
            <a:noFill/>
          </a:ln>
        </p:spPr>
        <p:style>
          <a:lnRef idx="0"/>
          <a:fillRef idx="0"/>
          <a:effectRef idx="0"/>
          <a:fontRef idx="minor"/>
        </p:style>
      </p:sp>
      <p:sp>
        <p:nvSpPr>
          <p:cNvPr id="491" name="CustomShape 20"/>
          <p:cNvSpPr/>
          <p:nvPr/>
        </p:nvSpPr>
        <p:spPr>
          <a:xfrm>
            <a:off x="8310600" y="4663440"/>
            <a:ext cx="3148920" cy="8222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ffffff"/>
                </a:solidFill>
                <a:latin typeface="Calibri"/>
                <a:ea typeface="Calibri"/>
              </a:rPr>
              <a:t>SA</a:t>
            </a:r>
            <a:endParaRPr b="0" lang="es-ES" sz="4000" spc="-1" strike="noStrike">
              <a:latin typeface="Arial"/>
            </a:endParaRPr>
          </a:p>
        </p:txBody>
      </p:sp>
      <p:sp>
        <p:nvSpPr>
          <p:cNvPr id="492" name="CustomShape 21"/>
          <p:cNvSpPr/>
          <p:nvPr/>
        </p:nvSpPr>
        <p:spPr>
          <a:xfrm>
            <a:off x="8310600" y="5431680"/>
            <a:ext cx="3148920" cy="6577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Software Assurance: derechos de failover</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49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49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Herramientas de administración</a:t>
            </a:r>
            <a:endParaRPr b="0" lang="es-ES" sz="3400" spc="-1" strike="noStrike">
              <a:latin typeface="Arial"/>
            </a:endParaRPr>
          </a:p>
        </p:txBody>
      </p:sp>
      <p:sp>
        <p:nvSpPr>
          <p:cNvPr id="49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49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17</a:t>
            </a:r>
            <a:endParaRPr b="0" lang="es-ES" sz="1000" spc="-1" strike="noStrike">
              <a:latin typeface="Arial"/>
            </a:endParaRPr>
          </a:p>
        </p:txBody>
      </p:sp>
      <p:sp>
        <p:nvSpPr>
          <p:cNvPr id="497" name="CustomShape 5"/>
          <p:cNvSpPr/>
          <p:nvPr/>
        </p:nvSpPr>
        <p:spPr>
          <a:xfrm>
            <a:off x="5486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49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499" name="Image 0" descr="preencoded.png"/>
          <p:cNvPicPr/>
          <p:nvPr/>
        </p:nvPicPr>
        <p:blipFill>
          <a:blip r:embed="rId1"/>
          <a:stretch/>
        </p:blipFill>
        <p:spPr>
          <a:xfrm>
            <a:off x="914400" y="1965960"/>
            <a:ext cx="273600" cy="273600"/>
          </a:xfrm>
          <a:prstGeom prst="rect">
            <a:avLst/>
          </a:prstGeom>
          <a:ln>
            <a:noFill/>
          </a:ln>
        </p:spPr>
      </p:pic>
      <p:sp>
        <p:nvSpPr>
          <p:cNvPr id="500" name="CustomShape 7"/>
          <p:cNvSpPr/>
          <p:nvPr/>
        </p:nvSpPr>
        <p:spPr>
          <a:xfrm>
            <a:off x="14630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SSMS</a:t>
            </a:r>
            <a:endParaRPr b="0" lang="es-ES" sz="1700" spc="-1" strike="noStrike">
              <a:latin typeface="Arial"/>
            </a:endParaRPr>
          </a:p>
        </p:txBody>
      </p:sp>
      <p:sp>
        <p:nvSpPr>
          <p:cNvPr id="501" name="CustomShape 8"/>
          <p:cNvSpPr/>
          <p:nvPr/>
        </p:nvSpPr>
        <p:spPr>
          <a:xfrm>
            <a:off x="7772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Referencia en Windows: objetos, planes gráficos, Agent, asistentes de backup/restore.</a:t>
            </a:r>
            <a:endParaRPr b="0" lang="es-ES" sz="1400" spc="-1" strike="noStrike">
              <a:latin typeface="Arial"/>
            </a:endParaRPr>
          </a:p>
        </p:txBody>
      </p:sp>
      <p:sp>
        <p:nvSpPr>
          <p:cNvPr id="502" name="CustomShape 9"/>
          <p:cNvSpPr/>
          <p:nvPr/>
        </p:nvSpPr>
        <p:spPr>
          <a:xfrm>
            <a:off x="6233040" y="160020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3" name="CustomShape 10"/>
          <p:cNvSpPr/>
          <p:nvPr/>
        </p:nvSpPr>
        <p:spPr>
          <a:xfrm>
            <a:off x="6461640" y="1828800"/>
            <a:ext cx="547920" cy="547920"/>
          </a:xfrm>
          <a:prstGeom prst="ellipse">
            <a:avLst/>
          </a:prstGeom>
          <a:solidFill>
            <a:srgbClr val="134074"/>
          </a:solidFill>
          <a:ln>
            <a:noFill/>
          </a:ln>
        </p:spPr>
        <p:style>
          <a:lnRef idx="0"/>
          <a:fillRef idx="0"/>
          <a:effectRef idx="0"/>
          <a:fontRef idx="minor"/>
        </p:style>
      </p:sp>
      <p:pic>
        <p:nvPicPr>
          <p:cNvPr id="504" name="Image 1" descr="preencoded.png"/>
          <p:cNvPicPr/>
          <p:nvPr/>
        </p:nvPicPr>
        <p:blipFill>
          <a:blip r:embed="rId2"/>
          <a:stretch/>
        </p:blipFill>
        <p:spPr>
          <a:xfrm>
            <a:off x="6598800" y="1965960"/>
            <a:ext cx="273600" cy="273600"/>
          </a:xfrm>
          <a:prstGeom prst="rect">
            <a:avLst/>
          </a:prstGeom>
          <a:ln>
            <a:noFill/>
          </a:ln>
        </p:spPr>
      </p:pic>
      <p:sp>
        <p:nvSpPr>
          <p:cNvPr id="505" name="CustomShape 11"/>
          <p:cNvSpPr/>
          <p:nvPr/>
        </p:nvSpPr>
        <p:spPr>
          <a:xfrm>
            <a:off x="7147440" y="182880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VS Code + extensión MSSQL</a:t>
            </a:r>
            <a:endParaRPr b="0" lang="es-ES" sz="1700" spc="-1" strike="noStrike">
              <a:latin typeface="Arial"/>
            </a:endParaRPr>
          </a:p>
        </p:txBody>
      </p:sp>
      <p:sp>
        <p:nvSpPr>
          <p:cNvPr id="506" name="CustomShape 12"/>
          <p:cNvSpPr/>
          <p:nvPr/>
        </p:nvSpPr>
        <p:spPr>
          <a:xfrm>
            <a:off x="6461640" y="256032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Multiplataforma, notebooks y Git. Sustituye a Azure Data Studio.</a:t>
            </a:r>
            <a:endParaRPr b="0" lang="es-ES" sz="1400" spc="-1" strike="noStrike">
              <a:latin typeface="Arial"/>
            </a:endParaRPr>
          </a:p>
        </p:txBody>
      </p:sp>
      <p:sp>
        <p:nvSpPr>
          <p:cNvPr id="507" name="CustomShape 13"/>
          <p:cNvSpPr/>
          <p:nvPr/>
        </p:nvSpPr>
        <p:spPr>
          <a:xfrm>
            <a:off x="5486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08"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509" name="Image 2" descr="preencoded.png"/>
          <p:cNvPicPr/>
          <p:nvPr/>
        </p:nvPicPr>
        <p:blipFill>
          <a:blip r:embed="rId3"/>
          <a:stretch/>
        </p:blipFill>
        <p:spPr>
          <a:xfrm>
            <a:off x="914400" y="4389120"/>
            <a:ext cx="273600" cy="273600"/>
          </a:xfrm>
          <a:prstGeom prst="rect">
            <a:avLst/>
          </a:prstGeom>
          <a:ln>
            <a:noFill/>
          </a:ln>
        </p:spPr>
      </p:pic>
      <p:sp>
        <p:nvSpPr>
          <p:cNvPr id="510" name="CustomShape 15"/>
          <p:cNvSpPr/>
          <p:nvPr/>
        </p:nvSpPr>
        <p:spPr>
          <a:xfrm>
            <a:off x="14630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sqlcmd</a:t>
            </a:r>
            <a:endParaRPr b="0" lang="es-ES" sz="1700" spc="-1" strike="noStrike">
              <a:latin typeface="Arial"/>
            </a:endParaRPr>
          </a:p>
        </p:txBody>
      </p:sp>
      <p:sp>
        <p:nvSpPr>
          <p:cNvPr id="511" name="CustomShape 16"/>
          <p:cNvSpPr/>
          <p:nvPr/>
        </p:nvSpPr>
        <p:spPr>
          <a:xfrm>
            <a:off x="7772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Línea de comandos para scripts, CI y automatización.</a:t>
            </a:r>
            <a:endParaRPr b="0" lang="es-ES" sz="1400" spc="-1" strike="noStrike">
              <a:latin typeface="Arial"/>
            </a:endParaRPr>
          </a:p>
        </p:txBody>
      </p:sp>
      <p:sp>
        <p:nvSpPr>
          <p:cNvPr id="512" name="CustomShape 17"/>
          <p:cNvSpPr/>
          <p:nvPr/>
        </p:nvSpPr>
        <p:spPr>
          <a:xfrm>
            <a:off x="6233040" y="4023360"/>
            <a:ext cx="540936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13" name="CustomShape 18"/>
          <p:cNvSpPr/>
          <p:nvPr/>
        </p:nvSpPr>
        <p:spPr>
          <a:xfrm>
            <a:off x="6461640" y="4251960"/>
            <a:ext cx="547920" cy="547920"/>
          </a:xfrm>
          <a:prstGeom prst="ellipse">
            <a:avLst/>
          </a:prstGeom>
          <a:solidFill>
            <a:srgbClr val="134074"/>
          </a:solidFill>
          <a:ln>
            <a:noFill/>
          </a:ln>
        </p:spPr>
        <p:style>
          <a:lnRef idx="0"/>
          <a:fillRef idx="0"/>
          <a:effectRef idx="0"/>
          <a:fontRef idx="minor"/>
        </p:style>
      </p:sp>
      <p:pic>
        <p:nvPicPr>
          <p:cNvPr id="514" name="Image 3" descr="preencoded.png"/>
          <p:cNvPicPr/>
          <p:nvPr/>
        </p:nvPicPr>
        <p:blipFill>
          <a:blip r:embed="rId4"/>
          <a:stretch/>
        </p:blipFill>
        <p:spPr>
          <a:xfrm>
            <a:off x="6598800" y="4389120"/>
            <a:ext cx="273600" cy="273600"/>
          </a:xfrm>
          <a:prstGeom prst="rect">
            <a:avLst/>
          </a:prstGeom>
          <a:ln>
            <a:noFill/>
          </a:ln>
        </p:spPr>
      </p:pic>
      <p:sp>
        <p:nvSpPr>
          <p:cNvPr id="515" name="CustomShape 19"/>
          <p:cNvSpPr/>
          <p:nvPr/>
        </p:nvSpPr>
        <p:spPr>
          <a:xfrm>
            <a:off x="7147440" y="4251960"/>
            <a:ext cx="42663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Extended Events</a:t>
            </a:r>
            <a:endParaRPr b="0" lang="es-ES" sz="1700" spc="-1" strike="noStrike">
              <a:latin typeface="Arial"/>
            </a:endParaRPr>
          </a:p>
        </p:txBody>
      </p:sp>
      <p:sp>
        <p:nvSpPr>
          <p:cNvPr id="516" name="CustomShape 20"/>
          <p:cNvSpPr/>
          <p:nvPr/>
        </p:nvSpPr>
        <p:spPr>
          <a:xfrm>
            <a:off x="6461640" y="4983480"/>
            <a:ext cx="495216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Trazas ligeras. Sustituyen a SQL Server Profiler (obsoleto).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17"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HERRAMIENTAS</a:t>
            </a:r>
            <a:endParaRPr b="0" lang="es-ES" sz="1000" spc="-1" strike="noStrike">
              <a:latin typeface="Arial"/>
            </a:endParaRPr>
          </a:p>
        </p:txBody>
      </p:sp>
      <p:sp>
        <p:nvSpPr>
          <p:cNvPr id="51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sqlcmd y Extended Events básicos</a:t>
            </a:r>
            <a:endParaRPr b="0" lang="es-ES" sz="3400" spc="-1" strike="noStrike">
              <a:latin typeface="Arial"/>
            </a:endParaRPr>
          </a:p>
        </p:txBody>
      </p:sp>
      <p:sp>
        <p:nvSpPr>
          <p:cNvPr id="51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2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18</a:t>
            </a:r>
            <a:endParaRPr b="0" lang="es-ES" sz="1000" spc="-1" strike="noStrike">
              <a:latin typeface="Arial"/>
            </a:endParaRPr>
          </a:p>
        </p:txBody>
      </p:sp>
      <p:sp>
        <p:nvSpPr>
          <p:cNvPr id="521" name="CustomShape 5"/>
          <p:cNvSpPr/>
          <p:nvPr/>
        </p:nvSpPr>
        <p:spPr>
          <a:xfrm>
            <a:off x="548640" y="1600200"/>
            <a:ext cx="4937040" cy="2193840"/>
          </a:xfrm>
          <a:prstGeom prst="roundRect">
            <a:avLst>
              <a:gd name="adj" fmla="val 4167"/>
            </a:avLst>
          </a:prstGeom>
          <a:solidFill>
            <a:srgbClr val="eceff3"/>
          </a:solidFill>
          <a:ln w="9360">
            <a:solidFill>
              <a:srgbClr val="d0d7de"/>
            </a:solidFill>
            <a:round/>
          </a:ln>
        </p:spPr>
        <p:style>
          <a:lnRef idx="0"/>
          <a:fillRef idx="0"/>
          <a:effectRef idx="0"/>
          <a:fontRef idx="minor"/>
        </p:style>
      </p:sp>
      <p:sp>
        <p:nvSpPr>
          <p:cNvPr id="52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BASH · SQLCMD</a:t>
            </a:r>
            <a:endParaRPr b="0" lang="es-ES" sz="1000" spc="-1" strike="noStrike">
              <a:latin typeface="Arial"/>
            </a:endParaRPr>
          </a:p>
        </p:txBody>
      </p:sp>
      <p:sp>
        <p:nvSpPr>
          <p:cNvPr id="523" name="CustomShape 7"/>
          <p:cNvSpPr/>
          <p:nvPr/>
        </p:nvSpPr>
        <p:spPr>
          <a:xfrm>
            <a:off x="731520" y="1965960"/>
            <a:ext cx="4571280" cy="17366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lang="en-US" sz="1200" spc="-1" strike="noStrike">
                <a:solidFill>
                  <a:srgbClr val="1f2933"/>
                </a:solidFill>
                <a:latin typeface="Consolas"/>
                <a:ea typeface="Consolas"/>
              </a:rPr>
              <a:t>sqlcmd -S localhost,</a:t>
            </a:r>
            <a:r>
              <a:rPr b="0" lang="en-US" sz="1200" spc="-1" strike="noStrike">
                <a:solidFill>
                  <a:srgbClr val="9a3412"/>
                </a:solidFill>
                <a:latin typeface="Consolas"/>
                <a:ea typeface="Consolas"/>
              </a:rPr>
              <a:t>1433</a:t>
            </a:r>
            <a:r>
              <a:rPr b="0" lang="en-US" sz="1200" spc="-1" strike="noStrike">
                <a:solidFill>
                  <a:srgbClr val="1f2933"/>
                </a:solidFill>
                <a:latin typeface="Consolas"/>
                <a:ea typeface="Consolas"/>
              </a:rPr>
              <a:t> -U sa -C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 "Curso#SQL2025!"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@@VERSION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sqlcmd -S .\SQLEXPRESS -E -b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 script.sql -o salida.txt</a:t>
            </a:r>
            <a:endParaRPr b="0" lang="es-ES" sz="1200" spc="-1" strike="noStrike">
              <a:latin typeface="Arial"/>
            </a:endParaRPr>
          </a:p>
        </p:txBody>
      </p:sp>
      <p:sp>
        <p:nvSpPr>
          <p:cNvPr id="524" name="CustomShape 8"/>
          <p:cNvSpPr/>
          <p:nvPr/>
        </p:nvSpPr>
        <p:spPr>
          <a:xfrm>
            <a:off x="5760720" y="1600200"/>
            <a:ext cx="5878800" cy="3565440"/>
          </a:xfrm>
          <a:prstGeom prst="roundRect">
            <a:avLst>
              <a:gd name="adj" fmla="val 2564"/>
            </a:avLst>
          </a:prstGeom>
          <a:solidFill>
            <a:srgbClr val="eceff3"/>
          </a:solidFill>
          <a:ln w="9360">
            <a:solidFill>
              <a:srgbClr val="d0d7de"/>
            </a:solidFill>
            <a:round/>
          </a:ln>
        </p:spPr>
        <p:style>
          <a:lnRef idx="0"/>
          <a:fillRef idx="0"/>
          <a:effectRef idx="0"/>
          <a:fontRef idx="minor"/>
        </p:style>
      </p:sp>
      <p:sp>
        <p:nvSpPr>
          <p:cNvPr id="525" name="CustomShape 9"/>
          <p:cNvSpPr/>
          <p:nvPr/>
        </p:nvSpPr>
        <p:spPr>
          <a:xfrm>
            <a:off x="59436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EXTENDED EVENTS</a:t>
            </a:r>
            <a:endParaRPr b="0" lang="es-ES" sz="1000" spc="-1" strike="noStrike">
              <a:latin typeface="Arial"/>
            </a:endParaRPr>
          </a:p>
        </p:txBody>
      </p:sp>
      <p:sp>
        <p:nvSpPr>
          <p:cNvPr id="526" name="CustomShape 10"/>
          <p:cNvSpPr/>
          <p:nvPr/>
        </p:nvSpPr>
        <p:spPr>
          <a:xfrm>
            <a:off x="5943600" y="1965960"/>
            <a:ext cx="5513040" cy="3108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EVENT sqlserver.sql_statement_completed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duration &gt; </a:t>
            </a:r>
            <a:r>
              <a:rPr b="0" lang="en-US" sz="1200" spc="-1" strike="noStrike">
                <a:solidFill>
                  <a:srgbClr val="9a3412"/>
                </a:solidFill>
                <a:latin typeface="Consolas"/>
                <a:ea typeface="Consolas"/>
              </a:rPr>
              <a:t>1000000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&gt; 1 s (µs)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TARGET package0.event_file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N'lentas.xel'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(STARTUP_STATE = </a:t>
            </a:r>
            <a:r>
              <a:rPr b="1" lang="en-US" sz="1200" spc="-1" strike="noStrike">
                <a:solidFill>
                  <a:srgbClr val="1d4ed8"/>
                </a:solidFill>
                <a:latin typeface="Consolas"/>
                <a:ea typeface="Consolas"/>
              </a:rPr>
              <a:t>OFF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EVENT SESSION [lentas]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SERVER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STATE = START;</a:t>
            </a:r>
            <a:endParaRPr b="0" lang="es-ES" sz="1200" spc="-1" strike="noStrike">
              <a:latin typeface="Arial"/>
            </a:endParaRPr>
          </a:p>
        </p:txBody>
      </p:sp>
      <p:sp>
        <p:nvSpPr>
          <p:cNvPr id="527" name="CustomShape 11"/>
          <p:cNvSpPr/>
          <p:nvPr/>
        </p:nvSpPr>
        <p:spPr>
          <a:xfrm>
            <a:off x="548640" y="4069080"/>
            <a:ext cx="4937040" cy="2102400"/>
          </a:xfrm>
          <a:prstGeom prst="roundRect">
            <a:avLst>
              <a:gd name="adj" fmla="val 5217"/>
            </a:avLst>
          </a:prstGeom>
          <a:solidFill>
            <a:srgbClr val="e8eef5"/>
          </a:solidFill>
          <a:ln>
            <a:noFill/>
          </a:ln>
        </p:spPr>
        <p:style>
          <a:lnRef idx="0"/>
          <a:fillRef idx="0"/>
          <a:effectRef idx="0"/>
          <a:fontRef idx="minor"/>
        </p:style>
      </p:sp>
      <p:sp>
        <p:nvSpPr>
          <p:cNvPr id="528" name="CustomShape 12"/>
          <p:cNvSpPr/>
          <p:nvPr/>
        </p:nvSpPr>
        <p:spPr>
          <a:xfrm>
            <a:off x="731520" y="4892040"/>
            <a:ext cx="456480" cy="456480"/>
          </a:xfrm>
          <a:prstGeom prst="ellipse">
            <a:avLst/>
          </a:prstGeom>
          <a:solidFill>
            <a:srgbClr val="134074"/>
          </a:solidFill>
          <a:ln>
            <a:noFill/>
          </a:ln>
        </p:spPr>
        <p:style>
          <a:lnRef idx="0"/>
          <a:fillRef idx="0"/>
          <a:effectRef idx="0"/>
          <a:fontRef idx="minor"/>
        </p:style>
      </p:sp>
      <p:pic>
        <p:nvPicPr>
          <p:cNvPr id="529" name="Image 0" descr="preencoded.png"/>
          <p:cNvPicPr/>
          <p:nvPr/>
        </p:nvPicPr>
        <p:blipFill>
          <a:blip r:embed="rId1"/>
          <a:stretch/>
        </p:blipFill>
        <p:spPr>
          <a:xfrm>
            <a:off x="846000" y="5006520"/>
            <a:ext cx="227880" cy="227880"/>
          </a:xfrm>
          <a:prstGeom prst="rect">
            <a:avLst/>
          </a:prstGeom>
          <a:ln>
            <a:noFill/>
          </a:ln>
        </p:spPr>
      </p:pic>
      <p:sp>
        <p:nvSpPr>
          <p:cNvPr id="530" name="CustomShape 13"/>
          <p:cNvSpPr/>
          <p:nvPr/>
        </p:nvSpPr>
        <p:spPr>
          <a:xfrm>
            <a:off x="1371600" y="4069080"/>
            <a:ext cx="3931200" cy="21024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system_health </a:t>
            </a:r>
            <a:r>
              <a:rPr b="0" lang="en-US" sz="1400" spc="-1" strike="noStrike">
                <a:solidFill>
                  <a:srgbClr val="1f2933"/>
                </a:solidFill>
                <a:latin typeface="Calibri"/>
                <a:ea typeface="Calibri"/>
              </a:rPr>
              <a:t>ya está activa por defecto y recoge deadlocks y errores graves. Mírala primero tras un incidente.</a:t>
            </a:r>
            <a:endParaRPr b="0" lang="es-ES" sz="1400" spc="-1" strike="noStrike">
              <a:latin typeface="Arial"/>
            </a:endParaRPr>
          </a:p>
        </p:txBody>
      </p:sp>
      <p:sp>
        <p:nvSpPr>
          <p:cNvPr id="531" name="CustomShape 14"/>
          <p:cNvSpPr/>
          <p:nvPr/>
        </p:nvSpPr>
        <p:spPr>
          <a:xfrm>
            <a:off x="5760720" y="5394960"/>
            <a:ext cx="5878800" cy="776520"/>
          </a:xfrm>
          <a:prstGeom prst="roundRect">
            <a:avLst>
              <a:gd name="adj" fmla="val 14118"/>
            </a:avLst>
          </a:prstGeom>
          <a:solidFill>
            <a:srgbClr val="fdede8"/>
          </a:solidFill>
          <a:ln>
            <a:noFill/>
          </a:ln>
        </p:spPr>
        <p:style>
          <a:lnRef idx="0"/>
          <a:fillRef idx="0"/>
          <a:effectRef idx="0"/>
          <a:fontRef idx="minor"/>
        </p:style>
      </p:sp>
      <p:sp>
        <p:nvSpPr>
          <p:cNvPr id="532" name="CustomShape 15"/>
          <p:cNvSpPr/>
          <p:nvPr/>
        </p:nvSpPr>
        <p:spPr>
          <a:xfrm>
            <a:off x="5943600" y="5555160"/>
            <a:ext cx="456480" cy="456480"/>
          </a:xfrm>
          <a:prstGeom prst="ellipse">
            <a:avLst/>
          </a:prstGeom>
          <a:solidFill>
            <a:srgbClr val="d95d39"/>
          </a:solidFill>
          <a:ln>
            <a:noFill/>
          </a:ln>
        </p:spPr>
        <p:style>
          <a:lnRef idx="0"/>
          <a:fillRef idx="0"/>
          <a:effectRef idx="0"/>
          <a:fontRef idx="minor"/>
        </p:style>
      </p:sp>
      <p:pic>
        <p:nvPicPr>
          <p:cNvPr id="533" name="Image 1" descr="preencoded.png"/>
          <p:cNvPicPr/>
          <p:nvPr/>
        </p:nvPicPr>
        <p:blipFill>
          <a:blip r:embed="rId2"/>
          <a:stretch/>
        </p:blipFill>
        <p:spPr>
          <a:xfrm>
            <a:off x="6058080" y="5669280"/>
            <a:ext cx="227880" cy="227880"/>
          </a:xfrm>
          <a:prstGeom prst="rect">
            <a:avLst/>
          </a:prstGeom>
          <a:ln>
            <a:noFill/>
          </a:ln>
        </p:spPr>
      </p:pic>
      <p:sp>
        <p:nvSpPr>
          <p:cNvPr id="534" name="CustomShape 16"/>
          <p:cNvSpPr/>
          <p:nvPr/>
        </p:nvSpPr>
        <p:spPr>
          <a:xfrm>
            <a:off x="6583680" y="5394960"/>
            <a:ext cx="4872960" cy="7765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Filtra siempre con predicados para limitar la sobrecarga.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35"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 BD con ficheros y filegroups</a:t>
            </a:r>
            <a:endParaRPr b="0" lang="es-ES" sz="3400" spc="-1" strike="noStrike">
              <a:latin typeface="Arial"/>
            </a:endParaRPr>
          </a:p>
        </p:txBody>
      </p:sp>
      <p:sp>
        <p:nvSpPr>
          <p:cNvPr id="5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19</a:t>
            </a:r>
            <a:endParaRPr b="0" lang="es-ES" sz="1000" spc="-1" strike="noStrike">
              <a:latin typeface="Arial"/>
            </a:endParaRPr>
          </a:p>
        </p:txBody>
      </p:sp>
      <p:sp>
        <p:nvSpPr>
          <p:cNvPr id="539" name="CustomShape 5"/>
          <p:cNvSpPr/>
          <p:nvPr/>
        </p:nvSpPr>
        <p:spPr>
          <a:xfrm>
            <a:off x="548640" y="1600200"/>
            <a:ext cx="69487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54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LABORATORIO 1</a:t>
            </a:r>
            <a:endParaRPr b="0" lang="es-ES" sz="1000" spc="-1" strike="noStrike">
              <a:latin typeface="Arial"/>
            </a:endParaRPr>
          </a:p>
        </p:txBody>
      </p:sp>
      <p:sp>
        <p:nvSpPr>
          <p:cNvPr id="541" name="CustomShape 7"/>
          <p:cNvSpPr/>
          <p:nvPr/>
        </p:nvSpPr>
        <p:spPr>
          <a:xfrm>
            <a:off x="731520" y="1965960"/>
            <a:ext cx="65829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PRIMARY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Ventas_sys,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64MB,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Ventas_d1,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'/var/opt/mssql/data/Ventas_d1.ndf'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Ventas_d2,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'/var/opt/mssql/data/Ventas_d2.ndf'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256MB,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128MB)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LOG </a:t>
            </a:r>
            <a:r>
              <a:rPr b="1" lang="en-US" sz="1200" spc="-1" strike="noStrike">
                <a:solidFill>
                  <a:srgbClr val="1d4ed8"/>
                </a:solidFill>
                <a:latin typeface="Consolas"/>
                <a:ea typeface="Consolas"/>
              </a:rPr>
              <a:t>ON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Ventas_log, </a:t>
            </a:r>
            <a:r>
              <a:rPr b="1" lang="en-US" sz="1200" spc="-1" strike="noStrike">
                <a:solidFill>
                  <a:srgbClr val="1d4ed8"/>
                </a:solidFill>
                <a:latin typeface="Consolas"/>
                <a:ea typeface="Consolas"/>
              </a:rPr>
              <a:t>FILENAME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'/var/opt/mssql/log/Ventas.ldf'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 = 128MB, </a:t>
            </a:r>
            <a:r>
              <a:rPr b="1" lang="en-US" sz="1200" spc="-1" strike="noStrike">
                <a:solidFill>
                  <a:srgbClr val="1d4ed8"/>
                </a:solidFill>
                <a:latin typeface="Consolas"/>
                <a:ea typeface="Consolas"/>
              </a:rPr>
              <a:t>FILEGROWTH</a:t>
            </a:r>
            <a:r>
              <a:rPr b="0" lang="en-US" sz="1200" spc="-1" strike="noStrike">
                <a:solidFill>
                  <a:srgbClr val="1f2933"/>
                </a:solidFill>
                <a:latin typeface="Consolas"/>
                <a:ea typeface="Consolas"/>
              </a:rPr>
              <a:t> = 64MB);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p:txBody>
      </p:sp>
      <p:sp>
        <p:nvSpPr>
          <p:cNvPr id="542" name="CustomShape 8"/>
          <p:cNvSpPr/>
          <p:nvPr/>
        </p:nvSpPr>
        <p:spPr>
          <a:xfrm>
            <a:off x="7818120" y="1600200"/>
            <a:ext cx="3821400" cy="4571280"/>
          </a:xfrm>
          <a:prstGeom prst="roundRect">
            <a:avLst>
              <a:gd name="adj" fmla="val 2871"/>
            </a:avLst>
          </a:prstGeom>
          <a:solidFill>
            <a:srgbClr val="e8eef5"/>
          </a:solidFill>
          <a:ln>
            <a:noFill/>
          </a:ln>
        </p:spPr>
        <p:style>
          <a:lnRef idx="0"/>
          <a:fillRef idx="0"/>
          <a:effectRef idx="0"/>
          <a:fontRef idx="minor"/>
        </p:style>
      </p:sp>
      <p:sp>
        <p:nvSpPr>
          <p:cNvPr id="543" name="CustomShape 9"/>
          <p:cNvSpPr/>
          <p:nvPr/>
        </p:nvSpPr>
        <p:spPr>
          <a:xfrm>
            <a:off x="8046720" y="1828800"/>
            <a:ext cx="547920" cy="547920"/>
          </a:xfrm>
          <a:prstGeom prst="ellipse">
            <a:avLst/>
          </a:prstGeom>
          <a:solidFill>
            <a:srgbClr val="134074"/>
          </a:solidFill>
          <a:ln>
            <a:noFill/>
          </a:ln>
        </p:spPr>
        <p:style>
          <a:lnRef idx="0"/>
          <a:fillRef idx="0"/>
          <a:effectRef idx="0"/>
          <a:fontRef idx="minor"/>
        </p:style>
      </p:sp>
      <p:pic>
        <p:nvPicPr>
          <p:cNvPr id="544" name="Image 0" descr="preencoded.png"/>
          <p:cNvPicPr/>
          <p:nvPr/>
        </p:nvPicPr>
        <p:blipFill>
          <a:blip r:embed="rId1"/>
          <a:stretch/>
        </p:blipFill>
        <p:spPr>
          <a:xfrm>
            <a:off x="8183880" y="1965960"/>
            <a:ext cx="273600" cy="273600"/>
          </a:xfrm>
          <a:prstGeom prst="rect">
            <a:avLst/>
          </a:prstGeom>
          <a:ln>
            <a:noFill/>
          </a:ln>
        </p:spPr>
      </p:pic>
      <p:sp>
        <p:nvSpPr>
          <p:cNvPr id="545" name="CustomShape 10"/>
          <p:cNvSpPr/>
          <p:nvPr/>
        </p:nvSpPr>
        <p:spPr>
          <a:xfrm>
            <a:off x="8732520" y="1828800"/>
            <a:ext cx="26784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Enunciado</a:t>
            </a:r>
            <a:endParaRPr b="0" lang="es-ES" sz="1700" spc="-1" strike="noStrike">
              <a:latin typeface="Arial"/>
            </a:endParaRPr>
          </a:p>
        </p:txBody>
      </p:sp>
      <p:sp>
        <p:nvSpPr>
          <p:cNvPr id="546" name="CustomShape 11"/>
          <p:cNvSpPr/>
          <p:nvPr/>
        </p:nvSpPr>
        <p:spPr>
          <a:xfrm>
            <a:off x="8046720" y="2560320"/>
            <a:ext cx="33642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Crea la BD Ventas con los ficheros indicados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Dos ficheros del mismo tamaño en FG_DATOS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Autogrowth en MB, nunca en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Comprueba el resultado en SSMS (Propiedades → Archivos)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47" name="CustomShape 1"/>
          <p:cNvSpPr/>
          <p:nvPr/>
        </p:nvSpPr>
        <p:spPr>
          <a:xfrm>
            <a:off x="548640" y="365760"/>
            <a:ext cx="28018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BASE DE DATOS</a:t>
            </a:r>
            <a:endParaRPr b="0" lang="es-ES" sz="1000" spc="-1" strike="noStrike">
              <a:latin typeface="Arial"/>
            </a:endParaRPr>
          </a:p>
        </p:txBody>
      </p:sp>
      <p:sp>
        <p:nvSpPr>
          <p:cNvPr id="5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1 (II): verificar y hacer crecer</a:t>
            </a:r>
            <a:endParaRPr b="0" lang="es-ES" sz="3400" spc="-1" strike="noStrike">
              <a:latin typeface="Arial"/>
            </a:endParaRPr>
          </a:p>
        </p:txBody>
      </p:sp>
      <p:sp>
        <p:nvSpPr>
          <p:cNvPr id="5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5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1   20</a:t>
            </a:r>
            <a:endParaRPr b="0" lang="es-ES" sz="1000" spc="-1" strike="noStrike">
              <a:latin typeface="Arial"/>
            </a:endParaRPr>
          </a:p>
        </p:txBody>
      </p:sp>
      <p:sp>
        <p:nvSpPr>
          <p:cNvPr id="551" name="CustomShape 5"/>
          <p:cNvSpPr/>
          <p:nvPr/>
        </p:nvSpPr>
        <p:spPr>
          <a:xfrm>
            <a:off x="548640" y="1600200"/>
            <a:ext cx="67658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5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553" name="CustomShape 7"/>
          <p:cNvSpPr/>
          <p:nvPr/>
        </p:nvSpPr>
        <p:spPr>
          <a:xfrm>
            <a:off x="731520" y="1965960"/>
            <a:ext cx="64000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MODIFY </a:t>
            </a:r>
            <a:r>
              <a:rPr b="1" lang="en-US" sz="1200" spc="-1" strike="noStrike">
                <a:solidFill>
                  <a:srgbClr val="1d4ed8"/>
                </a:solidFill>
                <a:latin typeface="Consolas"/>
                <a:ea typeface="Consolas"/>
              </a:rPr>
              <a:t>FILEGROUP</a:t>
            </a:r>
            <a:r>
              <a:rPr b="0" lang="en-US" sz="1200" spc="-1" strike="noStrike">
                <a:solidFill>
                  <a:srgbClr val="1f2933"/>
                </a:solidFill>
                <a:latin typeface="Consolas"/>
                <a:ea typeface="Consolas"/>
              </a:rPr>
              <a:t> FG_DATOS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physical_name, </a:t>
            </a:r>
            <a:r>
              <a:rPr b="1" lang="en-US" sz="1200" spc="-1" strike="noStrike">
                <a:solidFill>
                  <a:srgbClr val="1d4ed8"/>
                </a:solidFill>
                <a:latin typeface="Consolas"/>
                <a:ea typeface="Consolas"/>
              </a:rPr>
              <a:t>size</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size_mb,</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growth*</a:t>
            </a:r>
            <a:r>
              <a:rPr b="0" lang="en-US" sz="1200" spc="-1" strike="noStrike">
                <a:solidFill>
                  <a:srgbClr val="9a3412"/>
                </a:solidFill>
                <a:latin typeface="Consolas"/>
                <a:ea typeface="Consolas"/>
              </a:rPr>
              <a:t>8</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1024</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growth_mb, is_percent_growth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Ventas.sys.database_files;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is_default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Ventas.sys.filegroups;</a:t>
            </a:r>
            <a:endParaRPr b="0" lang="es-ES" sz="1200" spc="-1" strike="noStrike">
              <a:latin typeface="Arial"/>
            </a:endParaRPr>
          </a:p>
        </p:txBody>
      </p:sp>
      <p:sp>
        <p:nvSpPr>
          <p:cNvPr id="554" name="CustomShape 8"/>
          <p:cNvSpPr/>
          <p:nvPr/>
        </p:nvSpPr>
        <p:spPr>
          <a:xfrm>
            <a:off x="758952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5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556" name="Image 0" descr="preencoded.png"/>
          <p:cNvPicPr/>
          <p:nvPr/>
        </p:nvPicPr>
        <p:blipFill>
          <a:blip r:embed="rId1"/>
          <a:stretch/>
        </p:blipFill>
        <p:spPr>
          <a:xfrm>
            <a:off x="7955280" y="1965960"/>
            <a:ext cx="273600" cy="273600"/>
          </a:xfrm>
          <a:prstGeom prst="rect">
            <a:avLst/>
          </a:prstGeom>
          <a:ln>
            <a:noFill/>
          </a:ln>
        </p:spPr>
      </p:pic>
      <p:sp>
        <p:nvSpPr>
          <p:cNvPr id="557" name="CustomShape 10"/>
          <p:cNvSpPr/>
          <p:nvPr/>
        </p:nvSpPr>
        <p:spPr>
          <a:xfrm>
            <a:off x="850392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Comprueba</a:t>
            </a:r>
            <a:endParaRPr b="0" lang="es-ES" sz="1600" spc="-1" strike="noStrike">
              <a:latin typeface="Arial"/>
            </a:endParaRPr>
          </a:p>
        </p:txBody>
      </p:sp>
      <p:sp>
        <p:nvSpPr>
          <p:cNvPr id="558" name="CustomShape 11"/>
          <p:cNvSpPr/>
          <p:nvPr/>
        </p:nvSpPr>
        <p:spPr>
          <a:xfrm>
            <a:off x="781812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Cuatro ficheros, dos filegroups, FG_DATOS predeterminado.</a:t>
            </a:r>
            <a:endParaRPr b="0" lang="es-ES" sz="1400" spc="-1" strike="noStrike">
              <a:latin typeface="Arial"/>
            </a:endParaRPr>
          </a:p>
        </p:txBody>
      </p:sp>
      <p:sp>
        <p:nvSpPr>
          <p:cNvPr id="559" name="CustomShape 12"/>
          <p:cNvSpPr/>
          <p:nvPr/>
        </p:nvSpPr>
        <p:spPr>
          <a:xfrm>
            <a:off x="9729360" y="1600200"/>
            <a:ext cx="1910520" cy="2925360"/>
          </a:xfrm>
          <a:prstGeom prst="roundRect">
            <a:avLst>
              <a:gd name="adj" fmla="val 574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560" name="CustomShape 13"/>
          <p:cNvSpPr/>
          <p:nvPr/>
        </p:nvSpPr>
        <p:spPr>
          <a:xfrm>
            <a:off x="9957960" y="1828800"/>
            <a:ext cx="547920" cy="547920"/>
          </a:xfrm>
          <a:prstGeom prst="ellipse">
            <a:avLst/>
          </a:prstGeom>
          <a:solidFill>
            <a:srgbClr val="134074"/>
          </a:solidFill>
          <a:ln>
            <a:noFill/>
          </a:ln>
        </p:spPr>
        <p:style>
          <a:lnRef idx="0"/>
          <a:fillRef idx="0"/>
          <a:effectRef idx="0"/>
          <a:fontRef idx="minor"/>
        </p:style>
      </p:sp>
      <p:pic>
        <p:nvPicPr>
          <p:cNvPr id="561" name="Image 1" descr="preencoded.png"/>
          <p:cNvPicPr/>
          <p:nvPr/>
        </p:nvPicPr>
        <p:blipFill>
          <a:blip r:embed="rId2"/>
          <a:stretch/>
        </p:blipFill>
        <p:spPr>
          <a:xfrm>
            <a:off x="10095120" y="1965960"/>
            <a:ext cx="273600" cy="273600"/>
          </a:xfrm>
          <a:prstGeom prst="rect">
            <a:avLst/>
          </a:prstGeom>
          <a:ln>
            <a:noFill/>
          </a:ln>
        </p:spPr>
      </p:pic>
      <p:sp>
        <p:nvSpPr>
          <p:cNvPr id="562" name="CustomShape 14"/>
          <p:cNvSpPr/>
          <p:nvPr/>
        </p:nvSpPr>
        <p:spPr>
          <a:xfrm>
            <a:off x="10643760" y="1828800"/>
            <a:ext cx="767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Vigila</a:t>
            </a:r>
            <a:endParaRPr b="0" lang="es-ES" sz="1600" spc="-1" strike="noStrike">
              <a:latin typeface="Arial"/>
            </a:endParaRPr>
          </a:p>
        </p:txBody>
      </p:sp>
      <p:sp>
        <p:nvSpPr>
          <p:cNvPr id="563" name="CustomShape 15"/>
          <p:cNvSpPr/>
          <p:nvPr/>
        </p:nvSpPr>
        <p:spPr>
          <a:xfrm>
            <a:off x="9957960" y="2560320"/>
            <a:ext cx="1453320" cy="17366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is_percent_growth = 0 en todos los ficheros.</a:t>
            </a:r>
            <a:endParaRPr b="0" lang="es-ES" sz="1400" spc="-1" strike="noStrike">
              <a:latin typeface="Arial"/>
            </a:endParaRPr>
          </a:p>
        </p:txBody>
      </p:sp>
      <p:sp>
        <p:nvSpPr>
          <p:cNvPr id="564" name="CustomShape 16"/>
          <p:cNvSpPr/>
          <p:nvPr/>
        </p:nvSpPr>
        <p:spPr>
          <a:xfrm>
            <a:off x="548640" y="4754880"/>
            <a:ext cx="11093760" cy="1370880"/>
          </a:xfrm>
          <a:prstGeom prst="roundRect">
            <a:avLst>
              <a:gd name="adj" fmla="val 8000"/>
            </a:avLst>
          </a:prstGeom>
          <a:solidFill>
            <a:srgbClr val="e8eef5"/>
          </a:solidFill>
          <a:ln>
            <a:noFill/>
          </a:ln>
        </p:spPr>
        <p:style>
          <a:lnRef idx="0"/>
          <a:fillRef idx="0"/>
          <a:effectRef idx="0"/>
          <a:fontRef idx="minor"/>
        </p:style>
      </p:sp>
      <p:sp>
        <p:nvSpPr>
          <p:cNvPr id="565"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566" name="Image 2" descr="preencoded.png"/>
          <p:cNvPicPr/>
          <p:nvPr/>
        </p:nvPicPr>
        <p:blipFill>
          <a:blip r:embed="rId3"/>
          <a:stretch/>
        </p:blipFill>
        <p:spPr>
          <a:xfrm>
            <a:off x="846000" y="5326560"/>
            <a:ext cx="227880" cy="227880"/>
          </a:xfrm>
          <a:prstGeom prst="rect">
            <a:avLst/>
          </a:prstGeom>
          <a:ln>
            <a:noFill/>
          </a:ln>
        </p:spPr>
      </p:pic>
      <p:sp>
        <p:nvSpPr>
          <p:cNvPr id="567" name="CustomShape 18"/>
          <p:cNvSpPr/>
          <p:nvPr/>
        </p:nvSpPr>
        <p:spPr>
          <a:xfrm>
            <a:off x="1371600" y="4754880"/>
            <a:ext cx="1008792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Cierre del módulo: </a:t>
            </a:r>
            <a:r>
              <a:rPr b="0" lang="en-US" sz="1400" spc="-1" strike="noStrike">
                <a:solidFill>
                  <a:srgbClr val="1f2933"/>
                </a:solidFill>
                <a:latin typeface="Calibri"/>
                <a:ea typeface="Calibri"/>
              </a:rPr>
              <a:t>Buffer Pool, páginas y extensiones, Transaction Log (WAL) y tempdb explican la mayoría de incidencias que veremos en los módulos siguientes.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568"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02</a:t>
            </a:r>
            <a:endParaRPr b="0" lang="es-ES" sz="12000" spc="-1" strike="noStrike">
              <a:latin typeface="Arial"/>
            </a:endParaRPr>
          </a:p>
        </p:txBody>
      </p:sp>
      <p:sp>
        <p:nvSpPr>
          <p:cNvPr id="569"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2 · 5,5 h</a:t>
            </a:r>
            <a:endParaRPr b="0" lang="es-ES" sz="1100" spc="-1" strike="noStrike">
              <a:latin typeface="Arial"/>
            </a:endParaRPr>
          </a:p>
        </p:txBody>
      </p:sp>
      <p:sp>
        <p:nvSpPr>
          <p:cNvPr id="570"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Gestión y Seguridad</a:t>
            </a:r>
            <a:endParaRPr b="0" lang="es-ES" sz="3800" spc="-1" strike="noStrike">
              <a:latin typeface="Arial"/>
            </a:endParaRPr>
          </a:p>
        </p:txBody>
      </p:sp>
      <p:sp>
        <p:nvSpPr>
          <p:cNvPr id="571"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DDL, DML y modelo de seguridad de SQL Server</a:t>
            </a:r>
            <a:endParaRPr b="0" lang="es-ES" sz="1600" spc="-1" strike="noStrike">
              <a:latin typeface="Arial"/>
            </a:endParaRPr>
          </a:p>
        </p:txBody>
      </p:sp>
      <p:sp>
        <p:nvSpPr>
          <p:cNvPr id="572"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3"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574" name="Image 0" descr="preencoded.png"/>
          <p:cNvPicPr/>
          <p:nvPr/>
        </p:nvPicPr>
        <p:blipFill>
          <a:blip r:embed="rId1"/>
          <a:stretch/>
        </p:blipFill>
        <p:spPr>
          <a:xfrm>
            <a:off x="6926760" y="1280160"/>
            <a:ext cx="227880" cy="227880"/>
          </a:xfrm>
          <a:prstGeom prst="rect">
            <a:avLst/>
          </a:prstGeom>
          <a:ln>
            <a:noFill/>
          </a:ln>
        </p:spPr>
      </p:pic>
      <p:sp>
        <p:nvSpPr>
          <p:cNvPr id="575"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Tablas, restricciones y vistas</a:t>
            </a:r>
            <a:endParaRPr b="0" lang="es-ES" sz="1600" spc="-1" strike="noStrike">
              <a:latin typeface="Arial"/>
            </a:endParaRPr>
          </a:p>
        </p:txBody>
      </p:sp>
      <p:sp>
        <p:nvSpPr>
          <p:cNvPr id="576"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77"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578" name="Image 1" descr="preencoded.png"/>
          <p:cNvPicPr/>
          <p:nvPr/>
        </p:nvPicPr>
        <p:blipFill>
          <a:blip r:embed="rId2"/>
          <a:stretch/>
        </p:blipFill>
        <p:spPr>
          <a:xfrm>
            <a:off x="6926760" y="2057400"/>
            <a:ext cx="227880" cy="227880"/>
          </a:xfrm>
          <a:prstGeom prst="rect">
            <a:avLst/>
          </a:prstGeom>
          <a:ln>
            <a:noFill/>
          </a:ln>
        </p:spPr>
      </p:pic>
      <p:sp>
        <p:nvSpPr>
          <p:cNvPr id="579"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Procedimientos almacenados y plan cache</a:t>
            </a:r>
            <a:endParaRPr b="0" lang="es-ES" sz="1600" spc="-1" strike="noStrike">
              <a:latin typeface="Arial"/>
            </a:endParaRPr>
          </a:p>
        </p:txBody>
      </p:sp>
      <p:sp>
        <p:nvSpPr>
          <p:cNvPr id="580"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1"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582" name="Image 2" descr="preencoded.png"/>
          <p:cNvPicPr/>
          <p:nvPr/>
        </p:nvPicPr>
        <p:blipFill>
          <a:blip r:embed="rId3"/>
          <a:stretch/>
        </p:blipFill>
        <p:spPr>
          <a:xfrm>
            <a:off x="6926760" y="2834640"/>
            <a:ext cx="227880" cy="227880"/>
          </a:xfrm>
          <a:prstGeom prst="rect">
            <a:avLst/>
          </a:prstGeom>
          <a:ln>
            <a:noFill/>
          </a:ln>
        </p:spPr>
      </p:pic>
      <p:sp>
        <p:nvSpPr>
          <p:cNvPr id="583"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JOINs, window functions y tablas vectoriales</a:t>
            </a:r>
            <a:endParaRPr b="0" lang="es-ES" sz="1600" spc="-1" strike="noStrike">
              <a:latin typeface="Arial"/>
            </a:endParaRPr>
          </a:p>
        </p:txBody>
      </p:sp>
      <p:sp>
        <p:nvSpPr>
          <p:cNvPr id="584"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5"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586" name="Image 3" descr="preencoded.png"/>
          <p:cNvPicPr/>
          <p:nvPr/>
        </p:nvPicPr>
        <p:blipFill>
          <a:blip r:embed="rId4"/>
          <a:stretch/>
        </p:blipFill>
        <p:spPr>
          <a:xfrm>
            <a:off x="6926760" y="3611880"/>
            <a:ext cx="227880" cy="227880"/>
          </a:xfrm>
          <a:prstGeom prst="rect">
            <a:avLst/>
          </a:prstGeom>
          <a:ln>
            <a:noFill/>
          </a:ln>
        </p:spPr>
      </p:pic>
      <p:sp>
        <p:nvSpPr>
          <p:cNvPr id="587"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Logins, users, roles y permisos</a:t>
            </a:r>
            <a:endParaRPr b="0" lang="es-ES" sz="1600" spc="-1" strike="noStrike">
              <a:latin typeface="Arial"/>
            </a:endParaRPr>
          </a:p>
        </p:txBody>
      </p:sp>
      <p:sp>
        <p:nvSpPr>
          <p:cNvPr id="588"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89"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590" name="Image 4" descr="preencoded.png"/>
          <p:cNvPicPr/>
          <p:nvPr/>
        </p:nvPicPr>
        <p:blipFill>
          <a:blip r:embed="rId5"/>
          <a:stretch/>
        </p:blipFill>
        <p:spPr>
          <a:xfrm>
            <a:off x="6926760" y="4389120"/>
            <a:ext cx="227880" cy="227880"/>
          </a:xfrm>
          <a:prstGeom prst="rect">
            <a:avLst/>
          </a:prstGeom>
          <a:ln>
            <a:noFill/>
          </a:ln>
        </p:spPr>
      </p:pic>
      <p:sp>
        <p:nvSpPr>
          <p:cNvPr id="591"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Ownership chaining y mínimo privilegio</a:t>
            </a:r>
            <a:endParaRPr b="0" lang="es-ES" sz="1600" spc="-1" strike="noStrike">
              <a:latin typeface="Arial"/>
            </a:endParaRPr>
          </a:p>
        </p:txBody>
      </p:sp>
      <p:sp>
        <p:nvSpPr>
          <p:cNvPr id="592"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593"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594" name="Image 5" descr="preencoded.png"/>
          <p:cNvPicPr/>
          <p:nvPr/>
        </p:nvPicPr>
        <p:blipFill>
          <a:blip r:embed="rId6"/>
          <a:stretch/>
        </p:blipFill>
        <p:spPr>
          <a:xfrm>
            <a:off x="6926760" y="5166360"/>
            <a:ext cx="227880" cy="227880"/>
          </a:xfrm>
          <a:prstGeom prst="rect">
            <a:avLst/>
          </a:prstGeom>
          <a:ln>
            <a:noFill/>
          </a:ln>
        </p:spPr>
      </p:pic>
      <p:sp>
        <p:nvSpPr>
          <p:cNvPr id="595"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2: consultas y permisos</a:t>
            </a:r>
            <a:endParaRPr b="0" lang="es-ES" sz="1600" spc="-1" strike="noStrike">
              <a:latin typeface="Arial"/>
            </a:endParaRPr>
          </a:p>
        </p:txBody>
      </p:sp>
      <p:sp>
        <p:nvSpPr>
          <p:cNvPr id="596"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597"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2   21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59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DDL</a:t>
            </a:r>
            <a:endParaRPr b="0" lang="es-ES" sz="1000" spc="-1" strike="noStrike">
              <a:latin typeface="Arial"/>
            </a:endParaRPr>
          </a:p>
        </p:txBody>
      </p:sp>
      <p:sp>
        <p:nvSpPr>
          <p:cNvPr id="59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Creación de tablas y restricciones</a:t>
            </a:r>
            <a:endParaRPr b="0" lang="es-ES" sz="3400" spc="-1" strike="noStrike">
              <a:latin typeface="Arial"/>
            </a:endParaRPr>
          </a:p>
        </p:txBody>
      </p:sp>
      <p:sp>
        <p:nvSpPr>
          <p:cNvPr id="60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0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22</a:t>
            </a:r>
            <a:endParaRPr b="0" lang="es-ES" sz="1000" spc="-1" strike="noStrike">
              <a:latin typeface="Arial"/>
            </a:endParaRPr>
          </a:p>
        </p:txBody>
      </p:sp>
      <p:sp>
        <p:nvSpPr>
          <p:cNvPr id="602"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0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BD Ventas</a:t>
            </a:r>
            <a:endParaRPr b="0" lang="es-ES" sz="1000" spc="-1" strike="noStrike">
              <a:latin typeface="Arial"/>
            </a:endParaRPr>
          </a:p>
        </p:txBody>
      </p:sp>
      <p:sp>
        <p:nvSpPr>
          <p:cNvPr id="604" name="CustomShape 7"/>
          <p:cNvSpPr/>
          <p:nvPr/>
        </p:nvSpPr>
        <p:spPr>
          <a:xfrm>
            <a:off x="731520" y="1893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dbo.Cliente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Email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150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Nombre    </a:t>
            </a:r>
            <a:r>
              <a:rPr b="0" lang="en-US" sz="1200" spc="-1" strike="noStrike">
                <a:solidFill>
                  <a:srgbClr val="7c3aed"/>
                </a:solidFill>
                <a:latin typeface="Consolas"/>
                <a:ea typeface="Consolas"/>
              </a:rPr>
              <a:t>NVARCHAR</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Alta      </a:t>
            </a:r>
            <a:r>
              <a:rPr b="0" lang="en-US" sz="1200" spc="-1" strike="noStrike">
                <a:solidFill>
                  <a:srgbClr val="7c3aed"/>
                </a:solidFill>
                <a:latin typeface="Consolas"/>
                <a:ea typeface="Consolas"/>
              </a:rPr>
              <a:t>DATETIME2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DF_Cliente_Alta </a:t>
            </a:r>
            <a:r>
              <a:rPr b="1" lang="en-US" sz="1200" spc="-1" strike="noStrike">
                <a:solidFill>
                  <a:srgbClr val="1d4ed8"/>
                </a:solidFill>
                <a:latin typeface="Consolas"/>
                <a:ea typeface="Consolas"/>
              </a:rPr>
              <a:t>DEFAULT</a:t>
            </a:r>
            <a:r>
              <a:rPr b="0" lang="en-US" sz="1200" spc="-1" strike="noStrike">
                <a:solidFill>
                  <a:srgbClr val="1f2933"/>
                </a:solidFill>
                <a:latin typeface="Consolas"/>
                <a:ea typeface="Consolas"/>
              </a:rPr>
              <a:t> SYSDATETIME()</a:t>
            </a:r>
            <a:r>
              <a:rPr b="1" lang="en-US" sz="1200" spc="-1" strike="noStrike">
                <a:solidFill>
                  <a:srgbClr val="1d4ed8"/>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PK_Cliente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UQ_Cliente_Email </a:t>
            </a:r>
            <a:r>
              <a:rPr b="1" lang="en-US" sz="1200" spc="-1" strike="noStrike">
                <a:solidFill>
                  <a:srgbClr val="1d4ed8"/>
                </a:solidFill>
                <a:latin typeface="Consolas"/>
                <a:ea typeface="Consolas"/>
              </a:rPr>
              <a:t>UNIQUE</a:t>
            </a:r>
            <a:r>
              <a:rPr b="0" lang="en-US" sz="1200" spc="-1" strike="noStrike">
                <a:solidFill>
                  <a:srgbClr val="1f2933"/>
                </a:solidFill>
                <a:latin typeface="Consolas"/>
                <a:ea typeface="Consolas"/>
              </a:rPr>
              <a:t> (Email)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TABLE</a:t>
            </a:r>
            <a:r>
              <a:rPr b="0" lang="en-US" sz="1200" spc="-1" strike="noStrike">
                <a:solidFill>
                  <a:srgbClr val="1f2933"/>
                </a:solidFill>
                <a:latin typeface="Consolas"/>
                <a:ea typeface="Consolas"/>
              </a:rPr>
              <a:t> dbo.Pedido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PedidoId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IDENTITY</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ClienteId </a:t>
            </a:r>
            <a:r>
              <a:rPr b="0" lang="en-US" sz="1200" spc="-1" strike="noStrike">
                <a:solidFill>
                  <a:srgbClr val="7c3aed"/>
                </a:solidFill>
                <a:latin typeface="Consolas"/>
                <a:ea typeface="Consolas"/>
              </a:rPr>
              <a:t>INT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Fecha     </a:t>
            </a:r>
            <a:r>
              <a:rPr b="0" lang="en-US" sz="1200" spc="-1" strike="noStrike">
                <a:solidFill>
                  <a:srgbClr val="7c3aed"/>
                </a:solidFill>
                <a:latin typeface="Consolas"/>
                <a:ea typeface="Consolas"/>
              </a:rPr>
              <a:t>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Total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12</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PK_Pedido </a:t>
            </a:r>
            <a:r>
              <a:rPr b="1" lang="en-US" sz="1200" spc="-1" strike="noStrike">
                <a:solidFill>
                  <a:srgbClr val="1d4ed8"/>
                </a:solidFill>
                <a:latin typeface="Consolas"/>
                <a:ea typeface="Consolas"/>
              </a:rPr>
              <a:t>PRIMARY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(PedidoId),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FK_Pedido_Cliente </a:t>
            </a:r>
            <a:r>
              <a:rPr b="1" lang="en-US" sz="1200" spc="-1" strike="noStrike">
                <a:solidFill>
                  <a:srgbClr val="1d4ed8"/>
                </a:solidFill>
                <a:latin typeface="Consolas"/>
                <a:ea typeface="Consolas"/>
              </a:rPr>
              <a:t>FOREIGN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KEY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REFERENCES</a:t>
            </a:r>
            <a:r>
              <a:rPr b="0" lang="en-US" sz="1200" spc="-1" strike="noStrike">
                <a:solidFill>
                  <a:srgbClr val="1f2933"/>
                </a:solidFill>
                <a:latin typeface="Consolas"/>
                <a:ea typeface="Consolas"/>
              </a:rPr>
              <a:t> dbo.Cliente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CONSTRAINT</a:t>
            </a:r>
            <a:r>
              <a:rPr b="0" lang="en-US" sz="1200" spc="-1" strike="noStrike">
                <a:solidFill>
                  <a:srgbClr val="1f2933"/>
                </a:solidFill>
                <a:latin typeface="Consolas"/>
                <a:ea typeface="Consolas"/>
              </a:rPr>
              <a:t> CK_Pedido_Total </a:t>
            </a:r>
            <a:r>
              <a:rPr b="1" lang="en-US" sz="1200" spc="-1" strike="noStrike">
                <a:solidFill>
                  <a:srgbClr val="1d4ed8"/>
                </a:solidFill>
                <a:latin typeface="Consolas"/>
                <a:ea typeface="Consolas"/>
              </a:rPr>
              <a:t>CHECK</a:t>
            </a:r>
            <a:r>
              <a:rPr b="0" lang="en-US" sz="1200" spc="-1" strike="noStrike">
                <a:solidFill>
                  <a:srgbClr val="1f2933"/>
                </a:solidFill>
                <a:latin typeface="Consolas"/>
                <a:ea typeface="Consolas"/>
              </a:rPr>
              <a:t> (Total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IX_Pedido_ClienteId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p:txBody>
      </p:sp>
      <p:sp>
        <p:nvSpPr>
          <p:cNvPr id="605"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06"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07" name="Image 0" descr="preencoded.png"/>
          <p:cNvPicPr/>
          <p:nvPr/>
        </p:nvPicPr>
        <p:blipFill>
          <a:blip r:embed="rId1"/>
          <a:stretch/>
        </p:blipFill>
        <p:spPr>
          <a:xfrm>
            <a:off x="7955280" y="1965960"/>
            <a:ext cx="273600" cy="273600"/>
          </a:xfrm>
          <a:prstGeom prst="rect">
            <a:avLst/>
          </a:prstGeom>
          <a:ln>
            <a:noFill/>
          </a:ln>
        </p:spPr>
      </p:pic>
      <p:sp>
        <p:nvSpPr>
          <p:cNvPr id="608"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Las cinco restricciones</a:t>
            </a:r>
            <a:endParaRPr b="0" lang="es-ES" sz="1700" spc="-1" strike="noStrike">
              <a:latin typeface="Arial"/>
            </a:endParaRPr>
          </a:p>
        </p:txBody>
      </p:sp>
      <p:sp>
        <p:nvSpPr>
          <p:cNvPr id="609"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PK: </a:t>
            </a:r>
            <a:r>
              <a:rPr b="0" lang="en-US" sz="1400" spc="-1" strike="noStrike">
                <a:solidFill>
                  <a:srgbClr val="1f2933"/>
                </a:solidFill>
                <a:latin typeface="Calibri"/>
                <a:ea typeface="Calibri"/>
              </a:rPr>
              <a:t>identifica la fila; crea índice clustered</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FK: </a:t>
            </a:r>
            <a:r>
              <a:rPr b="0" lang="en-US" sz="1400" spc="-1" strike="noStrike">
                <a:solidFill>
                  <a:srgbClr val="1f2933"/>
                </a:solidFill>
                <a:latin typeface="Calibri"/>
                <a:ea typeface="Calibri"/>
              </a:rPr>
              <a:t>integridad referencial; sin índice automático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UNIQUE: </a:t>
            </a:r>
            <a:r>
              <a:rPr b="0" lang="en-US" sz="1400" spc="-1" strike="noStrike">
                <a:solidFill>
                  <a:srgbClr val="1f2933"/>
                </a:solidFill>
                <a:latin typeface="Calibri"/>
                <a:ea typeface="Calibri"/>
              </a:rPr>
              <a:t>valores no repetidos (índice único)</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CHECK: </a:t>
            </a:r>
            <a:r>
              <a:rPr b="0" lang="en-US" sz="1400" spc="-1" strike="noStrike">
                <a:solidFill>
                  <a:srgbClr val="1f2933"/>
                </a:solidFill>
                <a:latin typeface="Calibri"/>
                <a:ea typeface="Calibri"/>
              </a:rPr>
              <a:t>regla de dominio por fila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DEFAULT: </a:t>
            </a:r>
            <a:r>
              <a:rPr b="0" lang="en-US" sz="1400" spc="-1" strike="noStrike">
                <a:solidFill>
                  <a:srgbClr val="1f2933"/>
                </a:solidFill>
                <a:latin typeface="Calibri"/>
                <a:ea typeface="Calibri"/>
              </a:rPr>
              <a:t>valor si se omite la columna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1f2933"/>
                </a:solidFill>
                <a:latin typeface="Calibri"/>
                <a:ea typeface="Calibri"/>
              </a:rPr>
              <a:t>INDEX</a:t>
            </a:r>
            <a:r>
              <a:rPr b="0" lang="en-US" sz="1400" spc="-1" strike="noStrike">
                <a:solidFill>
                  <a:srgbClr val="1f2933"/>
                </a:solidFill>
                <a:latin typeface="Calibri"/>
                <a:ea typeface="Calibri"/>
              </a:rPr>
              <a:t>: indice de tipo not cluestered sobre columna </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10"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61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Errores comunes en el diseño DDL</a:t>
            </a:r>
            <a:endParaRPr b="0" lang="es-ES" sz="3400" spc="-1" strike="noStrike">
              <a:latin typeface="Arial"/>
            </a:endParaRPr>
          </a:p>
        </p:txBody>
      </p:sp>
      <p:sp>
        <p:nvSpPr>
          <p:cNvPr id="61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1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23</a:t>
            </a:r>
            <a:endParaRPr b="0" lang="es-ES" sz="1000" spc="-1" strike="noStrike">
              <a:latin typeface="Arial"/>
            </a:endParaRPr>
          </a:p>
        </p:txBody>
      </p:sp>
      <p:sp>
        <p:nvSpPr>
          <p:cNvPr id="614" name="CustomShape 5"/>
          <p:cNvSpPr/>
          <p:nvPr/>
        </p:nvSpPr>
        <p:spPr>
          <a:xfrm>
            <a:off x="54864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15"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16" name="Image 0" descr="preencoded.png"/>
          <p:cNvPicPr/>
          <p:nvPr/>
        </p:nvPicPr>
        <p:blipFill>
          <a:blip r:embed="rId1"/>
          <a:stretch/>
        </p:blipFill>
        <p:spPr>
          <a:xfrm>
            <a:off x="914400" y="1965960"/>
            <a:ext cx="273600" cy="273600"/>
          </a:xfrm>
          <a:prstGeom prst="rect">
            <a:avLst/>
          </a:prstGeom>
          <a:ln>
            <a:noFill/>
          </a:ln>
        </p:spPr>
      </p:pic>
      <p:sp>
        <p:nvSpPr>
          <p:cNvPr id="617" name="CustomShape 7"/>
          <p:cNvSpPr/>
          <p:nvPr/>
        </p:nvSpPr>
        <p:spPr>
          <a:xfrm>
            <a:off x="146304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Tabla sin clave primaria</a:t>
            </a:r>
            <a:endParaRPr b="0" lang="es-ES" sz="1600" spc="-1" strike="noStrike">
              <a:latin typeface="Arial"/>
            </a:endParaRPr>
          </a:p>
        </p:txBody>
      </p:sp>
      <p:sp>
        <p:nvSpPr>
          <p:cNvPr id="618" name="CustomShape 8"/>
          <p:cNvSpPr/>
          <p:nvPr/>
        </p:nvSpPr>
        <p:spPr>
          <a:xfrm>
            <a:off x="77724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 heap sin PK admite duplicados y complica replicación y CDC. Define siempre una PK.</a:t>
            </a:r>
            <a:endParaRPr b="0" lang="es-ES" sz="1400" spc="-1" strike="noStrike">
              <a:latin typeface="Arial"/>
            </a:endParaRPr>
          </a:p>
        </p:txBody>
      </p:sp>
      <p:sp>
        <p:nvSpPr>
          <p:cNvPr id="619" name="CustomShape 9"/>
          <p:cNvSpPr/>
          <p:nvPr/>
        </p:nvSpPr>
        <p:spPr>
          <a:xfrm>
            <a:off x="433836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0" name="CustomShape 10"/>
          <p:cNvSpPr/>
          <p:nvPr/>
        </p:nvSpPr>
        <p:spPr>
          <a:xfrm>
            <a:off x="4566960" y="1828800"/>
            <a:ext cx="547920" cy="547920"/>
          </a:xfrm>
          <a:prstGeom prst="ellipse">
            <a:avLst/>
          </a:prstGeom>
          <a:solidFill>
            <a:srgbClr val="134074"/>
          </a:solidFill>
          <a:ln>
            <a:noFill/>
          </a:ln>
        </p:spPr>
        <p:style>
          <a:lnRef idx="0"/>
          <a:fillRef idx="0"/>
          <a:effectRef idx="0"/>
          <a:fontRef idx="minor"/>
        </p:style>
      </p:sp>
      <p:pic>
        <p:nvPicPr>
          <p:cNvPr id="621" name="Image 1" descr="preencoded.png"/>
          <p:cNvPicPr/>
          <p:nvPr/>
        </p:nvPicPr>
        <p:blipFill>
          <a:blip r:embed="rId2"/>
          <a:stretch/>
        </p:blipFill>
        <p:spPr>
          <a:xfrm>
            <a:off x="4704120" y="1965960"/>
            <a:ext cx="273600" cy="273600"/>
          </a:xfrm>
          <a:prstGeom prst="rect">
            <a:avLst/>
          </a:prstGeom>
          <a:ln>
            <a:noFill/>
          </a:ln>
        </p:spPr>
      </p:pic>
      <p:sp>
        <p:nvSpPr>
          <p:cNvPr id="622" name="CustomShape 11"/>
          <p:cNvSpPr/>
          <p:nvPr/>
        </p:nvSpPr>
        <p:spPr>
          <a:xfrm>
            <a:off x="525276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FK sin índice de apoyo</a:t>
            </a:r>
            <a:endParaRPr b="0" lang="es-ES" sz="1600" spc="-1" strike="noStrike">
              <a:latin typeface="Arial"/>
            </a:endParaRPr>
          </a:p>
        </p:txBody>
      </p:sp>
      <p:sp>
        <p:nvSpPr>
          <p:cNvPr id="623" name="CustomShape 12"/>
          <p:cNvSpPr/>
          <p:nvPr/>
        </p:nvSpPr>
        <p:spPr>
          <a:xfrm>
            <a:off x="456696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SQL Server no indexa la FK: un DELETE en el padre escanea la tabla hija y bloquea.</a:t>
            </a:r>
            <a:endParaRPr b="0" lang="es-ES" sz="1400" spc="-1" strike="noStrike">
              <a:latin typeface="Arial"/>
            </a:endParaRPr>
          </a:p>
        </p:txBody>
      </p:sp>
      <p:sp>
        <p:nvSpPr>
          <p:cNvPr id="624" name="CustomShape 13"/>
          <p:cNvSpPr/>
          <p:nvPr/>
        </p:nvSpPr>
        <p:spPr>
          <a:xfrm>
            <a:off x="8127720" y="160020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25" name="CustomShape 14"/>
          <p:cNvSpPr/>
          <p:nvPr/>
        </p:nvSpPr>
        <p:spPr>
          <a:xfrm>
            <a:off x="8356320" y="1828800"/>
            <a:ext cx="547920" cy="547920"/>
          </a:xfrm>
          <a:prstGeom prst="ellipse">
            <a:avLst/>
          </a:prstGeom>
          <a:solidFill>
            <a:srgbClr val="134074"/>
          </a:solidFill>
          <a:ln>
            <a:noFill/>
          </a:ln>
        </p:spPr>
        <p:style>
          <a:lnRef idx="0"/>
          <a:fillRef idx="0"/>
          <a:effectRef idx="0"/>
          <a:fontRef idx="minor"/>
        </p:style>
      </p:sp>
      <p:pic>
        <p:nvPicPr>
          <p:cNvPr id="626" name="Image 2" descr="preencoded.png"/>
          <p:cNvPicPr/>
          <p:nvPr/>
        </p:nvPicPr>
        <p:blipFill>
          <a:blip r:embed="rId3"/>
          <a:stretch/>
        </p:blipFill>
        <p:spPr>
          <a:xfrm>
            <a:off x="8493480" y="1965960"/>
            <a:ext cx="273600" cy="273600"/>
          </a:xfrm>
          <a:prstGeom prst="rect">
            <a:avLst/>
          </a:prstGeom>
          <a:ln>
            <a:noFill/>
          </a:ln>
        </p:spPr>
      </p:pic>
      <p:sp>
        <p:nvSpPr>
          <p:cNvPr id="627" name="CustomShape 15"/>
          <p:cNvSpPr/>
          <p:nvPr/>
        </p:nvSpPr>
        <p:spPr>
          <a:xfrm>
            <a:off x="9042120" y="182880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Restricciones WITH NOCHECK</a:t>
            </a:r>
            <a:endParaRPr b="0" lang="es-ES" sz="1600" spc="-1" strike="noStrike">
              <a:latin typeface="Arial"/>
            </a:endParaRPr>
          </a:p>
        </p:txBody>
      </p:sp>
      <p:sp>
        <p:nvSpPr>
          <p:cNvPr id="628" name="CustomShape 16"/>
          <p:cNvSpPr/>
          <p:nvPr/>
        </p:nvSpPr>
        <p:spPr>
          <a:xfrm>
            <a:off x="8356320" y="256032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restricción queda «no confiable» y el optimizador deja de aprovecharla.</a:t>
            </a:r>
            <a:endParaRPr b="0" lang="es-ES" sz="1400" spc="-1" strike="noStrike">
              <a:latin typeface="Arial"/>
            </a:endParaRPr>
          </a:p>
        </p:txBody>
      </p:sp>
      <p:sp>
        <p:nvSpPr>
          <p:cNvPr id="629" name="CustomShape 17"/>
          <p:cNvSpPr/>
          <p:nvPr/>
        </p:nvSpPr>
        <p:spPr>
          <a:xfrm>
            <a:off x="54864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0"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631" name="Image 3" descr="preencoded.png"/>
          <p:cNvPicPr/>
          <p:nvPr/>
        </p:nvPicPr>
        <p:blipFill>
          <a:blip r:embed="rId4"/>
          <a:stretch/>
        </p:blipFill>
        <p:spPr>
          <a:xfrm>
            <a:off x="914400" y="4389120"/>
            <a:ext cx="273600" cy="273600"/>
          </a:xfrm>
          <a:prstGeom prst="rect">
            <a:avLst/>
          </a:prstGeom>
          <a:ln>
            <a:noFill/>
          </a:ln>
        </p:spPr>
      </p:pic>
      <p:sp>
        <p:nvSpPr>
          <p:cNvPr id="632" name="CustomShape 19"/>
          <p:cNvSpPr/>
          <p:nvPr/>
        </p:nvSpPr>
        <p:spPr>
          <a:xfrm>
            <a:off x="146304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VARCHAR mezclado con NVARCHAR</a:t>
            </a:r>
            <a:endParaRPr b="0" lang="es-ES" sz="1600" spc="-1" strike="noStrike">
              <a:latin typeface="Arial"/>
            </a:endParaRPr>
          </a:p>
        </p:txBody>
      </p:sp>
      <p:sp>
        <p:nvSpPr>
          <p:cNvPr id="633" name="CustomShape 20"/>
          <p:cNvSpPr/>
          <p:nvPr/>
        </p:nvSpPr>
        <p:spPr>
          <a:xfrm>
            <a:off x="77724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 conversión implícita puede impedir un Index Seek y dispara la CPU.</a:t>
            </a:r>
            <a:endParaRPr b="0" lang="es-ES" sz="1400" spc="-1" strike="noStrike">
              <a:latin typeface="Arial"/>
            </a:endParaRPr>
          </a:p>
        </p:txBody>
      </p:sp>
      <p:sp>
        <p:nvSpPr>
          <p:cNvPr id="634" name="CustomShape 21"/>
          <p:cNvSpPr/>
          <p:nvPr/>
        </p:nvSpPr>
        <p:spPr>
          <a:xfrm>
            <a:off x="433836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35" name="CustomShape 22"/>
          <p:cNvSpPr/>
          <p:nvPr/>
        </p:nvSpPr>
        <p:spPr>
          <a:xfrm>
            <a:off x="4566960" y="4251960"/>
            <a:ext cx="547920" cy="547920"/>
          </a:xfrm>
          <a:prstGeom prst="ellipse">
            <a:avLst/>
          </a:prstGeom>
          <a:solidFill>
            <a:srgbClr val="134074"/>
          </a:solidFill>
          <a:ln>
            <a:noFill/>
          </a:ln>
        </p:spPr>
        <p:style>
          <a:lnRef idx="0"/>
          <a:fillRef idx="0"/>
          <a:effectRef idx="0"/>
          <a:fontRef idx="minor"/>
        </p:style>
      </p:sp>
      <p:pic>
        <p:nvPicPr>
          <p:cNvPr id="636" name="Image 4" descr="preencoded.png"/>
          <p:cNvPicPr/>
          <p:nvPr/>
        </p:nvPicPr>
        <p:blipFill>
          <a:blip r:embed="rId5"/>
          <a:stretch/>
        </p:blipFill>
        <p:spPr>
          <a:xfrm>
            <a:off x="4704120" y="4389120"/>
            <a:ext cx="273600" cy="273600"/>
          </a:xfrm>
          <a:prstGeom prst="rect">
            <a:avLst/>
          </a:prstGeom>
          <a:ln>
            <a:noFill/>
          </a:ln>
        </p:spPr>
      </p:pic>
      <p:sp>
        <p:nvSpPr>
          <p:cNvPr id="637" name="CustomShape 23"/>
          <p:cNvSpPr/>
          <p:nvPr/>
        </p:nvSpPr>
        <p:spPr>
          <a:xfrm>
            <a:off x="525276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GUID aleatorio como clustered</a:t>
            </a:r>
            <a:endParaRPr b="0" lang="es-ES" sz="1600" spc="-1" strike="noStrike">
              <a:latin typeface="Arial"/>
            </a:endParaRPr>
          </a:p>
        </p:txBody>
      </p:sp>
      <p:sp>
        <p:nvSpPr>
          <p:cNvPr id="638" name="CustomShape 24"/>
          <p:cNvSpPr/>
          <p:nvPr/>
        </p:nvSpPr>
        <p:spPr>
          <a:xfrm>
            <a:off x="456696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NEWID() fragmenta el índice con Page Splits. Prefiere IDENTITY o NEWSEQUENTIALID().</a:t>
            </a:r>
            <a:endParaRPr b="0" lang="es-ES" sz="1400" spc="-1" strike="noStrike">
              <a:latin typeface="Arial"/>
            </a:endParaRPr>
          </a:p>
        </p:txBody>
      </p:sp>
      <p:sp>
        <p:nvSpPr>
          <p:cNvPr id="639" name="CustomShape 25"/>
          <p:cNvSpPr/>
          <p:nvPr/>
        </p:nvSpPr>
        <p:spPr>
          <a:xfrm>
            <a:off x="8127720" y="4023360"/>
            <a:ext cx="351468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0" name="CustomShape 26"/>
          <p:cNvSpPr/>
          <p:nvPr/>
        </p:nvSpPr>
        <p:spPr>
          <a:xfrm>
            <a:off x="8356320" y="4251960"/>
            <a:ext cx="547920" cy="547920"/>
          </a:xfrm>
          <a:prstGeom prst="ellipse">
            <a:avLst/>
          </a:prstGeom>
          <a:solidFill>
            <a:srgbClr val="134074"/>
          </a:solidFill>
          <a:ln>
            <a:noFill/>
          </a:ln>
        </p:spPr>
        <p:style>
          <a:lnRef idx="0"/>
          <a:fillRef idx="0"/>
          <a:effectRef idx="0"/>
          <a:fontRef idx="minor"/>
        </p:style>
      </p:sp>
      <p:pic>
        <p:nvPicPr>
          <p:cNvPr id="641" name="Image 5" descr="preencoded.png"/>
          <p:cNvPicPr/>
          <p:nvPr/>
        </p:nvPicPr>
        <p:blipFill>
          <a:blip r:embed="rId6"/>
          <a:stretch/>
        </p:blipFill>
        <p:spPr>
          <a:xfrm>
            <a:off x="8493480" y="4389120"/>
            <a:ext cx="273600" cy="273600"/>
          </a:xfrm>
          <a:prstGeom prst="rect">
            <a:avLst/>
          </a:prstGeom>
          <a:ln>
            <a:noFill/>
          </a:ln>
        </p:spPr>
      </p:pic>
      <p:sp>
        <p:nvSpPr>
          <p:cNvPr id="642" name="CustomShape 27"/>
          <p:cNvSpPr/>
          <p:nvPr/>
        </p:nvSpPr>
        <p:spPr>
          <a:xfrm>
            <a:off x="9042120" y="4251960"/>
            <a:ext cx="2371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Tipos sobredimensionados</a:t>
            </a:r>
            <a:endParaRPr b="0" lang="es-ES" sz="1600" spc="-1" strike="noStrike">
              <a:latin typeface="Arial"/>
            </a:endParaRPr>
          </a:p>
        </p:txBody>
      </p:sp>
      <p:sp>
        <p:nvSpPr>
          <p:cNvPr id="643" name="CustomShape 28"/>
          <p:cNvSpPr/>
          <p:nvPr/>
        </p:nvSpPr>
        <p:spPr>
          <a:xfrm>
            <a:off x="8356320" y="4983480"/>
            <a:ext cx="305748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Más páginas, más I/O y más memoria en el Buffer Pool para el mismo dato.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4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4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estándar frente a vistas indexadas</a:t>
            </a:r>
            <a:endParaRPr b="0" lang="es-ES" sz="3400" spc="-1" strike="noStrike">
              <a:latin typeface="Arial"/>
            </a:endParaRPr>
          </a:p>
        </p:txBody>
      </p:sp>
      <p:sp>
        <p:nvSpPr>
          <p:cNvPr id="64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4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24</a:t>
            </a:r>
            <a:endParaRPr b="0" lang="es-ES" sz="1000" spc="-1" strike="noStrike">
              <a:latin typeface="Arial"/>
            </a:endParaRPr>
          </a:p>
        </p:txBody>
      </p:sp>
      <p:sp>
        <p:nvSpPr>
          <p:cNvPr id="648" name="CustomShape 5"/>
          <p:cNvSpPr/>
          <p:nvPr/>
        </p:nvSpPr>
        <p:spPr>
          <a:xfrm>
            <a:off x="548640" y="1600200"/>
            <a:ext cx="539424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49"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650" name="Image 0" descr="preencoded.png"/>
          <p:cNvPicPr/>
          <p:nvPr/>
        </p:nvPicPr>
        <p:blipFill>
          <a:blip r:embed="rId1"/>
          <a:stretch/>
        </p:blipFill>
        <p:spPr>
          <a:xfrm>
            <a:off x="914400" y="1965960"/>
            <a:ext cx="273600" cy="273600"/>
          </a:xfrm>
          <a:prstGeom prst="rect">
            <a:avLst/>
          </a:prstGeom>
          <a:ln>
            <a:noFill/>
          </a:ln>
        </p:spPr>
      </p:pic>
      <p:sp>
        <p:nvSpPr>
          <p:cNvPr id="651"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 estándar</a:t>
            </a:r>
            <a:endParaRPr b="0" lang="es-ES" sz="1700" spc="-1" strike="noStrike">
              <a:latin typeface="Arial"/>
            </a:endParaRPr>
          </a:p>
        </p:txBody>
      </p:sp>
      <p:sp>
        <p:nvSpPr>
          <p:cNvPr id="652" name="CustomShape 8"/>
          <p:cNvSpPr/>
          <p:nvPr/>
        </p:nvSpPr>
        <p:spPr>
          <a:xfrm>
            <a:off x="77724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Consulta guardada, sin datos propios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 expande dentro de la consulta externa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Simplifica joins y centraliza permisos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 el de la consulta subyacente</a:t>
            </a:r>
            <a:endParaRPr b="0" lang="es-ES" sz="1400" spc="-1" strike="noStrike">
              <a:latin typeface="Arial"/>
            </a:endParaRPr>
          </a:p>
        </p:txBody>
      </p:sp>
      <p:sp>
        <p:nvSpPr>
          <p:cNvPr id="653" name="CustomShape 9"/>
          <p:cNvSpPr/>
          <p:nvPr/>
        </p:nvSpPr>
        <p:spPr>
          <a:xfrm>
            <a:off x="6245280" y="1600200"/>
            <a:ext cx="5394240" cy="2925360"/>
          </a:xfrm>
          <a:prstGeom prst="roundRect">
            <a:avLst>
              <a:gd name="adj" fmla="val 3750"/>
            </a:avLst>
          </a:prstGeom>
          <a:solidFill>
            <a:srgbClr val="134074"/>
          </a:solidFill>
          <a:ln>
            <a:noFill/>
          </a:ln>
        </p:spPr>
        <p:style>
          <a:lnRef idx="0"/>
          <a:fillRef idx="0"/>
          <a:effectRef idx="0"/>
          <a:fontRef idx="minor"/>
        </p:style>
      </p:sp>
      <p:sp>
        <p:nvSpPr>
          <p:cNvPr id="654"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655" name="Image 1" descr="preencoded.png"/>
          <p:cNvPicPr/>
          <p:nvPr/>
        </p:nvPicPr>
        <p:blipFill>
          <a:blip r:embed="rId2"/>
          <a:stretch/>
        </p:blipFill>
        <p:spPr>
          <a:xfrm>
            <a:off x="6611040" y="1965960"/>
            <a:ext cx="273600" cy="273600"/>
          </a:xfrm>
          <a:prstGeom prst="rect">
            <a:avLst/>
          </a:prstGeom>
          <a:ln>
            <a:noFill/>
          </a:ln>
        </p:spPr>
      </p:pic>
      <p:sp>
        <p:nvSpPr>
          <p:cNvPr id="656"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Vista indexada</a:t>
            </a:r>
            <a:endParaRPr b="0" lang="es-ES" sz="1700" spc="-1" strike="noStrike">
              <a:latin typeface="Arial"/>
            </a:endParaRPr>
          </a:p>
        </p:txBody>
      </p:sp>
      <p:sp>
        <p:nvSpPr>
          <p:cNvPr id="657" name="CustomShape 12"/>
          <p:cNvSpPr/>
          <p:nvPr/>
        </p:nvSpPr>
        <p:spPr>
          <a:xfrm>
            <a:off x="6473880" y="2560320"/>
            <a:ext cx="493704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Resultado materializado en un índice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Se mantiene en cada INSERT, UPDATE y DELETE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Acelera agregaciones repetitivas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Exige SCHEMABINDING y penaliza escrituras</a:t>
            </a:r>
            <a:endParaRPr b="0" lang="es-ES" sz="1400" spc="-1" strike="noStrike">
              <a:latin typeface="Arial"/>
            </a:endParaRPr>
          </a:p>
        </p:txBody>
      </p:sp>
      <p:sp>
        <p:nvSpPr>
          <p:cNvPr id="658" name="CustomShape 13"/>
          <p:cNvSpPr/>
          <p:nvPr/>
        </p:nvSpPr>
        <p:spPr>
          <a:xfrm>
            <a:off x="548640" y="4800600"/>
            <a:ext cx="11090880" cy="1370880"/>
          </a:xfrm>
          <a:prstGeom prst="roundRect">
            <a:avLst>
              <a:gd name="adj" fmla="val 6667"/>
            </a:avLst>
          </a:prstGeom>
          <a:solidFill>
            <a:srgbClr val="eceff3"/>
          </a:solidFill>
          <a:ln w="9360">
            <a:solidFill>
              <a:srgbClr val="d0d7de"/>
            </a:solidFill>
            <a:round/>
          </a:ln>
        </p:spPr>
        <p:style>
          <a:lnRef idx="0"/>
          <a:fillRef idx="0"/>
          <a:effectRef idx="0"/>
          <a:fontRef idx="minor"/>
        </p:style>
      </p:sp>
      <p:sp>
        <p:nvSpPr>
          <p:cNvPr id="659" name="CustomShape 14"/>
          <p:cNvSpPr/>
          <p:nvPr/>
        </p:nvSpPr>
        <p:spPr>
          <a:xfrm>
            <a:off x="731520" y="48920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estándar</a:t>
            </a:r>
            <a:endParaRPr b="0" lang="es-ES" sz="1000" spc="-1" strike="noStrike">
              <a:latin typeface="Arial"/>
            </a:endParaRPr>
          </a:p>
        </p:txBody>
      </p:sp>
      <p:sp>
        <p:nvSpPr>
          <p:cNvPr id="660" name="CustomShape 15"/>
          <p:cNvSpPr/>
          <p:nvPr/>
        </p:nvSpPr>
        <p:spPr>
          <a:xfrm>
            <a:off x="731520" y="5166360"/>
            <a:ext cx="10725120" cy="9136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VIEW</a:t>
            </a:r>
            <a:r>
              <a:rPr b="0" lang="en-US" sz="1200" spc="-1" strike="noStrike">
                <a:solidFill>
                  <a:srgbClr val="1f2933"/>
                </a:solidFill>
                <a:latin typeface="Consolas"/>
                <a:ea typeface="Consolas"/>
              </a:rPr>
              <a:t> dbo.vPedidoCliente </a:t>
            </a:r>
            <a:r>
              <a:rPr b="1" lang="en-US" sz="1200" spc="-1" strike="noStrike">
                <a:solidFill>
                  <a:srgbClr val="1d4ed8"/>
                </a:solidFill>
                <a:latin typeface="Consolas"/>
                <a:ea typeface="Consolas"/>
              </a:rPr>
              <a: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c.ClienteId, c.Nombre, p.PedidoId, p.Fecha, p.Total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61"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VISTAS</a:t>
            </a:r>
            <a:endParaRPr b="0" lang="es-ES" sz="1000" spc="-1" strike="noStrike">
              <a:latin typeface="Arial"/>
            </a:endParaRPr>
          </a:p>
        </p:txBody>
      </p:sp>
      <p:sp>
        <p:nvSpPr>
          <p:cNvPr id="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Vistas indexadas: SCHEMABINDING y requisitos</a:t>
            </a:r>
            <a:endParaRPr b="0" lang="es-ES" sz="3400" spc="-1" strike="noStrike">
              <a:latin typeface="Arial"/>
            </a:endParaRPr>
          </a:p>
        </p:txBody>
      </p:sp>
      <p:sp>
        <p:nvSpPr>
          <p:cNvPr id="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25</a:t>
            </a:r>
            <a:endParaRPr b="0" lang="es-ES" sz="1000" spc="-1" strike="noStrike">
              <a:latin typeface="Arial"/>
            </a:endParaRPr>
          </a:p>
        </p:txBody>
      </p:sp>
      <p:sp>
        <p:nvSpPr>
          <p:cNvPr id="665" name="CustomShape 5"/>
          <p:cNvSpPr/>
          <p:nvPr/>
        </p:nvSpPr>
        <p:spPr>
          <a:xfrm>
            <a:off x="548640" y="1600200"/>
            <a:ext cx="630864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vista indexada</a:t>
            </a:r>
            <a:endParaRPr b="0" lang="es-ES" sz="1000" spc="-1" strike="noStrike">
              <a:latin typeface="Arial"/>
            </a:endParaRPr>
          </a:p>
        </p:txBody>
      </p:sp>
      <p:sp>
        <p:nvSpPr>
          <p:cNvPr id="667" name="CustomShape 7"/>
          <p:cNvSpPr/>
          <p:nvPr/>
        </p:nvSpPr>
        <p:spPr>
          <a:xfrm>
            <a:off x="731520" y="1965960"/>
            <a:ext cx="594288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VIEW</a:t>
            </a:r>
            <a:r>
              <a:rPr b="0" lang="en-US" sz="1300" spc="-1" strike="noStrike">
                <a:solidFill>
                  <a:srgbClr val="1f2933"/>
                </a:solidFill>
                <a:latin typeface="Consolas"/>
                <a:ea typeface="Consolas"/>
              </a:rPr>
              <a:t> dbo.vVentasCliente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SCHEMABINDING</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COUNT_BIG(*)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NumPedidos,</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SUM(p.Total)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TotalVentas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GROUP</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BY</a:t>
            </a:r>
            <a:r>
              <a:rPr b="0" lang="en-US" sz="1300" spc="-1" strike="noStrike">
                <a:solidFill>
                  <a:srgbClr val="1f2933"/>
                </a:solidFill>
                <a:latin typeface="Consolas"/>
                <a:ea typeface="Consolas"/>
              </a:rPr>
              <a:t> p.ClienteId;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UNIQUE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IX_vVentasCliente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dbo.vVentasCliente (ClienteId);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dbo.vVentasCliente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(NOEXPAND);</a:t>
            </a:r>
            <a:endParaRPr b="0" lang="es-ES" sz="1300" spc="-1" strike="noStrike">
              <a:latin typeface="Arial"/>
            </a:endParaRPr>
          </a:p>
        </p:txBody>
      </p:sp>
      <p:sp>
        <p:nvSpPr>
          <p:cNvPr id="668" name="CustomShape 8"/>
          <p:cNvSpPr/>
          <p:nvPr/>
        </p:nvSpPr>
        <p:spPr>
          <a:xfrm>
            <a:off x="548640" y="5303520"/>
            <a:ext cx="6308640" cy="867960"/>
          </a:xfrm>
          <a:prstGeom prst="roundRect">
            <a:avLst>
              <a:gd name="adj" fmla="val 12632"/>
            </a:avLst>
          </a:prstGeom>
          <a:solidFill>
            <a:srgbClr val="fdede8"/>
          </a:solidFill>
          <a:ln>
            <a:noFill/>
          </a:ln>
        </p:spPr>
        <p:style>
          <a:lnRef idx="0"/>
          <a:fillRef idx="0"/>
          <a:effectRef idx="0"/>
          <a:fontRef idx="minor"/>
        </p:style>
      </p:sp>
      <p:sp>
        <p:nvSpPr>
          <p:cNvPr id="669" name="CustomShape 9"/>
          <p:cNvSpPr/>
          <p:nvPr/>
        </p:nvSpPr>
        <p:spPr>
          <a:xfrm>
            <a:off x="731520" y="5509440"/>
            <a:ext cx="456480" cy="456480"/>
          </a:xfrm>
          <a:prstGeom prst="ellipse">
            <a:avLst/>
          </a:prstGeom>
          <a:solidFill>
            <a:srgbClr val="d95d39"/>
          </a:solidFill>
          <a:ln>
            <a:noFill/>
          </a:ln>
        </p:spPr>
        <p:style>
          <a:lnRef idx="0"/>
          <a:fillRef idx="0"/>
          <a:effectRef idx="0"/>
          <a:fontRef idx="minor"/>
        </p:style>
      </p:sp>
      <p:pic>
        <p:nvPicPr>
          <p:cNvPr id="670" name="Image 0" descr="preencoded.png"/>
          <p:cNvPicPr/>
          <p:nvPr/>
        </p:nvPicPr>
        <p:blipFill>
          <a:blip r:embed="rId1"/>
          <a:stretch/>
        </p:blipFill>
        <p:spPr>
          <a:xfrm>
            <a:off x="846000" y="5623560"/>
            <a:ext cx="227880" cy="227880"/>
          </a:xfrm>
          <a:prstGeom prst="rect">
            <a:avLst/>
          </a:prstGeom>
          <a:ln>
            <a:noFill/>
          </a:ln>
        </p:spPr>
      </p:pic>
      <p:sp>
        <p:nvSpPr>
          <p:cNvPr id="671" name="CustomShape 10"/>
          <p:cNvSpPr/>
          <p:nvPr/>
        </p:nvSpPr>
        <p:spPr>
          <a:xfrm>
            <a:off x="1371600" y="5303520"/>
            <a:ext cx="530280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Coste: </a:t>
            </a:r>
            <a:r>
              <a:rPr b="0" lang="en-US" sz="1400" spc="-1" strike="noStrike">
                <a:solidFill>
                  <a:srgbClr val="1f2933"/>
                </a:solidFill>
                <a:latin typeface="Calibri"/>
                <a:ea typeface="Calibri"/>
              </a:rPr>
              <a:t>cada DML sobre dbo.Pedido también actualiza la vista.</a:t>
            </a:r>
            <a:endParaRPr b="0" lang="es-ES" sz="1400" spc="-1" strike="noStrike">
              <a:latin typeface="Arial"/>
            </a:endParaRPr>
          </a:p>
        </p:txBody>
      </p:sp>
      <p:sp>
        <p:nvSpPr>
          <p:cNvPr id="672" name="CustomShape 11"/>
          <p:cNvSpPr/>
          <p:nvPr/>
        </p:nvSpPr>
        <p:spPr>
          <a:xfrm>
            <a:off x="7132320" y="1600200"/>
            <a:ext cx="4507200" cy="4571280"/>
          </a:xfrm>
          <a:prstGeom prst="roundRect">
            <a:avLst>
              <a:gd name="adj" fmla="val 243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73" name="CustomShape 12"/>
          <p:cNvSpPr/>
          <p:nvPr/>
        </p:nvSpPr>
        <p:spPr>
          <a:xfrm>
            <a:off x="7360920" y="1828800"/>
            <a:ext cx="547920" cy="547920"/>
          </a:xfrm>
          <a:prstGeom prst="ellipse">
            <a:avLst/>
          </a:prstGeom>
          <a:solidFill>
            <a:srgbClr val="134074"/>
          </a:solidFill>
          <a:ln>
            <a:noFill/>
          </a:ln>
        </p:spPr>
        <p:style>
          <a:lnRef idx="0"/>
          <a:fillRef idx="0"/>
          <a:effectRef idx="0"/>
          <a:fontRef idx="minor"/>
        </p:style>
      </p:sp>
      <p:pic>
        <p:nvPicPr>
          <p:cNvPr id="674" name="Image 1" descr="preencoded.png"/>
          <p:cNvPicPr/>
          <p:nvPr/>
        </p:nvPicPr>
        <p:blipFill>
          <a:blip r:embed="rId2"/>
          <a:stretch/>
        </p:blipFill>
        <p:spPr>
          <a:xfrm>
            <a:off x="7498080" y="1965960"/>
            <a:ext cx="273600" cy="273600"/>
          </a:xfrm>
          <a:prstGeom prst="rect">
            <a:avLst/>
          </a:prstGeom>
          <a:ln>
            <a:noFill/>
          </a:ln>
        </p:spPr>
      </p:pic>
      <p:sp>
        <p:nvSpPr>
          <p:cNvPr id="675" name="CustomShape 13"/>
          <p:cNvSpPr/>
          <p:nvPr/>
        </p:nvSpPr>
        <p:spPr>
          <a:xfrm>
            <a:off x="8046720" y="182880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principales</a:t>
            </a:r>
            <a:endParaRPr b="0" lang="es-ES" sz="1700" spc="-1" strike="noStrike">
              <a:latin typeface="Arial"/>
            </a:endParaRPr>
          </a:p>
        </p:txBody>
      </p:sp>
      <p:sp>
        <p:nvSpPr>
          <p:cNvPr id="676" name="CustomShape 14"/>
          <p:cNvSpPr/>
          <p:nvPr/>
        </p:nvSpPr>
        <p:spPr>
          <a:xfrm>
            <a:off x="7360920" y="2560320"/>
            <a:ext cx="40500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SCHEMABINDING </a:t>
            </a:r>
            <a:r>
              <a:rPr b="0" lang="en-US" sz="1400" spc="-1" strike="noStrike">
                <a:solidFill>
                  <a:srgbClr val="1f2933"/>
                </a:solidFill>
                <a:latin typeface="Calibri"/>
                <a:ea typeface="Calibri"/>
              </a:rPr>
              <a:t>y nombres de dos partes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COUNT_BIG(*) </a:t>
            </a:r>
            <a:r>
              <a:rPr b="0" lang="en-US" sz="1400" spc="-1" strike="noStrike">
                <a:solidFill>
                  <a:srgbClr val="1f2933"/>
                </a:solidFill>
                <a:latin typeface="Calibri"/>
                <a:ea typeface="Calibri"/>
              </a:rPr>
              <a:t>si hay GROUP BY</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Sin OUTER JOIN, subconsultas, DISTINCT, TOP, UNION ni MIN/MAX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Primer índice: </a:t>
            </a:r>
            <a:r>
              <a:rPr b="0" lang="en-US" sz="1400" spc="-1" strike="noStrike">
                <a:solidFill>
                  <a:srgbClr val="1f2933"/>
                </a:solidFill>
                <a:latin typeface="Calibri"/>
                <a:ea typeface="Calibri"/>
              </a:rPr>
              <a:t>UNIQUE CLUSTERED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Opciones SET: ARITHABORT, ANSI_NULLS y QUOTED_IDENTIFIER en ON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Standard: </a:t>
            </a:r>
            <a:r>
              <a:rPr b="0" lang="en-US" sz="1400" spc="-1" strike="noStrike">
                <a:solidFill>
                  <a:srgbClr val="1f2933"/>
                </a:solidFill>
                <a:latin typeface="Calibri"/>
                <a:ea typeface="Calibri"/>
              </a:rPr>
              <a:t>usar NOEXPAND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7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Procedimientos almacenados</a:t>
            </a:r>
            <a:endParaRPr b="0" lang="es-ES" sz="3400" spc="-1" strike="noStrike">
              <a:latin typeface="Arial"/>
            </a:endParaRPr>
          </a:p>
        </p:txBody>
      </p:sp>
      <p:sp>
        <p:nvSpPr>
          <p:cNvPr id="6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26</a:t>
            </a:r>
            <a:endParaRPr b="0" lang="es-ES" sz="1000" spc="-1" strike="noStrike">
              <a:latin typeface="Arial"/>
            </a:endParaRPr>
          </a:p>
        </p:txBody>
      </p:sp>
      <p:sp>
        <p:nvSpPr>
          <p:cNvPr id="681" name="CustomShape 5"/>
          <p:cNvSpPr/>
          <p:nvPr/>
        </p:nvSpPr>
        <p:spPr>
          <a:xfrm>
            <a:off x="548640" y="1600200"/>
            <a:ext cx="67658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68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procedimiento</a:t>
            </a:r>
            <a:endParaRPr b="0" lang="es-ES" sz="1000" spc="-1" strike="noStrike">
              <a:latin typeface="Arial"/>
            </a:endParaRPr>
          </a:p>
        </p:txBody>
      </p:sp>
      <p:sp>
        <p:nvSpPr>
          <p:cNvPr id="683" name="CustomShape 7"/>
          <p:cNvSpPr/>
          <p:nvPr/>
        </p:nvSpPr>
        <p:spPr>
          <a:xfrm>
            <a:off x="731520" y="1965960"/>
            <a:ext cx="64000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400" spc="-1" strike="noStrike">
                <a:solidFill>
                  <a:srgbClr val="1d4ed8"/>
                </a:solidFill>
                <a:latin typeface="Consolas"/>
                <a:ea typeface="Consolas"/>
              </a:rPr>
              <a:t>CREATE</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ALTER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PROCEDURE</a:t>
            </a:r>
            <a:r>
              <a:rPr b="0" lang="en-US" sz="1400" spc="-1" strike="noStrike">
                <a:solidFill>
                  <a:srgbClr val="1f2933"/>
                </a:solidFill>
                <a:latin typeface="Consolas"/>
                <a:ea typeface="Consolas"/>
              </a:rPr>
              <a:t> dbo.usp_PedidosPorCliente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INT</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0" lang="en-US" sz="1400" spc="-1" strike="noStrike">
                <a:solidFill>
                  <a:srgbClr val="0f766e"/>
                </a:solidFill>
                <a:latin typeface="Consolas"/>
                <a:ea typeface="Consolas"/>
              </a:rPr>
              <a:t>@Desde</a:t>
            </a:r>
            <a:r>
              <a:rPr b="0" lang="en-US" sz="1400" spc="-1" strike="noStrike">
                <a:solidFill>
                  <a:srgbClr val="1f2933"/>
                </a:solidFill>
                <a:latin typeface="Consolas"/>
                <a:ea typeface="Consolas"/>
              </a:rPr>
              <a:t>     </a:t>
            </a:r>
            <a:r>
              <a:rPr b="0" lang="en-US" sz="1400" spc="-1" strike="noStrike">
                <a:solidFill>
                  <a:srgbClr val="7c3aed"/>
                </a:solidFill>
                <a:latin typeface="Consolas"/>
                <a:ea typeface="Consolas"/>
              </a:rPr>
              <a:t>DATE</a:t>
            </a:r>
            <a:r>
              <a:rPr b="0" lang="en-US" sz="1400" spc="-1" strike="noStrike">
                <a:solidFill>
                  <a:srgbClr val="1f2933"/>
                </a:solidFill>
                <a:latin typeface="Consolas"/>
                <a:ea typeface="Consolas"/>
              </a:rPr>
              <a:t> = </a:t>
            </a:r>
            <a:r>
              <a:rPr b="0" lang="en-US" sz="1400" spc="-1" strike="noStrike">
                <a:solidFill>
                  <a:srgbClr val="b4441f"/>
                </a:solidFill>
                <a:latin typeface="Consolas"/>
                <a:ea typeface="Consolas"/>
              </a:rPr>
              <a:t>'19000101'</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AS</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BEGIN</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SET</a:t>
            </a:r>
            <a:r>
              <a:rPr b="0" lang="en-US" sz="1400" spc="-1" strike="noStrike">
                <a:solidFill>
                  <a:srgbClr val="1f2933"/>
                </a:solidFill>
                <a:latin typeface="Consolas"/>
                <a:ea typeface="Consolas"/>
              </a:rPr>
              <a:t> NOCOUNT </a:t>
            </a:r>
            <a:r>
              <a:rPr b="1" lang="en-US" sz="1400" spc="-1" strike="noStrike">
                <a:solidFill>
                  <a:srgbClr val="1d4ed8"/>
                </a:solidFill>
                <a:latin typeface="Consolas"/>
                <a:ea typeface="Consolas"/>
              </a:rPr>
              <a:t>ON</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SELECT</a:t>
            </a:r>
            <a:r>
              <a:rPr b="0" lang="en-US" sz="1400" spc="-1" strike="noStrike">
                <a:solidFill>
                  <a:srgbClr val="1f2933"/>
                </a:solidFill>
                <a:latin typeface="Consolas"/>
                <a:ea typeface="Consolas"/>
              </a:rPr>
              <a:t> p.PedidoId, p.Fecha, p.Total</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FROM</a:t>
            </a:r>
            <a:r>
              <a:rPr b="0" lang="en-US" sz="1400" spc="-1" strike="noStrike">
                <a:solidFill>
                  <a:srgbClr val="1f2933"/>
                </a:solidFill>
                <a:latin typeface="Consolas"/>
                <a:ea typeface="Consolas"/>
              </a:rPr>
              <a:t>   dbo.Pedido </a:t>
            </a:r>
            <a:r>
              <a:rPr b="1" lang="en-US" sz="1400" spc="-1" strike="noStrike">
                <a:solidFill>
                  <a:srgbClr val="1d4ed8"/>
                </a:solidFill>
                <a:latin typeface="Consolas"/>
                <a:ea typeface="Consolas"/>
              </a:rPr>
              <a:t>AS</a:t>
            </a:r>
            <a:r>
              <a:rPr b="0" lang="en-US" sz="1400" spc="-1" strike="noStrike">
                <a:solidFill>
                  <a:srgbClr val="1f2933"/>
                </a:solidFill>
                <a:latin typeface="Consolas"/>
                <a:ea typeface="Consolas"/>
              </a:rPr>
              <a:t> p</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WHERE</a:t>
            </a:r>
            <a:r>
              <a:rPr b="0" lang="en-US" sz="1400" spc="-1" strike="noStrike">
                <a:solidFill>
                  <a:srgbClr val="1f2933"/>
                </a:solidFill>
                <a:latin typeface="Consolas"/>
                <a:ea typeface="Consolas"/>
              </a:rPr>
              <a:t>  p.ClienteId = </a:t>
            </a:r>
            <a:r>
              <a:rPr b="0" lang="en-US" sz="1400" spc="-1" strike="noStrike">
                <a:solidFill>
                  <a:srgbClr val="0f766e"/>
                </a:solidFill>
                <a:latin typeface="Consolas"/>
                <a:ea typeface="Consolas"/>
              </a:rPr>
              <a:t>@ClienteId</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AND</a:t>
            </a:r>
            <a:r>
              <a:rPr b="0" lang="en-US" sz="1400" spc="-1" strike="noStrike">
                <a:solidFill>
                  <a:srgbClr val="1f2933"/>
                </a:solidFill>
                <a:latin typeface="Consolas"/>
                <a:ea typeface="Consolas"/>
              </a:rPr>
              <a:t>  p.Fecha &gt;= </a:t>
            </a:r>
            <a:r>
              <a:rPr b="0" lang="en-US" sz="1400" spc="-1" strike="noStrike">
                <a:solidFill>
                  <a:srgbClr val="0f766e"/>
                </a:solidFill>
                <a:latin typeface="Consolas"/>
                <a:ea typeface="Consolas"/>
              </a:rPr>
              <a:t>@Desde</a:t>
            </a:r>
            <a:endParaRPr b="0" lang="es-ES" sz="1400" spc="-1" strike="noStrike">
              <a:latin typeface="Arial"/>
            </a:endParaRPr>
          </a:p>
          <a:p>
            <a:pPr>
              <a:lnSpc>
                <a:spcPct val="100000"/>
              </a:lnSpc>
              <a:tabLst>
                <a:tab algn="l" pos="0"/>
              </a:tabLst>
            </a:pP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ORDER</a:t>
            </a:r>
            <a:r>
              <a:rPr b="0" lang="en-US" sz="1400" spc="-1" strike="noStrike">
                <a:solidFill>
                  <a:srgbClr val="1f2933"/>
                </a:solidFill>
                <a:latin typeface="Consolas"/>
                <a:ea typeface="Consolas"/>
              </a:rPr>
              <a:t> </a:t>
            </a:r>
            <a:r>
              <a:rPr b="1" lang="en-US" sz="1400" spc="-1" strike="noStrike">
                <a:solidFill>
                  <a:srgbClr val="1d4ed8"/>
                </a:solidFill>
                <a:latin typeface="Consolas"/>
                <a:ea typeface="Consolas"/>
              </a:rPr>
              <a:t>BY</a:t>
            </a:r>
            <a:r>
              <a:rPr b="0" lang="en-US" sz="1400" spc="-1" strike="noStrike">
                <a:solidFill>
                  <a:srgbClr val="1f2933"/>
                </a:solidFill>
                <a:latin typeface="Consolas"/>
                <a:ea typeface="Consolas"/>
              </a:rPr>
              <a:t> p.Fecha </a:t>
            </a:r>
            <a:r>
              <a:rPr b="1" lang="en-US" sz="1400" spc="-1" strike="noStrike">
                <a:solidFill>
                  <a:srgbClr val="1d4ed8"/>
                </a:solidFill>
                <a:latin typeface="Consolas"/>
                <a:ea typeface="Consolas"/>
              </a:rPr>
              <a:t>DESC</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END</a:t>
            </a:r>
            <a:r>
              <a:rPr b="0" lang="en-US" sz="1400" spc="-1" strike="noStrike">
                <a:solidFill>
                  <a:srgbClr val="1f2933"/>
                </a:solidFill>
                <a:latin typeface="Consolas"/>
                <a:ea typeface="Consolas"/>
              </a:rPr>
              <a:t>;</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GO</a:t>
            </a:r>
            <a:endParaRPr b="0" lang="es-ES" sz="1400" spc="-1" strike="noStrike">
              <a:latin typeface="Arial"/>
            </a:endParaRPr>
          </a:p>
          <a:p>
            <a:pPr>
              <a:lnSpc>
                <a:spcPct val="100000"/>
              </a:lnSpc>
              <a:tabLst>
                <a:tab algn="l" pos="0"/>
              </a:tabLst>
            </a:pPr>
            <a:r>
              <a:rPr b="1" lang="en-US" sz="1400" spc="-1" strike="noStrike">
                <a:solidFill>
                  <a:srgbClr val="1d4ed8"/>
                </a:solidFill>
                <a:latin typeface="Consolas"/>
                <a:ea typeface="Consolas"/>
              </a:rPr>
              <a:t>EXEC</a:t>
            </a:r>
            <a:r>
              <a:rPr b="0" lang="en-US" sz="1400" spc="-1" strike="noStrike">
                <a:solidFill>
                  <a:srgbClr val="1f2933"/>
                </a:solidFill>
                <a:latin typeface="Consolas"/>
                <a:ea typeface="Consolas"/>
              </a:rPr>
              <a:t> dbo.usp_PedidosPorCliente </a:t>
            </a:r>
            <a:r>
              <a:rPr b="0" lang="en-US" sz="1400" spc="-1" strike="noStrike">
                <a:solidFill>
                  <a:srgbClr val="0f766e"/>
                </a:solidFill>
                <a:latin typeface="Consolas"/>
                <a:ea typeface="Consolas"/>
              </a:rPr>
              <a:t>@ClienteId</a:t>
            </a:r>
            <a:r>
              <a:rPr b="0" lang="en-US" sz="1400" spc="-1" strike="noStrike">
                <a:solidFill>
                  <a:srgbClr val="1f2933"/>
                </a:solidFill>
                <a:latin typeface="Consolas"/>
                <a:ea typeface="Consolas"/>
              </a:rPr>
              <a:t> = </a:t>
            </a:r>
            <a:r>
              <a:rPr b="0" lang="en-US" sz="1400" spc="-1" strike="noStrike">
                <a:solidFill>
                  <a:srgbClr val="9a3412"/>
                </a:solidFill>
                <a:latin typeface="Consolas"/>
                <a:ea typeface="Consolas"/>
              </a:rPr>
              <a:t>42</a:t>
            </a:r>
            <a:r>
              <a:rPr b="0" lang="en-US" sz="1400" spc="-1" strike="noStrike">
                <a:solidFill>
                  <a:srgbClr val="1f2933"/>
                </a:solidFill>
                <a:latin typeface="Consolas"/>
                <a:ea typeface="Consolas"/>
              </a:rPr>
              <a:t>;</a:t>
            </a:r>
            <a:endParaRPr b="0" lang="es-ES" sz="1400" spc="-1" strike="noStrike">
              <a:latin typeface="Arial"/>
            </a:endParaRPr>
          </a:p>
        </p:txBody>
      </p:sp>
      <p:sp>
        <p:nvSpPr>
          <p:cNvPr id="684" name="CustomShape 8"/>
          <p:cNvSpPr/>
          <p:nvPr/>
        </p:nvSpPr>
        <p:spPr>
          <a:xfrm>
            <a:off x="7589520" y="1600200"/>
            <a:ext cx="4050000" cy="4571280"/>
          </a:xfrm>
          <a:prstGeom prst="roundRect">
            <a:avLst>
              <a:gd name="adj" fmla="val 270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85" name="CustomShape 9"/>
          <p:cNvSpPr/>
          <p:nvPr/>
        </p:nvSpPr>
        <p:spPr>
          <a:xfrm>
            <a:off x="7818120" y="1828800"/>
            <a:ext cx="547920" cy="547920"/>
          </a:xfrm>
          <a:prstGeom prst="ellipse">
            <a:avLst/>
          </a:prstGeom>
          <a:solidFill>
            <a:srgbClr val="134074"/>
          </a:solidFill>
          <a:ln>
            <a:noFill/>
          </a:ln>
        </p:spPr>
        <p:style>
          <a:lnRef idx="0"/>
          <a:fillRef idx="0"/>
          <a:effectRef idx="0"/>
          <a:fontRef idx="minor"/>
        </p:style>
      </p:sp>
      <p:pic>
        <p:nvPicPr>
          <p:cNvPr id="686" name="Image 0" descr="preencoded.png"/>
          <p:cNvPicPr/>
          <p:nvPr/>
        </p:nvPicPr>
        <p:blipFill>
          <a:blip r:embed="rId1"/>
          <a:stretch/>
        </p:blipFill>
        <p:spPr>
          <a:xfrm>
            <a:off x="7955280" y="1965960"/>
            <a:ext cx="273600" cy="273600"/>
          </a:xfrm>
          <a:prstGeom prst="rect">
            <a:avLst/>
          </a:prstGeom>
          <a:ln>
            <a:noFill/>
          </a:ln>
        </p:spPr>
      </p:pic>
      <p:sp>
        <p:nvSpPr>
          <p:cNvPr id="687" name="CustomShape 10"/>
          <p:cNvSpPr/>
          <p:nvPr/>
        </p:nvSpPr>
        <p:spPr>
          <a:xfrm>
            <a:off x="8503920" y="1828800"/>
            <a:ext cx="29070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Por qué usarlos</a:t>
            </a:r>
            <a:endParaRPr b="0" lang="es-ES" sz="1700" spc="-1" strike="noStrike">
              <a:latin typeface="Arial"/>
            </a:endParaRPr>
          </a:p>
        </p:txBody>
      </p:sp>
      <p:sp>
        <p:nvSpPr>
          <p:cNvPr id="688" name="CustomShape 11"/>
          <p:cNvSpPr/>
          <p:nvPr/>
        </p:nvSpPr>
        <p:spPr>
          <a:xfrm>
            <a:off x="7818120" y="2560320"/>
            <a:ext cx="359280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reutilizable en el Plan Cache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EXECUTE sin dar acceso a las tablas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Lógica encapsulada con TRY...CATCH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SET NOCOUNT ON reduce tráfico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Parámetros tipados frente a SQL concatenado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689"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PROGRAMABILIDAD</a:t>
            </a:r>
            <a:endParaRPr b="0" lang="es-ES" sz="1000" spc="-1" strike="noStrike">
              <a:latin typeface="Arial"/>
            </a:endParaRPr>
          </a:p>
        </p:txBody>
      </p:sp>
      <p:sp>
        <p:nvSpPr>
          <p:cNvPr id="69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 caching, sniffing y recompilaciones</a:t>
            </a:r>
            <a:endParaRPr b="0" lang="es-ES" sz="3400" spc="-1" strike="noStrike">
              <a:latin typeface="Arial"/>
            </a:endParaRPr>
          </a:p>
        </p:txBody>
      </p:sp>
      <p:sp>
        <p:nvSpPr>
          <p:cNvPr id="69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69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27</a:t>
            </a:r>
            <a:endParaRPr b="0" lang="es-ES" sz="1000" spc="-1" strike="noStrike">
              <a:latin typeface="Arial"/>
            </a:endParaRPr>
          </a:p>
        </p:txBody>
      </p:sp>
      <p:sp>
        <p:nvSpPr>
          <p:cNvPr id="693"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694"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695"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696"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Compilar</a:t>
            </a:r>
            <a:endParaRPr b="0" lang="es-ES" sz="1600" spc="-1" strike="noStrike">
              <a:latin typeface="Arial"/>
            </a:endParaRPr>
          </a:p>
        </p:txBody>
      </p:sp>
      <p:sp>
        <p:nvSpPr>
          <p:cNvPr id="697"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optimizador crea el plan con estadísticas y el valor del parámetro.</a:t>
            </a:r>
            <a:endParaRPr b="0" lang="es-ES" sz="1400" spc="-1" strike="noStrike">
              <a:latin typeface="Arial"/>
            </a:endParaRPr>
          </a:p>
        </p:txBody>
      </p:sp>
      <p:sp>
        <p:nvSpPr>
          <p:cNvPr id="698"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699"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0"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701"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02"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Cachear</a:t>
            </a:r>
            <a:endParaRPr b="0" lang="es-ES" sz="1600" spc="-1" strike="noStrike">
              <a:latin typeface="Arial"/>
            </a:endParaRPr>
          </a:p>
        </p:txBody>
      </p:sp>
      <p:sp>
        <p:nvSpPr>
          <p:cNvPr id="703"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plan se guarda en el Plan Cache, localizado por hash del texto.</a:t>
            </a:r>
            <a:endParaRPr b="0" lang="es-ES" sz="1400" spc="-1" strike="noStrike">
              <a:latin typeface="Arial"/>
            </a:endParaRPr>
          </a:p>
        </p:txBody>
      </p:sp>
      <p:sp>
        <p:nvSpPr>
          <p:cNvPr id="704"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05"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06"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707"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08"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Reutilizar</a:t>
            </a:r>
            <a:endParaRPr b="0" lang="es-ES" sz="1600" spc="-1" strike="noStrike">
              <a:latin typeface="Arial"/>
            </a:endParaRPr>
          </a:p>
        </p:txBody>
      </p:sp>
      <p:sp>
        <p:nvSpPr>
          <p:cNvPr id="709"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Las siguientes ejecuciones se saltan la compilación.</a:t>
            </a:r>
            <a:endParaRPr b="0" lang="es-ES" sz="1400" spc="-1" strike="noStrike">
              <a:latin typeface="Arial"/>
            </a:endParaRPr>
          </a:p>
        </p:txBody>
      </p:sp>
      <p:sp>
        <p:nvSpPr>
          <p:cNvPr id="710"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11"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12"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713"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14"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Recompilar</a:t>
            </a:r>
            <a:endParaRPr b="0" lang="es-ES" sz="1600" spc="-1" strike="noStrike">
              <a:latin typeface="Arial"/>
            </a:endParaRPr>
          </a:p>
        </p:txBody>
      </p:sp>
      <p:sp>
        <p:nvSpPr>
          <p:cNvPr id="715"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Cambios de esquema, estadísticas o SET options lo invalidan.</a:t>
            </a:r>
            <a:endParaRPr b="0" lang="es-ES" sz="1400" spc="-1" strike="noStrike">
              <a:latin typeface="Arial"/>
            </a:endParaRPr>
          </a:p>
        </p:txBody>
      </p:sp>
      <p:sp>
        <p:nvSpPr>
          <p:cNvPr id="716"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717"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mitigaciones y DMV</a:t>
            </a:r>
            <a:endParaRPr b="0" lang="es-ES" sz="1000" spc="-1" strike="noStrike">
              <a:latin typeface="Arial"/>
            </a:endParaRPr>
          </a:p>
        </p:txBody>
      </p:sp>
      <p:sp>
        <p:nvSpPr>
          <p:cNvPr id="718"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Mitigaciones de parameter sniffing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dbo.usp_PedidosPorCliente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42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RECOMPILE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En la consulta: OPTION (RECOMPILE) / OPTION (OPTIMIZE FOR UNKNOWN)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usecounts, size_in_bytes, objtype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sys.dm_exec_cached_plans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usecounts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19"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720"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721" name="Image 0" descr="preencoded.png"/>
          <p:cNvPicPr/>
          <p:nvPr/>
        </p:nvPicPr>
        <p:blipFill>
          <a:blip r:embed="rId1"/>
          <a:stretch/>
        </p:blipFill>
        <p:spPr>
          <a:xfrm>
            <a:off x="7978320" y="5257800"/>
            <a:ext cx="227880" cy="227880"/>
          </a:xfrm>
          <a:prstGeom prst="rect">
            <a:avLst/>
          </a:prstGeom>
          <a:ln>
            <a:noFill/>
          </a:ln>
        </p:spPr>
      </p:pic>
      <p:sp>
        <p:nvSpPr>
          <p:cNvPr id="722"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Sniffing: </a:t>
            </a:r>
            <a:r>
              <a:rPr b="0" lang="en-US" sz="1400" spc="-1" strike="noStrike">
                <a:solidFill>
                  <a:srgbClr val="1f2933"/>
                </a:solidFill>
                <a:latin typeface="Calibri"/>
                <a:ea typeface="Calibri"/>
              </a:rPr>
              <a:t>el primer valor compilado fija el plan para todos los demás.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23"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2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SELECT complejos: orden lógico de ejecución</a:t>
            </a:r>
            <a:endParaRPr b="0" lang="es-ES" sz="3400" spc="-1" strike="noStrike">
              <a:latin typeface="Arial"/>
            </a:endParaRPr>
          </a:p>
        </p:txBody>
      </p:sp>
      <p:sp>
        <p:nvSpPr>
          <p:cNvPr id="72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2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28</a:t>
            </a:r>
            <a:endParaRPr b="0" lang="es-ES" sz="1000" spc="-1" strike="noStrike">
              <a:latin typeface="Arial"/>
            </a:endParaRPr>
          </a:p>
        </p:txBody>
      </p:sp>
      <p:sp>
        <p:nvSpPr>
          <p:cNvPr id="727" name="CustomShape 5"/>
          <p:cNvSpPr/>
          <p:nvPr/>
        </p:nvSpPr>
        <p:spPr>
          <a:xfrm>
            <a:off x="5486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2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72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730" name="CustomShape 8"/>
          <p:cNvSpPr/>
          <p:nvPr/>
        </p:nvSpPr>
        <p:spPr>
          <a:xfrm>
            <a:off x="7772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FROM</a:t>
            </a:r>
            <a:endParaRPr b="0" lang="es-ES" sz="1600" spc="-1" strike="noStrike">
              <a:latin typeface="Arial"/>
            </a:endParaRPr>
          </a:p>
        </p:txBody>
      </p:sp>
      <p:sp>
        <p:nvSpPr>
          <p:cNvPr id="731" name="CustomShape 9"/>
          <p:cNvSpPr/>
          <p:nvPr/>
        </p:nvSpPr>
        <p:spPr>
          <a:xfrm>
            <a:off x="7772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Origen y JOINs</a:t>
            </a:r>
            <a:endParaRPr b="0" lang="es-ES" sz="1400" spc="-1" strike="noStrike">
              <a:latin typeface="Arial"/>
            </a:endParaRPr>
          </a:p>
        </p:txBody>
      </p:sp>
      <p:sp>
        <p:nvSpPr>
          <p:cNvPr id="732" name="CustomShape 10"/>
          <p:cNvSpPr/>
          <p:nvPr/>
        </p:nvSpPr>
        <p:spPr>
          <a:xfrm>
            <a:off x="220536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3" name="CustomShape 11"/>
          <p:cNvSpPr/>
          <p:nvPr/>
        </p:nvSpPr>
        <p:spPr>
          <a:xfrm>
            <a:off x="244296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34" name="CustomShape 12"/>
          <p:cNvSpPr/>
          <p:nvPr/>
        </p:nvSpPr>
        <p:spPr>
          <a:xfrm>
            <a:off x="2671560" y="1828800"/>
            <a:ext cx="502200" cy="502200"/>
          </a:xfrm>
          <a:prstGeom prst="ellipse">
            <a:avLst/>
          </a:prstGeom>
          <a:solidFill>
            <a:srgbClr val="134074"/>
          </a:solidFill>
          <a:ln>
            <a:noFill/>
          </a:ln>
        </p:spPr>
        <p:style>
          <a:lnRef idx="0"/>
          <a:fillRef idx="0"/>
          <a:effectRef idx="0"/>
          <a:fontRef idx="minor"/>
        </p:style>
      </p:sp>
      <p:sp>
        <p:nvSpPr>
          <p:cNvPr id="735" name="CustomShape 13"/>
          <p:cNvSpPr/>
          <p:nvPr/>
        </p:nvSpPr>
        <p:spPr>
          <a:xfrm>
            <a:off x="267156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736" name="CustomShape 14"/>
          <p:cNvSpPr/>
          <p:nvPr/>
        </p:nvSpPr>
        <p:spPr>
          <a:xfrm>
            <a:off x="267156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WHERE</a:t>
            </a:r>
            <a:endParaRPr b="0" lang="es-ES" sz="1600" spc="-1" strike="noStrike">
              <a:latin typeface="Arial"/>
            </a:endParaRPr>
          </a:p>
        </p:txBody>
      </p:sp>
      <p:sp>
        <p:nvSpPr>
          <p:cNvPr id="737" name="CustomShape 15"/>
          <p:cNvSpPr/>
          <p:nvPr/>
        </p:nvSpPr>
        <p:spPr>
          <a:xfrm>
            <a:off x="267156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filas</a:t>
            </a:r>
            <a:endParaRPr b="0" lang="es-ES" sz="1400" spc="-1" strike="noStrike">
              <a:latin typeface="Arial"/>
            </a:endParaRPr>
          </a:p>
        </p:txBody>
      </p:sp>
      <p:sp>
        <p:nvSpPr>
          <p:cNvPr id="738" name="CustomShape 16"/>
          <p:cNvSpPr/>
          <p:nvPr/>
        </p:nvSpPr>
        <p:spPr>
          <a:xfrm>
            <a:off x="409968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39" name="CustomShape 17"/>
          <p:cNvSpPr/>
          <p:nvPr/>
        </p:nvSpPr>
        <p:spPr>
          <a:xfrm>
            <a:off x="433728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0" name="CustomShape 18"/>
          <p:cNvSpPr/>
          <p:nvPr/>
        </p:nvSpPr>
        <p:spPr>
          <a:xfrm>
            <a:off x="4565880" y="1828800"/>
            <a:ext cx="502200" cy="502200"/>
          </a:xfrm>
          <a:prstGeom prst="ellipse">
            <a:avLst/>
          </a:prstGeom>
          <a:solidFill>
            <a:srgbClr val="134074"/>
          </a:solidFill>
          <a:ln>
            <a:noFill/>
          </a:ln>
        </p:spPr>
        <p:style>
          <a:lnRef idx="0"/>
          <a:fillRef idx="0"/>
          <a:effectRef idx="0"/>
          <a:fontRef idx="minor"/>
        </p:style>
      </p:sp>
      <p:sp>
        <p:nvSpPr>
          <p:cNvPr id="741" name="CustomShape 19"/>
          <p:cNvSpPr/>
          <p:nvPr/>
        </p:nvSpPr>
        <p:spPr>
          <a:xfrm>
            <a:off x="456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742" name="CustomShape 20"/>
          <p:cNvSpPr/>
          <p:nvPr/>
        </p:nvSpPr>
        <p:spPr>
          <a:xfrm>
            <a:off x="456588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GROUP BY</a:t>
            </a:r>
            <a:endParaRPr b="0" lang="es-ES" sz="1600" spc="-1" strike="noStrike">
              <a:latin typeface="Arial"/>
            </a:endParaRPr>
          </a:p>
        </p:txBody>
      </p:sp>
      <p:sp>
        <p:nvSpPr>
          <p:cNvPr id="743" name="CustomShape 21"/>
          <p:cNvSpPr/>
          <p:nvPr/>
        </p:nvSpPr>
        <p:spPr>
          <a:xfrm>
            <a:off x="456588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Agrupa filas</a:t>
            </a:r>
            <a:endParaRPr b="0" lang="es-ES" sz="1400" spc="-1" strike="noStrike">
              <a:latin typeface="Arial"/>
            </a:endParaRPr>
          </a:p>
        </p:txBody>
      </p:sp>
      <p:sp>
        <p:nvSpPr>
          <p:cNvPr id="744" name="CustomShape 22"/>
          <p:cNvSpPr/>
          <p:nvPr/>
        </p:nvSpPr>
        <p:spPr>
          <a:xfrm>
            <a:off x="599400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45" name="CustomShape 23"/>
          <p:cNvSpPr/>
          <p:nvPr/>
        </p:nvSpPr>
        <p:spPr>
          <a:xfrm>
            <a:off x="623160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46" name="CustomShape 24"/>
          <p:cNvSpPr/>
          <p:nvPr/>
        </p:nvSpPr>
        <p:spPr>
          <a:xfrm>
            <a:off x="6460200" y="1828800"/>
            <a:ext cx="502200" cy="502200"/>
          </a:xfrm>
          <a:prstGeom prst="ellipse">
            <a:avLst/>
          </a:prstGeom>
          <a:solidFill>
            <a:srgbClr val="134074"/>
          </a:solidFill>
          <a:ln>
            <a:noFill/>
          </a:ln>
        </p:spPr>
        <p:style>
          <a:lnRef idx="0"/>
          <a:fillRef idx="0"/>
          <a:effectRef idx="0"/>
          <a:fontRef idx="minor"/>
        </p:style>
      </p:sp>
      <p:sp>
        <p:nvSpPr>
          <p:cNvPr id="747" name="CustomShape 25"/>
          <p:cNvSpPr/>
          <p:nvPr/>
        </p:nvSpPr>
        <p:spPr>
          <a:xfrm>
            <a:off x="64602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748" name="CustomShape 26"/>
          <p:cNvSpPr/>
          <p:nvPr/>
        </p:nvSpPr>
        <p:spPr>
          <a:xfrm>
            <a:off x="646020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HAVING</a:t>
            </a:r>
            <a:endParaRPr b="0" lang="es-ES" sz="1600" spc="-1" strike="noStrike">
              <a:latin typeface="Arial"/>
            </a:endParaRPr>
          </a:p>
        </p:txBody>
      </p:sp>
      <p:sp>
        <p:nvSpPr>
          <p:cNvPr id="749" name="CustomShape 27"/>
          <p:cNvSpPr/>
          <p:nvPr/>
        </p:nvSpPr>
        <p:spPr>
          <a:xfrm>
            <a:off x="646020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Filtra grupos</a:t>
            </a:r>
            <a:endParaRPr b="0" lang="es-ES" sz="1400" spc="-1" strike="noStrike">
              <a:latin typeface="Arial"/>
            </a:endParaRPr>
          </a:p>
        </p:txBody>
      </p:sp>
      <p:sp>
        <p:nvSpPr>
          <p:cNvPr id="750" name="CustomShape 28"/>
          <p:cNvSpPr/>
          <p:nvPr/>
        </p:nvSpPr>
        <p:spPr>
          <a:xfrm>
            <a:off x="788832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1" name="CustomShape 29"/>
          <p:cNvSpPr/>
          <p:nvPr/>
        </p:nvSpPr>
        <p:spPr>
          <a:xfrm>
            <a:off x="812592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2" name="CustomShape 30"/>
          <p:cNvSpPr/>
          <p:nvPr/>
        </p:nvSpPr>
        <p:spPr>
          <a:xfrm>
            <a:off x="8354520" y="1828800"/>
            <a:ext cx="502200" cy="502200"/>
          </a:xfrm>
          <a:prstGeom prst="ellipse">
            <a:avLst/>
          </a:prstGeom>
          <a:solidFill>
            <a:srgbClr val="134074"/>
          </a:solidFill>
          <a:ln>
            <a:noFill/>
          </a:ln>
        </p:spPr>
        <p:style>
          <a:lnRef idx="0"/>
          <a:fillRef idx="0"/>
          <a:effectRef idx="0"/>
          <a:fontRef idx="minor"/>
        </p:style>
      </p:sp>
      <p:sp>
        <p:nvSpPr>
          <p:cNvPr id="753" name="CustomShape 31"/>
          <p:cNvSpPr/>
          <p:nvPr/>
        </p:nvSpPr>
        <p:spPr>
          <a:xfrm>
            <a:off x="83545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5</a:t>
            </a:r>
            <a:endParaRPr b="0" lang="es-ES" sz="1800" spc="-1" strike="noStrike">
              <a:latin typeface="Arial"/>
            </a:endParaRPr>
          </a:p>
        </p:txBody>
      </p:sp>
      <p:sp>
        <p:nvSpPr>
          <p:cNvPr id="754" name="CustomShape 32"/>
          <p:cNvSpPr/>
          <p:nvPr/>
        </p:nvSpPr>
        <p:spPr>
          <a:xfrm>
            <a:off x="835452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SELECT</a:t>
            </a:r>
            <a:endParaRPr b="0" lang="es-ES" sz="1600" spc="-1" strike="noStrike">
              <a:latin typeface="Arial"/>
            </a:endParaRPr>
          </a:p>
        </p:txBody>
      </p:sp>
      <p:sp>
        <p:nvSpPr>
          <p:cNvPr id="755" name="CustomShape 33"/>
          <p:cNvSpPr/>
          <p:nvPr/>
        </p:nvSpPr>
        <p:spPr>
          <a:xfrm>
            <a:off x="835452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Columnas y OVER</a:t>
            </a:r>
            <a:endParaRPr b="0" lang="es-ES" sz="1400" spc="-1" strike="noStrike">
              <a:latin typeface="Arial"/>
            </a:endParaRPr>
          </a:p>
        </p:txBody>
      </p:sp>
      <p:sp>
        <p:nvSpPr>
          <p:cNvPr id="756" name="CustomShape 34"/>
          <p:cNvSpPr/>
          <p:nvPr/>
        </p:nvSpPr>
        <p:spPr>
          <a:xfrm>
            <a:off x="9782640" y="1947600"/>
            <a:ext cx="20052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757" name="CustomShape 35"/>
          <p:cNvSpPr/>
          <p:nvPr/>
        </p:nvSpPr>
        <p:spPr>
          <a:xfrm>
            <a:off x="10020240" y="1600200"/>
            <a:ext cx="1619280" cy="2331000"/>
          </a:xfrm>
          <a:prstGeom prst="roundRect">
            <a:avLst>
              <a:gd name="adj" fmla="val 67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58" name="CustomShape 36"/>
          <p:cNvSpPr/>
          <p:nvPr/>
        </p:nvSpPr>
        <p:spPr>
          <a:xfrm>
            <a:off x="10248840" y="1828800"/>
            <a:ext cx="502200" cy="502200"/>
          </a:xfrm>
          <a:prstGeom prst="ellipse">
            <a:avLst/>
          </a:prstGeom>
          <a:solidFill>
            <a:srgbClr val="134074"/>
          </a:solidFill>
          <a:ln>
            <a:noFill/>
          </a:ln>
        </p:spPr>
        <p:style>
          <a:lnRef idx="0"/>
          <a:fillRef idx="0"/>
          <a:effectRef idx="0"/>
          <a:fontRef idx="minor"/>
        </p:style>
      </p:sp>
      <p:sp>
        <p:nvSpPr>
          <p:cNvPr id="759" name="CustomShape 37"/>
          <p:cNvSpPr/>
          <p:nvPr/>
        </p:nvSpPr>
        <p:spPr>
          <a:xfrm>
            <a:off x="102488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6</a:t>
            </a:r>
            <a:endParaRPr b="0" lang="es-ES" sz="1800" spc="-1" strike="noStrike">
              <a:latin typeface="Arial"/>
            </a:endParaRPr>
          </a:p>
        </p:txBody>
      </p:sp>
      <p:sp>
        <p:nvSpPr>
          <p:cNvPr id="760" name="CustomShape 38"/>
          <p:cNvSpPr/>
          <p:nvPr/>
        </p:nvSpPr>
        <p:spPr>
          <a:xfrm>
            <a:off x="10248840" y="2468880"/>
            <a:ext cx="116208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ORDER BY</a:t>
            </a:r>
            <a:endParaRPr b="0" lang="es-ES" sz="1600" spc="-1" strike="noStrike">
              <a:latin typeface="Arial"/>
            </a:endParaRPr>
          </a:p>
        </p:txBody>
      </p:sp>
      <p:sp>
        <p:nvSpPr>
          <p:cNvPr id="761" name="CustomShape 39"/>
          <p:cNvSpPr/>
          <p:nvPr/>
        </p:nvSpPr>
        <p:spPr>
          <a:xfrm>
            <a:off x="10248840" y="3154680"/>
            <a:ext cx="1162080" cy="685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Ordena y TOP</a:t>
            </a:r>
            <a:endParaRPr b="0" lang="es-ES" sz="1400" spc="-1" strike="noStrike">
              <a:latin typeface="Arial"/>
            </a:endParaRPr>
          </a:p>
        </p:txBody>
      </p:sp>
      <p:sp>
        <p:nvSpPr>
          <p:cNvPr id="762" name="CustomShape 40"/>
          <p:cNvSpPr/>
          <p:nvPr/>
        </p:nvSpPr>
        <p:spPr>
          <a:xfrm>
            <a:off x="548640" y="4206240"/>
            <a:ext cx="704016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763" name="CustomShape 41"/>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ventas por cliente y año</a:t>
            </a:r>
            <a:endParaRPr b="0" lang="es-ES" sz="1000" spc="-1" strike="noStrike">
              <a:latin typeface="Arial"/>
            </a:endParaRPr>
          </a:p>
        </p:txBody>
      </p:sp>
      <p:sp>
        <p:nvSpPr>
          <p:cNvPr id="764" name="CustomShape 42"/>
          <p:cNvSpPr/>
          <p:nvPr/>
        </p:nvSpPr>
        <p:spPr>
          <a:xfrm>
            <a:off x="731520" y="4572000"/>
            <a:ext cx="667440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 YEAR(p.Fecha)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Anio, SUM(p.Total)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p.ClienteId = c.ClienteId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p.Fecha &gt;= </a:t>
            </a:r>
            <a:r>
              <a:rPr b="0" lang="en-US" sz="1200" spc="-1" strike="noStrike">
                <a:solidFill>
                  <a:srgbClr val="b4441f"/>
                </a:solidFill>
                <a:latin typeface="Consolas"/>
                <a:ea typeface="Consolas"/>
              </a:rPr>
              <a:t>'20240101'</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c.Nombre, YEAR(p.Fecha)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HAVING</a:t>
            </a:r>
            <a:r>
              <a:rPr b="0" lang="en-US" sz="1200" spc="-1" strike="noStrike">
                <a:solidFill>
                  <a:srgbClr val="1f2933"/>
                </a:solidFill>
                <a:latin typeface="Consolas"/>
                <a:ea typeface="Consolas"/>
              </a:rPr>
              <a:t>   SUM(p.Total)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765" name="CustomShape 43"/>
          <p:cNvSpPr/>
          <p:nvPr/>
        </p:nvSpPr>
        <p:spPr>
          <a:xfrm>
            <a:off x="7863840" y="4206240"/>
            <a:ext cx="3775680" cy="1965240"/>
          </a:xfrm>
          <a:prstGeom prst="roundRect">
            <a:avLst>
              <a:gd name="adj" fmla="val 5581"/>
            </a:avLst>
          </a:prstGeom>
          <a:solidFill>
            <a:srgbClr val="e8eef5"/>
          </a:solidFill>
          <a:ln>
            <a:noFill/>
          </a:ln>
        </p:spPr>
        <p:style>
          <a:lnRef idx="0"/>
          <a:fillRef idx="0"/>
          <a:effectRef idx="0"/>
          <a:fontRef idx="minor"/>
        </p:style>
      </p:sp>
      <p:sp>
        <p:nvSpPr>
          <p:cNvPr id="766" name="CustomShape 44"/>
          <p:cNvSpPr/>
          <p:nvPr/>
        </p:nvSpPr>
        <p:spPr>
          <a:xfrm>
            <a:off x="8046720" y="4960800"/>
            <a:ext cx="456480" cy="456480"/>
          </a:xfrm>
          <a:prstGeom prst="ellipse">
            <a:avLst/>
          </a:prstGeom>
          <a:solidFill>
            <a:srgbClr val="134074"/>
          </a:solidFill>
          <a:ln>
            <a:noFill/>
          </a:ln>
        </p:spPr>
        <p:style>
          <a:lnRef idx="0"/>
          <a:fillRef idx="0"/>
          <a:effectRef idx="0"/>
          <a:fontRef idx="minor"/>
        </p:style>
      </p:sp>
      <p:pic>
        <p:nvPicPr>
          <p:cNvPr id="767" name="Image 0" descr="preencoded.png"/>
          <p:cNvPicPr/>
          <p:nvPr/>
        </p:nvPicPr>
        <p:blipFill>
          <a:blip r:embed="rId1"/>
          <a:stretch/>
        </p:blipFill>
        <p:spPr>
          <a:xfrm>
            <a:off x="8161200" y="5074920"/>
            <a:ext cx="227880" cy="227880"/>
          </a:xfrm>
          <a:prstGeom prst="rect">
            <a:avLst/>
          </a:prstGeom>
          <a:ln>
            <a:noFill/>
          </a:ln>
        </p:spPr>
      </p:pic>
      <p:sp>
        <p:nvSpPr>
          <p:cNvPr id="768" name="CustomShape 45"/>
          <p:cNvSpPr/>
          <p:nvPr/>
        </p:nvSpPr>
        <p:spPr>
          <a:xfrm>
            <a:off x="8686800" y="4206240"/>
            <a:ext cx="276984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Alias: </a:t>
            </a:r>
            <a:r>
              <a:rPr b="0" lang="en-US" sz="1400" spc="-1" strike="noStrike">
                <a:solidFill>
                  <a:srgbClr val="1f2933"/>
                </a:solidFill>
                <a:latin typeface="Calibri"/>
                <a:ea typeface="Calibri"/>
              </a:rPr>
              <a:t>ORDER BY puede usar alias de SELECT porque se evalúa después; WHERE no.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69"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7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tipos lógicos y trampas habituales</a:t>
            </a:r>
            <a:endParaRPr b="0" lang="es-ES" sz="3400" spc="-1" strike="noStrike">
              <a:latin typeface="Arial"/>
            </a:endParaRPr>
          </a:p>
        </p:txBody>
      </p:sp>
      <p:sp>
        <p:nvSpPr>
          <p:cNvPr id="77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7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29</a:t>
            </a:r>
            <a:endParaRPr b="0" lang="es-ES" sz="1000" spc="-1" strike="noStrike">
              <a:latin typeface="Arial"/>
            </a:endParaRPr>
          </a:p>
        </p:txBody>
      </p:sp>
      <p:graphicFrame>
        <p:nvGraphicFramePr>
          <p:cNvPr id="773" name="Table 5"/>
          <p:cNvGraphicFramePr/>
          <p:nvPr/>
        </p:nvGraphicFramePr>
        <p:xfrm>
          <a:off x="548640" y="1600200"/>
          <a:ext cx="6217560" cy="2285280"/>
        </p:xfrm>
        <a:graphic>
          <a:graphicData uri="http://schemas.openxmlformats.org/drawingml/2006/table">
            <a:tbl>
              <a:tblPr/>
              <a:tblGrid>
                <a:gridCol w="1097280"/>
                <a:gridCol w="2468880"/>
                <a:gridCol w="26517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Tipo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Devuelve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coincidencias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Pedidos con su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LEFT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izquierda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Clientes sin pedidos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RIGHT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Toda la derecha + NULL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Poco usado (invertir)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Ambos lados completos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Conciliaciones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CROSS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Producto cartesiano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Calendarios, combinaciones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774" name="CustomShape 6"/>
          <p:cNvSpPr/>
          <p:nvPr/>
        </p:nvSpPr>
        <p:spPr>
          <a:xfrm>
            <a:off x="548640" y="5074920"/>
            <a:ext cx="6217200" cy="1096560"/>
          </a:xfrm>
          <a:prstGeom prst="roundRect">
            <a:avLst>
              <a:gd name="adj" fmla="val 10000"/>
            </a:avLst>
          </a:prstGeom>
          <a:solidFill>
            <a:srgbClr val="fdede8"/>
          </a:solidFill>
          <a:ln>
            <a:noFill/>
          </a:ln>
        </p:spPr>
        <p:style>
          <a:lnRef idx="0"/>
          <a:fillRef idx="0"/>
          <a:effectRef idx="0"/>
          <a:fontRef idx="minor"/>
        </p:style>
      </p:sp>
      <p:sp>
        <p:nvSpPr>
          <p:cNvPr id="775"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776" name="Image 0" descr="preencoded.png"/>
          <p:cNvPicPr/>
          <p:nvPr/>
        </p:nvPicPr>
        <p:blipFill>
          <a:blip r:embed="rId1"/>
          <a:stretch/>
        </p:blipFill>
        <p:spPr>
          <a:xfrm>
            <a:off x="846000" y="5509440"/>
            <a:ext cx="227880" cy="227880"/>
          </a:xfrm>
          <a:prstGeom prst="rect">
            <a:avLst/>
          </a:prstGeom>
          <a:ln>
            <a:noFill/>
          </a:ln>
        </p:spPr>
      </p:pic>
      <p:sp>
        <p:nvSpPr>
          <p:cNvPr id="777" name="CustomShape 8"/>
          <p:cNvSpPr/>
          <p:nvPr/>
        </p:nvSpPr>
        <p:spPr>
          <a:xfrm>
            <a:off x="1371600" y="5074920"/>
            <a:ext cx="5211360" cy="10965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filtrar la tabla derecha en el WHERE convierte el LEFT JOIN en INNER.</a:t>
            </a:r>
            <a:endParaRPr b="0" lang="es-ES" sz="1400" spc="-1" strike="noStrike">
              <a:latin typeface="Arial"/>
            </a:endParaRPr>
          </a:p>
        </p:txBody>
      </p:sp>
      <p:sp>
        <p:nvSpPr>
          <p:cNvPr id="778" name="CustomShape 9"/>
          <p:cNvSpPr/>
          <p:nvPr/>
        </p:nvSpPr>
        <p:spPr>
          <a:xfrm>
            <a:off x="7040880" y="1600200"/>
            <a:ext cx="459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779" name="CustomShape 10"/>
          <p:cNvSpPr/>
          <p:nvPr/>
        </p:nvSpPr>
        <p:spPr>
          <a:xfrm>
            <a:off x="72237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LEFT JOIN</a:t>
            </a:r>
            <a:endParaRPr b="0" lang="es-ES" sz="1000" spc="-1" strike="noStrike">
              <a:latin typeface="Arial"/>
            </a:endParaRPr>
          </a:p>
        </p:txBody>
      </p:sp>
      <p:sp>
        <p:nvSpPr>
          <p:cNvPr id="780" name="CustomShape 11"/>
          <p:cNvSpPr/>
          <p:nvPr/>
        </p:nvSpPr>
        <p:spPr>
          <a:xfrm>
            <a:off x="7223760" y="1965960"/>
            <a:ext cx="423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-- 1) Anti-join: clientes sin pedidos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c.ClienteId, c.Nombre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p.PedidoId </a:t>
            </a:r>
            <a:r>
              <a:rPr b="1" lang="en-US" sz="1300" spc="-1" strike="noStrike">
                <a:solidFill>
                  <a:srgbClr val="1d4ed8"/>
                </a:solidFill>
                <a:latin typeface="Consolas"/>
                <a:ea typeface="Consolas"/>
              </a:rPr>
              <a:t>IS</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NULL</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Filtra la tabla derecha en el 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c.Nombre, p.PedidoId</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dbo.Cliente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c</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LEFT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JOIN</a:t>
            </a:r>
            <a:r>
              <a:rPr b="0" lang="en-US" sz="1300" spc="-1" strike="noStrike">
                <a:solidFill>
                  <a:srgbClr val="1f2933"/>
                </a:solidFill>
                <a:latin typeface="Consolas"/>
                <a:ea typeface="Consolas"/>
              </a:rPr>
              <a:t> dbo.Pedido </a:t>
            </a:r>
            <a:r>
              <a:rPr b="1" lang="en-US" sz="1300" spc="-1" strike="noStrike">
                <a:solidFill>
                  <a:srgbClr val="1d4ed8"/>
                </a:solidFill>
                <a:latin typeface="Consolas"/>
                <a:ea typeface="Consolas"/>
              </a:rPr>
              <a:t>AS</a:t>
            </a:r>
            <a:r>
              <a:rPr b="0" lang="en-US" sz="1300" spc="-1" strike="noStrike">
                <a:solidFill>
                  <a:srgbClr val="1f2933"/>
                </a:solidFill>
                <a:latin typeface="Consolas"/>
                <a:ea typeface="Consolas"/>
              </a:rPr>
              <a:t> p</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p.ClienteId = c.ClienteId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p.Fecha &gt;= </a:t>
            </a:r>
            <a:r>
              <a:rPr b="0" lang="en-US" sz="1300" spc="-1" strike="noStrike">
                <a:solidFill>
                  <a:srgbClr val="b4441f"/>
                </a:solidFill>
                <a:latin typeface="Consolas"/>
                <a:ea typeface="Consolas"/>
              </a:rPr>
              <a:t>'20240101'</a:t>
            </a:r>
            <a:r>
              <a:rPr b="0" lang="en-US" sz="1300" spc="-1" strike="noStrike">
                <a:solidFill>
                  <a:srgbClr val="1f2933"/>
                </a:solidFill>
                <a:latin typeface="Consolas"/>
                <a:ea typeface="Consolas"/>
              </a:rPr>
              <a:t>;</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78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78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JOINs: algoritmos físicos del optimizador</a:t>
            </a:r>
            <a:endParaRPr b="0" lang="es-ES" sz="3400" spc="-1" strike="noStrike">
              <a:latin typeface="Arial"/>
            </a:endParaRPr>
          </a:p>
        </p:txBody>
      </p:sp>
      <p:sp>
        <p:nvSpPr>
          <p:cNvPr id="78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78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30</a:t>
            </a:r>
            <a:endParaRPr b="0" lang="es-ES" sz="1000" spc="-1" strike="noStrike">
              <a:latin typeface="Arial"/>
            </a:endParaRPr>
          </a:p>
        </p:txBody>
      </p:sp>
      <p:sp>
        <p:nvSpPr>
          <p:cNvPr id="785" name="CustomShape 5"/>
          <p:cNvSpPr/>
          <p:nvPr/>
        </p:nvSpPr>
        <p:spPr>
          <a:xfrm>
            <a:off x="54864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8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787" name="Image 0" descr="preencoded.png"/>
          <p:cNvPicPr/>
          <p:nvPr/>
        </p:nvPicPr>
        <p:blipFill>
          <a:blip r:embed="rId1"/>
          <a:stretch/>
        </p:blipFill>
        <p:spPr>
          <a:xfrm>
            <a:off x="914400" y="1965960"/>
            <a:ext cx="273600" cy="273600"/>
          </a:xfrm>
          <a:prstGeom prst="rect">
            <a:avLst/>
          </a:prstGeom>
          <a:ln>
            <a:noFill/>
          </a:ln>
        </p:spPr>
      </p:pic>
      <p:sp>
        <p:nvSpPr>
          <p:cNvPr id="78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Nested Loops</a:t>
            </a:r>
            <a:endParaRPr b="0" lang="es-ES" sz="1700" spc="-1" strike="noStrike">
              <a:latin typeface="Arial"/>
            </a:endParaRPr>
          </a:p>
        </p:txBody>
      </p:sp>
      <p:sp>
        <p:nvSpPr>
          <p:cNvPr id="789" name="CustomShape 8"/>
          <p:cNvSpPr/>
          <p:nvPr/>
        </p:nvSpPr>
        <p:spPr>
          <a:xfrm>
            <a:off x="77724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Por cada fila externa busca en la interna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Ideal: externa pequeña + Index Seek</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Típico en OLTP</a:t>
            </a:r>
            <a:endParaRPr b="0" lang="es-ES" sz="1400" spc="-1" strike="noStrike">
              <a:latin typeface="Arial"/>
            </a:endParaRPr>
          </a:p>
        </p:txBody>
      </p:sp>
      <p:sp>
        <p:nvSpPr>
          <p:cNvPr id="790" name="CustomShape 9"/>
          <p:cNvSpPr/>
          <p:nvPr/>
        </p:nvSpPr>
        <p:spPr>
          <a:xfrm>
            <a:off x="433728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1"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792" name="Image 1" descr="preencoded.png"/>
          <p:cNvPicPr/>
          <p:nvPr/>
        </p:nvPicPr>
        <p:blipFill>
          <a:blip r:embed="rId2"/>
          <a:stretch/>
        </p:blipFill>
        <p:spPr>
          <a:xfrm>
            <a:off x="4703040" y="1965960"/>
            <a:ext cx="273600" cy="273600"/>
          </a:xfrm>
          <a:prstGeom prst="rect">
            <a:avLst/>
          </a:prstGeom>
          <a:ln>
            <a:noFill/>
          </a:ln>
        </p:spPr>
      </p:pic>
      <p:sp>
        <p:nvSpPr>
          <p:cNvPr id="79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Merge Join</a:t>
            </a:r>
            <a:endParaRPr b="0" lang="es-ES" sz="1700" spc="-1" strike="noStrike">
              <a:latin typeface="Arial"/>
            </a:endParaRPr>
          </a:p>
        </p:txBody>
      </p:sp>
      <p:sp>
        <p:nvSpPr>
          <p:cNvPr id="794" name="CustomShape 12"/>
          <p:cNvSpPr/>
          <p:nvPr/>
        </p:nvSpPr>
        <p:spPr>
          <a:xfrm>
            <a:off x="456588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Recorre dos entradas ordenadas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Exige igualdad y orden (índice o Sort)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Eficiente con grandes volúmenes</a:t>
            </a:r>
            <a:endParaRPr b="0" lang="es-ES" sz="1400" spc="-1" strike="noStrike">
              <a:latin typeface="Arial"/>
            </a:endParaRPr>
          </a:p>
        </p:txBody>
      </p:sp>
      <p:sp>
        <p:nvSpPr>
          <p:cNvPr id="795" name="CustomShape 13"/>
          <p:cNvSpPr/>
          <p:nvPr/>
        </p:nvSpPr>
        <p:spPr>
          <a:xfrm>
            <a:off x="8125920" y="1600200"/>
            <a:ext cx="3513600" cy="3474000"/>
          </a:xfrm>
          <a:prstGeom prst="roundRect">
            <a:avLst>
              <a:gd name="adj" fmla="val 315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79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797" name="Image 2" descr="preencoded.png"/>
          <p:cNvPicPr/>
          <p:nvPr/>
        </p:nvPicPr>
        <p:blipFill>
          <a:blip r:embed="rId3"/>
          <a:stretch/>
        </p:blipFill>
        <p:spPr>
          <a:xfrm>
            <a:off x="8491680" y="1965960"/>
            <a:ext cx="273600" cy="273600"/>
          </a:xfrm>
          <a:prstGeom prst="rect">
            <a:avLst/>
          </a:prstGeom>
          <a:ln>
            <a:noFill/>
          </a:ln>
        </p:spPr>
      </p:pic>
      <p:sp>
        <p:nvSpPr>
          <p:cNvPr id="79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Hash Match</a:t>
            </a:r>
            <a:endParaRPr b="0" lang="es-ES" sz="1700" spc="-1" strike="noStrike">
              <a:latin typeface="Arial"/>
            </a:endParaRPr>
          </a:p>
        </p:txBody>
      </p:sp>
      <p:sp>
        <p:nvSpPr>
          <p:cNvPr id="799" name="CustomShape 16"/>
          <p:cNvSpPr/>
          <p:nvPr/>
        </p:nvSpPr>
        <p:spPr>
          <a:xfrm>
            <a:off x="8354520" y="2560320"/>
            <a:ext cx="3056400" cy="22852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Tabla hash con la entrada pequeña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No exige índices ni orden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Usa memory grant; puede derramar a tempdb</a:t>
            </a:r>
            <a:endParaRPr b="0" lang="es-ES" sz="1400" spc="-1" strike="noStrike">
              <a:latin typeface="Arial"/>
            </a:endParaRPr>
          </a:p>
        </p:txBody>
      </p:sp>
      <p:sp>
        <p:nvSpPr>
          <p:cNvPr id="800" name="CustomShape 17"/>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801" name="CustomShape 18"/>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802" name="Image 3" descr="preencoded.png"/>
          <p:cNvPicPr/>
          <p:nvPr/>
        </p:nvPicPr>
        <p:blipFill>
          <a:blip r:embed="rId4"/>
          <a:stretch/>
        </p:blipFill>
        <p:spPr>
          <a:xfrm>
            <a:off x="846000" y="5646600"/>
            <a:ext cx="227880" cy="227880"/>
          </a:xfrm>
          <a:prstGeom prst="rect">
            <a:avLst/>
          </a:prstGeom>
          <a:ln>
            <a:noFill/>
          </a:ln>
        </p:spPr>
      </p:pic>
      <p:sp>
        <p:nvSpPr>
          <p:cNvPr id="803" name="CustomShape 19"/>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 el plan: </a:t>
            </a:r>
            <a:r>
              <a:rPr b="0" lang="en-US" sz="1400" spc="-1" strike="noStrike">
                <a:solidFill>
                  <a:srgbClr val="1f2933"/>
                </a:solidFill>
                <a:latin typeface="Calibri"/>
                <a:ea typeface="Calibri"/>
              </a:rPr>
              <a:t>compara Estimated frente a Actual Rows. Estadísticas obsoletas provocan joins inadecuados.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04"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0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Subconsultas, EXISTS y CTE</a:t>
            </a:r>
            <a:endParaRPr b="0" lang="es-ES" sz="3400" spc="-1" strike="noStrike">
              <a:latin typeface="Arial"/>
            </a:endParaRPr>
          </a:p>
        </p:txBody>
      </p:sp>
      <p:sp>
        <p:nvSpPr>
          <p:cNvPr id="80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0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31</a:t>
            </a:r>
            <a:endParaRPr b="0" lang="es-ES" sz="1000" spc="-1" strike="noStrike">
              <a:latin typeface="Arial"/>
            </a:endParaRPr>
          </a:p>
        </p:txBody>
      </p:sp>
      <p:sp>
        <p:nvSpPr>
          <p:cNvPr id="808"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0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subconsulta y EXISTS</a:t>
            </a:r>
            <a:endParaRPr b="0" lang="es-ES" sz="1000" spc="-1" strike="noStrike">
              <a:latin typeface="Arial"/>
            </a:endParaRPr>
          </a:p>
        </p:txBody>
      </p:sp>
      <p:sp>
        <p:nvSpPr>
          <p:cNvPr id="810"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Subconsulta escalar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Total &gt;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AVG(Total)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EXISTS (correlacionada)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c.Nombre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EXISTS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p.ClienteId = c.ClienteId);</a:t>
            </a:r>
            <a:endParaRPr b="0" lang="es-ES" sz="1200" spc="-1" strike="noStrike">
              <a:latin typeface="Arial"/>
            </a:endParaRPr>
          </a:p>
        </p:txBody>
      </p:sp>
      <p:sp>
        <p:nvSpPr>
          <p:cNvPr id="811"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812"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CTE</a:t>
            </a:r>
            <a:endParaRPr b="0" lang="es-ES" sz="1000" spc="-1" strike="noStrike">
              <a:latin typeface="Arial"/>
            </a:endParaRPr>
          </a:p>
        </p:txBody>
      </p:sp>
      <p:sp>
        <p:nvSpPr>
          <p:cNvPr id="813"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SUM(Total)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GROUP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c.Nombre, v.Ventas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v</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c.ClienteId = v.ClienteId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v.Ventas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814" name="CustomShape 11"/>
          <p:cNvSpPr/>
          <p:nvPr/>
        </p:nvSpPr>
        <p:spPr>
          <a:xfrm>
            <a:off x="548640" y="5120640"/>
            <a:ext cx="11090880" cy="1050840"/>
          </a:xfrm>
          <a:prstGeom prst="roundRect">
            <a:avLst>
              <a:gd name="adj" fmla="val 10435"/>
            </a:avLst>
          </a:prstGeom>
          <a:solidFill>
            <a:srgbClr val="e8eef5"/>
          </a:solidFill>
          <a:ln>
            <a:noFill/>
          </a:ln>
        </p:spPr>
        <p:style>
          <a:lnRef idx="0"/>
          <a:fillRef idx="0"/>
          <a:effectRef idx="0"/>
          <a:fontRef idx="minor"/>
        </p:style>
      </p:sp>
      <p:sp>
        <p:nvSpPr>
          <p:cNvPr id="815" name="CustomShape 12"/>
          <p:cNvSpPr/>
          <p:nvPr/>
        </p:nvSpPr>
        <p:spPr>
          <a:xfrm>
            <a:off x="731520" y="5418000"/>
            <a:ext cx="456480" cy="456480"/>
          </a:xfrm>
          <a:prstGeom prst="ellipse">
            <a:avLst/>
          </a:prstGeom>
          <a:solidFill>
            <a:srgbClr val="134074"/>
          </a:solidFill>
          <a:ln>
            <a:noFill/>
          </a:ln>
        </p:spPr>
        <p:style>
          <a:lnRef idx="0"/>
          <a:fillRef idx="0"/>
          <a:effectRef idx="0"/>
          <a:fontRef idx="minor"/>
        </p:style>
      </p:sp>
      <p:pic>
        <p:nvPicPr>
          <p:cNvPr id="816" name="Image 0" descr="preencoded.png"/>
          <p:cNvPicPr/>
          <p:nvPr/>
        </p:nvPicPr>
        <p:blipFill>
          <a:blip r:embed="rId1"/>
          <a:stretch/>
        </p:blipFill>
        <p:spPr>
          <a:xfrm>
            <a:off x="846000" y="5532120"/>
            <a:ext cx="227880" cy="227880"/>
          </a:xfrm>
          <a:prstGeom prst="rect">
            <a:avLst/>
          </a:prstGeom>
          <a:ln>
            <a:noFill/>
          </a:ln>
        </p:spPr>
      </p:pic>
      <p:sp>
        <p:nvSpPr>
          <p:cNvPr id="817"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NOT IN con algún NULL devuelve cero filas: usa NOT EXISTS. Una CTE no materializa datos: se expande como una vista en línea.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18"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1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Agregados y window functions básicas</a:t>
            </a:r>
            <a:endParaRPr b="0" lang="es-ES" sz="3400" spc="-1" strike="noStrike">
              <a:latin typeface="Arial"/>
            </a:endParaRPr>
          </a:p>
        </p:txBody>
      </p:sp>
      <p:sp>
        <p:nvSpPr>
          <p:cNvPr id="82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2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32</a:t>
            </a:r>
            <a:endParaRPr b="0" lang="es-ES" sz="1000" spc="-1" strike="noStrike">
              <a:latin typeface="Arial"/>
            </a:endParaRPr>
          </a:p>
        </p:txBody>
      </p:sp>
      <p:sp>
        <p:nvSpPr>
          <p:cNvPr id="822" name="CustomShape 5"/>
          <p:cNvSpPr/>
          <p:nvPr/>
        </p:nvSpPr>
        <p:spPr>
          <a:xfrm>
            <a:off x="548640" y="1600200"/>
            <a:ext cx="667440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82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window functions</a:t>
            </a:r>
            <a:endParaRPr b="0" lang="es-ES" sz="1000" spc="-1" strike="noStrike">
              <a:latin typeface="Arial"/>
            </a:endParaRPr>
          </a:p>
        </p:txBody>
      </p:sp>
      <p:sp>
        <p:nvSpPr>
          <p:cNvPr id="824" name="CustomShape 7"/>
          <p:cNvSpPr/>
          <p:nvPr/>
        </p:nvSpPr>
        <p:spPr>
          <a:xfrm>
            <a:off x="731520" y="1965960"/>
            <a:ext cx="630864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Fecha,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RANK()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ranking,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ROWS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UNBOUNDED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PRECEDING</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acumulado,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LAG(Total)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Fecha)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anterior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p:txBody>
      </p:sp>
      <p:graphicFrame>
        <p:nvGraphicFramePr>
          <p:cNvPr id="825" name="Table 8"/>
          <p:cNvGraphicFramePr/>
          <p:nvPr/>
        </p:nvGraphicFramePr>
        <p:xfrm>
          <a:off x="7498080" y="1600200"/>
          <a:ext cx="4141800" cy="2102400"/>
        </p:xfrm>
        <a:graphic>
          <a:graphicData uri="http://schemas.openxmlformats.org/drawingml/2006/table">
            <a:tbl>
              <a:tblPr/>
              <a:tblGrid>
                <a:gridCol w="1371600"/>
                <a:gridCol w="277056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Función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Resultado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ROW_NUMBER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1, 2, 3 sin empates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RANK</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Empates comparten puesto; hay huecos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SUM OVER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Total acumulado por cliente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LAG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Valor de la fila anterior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826" name="CustomShape 9"/>
          <p:cNvSpPr/>
          <p:nvPr/>
        </p:nvSpPr>
        <p:spPr>
          <a:xfrm>
            <a:off x="548640" y="5166360"/>
            <a:ext cx="11090880" cy="1005120"/>
          </a:xfrm>
          <a:prstGeom prst="roundRect">
            <a:avLst>
              <a:gd name="adj" fmla="val 10909"/>
            </a:avLst>
          </a:prstGeom>
          <a:solidFill>
            <a:srgbClr val="e8eef5"/>
          </a:solidFill>
          <a:ln>
            <a:noFill/>
          </a:ln>
        </p:spPr>
        <p:style>
          <a:lnRef idx="0"/>
          <a:fillRef idx="0"/>
          <a:effectRef idx="0"/>
          <a:fontRef idx="minor"/>
        </p:style>
      </p:sp>
      <p:sp>
        <p:nvSpPr>
          <p:cNvPr id="827" name="CustomShape 10"/>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828" name="Image 0" descr="preencoded.png"/>
          <p:cNvPicPr/>
          <p:nvPr/>
        </p:nvPicPr>
        <p:blipFill>
          <a:blip r:embed="rId1"/>
          <a:stretch/>
        </p:blipFill>
        <p:spPr>
          <a:xfrm>
            <a:off x="846000" y="5555160"/>
            <a:ext cx="227880" cy="227880"/>
          </a:xfrm>
          <a:prstGeom prst="rect">
            <a:avLst/>
          </a:prstGeom>
          <a:ln>
            <a:noFill/>
          </a:ln>
        </p:spPr>
      </p:pic>
      <p:sp>
        <p:nvSpPr>
          <p:cNvPr id="829" name="CustomShape 11"/>
          <p:cNvSpPr/>
          <p:nvPr/>
        </p:nvSpPr>
        <p:spPr>
          <a:xfrm>
            <a:off x="1371600" y="516636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GROUP BY vs OVER: </a:t>
            </a:r>
            <a:r>
              <a:rPr b="0" lang="en-US" sz="1400" spc="-1" strike="noStrike">
                <a:solidFill>
                  <a:srgbClr val="1f2933"/>
                </a:solidFill>
                <a:latin typeface="Calibri"/>
                <a:ea typeface="Calibri"/>
              </a:rPr>
              <a:t>GROUP BY colapsa filas; OVER mantiene el detalle. Indica ROWS en el frame para evitar el worktable de RANGE.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30"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DML AVANZADO</a:t>
            </a:r>
            <a:endParaRPr b="0" lang="es-ES" sz="1000" spc="-1" strike="noStrike">
              <a:latin typeface="Arial"/>
            </a:endParaRPr>
          </a:p>
        </p:txBody>
      </p:sp>
      <p:sp>
        <p:nvSpPr>
          <p:cNvPr id="83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SQL Server 2025: Tablas vectoriales y RAG</a:t>
            </a:r>
            <a:endParaRPr b="0" lang="es-ES" sz="3400" spc="-1" strike="noStrike">
              <a:latin typeface="Arial"/>
            </a:endParaRPr>
          </a:p>
        </p:txBody>
      </p:sp>
      <p:sp>
        <p:nvSpPr>
          <p:cNvPr id="83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3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33</a:t>
            </a:r>
            <a:endParaRPr b="0" lang="es-ES" sz="1000" spc="-1" strike="noStrike">
              <a:latin typeface="Arial"/>
            </a:endParaRPr>
          </a:p>
        </p:txBody>
      </p:sp>
      <p:sp>
        <p:nvSpPr>
          <p:cNvPr id="834" name="CustomShape 5"/>
          <p:cNvSpPr/>
          <p:nvPr/>
        </p:nvSpPr>
        <p:spPr>
          <a:xfrm>
            <a:off x="548640" y="1600200"/>
            <a:ext cx="621720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83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TABLAS VECTORIALES (SQL 2025)</a:t>
            </a:r>
            <a:endParaRPr b="0" lang="es-ES" sz="1000" spc="-1" strike="noStrike">
              <a:latin typeface="Arial"/>
            </a:endParaRPr>
          </a:p>
        </p:txBody>
      </p:sp>
      <p:sp>
        <p:nvSpPr>
          <p:cNvPr id="836" name="CustomShape 7"/>
          <p:cNvSpPr/>
          <p:nvPr/>
        </p:nvSpPr>
        <p:spPr>
          <a:xfrm>
            <a:off x="731520" y="1965960"/>
            <a:ext cx="585144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100" spc="-1" strike="noStrike">
                <a:solidFill>
                  <a:srgbClr val="6b7280"/>
                </a:solidFill>
                <a:latin typeface="Consolas"/>
                <a:ea typeface="Consolas"/>
              </a:rPr>
              <a:t>-- Tabla con columna vectorial nativa (dimensión fija)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CREATE</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TABLE</a:t>
            </a:r>
            <a:r>
              <a:rPr b="0" lang="en-US" sz="1100" spc="-1" strike="noStrike">
                <a:solidFill>
                  <a:srgbClr val="1f2933"/>
                </a:solidFill>
                <a:latin typeface="Consolas"/>
                <a:ea typeface="Consolas"/>
              </a:rPr>
              <a:t> dbo.BaseConocimiento (</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DocumentoID   </a:t>
            </a:r>
            <a:r>
              <a:rPr b="0" lang="en-US" sz="1100" spc="-1" strike="noStrike">
                <a:solidFill>
                  <a:srgbClr val="7c3aed"/>
                </a:solidFill>
                <a:latin typeface="Consolas"/>
                <a:ea typeface="Consolas"/>
              </a:rPr>
              <a:t>INT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IDENTITY</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1</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PRIMARY</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KEY</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Titulo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9a3412"/>
                </a:solidFill>
                <a:latin typeface="Consolas"/>
                <a:ea typeface="Consolas"/>
              </a:rPr>
              <a:t>200</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Contenido     </a:t>
            </a:r>
            <a:r>
              <a:rPr b="0" lang="en-US" sz="1100" spc="-1" strike="noStrike">
                <a:solidFill>
                  <a:srgbClr val="7c3aed"/>
                </a:solidFill>
                <a:latin typeface="Consolas"/>
                <a:ea typeface="Consolas"/>
              </a:rPr>
              <a:t>NVARCHAR</a:t>
            </a:r>
            <a:r>
              <a:rPr b="0" lang="en-US" sz="1100" spc="-1" strike="noStrike">
                <a:solidFill>
                  <a:srgbClr val="1f2933"/>
                </a:solidFill>
                <a:latin typeface="Consolas"/>
                <a:ea typeface="Consolas"/>
              </a:rPr>
              <a:t>(</a:t>
            </a:r>
            <a:r>
              <a:rPr b="0" lang="en-US" sz="1100" spc="-1" strike="noStrike">
                <a:solidFill>
                  <a:srgbClr val="7c3aed"/>
                </a:solidFill>
                <a:latin typeface="Consolas"/>
                <a:ea typeface="Consolas"/>
              </a:rPr>
              <a:t>MAX</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Embedding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NOT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NULL</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0" i="1" lang="en-US" sz="1100" spc="-1" strike="noStrike">
                <a:solidFill>
                  <a:srgbClr val="6b7280"/>
                </a:solidFill>
                <a:latin typeface="Consolas"/>
                <a:ea typeface="Consolas"/>
              </a:rPr>
              <a:t>-- Búsqueda semántica usando similitud de coseno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DECLARE</a:t>
            </a:r>
            <a:r>
              <a:rPr b="0" lang="en-US" sz="1100" spc="-1" strike="noStrike">
                <a:solidFill>
                  <a:srgbClr val="1f2933"/>
                </a:solidFill>
                <a:latin typeface="Consolas"/>
                <a:ea typeface="Consolas"/>
              </a:rPr>
              <a:t>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 = CAST(</a:t>
            </a:r>
            <a:r>
              <a:rPr b="0" lang="en-US" sz="1100" spc="-1" strike="noStrike">
                <a:solidFill>
                  <a:srgbClr val="b4441f"/>
                </a:solidFill>
                <a:latin typeface="Consolas"/>
                <a:ea typeface="Consolas"/>
              </a:rPr>
              <a: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VECTOR(</a:t>
            </a:r>
            <a:r>
              <a:rPr b="0" lang="en-US" sz="1100" spc="-1" strike="noStrike">
                <a:solidFill>
                  <a:srgbClr val="9a3412"/>
                </a:solidFill>
                <a:latin typeface="Consolas"/>
                <a:ea typeface="Consolas"/>
              </a:rPr>
              <a:t>1536</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SELECT</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TOP</a:t>
            </a:r>
            <a:r>
              <a:rPr b="0" lang="en-US" sz="1100" spc="-1" strike="noStrike">
                <a:solidFill>
                  <a:srgbClr val="1f2933"/>
                </a:solidFill>
                <a:latin typeface="Consolas"/>
                <a:ea typeface="Consolas"/>
              </a:rPr>
              <a:t> </a:t>
            </a:r>
            <a:r>
              <a:rPr b="0" lang="en-US" sz="1100" spc="-1" strike="noStrike">
                <a:solidFill>
                  <a:srgbClr val="9a3412"/>
                </a:solidFill>
                <a:latin typeface="Consolas"/>
                <a:ea typeface="Consolas"/>
              </a:rPr>
              <a:t>3</a:t>
            </a:r>
            <a:r>
              <a:rPr b="0" lang="en-US" sz="1100" spc="-1" strike="noStrike">
                <a:solidFill>
                  <a:srgbClr val="1f2933"/>
                </a:solidFill>
                <a:latin typeface="Consolas"/>
                <a:ea typeface="Consolas"/>
              </a:rPr>
              <a:t> Titulo, Contenido,</a:t>
            </a:r>
            <a:endParaRPr b="0" lang="es-ES" sz="1100" spc="-1" strike="noStrike">
              <a:latin typeface="Arial"/>
            </a:endParaRPr>
          </a:p>
          <a:p>
            <a:pPr>
              <a:lnSpc>
                <a:spcPct val="100000"/>
              </a:lnSpc>
              <a:tabLst>
                <a:tab algn="l" pos="0"/>
              </a:tabLst>
            </a:pPr>
            <a:r>
              <a:rPr b="0" lang="en-US" sz="1100" spc="-1" strike="noStrike">
                <a:solidFill>
                  <a:srgbClr val="1f2933"/>
                </a:solidFill>
                <a:latin typeface="Consolas"/>
                <a:ea typeface="Consolas"/>
              </a:rPr>
              <a:t>    </a:t>
            </a:r>
            <a:r>
              <a:rPr b="0" lang="en-US" sz="1100" spc="-1" strike="noStrike">
                <a:solidFill>
                  <a:srgbClr val="1f2933"/>
                </a:solidFill>
                <a:latin typeface="Consolas"/>
                <a:ea typeface="Consolas"/>
              </a:rPr>
              <a:t>VECTOR_DISTANCE(</a:t>
            </a:r>
            <a:r>
              <a:rPr b="0" lang="en-US" sz="1100" spc="-1" strike="noStrike">
                <a:solidFill>
                  <a:srgbClr val="b4441f"/>
                </a:solidFill>
                <a:latin typeface="Consolas"/>
                <a:ea typeface="Consolas"/>
              </a:rPr>
              <a:t>'cosine'</a:t>
            </a:r>
            <a:r>
              <a:rPr b="0" lang="en-US" sz="1100" spc="-1" strike="noStrike">
                <a:solidFill>
                  <a:srgbClr val="1f2933"/>
                </a:solidFill>
                <a:latin typeface="Consolas"/>
                <a:ea typeface="Consolas"/>
              </a:rPr>
              <a:t>, Embedding, </a:t>
            </a:r>
            <a:r>
              <a:rPr b="0" lang="en-US" sz="1100" spc="-1" strike="noStrike">
                <a:solidFill>
                  <a:srgbClr val="0f766e"/>
                </a:solidFill>
                <a:latin typeface="Consolas"/>
                <a:ea typeface="Consolas"/>
              </a:rPr>
              <a:t>@VectorPregunta</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AS</a:t>
            </a:r>
            <a:r>
              <a:rPr b="0" lang="en-US" sz="1100" spc="-1" strike="noStrike">
                <a:solidFill>
                  <a:srgbClr val="1f2933"/>
                </a:solidFill>
                <a:latin typeface="Consolas"/>
                <a:ea typeface="Consolas"/>
              </a:rPr>
              <a:t> Distancia</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FROM</a:t>
            </a:r>
            <a:r>
              <a:rPr b="0" lang="en-US" sz="1100" spc="-1" strike="noStrike">
                <a:solidFill>
                  <a:srgbClr val="1f2933"/>
                </a:solidFill>
                <a:latin typeface="Consolas"/>
                <a:ea typeface="Consolas"/>
              </a:rPr>
              <a:t> dbo.BaseConocimiento</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ORDER</a:t>
            </a:r>
            <a:r>
              <a:rPr b="0" lang="en-US" sz="1100" spc="-1" strike="noStrike">
                <a:solidFill>
                  <a:srgbClr val="1f2933"/>
                </a:solidFill>
                <a:latin typeface="Consolas"/>
                <a:ea typeface="Consolas"/>
              </a:rPr>
              <a:t> </a:t>
            </a:r>
            <a:r>
              <a:rPr b="1" lang="en-US" sz="1100" spc="-1" strike="noStrike">
                <a:solidFill>
                  <a:srgbClr val="1d4ed8"/>
                </a:solidFill>
                <a:latin typeface="Consolas"/>
                <a:ea typeface="Consolas"/>
              </a:rPr>
              <a:t>BY</a:t>
            </a:r>
            <a:r>
              <a:rPr b="0" lang="en-US" sz="1100" spc="-1" strike="noStrike">
                <a:solidFill>
                  <a:srgbClr val="1f2933"/>
                </a:solidFill>
                <a:latin typeface="Consolas"/>
                <a:ea typeface="Consolas"/>
              </a:rPr>
              <a:t> Distancia </a:t>
            </a:r>
            <a:r>
              <a:rPr b="1" lang="en-US" sz="1100" spc="-1" strike="noStrike">
                <a:solidFill>
                  <a:srgbClr val="1d4ed8"/>
                </a:solidFill>
                <a:latin typeface="Consolas"/>
                <a:ea typeface="Consolas"/>
              </a:rPr>
              <a:t>ASC</a:t>
            </a:r>
            <a:r>
              <a:rPr b="0" lang="en-US" sz="1100" spc="-1" strike="noStrike">
                <a:solidFill>
                  <a:srgbClr val="1f2933"/>
                </a:solidFill>
                <a:latin typeface="Consolas"/>
                <a:ea typeface="Consolas"/>
              </a:rPr>
              <a:t>;</a:t>
            </a:r>
            <a:endParaRPr b="0" lang="es-ES" sz="1100" spc="-1" strike="noStrike">
              <a:latin typeface="Arial"/>
            </a:endParaRPr>
          </a:p>
          <a:p>
            <a:pPr>
              <a:lnSpc>
                <a:spcPct val="100000"/>
              </a:lnSpc>
              <a:tabLst>
                <a:tab algn="l" pos="0"/>
              </a:tabLst>
            </a:pPr>
            <a:r>
              <a:rPr b="1" lang="en-US" sz="1100" spc="-1" strike="noStrike">
                <a:solidFill>
                  <a:srgbClr val="1d4ed8"/>
                </a:solidFill>
                <a:latin typeface="Consolas"/>
                <a:ea typeface="Consolas"/>
              </a:rPr>
              <a:t>GO</a:t>
            </a:r>
            <a:endParaRPr b="0" lang="es-ES" sz="1100" spc="-1" strike="noStrike">
              <a:latin typeface="Arial"/>
            </a:endParaRPr>
          </a:p>
        </p:txBody>
      </p:sp>
      <p:sp>
        <p:nvSpPr>
          <p:cNvPr id="837" name="CustomShape 8"/>
          <p:cNvSpPr/>
          <p:nvPr/>
        </p:nvSpPr>
        <p:spPr>
          <a:xfrm>
            <a:off x="7040880" y="1600200"/>
            <a:ext cx="4598640" cy="2148120"/>
          </a:xfrm>
          <a:prstGeom prst="roundRect">
            <a:avLst>
              <a:gd name="adj" fmla="val 5106"/>
            </a:avLst>
          </a:prstGeom>
          <a:solidFill>
            <a:srgbClr val="e8eef5"/>
          </a:solidFill>
          <a:ln>
            <a:noFill/>
          </a:ln>
        </p:spPr>
        <p:style>
          <a:lnRef idx="0"/>
          <a:fillRef idx="0"/>
          <a:effectRef idx="0"/>
          <a:fontRef idx="minor"/>
        </p:style>
      </p:sp>
      <p:sp>
        <p:nvSpPr>
          <p:cNvPr id="838" name="CustomShape 9"/>
          <p:cNvSpPr/>
          <p:nvPr/>
        </p:nvSpPr>
        <p:spPr>
          <a:xfrm>
            <a:off x="7269480" y="1828800"/>
            <a:ext cx="547920" cy="547920"/>
          </a:xfrm>
          <a:prstGeom prst="ellipse">
            <a:avLst/>
          </a:prstGeom>
          <a:solidFill>
            <a:srgbClr val="134074"/>
          </a:solidFill>
          <a:ln>
            <a:noFill/>
          </a:ln>
        </p:spPr>
        <p:style>
          <a:lnRef idx="0"/>
          <a:fillRef idx="0"/>
          <a:effectRef idx="0"/>
          <a:fontRef idx="minor"/>
        </p:style>
      </p:sp>
      <p:pic>
        <p:nvPicPr>
          <p:cNvPr id="839" name="Image 0" descr="preencoded.png"/>
          <p:cNvPicPr/>
          <p:nvPr/>
        </p:nvPicPr>
        <p:blipFill>
          <a:blip r:embed="rId1"/>
          <a:stretch/>
        </p:blipFill>
        <p:spPr>
          <a:xfrm>
            <a:off x="7406640" y="1965960"/>
            <a:ext cx="273600" cy="273600"/>
          </a:xfrm>
          <a:prstGeom prst="rect">
            <a:avLst/>
          </a:prstGeom>
          <a:ln>
            <a:noFill/>
          </a:ln>
        </p:spPr>
      </p:pic>
      <p:sp>
        <p:nvSpPr>
          <p:cNvPr id="840" name="CustomShape 10"/>
          <p:cNvSpPr/>
          <p:nvPr/>
        </p:nvSpPr>
        <p:spPr>
          <a:xfrm>
            <a:off x="7955280" y="1828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Tipo nativo VECTOR</a:t>
            </a:r>
            <a:endParaRPr b="0" lang="es-ES" sz="1700" spc="-1" strike="noStrike">
              <a:latin typeface="Arial"/>
            </a:endParaRPr>
          </a:p>
        </p:txBody>
      </p:sp>
      <p:sp>
        <p:nvSpPr>
          <p:cNvPr id="841" name="CustomShape 11"/>
          <p:cNvSpPr/>
          <p:nvPr/>
        </p:nvSpPr>
        <p:spPr>
          <a:xfrm>
            <a:off x="7269480" y="2560320"/>
            <a:ext cx="4141440" cy="95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Embeddings densos para texto, imágenes o audio</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Almacenamiento de floats de 32 bits (4 bytes/dim)</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Métricas de distancia: cosine, euclidean, dot</a:t>
            </a:r>
            <a:endParaRPr b="0" lang="es-ES" sz="1200" spc="-1" strike="noStrike">
              <a:latin typeface="Arial"/>
            </a:endParaRPr>
          </a:p>
        </p:txBody>
      </p:sp>
      <p:sp>
        <p:nvSpPr>
          <p:cNvPr id="842" name="CustomShape 12"/>
          <p:cNvSpPr/>
          <p:nvPr/>
        </p:nvSpPr>
        <p:spPr>
          <a:xfrm>
            <a:off x="7040880" y="3886200"/>
            <a:ext cx="4598640" cy="2239560"/>
          </a:xfrm>
          <a:prstGeom prst="roundRect">
            <a:avLst>
              <a:gd name="adj" fmla="val 489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43" name="CustomShape 13"/>
          <p:cNvSpPr/>
          <p:nvPr/>
        </p:nvSpPr>
        <p:spPr>
          <a:xfrm>
            <a:off x="7269480" y="4114800"/>
            <a:ext cx="547920" cy="547920"/>
          </a:xfrm>
          <a:prstGeom prst="ellipse">
            <a:avLst/>
          </a:prstGeom>
          <a:solidFill>
            <a:srgbClr val="134074"/>
          </a:solidFill>
          <a:ln>
            <a:noFill/>
          </a:ln>
        </p:spPr>
        <p:style>
          <a:lnRef idx="0"/>
          <a:fillRef idx="0"/>
          <a:effectRef idx="0"/>
          <a:fontRef idx="minor"/>
        </p:style>
      </p:sp>
      <p:pic>
        <p:nvPicPr>
          <p:cNvPr id="844" name="Image 1" descr="preencoded.png"/>
          <p:cNvPicPr/>
          <p:nvPr/>
        </p:nvPicPr>
        <p:blipFill>
          <a:blip r:embed="rId2"/>
          <a:stretch/>
        </p:blipFill>
        <p:spPr>
          <a:xfrm>
            <a:off x="7406640" y="4251960"/>
            <a:ext cx="273600" cy="273600"/>
          </a:xfrm>
          <a:prstGeom prst="rect">
            <a:avLst/>
          </a:prstGeom>
          <a:ln>
            <a:noFill/>
          </a:ln>
        </p:spPr>
      </p:pic>
      <p:sp>
        <p:nvSpPr>
          <p:cNvPr id="845" name="CustomShape 14"/>
          <p:cNvSpPr/>
          <p:nvPr/>
        </p:nvSpPr>
        <p:spPr>
          <a:xfrm>
            <a:off x="7955280" y="4114800"/>
            <a:ext cx="34556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Consultas Híbridas y RAG</a:t>
            </a:r>
            <a:endParaRPr b="0" lang="es-ES" sz="1700" spc="-1" strike="noStrike">
              <a:latin typeface="Arial"/>
            </a:endParaRPr>
          </a:p>
        </p:txBody>
      </p:sp>
      <p:sp>
        <p:nvSpPr>
          <p:cNvPr id="846" name="CustomShape 15"/>
          <p:cNvSpPr/>
          <p:nvPr/>
        </p:nvSpPr>
        <p:spPr>
          <a:xfrm>
            <a:off x="7269480" y="4846320"/>
            <a:ext cx="4141440" cy="1050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Filtros relacionales (WHERE) y similitud semántica</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Contexto directo para LLMs en arquitecturas RAG</a:t>
            </a:r>
            <a:endParaRPr b="0" lang="es-ES" sz="1200" spc="-1" strike="noStrike">
              <a:latin typeface="Arial"/>
            </a:endParaRPr>
          </a:p>
          <a:p>
            <a:pPr marL="203040" indent="-202320">
              <a:lnSpc>
                <a:spcPct val="100000"/>
              </a:lnSpc>
              <a:spcAft>
                <a:spcPts val="400"/>
              </a:spcAft>
              <a:buClr>
                <a:srgbClr val="1f2933"/>
              </a:buClr>
              <a:buFont typeface="Symbol"/>
              <a:buChar char=""/>
            </a:pPr>
            <a:r>
              <a:rPr b="0" lang="en-US" sz="1200" spc="-1" strike="noStrike">
                <a:solidFill>
                  <a:srgbClr val="1f2933"/>
                </a:solidFill>
                <a:latin typeface="Calibri"/>
                <a:ea typeface="Calibri"/>
              </a:rPr>
              <a:t>Demostración práctica: labs/lab115-vector-table</a:t>
            </a:r>
            <a:endParaRPr b="0" lang="es-ES" sz="1200" spc="-1" strike="noStrike">
              <a:latin typeface="Arial"/>
            </a:endParaRPr>
          </a:p>
        </p:txBody>
      </p:sp>
      <p:sp>
        <p:nvSpPr>
          <p:cNvPr id="847" name="CustomShape 16"/>
          <p:cNvSpPr/>
          <p:nvPr/>
        </p:nvSpPr>
        <p:spPr>
          <a:xfrm>
            <a:off x="548640" y="4754880"/>
            <a:ext cx="6217200" cy="1370880"/>
          </a:xfrm>
          <a:prstGeom prst="roundRect">
            <a:avLst>
              <a:gd name="adj" fmla="val 8000"/>
            </a:avLst>
          </a:prstGeom>
          <a:solidFill>
            <a:srgbClr val="e8eef5"/>
          </a:solidFill>
          <a:ln>
            <a:noFill/>
          </a:ln>
        </p:spPr>
        <p:style>
          <a:lnRef idx="0"/>
          <a:fillRef idx="0"/>
          <a:effectRef idx="0"/>
          <a:fontRef idx="minor"/>
        </p:style>
      </p:sp>
      <p:sp>
        <p:nvSpPr>
          <p:cNvPr id="848" name="CustomShape 17"/>
          <p:cNvSpPr/>
          <p:nvPr/>
        </p:nvSpPr>
        <p:spPr>
          <a:xfrm>
            <a:off x="731520" y="5212080"/>
            <a:ext cx="456480" cy="456480"/>
          </a:xfrm>
          <a:prstGeom prst="ellipse">
            <a:avLst/>
          </a:prstGeom>
          <a:solidFill>
            <a:srgbClr val="134074"/>
          </a:solidFill>
          <a:ln>
            <a:noFill/>
          </a:ln>
        </p:spPr>
        <p:style>
          <a:lnRef idx="0"/>
          <a:fillRef idx="0"/>
          <a:effectRef idx="0"/>
          <a:fontRef idx="minor"/>
        </p:style>
      </p:sp>
      <p:pic>
        <p:nvPicPr>
          <p:cNvPr id="849" name="Image 2" descr="preencoded.png"/>
          <p:cNvPicPr/>
          <p:nvPr/>
        </p:nvPicPr>
        <p:blipFill>
          <a:blip r:embed="rId3"/>
          <a:stretch/>
        </p:blipFill>
        <p:spPr>
          <a:xfrm>
            <a:off x="846000" y="5326560"/>
            <a:ext cx="227880" cy="227880"/>
          </a:xfrm>
          <a:prstGeom prst="rect">
            <a:avLst/>
          </a:prstGeom>
          <a:ln>
            <a:noFill/>
          </a:ln>
        </p:spPr>
      </p:pic>
      <p:sp>
        <p:nvSpPr>
          <p:cNvPr id="850" name="CustomShape 18"/>
          <p:cNvSpPr/>
          <p:nvPr/>
        </p:nvSpPr>
        <p:spPr>
          <a:xfrm>
            <a:off x="1371600" y="4754880"/>
            <a:ext cx="52113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RAG sin bases externas: </a:t>
            </a:r>
            <a:r>
              <a:rPr b="0" lang="en-US" sz="1400" spc="-1" strike="noStrike">
                <a:solidFill>
                  <a:srgbClr val="1f2933"/>
                </a:solidFill>
                <a:latin typeface="Calibri"/>
                <a:ea typeface="Calibri"/>
              </a:rPr>
              <a:t>Los embeddings se benefician del modelo ACID, cifrado TDE, Row-Level Security y backups de SQL Server sin pipelines ETL a bases de datos de terceros.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51" name="CustomShape 1"/>
          <p:cNvSpPr/>
          <p:nvPr/>
        </p:nvSpPr>
        <p:spPr>
          <a:xfrm>
            <a:off x="548640" y="365760"/>
            <a:ext cx="28886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CONSULTAS Y SP</a:t>
            </a:r>
            <a:endParaRPr b="0" lang="es-ES" sz="1000" spc="-1" strike="noStrike">
              <a:latin typeface="Arial"/>
            </a:endParaRPr>
          </a:p>
        </p:txBody>
      </p:sp>
      <p:sp>
        <p:nvSpPr>
          <p:cNvPr id="85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2A: consultas y procedimientos</a:t>
            </a:r>
            <a:endParaRPr b="0" lang="es-ES" sz="3400" spc="-1" strike="noStrike">
              <a:latin typeface="Arial"/>
            </a:endParaRPr>
          </a:p>
        </p:txBody>
      </p:sp>
      <p:sp>
        <p:nvSpPr>
          <p:cNvPr id="85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5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34</a:t>
            </a:r>
            <a:endParaRPr b="0" lang="es-ES" sz="1000" spc="-1" strike="noStrike">
              <a:latin typeface="Arial"/>
            </a:endParaRPr>
          </a:p>
        </p:txBody>
      </p:sp>
      <p:sp>
        <p:nvSpPr>
          <p:cNvPr id="855"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56"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857"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858"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859"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Ventas con Cliente y Pedido y carga 50 000 pedidos sesgados.</a:t>
            </a:r>
            <a:endParaRPr b="0" lang="es-ES" sz="1400" spc="-1" strike="noStrike">
              <a:latin typeface="Arial"/>
            </a:endParaRPr>
          </a:p>
        </p:txBody>
      </p:sp>
      <p:sp>
        <p:nvSpPr>
          <p:cNvPr id="860"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1"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2"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863"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864"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Consulta analítica</a:t>
            </a:r>
            <a:endParaRPr b="0" lang="es-ES" sz="1600" spc="-1" strike="noStrike">
              <a:latin typeface="Arial"/>
            </a:endParaRPr>
          </a:p>
        </p:txBody>
      </p:sp>
      <p:sp>
        <p:nvSpPr>
          <p:cNvPr id="865"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Top 3 pedidos por cliente con ROW_NUMBER y SUM OVER.</a:t>
            </a:r>
            <a:endParaRPr b="0" lang="es-ES" sz="1400" spc="-1" strike="noStrike">
              <a:latin typeface="Arial"/>
            </a:endParaRPr>
          </a:p>
        </p:txBody>
      </p:sp>
      <p:sp>
        <p:nvSpPr>
          <p:cNvPr id="866"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67"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68"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869"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870"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Procedimiento</a:t>
            </a:r>
            <a:endParaRPr b="0" lang="es-ES" sz="1600" spc="-1" strike="noStrike">
              <a:latin typeface="Arial"/>
            </a:endParaRPr>
          </a:p>
        </p:txBody>
      </p:sp>
      <p:sp>
        <p:nvSpPr>
          <p:cNvPr id="871"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usp_TopPedidosCliente con parámetros y SET NOCOUNT ON.</a:t>
            </a:r>
            <a:endParaRPr b="0" lang="es-ES" sz="1400" spc="-1" strike="noStrike">
              <a:latin typeface="Arial"/>
            </a:endParaRPr>
          </a:p>
        </p:txBody>
      </p:sp>
      <p:sp>
        <p:nvSpPr>
          <p:cNvPr id="872"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73"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74"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875"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876"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Plan y sniffing</a:t>
            </a:r>
            <a:endParaRPr b="0" lang="es-ES" sz="1600" spc="-1" strike="noStrike">
              <a:latin typeface="Arial"/>
            </a:endParaRPr>
          </a:p>
        </p:txBody>
      </p:sp>
      <p:sp>
        <p:nvSpPr>
          <p:cNvPr id="877"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Ejecuta con cliente 1 y con otro; compara planes con Ctrl+M.</a:t>
            </a:r>
            <a:endParaRPr b="0" lang="es-ES" sz="1400" spc="-1" strike="noStrike">
              <a:latin typeface="Arial"/>
            </a:endParaRPr>
          </a:p>
        </p:txBody>
      </p:sp>
      <p:sp>
        <p:nvSpPr>
          <p:cNvPr id="878" name="CustomShape 28"/>
          <p:cNvSpPr/>
          <p:nvPr/>
        </p:nvSpPr>
        <p:spPr>
          <a:xfrm>
            <a:off x="548640" y="4572000"/>
            <a:ext cx="685728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879"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punto de partida del paso 2</a:t>
            </a:r>
            <a:endParaRPr b="0" lang="es-ES" sz="1000" spc="-1" strike="noStrike">
              <a:latin typeface="Arial"/>
            </a:endParaRPr>
          </a:p>
        </p:txBody>
      </p:sp>
      <p:sp>
        <p:nvSpPr>
          <p:cNvPr id="880" name="CustomShape 30"/>
          <p:cNvSpPr/>
          <p:nvPr/>
        </p:nvSpPr>
        <p:spPr>
          <a:xfrm>
            <a:off x="731520" y="4937760"/>
            <a:ext cx="649152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ClienteId, PedidoId,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ROW_NUMBER()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PARTITION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ClienteId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Total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rn</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rn &lt;= </a:t>
            </a:r>
            <a:r>
              <a:rPr b="0" lang="en-US" sz="1200" spc="-1" strike="noStrike">
                <a:solidFill>
                  <a:srgbClr val="9a3412"/>
                </a:solidFill>
                <a:latin typeface="Consolas"/>
                <a:ea typeface="Consolas"/>
              </a:rPr>
              <a:t>3</a:t>
            </a:r>
            <a:r>
              <a:rPr b="0" lang="en-US" sz="1200" spc="-1" strike="noStrike">
                <a:solidFill>
                  <a:srgbClr val="1f2933"/>
                </a:solidFill>
                <a:latin typeface="Consolas"/>
                <a:ea typeface="Consolas"/>
              </a:rPr>
              <a:t>;</a:t>
            </a:r>
            <a:endParaRPr b="0" lang="es-ES" sz="1200" spc="-1" strike="noStrike">
              <a:latin typeface="Arial"/>
            </a:endParaRPr>
          </a:p>
        </p:txBody>
      </p:sp>
      <p:sp>
        <p:nvSpPr>
          <p:cNvPr id="881" name="CustomShape 31"/>
          <p:cNvSpPr/>
          <p:nvPr/>
        </p:nvSpPr>
        <p:spPr>
          <a:xfrm>
            <a:off x="7680960" y="4572000"/>
            <a:ext cx="3958560" cy="1599480"/>
          </a:xfrm>
          <a:prstGeom prst="roundRect">
            <a:avLst>
              <a:gd name="adj" fmla="val 6857"/>
            </a:avLst>
          </a:prstGeom>
          <a:solidFill>
            <a:srgbClr val="fdede8"/>
          </a:solidFill>
          <a:ln>
            <a:noFill/>
          </a:ln>
        </p:spPr>
        <p:style>
          <a:lnRef idx="0"/>
          <a:fillRef idx="0"/>
          <a:effectRef idx="0"/>
          <a:fontRef idx="minor"/>
        </p:style>
      </p:sp>
      <p:sp>
        <p:nvSpPr>
          <p:cNvPr id="882" name="CustomShape 32"/>
          <p:cNvSpPr/>
          <p:nvPr/>
        </p:nvSpPr>
        <p:spPr>
          <a:xfrm>
            <a:off x="7863840" y="5143680"/>
            <a:ext cx="456480" cy="456480"/>
          </a:xfrm>
          <a:prstGeom prst="ellipse">
            <a:avLst/>
          </a:prstGeom>
          <a:solidFill>
            <a:srgbClr val="d95d39"/>
          </a:solidFill>
          <a:ln>
            <a:noFill/>
          </a:ln>
        </p:spPr>
        <p:style>
          <a:lnRef idx="0"/>
          <a:fillRef idx="0"/>
          <a:effectRef idx="0"/>
          <a:fontRef idx="minor"/>
        </p:style>
      </p:sp>
      <p:pic>
        <p:nvPicPr>
          <p:cNvPr id="883" name="Image 0" descr="preencoded.png"/>
          <p:cNvPicPr/>
          <p:nvPr/>
        </p:nvPicPr>
        <p:blipFill>
          <a:blip r:embed="rId1"/>
          <a:stretch/>
        </p:blipFill>
        <p:spPr>
          <a:xfrm>
            <a:off x="7978320" y="5257800"/>
            <a:ext cx="227880" cy="227880"/>
          </a:xfrm>
          <a:prstGeom prst="rect">
            <a:avLst/>
          </a:prstGeom>
          <a:ln>
            <a:noFill/>
          </a:ln>
        </p:spPr>
      </p:pic>
      <p:sp>
        <p:nvSpPr>
          <p:cNvPr id="884" name="CustomShape 33"/>
          <p:cNvSpPr/>
          <p:nvPr/>
        </p:nvSpPr>
        <p:spPr>
          <a:xfrm>
            <a:off x="8503920" y="4572000"/>
            <a:ext cx="295272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no puedes filtrar rn en el mismo SELECT; envuélvelo en una CTE.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88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88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 de seguridad de SQL Server</a:t>
            </a:r>
            <a:endParaRPr b="0" lang="es-ES" sz="3400" spc="-1" strike="noStrike">
              <a:latin typeface="Arial"/>
            </a:endParaRPr>
          </a:p>
        </p:txBody>
      </p:sp>
      <p:sp>
        <p:nvSpPr>
          <p:cNvPr id="88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88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35</a:t>
            </a:r>
            <a:endParaRPr b="0" lang="es-ES" sz="1000" spc="-1" strike="noStrike">
              <a:latin typeface="Arial"/>
            </a:endParaRPr>
          </a:p>
        </p:txBody>
      </p:sp>
      <p:sp>
        <p:nvSpPr>
          <p:cNvPr id="889" name="CustomShape 5"/>
          <p:cNvSpPr/>
          <p:nvPr/>
        </p:nvSpPr>
        <p:spPr>
          <a:xfrm>
            <a:off x="548640" y="2103120"/>
            <a:ext cx="4298760" cy="3336840"/>
          </a:xfrm>
          <a:prstGeom prst="roundRect">
            <a:avLst>
              <a:gd name="adj" fmla="val 3288"/>
            </a:avLst>
          </a:prstGeom>
          <a:solidFill>
            <a:srgbClr val="e8eef5"/>
          </a:solidFill>
          <a:ln>
            <a:noFill/>
          </a:ln>
        </p:spPr>
        <p:style>
          <a:lnRef idx="0"/>
          <a:fillRef idx="0"/>
          <a:effectRef idx="0"/>
          <a:fontRef idx="minor"/>
        </p:style>
      </p:sp>
      <p:sp>
        <p:nvSpPr>
          <p:cNvPr id="890" name="CustomShape 6"/>
          <p:cNvSpPr/>
          <p:nvPr/>
        </p:nvSpPr>
        <p:spPr>
          <a:xfrm>
            <a:off x="5213880" y="2103120"/>
            <a:ext cx="6425640" cy="3336840"/>
          </a:xfrm>
          <a:prstGeom prst="roundRect">
            <a:avLst>
              <a:gd name="adj" fmla="val 3288"/>
            </a:avLst>
          </a:prstGeom>
          <a:solidFill>
            <a:srgbClr val="dde7f3"/>
          </a:solidFill>
          <a:ln>
            <a:noFill/>
          </a:ln>
        </p:spPr>
        <p:style>
          <a:lnRef idx="0"/>
          <a:fillRef idx="0"/>
          <a:effectRef idx="0"/>
          <a:fontRef idx="minor"/>
        </p:style>
      </p:sp>
      <p:sp>
        <p:nvSpPr>
          <p:cNvPr id="891" name="CustomShape 7"/>
          <p:cNvSpPr/>
          <p:nvPr/>
        </p:nvSpPr>
        <p:spPr>
          <a:xfrm>
            <a:off x="548640" y="1600200"/>
            <a:ext cx="429876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INSTANCIA (servidor)</a:t>
            </a:r>
            <a:endParaRPr b="0" lang="es-ES" sz="1300" spc="-1" strike="noStrike">
              <a:latin typeface="Arial"/>
            </a:endParaRPr>
          </a:p>
        </p:txBody>
      </p:sp>
      <p:sp>
        <p:nvSpPr>
          <p:cNvPr id="892" name="CustomShape 8"/>
          <p:cNvSpPr/>
          <p:nvPr/>
        </p:nvSpPr>
        <p:spPr>
          <a:xfrm>
            <a:off x="5213880" y="1600200"/>
            <a:ext cx="64256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0b2545"/>
                </a:solidFill>
                <a:latin typeface="Calibri"/>
                <a:ea typeface="Calibri"/>
              </a:rPr>
              <a:t>NIVEL DE BASE DE DATOS</a:t>
            </a:r>
            <a:endParaRPr b="0" lang="es-ES" sz="1300" spc="-1" strike="noStrike">
              <a:latin typeface="Arial"/>
            </a:endParaRPr>
          </a:p>
        </p:txBody>
      </p:sp>
      <p:sp>
        <p:nvSpPr>
          <p:cNvPr id="893" name="CustomShape 9"/>
          <p:cNvSpPr/>
          <p:nvPr/>
        </p:nvSpPr>
        <p:spPr>
          <a:xfrm>
            <a:off x="731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894" name="CustomShape 10"/>
          <p:cNvSpPr/>
          <p:nvPr/>
        </p:nvSpPr>
        <p:spPr>
          <a:xfrm>
            <a:off x="1315080" y="2560320"/>
            <a:ext cx="639360" cy="639360"/>
          </a:xfrm>
          <a:prstGeom prst="ellipse">
            <a:avLst/>
          </a:prstGeom>
          <a:solidFill>
            <a:srgbClr val="134074"/>
          </a:solidFill>
          <a:ln>
            <a:noFill/>
          </a:ln>
        </p:spPr>
        <p:style>
          <a:lnRef idx="0"/>
          <a:fillRef idx="0"/>
          <a:effectRef idx="0"/>
          <a:fontRef idx="minor"/>
        </p:style>
      </p:sp>
      <p:pic>
        <p:nvPicPr>
          <p:cNvPr id="895" name="Image 0" descr="preencoded.png"/>
          <p:cNvPicPr/>
          <p:nvPr/>
        </p:nvPicPr>
        <p:blipFill>
          <a:blip r:embed="rId1"/>
          <a:stretch/>
        </p:blipFill>
        <p:spPr>
          <a:xfrm>
            <a:off x="1474920" y="2720520"/>
            <a:ext cx="319320" cy="319320"/>
          </a:xfrm>
          <a:prstGeom prst="rect">
            <a:avLst/>
          </a:prstGeom>
          <a:ln>
            <a:noFill/>
          </a:ln>
        </p:spPr>
      </p:pic>
      <p:sp>
        <p:nvSpPr>
          <p:cNvPr id="896" name="CustomShape 11"/>
          <p:cNvSpPr/>
          <p:nvPr/>
        </p:nvSpPr>
        <p:spPr>
          <a:xfrm>
            <a:off x="822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Autenticación</a:t>
            </a:r>
            <a:endParaRPr b="0" lang="es-ES" sz="1600" spc="-1" strike="noStrike">
              <a:latin typeface="Arial"/>
            </a:endParaRPr>
          </a:p>
        </p:txBody>
      </p:sp>
      <p:sp>
        <p:nvSpPr>
          <p:cNvPr id="897" name="CustomShape 12"/>
          <p:cNvSpPr/>
          <p:nvPr/>
        </p:nvSpPr>
        <p:spPr>
          <a:xfrm>
            <a:off x="822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Windows o SQL Server</a:t>
            </a:r>
            <a:endParaRPr b="0" lang="es-ES" sz="1300" spc="-1" strike="noStrike">
              <a:latin typeface="Arial"/>
            </a:endParaRPr>
          </a:p>
        </p:txBody>
      </p:sp>
      <p:sp>
        <p:nvSpPr>
          <p:cNvPr id="898" name="CustomShape 13"/>
          <p:cNvSpPr/>
          <p:nvPr/>
        </p:nvSpPr>
        <p:spPr>
          <a:xfrm>
            <a:off x="256140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899" name="CustomShape 14"/>
          <p:cNvSpPr/>
          <p:nvPr/>
        </p:nvSpPr>
        <p:spPr>
          <a:xfrm>
            <a:off x="285840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0" name="CustomShape 15"/>
          <p:cNvSpPr/>
          <p:nvPr/>
        </p:nvSpPr>
        <p:spPr>
          <a:xfrm>
            <a:off x="3441960" y="2560320"/>
            <a:ext cx="639360" cy="639360"/>
          </a:xfrm>
          <a:prstGeom prst="ellipse">
            <a:avLst/>
          </a:prstGeom>
          <a:solidFill>
            <a:srgbClr val="134074"/>
          </a:solidFill>
          <a:ln>
            <a:noFill/>
          </a:ln>
        </p:spPr>
        <p:style>
          <a:lnRef idx="0"/>
          <a:fillRef idx="0"/>
          <a:effectRef idx="0"/>
          <a:fontRef idx="minor"/>
        </p:style>
      </p:sp>
      <p:pic>
        <p:nvPicPr>
          <p:cNvPr id="901" name="Image 1" descr="preencoded.png"/>
          <p:cNvPicPr/>
          <p:nvPr/>
        </p:nvPicPr>
        <p:blipFill>
          <a:blip r:embed="rId2"/>
          <a:stretch/>
        </p:blipFill>
        <p:spPr>
          <a:xfrm>
            <a:off x="3601800" y="2720520"/>
            <a:ext cx="319320" cy="319320"/>
          </a:xfrm>
          <a:prstGeom prst="rect">
            <a:avLst/>
          </a:prstGeom>
          <a:ln>
            <a:noFill/>
          </a:ln>
        </p:spPr>
      </p:pic>
      <p:sp>
        <p:nvSpPr>
          <p:cNvPr id="902" name="CustomShape 16"/>
          <p:cNvSpPr/>
          <p:nvPr/>
        </p:nvSpPr>
        <p:spPr>
          <a:xfrm>
            <a:off x="294984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Login</a:t>
            </a:r>
            <a:endParaRPr b="0" lang="es-ES" sz="1600" spc="-1" strike="noStrike">
              <a:latin typeface="Arial"/>
            </a:endParaRPr>
          </a:p>
        </p:txBody>
      </p:sp>
      <p:sp>
        <p:nvSpPr>
          <p:cNvPr id="903" name="CustomShape 17"/>
          <p:cNvSpPr/>
          <p:nvPr/>
        </p:nvSpPr>
        <p:spPr>
          <a:xfrm>
            <a:off x="294984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servidor</a:t>
            </a:r>
            <a:endParaRPr b="0" lang="es-ES" sz="1300" spc="-1" strike="noStrike">
              <a:latin typeface="Arial"/>
            </a:endParaRPr>
          </a:p>
        </p:txBody>
      </p:sp>
      <p:sp>
        <p:nvSpPr>
          <p:cNvPr id="904" name="CustomShape 18"/>
          <p:cNvSpPr/>
          <p:nvPr/>
        </p:nvSpPr>
        <p:spPr>
          <a:xfrm>
            <a:off x="48938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05" name="CustomShape 19"/>
          <p:cNvSpPr/>
          <p:nvPr/>
        </p:nvSpPr>
        <p:spPr>
          <a:xfrm>
            <a:off x="539676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06" name="CustomShape 20"/>
          <p:cNvSpPr/>
          <p:nvPr/>
        </p:nvSpPr>
        <p:spPr>
          <a:xfrm>
            <a:off x="5980320" y="2560320"/>
            <a:ext cx="639360" cy="639360"/>
          </a:xfrm>
          <a:prstGeom prst="ellipse">
            <a:avLst/>
          </a:prstGeom>
          <a:solidFill>
            <a:srgbClr val="0b2545"/>
          </a:solidFill>
          <a:ln>
            <a:noFill/>
          </a:ln>
        </p:spPr>
        <p:style>
          <a:lnRef idx="0"/>
          <a:fillRef idx="0"/>
          <a:effectRef idx="0"/>
          <a:fontRef idx="minor"/>
        </p:style>
      </p:sp>
      <p:pic>
        <p:nvPicPr>
          <p:cNvPr id="907" name="Image 2" descr="preencoded.png"/>
          <p:cNvPicPr/>
          <p:nvPr/>
        </p:nvPicPr>
        <p:blipFill>
          <a:blip r:embed="rId3"/>
          <a:stretch/>
        </p:blipFill>
        <p:spPr>
          <a:xfrm>
            <a:off x="6140160" y="2720520"/>
            <a:ext cx="319320" cy="319320"/>
          </a:xfrm>
          <a:prstGeom prst="rect">
            <a:avLst/>
          </a:prstGeom>
          <a:ln>
            <a:noFill/>
          </a:ln>
        </p:spPr>
      </p:pic>
      <p:sp>
        <p:nvSpPr>
          <p:cNvPr id="908" name="CustomShape 21"/>
          <p:cNvSpPr/>
          <p:nvPr/>
        </p:nvSpPr>
        <p:spPr>
          <a:xfrm>
            <a:off x="548820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User</a:t>
            </a:r>
            <a:endParaRPr b="0" lang="es-ES" sz="1600" spc="-1" strike="noStrike">
              <a:latin typeface="Arial"/>
            </a:endParaRPr>
          </a:p>
        </p:txBody>
      </p:sp>
      <p:sp>
        <p:nvSpPr>
          <p:cNvPr id="909" name="CustomShape 22"/>
          <p:cNvSpPr/>
          <p:nvPr/>
        </p:nvSpPr>
        <p:spPr>
          <a:xfrm>
            <a:off x="548820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Principal de base de datos</a:t>
            </a:r>
            <a:endParaRPr b="0" lang="es-ES" sz="1300" spc="-1" strike="noStrike">
              <a:latin typeface="Arial"/>
            </a:endParaRPr>
          </a:p>
        </p:txBody>
      </p:sp>
      <p:sp>
        <p:nvSpPr>
          <p:cNvPr id="910" name="CustomShape 23"/>
          <p:cNvSpPr/>
          <p:nvPr/>
        </p:nvSpPr>
        <p:spPr>
          <a:xfrm>
            <a:off x="722664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1" name="CustomShape 24"/>
          <p:cNvSpPr/>
          <p:nvPr/>
        </p:nvSpPr>
        <p:spPr>
          <a:xfrm>
            <a:off x="752364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2" name="CustomShape 25"/>
          <p:cNvSpPr/>
          <p:nvPr/>
        </p:nvSpPr>
        <p:spPr>
          <a:xfrm>
            <a:off x="8107200" y="2560320"/>
            <a:ext cx="639360" cy="639360"/>
          </a:xfrm>
          <a:prstGeom prst="ellipse">
            <a:avLst/>
          </a:prstGeom>
          <a:solidFill>
            <a:srgbClr val="0b2545"/>
          </a:solidFill>
          <a:ln>
            <a:noFill/>
          </a:ln>
        </p:spPr>
        <p:style>
          <a:lnRef idx="0"/>
          <a:fillRef idx="0"/>
          <a:effectRef idx="0"/>
          <a:fontRef idx="minor"/>
        </p:style>
      </p:sp>
      <p:pic>
        <p:nvPicPr>
          <p:cNvPr id="913" name="Image 3" descr="preencoded.png"/>
          <p:cNvPicPr/>
          <p:nvPr/>
        </p:nvPicPr>
        <p:blipFill>
          <a:blip r:embed="rId4"/>
          <a:stretch/>
        </p:blipFill>
        <p:spPr>
          <a:xfrm>
            <a:off x="8267040" y="2720520"/>
            <a:ext cx="319320" cy="319320"/>
          </a:xfrm>
          <a:prstGeom prst="rect">
            <a:avLst/>
          </a:prstGeom>
          <a:ln>
            <a:noFill/>
          </a:ln>
        </p:spPr>
      </p:pic>
      <p:sp>
        <p:nvSpPr>
          <p:cNvPr id="914" name="CustomShape 26"/>
          <p:cNvSpPr/>
          <p:nvPr/>
        </p:nvSpPr>
        <p:spPr>
          <a:xfrm>
            <a:off x="761508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Roles y permisos</a:t>
            </a:r>
            <a:endParaRPr b="0" lang="es-ES" sz="1600" spc="-1" strike="noStrike">
              <a:latin typeface="Arial"/>
            </a:endParaRPr>
          </a:p>
        </p:txBody>
      </p:sp>
      <p:sp>
        <p:nvSpPr>
          <p:cNvPr id="915" name="CustomShape 27"/>
          <p:cNvSpPr/>
          <p:nvPr/>
        </p:nvSpPr>
        <p:spPr>
          <a:xfrm>
            <a:off x="761508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GRANT · DENY · REVOKE</a:t>
            </a:r>
            <a:endParaRPr b="0" lang="es-ES" sz="1300" spc="-1" strike="noStrike">
              <a:latin typeface="Arial"/>
            </a:endParaRPr>
          </a:p>
        </p:txBody>
      </p:sp>
      <p:sp>
        <p:nvSpPr>
          <p:cNvPr id="916" name="CustomShape 28"/>
          <p:cNvSpPr/>
          <p:nvPr/>
        </p:nvSpPr>
        <p:spPr>
          <a:xfrm>
            <a:off x="9353520" y="2697480"/>
            <a:ext cx="27360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917" name="CustomShape 29"/>
          <p:cNvSpPr/>
          <p:nvPr/>
        </p:nvSpPr>
        <p:spPr>
          <a:xfrm>
            <a:off x="9650520" y="2377440"/>
            <a:ext cx="1806120" cy="2788200"/>
          </a:xfrm>
          <a:prstGeom prst="roundRect">
            <a:avLst>
              <a:gd name="adj" fmla="val 6073"/>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18" name="CustomShape 30"/>
          <p:cNvSpPr/>
          <p:nvPr/>
        </p:nvSpPr>
        <p:spPr>
          <a:xfrm>
            <a:off x="10234080" y="2560320"/>
            <a:ext cx="639360" cy="639360"/>
          </a:xfrm>
          <a:prstGeom prst="ellipse">
            <a:avLst/>
          </a:prstGeom>
          <a:solidFill>
            <a:srgbClr val="0b2545"/>
          </a:solidFill>
          <a:ln>
            <a:noFill/>
          </a:ln>
        </p:spPr>
        <p:style>
          <a:lnRef idx="0"/>
          <a:fillRef idx="0"/>
          <a:effectRef idx="0"/>
          <a:fontRef idx="minor"/>
        </p:style>
      </p:sp>
      <p:pic>
        <p:nvPicPr>
          <p:cNvPr id="919" name="Image 4" descr="preencoded.png"/>
          <p:cNvPicPr/>
          <p:nvPr/>
        </p:nvPicPr>
        <p:blipFill>
          <a:blip r:embed="rId5"/>
          <a:stretch/>
        </p:blipFill>
        <p:spPr>
          <a:xfrm>
            <a:off x="10393920" y="2720520"/>
            <a:ext cx="319320" cy="319320"/>
          </a:xfrm>
          <a:prstGeom prst="rect">
            <a:avLst/>
          </a:prstGeom>
          <a:ln>
            <a:noFill/>
          </a:ln>
        </p:spPr>
      </p:pic>
      <p:sp>
        <p:nvSpPr>
          <p:cNvPr id="920" name="CustomShape 31"/>
          <p:cNvSpPr/>
          <p:nvPr/>
        </p:nvSpPr>
        <p:spPr>
          <a:xfrm>
            <a:off x="9741960" y="3337560"/>
            <a:ext cx="1623240" cy="5936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1" lang="en-US" sz="1600" spc="-1" strike="noStrike">
                <a:solidFill>
                  <a:srgbClr val="0b2545"/>
                </a:solidFill>
                <a:latin typeface="Calibri"/>
                <a:ea typeface="Calibri"/>
              </a:rPr>
              <a:t>Objetos</a:t>
            </a:r>
            <a:endParaRPr b="0" lang="es-ES" sz="1600" spc="-1" strike="noStrike">
              <a:latin typeface="Arial"/>
            </a:endParaRPr>
          </a:p>
        </p:txBody>
      </p:sp>
      <p:sp>
        <p:nvSpPr>
          <p:cNvPr id="921" name="CustomShape 32"/>
          <p:cNvSpPr/>
          <p:nvPr/>
        </p:nvSpPr>
        <p:spPr>
          <a:xfrm>
            <a:off x="9741960" y="3977640"/>
            <a:ext cx="1623240" cy="82224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Schemas, tablas, SP, vistas</a:t>
            </a:r>
            <a:endParaRPr b="0" lang="es-ES" sz="1300" spc="-1" strike="noStrike">
              <a:latin typeface="Arial"/>
            </a:endParaRPr>
          </a:p>
        </p:txBody>
      </p:sp>
      <p:sp>
        <p:nvSpPr>
          <p:cNvPr id="922" name="CustomShape 33"/>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923" name="CustomShape 34"/>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924" name="Image 5" descr="preencoded.png"/>
          <p:cNvPicPr/>
          <p:nvPr/>
        </p:nvPicPr>
        <p:blipFill>
          <a:blip r:embed="rId6"/>
          <a:stretch/>
        </p:blipFill>
        <p:spPr>
          <a:xfrm>
            <a:off x="846000" y="5715000"/>
            <a:ext cx="227880" cy="227880"/>
          </a:xfrm>
          <a:prstGeom prst="rect">
            <a:avLst/>
          </a:prstGeom>
          <a:ln>
            <a:noFill/>
          </a:ln>
        </p:spPr>
      </p:pic>
      <p:sp>
        <p:nvSpPr>
          <p:cNvPr id="925" name="CustomShape 35"/>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Recuerda: </a:t>
            </a:r>
            <a:r>
              <a:rPr b="0" lang="en-US" sz="1400" spc="-1" strike="noStrike">
                <a:solidFill>
                  <a:srgbClr val="1f2933"/>
                </a:solidFill>
                <a:latin typeface="Calibri"/>
                <a:ea typeface="Calibri"/>
              </a:rPr>
              <a:t>un login abre la puerta de la instancia; los permisos los decide el user en cada base de datos.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2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2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Autenticación: Windows frente a SQL Server</a:t>
            </a:r>
            <a:endParaRPr b="0" lang="es-ES" sz="3400" spc="-1" strike="noStrike">
              <a:latin typeface="Arial"/>
            </a:endParaRPr>
          </a:p>
        </p:txBody>
      </p:sp>
      <p:sp>
        <p:nvSpPr>
          <p:cNvPr id="92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2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36</a:t>
            </a:r>
            <a:endParaRPr b="0" lang="es-ES" sz="1000" spc="-1" strike="noStrike">
              <a:latin typeface="Arial"/>
            </a:endParaRPr>
          </a:p>
        </p:txBody>
      </p:sp>
      <p:graphicFrame>
        <p:nvGraphicFramePr>
          <p:cNvPr id="930" name="Table 5"/>
          <p:cNvGraphicFramePr/>
          <p:nvPr/>
        </p:nvGraphicFramePr>
        <p:xfrm>
          <a:off x="548640" y="1600200"/>
          <a:ext cx="11090880" cy="1584360"/>
        </p:xfrm>
        <a:graphic>
          <a:graphicData uri="http://schemas.openxmlformats.org/drawingml/2006/table">
            <a:tbl>
              <a:tblPr/>
              <a:tblGrid>
                <a:gridCol w="1649880"/>
                <a:gridCol w="4674960"/>
                <a:gridCol w="4766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Aspecto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Windows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Autenticación de SQL Server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Identidad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Cuenta o grupo de Active Directory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Login y contraseña guardados en master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Seguridad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Kerberos/NTLM, caducidad y MFA en AD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CHECK_POLICY; riesgo de fuerza bruta (sa)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Recomendado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Opción preferida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Apps heredadas, Linux/Docker, fuera de dominio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931" name="CustomShape 6"/>
          <p:cNvSpPr/>
          <p:nvPr/>
        </p:nvSpPr>
        <p:spPr>
          <a:xfrm>
            <a:off x="548640" y="4526280"/>
            <a:ext cx="6674400" cy="1645200"/>
          </a:xfrm>
          <a:prstGeom prst="roundRect">
            <a:avLst>
              <a:gd name="adj" fmla="val 5556"/>
            </a:avLst>
          </a:prstGeom>
          <a:solidFill>
            <a:srgbClr val="eceff3"/>
          </a:solidFill>
          <a:ln w="9360">
            <a:solidFill>
              <a:srgbClr val="d0d7de"/>
            </a:solidFill>
            <a:round/>
          </a:ln>
        </p:spPr>
        <p:style>
          <a:lnRef idx="0"/>
          <a:fillRef idx="0"/>
          <a:effectRef idx="0"/>
          <a:fontRef idx="minor"/>
        </p:style>
      </p:sp>
      <p:sp>
        <p:nvSpPr>
          <p:cNvPr id="932" name="CustomShape 7"/>
          <p:cNvSpPr/>
          <p:nvPr/>
        </p:nvSpPr>
        <p:spPr>
          <a:xfrm>
            <a:off x="731520" y="461772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modo y política</a:t>
            </a:r>
            <a:endParaRPr b="0" lang="es-ES" sz="1000" spc="-1" strike="noStrike">
              <a:latin typeface="Arial"/>
            </a:endParaRPr>
          </a:p>
        </p:txBody>
      </p:sp>
      <p:sp>
        <p:nvSpPr>
          <p:cNvPr id="933" name="CustomShape 8"/>
          <p:cNvSpPr/>
          <p:nvPr/>
        </p:nvSpPr>
        <p:spPr>
          <a:xfrm>
            <a:off x="731520" y="4892040"/>
            <a:ext cx="6308640" cy="11880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 sólo Windows, 0 = modo mixto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SERVERPROPERTY(</a:t>
            </a:r>
            <a:r>
              <a:rPr b="0" lang="en-US" sz="1200" spc="-1" strike="noStrike">
                <a:solidFill>
                  <a:srgbClr val="b4441f"/>
                </a:solidFill>
                <a:latin typeface="Consolas"/>
                <a:ea typeface="Consolas"/>
              </a:rPr>
              <a:t>'IsIntegratedSecurityOnly'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SoloWindows;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is_policy_checked, is_expiration_checked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sys.sql_logins;</a:t>
            </a:r>
            <a:endParaRPr b="0" lang="es-ES" sz="1200" spc="-1" strike="noStrike">
              <a:latin typeface="Arial"/>
            </a:endParaRPr>
          </a:p>
        </p:txBody>
      </p:sp>
      <p:sp>
        <p:nvSpPr>
          <p:cNvPr id="934" name="CustomShape 9"/>
          <p:cNvSpPr/>
          <p:nvPr/>
        </p:nvSpPr>
        <p:spPr>
          <a:xfrm>
            <a:off x="7498080" y="4526280"/>
            <a:ext cx="4141440" cy="1645200"/>
          </a:xfrm>
          <a:prstGeom prst="roundRect">
            <a:avLst>
              <a:gd name="adj" fmla="val 6667"/>
            </a:avLst>
          </a:prstGeom>
          <a:solidFill>
            <a:srgbClr val="fdede8"/>
          </a:solidFill>
          <a:ln>
            <a:noFill/>
          </a:ln>
        </p:spPr>
        <p:style>
          <a:lnRef idx="0"/>
          <a:fillRef idx="0"/>
          <a:effectRef idx="0"/>
          <a:fontRef idx="minor"/>
        </p:style>
      </p:sp>
      <p:sp>
        <p:nvSpPr>
          <p:cNvPr id="935" name="CustomShape 10"/>
          <p:cNvSpPr/>
          <p:nvPr/>
        </p:nvSpPr>
        <p:spPr>
          <a:xfrm>
            <a:off x="7680960" y="5120640"/>
            <a:ext cx="456480" cy="456480"/>
          </a:xfrm>
          <a:prstGeom prst="ellipse">
            <a:avLst/>
          </a:prstGeom>
          <a:solidFill>
            <a:srgbClr val="d95d39"/>
          </a:solidFill>
          <a:ln>
            <a:noFill/>
          </a:ln>
        </p:spPr>
        <p:style>
          <a:lnRef idx="0"/>
          <a:fillRef idx="0"/>
          <a:effectRef idx="0"/>
          <a:fontRef idx="minor"/>
        </p:style>
      </p:sp>
      <p:pic>
        <p:nvPicPr>
          <p:cNvPr id="936" name="Image 0" descr="preencoded.png"/>
          <p:cNvPicPr/>
          <p:nvPr/>
        </p:nvPicPr>
        <p:blipFill>
          <a:blip r:embed="rId1"/>
          <a:stretch/>
        </p:blipFill>
        <p:spPr>
          <a:xfrm>
            <a:off x="7795440" y="5235120"/>
            <a:ext cx="227880" cy="227880"/>
          </a:xfrm>
          <a:prstGeom prst="rect">
            <a:avLst/>
          </a:prstGeom>
          <a:ln>
            <a:noFill/>
          </a:ln>
        </p:spPr>
      </p:pic>
      <p:sp>
        <p:nvSpPr>
          <p:cNvPr id="937" name="CustomShape 11"/>
          <p:cNvSpPr/>
          <p:nvPr/>
        </p:nvSpPr>
        <p:spPr>
          <a:xfrm>
            <a:off x="8321040" y="4526280"/>
            <a:ext cx="3135600" cy="1645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Modo mixto: </a:t>
            </a:r>
            <a:r>
              <a:rPr b="0" lang="en-US" sz="1400" spc="-1" strike="noStrike">
                <a:solidFill>
                  <a:srgbClr val="1f2933"/>
                </a:solidFill>
                <a:latin typeface="Calibri"/>
                <a:ea typeface="Calibri"/>
              </a:rPr>
              <a:t>requiere reiniciar el servicio y deja sa expuesta: deshabilítala.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3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Logins, Users y Schemas</a:t>
            </a:r>
            <a:endParaRPr b="0" lang="es-ES" sz="3400" spc="-1" strike="noStrike">
              <a:latin typeface="Arial"/>
            </a:endParaRPr>
          </a:p>
        </p:txBody>
      </p:sp>
      <p:sp>
        <p:nvSpPr>
          <p:cNvPr id="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37</a:t>
            </a:r>
            <a:endParaRPr b="0" lang="es-ES" sz="1000" spc="-1" strike="noStrike">
              <a:latin typeface="Arial"/>
            </a:endParaRPr>
          </a:p>
        </p:txBody>
      </p:sp>
      <p:sp>
        <p:nvSpPr>
          <p:cNvPr id="942" name="CustomShape 5"/>
          <p:cNvSpPr/>
          <p:nvPr/>
        </p:nvSpPr>
        <p:spPr>
          <a:xfrm>
            <a:off x="548640" y="160020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LOGIN lg_analista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instancia (master)</a:t>
            </a:r>
            <a:endParaRPr b="0" lang="es-ES" sz="1400" spc="-1" strike="noStrike">
              <a:latin typeface="Arial"/>
            </a:endParaRPr>
          </a:p>
        </p:txBody>
      </p:sp>
      <p:sp>
        <p:nvSpPr>
          <p:cNvPr id="943" name="Line 6"/>
          <p:cNvSpPr/>
          <p:nvPr/>
        </p:nvSpPr>
        <p:spPr>
          <a:xfrm>
            <a:off x="2788920" y="2423160"/>
            <a:ext cx="0" cy="365760"/>
          </a:xfrm>
          <a:prstGeom prst="line">
            <a:avLst/>
          </a:prstGeom>
          <a:ln w="28440">
            <a:solidFill>
              <a:srgbClr val="d95d39"/>
            </a:solidFill>
            <a:round/>
            <a:tailEnd len="med" type="triangle" w="med"/>
          </a:ln>
        </p:spPr>
        <p:style>
          <a:lnRef idx="0"/>
          <a:fillRef idx="0"/>
          <a:effectRef idx="0"/>
          <a:fontRef idx="minor"/>
        </p:style>
      </p:sp>
      <p:sp>
        <p:nvSpPr>
          <p:cNvPr id="944" name="CustomShape 7"/>
          <p:cNvSpPr/>
          <p:nvPr/>
        </p:nvSpPr>
        <p:spPr>
          <a:xfrm>
            <a:off x="548640" y="278892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USER analista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Nivel de BD: Ventas, mismo SID</a:t>
            </a:r>
            <a:endParaRPr b="0" lang="es-ES" sz="1400" spc="-1" strike="noStrike">
              <a:latin typeface="Arial"/>
            </a:endParaRPr>
          </a:p>
        </p:txBody>
      </p:sp>
      <p:sp>
        <p:nvSpPr>
          <p:cNvPr id="945" name="Line 8"/>
          <p:cNvSpPr/>
          <p:nvPr/>
        </p:nvSpPr>
        <p:spPr>
          <a:xfrm>
            <a:off x="2788920" y="3611880"/>
            <a:ext cx="0" cy="365760"/>
          </a:xfrm>
          <a:prstGeom prst="line">
            <a:avLst/>
          </a:prstGeom>
          <a:ln w="28440">
            <a:solidFill>
              <a:srgbClr val="d95d39"/>
            </a:solidFill>
            <a:round/>
            <a:tailEnd len="med" type="triangle" w="med"/>
          </a:ln>
        </p:spPr>
        <p:style>
          <a:lnRef idx="0"/>
          <a:fillRef idx="0"/>
          <a:effectRef idx="0"/>
          <a:fontRef idx="minor"/>
        </p:style>
      </p:sp>
      <p:sp>
        <p:nvSpPr>
          <p:cNvPr id="946" name="CustomShape 9"/>
          <p:cNvSpPr/>
          <p:nvPr/>
        </p:nvSpPr>
        <p:spPr>
          <a:xfrm>
            <a:off x="548640" y="3977640"/>
            <a:ext cx="4479840" cy="822240"/>
          </a:xfrm>
          <a:prstGeom prst="roundRect">
            <a:avLst>
              <a:gd name="adj" fmla="val 8889"/>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ROL rol_lectura_rpt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Agrupa permisos</a:t>
            </a:r>
            <a:endParaRPr b="0" lang="es-ES" sz="1400" spc="-1" strike="noStrike">
              <a:latin typeface="Arial"/>
            </a:endParaRPr>
          </a:p>
        </p:txBody>
      </p:sp>
      <p:sp>
        <p:nvSpPr>
          <p:cNvPr id="947" name="Line 10"/>
          <p:cNvSpPr/>
          <p:nvPr/>
        </p:nvSpPr>
        <p:spPr>
          <a:xfrm>
            <a:off x="2788920" y="4800600"/>
            <a:ext cx="0" cy="365760"/>
          </a:xfrm>
          <a:prstGeom prst="line">
            <a:avLst/>
          </a:prstGeom>
          <a:ln w="28440">
            <a:solidFill>
              <a:srgbClr val="d95d39"/>
            </a:solidFill>
            <a:round/>
            <a:tailEnd len="med" type="triangle" w="med"/>
          </a:ln>
        </p:spPr>
        <p:style>
          <a:lnRef idx="0"/>
          <a:fillRef idx="0"/>
          <a:effectRef idx="0"/>
          <a:fontRef idx="minor"/>
        </p:style>
      </p:sp>
      <p:sp>
        <p:nvSpPr>
          <p:cNvPr id="948" name="CustomShape 11"/>
          <p:cNvSpPr/>
          <p:nvPr/>
        </p:nvSpPr>
        <p:spPr>
          <a:xfrm>
            <a:off x="548640" y="5166360"/>
            <a:ext cx="4479840" cy="822240"/>
          </a:xfrm>
          <a:prstGeom prst="roundRect">
            <a:avLst>
              <a:gd name="adj" fmla="val 8889"/>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SCHEMA rpt</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Objetos y permisos</a:t>
            </a:r>
            <a:endParaRPr b="0" lang="es-ES" sz="1400" spc="-1" strike="noStrike">
              <a:latin typeface="Arial"/>
            </a:endParaRPr>
          </a:p>
        </p:txBody>
      </p:sp>
      <p:sp>
        <p:nvSpPr>
          <p:cNvPr id="949" name="CustomShape 12"/>
          <p:cNvSpPr/>
          <p:nvPr/>
        </p:nvSpPr>
        <p:spPr>
          <a:xfrm>
            <a:off x="5303520" y="1600200"/>
            <a:ext cx="6336000" cy="3428280"/>
          </a:xfrm>
          <a:prstGeom prst="roundRect">
            <a:avLst>
              <a:gd name="adj" fmla="val 2667"/>
            </a:avLst>
          </a:prstGeom>
          <a:solidFill>
            <a:srgbClr val="eceff3"/>
          </a:solidFill>
          <a:ln w="9360">
            <a:solidFill>
              <a:srgbClr val="d0d7de"/>
            </a:solidFill>
            <a:round/>
          </a:ln>
        </p:spPr>
        <p:style>
          <a:lnRef idx="0"/>
          <a:fillRef idx="0"/>
          <a:effectRef idx="0"/>
          <a:fontRef idx="minor"/>
        </p:style>
      </p:sp>
      <p:sp>
        <p:nvSpPr>
          <p:cNvPr id="950" name="CustomShape 13"/>
          <p:cNvSpPr/>
          <p:nvPr/>
        </p:nvSpPr>
        <p:spPr>
          <a:xfrm>
            <a:off x="54864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login, schema y user</a:t>
            </a:r>
            <a:endParaRPr b="0" lang="es-ES" sz="1000" spc="-1" strike="noStrike">
              <a:latin typeface="Arial"/>
            </a:endParaRPr>
          </a:p>
        </p:txBody>
      </p:sp>
      <p:sp>
        <p:nvSpPr>
          <p:cNvPr id="951" name="CustomShape 14"/>
          <p:cNvSpPr/>
          <p:nvPr/>
        </p:nvSpPr>
        <p:spPr>
          <a:xfrm>
            <a:off x="5486400" y="1965960"/>
            <a:ext cx="5970240" cy="2971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Instancia: el login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PASSWORD = </a:t>
            </a:r>
            <a:r>
              <a:rPr b="0" lang="en-US" sz="1200" spc="-1" strike="noStrike">
                <a:solidFill>
                  <a:srgbClr val="b4441f"/>
                </a:solidFill>
                <a:latin typeface="Consolas"/>
                <a:ea typeface="Consolas"/>
              </a:rPr>
              <a:t>N'C0mpl3ja!2024'</a:t>
            </a:r>
            <a:r>
              <a:rPr b="0" lang="en-US" sz="1200" spc="-1" strike="noStrike">
                <a:solidFill>
                  <a:srgbClr val="1f2933"/>
                </a:solidFill>
                <a:latin typeface="Consolas"/>
                <a:ea typeface="Consolas"/>
              </a:rPr>
              <a:t>, CHECK_POLICY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Base de datos: schema y user mapeado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 rpt </a:t>
            </a:r>
            <a:r>
              <a:rPr b="1" lang="en-US" sz="1200" spc="-1" strike="noStrike">
                <a:solidFill>
                  <a:srgbClr val="1d4ed8"/>
                </a:solidFill>
                <a:latin typeface="Consolas"/>
                <a:ea typeface="Consolas"/>
              </a:rPr>
              <a:t>AUTHORIZATION</a:t>
            </a:r>
            <a:r>
              <a:rPr b="0" lang="en-US" sz="1200" spc="-1" strike="noStrike">
                <a:solidFill>
                  <a:srgbClr val="1f2933"/>
                </a:solidFill>
                <a:latin typeface="Consolas"/>
                <a:ea typeface="Consolas"/>
              </a:rPr>
              <a:t> dbo;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analista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LOGIN</a:t>
            </a:r>
            <a:r>
              <a:rPr b="0" lang="en-US" sz="1200" spc="-1" strike="noStrike">
                <a:solidFill>
                  <a:srgbClr val="1f2933"/>
                </a:solidFill>
                <a:latin typeface="Consolas"/>
                <a:ea typeface="Consolas"/>
              </a:rPr>
              <a:t> lg_analista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DEFAULT_SCHEMA = rpt;</a:t>
            </a:r>
            <a:endParaRPr b="0" lang="es-ES" sz="1200" spc="-1" strike="noStrike">
              <a:latin typeface="Arial"/>
            </a:endParaRPr>
          </a:p>
        </p:txBody>
      </p:sp>
      <p:sp>
        <p:nvSpPr>
          <p:cNvPr id="952" name="CustomShape 15"/>
          <p:cNvSpPr/>
          <p:nvPr/>
        </p:nvSpPr>
        <p:spPr>
          <a:xfrm>
            <a:off x="5303520" y="5303520"/>
            <a:ext cx="6336000" cy="867960"/>
          </a:xfrm>
          <a:prstGeom prst="roundRect">
            <a:avLst>
              <a:gd name="adj" fmla="val 12632"/>
            </a:avLst>
          </a:prstGeom>
          <a:solidFill>
            <a:srgbClr val="fdede8"/>
          </a:solidFill>
          <a:ln>
            <a:noFill/>
          </a:ln>
        </p:spPr>
        <p:style>
          <a:lnRef idx="0"/>
          <a:fillRef idx="0"/>
          <a:effectRef idx="0"/>
          <a:fontRef idx="minor"/>
        </p:style>
      </p:sp>
      <p:sp>
        <p:nvSpPr>
          <p:cNvPr id="953" name="CustomShape 16"/>
          <p:cNvSpPr/>
          <p:nvPr/>
        </p:nvSpPr>
        <p:spPr>
          <a:xfrm>
            <a:off x="5486400" y="5509440"/>
            <a:ext cx="456480" cy="456480"/>
          </a:xfrm>
          <a:prstGeom prst="ellipse">
            <a:avLst/>
          </a:prstGeom>
          <a:solidFill>
            <a:srgbClr val="d95d39"/>
          </a:solidFill>
          <a:ln>
            <a:noFill/>
          </a:ln>
        </p:spPr>
        <p:style>
          <a:lnRef idx="0"/>
          <a:fillRef idx="0"/>
          <a:effectRef idx="0"/>
          <a:fontRef idx="minor"/>
        </p:style>
      </p:sp>
      <p:pic>
        <p:nvPicPr>
          <p:cNvPr id="954" name="Image 0" descr="preencoded.png"/>
          <p:cNvPicPr/>
          <p:nvPr/>
        </p:nvPicPr>
        <p:blipFill>
          <a:blip r:embed="rId1"/>
          <a:stretch/>
        </p:blipFill>
        <p:spPr>
          <a:xfrm>
            <a:off x="5600880" y="5623560"/>
            <a:ext cx="227880" cy="227880"/>
          </a:xfrm>
          <a:prstGeom prst="rect">
            <a:avLst/>
          </a:prstGeom>
          <a:ln>
            <a:noFill/>
          </a:ln>
        </p:spPr>
      </p:pic>
      <p:sp>
        <p:nvSpPr>
          <p:cNvPr id="955" name="CustomShape 17"/>
          <p:cNvSpPr/>
          <p:nvPr/>
        </p:nvSpPr>
        <p:spPr>
          <a:xfrm>
            <a:off x="6126480" y="5303520"/>
            <a:ext cx="5330160" cy="8679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Huérfano: </a:t>
            </a:r>
            <a:r>
              <a:rPr b="0" lang="en-US" sz="1400" spc="-1" strike="noStrike">
                <a:solidFill>
                  <a:srgbClr val="1f2933"/>
                </a:solidFill>
                <a:latin typeface="Calibri"/>
                <a:ea typeface="Calibri"/>
              </a:rPr>
              <a:t>tras un restore, ALTER USER ... WITH LOGIN = ... repara el SID.</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56"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5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Roles fijos y roles personalizados</a:t>
            </a:r>
            <a:endParaRPr b="0" lang="es-ES" sz="3400" spc="-1" strike="noStrike">
              <a:latin typeface="Arial"/>
            </a:endParaRPr>
          </a:p>
        </p:txBody>
      </p:sp>
      <p:sp>
        <p:nvSpPr>
          <p:cNvPr id="95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5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38</a:t>
            </a:r>
            <a:endParaRPr b="0" lang="es-ES" sz="1000" spc="-1" strike="noStrike">
              <a:latin typeface="Arial"/>
            </a:endParaRPr>
          </a:p>
        </p:txBody>
      </p:sp>
      <p:graphicFrame>
        <p:nvGraphicFramePr>
          <p:cNvPr id="960" name="Table 5"/>
          <p:cNvGraphicFramePr/>
          <p:nvPr/>
        </p:nvGraphicFramePr>
        <p:xfrm>
          <a:off x="548640" y="1600200"/>
          <a:ext cx="6857640" cy="2864520"/>
        </p:xfrm>
        <a:graphic>
          <a:graphicData uri="http://schemas.openxmlformats.org/drawingml/2006/table">
            <a:tbl>
              <a:tblPr/>
              <a:tblGrid>
                <a:gridCol w="2651760"/>
                <a:gridCol w="1463040"/>
                <a:gridCol w="27432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Rol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Ámbito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Capacidad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sysadmin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de la instancia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securityadmin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Gestiona logins y permisos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dbcreator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Servidor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Crea y restaura bases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db_owner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Control total sobre la BD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db_datareader / db_datawriter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SELECT / DML en todas las tablas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db_ddladmin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Base de datos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Ejecuta DDL (CREATE, ALTER)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961" name="CustomShape 6"/>
          <p:cNvSpPr/>
          <p:nvPr/>
        </p:nvSpPr>
        <p:spPr>
          <a:xfrm>
            <a:off x="7680960" y="1600200"/>
            <a:ext cx="3958560" cy="3474000"/>
          </a:xfrm>
          <a:prstGeom prst="roundRect">
            <a:avLst>
              <a:gd name="adj" fmla="val 2632"/>
            </a:avLst>
          </a:prstGeom>
          <a:solidFill>
            <a:srgbClr val="eceff3"/>
          </a:solidFill>
          <a:ln w="9360">
            <a:solidFill>
              <a:srgbClr val="d0d7de"/>
            </a:solidFill>
            <a:round/>
          </a:ln>
        </p:spPr>
        <p:style>
          <a:lnRef idx="0"/>
          <a:fillRef idx="0"/>
          <a:effectRef idx="0"/>
          <a:fontRef idx="minor"/>
        </p:style>
      </p:sp>
      <p:sp>
        <p:nvSpPr>
          <p:cNvPr id="962" name="CustomShape 7"/>
          <p:cNvSpPr/>
          <p:nvPr/>
        </p:nvSpPr>
        <p:spPr>
          <a:xfrm>
            <a:off x="7863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rol personalizado</a:t>
            </a:r>
            <a:endParaRPr b="0" lang="es-ES" sz="1000" spc="-1" strike="noStrike">
              <a:latin typeface="Arial"/>
            </a:endParaRPr>
          </a:p>
        </p:txBody>
      </p:sp>
      <p:sp>
        <p:nvSpPr>
          <p:cNvPr id="963" name="CustomShape 8"/>
          <p:cNvSpPr/>
          <p:nvPr/>
        </p:nvSpPr>
        <p:spPr>
          <a:xfrm>
            <a:off x="7863840" y="1965960"/>
            <a:ext cx="3592800" cy="3016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SCHEMA</a:t>
            </a:r>
            <a:r>
              <a:rPr b="0" lang="en-US" sz="1200" spc="-1" strike="noStrike">
                <a:solidFill>
                  <a:srgbClr val="1f2933"/>
                </a:solidFill>
                <a:latin typeface="Consolas"/>
                <a:ea typeface="Consolas"/>
              </a:rPr>
              <a:t>::app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ROLE</a:t>
            </a:r>
            <a:r>
              <a:rPr b="0" lang="en-US" sz="1200" spc="-1" strike="noStrike">
                <a:solidFill>
                  <a:srgbClr val="1f2933"/>
                </a:solidFill>
                <a:latin typeface="Consolas"/>
                <a:ea typeface="Consolas"/>
              </a:rPr>
              <a:t> rol_lectura_rpt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MEMBER analista;</a:t>
            </a:r>
            <a:endParaRPr b="0" lang="es-ES" sz="1200" spc="-1" strike="noStrike">
              <a:latin typeface="Arial"/>
            </a:endParaRPr>
          </a:p>
        </p:txBody>
      </p:sp>
      <p:sp>
        <p:nvSpPr>
          <p:cNvPr id="964" name="CustomShape 9"/>
          <p:cNvSpPr/>
          <p:nvPr/>
        </p:nvSpPr>
        <p:spPr>
          <a:xfrm>
            <a:off x="548640" y="5349240"/>
            <a:ext cx="11090880" cy="822240"/>
          </a:xfrm>
          <a:prstGeom prst="roundRect">
            <a:avLst>
              <a:gd name="adj" fmla="val 13333"/>
            </a:avLst>
          </a:prstGeom>
          <a:solidFill>
            <a:srgbClr val="e8eef5"/>
          </a:solidFill>
          <a:ln>
            <a:noFill/>
          </a:ln>
        </p:spPr>
        <p:style>
          <a:lnRef idx="0"/>
          <a:fillRef idx="0"/>
          <a:effectRef idx="0"/>
          <a:fontRef idx="minor"/>
        </p:style>
      </p:sp>
      <p:sp>
        <p:nvSpPr>
          <p:cNvPr id="965" name="CustomShape 10"/>
          <p:cNvSpPr/>
          <p:nvPr/>
        </p:nvSpPr>
        <p:spPr>
          <a:xfrm>
            <a:off x="731520" y="5532120"/>
            <a:ext cx="456480" cy="456480"/>
          </a:xfrm>
          <a:prstGeom prst="ellipse">
            <a:avLst/>
          </a:prstGeom>
          <a:solidFill>
            <a:srgbClr val="134074"/>
          </a:solidFill>
          <a:ln>
            <a:noFill/>
          </a:ln>
        </p:spPr>
        <p:style>
          <a:lnRef idx="0"/>
          <a:fillRef idx="0"/>
          <a:effectRef idx="0"/>
          <a:fontRef idx="minor"/>
        </p:style>
      </p:sp>
      <p:pic>
        <p:nvPicPr>
          <p:cNvPr id="966" name="Image 0" descr="preencoded.png"/>
          <p:cNvPicPr/>
          <p:nvPr/>
        </p:nvPicPr>
        <p:blipFill>
          <a:blip r:embed="rId1"/>
          <a:stretch/>
        </p:blipFill>
        <p:spPr>
          <a:xfrm>
            <a:off x="846000" y="5646600"/>
            <a:ext cx="227880" cy="227880"/>
          </a:xfrm>
          <a:prstGeom prst="rect">
            <a:avLst/>
          </a:prstGeom>
          <a:ln>
            <a:noFill/>
          </a:ln>
        </p:spPr>
      </p:pic>
      <p:sp>
        <p:nvSpPr>
          <p:cNvPr id="967" name="CustomShape 11"/>
          <p:cNvSpPr/>
          <p:nvPr/>
        </p:nvSpPr>
        <p:spPr>
          <a:xfrm>
            <a:off x="1371600" y="5349240"/>
            <a:ext cx="1008504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Mejor práctica: </a:t>
            </a:r>
            <a:r>
              <a:rPr b="0" lang="en-US" sz="1400" spc="-1" strike="noStrike">
                <a:solidFill>
                  <a:srgbClr val="1f2933"/>
                </a:solidFill>
                <a:latin typeface="Calibri"/>
                <a:ea typeface="Calibri"/>
              </a:rPr>
              <a:t>evita db_owner y sysadmin en aplicaciones; usa roles personalizados con permisos sobre un schema.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6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6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GRANT, DENY y REVOKE</a:t>
            </a:r>
            <a:endParaRPr b="0" lang="es-ES" sz="3400" spc="-1" strike="noStrike">
              <a:latin typeface="Arial"/>
            </a:endParaRPr>
          </a:p>
        </p:txBody>
      </p:sp>
      <p:sp>
        <p:nvSpPr>
          <p:cNvPr id="97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7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39</a:t>
            </a:r>
            <a:endParaRPr b="0" lang="es-ES" sz="1000" spc="-1" strike="noStrike">
              <a:latin typeface="Arial"/>
            </a:endParaRPr>
          </a:p>
        </p:txBody>
      </p:sp>
      <p:sp>
        <p:nvSpPr>
          <p:cNvPr id="972" name="CustomShape 5"/>
          <p:cNvSpPr/>
          <p:nvPr/>
        </p:nvSpPr>
        <p:spPr>
          <a:xfrm>
            <a:off x="54864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73"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974" name="Image 0" descr="preencoded.png"/>
          <p:cNvPicPr/>
          <p:nvPr/>
        </p:nvPicPr>
        <p:blipFill>
          <a:blip r:embed="rId1"/>
          <a:stretch/>
        </p:blipFill>
        <p:spPr>
          <a:xfrm>
            <a:off x="914400" y="1965960"/>
            <a:ext cx="273600" cy="273600"/>
          </a:xfrm>
          <a:prstGeom prst="rect">
            <a:avLst/>
          </a:prstGeom>
          <a:ln>
            <a:noFill/>
          </a:ln>
        </p:spPr>
      </p:pic>
      <p:sp>
        <p:nvSpPr>
          <p:cNvPr id="975"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GRANT</a:t>
            </a:r>
            <a:endParaRPr b="0" lang="es-ES" sz="1800" spc="-1" strike="noStrike">
              <a:latin typeface="Arial"/>
            </a:endParaRPr>
          </a:p>
        </p:txBody>
      </p:sp>
      <p:sp>
        <p:nvSpPr>
          <p:cNvPr id="976" name="CustomShape 8"/>
          <p:cNvSpPr/>
          <p:nvPr/>
        </p:nvSpPr>
        <p:spPr>
          <a:xfrm>
            <a:off x="77724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Concede un permiso; WITH GRANT OPTION permite delegarlo.</a:t>
            </a:r>
            <a:endParaRPr b="0" lang="es-ES" sz="1400" spc="-1" strike="noStrike">
              <a:latin typeface="Arial"/>
            </a:endParaRPr>
          </a:p>
        </p:txBody>
      </p:sp>
      <p:sp>
        <p:nvSpPr>
          <p:cNvPr id="977" name="CustomShape 9"/>
          <p:cNvSpPr/>
          <p:nvPr/>
        </p:nvSpPr>
        <p:spPr>
          <a:xfrm>
            <a:off x="4337280" y="1600200"/>
            <a:ext cx="3513600" cy="2331000"/>
          </a:xfrm>
          <a:prstGeom prst="roundRect">
            <a:avLst>
              <a:gd name="adj" fmla="val 4706"/>
            </a:avLst>
          </a:prstGeom>
          <a:solidFill>
            <a:srgbClr val="134074"/>
          </a:solidFill>
          <a:ln>
            <a:noFill/>
          </a:ln>
        </p:spPr>
        <p:style>
          <a:lnRef idx="0"/>
          <a:fillRef idx="0"/>
          <a:effectRef idx="0"/>
          <a:fontRef idx="minor"/>
        </p:style>
      </p:sp>
      <p:sp>
        <p:nvSpPr>
          <p:cNvPr id="978"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979" name="Image 1" descr="preencoded.png"/>
          <p:cNvPicPr/>
          <p:nvPr/>
        </p:nvPicPr>
        <p:blipFill>
          <a:blip r:embed="rId2"/>
          <a:stretch/>
        </p:blipFill>
        <p:spPr>
          <a:xfrm>
            <a:off x="4703040" y="1965960"/>
            <a:ext cx="273600" cy="273600"/>
          </a:xfrm>
          <a:prstGeom prst="rect">
            <a:avLst/>
          </a:prstGeom>
          <a:ln>
            <a:noFill/>
          </a:ln>
        </p:spPr>
      </p:pic>
      <p:sp>
        <p:nvSpPr>
          <p:cNvPr id="980"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ffffff"/>
                </a:solidFill>
                <a:latin typeface="Calibri"/>
                <a:ea typeface="Calibri"/>
              </a:rPr>
              <a:t>DENY</a:t>
            </a:r>
            <a:endParaRPr b="0" lang="es-ES" sz="1800" spc="-1" strike="noStrike">
              <a:latin typeface="Arial"/>
            </a:endParaRPr>
          </a:p>
        </p:txBody>
      </p:sp>
      <p:sp>
        <p:nvSpPr>
          <p:cNvPr id="981" name="CustomShape 12"/>
          <p:cNvSpPr/>
          <p:nvPr/>
        </p:nvSpPr>
        <p:spPr>
          <a:xfrm>
            <a:off x="456588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e6eef8"/>
                </a:solidFill>
                <a:latin typeface="Calibri"/>
                <a:ea typeface="Calibri"/>
              </a:rPr>
              <a:t>Prohíbe el permiso y gana siempre al GRANT, también el heredado.</a:t>
            </a:r>
            <a:endParaRPr b="0" lang="es-ES" sz="1400" spc="-1" strike="noStrike">
              <a:latin typeface="Arial"/>
            </a:endParaRPr>
          </a:p>
        </p:txBody>
      </p:sp>
      <p:sp>
        <p:nvSpPr>
          <p:cNvPr id="982" name="CustomShape 13"/>
          <p:cNvSpPr/>
          <p:nvPr/>
        </p:nvSpPr>
        <p:spPr>
          <a:xfrm>
            <a:off x="8125920" y="1600200"/>
            <a:ext cx="3513600" cy="2331000"/>
          </a:xfrm>
          <a:prstGeom prst="roundRect">
            <a:avLst>
              <a:gd name="adj" fmla="val 47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983"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984" name="Image 2" descr="preencoded.png"/>
          <p:cNvPicPr/>
          <p:nvPr/>
        </p:nvPicPr>
        <p:blipFill>
          <a:blip r:embed="rId3"/>
          <a:stretch/>
        </p:blipFill>
        <p:spPr>
          <a:xfrm>
            <a:off x="8491680" y="1965960"/>
            <a:ext cx="273600" cy="273600"/>
          </a:xfrm>
          <a:prstGeom prst="rect">
            <a:avLst/>
          </a:prstGeom>
          <a:ln>
            <a:noFill/>
          </a:ln>
        </p:spPr>
      </p:pic>
      <p:sp>
        <p:nvSpPr>
          <p:cNvPr id="985"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800" spc="-1" strike="noStrike">
                <a:solidFill>
                  <a:srgbClr val="0b2545"/>
                </a:solidFill>
                <a:latin typeface="Calibri"/>
                <a:ea typeface="Calibri"/>
              </a:rPr>
              <a:t>REVOKE</a:t>
            </a:r>
            <a:endParaRPr b="0" lang="es-ES" sz="1800" spc="-1" strike="noStrike">
              <a:latin typeface="Arial"/>
            </a:endParaRPr>
          </a:p>
        </p:txBody>
      </p:sp>
      <p:sp>
        <p:nvSpPr>
          <p:cNvPr id="986" name="CustomShape 16"/>
          <p:cNvSpPr/>
          <p:nvPr/>
        </p:nvSpPr>
        <p:spPr>
          <a:xfrm>
            <a:off x="8354520" y="2560320"/>
            <a:ext cx="3056400" cy="11422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Quita un GRANT o un DENY previo; no equivale a denegar.</a:t>
            </a:r>
            <a:endParaRPr b="0" lang="es-ES" sz="1400" spc="-1" strike="noStrike">
              <a:latin typeface="Arial"/>
            </a:endParaRPr>
          </a:p>
        </p:txBody>
      </p:sp>
      <p:sp>
        <p:nvSpPr>
          <p:cNvPr id="987" name="CustomShape 17"/>
          <p:cNvSpPr/>
          <p:nvPr/>
        </p:nvSpPr>
        <p:spPr>
          <a:xfrm>
            <a:off x="548640" y="4206240"/>
            <a:ext cx="6948720" cy="1965240"/>
          </a:xfrm>
          <a:prstGeom prst="roundRect">
            <a:avLst>
              <a:gd name="adj" fmla="val 4651"/>
            </a:avLst>
          </a:prstGeom>
          <a:solidFill>
            <a:srgbClr val="eceff3"/>
          </a:solidFill>
          <a:ln w="9360">
            <a:solidFill>
              <a:srgbClr val="d0d7de"/>
            </a:solidFill>
            <a:round/>
          </a:ln>
        </p:spPr>
        <p:style>
          <a:lnRef idx="0"/>
          <a:fillRef idx="0"/>
          <a:effectRef idx="0"/>
          <a:fontRef idx="minor"/>
        </p:style>
      </p:sp>
      <p:sp>
        <p:nvSpPr>
          <p:cNvPr id="988" name="CustomShape 18"/>
          <p:cNvSpPr/>
          <p:nvPr/>
        </p:nvSpPr>
        <p:spPr>
          <a:xfrm>
            <a:off x="731520" y="42976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permisos sobre dbo.Pedido</a:t>
            </a:r>
            <a:endParaRPr b="0" lang="es-ES" sz="1000" spc="-1" strike="noStrike">
              <a:latin typeface="Arial"/>
            </a:endParaRPr>
          </a:p>
        </p:txBody>
      </p:sp>
      <p:sp>
        <p:nvSpPr>
          <p:cNvPr id="989" name="CustomShape 19"/>
          <p:cNvSpPr/>
          <p:nvPr/>
        </p:nvSpPr>
        <p:spPr>
          <a:xfrm>
            <a:off x="731520" y="4572000"/>
            <a:ext cx="6582960" cy="15080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GRANT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DENY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TO rol_operador;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REVOKE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rol_operador;</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Permisos efectivos del contexto actual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sys.fn_my_permissions(</a:t>
            </a:r>
            <a:r>
              <a:rPr b="0" lang="en-US" sz="1200" spc="-1" strike="noStrike">
                <a:solidFill>
                  <a:srgbClr val="b4441f"/>
                </a:solidFill>
                <a:latin typeface="Consolas"/>
                <a:ea typeface="Consolas"/>
              </a:rPr>
              <a:t>N'dbo.Pedido'</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N'OBJECT'</a:t>
            </a:r>
            <a:r>
              <a:rPr b="0" lang="en-US" sz="1200" spc="-1" strike="noStrike">
                <a:solidFill>
                  <a:srgbClr val="1f2933"/>
                </a:solidFill>
                <a:latin typeface="Consolas"/>
                <a:ea typeface="Consolas"/>
              </a:rPr>
              <a:t>);</a:t>
            </a:r>
            <a:endParaRPr b="0" lang="es-ES" sz="1200" spc="-1" strike="noStrike">
              <a:latin typeface="Arial"/>
            </a:endParaRPr>
          </a:p>
        </p:txBody>
      </p:sp>
      <p:sp>
        <p:nvSpPr>
          <p:cNvPr id="990" name="CustomShape 20"/>
          <p:cNvSpPr/>
          <p:nvPr/>
        </p:nvSpPr>
        <p:spPr>
          <a:xfrm>
            <a:off x="7772400" y="4206240"/>
            <a:ext cx="3867120" cy="1965240"/>
          </a:xfrm>
          <a:prstGeom prst="roundRect">
            <a:avLst>
              <a:gd name="adj" fmla="val 5581"/>
            </a:avLst>
          </a:prstGeom>
          <a:solidFill>
            <a:srgbClr val="e8eef5"/>
          </a:solidFill>
          <a:ln>
            <a:noFill/>
          </a:ln>
        </p:spPr>
        <p:style>
          <a:lnRef idx="0"/>
          <a:fillRef idx="0"/>
          <a:effectRef idx="0"/>
          <a:fontRef idx="minor"/>
        </p:style>
      </p:sp>
      <p:sp>
        <p:nvSpPr>
          <p:cNvPr id="991" name="CustomShape 21"/>
          <p:cNvSpPr/>
          <p:nvPr/>
        </p:nvSpPr>
        <p:spPr>
          <a:xfrm>
            <a:off x="7955280" y="4960800"/>
            <a:ext cx="456480" cy="456480"/>
          </a:xfrm>
          <a:prstGeom prst="ellipse">
            <a:avLst/>
          </a:prstGeom>
          <a:solidFill>
            <a:srgbClr val="134074"/>
          </a:solidFill>
          <a:ln>
            <a:noFill/>
          </a:ln>
        </p:spPr>
        <p:style>
          <a:lnRef idx="0"/>
          <a:fillRef idx="0"/>
          <a:effectRef idx="0"/>
          <a:fontRef idx="minor"/>
        </p:style>
      </p:sp>
      <p:pic>
        <p:nvPicPr>
          <p:cNvPr id="992" name="Image 3" descr="preencoded.png"/>
          <p:cNvPicPr/>
          <p:nvPr/>
        </p:nvPicPr>
        <p:blipFill>
          <a:blip r:embed="rId4"/>
          <a:stretch/>
        </p:blipFill>
        <p:spPr>
          <a:xfrm>
            <a:off x="8069760" y="5074920"/>
            <a:ext cx="227880" cy="227880"/>
          </a:xfrm>
          <a:prstGeom prst="rect">
            <a:avLst/>
          </a:prstGeom>
          <a:ln>
            <a:noFill/>
          </a:ln>
        </p:spPr>
      </p:pic>
      <p:sp>
        <p:nvSpPr>
          <p:cNvPr id="993" name="CustomShape 22"/>
          <p:cNvSpPr/>
          <p:nvPr/>
        </p:nvSpPr>
        <p:spPr>
          <a:xfrm>
            <a:off x="8595360" y="4206240"/>
            <a:ext cx="2861280" cy="1965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Precedencia: </a:t>
            </a:r>
            <a:r>
              <a:rPr b="0" lang="en-US" sz="1400" spc="-1" strike="noStrike">
                <a:solidFill>
                  <a:srgbClr val="1f2933"/>
                </a:solidFill>
                <a:latin typeface="Calibri"/>
                <a:ea typeface="Calibri"/>
              </a:rPr>
              <a:t>DENY &gt; GRANT &gt; sin permiso. Los roles se acumulan, salvo DENY.</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99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SEGURIDAD</a:t>
            </a:r>
            <a:endParaRPr b="0" lang="es-ES" sz="1000" spc="-1" strike="noStrike">
              <a:latin typeface="Arial"/>
            </a:endParaRPr>
          </a:p>
        </p:txBody>
      </p:sp>
      <p:sp>
        <p:nvSpPr>
          <p:cNvPr id="99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Ownership chaining (cadena de propiedad)</a:t>
            </a:r>
            <a:endParaRPr b="0" lang="es-ES" sz="3400" spc="-1" strike="noStrike">
              <a:latin typeface="Arial"/>
            </a:endParaRPr>
          </a:p>
        </p:txBody>
      </p:sp>
      <p:sp>
        <p:nvSpPr>
          <p:cNvPr id="99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99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40</a:t>
            </a:r>
            <a:endParaRPr b="0" lang="es-ES" sz="1000" spc="-1" strike="noStrike">
              <a:latin typeface="Arial"/>
            </a:endParaRPr>
          </a:p>
        </p:txBody>
      </p:sp>
      <p:sp>
        <p:nvSpPr>
          <p:cNvPr id="998" name="CustomShape 5"/>
          <p:cNvSpPr/>
          <p:nvPr/>
        </p:nvSpPr>
        <p:spPr>
          <a:xfrm>
            <a:off x="548640" y="160020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intacta (mismo propietario)</a:t>
            </a:r>
            <a:endParaRPr b="0" lang="es-ES" sz="1600" spc="-1" strike="noStrike">
              <a:latin typeface="Arial"/>
            </a:endParaRPr>
          </a:p>
        </p:txBody>
      </p:sp>
      <p:sp>
        <p:nvSpPr>
          <p:cNvPr id="999" name="CustomShape 6"/>
          <p:cNvSpPr/>
          <p:nvPr/>
        </p:nvSpPr>
        <p:spPr>
          <a:xfrm>
            <a:off x="548640" y="205740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0" name="Line 7"/>
          <p:cNvSpPr/>
          <p:nvPr/>
        </p:nvSpPr>
        <p:spPr>
          <a:xfrm>
            <a:off x="2871000" y="2514600"/>
            <a:ext cx="301680" cy="0"/>
          </a:xfrm>
          <a:prstGeom prst="line">
            <a:avLst/>
          </a:prstGeom>
          <a:ln w="28440">
            <a:solidFill>
              <a:srgbClr val="5c6b7a"/>
            </a:solidFill>
            <a:round/>
            <a:tailEnd len="med" type="triangle" w="med"/>
          </a:ln>
        </p:spPr>
        <p:style>
          <a:lnRef idx="0"/>
          <a:fillRef idx="0"/>
          <a:effectRef idx="0"/>
          <a:fontRef idx="minor"/>
        </p:style>
      </p:sp>
      <p:sp>
        <p:nvSpPr>
          <p:cNvPr id="1001" name="CustomShape 8"/>
          <p:cNvSpPr/>
          <p:nvPr/>
        </p:nvSpPr>
        <p:spPr>
          <a:xfrm>
            <a:off x="3209400" y="205740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app.usp_AltaPedido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2" name="Line 9"/>
          <p:cNvSpPr/>
          <p:nvPr/>
        </p:nvSpPr>
        <p:spPr>
          <a:xfrm>
            <a:off x="6263640" y="2514600"/>
            <a:ext cx="301680" cy="0"/>
          </a:xfrm>
          <a:prstGeom prst="line">
            <a:avLst/>
          </a:prstGeom>
          <a:ln w="28440">
            <a:solidFill>
              <a:srgbClr val="5c6b7a"/>
            </a:solidFill>
            <a:round/>
            <a:tailEnd len="med" type="triangle" w="med"/>
          </a:ln>
        </p:spPr>
        <p:style>
          <a:lnRef idx="0"/>
          <a:fillRef idx="0"/>
          <a:effectRef idx="0"/>
          <a:fontRef idx="minor"/>
        </p:style>
      </p:sp>
      <p:sp>
        <p:nvSpPr>
          <p:cNvPr id="1003" name="CustomShape 10"/>
          <p:cNvSpPr/>
          <p:nvPr/>
        </p:nvSpPr>
        <p:spPr>
          <a:xfrm>
            <a:off x="6602040" y="205740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04" name="Line 11"/>
          <p:cNvSpPr/>
          <p:nvPr/>
        </p:nvSpPr>
        <p:spPr>
          <a:xfrm>
            <a:off x="9015840" y="2514600"/>
            <a:ext cx="301680" cy="0"/>
          </a:xfrm>
          <a:prstGeom prst="line">
            <a:avLst/>
          </a:prstGeom>
          <a:ln w="28440">
            <a:solidFill>
              <a:srgbClr val="5c6b7a"/>
            </a:solidFill>
            <a:round/>
            <a:tailEnd len="med" type="triangle" w="med"/>
          </a:ln>
        </p:spPr>
        <p:style>
          <a:lnRef idx="0"/>
          <a:fillRef idx="0"/>
          <a:effectRef idx="0"/>
          <a:fontRef idx="minor"/>
        </p:style>
      </p:sp>
      <p:sp>
        <p:nvSpPr>
          <p:cNvPr id="1005" name="CustomShape 12"/>
          <p:cNvSpPr/>
          <p:nvPr/>
        </p:nvSpPr>
        <p:spPr>
          <a:xfrm>
            <a:off x="9354240" y="2057400"/>
            <a:ext cx="2285280" cy="913680"/>
          </a:xfrm>
          <a:prstGeom prst="roundRect">
            <a:avLst>
              <a:gd name="adj" fmla="val 8000"/>
            </a:avLst>
          </a:prstGeom>
          <a:solidFill>
            <a:srgbClr val="2a7f62"/>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Sólo se valida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EXECUTE</a:t>
            </a:r>
            <a:endParaRPr b="0" lang="es-ES" sz="1400" spc="-1" strike="noStrike">
              <a:latin typeface="Arial"/>
            </a:endParaRPr>
          </a:p>
        </p:txBody>
      </p:sp>
      <p:sp>
        <p:nvSpPr>
          <p:cNvPr id="1006" name="CustomShape 13"/>
          <p:cNvSpPr/>
          <p:nvPr/>
        </p:nvSpPr>
        <p:spPr>
          <a:xfrm>
            <a:off x="548640" y="3246120"/>
            <a:ext cx="11090880" cy="3650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Cadena rota (propietarios distintos)</a:t>
            </a:r>
            <a:endParaRPr b="0" lang="es-ES" sz="1600" spc="-1" strike="noStrike">
              <a:latin typeface="Arial"/>
            </a:endParaRPr>
          </a:p>
        </p:txBody>
      </p:sp>
      <p:sp>
        <p:nvSpPr>
          <p:cNvPr id="1007" name="CustomShape 14"/>
          <p:cNvSpPr/>
          <p:nvPr/>
        </p:nvSpPr>
        <p:spPr>
          <a:xfrm>
            <a:off x="548640" y="3703320"/>
            <a:ext cx="2285280" cy="913680"/>
          </a:xfrm>
          <a:prstGeom prst="roundRect">
            <a:avLst>
              <a:gd name="adj" fmla="val 8000"/>
            </a:avLst>
          </a:prstGeom>
          <a:solidFill>
            <a:srgbClr val="0b2545"/>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Usuario operador</a:t>
            </a:r>
            <a:endParaRPr b="0" lang="es-ES" sz="1400" spc="-1" strike="noStrike">
              <a:latin typeface="Arial"/>
            </a:endParaRPr>
          </a:p>
        </p:txBody>
      </p:sp>
      <p:sp>
        <p:nvSpPr>
          <p:cNvPr id="1008" name="Line 15"/>
          <p:cNvSpPr/>
          <p:nvPr/>
        </p:nvSpPr>
        <p:spPr>
          <a:xfrm>
            <a:off x="2871000" y="4160520"/>
            <a:ext cx="301680" cy="0"/>
          </a:xfrm>
          <a:prstGeom prst="line">
            <a:avLst/>
          </a:prstGeom>
          <a:ln w="28440">
            <a:solidFill>
              <a:srgbClr val="5c6b7a"/>
            </a:solidFill>
            <a:round/>
            <a:tailEnd len="med" type="triangle" w="med"/>
          </a:ln>
        </p:spPr>
        <p:style>
          <a:lnRef idx="0"/>
          <a:fillRef idx="0"/>
          <a:effectRef idx="0"/>
          <a:fontRef idx="minor"/>
        </p:style>
      </p:sp>
      <p:sp>
        <p:nvSpPr>
          <p:cNvPr id="1009" name="CustomShape 16"/>
          <p:cNvSpPr/>
          <p:nvPr/>
        </p:nvSpPr>
        <p:spPr>
          <a:xfrm>
            <a:off x="3209400" y="3703320"/>
            <a:ext cx="301680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app.usp_Otro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usr_app</a:t>
            </a:r>
            <a:endParaRPr b="0" lang="es-ES" sz="1400" spc="-1" strike="noStrike">
              <a:latin typeface="Arial"/>
            </a:endParaRPr>
          </a:p>
        </p:txBody>
      </p:sp>
      <p:sp>
        <p:nvSpPr>
          <p:cNvPr id="1010" name="Line 17"/>
          <p:cNvSpPr/>
          <p:nvPr/>
        </p:nvSpPr>
        <p:spPr>
          <a:xfrm>
            <a:off x="6263640" y="4160520"/>
            <a:ext cx="301680" cy="0"/>
          </a:xfrm>
          <a:prstGeom prst="line">
            <a:avLst/>
          </a:prstGeom>
          <a:ln w="28440">
            <a:solidFill>
              <a:srgbClr val="5c6b7a"/>
            </a:solidFill>
            <a:round/>
            <a:tailEnd len="med" type="triangle" w="med"/>
          </a:ln>
        </p:spPr>
        <p:style>
          <a:lnRef idx="0"/>
          <a:fillRef idx="0"/>
          <a:effectRef idx="0"/>
          <a:fontRef idx="minor"/>
        </p:style>
      </p:sp>
      <p:sp>
        <p:nvSpPr>
          <p:cNvPr id="1011" name="CustomShape 18"/>
          <p:cNvSpPr/>
          <p:nvPr/>
        </p:nvSpPr>
        <p:spPr>
          <a:xfrm>
            <a:off x="6602040" y="3703320"/>
            <a:ext cx="2376720" cy="913680"/>
          </a:xfrm>
          <a:prstGeom prst="roundRect">
            <a:avLst>
              <a:gd name="adj" fmla="val 8000"/>
            </a:avLst>
          </a:prstGeom>
          <a:solidFill>
            <a:srgbClr val="134074"/>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dbo.Pedido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owner: dbo</a:t>
            </a:r>
            <a:endParaRPr b="0" lang="es-ES" sz="1400" spc="-1" strike="noStrike">
              <a:latin typeface="Arial"/>
            </a:endParaRPr>
          </a:p>
        </p:txBody>
      </p:sp>
      <p:sp>
        <p:nvSpPr>
          <p:cNvPr id="1012" name="Line 19"/>
          <p:cNvSpPr/>
          <p:nvPr/>
        </p:nvSpPr>
        <p:spPr>
          <a:xfrm>
            <a:off x="9015840" y="4160520"/>
            <a:ext cx="301680" cy="0"/>
          </a:xfrm>
          <a:prstGeom prst="line">
            <a:avLst/>
          </a:prstGeom>
          <a:ln w="28440">
            <a:solidFill>
              <a:srgbClr val="5c6b7a"/>
            </a:solidFill>
            <a:round/>
            <a:tailEnd len="med" type="triangle" w="med"/>
          </a:ln>
        </p:spPr>
        <p:style>
          <a:lnRef idx="0"/>
          <a:fillRef idx="0"/>
          <a:effectRef idx="0"/>
          <a:fontRef idx="minor"/>
        </p:style>
      </p:sp>
      <p:sp>
        <p:nvSpPr>
          <p:cNvPr id="1013" name="CustomShape 20"/>
          <p:cNvSpPr/>
          <p:nvPr/>
        </p:nvSpPr>
        <p:spPr>
          <a:xfrm>
            <a:off x="9354240" y="3703320"/>
            <a:ext cx="2285280" cy="913680"/>
          </a:xfrm>
          <a:prstGeom prst="roundRect">
            <a:avLst>
              <a:gd name="adj" fmla="val 8000"/>
            </a:avLst>
          </a:prstGeom>
          <a:solidFill>
            <a:srgbClr val="d95d39"/>
          </a:solidFill>
          <a:ln>
            <a:noFill/>
          </a:ln>
          <a:effectLst>
            <a:outerShdw algn="bl" blurRad="101600" dir="5400000" dist="25560" kx="0" ky="0" rotWithShape="0" sx="100000" sy="100000">
              <a:srgbClr val="000000">
                <a:alpha val="14000"/>
              </a:srgbClr>
            </a:outerShdw>
          </a:effectLst>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 exige permiso</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sobre la tabla</a:t>
            </a:r>
            <a:endParaRPr b="0" lang="es-ES" sz="1400" spc="-1" strike="noStrike">
              <a:latin typeface="Arial"/>
            </a:endParaRPr>
          </a:p>
        </p:txBody>
      </p:sp>
      <p:sp>
        <p:nvSpPr>
          <p:cNvPr id="1014" name="CustomShape 21"/>
          <p:cNvSpPr/>
          <p:nvPr/>
        </p:nvSpPr>
        <p:spPr>
          <a:xfrm>
            <a:off x="548640" y="5029200"/>
            <a:ext cx="5394240" cy="1142280"/>
          </a:xfrm>
          <a:prstGeom prst="roundRect">
            <a:avLst>
              <a:gd name="adj" fmla="val 9600"/>
            </a:avLst>
          </a:prstGeom>
          <a:solidFill>
            <a:srgbClr val="e8eef5"/>
          </a:solidFill>
          <a:ln>
            <a:noFill/>
          </a:ln>
        </p:spPr>
        <p:style>
          <a:lnRef idx="0"/>
          <a:fillRef idx="0"/>
          <a:effectRef idx="0"/>
          <a:fontRef idx="minor"/>
        </p:style>
      </p:sp>
      <p:sp>
        <p:nvSpPr>
          <p:cNvPr id="1015" name="CustomShape 22"/>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016" name="Image 0" descr="preencoded.png"/>
          <p:cNvPicPr/>
          <p:nvPr/>
        </p:nvPicPr>
        <p:blipFill>
          <a:blip r:embed="rId1"/>
          <a:stretch/>
        </p:blipFill>
        <p:spPr>
          <a:xfrm>
            <a:off x="846000" y="5486400"/>
            <a:ext cx="227880" cy="227880"/>
          </a:xfrm>
          <a:prstGeom prst="rect">
            <a:avLst/>
          </a:prstGeom>
          <a:ln>
            <a:noFill/>
          </a:ln>
        </p:spPr>
      </p:pic>
      <p:sp>
        <p:nvSpPr>
          <p:cNvPr id="1017" name="CustomShape 23"/>
          <p:cNvSpPr/>
          <p:nvPr/>
        </p:nvSpPr>
        <p:spPr>
          <a:xfrm>
            <a:off x="137160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Utilidad: </a:t>
            </a:r>
            <a:r>
              <a:rPr b="0" lang="en-US" sz="1400" spc="-1" strike="noStrike">
                <a:solidFill>
                  <a:srgbClr val="1f2933"/>
                </a:solidFill>
                <a:latin typeface="Calibri"/>
                <a:ea typeface="Calibri"/>
              </a:rPr>
              <a:t>da EXECUTE sobre el procedimiento, no acceso a las tablas: es una API controlada.</a:t>
            </a:r>
            <a:endParaRPr b="0" lang="es-ES" sz="1400" spc="-1" strike="noStrike">
              <a:latin typeface="Arial"/>
            </a:endParaRPr>
          </a:p>
        </p:txBody>
      </p:sp>
      <p:sp>
        <p:nvSpPr>
          <p:cNvPr id="1018" name="CustomShape 24"/>
          <p:cNvSpPr/>
          <p:nvPr/>
        </p:nvSpPr>
        <p:spPr>
          <a:xfrm>
            <a:off x="6245280" y="5029200"/>
            <a:ext cx="5394240" cy="1142280"/>
          </a:xfrm>
          <a:prstGeom prst="roundRect">
            <a:avLst>
              <a:gd name="adj" fmla="val 9600"/>
            </a:avLst>
          </a:prstGeom>
          <a:solidFill>
            <a:srgbClr val="fdede8"/>
          </a:solidFill>
          <a:ln>
            <a:noFill/>
          </a:ln>
        </p:spPr>
        <p:style>
          <a:lnRef idx="0"/>
          <a:fillRef idx="0"/>
          <a:effectRef idx="0"/>
          <a:fontRef idx="minor"/>
        </p:style>
      </p:sp>
      <p:sp>
        <p:nvSpPr>
          <p:cNvPr id="1019" name="CustomShape 25"/>
          <p:cNvSpPr/>
          <p:nvPr/>
        </p:nvSpPr>
        <p:spPr>
          <a:xfrm>
            <a:off x="6428160" y="5372280"/>
            <a:ext cx="456480" cy="456480"/>
          </a:xfrm>
          <a:prstGeom prst="ellipse">
            <a:avLst/>
          </a:prstGeom>
          <a:solidFill>
            <a:srgbClr val="d95d39"/>
          </a:solidFill>
          <a:ln>
            <a:noFill/>
          </a:ln>
        </p:spPr>
        <p:style>
          <a:lnRef idx="0"/>
          <a:fillRef idx="0"/>
          <a:effectRef idx="0"/>
          <a:fontRef idx="minor"/>
        </p:style>
      </p:sp>
      <p:pic>
        <p:nvPicPr>
          <p:cNvPr id="1020" name="Image 1" descr="preencoded.png"/>
          <p:cNvPicPr/>
          <p:nvPr/>
        </p:nvPicPr>
        <p:blipFill>
          <a:blip r:embed="rId2"/>
          <a:stretch/>
        </p:blipFill>
        <p:spPr>
          <a:xfrm>
            <a:off x="6542640" y="5486400"/>
            <a:ext cx="227880" cy="227880"/>
          </a:xfrm>
          <a:prstGeom prst="rect">
            <a:avLst/>
          </a:prstGeom>
          <a:ln>
            <a:noFill/>
          </a:ln>
        </p:spPr>
      </p:pic>
      <p:sp>
        <p:nvSpPr>
          <p:cNvPr id="1021" name="CustomShape 26"/>
          <p:cNvSpPr/>
          <p:nvPr/>
        </p:nvSpPr>
        <p:spPr>
          <a:xfrm>
            <a:off x="7068240" y="5029200"/>
            <a:ext cx="438840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Límites: </a:t>
            </a:r>
            <a:r>
              <a:rPr b="0" lang="en-US" sz="1400" spc="-1" strike="noStrike">
                <a:solidFill>
                  <a:srgbClr val="1f2933"/>
                </a:solidFill>
                <a:latin typeface="Calibri"/>
                <a:ea typeface="Calibri"/>
              </a:rPr>
              <a:t>el SQL dinámico rompe la cadena; entre bases de datos exige DB_CHAINING.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22" name="CustomShape 1"/>
          <p:cNvSpPr/>
          <p:nvPr/>
        </p:nvSpPr>
        <p:spPr>
          <a:xfrm>
            <a:off x="548640" y="365760"/>
            <a:ext cx="18464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BUENAS PRÁCTICAS</a:t>
            </a:r>
            <a:endParaRPr b="0" lang="es-ES" sz="1000" spc="-1" strike="noStrike">
              <a:latin typeface="Arial"/>
            </a:endParaRPr>
          </a:p>
        </p:txBody>
      </p:sp>
      <p:sp>
        <p:nvSpPr>
          <p:cNvPr id="10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Mínimo privilegio y auditoría básica</a:t>
            </a:r>
            <a:endParaRPr b="0" lang="es-ES" sz="3400" spc="-1" strike="noStrike">
              <a:latin typeface="Arial"/>
            </a:endParaRPr>
          </a:p>
        </p:txBody>
      </p:sp>
      <p:sp>
        <p:nvSpPr>
          <p:cNvPr id="10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41</a:t>
            </a:r>
            <a:endParaRPr b="0" lang="es-ES" sz="1000" spc="-1" strike="noStrike">
              <a:latin typeface="Arial"/>
            </a:endParaRPr>
          </a:p>
        </p:txBody>
      </p:sp>
      <p:sp>
        <p:nvSpPr>
          <p:cNvPr id="1026" name="CustomShape 5"/>
          <p:cNvSpPr/>
          <p:nvPr/>
        </p:nvSpPr>
        <p:spPr>
          <a:xfrm>
            <a:off x="548640" y="1600200"/>
            <a:ext cx="5394240" cy="2742480"/>
          </a:xfrm>
          <a:prstGeom prst="roundRect">
            <a:avLst>
              <a:gd name="adj" fmla="val 4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27"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28" name="Image 0" descr="preencoded.png"/>
          <p:cNvPicPr/>
          <p:nvPr/>
        </p:nvPicPr>
        <p:blipFill>
          <a:blip r:embed="rId1"/>
          <a:stretch/>
        </p:blipFill>
        <p:spPr>
          <a:xfrm>
            <a:off x="914400" y="1965960"/>
            <a:ext cx="273600" cy="273600"/>
          </a:xfrm>
          <a:prstGeom prst="rect">
            <a:avLst/>
          </a:prstGeom>
          <a:ln>
            <a:noFill/>
          </a:ln>
        </p:spPr>
      </p:pic>
      <p:sp>
        <p:nvSpPr>
          <p:cNvPr id="1029" name="CustomShape 7"/>
          <p:cNvSpPr/>
          <p:nvPr/>
        </p:nvSpPr>
        <p:spPr>
          <a:xfrm>
            <a:off x="146304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Mínimo privilegio</a:t>
            </a:r>
            <a:endParaRPr b="0" lang="es-ES" sz="1700" spc="-1" strike="noStrike">
              <a:latin typeface="Arial"/>
            </a:endParaRPr>
          </a:p>
        </p:txBody>
      </p:sp>
      <p:sp>
        <p:nvSpPr>
          <p:cNvPr id="1030" name="CustomShape 8"/>
          <p:cNvSpPr/>
          <p:nvPr/>
        </p:nvSpPr>
        <p:spPr>
          <a:xfrm>
            <a:off x="77724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Permisos a roles, no a usuarios sueltos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GRANT sobre schemas o procedimientos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Cuentas de aplicación ≠ administración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sa deshabilitada y sysadmin revisado</a:t>
            </a:r>
            <a:endParaRPr b="0" lang="es-ES" sz="1400" spc="-1" strike="noStrike">
              <a:latin typeface="Arial"/>
            </a:endParaRPr>
          </a:p>
        </p:txBody>
      </p:sp>
      <p:sp>
        <p:nvSpPr>
          <p:cNvPr id="1031" name="CustomShape 9"/>
          <p:cNvSpPr/>
          <p:nvPr/>
        </p:nvSpPr>
        <p:spPr>
          <a:xfrm>
            <a:off x="6245280" y="1600200"/>
            <a:ext cx="5394240" cy="2742480"/>
          </a:xfrm>
          <a:prstGeom prst="roundRect">
            <a:avLst>
              <a:gd name="adj" fmla="val 4000"/>
            </a:avLst>
          </a:prstGeom>
          <a:solidFill>
            <a:srgbClr val="134074"/>
          </a:solidFill>
          <a:ln>
            <a:noFill/>
          </a:ln>
        </p:spPr>
        <p:style>
          <a:lnRef idx="0"/>
          <a:fillRef idx="0"/>
          <a:effectRef idx="0"/>
          <a:fontRef idx="minor"/>
        </p:style>
      </p:sp>
      <p:sp>
        <p:nvSpPr>
          <p:cNvPr id="1032" name="CustomShape 10"/>
          <p:cNvSpPr/>
          <p:nvPr/>
        </p:nvSpPr>
        <p:spPr>
          <a:xfrm>
            <a:off x="6473880" y="1828800"/>
            <a:ext cx="547920" cy="547920"/>
          </a:xfrm>
          <a:prstGeom prst="ellipse">
            <a:avLst/>
          </a:prstGeom>
          <a:solidFill>
            <a:srgbClr val="d95d39"/>
          </a:solidFill>
          <a:ln>
            <a:noFill/>
          </a:ln>
        </p:spPr>
        <p:style>
          <a:lnRef idx="0"/>
          <a:fillRef idx="0"/>
          <a:effectRef idx="0"/>
          <a:fontRef idx="minor"/>
        </p:style>
      </p:sp>
      <p:pic>
        <p:nvPicPr>
          <p:cNvPr id="1033" name="Image 1" descr="preencoded.png"/>
          <p:cNvPicPr/>
          <p:nvPr/>
        </p:nvPicPr>
        <p:blipFill>
          <a:blip r:embed="rId2"/>
          <a:stretch/>
        </p:blipFill>
        <p:spPr>
          <a:xfrm>
            <a:off x="6611040" y="1965960"/>
            <a:ext cx="273600" cy="273600"/>
          </a:xfrm>
          <a:prstGeom prst="rect">
            <a:avLst/>
          </a:prstGeom>
          <a:ln>
            <a:noFill/>
          </a:ln>
        </p:spPr>
      </p:pic>
      <p:sp>
        <p:nvSpPr>
          <p:cNvPr id="1034" name="CustomShape 11"/>
          <p:cNvSpPr/>
          <p:nvPr/>
        </p:nvSpPr>
        <p:spPr>
          <a:xfrm>
            <a:off x="7159680" y="1828800"/>
            <a:ext cx="42512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Auditoría básica</a:t>
            </a:r>
            <a:endParaRPr b="0" lang="es-ES" sz="1700" spc="-1" strike="noStrike">
              <a:latin typeface="Arial"/>
            </a:endParaRPr>
          </a:p>
        </p:txBody>
      </p:sp>
      <p:sp>
        <p:nvSpPr>
          <p:cNvPr id="1035" name="CustomShape 12"/>
          <p:cNvSpPr/>
          <p:nvPr/>
        </p:nvSpPr>
        <p:spPr>
          <a:xfrm>
            <a:off x="6473880" y="2560320"/>
            <a:ext cx="4937040" cy="15537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SQL Server Audit a archivo o Event Log</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auditing: fallos y éxitos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DMVs: sys.dm_exec_sessions, sys.server_principals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Triggers DDL / Extended Events</a:t>
            </a:r>
            <a:endParaRPr b="0" lang="es-ES" sz="1400" spc="-1" strike="noStrike">
              <a:latin typeface="Arial"/>
            </a:endParaRPr>
          </a:p>
        </p:txBody>
      </p:sp>
      <p:sp>
        <p:nvSpPr>
          <p:cNvPr id="1036" name="CustomShape 13"/>
          <p:cNvSpPr/>
          <p:nvPr/>
        </p:nvSpPr>
        <p:spPr>
          <a:xfrm>
            <a:off x="548640" y="4617720"/>
            <a:ext cx="7223040" cy="1553760"/>
          </a:xfrm>
          <a:prstGeom prst="roundRect">
            <a:avLst>
              <a:gd name="adj" fmla="val 5882"/>
            </a:avLst>
          </a:prstGeom>
          <a:solidFill>
            <a:srgbClr val="eceff3"/>
          </a:solidFill>
          <a:ln w="9360">
            <a:solidFill>
              <a:srgbClr val="d0d7de"/>
            </a:solidFill>
            <a:round/>
          </a:ln>
        </p:spPr>
        <p:style>
          <a:lnRef idx="0"/>
          <a:fillRef idx="0"/>
          <a:effectRef idx="0"/>
          <a:fontRef idx="minor"/>
        </p:style>
      </p:sp>
      <p:sp>
        <p:nvSpPr>
          <p:cNvPr id="1037" name="CustomShape 14"/>
          <p:cNvSpPr/>
          <p:nvPr/>
        </p:nvSpPr>
        <p:spPr>
          <a:xfrm>
            <a:off x="731520" y="47091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SQL Server Audit</a:t>
            </a:r>
            <a:endParaRPr b="0" lang="es-ES" sz="1000" spc="-1" strike="noStrike">
              <a:latin typeface="Arial"/>
            </a:endParaRPr>
          </a:p>
        </p:txBody>
      </p:sp>
      <p:sp>
        <p:nvSpPr>
          <p:cNvPr id="1038" name="CustomShape 15"/>
          <p:cNvSpPr/>
          <p:nvPr/>
        </p:nvSpPr>
        <p:spPr>
          <a:xfrm>
            <a:off x="731520" y="4983480"/>
            <a:ext cx="6857280" cy="10965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TO </a:t>
            </a:r>
            <a:r>
              <a:rPr b="1" lang="en-US" sz="1200" spc="-1" strike="noStrike">
                <a:solidFill>
                  <a:srgbClr val="1d4ed8"/>
                </a:solidFill>
                <a:latin typeface="Consolas"/>
                <a:ea typeface="Consolas"/>
              </a:rPr>
              <a:t>FILE</a:t>
            </a:r>
            <a:r>
              <a:rPr b="0" lang="en-US" sz="1200" spc="-1" strike="noStrike">
                <a:solidFill>
                  <a:srgbClr val="1f2933"/>
                </a:solidFill>
                <a:latin typeface="Consolas"/>
                <a:ea typeface="Consolas"/>
              </a:rPr>
              <a:t> (FILEPATH = </a:t>
            </a:r>
            <a:r>
              <a:rPr b="0" lang="en-US" sz="1200" spc="-1" strike="noStrike">
                <a:solidFill>
                  <a:srgbClr val="b4441f"/>
                </a:solidFill>
                <a:latin typeface="Consolas"/>
                <a:ea typeface="Consolas"/>
              </a:rPr>
              <a:t>N'/var/opt/mssql/audit/'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SERVER AUDIT SPECIFICATION Aud_Seg_Spec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FOR</a:t>
            </a:r>
            <a:r>
              <a:rPr b="0" lang="en-US" sz="1200" spc="-1" strike="noStrike">
                <a:solidFill>
                  <a:srgbClr val="1f2933"/>
                </a:solidFill>
                <a:latin typeface="Consolas"/>
                <a:ea typeface="Consolas"/>
              </a:rPr>
              <a:t> SERVER AUDIT Aud_Seguridad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ADD</a:t>
            </a:r>
            <a:r>
              <a:rPr b="0" lang="en-US" sz="1200" spc="-1" strike="noStrike">
                <a:solidFill>
                  <a:srgbClr val="1f2933"/>
                </a:solidFill>
                <a:latin typeface="Consolas"/>
                <a:ea typeface="Consolas"/>
              </a:rPr>
              <a:t> (FAILED_LOGIN_GROUP)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SERVER AUDIT Aud_Seguridad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(STATE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
        <p:nvSpPr>
          <p:cNvPr id="1039" name="CustomShape 16"/>
          <p:cNvSpPr/>
          <p:nvPr/>
        </p:nvSpPr>
        <p:spPr>
          <a:xfrm>
            <a:off x="8046720" y="4617720"/>
            <a:ext cx="3592800" cy="1553760"/>
          </a:xfrm>
          <a:prstGeom prst="roundRect">
            <a:avLst>
              <a:gd name="adj" fmla="val 7059"/>
            </a:avLst>
          </a:prstGeom>
          <a:solidFill>
            <a:srgbClr val="e8eef5"/>
          </a:solidFill>
          <a:ln>
            <a:noFill/>
          </a:ln>
        </p:spPr>
        <p:style>
          <a:lnRef idx="0"/>
          <a:fillRef idx="0"/>
          <a:effectRef idx="0"/>
          <a:fontRef idx="minor"/>
        </p:style>
      </p:sp>
      <p:sp>
        <p:nvSpPr>
          <p:cNvPr id="1040" name="CustomShape 17"/>
          <p:cNvSpPr/>
          <p:nvPr/>
        </p:nvSpPr>
        <p:spPr>
          <a:xfrm>
            <a:off x="8229600" y="5166360"/>
            <a:ext cx="456480" cy="456480"/>
          </a:xfrm>
          <a:prstGeom prst="ellipse">
            <a:avLst/>
          </a:prstGeom>
          <a:solidFill>
            <a:srgbClr val="134074"/>
          </a:solidFill>
          <a:ln>
            <a:noFill/>
          </a:ln>
        </p:spPr>
        <p:style>
          <a:lnRef idx="0"/>
          <a:fillRef idx="0"/>
          <a:effectRef idx="0"/>
          <a:fontRef idx="minor"/>
        </p:style>
      </p:sp>
      <p:pic>
        <p:nvPicPr>
          <p:cNvPr id="1041" name="Image 2" descr="preencoded.png"/>
          <p:cNvPicPr/>
          <p:nvPr/>
        </p:nvPicPr>
        <p:blipFill>
          <a:blip r:embed="rId3"/>
          <a:stretch/>
        </p:blipFill>
        <p:spPr>
          <a:xfrm>
            <a:off x="8344080" y="5280840"/>
            <a:ext cx="227880" cy="227880"/>
          </a:xfrm>
          <a:prstGeom prst="rect">
            <a:avLst/>
          </a:prstGeom>
          <a:ln>
            <a:noFill/>
          </a:ln>
        </p:spPr>
      </p:pic>
      <p:sp>
        <p:nvSpPr>
          <p:cNvPr id="1042" name="CustomShape 18"/>
          <p:cNvSpPr/>
          <p:nvPr/>
        </p:nvSpPr>
        <p:spPr>
          <a:xfrm>
            <a:off x="8869680" y="4617720"/>
            <a:ext cx="2586960" cy="155376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Lectura: </a:t>
            </a:r>
            <a:r>
              <a:rPr b="0" lang="en-US" sz="1400" spc="-1" strike="noStrike">
                <a:solidFill>
                  <a:srgbClr val="1f2933"/>
                </a:solidFill>
                <a:latin typeface="Calibri"/>
                <a:ea typeface="Calibri"/>
              </a:rPr>
              <a:t>consulta los eventos con sys.fn_get_audit_file.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43" name="CustomShape 1"/>
          <p:cNvSpPr/>
          <p:nvPr/>
        </p:nvSpPr>
        <p:spPr>
          <a:xfrm>
            <a:off x="548640" y="365760"/>
            <a:ext cx="23677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PERMISOS</a:t>
            </a:r>
            <a:endParaRPr b="0" lang="es-ES" sz="1000" spc="-1" strike="noStrike">
              <a:latin typeface="Arial"/>
            </a:endParaRPr>
          </a:p>
        </p:txBody>
      </p:sp>
      <p:sp>
        <p:nvSpPr>
          <p:cNvPr id="104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Laboratorio 2B: permisos segregados</a:t>
            </a:r>
            <a:endParaRPr b="0" lang="es-ES" sz="3400" spc="-1" strike="noStrike">
              <a:latin typeface="Arial"/>
            </a:endParaRPr>
          </a:p>
        </p:txBody>
      </p:sp>
      <p:sp>
        <p:nvSpPr>
          <p:cNvPr id="104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4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42</a:t>
            </a:r>
            <a:endParaRPr b="0" lang="es-ES" sz="1000" spc="-1" strike="noStrike">
              <a:latin typeface="Arial"/>
            </a:endParaRPr>
          </a:p>
        </p:txBody>
      </p:sp>
      <p:sp>
        <p:nvSpPr>
          <p:cNvPr id="1047" name="CustomShape 5"/>
          <p:cNvSpPr/>
          <p:nvPr/>
        </p:nvSpPr>
        <p:spPr>
          <a:xfrm>
            <a:off x="548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48"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049"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050"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principals</a:t>
            </a:r>
            <a:endParaRPr b="0" lang="es-ES" sz="1600" spc="-1" strike="noStrike">
              <a:latin typeface="Arial"/>
            </a:endParaRPr>
          </a:p>
        </p:txBody>
      </p:sp>
      <p:sp>
        <p:nvSpPr>
          <p:cNvPr id="1051" name="CustomShape 9"/>
          <p:cNvSpPr/>
          <p:nvPr/>
        </p:nvSpPr>
        <p:spPr>
          <a:xfrm>
            <a:off x="777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Dos logins, sus users en Ventas y los schemas rpt y app.</a:t>
            </a:r>
            <a:endParaRPr b="0" lang="es-ES" sz="1400" spc="-1" strike="noStrike">
              <a:latin typeface="Arial"/>
            </a:endParaRPr>
          </a:p>
        </p:txBody>
      </p:sp>
      <p:sp>
        <p:nvSpPr>
          <p:cNvPr id="1052"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3" name="CustomShape 11"/>
          <p:cNvSpPr/>
          <p:nvPr/>
        </p:nvSpPr>
        <p:spPr>
          <a:xfrm>
            <a:off x="3401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54"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055"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056"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Definir roles</a:t>
            </a:r>
            <a:endParaRPr b="0" lang="es-ES" sz="1600" spc="-1" strike="noStrike">
              <a:latin typeface="Arial"/>
            </a:endParaRPr>
          </a:p>
        </p:txBody>
      </p:sp>
      <p:sp>
        <p:nvSpPr>
          <p:cNvPr id="1057" name="CustomShape 15"/>
          <p:cNvSpPr/>
          <p:nvPr/>
        </p:nvSpPr>
        <p:spPr>
          <a:xfrm>
            <a:off x="3630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rol_lectura_rpt sobre rpt y rol_operador con EXECUTE sobre app.</a:t>
            </a:r>
            <a:endParaRPr b="0" lang="es-ES" sz="1400" spc="-1" strike="noStrike">
              <a:latin typeface="Arial"/>
            </a:endParaRPr>
          </a:p>
        </p:txBody>
      </p:sp>
      <p:sp>
        <p:nvSpPr>
          <p:cNvPr id="1058"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59" name="CustomShape 17"/>
          <p:cNvSpPr/>
          <p:nvPr/>
        </p:nvSpPr>
        <p:spPr>
          <a:xfrm>
            <a:off x="625464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0"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061"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062"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Asignar y denegar</a:t>
            </a:r>
            <a:endParaRPr b="0" lang="es-ES" sz="1600" spc="-1" strike="noStrike">
              <a:latin typeface="Arial"/>
            </a:endParaRPr>
          </a:p>
        </p:txBody>
      </p:sp>
      <p:sp>
        <p:nvSpPr>
          <p:cNvPr id="1063" name="CustomShape 21"/>
          <p:cNvSpPr/>
          <p:nvPr/>
        </p:nvSpPr>
        <p:spPr>
          <a:xfrm>
            <a:off x="648324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Añade miembros y un DENY SELECT sobre dbo.Pedido al operador.</a:t>
            </a:r>
            <a:endParaRPr b="0" lang="es-ES" sz="1400" spc="-1" strike="noStrike">
              <a:latin typeface="Arial"/>
            </a:endParaRPr>
          </a:p>
        </p:txBody>
      </p:sp>
      <p:sp>
        <p:nvSpPr>
          <p:cNvPr id="1064"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065" name="CustomShape 23"/>
          <p:cNvSpPr/>
          <p:nvPr/>
        </p:nvSpPr>
        <p:spPr>
          <a:xfrm>
            <a:off x="9107280" y="1600200"/>
            <a:ext cx="2532240" cy="2696760"/>
          </a:xfrm>
          <a:prstGeom prst="roundRect">
            <a:avLst>
              <a:gd name="adj" fmla="val 433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66"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067"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068"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Probar</a:t>
            </a:r>
            <a:endParaRPr b="0" lang="es-ES" sz="1600" spc="-1" strike="noStrike">
              <a:latin typeface="Arial"/>
            </a:endParaRPr>
          </a:p>
        </p:txBody>
      </p:sp>
      <p:sp>
        <p:nvSpPr>
          <p:cNvPr id="1069" name="CustomShape 27"/>
          <p:cNvSpPr/>
          <p:nvPr/>
        </p:nvSpPr>
        <p:spPr>
          <a:xfrm>
            <a:off x="9335880" y="3154680"/>
            <a:ext cx="2075040" cy="10508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EXECUTE AS USER, REVERT y sys.fn_my_permissions.</a:t>
            </a:r>
            <a:endParaRPr b="0" lang="es-ES" sz="1400" spc="-1" strike="noStrike">
              <a:latin typeface="Arial"/>
            </a:endParaRPr>
          </a:p>
        </p:txBody>
      </p:sp>
      <p:sp>
        <p:nvSpPr>
          <p:cNvPr id="1070" name="CustomShape 28"/>
          <p:cNvSpPr/>
          <p:nvPr/>
        </p:nvSpPr>
        <p:spPr>
          <a:xfrm>
            <a:off x="548640" y="4572000"/>
            <a:ext cx="7497360" cy="1599480"/>
          </a:xfrm>
          <a:prstGeom prst="roundRect">
            <a:avLst>
              <a:gd name="adj" fmla="val 5714"/>
            </a:avLst>
          </a:prstGeom>
          <a:solidFill>
            <a:srgbClr val="eceff3"/>
          </a:solidFill>
          <a:ln w="9360">
            <a:solidFill>
              <a:srgbClr val="d0d7de"/>
            </a:solidFill>
            <a:round/>
          </a:ln>
        </p:spPr>
        <p:style>
          <a:lnRef idx="0"/>
          <a:fillRef idx="0"/>
          <a:effectRef idx="0"/>
          <a:fontRef idx="minor"/>
        </p:style>
      </p:sp>
      <p:sp>
        <p:nvSpPr>
          <p:cNvPr id="1071" name="CustomShape 29"/>
          <p:cNvSpPr/>
          <p:nvPr/>
        </p:nvSpPr>
        <p:spPr>
          <a:xfrm>
            <a:off x="731520" y="46634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verificación</a:t>
            </a:r>
            <a:endParaRPr b="0" lang="es-ES" sz="1000" spc="-1" strike="noStrike">
              <a:latin typeface="Arial"/>
            </a:endParaRPr>
          </a:p>
        </p:txBody>
      </p:sp>
      <p:sp>
        <p:nvSpPr>
          <p:cNvPr id="1072" name="CustomShape 30"/>
          <p:cNvSpPr/>
          <p:nvPr/>
        </p:nvSpPr>
        <p:spPr>
          <a:xfrm>
            <a:off x="731520" y="4937760"/>
            <a:ext cx="7131600" cy="11422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EXECUTE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USER</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'operador'</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EXEC</a:t>
            </a:r>
            <a:r>
              <a:rPr b="0" lang="en-US" sz="1200" spc="-1" strike="noStrike">
                <a:solidFill>
                  <a:srgbClr val="1f2933"/>
                </a:solidFill>
                <a:latin typeface="Consolas"/>
                <a:ea typeface="Consolas"/>
              </a:rPr>
              <a:t> app.usp_AltaPedido </a:t>
            </a:r>
            <a:r>
              <a:rPr b="0" lang="en-US" sz="1200" spc="-1" strike="noStrike">
                <a:solidFill>
                  <a:srgbClr val="0f766e"/>
                </a:solidFill>
                <a:latin typeface="Consolas"/>
                <a:ea typeface="Consolas"/>
              </a:rPr>
              <a:t>@ClienteId</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a:t>
            </a:r>
            <a:r>
              <a:rPr b="0" lang="en-US" sz="1200" spc="-1" strike="noStrike">
                <a:solidFill>
                  <a:srgbClr val="0f766e"/>
                </a:solidFill>
                <a:latin typeface="Consolas"/>
                <a:ea typeface="Consolas"/>
              </a:rPr>
              <a:t>@Total</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99.90</a:t>
            </a:r>
            <a:r>
              <a:rPr b="0" lang="en-US" sz="1200" spc="-1" strike="noStrike">
                <a:solidFill>
                  <a:srgbClr val="1f2933"/>
                </a:solidFill>
                <a:latin typeface="Consolas"/>
                <a:ea typeface="Consolas"/>
              </a:rPr>
              <a:t>; </a:t>
            </a:r>
            <a:r>
              <a:rPr b="0" i="1" lang="en-US" sz="1200" spc="-1" strike="noStrike">
                <a:solidFill>
                  <a:srgbClr val="6b7280"/>
                </a:solidFill>
                <a:latin typeface="Consolas"/>
                <a:ea typeface="Consolas"/>
              </a:rPr>
              <a:t>-- OK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 *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error 229</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REVERT;</a:t>
            </a:r>
            <a:endParaRPr b="0" lang="es-ES" sz="1200" spc="-1" strike="noStrike">
              <a:latin typeface="Arial"/>
            </a:endParaRPr>
          </a:p>
        </p:txBody>
      </p:sp>
      <p:sp>
        <p:nvSpPr>
          <p:cNvPr id="1073" name="CustomShape 31"/>
          <p:cNvSpPr/>
          <p:nvPr/>
        </p:nvSpPr>
        <p:spPr>
          <a:xfrm>
            <a:off x="8321040" y="4572000"/>
            <a:ext cx="3318480" cy="1599480"/>
          </a:xfrm>
          <a:prstGeom prst="roundRect">
            <a:avLst>
              <a:gd name="adj" fmla="val 6857"/>
            </a:avLst>
          </a:prstGeom>
          <a:solidFill>
            <a:srgbClr val="fdede8"/>
          </a:solidFill>
          <a:ln>
            <a:noFill/>
          </a:ln>
        </p:spPr>
        <p:style>
          <a:lnRef idx="0"/>
          <a:fillRef idx="0"/>
          <a:effectRef idx="0"/>
          <a:fontRef idx="minor"/>
        </p:style>
      </p:sp>
      <p:sp>
        <p:nvSpPr>
          <p:cNvPr id="1074" name="CustomShape 32"/>
          <p:cNvSpPr/>
          <p:nvPr/>
        </p:nvSpPr>
        <p:spPr>
          <a:xfrm>
            <a:off x="8503920" y="5143680"/>
            <a:ext cx="456480" cy="456480"/>
          </a:xfrm>
          <a:prstGeom prst="ellipse">
            <a:avLst/>
          </a:prstGeom>
          <a:solidFill>
            <a:srgbClr val="d95d39"/>
          </a:solidFill>
          <a:ln>
            <a:noFill/>
          </a:ln>
        </p:spPr>
        <p:style>
          <a:lnRef idx="0"/>
          <a:fillRef idx="0"/>
          <a:effectRef idx="0"/>
          <a:fontRef idx="minor"/>
        </p:style>
      </p:sp>
      <p:pic>
        <p:nvPicPr>
          <p:cNvPr id="1075" name="Image 0" descr="preencoded.png"/>
          <p:cNvPicPr/>
          <p:nvPr/>
        </p:nvPicPr>
        <p:blipFill>
          <a:blip r:embed="rId1"/>
          <a:stretch/>
        </p:blipFill>
        <p:spPr>
          <a:xfrm>
            <a:off x="8618400" y="5257800"/>
            <a:ext cx="227880" cy="227880"/>
          </a:xfrm>
          <a:prstGeom prst="rect">
            <a:avLst/>
          </a:prstGeom>
          <a:ln>
            <a:noFill/>
          </a:ln>
        </p:spPr>
      </p:pic>
      <p:sp>
        <p:nvSpPr>
          <p:cNvPr id="1076" name="CustomShape 33"/>
          <p:cNvSpPr/>
          <p:nvPr/>
        </p:nvSpPr>
        <p:spPr>
          <a:xfrm>
            <a:off x="9144000" y="4572000"/>
            <a:ext cx="2312640" cy="1599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olvidar REVERT deja la sesión suplantada.</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07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07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Resumen del Módulo 2: puntos clave</a:t>
            </a:r>
            <a:endParaRPr b="0" lang="es-ES" sz="3400" spc="-1" strike="noStrike">
              <a:latin typeface="Arial"/>
            </a:endParaRPr>
          </a:p>
        </p:txBody>
      </p:sp>
      <p:sp>
        <p:nvSpPr>
          <p:cNvPr id="107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08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2   43</a:t>
            </a:r>
            <a:endParaRPr b="0" lang="es-ES" sz="1000" spc="-1" strike="noStrike">
              <a:latin typeface="Arial"/>
            </a:endParaRPr>
          </a:p>
        </p:txBody>
      </p:sp>
      <p:sp>
        <p:nvSpPr>
          <p:cNvPr id="1081" name="CustomShape 5"/>
          <p:cNvSpPr/>
          <p:nvPr/>
        </p:nvSpPr>
        <p:spPr>
          <a:xfrm>
            <a:off x="54864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2"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083" name="Image 0" descr="preencoded.png"/>
          <p:cNvPicPr/>
          <p:nvPr/>
        </p:nvPicPr>
        <p:blipFill>
          <a:blip r:embed="rId1"/>
          <a:stretch/>
        </p:blipFill>
        <p:spPr>
          <a:xfrm>
            <a:off x="914400" y="1965960"/>
            <a:ext cx="273600" cy="273600"/>
          </a:xfrm>
          <a:prstGeom prst="rect">
            <a:avLst/>
          </a:prstGeom>
          <a:ln>
            <a:noFill/>
          </a:ln>
        </p:spPr>
      </p:pic>
      <p:sp>
        <p:nvSpPr>
          <p:cNvPr id="1084" name="CustomShape 7"/>
          <p:cNvSpPr/>
          <p:nvPr/>
        </p:nvSpPr>
        <p:spPr>
          <a:xfrm>
            <a:off x="146304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DDL e integridad</a:t>
            </a:r>
            <a:endParaRPr b="0" lang="es-ES" sz="1700" spc="-1" strike="noStrike">
              <a:latin typeface="Arial"/>
            </a:endParaRPr>
          </a:p>
        </p:txBody>
      </p:sp>
      <p:sp>
        <p:nvSpPr>
          <p:cNvPr id="1085" name="CustomShape 8"/>
          <p:cNvSpPr/>
          <p:nvPr/>
        </p:nvSpPr>
        <p:spPr>
          <a:xfrm>
            <a:off x="77724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PK, FK, CHECK, UNIQUE, DEFAULT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FK con índice de apoyo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Tipos ajustados al dato</a:t>
            </a:r>
            <a:endParaRPr b="0" lang="es-ES" sz="1400" spc="-1" strike="noStrike">
              <a:latin typeface="Arial"/>
            </a:endParaRPr>
          </a:p>
        </p:txBody>
      </p:sp>
      <p:sp>
        <p:nvSpPr>
          <p:cNvPr id="1086" name="CustomShape 9"/>
          <p:cNvSpPr/>
          <p:nvPr/>
        </p:nvSpPr>
        <p:spPr>
          <a:xfrm>
            <a:off x="339012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87" name="CustomShape 10"/>
          <p:cNvSpPr/>
          <p:nvPr/>
        </p:nvSpPr>
        <p:spPr>
          <a:xfrm>
            <a:off x="3618720" y="1828800"/>
            <a:ext cx="547920" cy="547920"/>
          </a:xfrm>
          <a:prstGeom prst="ellipse">
            <a:avLst/>
          </a:prstGeom>
          <a:solidFill>
            <a:srgbClr val="134074"/>
          </a:solidFill>
          <a:ln>
            <a:noFill/>
          </a:ln>
        </p:spPr>
        <p:style>
          <a:lnRef idx="0"/>
          <a:fillRef idx="0"/>
          <a:effectRef idx="0"/>
          <a:fontRef idx="minor"/>
        </p:style>
      </p:sp>
      <p:pic>
        <p:nvPicPr>
          <p:cNvPr id="1088" name="Image 1" descr="preencoded.png"/>
          <p:cNvPicPr/>
          <p:nvPr/>
        </p:nvPicPr>
        <p:blipFill>
          <a:blip r:embed="rId2"/>
          <a:stretch/>
        </p:blipFill>
        <p:spPr>
          <a:xfrm>
            <a:off x="3755880" y="1965960"/>
            <a:ext cx="273600" cy="273600"/>
          </a:xfrm>
          <a:prstGeom prst="rect">
            <a:avLst/>
          </a:prstGeom>
          <a:ln>
            <a:noFill/>
          </a:ln>
        </p:spPr>
      </p:pic>
      <p:sp>
        <p:nvSpPr>
          <p:cNvPr id="1089" name="CustomShape 11"/>
          <p:cNvSpPr/>
          <p:nvPr/>
        </p:nvSpPr>
        <p:spPr>
          <a:xfrm>
            <a:off x="430452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Vistas y SP</a:t>
            </a:r>
            <a:endParaRPr b="0" lang="es-ES" sz="1700" spc="-1" strike="noStrike">
              <a:latin typeface="Arial"/>
            </a:endParaRPr>
          </a:p>
        </p:txBody>
      </p:sp>
      <p:sp>
        <p:nvSpPr>
          <p:cNvPr id="1090" name="CustomShape 12"/>
          <p:cNvSpPr/>
          <p:nvPr/>
        </p:nvSpPr>
        <p:spPr>
          <a:xfrm>
            <a:off x="361872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Vistas indexadas con SCHEMABINDING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cache y sniffing</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SP como API segura</a:t>
            </a:r>
            <a:endParaRPr b="0" lang="es-ES" sz="1400" spc="-1" strike="noStrike">
              <a:latin typeface="Arial"/>
            </a:endParaRPr>
          </a:p>
        </p:txBody>
      </p:sp>
      <p:sp>
        <p:nvSpPr>
          <p:cNvPr id="1091" name="CustomShape 13"/>
          <p:cNvSpPr/>
          <p:nvPr/>
        </p:nvSpPr>
        <p:spPr>
          <a:xfrm>
            <a:off x="6231600" y="1600200"/>
            <a:ext cx="2566440" cy="3382560"/>
          </a:xfrm>
          <a:prstGeom prst="roundRect">
            <a:avLst>
              <a:gd name="adj" fmla="val 4274"/>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092" name="CustomShape 14"/>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093" name="Image 2" descr="preencoded.png"/>
          <p:cNvPicPr/>
          <p:nvPr/>
        </p:nvPicPr>
        <p:blipFill>
          <a:blip r:embed="rId3"/>
          <a:stretch/>
        </p:blipFill>
        <p:spPr>
          <a:xfrm>
            <a:off x="6597360" y="1965960"/>
            <a:ext cx="273600" cy="273600"/>
          </a:xfrm>
          <a:prstGeom prst="rect">
            <a:avLst/>
          </a:prstGeom>
          <a:ln>
            <a:noFill/>
          </a:ln>
        </p:spPr>
      </p:pic>
      <p:sp>
        <p:nvSpPr>
          <p:cNvPr id="1094" name="CustomShape 15"/>
          <p:cNvSpPr/>
          <p:nvPr/>
        </p:nvSpPr>
        <p:spPr>
          <a:xfrm>
            <a:off x="714600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DML analítico</a:t>
            </a:r>
            <a:endParaRPr b="0" lang="es-ES" sz="1700" spc="-1" strike="noStrike">
              <a:latin typeface="Arial"/>
            </a:endParaRPr>
          </a:p>
        </p:txBody>
      </p:sp>
      <p:sp>
        <p:nvSpPr>
          <p:cNvPr id="1095" name="CustomShape 16"/>
          <p:cNvSpPr/>
          <p:nvPr/>
        </p:nvSpPr>
        <p:spPr>
          <a:xfrm>
            <a:off x="646020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Orden lógico del SELECT</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Nested, Merge y Hash</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OVER, RANK y LAG</a:t>
            </a:r>
            <a:endParaRPr b="0" lang="es-ES" sz="1400" spc="-1" strike="noStrike">
              <a:latin typeface="Arial"/>
            </a:endParaRPr>
          </a:p>
        </p:txBody>
      </p:sp>
      <p:sp>
        <p:nvSpPr>
          <p:cNvPr id="1096" name="CustomShape 17"/>
          <p:cNvSpPr/>
          <p:nvPr/>
        </p:nvSpPr>
        <p:spPr>
          <a:xfrm>
            <a:off x="9073080" y="1600200"/>
            <a:ext cx="2566440" cy="3382560"/>
          </a:xfrm>
          <a:prstGeom prst="roundRect">
            <a:avLst>
              <a:gd name="adj" fmla="val 4274"/>
            </a:avLst>
          </a:prstGeom>
          <a:solidFill>
            <a:srgbClr val="134074"/>
          </a:solidFill>
          <a:ln>
            <a:noFill/>
          </a:ln>
        </p:spPr>
        <p:style>
          <a:lnRef idx="0"/>
          <a:fillRef idx="0"/>
          <a:effectRef idx="0"/>
          <a:fontRef idx="minor"/>
        </p:style>
      </p:sp>
      <p:sp>
        <p:nvSpPr>
          <p:cNvPr id="1097" name="CustomShape 18"/>
          <p:cNvSpPr/>
          <p:nvPr/>
        </p:nvSpPr>
        <p:spPr>
          <a:xfrm>
            <a:off x="9301680" y="1828800"/>
            <a:ext cx="547920" cy="547920"/>
          </a:xfrm>
          <a:prstGeom prst="ellipse">
            <a:avLst/>
          </a:prstGeom>
          <a:solidFill>
            <a:srgbClr val="d95d39"/>
          </a:solidFill>
          <a:ln>
            <a:noFill/>
          </a:ln>
        </p:spPr>
        <p:style>
          <a:lnRef idx="0"/>
          <a:fillRef idx="0"/>
          <a:effectRef idx="0"/>
          <a:fontRef idx="minor"/>
        </p:style>
      </p:sp>
      <p:pic>
        <p:nvPicPr>
          <p:cNvPr id="1098" name="Image 3" descr="preencoded.png"/>
          <p:cNvPicPr/>
          <p:nvPr/>
        </p:nvPicPr>
        <p:blipFill>
          <a:blip r:embed="rId4"/>
          <a:stretch/>
        </p:blipFill>
        <p:spPr>
          <a:xfrm>
            <a:off x="9438840" y="1965960"/>
            <a:ext cx="273600" cy="273600"/>
          </a:xfrm>
          <a:prstGeom prst="rect">
            <a:avLst/>
          </a:prstGeom>
          <a:ln>
            <a:noFill/>
          </a:ln>
        </p:spPr>
      </p:pic>
      <p:sp>
        <p:nvSpPr>
          <p:cNvPr id="1099" name="CustomShape 19"/>
          <p:cNvSpPr/>
          <p:nvPr/>
        </p:nvSpPr>
        <p:spPr>
          <a:xfrm>
            <a:off x="9987480" y="1828800"/>
            <a:ext cx="142344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Seguridad</a:t>
            </a:r>
            <a:endParaRPr b="0" lang="es-ES" sz="1700" spc="-1" strike="noStrike">
              <a:latin typeface="Arial"/>
            </a:endParaRPr>
          </a:p>
        </p:txBody>
      </p:sp>
      <p:sp>
        <p:nvSpPr>
          <p:cNvPr id="1100" name="CustomShape 20"/>
          <p:cNvSpPr/>
          <p:nvPr/>
        </p:nvSpPr>
        <p:spPr>
          <a:xfrm>
            <a:off x="9301680" y="2560320"/>
            <a:ext cx="2109240" cy="21938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Login, user, rol, permiso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DENY gana a GRANT</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Mínimo privilegio y auditoría</a:t>
            </a:r>
            <a:endParaRPr b="0" lang="es-ES" sz="1400" spc="-1" strike="noStrike">
              <a:latin typeface="Arial"/>
            </a:endParaRPr>
          </a:p>
        </p:txBody>
      </p:sp>
      <p:sp>
        <p:nvSpPr>
          <p:cNvPr id="1101" name="CustomShape 21"/>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102" name="CustomShape 22"/>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103" name="Image 4" descr="preencoded.png"/>
          <p:cNvPicPr/>
          <p:nvPr/>
        </p:nvPicPr>
        <p:blipFill>
          <a:blip r:embed="rId5"/>
          <a:stretch/>
        </p:blipFill>
        <p:spPr>
          <a:xfrm>
            <a:off x="846000" y="5600880"/>
            <a:ext cx="227880" cy="227880"/>
          </a:xfrm>
          <a:prstGeom prst="rect">
            <a:avLst/>
          </a:prstGeom>
          <a:ln>
            <a:noFill/>
          </a:ln>
        </p:spPr>
      </p:pic>
      <p:sp>
        <p:nvSpPr>
          <p:cNvPr id="1104" name="CustomShape 23"/>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Siguiente módulo: </a:t>
            </a:r>
            <a:r>
              <a:rPr b="0" lang="en-US" sz="1400" spc="-1" strike="noStrike">
                <a:solidFill>
                  <a:srgbClr val="1f2933"/>
                </a:solidFill>
                <a:latin typeface="Calibri"/>
                <a:ea typeface="Calibri"/>
              </a:rPr>
              <a:t>índices y B-Tree, planes de ejecución, DMVs de rendimiento y alta disponibilidad (RTO/RPO).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10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03</a:t>
            </a:r>
            <a:endParaRPr b="0" lang="es-ES" sz="12000" spc="-1" strike="noStrike">
              <a:latin typeface="Arial"/>
            </a:endParaRPr>
          </a:p>
        </p:txBody>
      </p:sp>
      <p:sp>
        <p:nvSpPr>
          <p:cNvPr id="110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3 · 5 h</a:t>
            </a:r>
            <a:endParaRPr b="0" lang="es-ES" sz="1100" spc="-1" strike="noStrike">
              <a:latin typeface="Arial"/>
            </a:endParaRPr>
          </a:p>
        </p:txBody>
      </p:sp>
      <p:sp>
        <p:nvSpPr>
          <p:cNvPr id="110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Optimización y Alta Disponibilidad</a:t>
            </a:r>
            <a:endParaRPr b="0" lang="es-ES" sz="3800" spc="-1" strike="noStrike">
              <a:latin typeface="Arial"/>
            </a:endParaRPr>
          </a:p>
        </p:txBody>
      </p:sp>
      <p:sp>
        <p:nvSpPr>
          <p:cNvPr id="110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Índices, planes de ejecución, DMVs y fundamentos de HA/DR</a:t>
            </a:r>
            <a:endParaRPr b="0" lang="es-ES" sz="1600" spc="-1" strike="noStrike">
              <a:latin typeface="Arial"/>
            </a:endParaRPr>
          </a:p>
        </p:txBody>
      </p:sp>
      <p:sp>
        <p:nvSpPr>
          <p:cNvPr id="110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111" name="Image 0" descr="preencoded.png"/>
          <p:cNvPicPr/>
          <p:nvPr/>
        </p:nvPicPr>
        <p:blipFill>
          <a:blip r:embed="rId1"/>
          <a:stretch/>
        </p:blipFill>
        <p:spPr>
          <a:xfrm>
            <a:off x="6926760" y="1280160"/>
            <a:ext cx="227880" cy="227880"/>
          </a:xfrm>
          <a:prstGeom prst="rect">
            <a:avLst/>
          </a:prstGeom>
          <a:ln>
            <a:noFill/>
          </a:ln>
        </p:spPr>
      </p:pic>
      <p:sp>
        <p:nvSpPr>
          <p:cNvPr id="111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Arquitectura de índices y B-Tree</a:t>
            </a:r>
            <a:endParaRPr b="0" lang="es-ES" sz="1600" spc="-1" strike="noStrike">
              <a:latin typeface="Arial"/>
            </a:endParaRPr>
          </a:p>
        </p:txBody>
      </p:sp>
      <p:sp>
        <p:nvSpPr>
          <p:cNvPr id="111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115" name="Image 1" descr="preencoded.png"/>
          <p:cNvPicPr/>
          <p:nvPr/>
        </p:nvPicPr>
        <p:blipFill>
          <a:blip r:embed="rId2"/>
          <a:stretch/>
        </p:blipFill>
        <p:spPr>
          <a:xfrm>
            <a:off x="6926760" y="2057400"/>
            <a:ext cx="227880" cy="227880"/>
          </a:xfrm>
          <a:prstGeom prst="rect">
            <a:avLst/>
          </a:prstGeom>
          <a:ln>
            <a:noFill/>
          </a:ln>
        </p:spPr>
      </p:pic>
      <p:sp>
        <p:nvSpPr>
          <p:cNvPr id="111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Fragmentación y estadísticas</a:t>
            </a:r>
            <a:endParaRPr b="0" lang="es-ES" sz="1600" spc="-1" strike="noStrike">
              <a:latin typeface="Arial"/>
            </a:endParaRPr>
          </a:p>
        </p:txBody>
      </p:sp>
      <p:sp>
        <p:nvSpPr>
          <p:cNvPr id="111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1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119" name="Image 2" descr="preencoded.png"/>
          <p:cNvPicPr/>
          <p:nvPr/>
        </p:nvPicPr>
        <p:blipFill>
          <a:blip r:embed="rId3"/>
          <a:stretch/>
        </p:blipFill>
        <p:spPr>
          <a:xfrm>
            <a:off x="6926760" y="2834640"/>
            <a:ext cx="227880" cy="227880"/>
          </a:xfrm>
          <a:prstGeom prst="rect">
            <a:avLst/>
          </a:prstGeom>
          <a:ln>
            <a:noFill/>
          </a:ln>
        </p:spPr>
      </p:pic>
      <p:sp>
        <p:nvSpPr>
          <p:cNvPr id="112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Lectura de planes de ejecución</a:t>
            </a:r>
            <a:endParaRPr b="0" lang="es-ES" sz="1600" spc="-1" strike="noStrike">
              <a:latin typeface="Arial"/>
            </a:endParaRPr>
          </a:p>
        </p:txBody>
      </p:sp>
      <p:sp>
        <p:nvSpPr>
          <p:cNvPr id="112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123" name="Image 3" descr="preencoded.png"/>
          <p:cNvPicPr/>
          <p:nvPr/>
        </p:nvPicPr>
        <p:blipFill>
          <a:blip r:embed="rId4"/>
          <a:stretch/>
        </p:blipFill>
        <p:spPr>
          <a:xfrm>
            <a:off x="6926760" y="3611880"/>
            <a:ext cx="227880" cy="227880"/>
          </a:xfrm>
          <a:prstGeom prst="rect">
            <a:avLst/>
          </a:prstGeom>
          <a:ln>
            <a:noFill/>
          </a:ln>
        </p:spPr>
      </p:pic>
      <p:sp>
        <p:nvSpPr>
          <p:cNvPr id="112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Monitorización con DMVs</a:t>
            </a:r>
            <a:endParaRPr b="0" lang="es-ES" sz="1600" spc="-1" strike="noStrike">
              <a:latin typeface="Arial"/>
            </a:endParaRPr>
          </a:p>
        </p:txBody>
      </p:sp>
      <p:sp>
        <p:nvSpPr>
          <p:cNvPr id="112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2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127" name="Image 4" descr="preencoded.png"/>
          <p:cNvPicPr/>
          <p:nvPr/>
        </p:nvPicPr>
        <p:blipFill>
          <a:blip r:embed="rId5"/>
          <a:stretch/>
        </p:blipFill>
        <p:spPr>
          <a:xfrm>
            <a:off x="6926760" y="4389120"/>
            <a:ext cx="227880" cy="227880"/>
          </a:xfrm>
          <a:prstGeom prst="rect">
            <a:avLst/>
          </a:prstGeom>
          <a:ln>
            <a:noFill/>
          </a:ln>
        </p:spPr>
      </p:pic>
      <p:sp>
        <p:nvSpPr>
          <p:cNvPr id="112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RTO, RPO y comparativa HA/DR</a:t>
            </a:r>
            <a:endParaRPr b="0" lang="es-ES" sz="1600" spc="-1" strike="noStrike">
              <a:latin typeface="Arial"/>
            </a:endParaRPr>
          </a:p>
        </p:txBody>
      </p:sp>
      <p:sp>
        <p:nvSpPr>
          <p:cNvPr id="112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13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131" name="Image 5" descr="preencoded.png"/>
          <p:cNvPicPr/>
          <p:nvPr/>
        </p:nvPicPr>
        <p:blipFill>
          <a:blip r:embed="rId6"/>
          <a:stretch/>
        </p:blipFill>
        <p:spPr>
          <a:xfrm>
            <a:off x="6926760" y="5166360"/>
            <a:ext cx="227880" cy="227880"/>
          </a:xfrm>
          <a:prstGeom prst="rect">
            <a:avLst/>
          </a:prstGeom>
          <a:ln>
            <a:noFill/>
          </a:ln>
        </p:spPr>
      </p:pic>
      <p:sp>
        <p:nvSpPr>
          <p:cNvPr id="113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3</a:t>
            </a:r>
            <a:endParaRPr b="0" lang="es-ES" sz="1600" spc="-1" strike="noStrike">
              <a:latin typeface="Arial"/>
            </a:endParaRPr>
          </a:p>
        </p:txBody>
      </p:sp>
      <p:sp>
        <p:nvSpPr>
          <p:cNvPr id="113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13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44</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3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3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Heap vs Clustered Index</a:t>
            </a:r>
            <a:endParaRPr b="0" lang="es-ES" sz="3400" spc="-1" strike="noStrike">
              <a:latin typeface="Arial"/>
            </a:endParaRPr>
          </a:p>
        </p:txBody>
      </p:sp>
      <p:sp>
        <p:nvSpPr>
          <p:cNvPr id="113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3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45</a:t>
            </a:r>
            <a:endParaRPr b="0" lang="es-ES" sz="1000" spc="-1" strike="noStrike">
              <a:latin typeface="Arial"/>
            </a:endParaRPr>
          </a:p>
        </p:txBody>
      </p:sp>
      <p:sp>
        <p:nvSpPr>
          <p:cNvPr id="1139" name="CustomShape 5"/>
          <p:cNvSpPr/>
          <p:nvPr/>
        </p:nvSpPr>
        <p:spPr>
          <a:xfrm>
            <a:off x="548640" y="1600200"/>
            <a:ext cx="540792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140"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141" name="Image 0" descr="preencoded.png"/>
          <p:cNvPicPr/>
          <p:nvPr/>
        </p:nvPicPr>
        <p:blipFill>
          <a:blip r:embed="rId1"/>
          <a:stretch/>
        </p:blipFill>
        <p:spPr>
          <a:xfrm>
            <a:off x="914400" y="1965960"/>
            <a:ext cx="273600" cy="273600"/>
          </a:xfrm>
          <a:prstGeom prst="rect">
            <a:avLst/>
          </a:prstGeom>
          <a:ln>
            <a:noFill/>
          </a:ln>
        </p:spPr>
      </p:pic>
      <p:sp>
        <p:nvSpPr>
          <p:cNvPr id="1142"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Heap (sin índice clustered)</a:t>
            </a:r>
            <a:endParaRPr b="0" lang="es-ES" sz="1700" spc="-1" strike="noStrike">
              <a:latin typeface="Arial"/>
            </a:endParaRPr>
          </a:p>
        </p:txBody>
      </p:sp>
      <p:sp>
        <p:nvSpPr>
          <p:cNvPr id="1143" name="CustomShape 8"/>
          <p:cNvSpPr/>
          <p:nvPr/>
        </p:nvSpPr>
        <p:spPr>
          <a:xfrm>
            <a:off x="77724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Filas en páginas sin orden lógico (se localizan por IAM)</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 completa = Table Scan; búsqueda por RID</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Forwarded Records tras UPDATE que hace crecer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Útil en staging y cargas masivas puntuales</a:t>
            </a:r>
            <a:endParaRPr b="0" lang="es-ES" sz="1400" spc="-1" strike="noStrike">
              <a:latin typeface="Arial"/>
            </a:endParaRPr>
          </a:p>
        </p:txBody>
      </p:sp>
      <p:sp>
        <p:nvSpPr>
          <p:cNvPr id="1144" name="CustomShape 9"/>
          <p:cNvSpPr/>
          <p:nvPr/>
        </p:nvSpPr>
        <p:spPr>
          <a:xfrm>
            <a:off x="6231600" y="1600200"/>
            <a:ext cx="5407920" cy="3153960"/>
          </a:xfrm>
          <a:prstGeom prst="roundRect">
            <a:avLst>
              <a:gd name="adj" fmla="val 3478"/>
            </a:avLst>
          </a:prstGeom>
          <a:solidFill>
            <a:srgbClr val="134074"/>
          </a:solidFill>
          <a:ln>
            <a:noFill/>
          </a:ln>
        </p:spPr>
        <p:style>
          <a:lnRef idx="0"/>
          <a:fillRef idx="0"/>
          <a:effectRef idx="0"/>
          <a:fontRef idx="minor"/>
        </p:style>
      </p:sp>
      <p:sp>
        <p:nvSpPr>
          <p:cNvPr id="1145" name="CustomShape 10"/>
          <p:cNvSpPr/>
          <p:nvPr/>
        </p:nvSpPr>
        <p:spPr>
          <a:xfrm>
            <a:off x="6460200" y="1828800"/>
            <a:ext cx="547920" cy="547920"/>
          </a:xfrm>
          <a:prstGeom prst="ellipse">
            <a:avLst/>
          </a:prstGeom>
          <a:solidFill>
            <a:srgbClr val="d95d39"/>
          </a:solidFill>
          <a:ln>
            <a:noFill/>
          </a:ln>
        </p:spPr>
        <p:style>
          <a:lnRef idx="0"/>
          <a:fillRef idx="0"/>
          <a:effectRef idx="0"/>
          <a:fontRef idx="minor"/>
        </p:style>
      </p:sp>
      <p:pic>
        <p:nvPicPr>
          <p:cNvPr id="1146" name="Image 1" descr="preencoded.png"/>
          <p:cNvPicPr/>
          <p:nvPr/>
        </p:nvPicPr>
        <p:blipFill>
          <a:blip r:embed="rId2"/>
          <a:stretch/>
        </p:blipFill>
        <p:spPr>
          <a:xfrm>
            <a:off x="6597360" y="1965960"/>
            <a:ext cx="273600" cy="273600"/>
          </a:xfrm>
          <a:prstGeom prst="rect">
            <a:avLst/>
          </a:prstGeom>
          <a:ln>
            <a:noFill/>
          </a:ln>
        </p:spPr>
      </p:pic>
      <p:sp>
        <p:nvSpPr>
          <p:cNvPr id="1147"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Clustered Index</a:t>
            </a:r>
            <a:endParaRPr b="0" lang="es-ES" sz="1700" spc="-1" strike="noStrike">
              <a:latin typeface="Arial"/>
            </a:endParaRPr>
          </a:p>
        </p:txBody>
      </p:sp>
      <p:sp>
        <p:nvSpPr>
          <p:cNvPr id="1148" name="CustomShape 12"/>
          <p:cNvSpPr/>
          <p:nvPr/>
        </p:nvSpPr>
        <p:spPr>
          <a:xfrm>
            <a:off x="6460200" y="2560320"/>
            <a:ext cx="495072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La hoja del B-Tree contiene las filas, ordenadas por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Sólo uno por tabla (la PRIMARY KEY lo crea por defecto)</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Clave ideal: estrecha, única, estática y creciente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Sin Forwarded Records, pero con posibles Page Splits</a:t>
            </a:r>
            <a:endParaRPr b="0" lang="es-ES" sz="1400" spc="-1" strike="noStrike">
              <a:latin typeface="Arial"/>
            </a:endParaRPr>
          </a:p>
        </p:txBody>
      </p:sp>
      <p:sp>
        <p:nvSpPr>
          <p:cNvPr id="1149" name="CustomShape 13"/>
          <p:cNvSpPr/>
          <p:nvPr/>
        </p:nvSpPr>
        <p:spPr>
          <a:xfrm>
            <a:off x="548640" y="5029200"/>
            <a:ext cx="11090880" cy="1142280"/>
          </a:xfrm>
          <a:prstGeom prst="roundRect">
            <a:avLst>
              <a:gd name="adj" fmla="val 9600"/>
            </a:avLst>
          </a:prstGeom>
          <a:solidFill>
            <a:srgbClr val="e8eef5"/>
          </a:solidFill>
          <a:ln>
            <a:noFill/>
          </a:ln>
        </p:spPr>
        <p:style>
          <a:lnRef idx="0"/>
          <a:fillRef idx="0"/>
          <a:effectRef idx="0"/>
          <a:fontRef idx="minor"/>
        </p:style>
      </p:sp>
      <p:sp>
        <p:nvSpPr>
          <p:cNvPr id="1150" name="CustomShape 14"/>
          <p:cNvSpPr/>
          <p:nvPr/>
        </p:nvSpPr>
        <p:spPr>
          <a:xfrm>
            <a:off x="731520" y="5372280"/>
            <a:ext cx="456480" cy="456480"/>
          </a:xfrm>
          <a:prstGeom prst="ellipse">
            <a:avLst/>
          </a:prstGeom>
          <a:solidFill>
            <a:srgbClr val="134074"/>
          </a:solidFill>
          <a:ln>
            <a:noFill/>
          </a:ln>
        </p:spPr>
        <p:style>
          <a:lnRef idx="0"/>
          <a:fillRef idx="0"/>
          <a:effectRef idx="0"/>
          <a:fontRef idx="minor"/>
        </p:style>
      </p:sp>
      <p:pic>
        <p:nvPicPr>
          <p:cNvPr id="1151" name="Image 2" descr="preencoded.png"/>
          <p:cNvPicPr/>
          <p:nvPr/>
        </p:nvPicPr>
        <p:blipFill>
          <a:blip r:embed="rId3"/>
          <a:stretch/>
        </p:blipFill>
        <p:spPr>
          <a:xfrm>
            <a:off x="846000" y="5486400"/>
            <a:ext cx="227880" cy="227880"/>
          </a:xfrm>
          <a:prstGeom prst="rect">
            <a:avLst/>
          </a:prstGeom>
          <a:ln>
            <a:noFill/>
          </a:ln>
        </p:spPr>
      </p:pic>
      <p:sp>
        <p:nvSpPr>
          <p:cNvPr id="1152" name="CustomShape 15"/>
          <p:cNvSpPr/>
          <p:nvPr/>
        </p:nvSpPr>
        <p:spPr>
          <a:xfrm>
            <a:off x="1371600" y="502920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Regla práctica: </a:t>
            </a:r>
            <a:r>
              <a:rPr b="0" lang="en-US" sz="1500" spc="-1" strike="noStrike">
                <a:solidFill>
                  <a:srgbClr val="1f2933"/>
                </a:solidFill>
                <a:latin typeface="Calibri"/>
                <a:ea typeface="Calibri"/>
              </a:rPr>
              <a:t>en OLTP casi toda tabla debe tener un Clustered Index estrecho y creciente (por ejemplo INT IDENTITY). Cada columna de esa clave se copia en todos los índices no clustered.</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1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1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Estructura B-Tree de un índice</a:t>
            </a:r>
            <a:endParaRPr b="0" lang="es-ES" sz="3400" spc="-1" strike="noStrike">
              <a:latin typeface="Arial"/>
            </a:endParaRPr>
          </a:p>
        </p:txBody>
      </p:sp>
      <p:sp>
        <p:nvSpPr>
          <p:cNvPr id="11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1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46</a:t>
            </a:r>
            <a:endParaRPr b="0" lang="es-ES" sz="1000" spc="-1" strike="noStrike">
              <a:latin typeface="Arial"/>
            </a:endParaRPr>
          </a:p>
        </p:txBody>
      </p:sp>
      <p:sp>
        <p:nvSpPr>
          <p:cNvPr id="1157" name="CustomShape 5"/>
          <p:cNvSpPr/>
          <p:nvPr/>
        </p:nvSpPr>
        <p:spPr>
          <a:xfrm>
            <a:off x="548640" y="210312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Raíz (Root)</a:t>
            </a:r>
            <a:endParaRPr b="0" lang="es-ES" sz="1200" spc="-1" strike="noStrike">
              <a:latin typeface="Arial"/>
            </a:endParaRPr>
          </a:p>
        </p:txBody>
      </p:sp>
      <p:sp>
        <p:nvSpPr>
          <p:cNvPr id="1158" name="CustomShape 6"/>
          <p:cNvSpPr/>
          <p:nvPr/>
        </p:nvSpPr>
        <p:spPr>
          <a:xfrm>
            <a:off x="548640" y="3291840"/>
            <a:ext cx="123372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intermedio</a:t>
            </a:r>
            <a:endParaRPr b="0" lang="es-ES" sz="1200" spc="-1" strike="noStrike">
              <a:latin typeface="Arial"/>
            </a:endParaRPr>
          </a:p>
        </p:txBody>
      </p:sp>
      <p:sp>
        <p:nvSpPr>
          <p:cNvPr id="1159" name="CustomShape 7"/>
          <p:cNvSpPr/>
          <p:nvPr/>
        </p:nvSpPr>
        <p:spPr>
          <a:xfrm>
            <a:off x="548640" y="4480560"/>
            <a:ext cx="1233720" cy="8222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200" spc="-1" strike="noStrike">
                <a:solidFill>
                  <a:srgbClr val="5c6b7a"/>
                </a:solidFill>
                <a:latin typeface="Calibri"/>
                <a:ea typeface="Calibri"/>
              </a:rPr>
              <a:t>Nivel hoja (Leaf)</a:t>
            </a:r>
            <a:endParaRPr b="0" lang="es-ES" sz="1200" spc="-1" strike="noStrike">
              <a:latin typeface="Arial"/>
            </a:endParaRPr>
          </a:p>
        </p:txBody>
      </p:sp>
      <p:sp>
        <p:nvSpPr>
          <p:cNvPr id="1160" name="CustomShape 8"/>
          <p:cNvSpPr/>
          <p:nvPr/>
        </p:nvSpPr>
        <p:spPr>
          <a:xfrm>
            <a:off x="178308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Clustered Index</a:t>
            </a:r>
            <a:endParaRPr b="0" lang="es-ES" sz="1500" spc="-1" strike="noStrike">
              <a:latin typeface="Arial"/>
            </a:endParaRPr>
          </a:p>
        </p:txBody>
      </p:sp>
      <p:sp>
        <p:nvSpPr>
          <p:cNvPr id="1161" name="CustomShape 9"/>
          <p:cNvSpPr/>
          <p:nvPr/>
        </p:nvSpPr>
        <p:spPr>
          <a:xfrm>
            <a:off x="3493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50 | 100</a:t>
            </a:r>
            <a:endParaRPr b="0" lang="es-ES" sz="1300" spc="-1" strike="noStrike">
              <a:latin typeface="Arial"/>
            </a:endParaRPr>
          </a:p>
        </p:txBody>
      </p:sp>
      <p:sp>
        <p:nvSpPr>
          <p:cNvPr id="1162" name="CustomShape 10"/>
          <p:cNvSpPr/>
          <p:nvPr/>
        </p:nvSpPr>
        <p:spPr>
          <a:xfrm>
            <a:off x="178308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10 | 30</a:t>
            </a:r>
            <a:endParaRPr b="0" lang="es-ES" sz="1300" spc="-1" strike="noStrike">
              <a:latin typeface="Arial"/>
            </a:endParaRPr>
          </a:p>
        </p:txBody>
      </p:sp>
      <p:sp>
        <p:nvSpPr>
          <p:cNvPr id="1163" name="Line 11"/>
          <p:cNvSpPr/>
          <p:nvPr/>
        </p:nvSpPr>
        <p:spPr>
          <a:xfrm flipH="1">
            <a:off x="2468880" y="2560320"/>
            <a:ext cx="1663920" cy="731520"/>
          </a:xfrm>
          <a:prstGeom prst="line">
            <a:avLst/>
          </a:prstGeom>
          <a:ln w="15840">
            <a:solidFill>
              <a:srgbClr val="5c6b7a"/>
            </a:solidFill>
            <a:round/>
          </a:ln>
        </p:spPr>
        <p:style>
          <a:lnRef idx="0"/>
          <a:fillRef idx="0"/>
          <a:effectRef idx="0"/>
          <a:fontRef idx="minor"/>
        </p:style>
      </p:sp>
      <p:sp>
        <p:nvSpPr>
          <p:cNvPr id="1164" name="CustomShape 12"/>
          <p:cNvSpPr/>
          <p:nvPr/>
        </p:nvSpPr>
        <p:spPr>
          <a:xfrm>
            <a:off x="3447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60 | 80</a:t>
            </a:r>
            <a:endParaRPr b="0" lang="es-ES" sz="1300" spc="-1" strike="noStrike">
              <a:latin typeface="Arial"/>
            </a:endParaRPr>
          </a:p>
        </p:txBody>
      </p:sp>
      <p:sp>
        <p:nvSpPr>
          <p:cNvPr id="1165" name="Line 13"/>
          <p:cNvSpPr/>
          <p:nvPr/>
        </p:nvSpPr>
        <p:spPr>
          <a:xfrm>
            <a:off x="4132800" y="2560320"/>
            <a:ext cx="0" cy="731520"/>
          </a:xfrm>
          <a:prstGeom prst="line">
            <a:avLst/>
          </a:prstGeom>
          <a:ln w="15840">
            <a:solidFill>
              <a:srgbClr val="5c6b7a"/>
            </a:solidFill>
            <a:round/>
          </a:ln>
        </p:spPr>
        <p:style>
          <a:lnRef idx="0"/>
          <a:fillRef idx="0"/>
          <a:effectRef idx="0"/>
          <a:fontRef idx="minor"/>
        </p:style>
      </p:sp>
      <p:sp>
        <p:nvSpPr>
          <p:cNvPr id="1166" name="CustomShape 14"/>
          <p:cNvSpPr/>
          <p:nvPr/>
        </p:nvSpPr>
        <p:spPr>
          <a:xfrm>
            <a:off x="5111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110 | 130</a:t>
            </a:r>
            <a:endParaRPr b="0" lang="es-ES" sz="1300" spc="-1" strike="noStrike">
              <a:latin typeface="Arial"/>
            </a:endParaRPr>
          </a:p>
        </p:txBody>
      </p:sp>
      <p:sp>
        <p:nvSpPr>
          <p:cNvPr id="1167" name="Line 15"/>
          <p:cNvSpPr/>
          <p:nvPr/>
        </p:nvSpPr>
        <p:spPr>
          <a:xfrm>
            <a:off x="4132800" y="2560320"/>
            <a:ext cx="1664280" cy="731520"/>
          </a:xfrm>
          <a:prstGeom prst="line">
            <a:avLst/>
          </a:prstGeom>
          <a:ln w="15840">
            <a:solidFill>
              <a:srgbClr val="5c6b7a"/>
            </a:solidFill>
            <a:round/>
          </a:ln>
        </p:spPr>
        <p:style>
          <a:lnRef idx="0"/>
          <a:fillRef idx="0"/>
          <a:effectRef idx="0"/>
          <a:fontRef idx="minor"/>
        </p:style>
      </p:sp>
      <p:sp>
        <p:nvSpPr>
          <p:cNvPr id="1168" name="CustomShape 16"/>
          <p:cNvSpPr/>
          <p:nvPr/>
        </p:nvSpPr>
        <p:spPr>
          <a:xfrm>
            <a:off x="178308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1–9</a:t>
            </a:r>
            <a:endParaRPr b="0" lang="es-ES" sz="1200" spc="-1" strike="noStrike">
              <a:latin typeface="Arial"/>
            </a:endParaRPr>
          </a:p>
        </p:txBody>
      </p:sp>
      <p:sp>
        <p:nvSpPr>
          <p:cNvPr id="1169" name="Line 17"/>
          <p:cNvSpPr/>
          <p:nvPr/>
        </p:nvSpPr>
        <p:spPr>
          <a:xfrm flipH="1">
            <a:off x="2295000" y="3749040"/>
            <a:ext cx="173880" cy="731520"/>
          </a:xfrm>
          <a:prstGeom prst="line">
            <a:avLst/>
          </a:prstGeom>
          <a:ln w="15840">
            <a:solidFill>
              <a:srgbClr val="5c6b7a"/>
            </a:solidFill>
            <a:round/>
          </a:ln>
        </p:spPr>
        <p:style>
          <a:lnRef idx="0"/>
          <a:fillRef idx="0"/>
          <a:effectRef idx="0"/>
          <a:fontRef idx="minor"/>
        </p:style>
      </p:sp>
      <p:sp>
        <p:nvSpPr>
          <p:cNvPr id="1170" name="Line 18"/>
          <p:cNvSpPr/>
          <p:nvPr/>
        </p:nvSpPr>
        <p:spPr>
          <a:xfrm>
            <a:off x="280692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1" name="CustomShape 19"/>
          <p:cNvSpPr/>
          <p:nvPr/>
        </p:nvSpPr>
        <p:spPr>
          <a:xfrm>
            <a:off x="300852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10–49</a:t>
            </a:r>
            <a:endParaRPr b="0" lang="es-ES" sz="1200" spc="-1" strike="noStrike">
              <a:latin typeface="Arial"/>
            </a:endParaRPr>
          </a:p>
        </p:txBody>
      </p:sp>
      <p:sp>
        <p:nvSpPr>
          <p:cNvPr id="1172" name="Line 20"/>
          <p:cNvSpPr/>
          <p:nvPr/>
        </p:nvSpPr>
        <p:spPr>
          <a:xfrm>
            <a:off x="2468880" y="3749040"/>
            <a:ext cx="1051560" cy="731520"/>
          </a:xfrm>
          <a:prstGeom prst="line">
            <a:avLst/>
          </a:prstGeom>
          <a:ln w="15840">
            <a:solidFill>
              <a:srgbClr val="5c6b7a"/>
            </a:solidFill>
            <a:round/>
          </a:ln>
        </p:spPr>
        <p:style>
          <a:lnRef idx="0"/>
          <a:fillRef idx="0"/>
          <a:effectRef idx="0"/>
          <a:fontRef idx="minor"/>
        </p:style>
      </p:sp>
      <p:sp>
        <p:nvSpPr>
          <p:cNvPr id="1173" name="Line 21"/>
          <p:cNvSpPr/>
          <p:nvPr/>
        </p:nvSpPr>
        <p:spPr>
          <a:xfrm>
            <a:off x="403236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4" name="CustomShape 22"/>
          <p:cNvSpPr/>
          <p:nvPr/>
        </p:nvSpPr>
        <p:spPr>
          <a:xfrm>
            <a:off x="423360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50–99</a:t>
            </a:r>
            <a:endParaRPr b="0" lang="es-ES" sz="1200" spc="-1" strike="noStrike">
              <a:latin typeface="Arial"/>
            </a:endParaRPr>
          </a:p>
        </p:txBody>
      </p:sp>
      <p:sp>
        <p:nvSpPr>
          <p:cNvPr id="1175" name="Line 23"/>
          <p:cNvSpPr/>
          <p:nvPr/>
        </p:nvSpPr>
        <p:spPr>
          <a:xfrm>
            <a:off x="4132800" y="3749040"/>
            <a:ext cx="612720" cy="731520"/>
          </a:xfrm>
          <a:prstGeom prst="line">
            <a:avLst/>
          </a:prstGeom>
          <a:ln w="15840">
            <a:solidFill>
              <a:srgbClr val="5c6b7a"/>
            </a:solidFill>
            <a:round/>
          </a:ln>
        </p:spPr>
        <p:style>
          <a:lnRef idx="0"/>
          <a:fillRef idx="0"/>
          <a:effectRef idx="0"/>
          <a:fontRef idx="minor"/>
        </p:style>
      </p:sp>
      <p:sp>
        <p:nvSpPr>
          <p:cNvPr id="1176" name="Line 24"/>
          <p:cNvSpPr/>
          <p:nvPr/>
        </p:nvSpPr>
        <p:spPr>
          <a:xfrm>
            <a:off x="525780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77" name="CustomShape 25"/>
          <p:cNvSpPr/>
          <p:nvPr/>
        </p:nvSpPr>
        <p:spPr>
          <a:xfrm>
            <a:off x="5459040" y="4480560"/>
            <a:ext cx="1023480" cy="82224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Filas</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100+</a:t>
            </a:r>
            <a:endParaRPr b="0" lang="es-ES" sz="1200" spc="-1" strike="noStrike">
              <a:latin typeface="Arial"/>
            </a:endParaRPr>
          </a:p>
        </p:txBody>
      </p:sp>
      <p:sp>
        <p:nvSpPr>
          <p:cNvPr id="1178" name="Line 26"/>
          <p:cNvSpPr/>
          <p:nvPr/>
        </p:nvSpPr>
        <p:spPr>
          <a:xfrm>
            <a:off x="5797080" y="3749040"/>
            <a:ext cx="173880" cy="731520"/>
          </a:xfrm>
          <a:prstGeom prst="line">
            <a:avLst/>
          </a:prstGeom>
          <a:ln w="15840">
            <a:solidFill>
              <a:srgbClr val="5c6b7a"/>
            </a:solidFill>
            <a:round/>
          </a:ln>
        </p:spPr>
        <p:style>
          <a:lnRef idx="0"/>
          <a:fillRef idx="0"/>
          <a:effectRef idx="0"/>
          <a:fontRef idx="minor"/>
        </p:style>
      </p:sp>
      <p:sp>
        <p:nvSpPr>
          <p:cNvPr id="1179" name="CustomShape 27"/>
          <p:cNvSpPr/>
          <p:nvPr/>
        </p:nvSpPr>
        <p:spPr>
          <a:xfrm>
            <a:off x="6940440" y="1600200"/>
            <a:ext cx="469944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500" spc="-1" strike="noStrike">
                <a:solidFill>
                  <a:srgbClr val="0b2545"/>
                </a:solidFill>
                <a:latin typeface="Calibri"/>
                <a:ea typeface="Calibri"/>
              </a:rPr>
              <a:t>Non-Clustered Index</a:t>
            </a:r>
            <a:endParaRPr b="0" lang="es-ES" sz="1500" spc="-1" strike="noStrike">
              <a:latin typeface="Arial"/>
            </a:endParaRPr>
          </a:p>
        </p:txBody>
      </p:sp>
      <p:sp>
        <p:nvSpPr>
          <p:cNvPr id="1180" name="CustomShape 28"/>
          <p:cNvSpPr/>
          <p:nvPr/>
        </p:nvSpPr>
        <p:spPr>
          <a:xfrm>
            <a:off x="8650080" y="2103120"/>
            <a:ext cx="127944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T</a:t>
            </a:r>
            <a:endParaRPr b="0" lang="es-ES" sz="1300" spc="-1" strike="noStrike">
              <a:latin typeface="Arial"/>
            </a:endParaRPr>
          </a:p>
        </p:txBody>
      </p:sp>
      <p:sp>
        <p:nvSpPr>
          <p:cNvPr id="1181" name="CustomShape 29"/>
          <p:cNvSpPr/>
          <p:nvPr/>
        </p:nvSpPr>
        <p:spPr>
          <a:xfrm>
            <a:off x="69404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A | F</a:t>
            </a:r>
            <a:endParaRPr b="0" lang="es-ES" sz="1300" spc="-1" strike="noStrike">
              <a:latin typeface="Arial"/>
            </a:endParaRPr>
          </a:p>
        </p:txBody>
      </p:sp>
      <p:sp>
        <p:nvSpPr>
          <p:cNvPr id="1182" name="Line 30"/>
          <p:cNvSpPr/>
          <p:nvPr/>
        </p:nvSpPr>
        <p:spPr>
          <a:xfrm flipH="1">
            <a:off x="7625880" y="2560320"/>
            <a:ext cx="1664280" cy="731520"/>
          </a:xfrm>
          <a:prstGeom prst="line">
            <a:avLst/>
          </a:prstGeom>
          <a:ln w="15840">
            <a:solidFill>
              <a:srgbClr val="5c6b7a"/>
            </a:solidFill>
            <a:round/>
          </a:ln>
        </p:spPr>
        <p:style>
          <a:lnRef idx="0"/>
          <a:fillRef idx="0"/>
          <a:effectRef idx="0"/>
          <a:fontRef idx="minor"/>
        </p:style>
      </p:sp>
      <p:sp>
        <p:nvSpPr>
          <p:cNvPr id="1183" name="CustomShape 31"/>
          <p:cNvSpPr/>
          <p:nvPr/>
        </p:nvSpPr>
        <p:spPr>
          <a:xfrm>
            <a:off x="860436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 | P</a:t>
            </a:r>
            <a:endParaRPr b="0" lang="es-ES" sz="1300" spc="-1" strike="noStrike">
              <a:latin typeface="Arial"/>
            </a:endParaRPr>
          </a:p>
        </p:txBody>
      </p:sp>
      <p:sp>
        <p:nvSpPr>
          <p:cNvPr id="1184" name="Line 32"/>
          <p:cNvSpPr/>
          <p:nvPr/>
        </p:nvSpPr>
        <p:spPr>
          <a:xfrm>
            <a:off x="9290160" y="2560320"/>
            <a:ext cx="0" cy="731520"/>
          </a:xfrm>
          <a:prstGeom prst="line">
            <a:avLst/>
          </a:prstGeom>
          <a:ln w="15840">
            <a:solidFill>
              <a:srgbClr val="5c6b7a"/>
            </a:solidFill>
            <a:round/>
          </a:ln>
        </p:spPr>
        <p:style>
          <a:lnRef idx="0"/>
          <a:fillRef idx="0"/>
          <a:effectRef idx="0"/>
          <a:fontRef idx="minor"/>
        </p:style>
      </p:sp>
      <p:sp>
        <p:nvSpPr>
          <p:cNvPr id="1185" name="CustomShape 33"/>
          <p:cNvSpPr/>
          <p:nvPr/>
        </p:nvSpPr>
        <p:spPr>
          <a:xfrm>
            <a:off x="10268640" y="3291840"/>
            <a:ext cx="1370880" cy="456480"/>
          </a:xfrm>
          <a:prstGeom prst="roundRect">
            <a:avLst>
              <a:gd name="adj" fmla="val 16000"/>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T | W</a:t>
            </a:r>
            <a:endParaRPr b="0" lang="es-ES" sz="1300" spc="-1" strike="noStrike">
              <a:latin typeface="Arial"/>
            </a:endParaRPr>
          </a:p>
        </p:txBody>
      </p:sp>
      <p:sp>
        <p:nvSpPr>
          <p:cNvPr id="1186" name="Line 34"/>
          <p:cNvSpPr/>
          <p:nvPr/>
        </p:nvSpPr>
        <p:spPr>
          <a:xfrm>
            <a:off x="9290160" y="2560320"/>
            <a:ext cx="1664280" cy="731520"/>
          </a:xfrm>
          <a:prstGeom prst="line">
            <a:avLst/>
          </a:prstGeom>
          <a:ln w="15840">
            <a:solidFill>
              <a:srgbClr val="5c6b7a"/>
            </a:solidFill>
            <a:round/>
          </a:ln>
        </p:spPr>
        <p:style>
          <a:lnRef idx="0"/>
          <a:fillRef idx="0"/>
          <a:effectRef idx="0"/>
          <a:fontRef idx="minor"/>
        </p:style>
      </p:sp>
      <p:sp>
        <p:nvSpPr>
          <p:cNvPr id="1187" name="CustomShape 35"/>
          <p:cNvSpPr/>
          <p:nvPr/>
        </p:nvSpPr>
        <p:spPr>
          <a:xfrm>
            <a:off x="69404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Alonso→17</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Bravo→42</a:t>
            </a:r>
            <a:endParaRPr b="0" lang="es-ES" sz="1200" spc="-1" strike="noStrike">
              <a:latin typeface="Arial"/>
            </a:endParaRPr>
          </a:p>
        </p:txBody>
      </p:sp>
      <p:sp>
        <p:nvSpPr>
          <p:cNvPr id="1188" name="Line 36"/>
          <p:cNvSpPr/>
          <p:nvPr/>
        </p:nvSpPr>
        <p:spPr>
          <a:xfrm flipH="1">
            <a:off x="7452360" y="3749040"/>
            <a:ext cx="173520" cy="731520"/>
          </a:xfrm>
          <a:prstGeom prst="line">
            <a:avLst/>
          </a:prstGeom>
          <a:ln w="15840">
            <a:solidFill>
              <a:srgbClr val="5c6b7a"/>
            </a:solidFill>
            <a:round/>
          </a:ln>
        </p:spPr>
        <p:style>
          <a:lnRef idx="0"/>
          <a:fillRef idx="0"/>
          <a:effectRef idx="0"/>
          <a:fontRef idx="minor"/>
        </p:style>
      </p:sp>
      <p:sp>
        <p:nvSpPr>
          <p:cNvPr id="1189" name="Line 37"/>
          <p:cNvSpPr/>
          <p:nvPr/>
        </p:nvSpPr>
        <p:spPr>
          <a:xfrm>
            <a:off x="796428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0" name="CustomShape 38"/>
          <p:cNvSpPr/>
          <p:nvPr/>
        </p:nvSpPr>
        <p:spPr>
          <a:xfrm>
            <a:off x="816552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Casas→8</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Díaz→61</a:t>
            </a:r>
            <a:endParaRPr b="0" lang="es-ES" sz="1200" spc="-1" strike="noStrike">
              <a:latin typeface="Arial"/>
            </a:endParaRPr>
          </a:p>
        </p:txBody>
      </p:sp>
      <p:sp>
        <p:nvSpPr>
          <p:cNvPr id="1191" name="Line 39"/>
          <p:cNvSpPr/>
          <p:nvPr/>
        </p:nvSpPr>
        <p:spPr>
          <a:xfrm>
            <a:off x="7625880" y="3749040"/>
            <a:ext cx="1051560" cy="731520"/>
          </a:xfrm>
          <a:prstGeom prst="line">
            <a:avLst/>
          </a:prstGeom>
          <a:ln w="15840">
            <a:solidFill>
              <a:srgbClr val="5c6b7a"/>
            </a:solidFill>
            <a:round/>
          </a:ln>
        </p:spPr>
        <p:style>
          <a:lnRef idx="0"/>
          <a:fillRef idx="0"/>
          <a:effectRef idx="0"/>
          <a:fontRef idx="minor"/>
        </p:style>
      </p:sp>
      <p:sp>
        <p:nvSpPr>
          <p:cNvPr id="1192" name="Line 40"/>
          <p:cNvSpPr/>
          <p:nvPr/>
        </p:nvSpPr>
        <p:spPr>
          <a:xfrm>
            <a:off x="9189720" y="4892040"/>
            <a:ext cx="20088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3" name="CustomShape 41"/>
          <p:cNvSpPr/>
          <p:nvPr/>
        </p:nvSpPr>
        <p:spPr>
          <a:xfrm>
            <a:off x="939096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Mora→23</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Núñez→5</a:t>
            </a:r>
            <a:endParaRPr b="0" lang="es-ES" sz="1200" spc="-1" strike="noStrike">
              <a:latin typeface="Arial"/>
            </a:endParaRPr>
          </a:p>
        </p:txBody>
      </p:sp>
      <p:sp>
        <p:nvSpPr>
          <p:cNvPr id="1194" name="Line 42"/>
          <p:cNvSpPr/>
          <p:nvPr/>
        </p:nvSpPr>
        <p:spPr>
          <a:xfrm>
            <a:off x="9290160" y="3749040"/>
            <a:ext cx="612720" cy="731520"/>
          </a:xfrm>
          <a:prstGeom prst="line">
            <a:avLst/>
          </a:prstGeom>
          <a:ln w="15840">
            <a:solidFill>
              <a:srgbClr val="5c6b7a"/>
            </a:solidFill>
            <a:round/>
          </a:ln>
        </p:spPr>
        <p:style>
          <a:lnRef idx="0"/>
          <a:fillRef idx="0"/>
          <a:effectRef idx="0"/>
          <a:fontRef idx="minor"/>
        </p:style>
      </p:sp>
      <p:sp>
        <p:nvSpPr>
          <p:cNvPr id="1195" name="Line 43"/>
          <p:cNvSpPr/>
          <p:nvPr/>
        </p:nvSpPr>
        <p:spPr>
          <a:xfrm>
            <a:off x="10414800" y="4892040"/>
            <a:ext cx="201240" cy="0"/>
          </a:xfrm>
          <a:prstGeom prst="line">
            <a:avLst/>
          </a:prstGeom>
          <a:ln w="19080">
            <a:solidFill>
              <a:srgbClr val="d95d39"/>
            </a:solidFill>
            <a:round/>
            <a:headEnd len="med" type="triangle" w="med"/>
            <a:tailEnd len="med" type="triangle" w="med"/>
          </a:ln>
        </p:spPr>
        <p:style>
          <a:lnRef idx="0"/>
          <a:fillRef idx="0"/>
          <a:effectRef idx="0"/>
          <a:fontRef idx="minor"/>
        </p:style>
      </p:sp>
      <p:sp>
        <p:nvSpPr>
          <p:cNvPr id="1196" name="CustomShape 44"/>
          <p:cNvSpPr/>
          <p:nvPr/>
        </p:nvSpPr>
        <p:spPr>
          <a:xfrm>
            <a:off x="10616040" y="4480560"/>
            <a:ext cx="1023480" cy="822240"/>
          </a:xfrm>
          <a:prstGeom prst="roundRect">
            <a:avLst>
              <a:gd name="adj" fmla="val 6667"/>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0" lang="en-US" sz="1200" spc="-1" strike="noStrike">
                <a:solidFill>
                  <a:srgbClr val="ffffff"/>
                </a:solidFill>
                <a:latin typeface="Calibri"/>
                <a:ea typeface="Calibri"/>
              </a:rPr>
              <a:t>Torres→90</a:t>
            </a:r>
            <a:endParaRPr b="0" lang="es-ES" sz="1200" spc="-1" strike="noStrike">
              <a:latin typeface="Arial"/>
            </a:endParaRPr>
          </a:p>
          <a:p>
            <a:pPr algn="ctr">
              <a:lnSpc>
                <a:spcPct val="100000"/>
              </a:lnSpc>
              <a:tabLst>
                <a:tab algn="l" pos="0"/>
              </a:tabLst>
            </a:pPr>
            <a:r>
              <a:rPr b="0" lang="en-US" sz="1200" spc="-1" strike="noStrike">
                <a:solidFill>
                  <a:srgbClr val="ffffff"/>
                </a:solidFill>
                <a:latin typeface="Calibri"/>
                <a:ea typeface="Calibri"/>
              </a:rPr>
              <a:t>Vega→33</a:t>
            </a:r>
            <a:endParaRPr b="0" lang="es-ES" sz="1200" spc="-1" strike="noStrike">
              <a:latin typeface="Arial"/>
            </a:endParaRPr>
          </a:p>
        </p:txBody>
      </p:sp>
      <p:sp>
        <p:nvSpPr>
          <p:cNvPr id="1197" name="Line 45"/>
          <p:cNvSpPr/>
          <p:nvPr/>
        </p:nvSpPr>
        <p:spPr>
          <a:xfrm>
            <a:off x="10954440" y="3749040"/>
            <a:ext cx="173520" cy="731520"/>
          </a:xfrm>
          <a:prstGeom prst="line">
            <a:avLst/>
          </a:prstGeom>
          <a:ln w="15840">
            <a:solidFill>
              <a:srgbClr val="5c6b7a"/>
            </a:solidFill>
            <a:round/>
          </a:ln>
        </p:spPr>
        <p:style>
          <a:lnRef idx="0"/>
          <a:fillRef idx="0"/>
          <a:effectRef idx="0"/>
          <a:fontRef idx="minor"/>
        </p:style>
      </p:sp>
      <p:sp>
        <p:nvSpPr>
          <p:cNvPr id="1198" name="CustomShape 46"/>
          <p:cNvSpPr/>
          <p:nvPr/>
        </p:nvSpPr>
        <p:spPr>
          <a:xfrm>
            <a:off x="178308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 páginas de datos (la tabla ES el índice). Hojas enlazadas en lista doble.</a:t>
            </a:r>
            <a:endParaRPr b="0" lang="es-ES" sz="1200" spc="-1" strike="noStrike">
              <a:latin typeface="Arial"/>
            </a:endParaRPr>
          </a:p>
        </p:txBody>
      </p:sp>
      <p:sp>
        <p:nvSpPr>
          <p:cNvPr id="1199" name="CustomShape 47"/>
          <p:cNvSpPr/>
          <p:nvPr/>
        </p:nvSpPr>
        <p:spPr>
          <a:xfrm>
            <a:off x="6940440" y="5440680"/>
            <a:ext cx="4699440" cy="50220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5c6b7a"/>
                </a:solidFill>
                <a:latin typeface="Calibri"/>
                <a:ea typeface="Calibri"/>
              </a:rPr>
              <a:t>La hoja guarda clave + puntero (clave clustered o RID) → Key Lookup.</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0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Non-Clustered, Key Lookup y covering</a:t>
            </a:r>
            <a:endParaRPr b="0" lang="es-ES" sz="3400" spc="-1" strike="noStrike">
              <a:latin typeface="Arial"/>
            </a:endParaRPr>
          </a:p>
        </p:txBody>
      </p:sp>
      <p:sp>
        <p:nvSpPr>
          <p:cNvPr id="12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47</a:t>
            </a:r>
            <a:endParaRPr b="0" lang="es-ES" sz="1000" spc="-1" strike="noStrike">
              <a:latin typeface="Arial"/>
            </a:endParaRPr>
          </a:p>
        </p:txBody>
      </p:sp>
      <p:sp>
        <p:nvSpPr>
          <p:cNvPr id="1204" name="CustomShape 5"/>
          <p:cNvSpPr/>
          <p:nvPr/>
        </p:nvSpPr>
        <p:spPr>
          <a:xfrm>
            <a:off x="548640" y="1600200"/>
            <a:ext cx="658296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2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ÍNDICES</a:t>
            </a:r>
            <a:endParaRPr b="0" lang="es-ES" sz="1000" spc="-1" strike="noStrike">
              <a:latin typeface="Arial"/>
            </a:endParaRPr>
          </a:p>
        </p:txBody>
      </p:sp>
      <p:sp>
        <p:nvSpPr>
          <p:cNvPr id="1206" name="CustomShape 7"/>
          <p:cNvSpPr/>
          <p:nvPr/>
        </p:nvSpPr>
        <p:spPr>
          <a:xfrm>
            <a:off x="731520" y="1965960"/>
            <a:ext cx="621720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Consulta frecuente</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FechaPedido,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-- 1) Sólo clave: Seek + Key Lookup por fila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-- 2) Covering: sin Key Lookup</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IX_Pedido_Cliente_Cov</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(ClienteId)</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INCLUDE</a:t>
            </a:r>
            <a:r>
              <a:rPr b="0" lang="en-US" sz="1300" spc="-1" strike="noStrike">
                <a:solidFill>
                  <a:srgbClr val="1f2933"/>
                </a:solidFill>
                <a:latin typeface="Consolas"/>
                <a:ea typeface="Consolas"/>
              </a:rPr>
              <a:t> (FechaPedido, Total);</a:t>
            </a:r>
            <a:endParaRPr b="0" lang="es-ES" sz="1300" spc="-1" strike="noStrike">
              <a:latin typeface="Arial"/>
            </a:endParaRPr>
          </a:p>
        </p:txBody>
      </p:sp>
      <p:sp>
        <p:nvSpPr>
          <p:cNvPr id="1207" name="CustomShape 8"/>
          <p:cNvSpPr/>
          <p:nvPr/>
        </p:nvSpPr>
        <p:spPr>
          <a:xfrm>
            <a:off x="7406640" y="1600200"/>
            <a:ext cx="4232880" cy="3611160"/>
          </a:xfrm>
          <a:prstGeom prst="roundRect">
            <a:avLst>
              <a:gd name="adj" fmla="val 303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08" name="CustomShape 9"/>
          <p:cNvSpPr/>
          <p:nvPr/>
        </p:nvSpPr>
        <p:spPr>
          <a:xfrm>
            <a:off x="7635240" y="182880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Qué ocurre por dentro</a:t>
            </a:r>
            <a:endParaRPr b="0" lang="es-ES" sz="1700" spc="-1" strike="noStrike">
              <a:latin typeface="Arial"/>
            </a:endParaRPr>
          </a:p>
        </p:txBody>
      </p:sp>
      <p:sp>
        <p:nvSpPr>
          <p:cNvPr id="1209" name="CustomShape 10"/>
          <p:cNvSpPr/>
          <p:nvPr/>
        </p:nvSpPr>
        <p:spPr>
          <a:xfrm>
            <a:off x="7635240" y="2197440"/>
            <a:ext cx="3775680" cy="278532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La hoja del NCI guarda clave + puntero a la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Key Lookup: 1 lectura aleatoria por fila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INCLUDE: columnas sólo en la hoja, sin ordenar</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Más índices = más coste en INSERT/UPDATE/DELETE</a:t>
            </a:r>
            <a:endParaRPr b="0" lang="es-ES" sz="1400" spc="-1" strike="noStrike">
              <a:latin typeface="Arial"/>
            </a:endParaRPr>
          </a:p>
        </p:txBody>
      </p:sp>
      <p:sp>
        <p:nvSpPr>
          <p:cNvPr id="1210" name="CustomShape 11"/>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211" name="CustomShape 12"/>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212" name="Image 0" descr="preencoded.png"/>
          <p:cNvPicPr/>
          <p:nvPr/>
        </p:nvPicPr>
        <p:blipFill>
          <a:blip r:embed="rId1"/>
          <a:stretch/>
        </p:blipFill>
        <p:spPr>
          <a:xfrm>
            <a:off x="846000" y="5715000"/>
            <a:ext cx="227880" cy="227880"/>
          </a:xfrm>
          <a:prstGeom prst="rect">
            <a:avLst/>
          </a:prstGeom>
          <a:ln>
            <a:noFill/>
          </a:ln>
        </p:spPr>
      </p:pic>
      <p:sp>
        <p:nvSpPr>
          <p:cNvPr id="1213" name="CustomShape 13"/>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Orden de la clave: </a:t>
            </a:r>
            <a:r>
              <a:rPr b="0" lang="en-US" sz="1400" spc="-1" strike="noStrike">
                <a:solidFill>
                  <a:srgbClr val="1f2933"/>
                </a:solidFill>
                <a:latin typeface="Calibri"/>
                <a:ea typeface="Calibri"/>
              </a:rPr>
              <a:t>igualdad primero, rango después, y columnas de lectura en INCLUDE.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1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ÍNDICES</a:t>
            </a:r>
            <a:endParaRPr b="0" lang="es-ES" sz="1000" spc="-1" strike="noStrike">
              <a:latin typeface="Arial"/>
            </a:endParaRPr>
          </a:p>
        </p:txBody>
      </p:sp>
      <p:sp>
        <p:nvSpPr>
          <p:cNvPr id="12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Filtered, columnstore y missing indexes</a:t>
            </a:r>
            <a:endParaRPr b="0" lang="es-ES" sz="3400" spc="-1" strike="noStrike">
              <a:latin typeface="Arial"/>
            </a:endParaRPr>
          </a:p>
        </p:txBody>
      </p:sp>
      <p:sp>
        <p:nvSpPr>
          <p:cNvPr id="12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48</a:t>
            </a:r>
            <a:endParaRPr b="0" lang="es-ES" sz="1000" spc="-1" strike="noStrike">
              <a:latin typeface="Arial"/>
            </a:endParaRPr>
          </a:p>
        </p:txBody>
      </p:sp>
      <p:sp>
        <p:nvSpPr>
          <p:cNvPr id="1218" name="CustomShape 5"/>
          <p:cNvSpPr/>
          <p:nvPr/>
        </p:nvSpPr>
        <p:spPr>
          <a:xfrm>
            <a:off x="548640" y="1600200"/>
            <a:ext cx="5394240" cy="2331000"/>
          </a:xfrm>
          <a:prstGeom prst="roundRect">
            <a:avLst>
              <a:gd name="adj" fmla="val 3922"/>
            </a:avLst>
          </a:prstGeom>
          <a:solidFill>
            <a:srgbClr val="eceff3"/>
          </a:solidFill>
          <a:ln w="9360">
            <a:solidFill>
              <a:srgbClr val="d0d7de"/>
            </a:solidFill>
            <a:round/>
          </a:ln>
        </p:spPr>
        <p:style>
          <a:lnRef idx="0"/>
          <a:fillRef idx="0"/>
          <a:effectRef idx="0"/>
          <a:fontRef idx="minor"/>
        </p:style>
      </p:sp>
      <p:sp>
        <p:nvSpPr>
          <p:cNvPr id="12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FILTERED Y COLUMNSTORE</a:t>
            </a:r>
            <a:endParaRPr b="0" lang="es-ES" sz="1000" spc="-1" strike="noStrike">
              <a:latin typeface="Arial"/>
            </a:endParaRPr>
          </a:p>
        </p:txBody>
      </p:sp>
      <p:sp>
        <p:nvSpPr>
          <p:cNvPr id="1220" name="CustomShape 7"/>
          <p:cNvSpPr/>
          <p:nvPr/>
        </p:nvSpPr>
        <p:spPr>
          <a:xfrm>
            <a:off x="731520" y="1965960"/>
            <a:ext cx="5028480" cy="18738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Filtered: sólo pedidos abiertos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IX_Pedido_Abierto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Estado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Columnstore (analítica / DW)</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COLUMNSTORE </a:t>
            </a:r>
            <a:r>
              <a:rPr b="1" lang="en-US" sz="1200" spc="-1" strike="noStrike">
                <a:solidFill>
                  <a:srgbClr val="1d4ed8"/>
                </a:solidFill>
                <a:latin typeface="Consolas"/>
                <a:ea typeface="Consolas"/>
              </a:rPr>
              <a:t>INDEX</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NCCI_Pedido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Total);</a:t>
            </a:r>
            <a:endParaRPr b="0" lang="es-ES" sz="1200" spc="-1" strike="noStrike">
              <a:latin typeface="Arial"/>
            </a:endParaRPr>
          </a:p>
        </p:txBody>
      </p:sp>
      <p:sp>
        <p:nvSpPr>
          <p:cNvPr id="1221" name="CustomShape 8"/>
          <p:cNvSpPr/>
          <p:nvPr/>
        </p:nvSpPr>
        <p:spPr>
          <a:xfrm>
            <a:off x="548640" y="4206240"/>
            <a:ext cx="5394240" cy="1965240"/>
          </a:xfrm>
          <a:prstGeom prst="roundRect">
            <a:avLst>
              <a:gd name="adj" fmla="val 558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22" name="CustomShape 9"/>
          <p:cNvSpPr/>
          <p:nvPr/>
        </p:nvSpPr>
        <p:spPr>
          <a:xfrm>
            <a:off x="777240" y="4434840"/>
            <a:ext cx="493704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Cuándo usar cada uno</a:t>
            </a:r>
            <a:endParaRPr b="0" lang="es-ES" sz="1700" spc="-1" strike="noStrike">
              <a:latin typeface="Arial"/>
            </a:endParaRPr>
          </a:p>
        </p:txBody>
      </p:sp>
      <p:sp>
        <p:nvSpPr>
          <p:cNvPr id="1223" name="CustomShape 10"/>
          <p:cNvSpPr/>
          <p:nvPr/>
        </p:nvSpPr>
        <p:spPr>
          <a:xfrm>
            <a:off x="777240" y="4803480"/>
            <a:ext cx="4937040" cy="113940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subconjuntos pequeños, predicado fijo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Columnstore: agregaciones sobre millones de filas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Filtered + parámetros: puede ignorarse sin RECOMPILE</a:t>
            </a:r>
            <a:endParaRPr b="0" lang="es-ES" sz="1400" spc="-1" strike="noStrike">
              <a:latin typeface="Arial"/>
            </a:endParaRPr>
          </a:p>
        </p:txBody>
      </p:sp>
      <p:sp>
        <p:nvSpPr>
          <p:cNvPr id="1224" name="CustomShape 11"/>
          <p:cNvSpPr/>
          <p:nvPr/>
        </p:nvSpPr>
        <p:spPr>
          <a:xfrm>
            <a:off x="6217920" y="1600200"/>
            <a:ext cx="542160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225" name="CustomShape 12"/>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MISSING INDEX DMVS</a:t>
            </a:r>
            <a:endParaRPr b="0" lang="es-ES" sz="1000" spc="-1" strike="noStrike">
              <a:latin typeface="Arial"/>
            </a:endParaRPr>
          </a:p>
        </p:txBody>
      </p:sp>
      <p:sp>
        <p:nvSpPr>
          <p:cNvPr id="1226" name="CustomShape 13"/>
          <p:cNvSpPr/>
          <p:nvPr/>
        </p:nvSpPr>
        <p:spPr>
          <a:xfrm>
            <a:off x="6400800" y="1965960"/>
            <a:ext cx="505584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d.statement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d.equality_columns, d.inequality_columns,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d.included_columns,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s.user_seeks, s.avg_user_impact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sys.dm_db_missing_index_details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g.index_handle = d.index_handle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sys.dm_db_missing_index_group_stats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s.group_handle = g.index_group_handle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s.user_seeks * s.avg_user_impact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27" name="CustomShape 14"/>
          <p:cNvSpPr/>
          <p:nvPr/>
        </p:nvSpPr>
        <p:spPr>
          <a:xfrm>
            <a:off x="6217920" y="4800600"/>
            <a:ext cx="5421600" cy="1370880"/>
          </a:xfrm>
          <a:prstGeom prst="roundRect">
            <a:avLst>
              <a:gd name="adj" fmla="val 8000"/>
            </a:avLst>
          </a:prstGeom>
          <a:solidFill>
            <a:srgbClr val="fdede8"/>
          </a:solidFill>
          <a:ln>
            <a:noFill/>
          </a:ln>
        </p:spPr>
        <p:style>
          <a:lnRef idx="0"/>
          <a:fillRef idx="0"/>
          <a:effectRef idx="0"/>
          <a:fontRef idx="minor"/>
        </p:style>
      </p:sp>
      <p:sp>
        <p:nvSpPr>
          <p:cNvPr id="1228" name="CustomShape 15"/>
          <p:cNvSpPr/>
          <p:nvPr/>
        </p:nvSpPr>
        <p:spPr>
          <a:xfrm>
            <a:off x="6400800" y="5257800"/>
            <a:ext cx="456480" cy="456480"/>
          </a:xfrm>
          <a:prstGeom prst="ellipse">
            <a:avLst/>
          </a:prstGeom>
          <a:solidFill>
            <a:srgbClr val="d95d39"/>
          </a:solidFill>
          <a:ln>
            <a:noFill/>
          </a:ln>
        </p:spPr>
        <p:style>
          <a:lnRef idx="0"/>
          <a:fillRef idx="0"/>
          <a:effectRef idx="0"/>
          <a:fontRef idx="minor"/>
        </p:style>
      </p:sp>
      <p:pic>
        <p:nvPicPr>
          <p:cNvPr id="1229" name="Image 0" descr="preencoded.png"/>
          <p:cNvPicPr/>
          <p:nvPr/>
        </p:nvPicPr>
        <p:blipFill>
          <a:blip r:embed="rId1"/>
          <a:stretch/>
        </p:blipFill>
        <p:spPr>
          <a:xfrm>
            <a:off x="6515280" y="5372280"/>
            <a:ext cx="227880" cy="227880"/>
          </a:xfrm>
          <a:prstGeom prst="rect">
            <a:avLst/>
          </a:prstGeom>
          <a:ln>
            <a:noFill/>
          </a:ln>
        </p:spPr>
      </p:pic>
      <p:sp>
        <p:nvSpPr>
          <p:cNvPr id="1230" name="CustomShape 16"/>
          <p:cNvSpPr/>
          <p:nvPr/>
        </p:nvSpPr>
        <p:spPr>
          <a:xfrm>
            <a:off x="7040880" y="4800600"/>
            <a:ext cx="4415760" cy="1370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Con cautela: </a:t>
            </a:r>
            <a:r>
              <a:rPr b="0" lang="en-US" sz="1400" spc="-1" strike="noStrike">
                <a:solidFill>
                  <a:srgbClr val="1f2933"/>
                </a:solidFill>
                <a:latin typeface="Calibri"/>
                <a:ea typeface="Calibri"/>
              </a:rPr>
              <a:t>son sugerencias, no órdenes. Pueden duplicar índices y se reinician con el servicio. Valídalas con el plan real.</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3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23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Fragmentación, Page Splits y fillfactor</a:t>
            </a:r>
            <a:endParaRPr b="0" lang="es-ES" sz="3400" spc="-1" strike="noStrike">
              <a:latin typeface="Arial"/>
            </a:endParaRPr>
          </a:p>
        </p:txBody>
      </p:sp>
      <p:sp>
        <p:nvSpPr>
          <p:cNvPr id="123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3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49</a:t>
            </a:r>
            <a:endParaRPr b="0" lang="es-ES" sz="1000" spc="-1" strike="noStrike">
              <a:latin typeface="Arial"/>
            </a:endParaRPr>
          </a:p>
        </p:txBody>
      </p:sp>
      <p:sp>
        <p:nvSpPr>
          <p:cNvPr id="1235" name="CustomShape 5"/>
          <p:cNvSpPr/>
          <p:nvPr/>
        </p:nvSpPr>
        <p:spPr>
          <a:xfrm>
            <a:off x="548640" y="1600200"/>
            <a:ext cx="65829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3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FRAGMENTACIÓN</a:t>
            </a:r>
            <a:endParaRPr b="0" lang="es-ES" sz="1000" spc="-1" strike="noStrike">
              <a:latin typeface="Arial"/>
            </a:endParaRPr>
          </a:p>
        </p:txBody>
      </p:sp>
      <p:sp>
        <p:nvSpPr>
          <p:cNvPr id="1237" name="CustomShape 7"/>
          <p:cNvSpPr/>
          <p:nvPr/>
        </p:nvSpPr>
        <p:spPr>
          <a:xfrm>
            <a:off x="731520" y="1965960"/>
            <a:ext cx="62172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Indice,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ips.page_count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ips.avg_fragmentation_in_percent &gt; </a:t>
            </a:r>
            <a:r>
              <a:rPr b="0" lang="en-US" sz="1200" spc="-1" strike="noStrike">
                <a:solidFill>
                  <a:srgbClr val="9a3412"/>
                </a:solidFill>
                <a:latin typeface="Consolas"/>
                <a:ea typeface="Consolas"/>
              </a:rPr>
              <a:t>5</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Frag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238" name="CustomShape 8"/>
          <p:cNvSpPr/>
          <p:nvPr/>
        </p:nvSpPr>
        <p:spPr>
          <a:xfrm>
            <a:off x="548640" y="4892040"/>
            <a:ext cx="6582960" cy="1279440"/>
          </a:xfrm>
          <a:prstGeom prst="roundRect">
            <a:avLst>
              <a:gd name="adj" fmla="val 7143"/>
            </a:avLst>
          </a:prstGeom>
          <a:solidFill>
            <a:srgbClr val="eceff3"/>
          </a:solidFill>
          <a:ln w="9360">
            <a:solidFill>
              <a:srgbClr val="d0d7de"/>
            </a:solidFill>
            <a:round/>
          </a:ln>
        </p:spPr>
        <p:style>
          <a:lnRef idx="0"/>
          <a:fillRef idx="0"/>
          <a:effectRef idx="0"/>
          <a:fontRef idx="minor"/>
        </p:style>
      </p:sp>
      <p:sp>
        <p:nvSpPr>
          <p:cNvPr id="1239" name="CustomShape 9"/>
          <p:cNvSpPr/>
          <p:nvPr/>
        </p:nvSpPr>
        <p:spPr>
          <a:xfrm>
            <a:off x="731520" y="498348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REORGANIZE / REBUILD</a:t>
            </a:r>
            <a:endParaRPr b="0" lang="es-ES" sz="1000" spc="-1" strike="noStrike">
              <a:latin typeface="Arial"/>
            </a:endParaRPr>
          </a:p>
        </p:txBody>
      </p:sp>
      <p:sp>
        <p:nvSpPr>
          <p:cNvPr id="1240" name="CustomShape 10"/>
          <p:cNvSpPr/>
          <p:nvPr/>
        </p:nvSpPr>
        <p:spPr>
          <a:xfrm>
            <a:off x="731520" y="5257800"/>
            <a:ext cx="6217200" cy="82224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IX_Pedido_Cliente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(FILLFACTOR = </a:t>
            </a:r>
            <a:r>
              <a:rPr b="0" lang="en-US" sz="1200" spc="-1" strike="noStrike">
                <a:solidFill>
                  <a:srgbClr val="9a3412"/>
                </a:solidFill>
                <a:latin typeface="Consolas"/>
                <a:ea typeface="Consolas"/>
              </a:rPr>
              <a:t>90</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241" name="Table 11"/>
          <p:cNvGraphicFramePr/>
          <p:nvPr/>
        </p:nvGraphicFramePr>
        <p:xfrm>
          <a:off x="7406640" y="1600200"/>
          <a:ext cx="4233240" cy="1584360"/>
        </p:xfrm>
        <a:graphic>
          <a:graphicData uri="http://schemas.openxmlformats.org/drawingml/2006/table">
            <a:tbl>
              <a:tblPr/>
              <a:tblGrid>
                <a:gridCol w="1840680"/>
                <a:gridCol w="2392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Fragmentación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Acción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&lt; 5 %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No hacer nada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5 –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REORGANIZE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&gt; 30 %</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REBUILD</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242" name="CustomShape 12"/>
          <p:cNvSpPr/>
          <p:nvPr/>
        </p:nvSpPr>
        <p:spPr>
          <a:xfrm>
            <a:off x="7406640" y="3794760"/>
            <a:ext cx="423288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43" name="CustomShape 13"/>
          <p:cNvSpPr/>
          <p:nvPr/>
        </p:nvSpPr>
        <p:spPr>
          <a:xfrm>
            <a:off x="7635240" y="4023360"/>
            <a:ext cx="377568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Page Split</a:t>
            </a:r>
            <a:endParaRPr b="0" lang="es-ES" sz="1700" spc="-1" strike="noStrike">
              <a:latin typeface="Arial"/>
            </a:endParaRPr>
          </a:p>
        </p:txBody>
      </p:sp>
      <p:sp>
        <p:nvSpPr>
          <p:cNvPr id="1244" name="CustomShape 14"/>
          <p:cNvSpPr/>
          <p:nvPr/>
        </p:nvSpPr>
        <p:spPr>
          <a:xfrm>
            <a:off x="7635240" y="4392000"/>
            <a:ext cx="3775680" cy="155088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Página llena + inserción en medio: se parte en dos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Deja páginas a medias y genera log extra</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Claves aleatorias (GUID) lo agravan</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4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OPTIMIZADOR</a:t>
            </a:r>
            <a:endParaRPr b="0" lang="es-ES" sz="1000" spc="-1" strike="noStrike">
              <a:latin typeface="Arial"/>
            </a:endParaRPr>
          </a:p>
        </p:txBody>
      </p:sp>
      <p:sp>
        <p:nvSpPr>
          <p:cNvPr id="124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Estadísticas y cardinality estimator</a:t>
            </a:r>
            <a:endParaRPr b="0" lang="es-ES" sz="3400" spc="-1" strike="noStrike">
              <a:latin typeface="Arial"/>
            </a:endParaRPr>
          </a:p>
        </p:txBody>
      </p:sp>
      <p:sp>
        <p:nvSpPr>
          <p:cNvPr id="124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4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50</a:t>
            </a:r>
            <a:endParaRPr b="0" lang="es-ES" sz="1000" spc="-1" strike="noStrike">
              <a:latin typeface="Arial"/>
            </a:endParaRPr>
          </a:p>
        </p:txBody>
      </p:sp>
      <p:sp>
        <p:nvSpPr>
          <p:cNvPr id="1249"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250"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INSPECCIONAR ESTADÍSTICAS</a:t>
            </a:r>
            <a:endParaRPr b="0" lang="es-ES" sz="1000" spc="-1" strike="noStrike">
              <a:latin typeface="Arial"/>
            </a:endParaRPr>
          </a:p>
        </p:txBody>
      </p:sp>
      <p:sp>
        <p:nvSpPr>
          <p:cNvPr id="1251"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300" spc="-1" strike="noStrike">
                <a:solidFill>
                  <a:srgbClr val="6b7280"/>
                </a:solidFill>
                <a:latin typeface="Consolas"/>
                <a:ea typeface="Consolas"/>
              </a:rPr>
              <a:t>-- Opciones a nivel de base de datos</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is_auto_create_stats_on,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is_auto_update_stats_on,</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1f2933"/>
                </a:solidFill>
                <a:latin typeface="Consolas"/>
                <a:ea typeface="Consolas"/>
              </a:rPr>
              <a:t>is_auto_update_stats_async_on</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sys.databases </a:t>
            </a: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name</a:t>
            </a:r>
            <a:r>
              <a:rPr b="0" lang="en-US" sz="1300" spc="-1" strike="noStrike">
                <a:solidFill>
                  <a:srgbClr val="1f2933"/>
                </a:solidFill>
                <a:latin typeface="Consolas"/>
                <a:ea typeface="Consolas"/>
              </a:rPr>
              <a:t> = </a:t>
            </a:r>
            <a:r>
              <a:rPr b="0" lang="en-US" sz="1300" spc="-1" strike="noStrike">
                <a:solidFill>
                  <a:srgbClr val="b4441f"/>
                </a:solidFill>
                <a:latin typeface="Consolas"/>
                <a:ea typeface="Consolas"/>
              </a:rPr>
              <a:t>N'Ventas'</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Encabezado, densidad e histograma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DBCC</a:t>
            </a:r>
            <a:r>
              <a:rPr b="0" lang="en-US" sz="1300" spc="-1" strike="noStrike">
                <a:solidFill>
                  <a:srgbClr val="1f2933"/>
                </a:solidFill>
                <a:latin typeface="Consolas"/>
                <a:ea typeface="Consolas"/>
              </a:rPr>
              <a:t> SHOW_STATISTICS (</a:t>
            </a:r>
            <a:r>
              <a:rPr b="0" lang="en-US" sz="1300" spc="-1" strike="noStrike">
                <a:solidFill>
                  <a:srgbClr val="b4441f"/>
                </a:solidFill>
                <a:latin typeface="Consolas"/>
                <a:ea typeface="Consolas"/>
              </a:rPr>
              <a:t>N'dbo.Pedido'</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0" lang="en-US" sz="1300" spc="-1" strike="noStrike">
                <a:solidFill>
                  <a:srgbClr val="b4441f"/>
                </a:solidFill>
                <a:latin typeface="Consolas"/>
                <a:ea typeface="Consolas"/>
              </a:rPr>
              <a:t>N'IX_Pedido_Cliente'</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Actualización manual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UPDATE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dbo.Pedido IX_Pedido_Cliente</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WITH</a:t>
            </a:r>
            <a:r>
              <a:rPr b="0" lang="en-US" sz="1300" spc="-1" strike="noStrike">
                <a:solidFill>
                  <a:srgbClr val="1f2933"/>
                </a:solidFill>
                <a:latin typeface="Consolas"/>
                <a:ea typeface="Consolas"/>
              </a:rPr>
              <a:t> FULLSCAN;</a:t>
            </a:r>
            <a:endParaRPr b="0" lang="es-ES" sz="1300" spc="-1" strike="noStrike">
              <a:latin typeface="Arial"/>
            </a:endParaRPr>
          </a:p>
        </p:txBody>
      </p:sp>
      <p:sp>
        <p:nvSpPr>
          <p:cNvPr id="1252" name="CustomShape 8"/>
          <p:cNvSpPr/>
          <p:nvPr/>
        </p:nvSpPr>
        <p:spPr>
          <a:xfrm>
            <a:off x="7132320" y="16002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3" name="CustomShape 9"/>
          <p:cNvSpPr/>
          <p:nvPr/>
        </p:nvSpPr>
        <p:spPr>
          <a:xfrm>
            <a:off x="7360920" y="18288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Auto-create / Auto-update</a:t>
            </a:r>
            <a:endParaRPr b="0" lang="es-ES" sz="1700" spc="-1" strike="noStrike">
              <a:latin typeface="Arial"/>
            </a:endParaRPr>
          </a:p>
        </p:txBody>
      </p:sp>
      <p:sp>
        <p:nvSpPr>
          <p:cNvPr id="1254" name="CustomShape 10"/>
          <p:cNvSpPr/>
          <p:nvPr/>
        </p:nvSpPr>
        <p:spPr>
          <a:xfrm>
            <a:off x="7360920" y="21974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Se refrescan tras muchos cambios: umbral dinámico √(1000·filas) con compat. 130+.</a:t>
            </a:r>
            <a:endParaRPr b="0" lang="es-ES" sz="1400" spc="-1" strike="noStrike">
              <a:latin typeface="Arial"/>
            </a:endParaRPr>
          </a:p>
        </p:txBody>
      </p:sp>
      <p:sp>
        <p:nvSpPr>
          <p:cNvPr id="1255" name="CustomShape 11"/>
          <p:cNvSpPr/>
          <p:nvPr/>
        </p:nvSpPr>
        <p:spPr>
          <a:xfrm>
            <a:off x="7132320" y="32004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6" name="CustomShape 12"/>
          <p:cNvSpPr/>
          <p:nvPr/>
        </p:nvSpPr>
        <p:spPr>
          <a:xfrm>
            <a:off x="7360920" y="34290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Histograma</a:t>
            </a:r>
            <a:endParaRPr b="0" lang="es-ES" sz="1700" spc="-1" strike="noStrike">
              <a:latin typeface="Arial"/>
            </a:endParaRPr>
          </a:p>
        </p:txBody>
      </p:sp>
      <p:sp>
        <p:nvSpPr>
          <p:cNvPr id="1257" name="CustomShape 13"/>
          <p:cNvSpPr/>
          <p:nvPr/>
        </p:nvSpPr>
        <p:spPr>
          <a:xfrm>
            <a:off x="7360920" y="37976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Hasta 200 pasos sobre la 1.ª columna de la clave: filas estimadas por valor.</a:t>
            </a:r>
            <a:endParaRPr b="0" lang="es-ES" sz="1400" spc="-1" strike="noStrike">
              <a:latin typeface="Arial"/>
            </a:endParaRPr>
          </a:p>
        </p:txBody>
      </p:sp>
      <p:sp>
        <p:nvSpPr>
          <p:cNvPr id="1258" name="CustomShape 14"/>
          <p:cNvSpPr/>
          <p:nvPr/>
        </p:nvSpPr>
        <p:spPr>
          <a:xfrm>
            <a:off x="7132320" y="4800600"/>
            <a:ext cx="45072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59" name="CustomShape 15"/>
          <p:cNvSpPr/>
          <p:nvPr/>
        </p:nvSpPr>
        <p:spPr>
          <a:xfrm>
            <a:off x="7360920" y="5029200"/>
            <a:ext cx="4050000" cy="2584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700" spc="-1" strike="noStrike">
                <a:solidFill>
                  <a:srgbClr val="0b2545"/>
                </a:solidFill>
                <a:latin typeface="Calibri"/>
                <a:ea typeface="Calibri"/>
              </a:rPr>
              <a:t>Cardinality Estimator</a:t>
            </a:r>
            <a:endParaRPr b="0" lang="es-ES" sz="1700" spc="-1" strike="noStrike">
              <a:latin typeface="Arial"/>
            </a:endParaRPr>
          </a:p>
        </p:txBody>
      </p:sp>
      <p:sp>
        <p:nvSpPr>
          <p:cNvPr id="1260" name="CustomShape 16"/>
          <p:cNvSpPr/>
          <p:nvPr/>
        </p:nvSpPr>
        <p:spPr>
          <a:xfrm>
            <a:off x="7360920" y="5397840"/>
            <a:ext cx="4050000" cy="5450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CE nuevo (compat. 120+) cambia estimaciones; compara con el Legacy CE.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61"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Planes: Scan, Seek y Key Lookup</a:t>
            </a:r>
            <a:endParaRPr b="0" lang="es-ES" sz="3400" spc="-1" strike="noStrike">
              <a:latin typeface="Arial"/>
            </a:endParaRPr>
          </a:p>
        </p:txBody>
      </p:sp>
      <p:sp>
        <p:nvSpPr>
          <p:cNvPr id="12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51</a:t>
            </a:r>
            <a:endParaRPr b="0" lang="es-ES" sz="1000" spc="-1" strike="noStrike">
              <a:latin typeface="Arial"/>
            </a:endParaRPr>
          </a:p>
        </p:txBody>
      </p:sp>
      <p:sp>
        <p:nvSpPr>
          <p:cNvPr id="1265" name="CustomShape 5"/>
          <p:cNvSpPr/>
          <p:nvPr/>
        </p:nvSpPr>
        <p:spPr>
          <a:xfrm>
            <a:off x="54864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66"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267" name="Image 0" descr="preencoded.png"/>
          <p:cNvPicPr/>
          <p:nvPr/>
        </p:nvPicPr>
        <p:blipFill>
          <a:blip r:embed="rId1"/>
          <a:stretch/>
        </p:blipFill>
        <p:spPr>
          <a:xfrm>
            <a:off x="914400" y="1965960"/>
            <a:ext cx="273600" cy="273600"/>
          </a:xfrm>
          <a:prstGeom prst="rect">
            <a:avLst/>
          </a:prstGeom>
          <a:ln>
            <a:noFill/>
          </a:ln>
        </p:spPr>
      </p:pic>
      <p:sp>
        <p:nvSpPr>
          <p:cNvPr id="1268"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Scan</a:t>
            </a:r>
            <a:endParaRPr b="0" lang="es-ES" sz="1700" spc="-1" strike="noStrike">
              <a:latin typeface="Arial"/>
            </a:endParaRPr>
          </a:p>
        </p:txBody>
      </p:sp>
      <p:sp>
        <p:nvSpPr>
          <p:cNvPr id="1269" name="CustomShape 8"/>
          <p:cNvSpPr/>
          <p:nvPr/>
        </p:nvSpPr>
        <p:spPr>
          <a:xfrm>
            <a:off x="77724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Lee todas las páginas del objeto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Coste proporcional al tamaño (E/S)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Correcto en tablas pequeñas o lecturas masivas</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Sospechoso: predicado no SARGable</a:t>
            </a:r>
            <a:endParaRPr b="0" lang="es-ES" sz="1400" spc="-1" strike="noStrike">
              <a:latin typeface="Arial"/>
            </a:endParaRPr>
          </a:p>
        </p:txBody>
      </p:sp>
      <p:sp>
        <p:nvSpPr>
          <p:cNvPr id="1270" name="CustomShape 9"/>
          <p:cNvSpPr/>
          <p:nvPr/>
        </p:nvSpPr>
        <p:spPr>
          <a:xfrm>
            <a:off x="4337280" y="1600200"/>
            <a:ext cx="3513600" cy="3153960"/>
          </a:xfrm>
          <a:prstGeom prst="roundRect">
            <a:avLst>
              <a:gd name="adj" fmla="val 3478"/>
            </a:avLst>
          </a:prstGeom>
          <a:solidFill>
            <a:srgbClr val="134074"/>
          </a:solidFill>
          <a:ln>
            <a:noFill/>
          </a:ln>
        </p:spPr>
        <p:style>
          <a:lnRef idx="0"/>
          <a:fillRef idx="0"/>
          <a:effectRef idx="0"/>
          <a:fontRef idx="minor"/>
        </p:style>
      </p:sp>
      <p:sp>
        <p:nvSpPr>
          <p:cNvPr id="1271" name="CustomShape 10"/>
          <p:cNvSpPr/>
          <p:nvPr/>
        </p:nvSpPr>
        <p:spPr>
          <a:xfrm>
            <a:off x="4565880" y="1828800"/>
            <a:ext cx="547920" cy="547920"/>
          </a:xfrm>
          <a:prstGeom prst="ellipse">
            <a:avLst/>
          </a:prstGeom>
          <a:solidFill>
            <a:srgbClr val="d95d39"/>
          </a:solidFill>
          <a:ln>
            <a:noFill/>
          </a:ln>
        </p:spPr>
        <p:style>
          <a:lnRef idx="0"/>
          <a:fillRef idx="0"/>
          <a:effectRef idx="0"/>
          <a:fontRef idx="minor"/>
        </p:style>
      </p:sp>
      <p:pic>
        <p:nvPicPr>
          <p:cNvPr id="1272" name="Image 1" descr="preencoded.png"/>
          <p:cNvPicPr/>
          <p:nvPr/>
        </p:nvPicPr>
        <p:blipFill>
          <a:blip r:embed="rId2"/>
          <a:stretch/>
        </p:blipFill>
        <p:spPr>
          <a:xfrm>
            <a:off x="4703040" y="1965960"/>
            <a:ext cx="273600" cy="273600"/>
          </a:xfrm>
          <a:prstGeom prst="rect">
            <a:avLst/>
          </a:prstGeom>
          <a:ln>
            <a:noFill/>
          </a:ln>
        </p:spPr>
      </p:pic>
      <p:sp>
        <p:nvSpPr>
          <p:cNvPr id="1273"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ffffff"/>
                </a:solidFill>
                <a:latin typeface="Calibri"/>
                <a:ea typeface="Calibri"/>
              </a:rPr>
              <a:t>Seek</a:t>
            </a:r>
            <a:endParaRPr b="0" lang="es-ES" sz="1700" spc="-1" strike="noStrike">
              <a:latin typeface="Arial"/>
            </a:endParaRPr>
          </a:p>
        </p:txBody>
      </p:sp>
      <p:sp>
        <p:nvSpPr>
          <p:cNvPr id="1274" name="CustomShape 12"/>
          <p:cNvSpPr/>
          <p:nvPr/>
        </p:nvSpPr>
        <p:spPr>
          <a:xfrm>
            <a:off x="456588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Navega el B-Tree hasta la clave</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Pocas lecturas lógicas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Ideal con predicados selectivos</a:t>
            </a:r>
            <a:endParaRPr b="0" lang="es-ES" sz="1400" spc="-1" strike="noStrike">
              <a:latin typeface="Arial"/>
            </a:endParaRPr>
          </a:p>
          <a:p>
            <a:pPr marL="203040" indent="-202320">
              <a:lnSpc>
                <a:spcPct val="100000"/>
              </a:lnSpc>
              <a:spcAft>
                <a:spcPts val="400"/>
              </a:spcAft>
              <a:buClr>
                <a:srgbClr val="e6eef8"/>
              </a:buClr>
              <a:buFont typeface="Symbol"/>
              <a:buChar char=""/>
            </a:pPr>
            <a:r>
              <a:rPr b="0" lang="en-US" sz="1400" spc="-1" strike="noStrike">
                <a:solidFill>
                  <a:srgbClr val="e6eef8"/>
                </a:solidFill>
                <a:latin typeface="Calibri"/>
                <a:ea typeface="Calibri"/>
              </a:rPr>
              <a:t>Ojo: devolver millones de filas no es barato</a:t>
            </a:r>
            <a:endParaRPr b="0" lang="es-ES" sz="1400" spc="-1" strike="noStrike">
              <a:latin typeface="Arial"/>
            </a:endParaRPr>
          </a:p>
        </p:txBody>
      </p:sp>
      <p:sp>
        <p:nvSpPr>
          <p:cNvPr id="1275" name="CustomShape 13"/>
          <p:cNvSpPr/>
          <p:nvPr/>
        </p:nvSpPr>
        <p:spPr>
          <a:xfrm>
            <a:off x="8125920" y="1600200"/>
            <a:ext cx="3513600" cy="3153960"/>
          </a:xfrm>
          <a:prstGeom prst="roundRect">
            <a:avLst>
              <a:gd name="adj" fmla="val 347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76"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277" name="Image 2" descr="preencoded.png"/>
          <p:cNvPicPr/>
          <p:nvPr/>
        </p:nvPicPr>
        <p:blipFill>
          <a:blip r:embed="rId3"/>
          <a:stretch/>
        </p:blipFill>
        <p:spPr>
          <a:xfrm>
            <a:off x="8491680" y="1965960"/>
            <a:ext cx="273600" cy="273600"/>
          </a:xfrm>
          <a:prstGeom prst="rect">
            <a:avLst/>
          </a:prstGeom>
          <a:ln>
            <a:noFill/>
          </a:ln>
        </p:spPr>
      </p:pic>
      <p:sp>
        <p:nvSpPr>
          <p:cNvPr id="1278"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Key Lookup</a:t>
            </a:r>
            <a:endParaRPr b="0" lang="es-ES" sz="1700" spc="-1" strike="noStrike">
              <a:latin typeface="Arial"/>
            </a:endParaRPr>
          </a:p>
        </p:txBody>
      </p:sp>
      <p:sp>
        <p:nvSpPr>
          <p:cNvPr id="1279" name="CustomShape 16"/>
          <p:cNvSpPr/>
          <p:nvPr/>
        </p:nvSpPr>
        <p:spPr>
          <a:xfrm>
            <a:off x="8354520" y="2560320"/>
            <a:ext cx="3056400" cy="19652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Un acceso al clustered por fila del NCI</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Lecturas aleatorias que se multiplican</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Plan típico: Nested Loops + Lookup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Solución: INCLUDE o reescribir la consulta</a:t>
            </a:r>
            <a:endParaRPr b="0" lang="es-ES" sz="1400" spc="-1" strike="noStrike">
              <a:latin typeface="Arial"/>
            </a:endParaRPr>
          </a:p>
        </p:txBody>
      </p:sp>
      <p:sp>
        <p:nvSpPr>
          <p:cNvPr id="1280" name="CustomShape 17"/>
          <p:cNvSpPr/>
          <p:nvPr/>
        </p:nvSpPr>
        <p:spPr>
          <a:xfrm>
            <a:off x="548640" y="4892040"/>
            <a:ext cx="11090880" cy="1233720"/>
          </a:xfrm>
          <a:prstGeom prst="roundRect">
            <a:avLst>
              <a:gd name="adj" fmla="val 8889"/>
            </a:avLst>
          </a:prstGeom>
          <a:solidFill>
            <a:srgbClr val="e8eef5"/>
          </a:solidFill>
          <a:ln>
            <a:noFill/>
          </a:ln>
        </p:spPr>
        <p:style>
          <a:lnRef idx="0"/>
          <a:fillRef idx="0"/>
          <a:effectRef idx="0"/>
          <a:fontRef idx="minor"/>
        </p:style>
      </p:sp>
      <p:sp>
        <p:nvSpPr>
          <p:cNvPr id="1281" name="CustomShape 18"/>
          <p:cNvSpPr/>
          <p:nvPr/>
        </p:nvSpPr>
        <p:spPr>
          <a:xfrm>
            <a:off x="731520" y="5280840"/>
            <a:ext cx="456480" cy="456480"/>
          </a:xfrm>
          <a:prstGeom prst="ellipse">
            <a:avLst/>
          </a:prstGeom>
          <a:solidFill>
            <a:srgbClr val="134074"/>
          </a:solidFill>
          <a:ln>
            <a:noFill/>
          </a:ln>
        </p:spPr>
        <p:style>
          <a:lnRef idx="0"/>
          <a:fillRef idx="0"/>
          <a:effectRef idx="0"/>
          <a:fontRef idx="minor"/>
        </p:style>
      </p:sp>
      <p:pic>
        <p:nvPicPr>
          <p:cNvPr id="1282" name="Image 3" descr="preencoded.png"/>
          <p:cNvPicPr/>
          <p:nvPr/>
        </p:nvPicPr>
        <p:blipFill>
          <a:blip r:embed="rId4"/>
          <a:stretch/>
        </p:blipFill>
        <p:spPr>
          <a:xfrm>
            <a:off x="846000" y="5394960"/>
            <a:ext cx="227880" cy="227880"/>
          </a:xfrm>
          <a:prstGeom prst="rect">
            <a:avLst/>
          </a:prstGeom>
          <a:ln>
            <a:noFill/>
          </a:ln>
        </p:spPr>
      </p:pic>
      <p:sp>
        <p:nvSpPr>
          <p:cNvPr id="1283" name="CustomShape 19"/>
          <p:cNvSpPr/>
          <p:nvPr/>
        </p:nvSpPr>
        <p:spPr>
          <a:xfrm>
            <a:off x="1371600" y="4892040"/>
            <a:ext cx="10085040" cy="1233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500" spc="-1" strike="noStrike">
                <a:solidFill>
                  <a:srgbClr val="0b2545"/>
                </a:solidFill>
                <a:latin typeface="Calibri"/>
                <a:ea typeface="Calibri"/>
              </a:rPr>
              <a:t>Un Scan no es siempre un problema: </a:t>
            </a:r>
            <a:r>
              <a:rPr b="0" lang="en-US" sz="1500" spc="-1" strike="noStrike">
                <a:solidFill>
                  <a:srgbClr val="1f2933"/>
                </a:solidFill>
                <a:latin typeface="Calibri"/>
                <a:ea typeface="Calibri"/>
              </a:rPr>
              <a:t>hay que cruzarlo con el nº de filas, el tamaño de la tabla y las lecturas lógicas reales antes de decidir crear un índice.</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284" name="CustomShape 1"/>
          <p:cNvSpPr/>
          <p:nvPr/>
        </p:nvSpPr>
        <p:spPr>
          <a:xfrm>
            <a:off x="548640" y="365760"/>
            <a:ext cx="21070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PLANES DE EJECUCIÓN</a:t>
            </a:r>
            <a:endParaRPr b="0" lang="es-ES" sz="1000" spc="-1" strike="noStrike">
              <a:latin typeface="Arial"/>
            </a:endParaRPr>
          </a:p>
        </p:txBody>
      </p:sp>
      <p:sp>
        <p:nvSpPr>
          <p:cNvPr id="128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Leer un plan: coste, warnings y estimados</a:t>
            </a:r>
            <a:endParaRPr b="0" lang="es-ES" sz="3400" spc="-1" strike="noStrike">
              <a:latin typeface="Arial"/>
            </a:endParaRPr>
          </a:p>
        </p:txBody>
      </p:sp>
      <p:sp>
        <p:nvSpPr>
          <p:cNvPr id="128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28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52</a:t>
            </a:r>
            <a:endParaRPr b="0" lang="es-ES" sz="1000" spc="-1" strike="noStrike">
              <a:latin typeface="Arial"/>
            </a:endParaRPr>
          </a:p>
        </p:txBody>
      </p:sp>
      <p:sp>
        <p:nvSpPr>
          <p:cNvPr id="1288" name="CustomShape 5"/>
          <p:cNvSpPr/>
          <p:nvPr/>
        </p:nvSpPr>
        <p:spPr>
          <a:xfrm>
            <a:off x="548640" y="1600200"/>
            <a:ext cx="603432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28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MEDIR E/S Y TIEMPO</a:t>
            </a:r>
            <a:endParaRPr b="0" lang="es-ES" sz="1000" spc="-1" strike="noStrike">
              <a:latin typeface="Arial"/>
            </a:endParaRPr>
          </a:p>
        </p:txBody>
      </p:sp>
      <p:sp>
        <p:nvSpPr>
          <p:cNvPr id="1290" name="CustomShape 7"/>
          <p:cNvSpPr/>
          <p:nvPr/>
        </p:nvSpPr>
        <p:spPr>
          <a:xfrm>
            <a:off x="731520" y="1965960"/>
            <a:ext cx="566856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a:t>
            </a:r>
            <a:r>
              <a:rPr b="0" lang="en-US" sz="1300" spc="-1" strike="noStrike">
                <a:solidFill>
                  <a:srgbClr val="7c3aed"/>
                </a:solidFill>
                <a:latin typeface="Consolas"/>
                <a:ea typeface="Consolas"/>
              </a:rPr>
              <a:t>TIME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ClienteId = </a:t>
            </a:r>
            <a:r>
              <a:rPr b="0" lang="en-US" sz="1300" spc="-1" strike="noStrike">
                <a:solidFill>
                  <a:srgbClr val="9a3412"/>
                </a:solidFill>
                <a:latin typeface="Consolas"/>
                <a:ea typeface="Consolas"/>
              </a:rPr>
              <a:t>4217</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Messages: Table 'Pedido'. Scan count 1,</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logical reads 3, physical reads 0</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CPU time = 0 ms, elapsed time = 1 ms</a:t>
            </a:r>
            <a:endParaRPr b="0" lang="es-ES" sz="1300" spc="-1" strike="noStrike">
              <a:latin typeface="Arial"/>
            </a:endParaRPr>
          </a:p>
        </p:txBody>
      </p:sp>
      <p:sp>
        <p:nvSpPr>
          <p:cNvPr id="1291" name="CustomShape 8"/>
          <p:cNvSpPr/>
          <p:nvPr/>
        </p:nvSpPr>
        <p:spPr>
          <a:xfrm>
            <a:off x="548640" y="4892040"/>
            <a:ext cx="6034320" cy="1279440"/>
          </a:xfrm>
          <a:prstGeom prst="roundRect">
            <a:avLst>
              <a:gd name="adj" fmla="val 8571"/>
            </a:avLst>
          </a:prstGeom>
          <a:solidFill>
            <a:srgbClr val="e8eef5"/>
          </a:solidFill>
          <a:ln>
            <a:noFill/>
          </a:ln>
        </p:spPr>
        <p:style>
          <a:lnRef idx="0"/>
          <a:fillRef idx="0"/>
          <a:effectRef idx="0"/>
          <a:fontRef idx="minor"/>
        </p:style>
      </p:sp>
      <p:sp>
        <p:nvSpPr>
          <p:cNvPr id="1292" name="CustomShape 9"/>
          <p:cNvSpPr/>
          <p:nvPr/>
        </p:nvSpPr>
        <p:spPr>
          <a:xfrm>
            <a:off x="731520" y="5303520"/>
            <a:ext cx="456480" cy="456480"/>
          </a:xfrm>
          <a:prstGeom prst="ellipse">
            <a:avLst/>
          </a:prstGeom>
          <a:solidFill>
            <a:srgbClr val="134074"/>
          </a:solidFill>
          <a:ln>
            <a:noFill/>
          </a:ln>
        </p:spPr>
        <p:style>
          <a:lnRef idx="0"/>
          <a:fillRef idx="0"/>
          <a:effectRef idx="0"/>
          <a:fontRef idx="minor"/>
        </p:style>
      </p:sp>
      <p:pic>
        <p:nvPicPr>
          <p:cNvPr id="1293" name="Image 0" descr="preencoded.png"/>
          <p:cNvPicPr/>
          <p:nvPr/>
        </p:nvPicPr>
        <p:blipFill>
          <a:blip r:embed="rId1"/>
          <a:stretch/>
        </p:blipFill>
        <p:spPr>
          <a:xfrm>
            <a:off x="846000" y="5418000"/>
            <a:ext cx="227880" cy="227880"/>
          </a:xfrm>
          <a:prstGeom prst="rect">
            <a:avLst/>
          </a:prstGeom>
          <a:ln>
            <a:noFill/>
          </a:ln>
        </p:spPr>
      </p:pic>
      <p:sp>
        <p:nvSpPr>
          <p:cNvPr id="1294" name="CustomShape 10"/>
          <p:cNvSpPr/>
          <p:nvPr/>
        </p:nvSpPr>
        <p:spPr>
          <a:xfrm>
            <a:off x="1371600" y="4892040"/>
            <a:ext cx="5028480" cy="12794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Métrica clave: </a:t>
            </a:r>
            <a:r>
              <a:rPr b="0" lang="en-US" sz="1400" spc="-1" strike="noStrike">
                <a:solidFill>
                  <a:srgbClr val="1f2933"/>
                </a:solidFill>
                <a:latin typeface="Calibri"/>
                <a:ea typeface="Calibri"/>
              </a:rPr>
              <a:t>las lecturas lógicas son estables; el tiempo varía con la caché y la carga.</a:t>
            </a:r>
            <a:endParaRPr b="0" lang="es-ES" sz="1400" spc="-1" strike="noStrike">
              <a:latin typeface="Arial"/>
            </a:endParaRPr>
          </a:p>
        </p:txBody>
      </p:sp>
      <p:sp>
        <p:nvSpPr>
          <p:cNvPr id="1295" name="CustomShape 11"/>
          <p:cNvSpPr/>
          <p:nvPr/>
        </p:nvSpPr>
        <p:spPr>
          <a:xfrm>
            <a:off x="6858000" y="1600200"/>
            <a:ext cx="4781520" cy="4571280"/>
          </a:xfrm>
          <a:prstGeom prst="roundRect">
            <a:avLst>
              <a:gd name="adj" fmla="val 24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296" name="CustomShape 12"/>
          <p:cNvSpPr/>
          <p:nvPr/>
        </p:nvSpPr>
        <p:spPr>
          <a:xfrm>
            <a:off x="7086600" y="1828800"/>
            <a:ext cx="547920" cy="547920"/>
          </a:xfrm>
          <a:prstGeom prst="ellipse">
            <a:avLst/>
          </a:prstGeom>
          <a:solidFill>
            <a:srgbClr val="134074"/>
          </a:solidFill>
          <a:ln>
            <a:noFill/>
          </a:ln>
        </p:spPr>
        <p:style>
          <a:lnRef idx="0"/>
          <a:fillRef idx="0"/>
          <a:effectRef idx="0"/>
          <a:fontRef idx="minor"/>
        </p:style>
      </p:sp>
      <p:pic>
        <p:nvPicPr>
          <p:cNvPr id="1297" name="Image 1" descr="preencoded.png"/>
          <p:cNvPicPr/>
          <p:nvPr/>
        </p:nvPicPr>
        <p:blipFill>
          <a:blip r:embed="rId2"/>
          <a:stretch/>
        </p:blipFill>
        <p:spPr>
          <a:xfrm>
            <a:off x="7223760" y="1965960"/>
            <a:ext cx="273600" cy="273600"/>
          </a:xfrm>
          <a:prstGeom prst="rect">
            <a:avLst/>
          </a:prstGeom>
          <a:ln>
            <a:noFill/>
          </a:ln>
        </p:spPr>
      </p:pic>
      <p:sp>
        <p:nvSpPr>
          <p:cNvPr id="1298" name="CustomShape 13"/>
          <p:cNvSpPr/>
          <p:nvPr/>
        </p:nvSpPr>
        <p:spPr>
          <a:xfrm>
            <a:off x="7772400" y="1828800"/>
            <a:ext cx="36385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Qué mirar en el plan</a:t>
            </a:r>
            <a:endParaRPr b="0" lang="es-ES" sz="1700" spc="-1" strike="noStrike">
              <a:latin typeface="Arial"/>
            </a:endParaRPr>
          </a:p>
        </p:txBody>
      </p:sp>
      <p:sp>
        <p:nvSpPr>
          <p:cNvPr id="1299" name="CustomShape 14"/>
          <p:cNvSpPr/>
          <p:nvPr/>
        </p:nvSpPr>
        <p:spPr>
          <a:xfrm>
            <a:off x="7086600" y="2560320"/>
            <a:ext cx="4324320" cy="3382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Estimated vs Actual: </a:t>
            </a:r>
            <a:r>
              <a:rPr b="0" lang="en-US" sz="1400" spc="-1" strike="noStrike">
                <a:solidFill>
                  <a:srgbClr val="1f2933"/>
                </a:solidFill>
                <a:latin typeface="Calibri"/>
                <a:ea typeface="Calibri"/>
              </a:rPr>
              <a:t>gran diferencia = estadísticas obsoletas o parameter sniffing</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Warnings: </a:t>
            </a:r>
            <a:r>
              <a:rPr b="0" lang="en-US" sz="1400" spc="-1" strike="noStrike">
                <a:solidFill>
                  <a:srgbClr val="1f2933"/>
                </a:solidFill>
                <a:latin typeface="Calibri"/>
                <a:ea typeface="Calibri"/>
              </a:rPr>
              <a:t>spill a tempdb, conversión implícita, falta de estadísticas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Coste %: </a:t>
            </a:r>
            <a:r>
              <a:rPr b="0" lang="en-US" sz="1400" spc="-1" strike="noStrike">
                <a:solidFill>
                  <a:srgbClr val="1f2933"/>
                </a:solidFill>
                <a:latin typeface="Calibri"/>
                <a:ea typeface="Calibri"/>
              </a:rPr>
              <a:t>estimación relativa, no tiempo real</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Query Store: </a:t>
            </a:r>
            <a:r>
              <a:rPr b="0" lang="en-US" sz="1400" spc="-1" strike="noStrike">
                <a:solidFill>
                  <a:srgbClr val="1f2933"/>
                </a:solidFill>
                <a:latin typeface="Calibri"/>
                <a:ea typeface="Calibri"/>
              </a:rPr>
              <a:t>planes e historial para detectar regresiones (2016+)</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00"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0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consultas costosas y sesiones activas</a:t>
            </a:r>
            <a:endParaRPr b="0" lang="es-ES" sz="3400" spc="-1" strike="noStrike">
              <a:latin typeface="Arial"/>
            </a:endParaRPr>
          </a:p>
        </p:txBody>
      </p:sp>
      <p:sp>
        <p:nvSpPr>
          <p:cNvPr id="130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0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53</a:t>
            </a:r>
            <a:endParaRPr b="0" lang="es-ES" sz="1000" spc="-1" strike="noStrike">
              <a:latin typeface="Arial"/>
            </a:endParaRPr>
          </a:p>
        </p:txBody>
      </p:sp>
      <p:sp>
        <p:nvSpPr>
          <p:cNvPr id="1304" name="CustomShape 5"/>
          <p:cNvSpPr/>
          <p:nvPr/>
        </p:nvSpPr>
        <p:spPr>
          <a:xfrm>
            <a:off x="54864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CONSULTAS POR CPU</a:t>
            </a:r>
            <a:endParaRPr b="0" lang="es-ES" sz="1000" spc="-1" strike="noStrike">
              <a:latin typeface="Arial"/>
            </a:endParaRPr>
          </a:p>
        </p:txBody>
      </p:sp>
      <p:sp>
        <p:nvSpPr>
          <p:cNvPr id="1306" name="CustomShape 7"/>
          <p:cNvSpPr/>
          <p:nvPr/>
        </p:nvSpPr>
        <p:spPr>
          <a:xfrm>
            <a:off x="73152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qs.execution_count,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qs.total_worker_time/qs.execution_count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cpu_us,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qs.total_logical_reads,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(st.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batch_text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sys.dm_exec_query_stats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qs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sys.dm_exec_sql_text(qs.sql_handle) st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Plan: sys.dm_exec_query_plan(qs.plan_handle)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qs.total_worker_time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07" name="CustomShape 8"/>
          <p:cNvSpPr/>
          <p:nvPr/>
        </p:nvSpPr>
        <p:spPr>
          <a:xfrm>
            <a:off x="6245280" y="1600200"/>
            <a:ext cx="5394240" cy="3245400"/>
          </a:xfrm>
          <a:prstGeom prst="roundRect">
            <a:avLst>
              <a:gd name="adj" fmla="val 2817"/>
            </a:avLst>
          </a:prstGeom>
          <a:solidFill>
            <a:srgbClr val="eceff3"/>
          </a:solidFill>
          <a:ln w="9360">
            <a:solidFill>
              <a:srgbClr val="d0d7de"/>
            </a:solidFill>
            <a:round/>
          </a:ln>
        </p:spPr>
        <p:style>
          <a:lnRef idx="0"/>
          <a:fillRef idx="0"/>
          <a:effectRef idx="0"/>
          <a:fontRef idx="minor"/>
        </p:style>
      </p:sp>
      <p:sp>
        <p:nvSpPr>
          <p:cNvPr id="1308" name="CustomShape 9"/>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PETICIONES ACTIVAS</a:t>
            </a:r>
            <a:endParaRPr b="0" lang="es-ES" sz="1000" spc="-1" strike="noStrike">
              <a:latin typeface="Arial"/>
            </a:endParaRPr>
          </a:p>
        </p:txBody>
      </p:sp>
      <p:sp>
        <p:nvSpPr>
          <p:cNvPr id="1309" name="CustomShape 10"/>
          <p:cNvSpPr/>
          <p:nvPr/>
        </p:nvSpPr>
        <p:spPr>
          <a:xfrm>
            <a:off x="6428160" y="1965960"/>
            <a:ext cx="5028480" cy="27882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r.status, r.command,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r.cpu_time, r.logical_reads,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DB_NAME(r.database_id)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LEFT</a:t>
            </a:r>
            <a:r>
              <a:rPr b="0" lang="en-US" sz="1200" spc="-1" strike="noStrike">
                <a:solidFill>
                  <a:srgbClr val="1f2933"/>
                </a:solidFill>
                <a:latin typeface="Consolas"/>
                <a:ea typeface="Consolas"/>
              </a:rPr>
              <a:t>(t.</a:t>
            </a:r>
            <a:r>
              <a:rPr b="0" lang="en-US" sz="1200" spc="-1" strike="noStrike">
                <a:solidFill>
                  <a:srgbClr val="7c3aed"/>
                </a:solidFill>
                <a:latin typeface="Consolas"/>
                <a:ea typeface="Consolas"/>
              </a:rPr>
              <a:t>text</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sql_text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r.session_id &lt;&gt; </a:t>
            </a:r>
            <a:r>
              <a:rPr b="0" lang="en-US" sz="1200" spc="-1" strike="noStrike">
                <a:solidFill>
                  <a:srgbClr val="0f766e"/>
                </a:solidFill>
                <a:latin typeface="Consolas"/>
                <a:ea typeface="Consolas"/>
              </a:rPr>
              <a:t>@@SPID</a:t>
            </a:r>
            <a:r>
              <a:rPr b="0" lang="en-US" sz="1200" spc="-1" strike="noStrike">
                <a:solidFill>
                  <a:srgbClr val="1f2933"/>
                </a:solidFill>
                <a:latin typeface="Consolas"/>
                <a:ea typeface="Consolas"/>
              </a:rPr>
              <a:t>;</a:t>
            </a:r>
            <a:endParaRPr b="0" lang="es-ES" sz="1200" spc="-1" strike="noStrike">
              <a:latin typeface="Arial"/>
            </a:endParaRPr>
          </a:p>
        </p:txBody>
      </p:sp>
      <p:sp>
        <p:nvSpPr>
          <p:cNvPr id="1310" name="CustomShape 11"/>
          <p:cNvSpPr/>
          <p:nvPr/>
        </p:nvSpPr>
        <p:spPr>
          <a:xfrm>
            <a:off x="548640" y="5120640"/>
            <a:ext cx="11090880" cy="1050840"/>
          </a:xfrm>
          <a:prstGeom prst="roundRect">
            <a:avLst>
              <a:gd name="adj" fmla="val 10435"/>
            </a:avLst>
          </a:prstGeom>
          <a:solidFill>
            <a:srgbClr val="fdede8"/>
          </a:solidFill>
          <a:ln>
            <a:noFill/>
          </a:ln>
        </p:spPr>
        <p:style>
          <a:lnRef idx="0"/>
          <a:fillRef idx="0"/>
          <a:effectRef idx="0"/>
          <a:fontRef idx="minor"/>
        </p:style>
      </p:sp>
      <p:sp>
        <p:nvSpPr>
          <p:cNvPr id="1311" name="CustomShape 12"/>
          <p:cNvSpPr/>
          <p:nvPr/>
        </p:nvSpPr>
        <p:spPr>
          <a:xfrm>
            <a:off x="731520" y="5418000"/>
            <a:ext cx="456480" cy="456480"/>
          </a:xfrm>
          <a:prstGeom prst="ellipse">
            <a:avLst/>
          </a:prstGeom>
          <a:solidFill>
            <a:srgbClr val="d95d39"/>
          </a:solidFill>
          <a:ln>
            <a:noFill/>
          </a:ln>
        </p:spPr>
        <p:style>
          <a:lnRef idx="0"/>
          <a:fillRef idx="0"/>
          <a:effectRef idx="0"/>
          <a:fontRef idx="minor"/>
        </p:style>
      </p:sp>
      <p:pic>
        <p:nvPicPr>
          <p:cNvPr id="1312" name="Image 0" descr="preencoded.png"/>
          <p:cNvPicPr/>
          <p:nvPr/>
        </p:nvPicPr>
        <p:blipFill>
          <a:blip r:embed="rId1"/>
          <a:stretch/>
        </p:blipFill>
        <p:spPr>
          <a:xfrm>
            <a:off x="846000" y="5532120"/>
            <a:ext cx="227880" cy="227880"/>
          </a:xfrm>
          <a:prstGeom prst="rect">
            <a:avLst/>
          </a:prstGeom>
          <a:ln>
            <a:noFill/>
          </a:ln>
        </p:spPr>
      </p:pic>
      <p:sp>
        <p:nvSpPr>
          <p:cNvPr id="1313" name="CustomShape 13"/>
          <p:cNvSpPr/>
          <p:nvPr/>
        </p:nvSpPr>
        <p:spPr>
          <a:xfrm>
            <a:off x="1371600" y="5120640"/>
            <a:ext cx="10085040" cy="105084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Datos volátiles: </a:t>
            </a:r>
            <a:r>
              <a:rPr b="0" lang="en-US" sz="1400" spc="-1" strike="noStrike">
                <a:solidFill>
                  <a:srgbClr val="1f2933"/>
                </a:solidFill>
                <a:latin typeface="Calibri"/>
                <a:ea typeface="Calibri"/>
              </a:rPr>
              <a:t>las DMVs acumulan desde el último reinicio y query_stats sólo ve planes en caché. Necesitas VIEW SERVER STATE (VIEW SERVER PERFORMANCE STATE en 2022).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14" name="CustomShape 1"/>
          <p:cNvSpPr/>
          <p:nvPr/>
        </p:nvSpPr>
        <p:spPr>
          <a:xfrm>
            <a:off x="548640" y="365760"/>
            <a:ext cx="167256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MONITORIZACIÓN</a:t>
            </a:r>
            <a:endParaRPr b="0" lang="es-ES" sz="1000" spc="-1" strike="noStrike">
              <a:latin typeface="Arial"/>
            </a:endParaRPr>
          </a:p>
        </p:txBody>
      </p:sp>
      <p:sp>
        <p:nvSpPr>
          <p:cNvPr id="131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DMVs: esperas y bloqueos</a:t>
            </a:r>
            <a:endParaRPr b="0" lang="es-ES" sz="3400" spc="-1" strike="noStrike">
              <a:latin typeface="Arial"/>
            </a:endParaRPr>
          </a:p>
        </p:txBody>
      </p:sp>
      <p:sp>
        <p:nvSpPr>
          <p:cNvPr id="131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1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54</a:t>
            </a:r>
            <a:endParaRPr b="0" lang="es-ES" sz="1000" spc="-1" strike="noStrike">
              <a:latin typeface="Arial"/>
            </a:endParaRPr>
          </a:p>
        </p:txBody>
      </p:sp>
      <p:sp>
        <p:nvSpPr>
          <p:cNvPr id="1318" name="CustomShape 5"/>
          <p:cNvSpPr/>
          <p:nvPr/>
        </p:nvSpPr>
        <p:spPr>
          <a:xfrm>
            <a:off x="548640" y="1600200"/>
            <a:ext cx="5394240" cy="3291120"/>
          </a:xfrm>
          <a:prstGeom prst="roundRect">
            <a:avLst>
              <a:gd name="adj" fmla="val 2778"/>
            </a:avLst>
          </a:prstGeom>
          <a:solidFill>
            <a:srgbClr val="eceff3"/>
          </a:solidFill>
          <a:ln w="9360">
            <a:solidFill>
              <a:srgbClr val="d0d7de"/>
            </a:solidFill>
            <a:round/>
          </a:ln>
        </p:spPr>
        <p:style>
          <a:lnRef idx="0"/>
          <a:fillRef idx="0"/>
          <a:effectRef idx="0"/>
          <a:fontRef idx="minor"/>
        </p:style>
      </p:sp>
      <p:sp>
        <p:nvSpPr>
          <p:cNvPr id="1319"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TOP WAITS ACUMULADOS</a:t>
            </a:r>
            <a:endParaRPr b="0" lang="es-ES" sz="1000" spc="-1" strike="noStrike">
              <a:latin typeface="Arial"/>
            </a:endParaRPr>
          </a:p>
        </p:txBody>
      </p:sp>
      <p:sp>
        <p:nvSpPr>
          <p:cNvPr id="1320" name="CustomShape 7"/>
          <p:cNvSpPr/>
          <p:nvPr/>
        </p:nvSpPr>
        <p:spPr>
          <a:xfrm>
            <a:off x="731520" y="1965960"/>
            <a:ext cx="5028480" cy="28339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waiting_tasks_count,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signal_wait_time_ms,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CAST(</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 wait_time_ms /</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SUM(wait_time_ms) </a:t>
            </a:r>
            <a:r>
              <a:rPr b="1" lang="en-US" sz="1200" spc="-1" strike="noStrike">
                <a:solidFill>
                  <a:srgbClr val="1d4ed8"/>
                </a:solidFill>
                <a:latin typeface="Consolas"/>
                <a:ea typeface="Consolas"/>
              </a:rPr>
              <a:t>OVER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DECIMAL</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a:t>
            </a:r>
            <a:r>
              <a:rPr b="0" lang="en-US" sz="1200" spc="-1" strike="noStrike">
                <a:solidFill>
                  <a:srgbClr val="9a3412"/>
                </a:solidFill>
                <a:latin typeface="Consolas"/>
                <a:ea typeface="Consolas"/>
              </a:rPr>
              <a:t>2</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pct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sys.dm_os_wait_stats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N'SLEEP%'</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NOT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N'LAZYWRITER_SLEEP'</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N'XE_TIMER_EVENT'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wait_time_ms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321" name="CustomShape 8"/>
          <p:cNvSpPr/>
          <p:nvPr/>
        </p:nvSpPr>
        <p:spPr>
          <a:xfrm>
            <a:off x="548640" y="5166360"/>
            <a:ext cx="5394240" cy="1005120"/>
          </a:xfrm>
          <a:prstGeom prst="roundRect">
            <a:avLst>
              <a:gd name="adj" fmla="val 10909"/>
            </a:avLst>
          </a:prstGeom>
          <a:solidFill>
            <a:srgbClr val="e8eef5"/>
          </a:solidFill>
          <a:ln>
            <a:noFill/>
          </a:ln>
        </p:spPr>
        <p:style>
          <a:lnRef idx="0"/>
          <a:fillRef idx="0"/>
          <a:effectRef idx="0"/>
          <a:fontRef idx="minor"/>
        </p:style>
      </p:sp>
      <p:sp>
        <p:nvSpPr>
          <p:cNvPr id="1322" name="CustomShape 9"/>
          <p:cNvSpPr/>
          <p:nvPr/>
        </p:nvSpPr>
        <p:spPr>
          <a:xfrm>
            <a:off x="731520" y="5440680"/>
            <a:ext cx="456480" cy="456480"/>
          </a:xfrm>
          <a:prstGeom prst="ellipse">
            <a:avLst/>
          </a:prstGeom>
          <a:solidFill>
            <a:srgbClr val="134074"/>
          </a:solidFill>
          <a:ln>
            <a:noFill/>
          </a:ln>
        </p:spPr>
        <p:style>
          <a:lnRef idx="0"/>
          <a:fillRef idx="0"/>
          <a:effectRef idx="0"/>
          <a:fontRef idx="minor"/>
        </p:style>
      </p:sp>
      <p:pic>
        <p:nvPicPr>
          <p:cNvPr id="1323" name="Image 0" descr="preencoded.png"/>
          <p:cNvPicPr/>
          <p:nvPr/>
        </p:nvPicPr>
        <p:blipFill>
          <a:blip r:embed="rId1"/>
          <a:stretch/>
        </p:blipFill>
        <p:spPr>
          <a:xfrm>
            <a:off x="846000" y="5555160"/>
            <a:ext cx="227880" cy="227880"/>
          </a:xfrm>
          <a:prstGeom prst="rect">
            <a:avLst/>
          </a:prstGeom>
          <a:ln>
            <a:noFill/>
          </a:ln>
        </p:spPr>
      </p:pic>
      <p:sp>
        <p:nvSpPr>
          <p:cNvPr id="1324" name="CustomShape 10"/>
          <p:cNvSpPr/>
          <p:nvPr/>
        </p:nvSpPr>
        <p:spPr>
          <a:xfrm>
            <a:off x="1371600" y="5166360"/>
            <a:ext cx="438840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Consejo: </a:t>
            </a:r>
            <a:r>
              <a:rPr b="0" lang="en-US" sz="1400" spc="-1" strike="noStrike">
                <a:solidFill>
                  <a:srgbClr val="1f2933"/>
                </a:solidFill>
                <a:latin typeface="Calibri"/>
                <a:ea typeface="Calibri"/>
              </a:rPr>
              <a:t>toma dos snapshots y calcula la diferencia.</a:t>
            </a:r>
            <a:endParaRPr b="0" lang="es-ES" sz="1400" spc="-1" strike="noStrike">
              <a:latin typeface="Arial"/>
            </a:endParaRPr>
          </a:p>
        </p:txBody>
      </p:sp>
      <p:sp>
        <p:nvSpPr>
          <p:cNvPr id="1325" name="CustomShape 11"/>
          <p:cNvSpPr/>
          <p:nvPr/>
        </p:nvSpPr>
        <p:spPr>
          <a:xfrm>
            <a:off x="6245280" y="1600200"/>
            <a:ext cx="5394240" cy="2285280"/>
          </a:xfrm>
          <a:prstGeom prst="roundRect">
            <a:avLst>
              <a:gd name="adj" fmla="val 4000"/>
            </a:avLst>
          </a:prstGeom>
          <a:solidFill>
            <a:srgbClr val="eceff3"/>
          </a:solidFill>
          <a:ln w="9360">
            <a:solidFill>
              <a:srgbClr val="d0d7de"/>
            </a:solidFill>
            <a:round/>
          </a:ln>
        </p:spPr>
        <p:style>
          <a:lnRef idx="0"/>
          <a:fillRef idx="0"/>
          <a:effectRef idx="0"/>
          <a:fontRef idx="minor"/>
        </p:style>
      </p:sp>
      <p:sp>
        <p:nvSpPr>
          <p:cNvPr id="1326" name="CustomShape 12"/>
          <p:cNvSpPr/>
          <p:nvPr/>
        </p:nvSpPr>
        <p:spPr>
          <a:xfrm>
            <a:off x="642816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TAREAS EN ESPERA AHORA</a:t>
            </a:r>
            <a:endParaRPr b="0" lang="es-ES" sz="1000" spc="-1" strike="noStrike">
              <a:latin typeface="Arial"/>
            </a:endParaRPr>
          </a:p>
        </p:txBody>
      </p:sp>
      <p:sp>
        <p:nvSpPr>
          <p:cNvPr id="1327" name="CustomShape 13"/>
          <p:cNvSpPr/>
          <p:nvPr/>
        </p:nvSpPr>
        <p:spPr>
          <a:xfrm>
            <a:off x="6428160" y="1965960"/>
            <a:ext cx="5028480" cy="1828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wt.session_id, wt.wait_type,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wt.wait_duration_ms,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wt.resource_description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wt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wt.session_id &gt; </a:t>
            </a:r>
            <a:r>
              <a:rPr b="0" lang="en-US" sz="1200" spc="-1" strike="noStrike">
                <a:solidFill>
                  <a:srgbClr val="9a3412"/>
                </a:solidFill>
                <a:latin typeface="Consolas"/>
                <a:ea typeface="Consolas"/>
              </a:rPr>
              <a:t>50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wt.wait_duration_ms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328" name="Table 14"/>
          <p:cNvGraphicFramePr/>
          <p:nvPr/>
        </p:nvGraphicFramePr>
        <p:xfrm>
          <a:off x="6245280" y="4160520"/>
          <a:ext cx="5394600" cy="1904400"/>
        </p:xfrm>
        <a:graphic>
          <a:graphicData uri="http://schemas.openxmlformats.org/drawingml/2006/table">
            <a:tbl>
              <a:tblPr/>
              <a:tblGrid>
                <a:gridCol w="2377440"/>
                <a:gridCol w="30175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Wait type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Suele indicar</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PAGEIOLATCH_*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Lecturas de disco lentas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LCK_M_*</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Bloqueos entre sesiones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SOS_SCHEDULER_YIELD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Presión de CPU</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WRITELOG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Latencia del disco de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2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3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RTO y RPO: tiempo y datos en juego</a:t>
            </a:r>
            <a:endParaRPr b="0" lang="es-ES" sz="3400" spc="-1" strike="noStrike">
              <a:latin typeface="Arial"/>
            </a:endParaRPr>
          </a:p>
        </p:txBody>
      </p:sp>
      <p:sp>
        <p:nvSpPr>
          <p:cNvPr id="133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3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55</a:t>
            </a:r>
            <a:endParaRPr b="0" lang="es-ES" sz="1000" spc="-1" strike="noStrike">
              <a:latin typeface="Arial"/>
            </a:endParaRPr>
          </a:p>
        </p:txBody>
      </p:sp>
      <p:sp>
        <p:nvSpPr>
          <p:cNvPr id="1333" name="Line 5"/>
          <p:cNvSpPr/>
          <p:nvPr/>
        </p:nvSpPr>
        <p:spPr>
          <a:xfrm>
            <a:off x="822960" y="2788920"/>
            <a:ext cx="10561320" cy="0"/>
          </a:xfrm>
          <a:prstGeom prst="line">
            <a:avLst/>
          </a:prstGeom>
          <a:ln w="25560">
            <a:solidFill>
              <a:srgbClr val="5c6b7a"/>
            </a:solidFill>
            <a:round/>
          </a:ln>
        </p:spPr>
        <p:style>
          <a:lnRef idx="0"/>
          <a:fillRef idx="0"/>
          <a:effectRef idx="0"/>
          <a:fontRef idx="minor"/>
        </p:style>
      </p:sp>
      <p:sp>
        <p:nvSpPr>
          <p:cNvPr id="1334" name="Line 6"/>
          <p:cNvSpPr/>
          <p:nvPr/>
        </p:nvSpPr>
        <p:spPr>
          <a:xfrm>
            <a:off x="2194560" y="2194560"/>
            <a:ext cx="3749040" cy="0"/>
          </a:xfrm>
          <a:prstGeom prst="line">
            <a:avLst/>
          </a:prstGeom>
          <a:ln w="31680">
            <a:solidFill>
              <a:srgbClr val="d95d39"/>
            </a:solidFill>
            <a:round/>
            <a:headEnd len="med" type="triangle" w="med"/>
            <a:tailEnd len="med" type="triangle" w="med"/>
          </a:ln>
        </p:spPr>
        <p:style>
          <a:lnRef idx="0"/>
          <a:fillRef idx="0"/>
          <a:effectRef idx="0"/>
          <a:fontRef idx="minor"/>
        </p:style>
      </p:sp>
      <p:sp>
        <p:nvSpPr>
          <p:cNvPr id="1335" name="Line 7"/>
          <p:cNvSpPr/>
          <p:nvPr/>
        </p:nvSpPr>
        <p:spPr>
          <a:xfrm>
            <a:off x="5943600" y="2194560"/>
            <a:ext cx="3749040" cy="0"/>
          </a:xfrm>
          <a:prstGeom prst="line">
            <a:avLst/>
          </a:prstGeom>
          <a:ln w="31680">
            <a:solidFill>
              <a:srgbClr val="134074"/>
            </a:solidFill>
            <a:round/>
            <a:headEnd len="med" type="triangle" w="med"/>
            <a:tailEnd len="med" type="triangle" w="med"/>
          </a:ln>
        </p:spPr>
        <p:style>
          <a:lnRef idx="0"/>
          <a:fillRef idx="0"/>
          <a:effectRef idx="0"/>
          <a:fontRef idx="minor"/>
        </p:style>
      </p:sp>
      <p:sp>
        <p:nvSpPr>
          <p:cNvPr id="1336" name="CustomShape 8"/>
          <p:cNvSpPr/>
          <p:nvPr/>
        </p:nvSpPr>
        <p:spPr>
          <a:xfrm>
            <a:off x="219456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d95d39"/>
                </a:solidFill>
                <a:latin typeface="Calibri"/>
                <a:ea typeface="Calibri"/>
              </a:rPr>
              <a:t>RPO: datos que puedes perder</a:t>
            </a:r>
            <a:endParaRPr b="0" lang="es-ES" sz="1600" spc="-1" strike="noStrike">
              <a:latin typeface="Arial"/>
            </a:endParaRPr>
          </a:p>
        </p:txBody>
      </p:sp>
      <p:sp>
        <p:nvSpPr>
          <p:cNvPr id="1337" name="CustomShape 9"/>
          <p:cNvSpPr/>
          <p:nvPr/>
        </p:nvSpPr>
        <p:spPr>
          <a:xfrm>
            <a:off x="5943600" y="1691640"/>
            <a:ext cx="3748320" cy="36504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600" spc="-1" strike="noStrike">
                <a:solidFill>
                  <a:srgbClr val="134074"/>
                </a:solidFill>
                <a:latin typeface="Calibri"/>
                <a:ea typeface="Calibri"/>
              </a:rPr>
              <a:t>RTO: tiempo hasta restablecer</a:t>
            </a:r>
            <a:endParaRPr b="0" lang="es-ES" sz="1600" spc="-1" strike="noStrike">
              <a:latin typeface="Arial"/>
            </a:endParaRPr>
          </a:p>
        </p:txBody>
      </p:sp>
      <p:sp>
        <p:nvSpPr>
          <p:cNvPr id="1338" name="CustomShape 10"/>
          <p:cNvSpPr/>
          <p:nvPr/>
        </p:nvSpPr>
        <p:spPr>
          <a:xfrm>
            <a:off x="2039040" y="2633400"/>
            <a:ext cx="310320" cy="310320"/>
          </a:xfrm>
          <a:prstGeom prst="ellipse">
            <a:avLst/>
          </a:prstGeom>
          <a:solidFill>
            <a:srgbClr val="134074"/>
          </a:solidFill>
          <a:ln>
            <a:noFill/>
          </a:ln>
        </p:spPr>
        <p:style>
          <a:lnRef idx="0"/>
          <a:fillRef idx="0"/>
          <a:effectRef idx="0"/>
          <a:fontRef idx="minor"/>
        </p:style>
      </p:sp>
      <p:sp>
        <p:nvSpPr>
          <p:cNvPr id="1339" name="CustomShape 11"/>
          <p:cNvSpPr/>
          <p:nvPr/>
        </p:nvSpPr>
        <p:spPr>
          <a:xfrm>
            <a:off x="73152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Último punto recuperable</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(commit replicado o backup)</a:t>
            </a:r>
            <a:endParaRPr b="0" lang="es-ES" sz="1400" spc="-1" strike="noStrike">
              <a:latin typeface="Arial"/>
            </a:endParaRPr>
          </a:p>
        </p:txBody>
      </p:sp>
      <p:sp>
        <p:nvSpPr>
          <p:cNvPr id="1340" name="CustomShape 12"/>
          <p:cNvSpPr/>
          <p:nvPr/>
        </p:nvSpPr>
        <p:spPr>
          <a:xfrm>
            <a:off x="5788080" y="2633400"/>
            <a:ext cx="310320" cy="310320"/>
          </a:xfrm>
          <a:prstGeom prst="ellipse">
            <a:avLst/>
          </a:prstGeom>
          <a:solidFill>
            <a:srgbClr val="d95d39"/>
          </a:solidFill>
          <a:ln>
            <a:noFill/>
          </a:ln>
        </p:spPr>
        <p:style>
          <a:lnRef idx="0"/>
          <a:fillRef idx="0"/>
          <a:effectRef idx="0"/>
          <a:fontRef idx="minor"/>
        </p:style>
      </p:sp>
      <p:sp>
        <p:nvSpPr>
          <p:cNvPr id="1341" name="CustomShape 13"/>
          <p:cNvSpPr/>
          <p:nvPr/>
        </p:nvSpPr>
        <p:spPr>
          <a:xfrm>
            <a:off x="448056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Fallo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(caída de nodo o sitio)</a:t>
            </a:r>
            <a:endParaRPr b="0" lang="es-ES" sz="1400" spc="-1" strike="noStrike">
              <a:latin typeface="Arial"/>
            </a:endParaRPr>
          </a:p>
        </p:txBody>
      </p:sp>
      <p:sp>
        <p:nvSpPr>
          <p:cNvPr id="1342" name="CustomShape 14"/>
          <p:cNvSpPr/>
          <p:nvPr/>
        </p:nvSpPr>
        <p:spPr>
          <a:xfrm>
            <a:off x="9537120" y="2633400"/>
            <a:ext cx="310320" cy="310320"/>
          </a:xfrm>
          <a:prstGeom prst="ellipse">
            <a:avLst/>
          </a:prstGeom>
          <a:solidFill>
            <a:srgbClr val="134074"/>
          </a:solidFill>
          <a:ln>
            <a:noFill/>
          </a:ln>
        </p:spPr>
        <p:style>
          <a:lnRef idx="0"/>
          <a:fillRef idx="0"/>
          <a:effectRef idx="0"/>
          <a:fontRef idx="minor"/>
        </p:style>
      </p:sp>
      <p:sp>
        <p:nvSpPr>
          <p:cNvPr id="1343" name="CustomShape 15"/>
          <p:cNvSpPr/>
          <p:nvPr/>
        </p:nvSpPr>
        <p:spPr>
          <a:xfrm>
            <a:off x="8229600" y="3063240"/>
            <a:ext cx="2925360" cy="6393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400" spc="-1" strike="noStrike">
                <a:solidFill>
                  <a:srgbClr val="1f2933"/>
                </a:solidFill>
                <a:latin typeface="Calibri"/>
                <a:ea typeface="Calibri"/>
              </a:rPr>
              <a:t>Servicio restablecido</a:t>
            </a:r>
            <a:endParaRPr b="0" lang="es-ES" sz="1400" spc="-1" strike="noStrike">
              <a:latin typeface="Arial"/>
            </a:endParaRPr>
          </a:p>
          <a:p>
            <a:pPr algn="ctr">
              <a:lnSpc>
                <a:spcPct val="100000"/>
              </a:lnSpc>
              <a:tabLst>
                <a:tab algn="l" pos="0"/>
              </a:tabLst>
            </a:pPr>
            <a:r>
              <a:rPr b="0" lang="en-US" sz="1400" spc="-1" strike="noStrike">
                <a:solidFill>
                  <a:srgbClr val="1f2933"/>
                </a:solidFill>
                <a:latin typeface="Calibri"/>
                <a:ea typeface="Calibri"/>
              </a:rPr>
              <a:t>(aplicación operativa)</a:t>
            </a:r>
            <a:endParaRPr b="0" lang="es-ES" sz="1400" spc="-1" strike="noStrike">
              <a:latin typeface="Arial"/>
            </a:endParaRPr>
          </a:p>
        </p:txBody>
      </p:sp>
      <p:sp>
        <p:nvSpPr>
          <p:cNvPr id="1344" name="CustomShape 16"/>
          <p:cNvSpPr/>
          <p:nvPr/>
        </p:nvSpPr>
        <p:spPr>
          <a:xfrm>
            <a:off x="54864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45" name="CustomShape 17"/>
          <p:cNvSpPr/>
          <p:nvPr/>
        </p:nvSpPr>
        <p:spPr>
          <a:xfrm>
            <a:off x="73152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 0</a:t>
            </a:r>
            <a:endParaRPr b="0" lang="es-ES" sz="3600" spc="-1" strike="noStrike">
              <a:latin typeface="Arial"/>
            </a:endParaRPr>
          </a:p>
        </p:txBody>
      </p:sp>
      <p:sp>
        <p:nvSpPr>
          <p:cNvPr id="1346" name="CustomShape 18"/>
          <p:cNvSpPr/>
          <p:nvPr/>
        </p:nvSpPr>
        <p:spPr>
          <a:xfrm>
            <a:off x="73152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FCI o AG síncrono: ningún commit confirmado se pierde</a:t>
            </a:r>
            <a:endParaRPr b="0" lang="es-ES" sz="1300" spc="-1" strike="noStrike">
              <a:latin typeface="Arial"/>
            </a:endParaRPr>
          </a:p>
        </p:txBody>
      </p:sp>
      <p:sp>
        <p:nvSpPr>
          <p:cNvPr id="1347" name="CustomShape 19"/>
          <p:cNvSpPr/>
          <p:nvPr/>
        </p:nvSpPr>
        <p:spPr>
          <a:xfrm>
            <a:off x="4338720" y="3977640"/>
            <a:ext cx="3510720" cy="2193840"/>
          </a:xfrm>
          <a:prstGeom prst="roundRect">
            <a:avLst>
              <a:gd name="adj" fmla="val 5000"/>
            </a:avLst>
          </a:prstGeom>
          <a:solidFill>
            <a:srgbClr val="0b2545"/>
          </a:solidFill>
          <a:ln>
            <a:noFill/>
          </a:ln>
        </p:spPr>
        <p:style>
          <a:lnRef idx="0"/>
          <a:fillRef idx="0"/>
          <a:effectRef idx="0"/>
          <a:fontRef idx="minor"/>
        </p:style>
      </p:sp>
      <p:sp>
        <p:nvSpPr>
          <p:cNvPr id="1348" name="CustomShape 20"/>
          <p:cNvSpPr/>
          <p:nvPr/>
        </p:nvSpPr>
        <p:spPr>
          <a:xfrm>
            <a:off x="452160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ffffff"/>
                </a:solidFill>
                <a:latin typeface="Calibri"/>
                <a:ea typeface="Calibri"/>
              </a:rPr>
              <a:t>RTO: segundos</a:t>
            </a:r>
            <a:endParaRPr b="0" lang="es-ES" sz="3600" spc="-1" strike="noStrike">
              <a:latin typeface="Arial"/>
            </a:endParaRPr>
          </a:p>
        </p:txBody>
      </p:sp>
      <p:sp>
        <p:nvSpPr>
          <p:cNvPr id="1349" name="CustomShape 21"/>
          <p:cNvSpPr/>
          <p:nvPr/>
        </p:nvSpPr>
        <p:spPr>
          <a:xfrm>
            <a:off x="452160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dce6f2"/>
                </a:solidFill>
                <a:latin typeface="Calibri"/>
                <a:ea typeface="Calibri"/>
              </a:rPr>
              <a:t>Failover automático con FCI o AG síncrono y listener</a:t>
            </a:r>
            <a:endParaRPr b="0" lang="es-ES" sz="1300" spc="-1" strike="noStrike">
              <a:latin typeface="Arial"/>
            </a:endParaRPr>
          </a:p>
        </p:txBody>
      </p:sp>
      <p:sp>
        <p:nvSpPr>
          <p:cNvPr id="1350" name="CustomShape 22"/>
          <p:cNvSpPr/>
          <p:nvPr/>
        </p:nvSpPr>
        <p:spPr>
          <a:xfrm>
            <a:off x="8129160" y="3977640"/>
            <a:ext cx="3510720" cy="2193840"/>
          </a:xfrm>
          <a:prstGeom prst="roundRect">
            <a:avLst>
              <a:gd name="adj" fmla="val 5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51" name="CustomShape 23"/>
          <p:cNvSpPr/>
          <p:nvPr/>
        </p:nvSpPr>
        <p:spPr>
          <a:xfrm>
            <a:off x="8312040" y="4114800"/>
            <a:ext cx="3144960" cy="109656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3600" spc="-1" strike="noStrike">
                <a:solidFill>
                  <a:srgbClr val="d95d39"/>
                </a:solidFill>
                <a:latin typeface="Calibri"/>
                <a:ea typeface="Calibri"/>
              </a:rPr>
              <a:t>RPO: minutos</a:t>
            </a:r>
            <a:endParaRPr b="0" lang="es-ES" sz="3600" spc="-1" strike="noStrike">
              <a:latin typeface="Arial"/>
            </a:endParaRPr>
          </a:p>
        </p:txBody>
      </p:sp>
      <p:sp>
        <p:nvSpPr>
          <p:cNvPr id="1352" name="CustomShape 24"/>
          <p:cNvSpPr/>
          <p:nvPr/>
        </p:nvSpPr>
        <p:spPr>
          <a:xfrm>
            <a:off x="8312040" y="5184720"/>
            <a:ext cx="3144960" cy="8769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Log Shipping: pérdida = intervalo de backup del log</a:t>
            </a:r>
            <a:endParaRPr b="0" lang="es-ES" sz="1300" spc="-1" strike="noStrike">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53"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5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Comparativa de tecnologías HA/DR</a:t>
            </a:r>
            <a:endParaRPr b="0" lang="es-ES" sz="3400" spc="-1" strike="noStrike">
              <a:latin typeface="Arial"/>
            </a:endParaRPr>
          </a:p>
        </p:txBody>
      </p:sp>
      <p:sp>
        <p:nvSpPr>
          <p:cNvPr id="135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5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56</a:t>
            </a:r>
            <a:endParaRPr b="0" lang="es-ES" sz="1000" spc="-1" strike="noStrike">
              <a:latin typeface="Arial"/>
            </a:endParaRPr>
          </a:p>
        </p:txBody>
      </p:sp>
      <p:graphicFrame>
        <p:nvGraphicFramePr>
          <p:cNvPr id="1357" name="Table 5"/>
          <p:cNvGraphicFramePr/>
          <p:nvPr/>
        </p:nvGraphicFramePr>
        <p:xfrm>
          <a:off x="548640" y="1600200"/>
          <a:ext cx="11090880" cy="2833920"/>
        </p:xfrm>
        <a:graphic>
          <a:graphicData uri="http://schemas.openxmlformats.org/drawingml/2006/table">
            <a:tbl>
              <a:tblPr/>
              <a:tblGrid>
                <a:gridCol w="1713240"/>
                <a:gridCol w="1893600"/>
                <a:gridCol w="2163960"/>
                <a:gridCol w="2615040"/>
                <a:gridCol w="270540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Tecnología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Alcance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Failover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Pérdida de datos (RPO)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Punto clave</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 Shipping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Base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Minutos (intervalo de log backup)</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Simple y barato; secundaria STANDBY</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Replicación</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Tablas / artículos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Manual (no es HA)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Variable (latencia de los agentes)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Distribuye datos; no es DR completo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609480">
                <a:tc>
                  <a:txBody>
                    <a:bodyPr lIns="109440" rIns="109440">
                      <a:noAutofit/>
                    </a:bodyPr>
                    <a:p>
                      <a:pPr>
                        <a:lnSpc>
                          <a:spcPct val="100000"/>
                        </a:lnSpc>
                        <a:tabLst>
                          <a:tab algn="l" pos="0"/>
                        </a:tabLst>
                      </a:pPr>
                      <a:r>
                        <a:rPr b="1" lang="en-US" sz="1400" spc="-1" strike="noStrike">
                          <a:solidFill>
                            <a:srgbClr val="0b2545"/>
                          </a:solidFill>
                          <a:latin typeface="Calibri"/>
                          <a:ea typeface="Calibri"/>
                        </a:rPr>
                        <a:t>FCI</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Instancia completa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(WSFC)</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(almacenamiento compartido)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Requiere SAN; el disco es punto único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609840">
                <a:tc>
                  <a:txBody>
                    <a:bodyPr lIns="109440" rIns="109440">
                      <a:noAutofit/>
                    </a:bodyPr>
                    <a:p>
                      <a:pPr>
                        <a:lnSpc>
                          <a:spcPct val="100000"/>
                        </a:lnSpc>
                        <a:tabLst>
                          <a:tab algn="l" pos="0"/>
                        </a:tabLst>
                      </a:pPr>
                      <a:r>
                        <a:rPr b="1" lang="en-US" sz="1400" spc="-1" strike="noStrike">
                          <a:solidFill>
                            <a:srgbClr val="0b2545"/>
                          </a:solidFill>
                          <a:latin typeface="Calibri"/>
                          <a:ea typeface="Calibri"/>
                        </a:rPr>
                        <a:t>Always On AG</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Grupo de bases de datos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Automático (síncrona) o manual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 </a:t>
                      </a:r>
                      <a:r>
                        <a:rPr b="0" lang="en-US" sz="1400" spc="-1" strike="noStrike">
                          <a:solidFill>
                            <a:srgbClr val="1f2933"/>
                          </a:solidFill>
                          <a:latin typeface="Calibri"/>
                          <a:ea typeface="Calibri"/>
                        </a:rPr>
                        <a:t>0 síncrona · &gt; 0 asíncrona</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Sin disco compartido; réplicas legibles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358" name="CustomShape 6"/>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359" name="CustomShape 7"/>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360" name="Image 0" descr="preencoded.png"/>
          <p:cNvPicPr/>
          <p:nvPr/>
        </p:nvPicPr>
        <p:blipFill>
          <a:blip r:embed="rId1"/>
          <a:stretch/>
        </p:blipFill>
        <p:spPr>
          <a:xfrm>
            <a:off x="846000" y="5600880"/>
            <a:ext cx="227880" cy="227880"/>
          </a:xfrm>
          <a:prstGeom prst="rect">
            <a:avLst/>
          </a:prstGeom>
          <a:ln>
            <a:noFill/>
          </a:ln>
        </p:spPr>
      </p:pic>
      <p:sp>
        <p:nvSpPr>
          <p:cNvPr id="1361" name="CustomShape 8"/>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Elige por RTO/RPO, edición y presupuesto: </a:t>
            </a:r>
            <a:r>
              <a:rPr b="0" lang="en-US" sz="1400" spc="-1" strike="noStrike">
                <a:solidFill>
                  <a:srgbClr val="1f2933"/>
                </a:solidFill>
                <a:latin typeface="Calibri"/>
                <a:ea typeface="Calibri"/>
              </a:rPr>
              <a:t>Standard ofrece Basic AG, FCI de 2 nodos y Log Shipping; Enterprise añade AG completos.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62"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HA / DR</a:t>
            </a:r>
            <a:endParaRPr b="0" lang="es-ES" sz="1000" spc="-1" strike="noStrike">
              <a:latin typeface="Arial"/>
            </a:endParaRPr>
          </a:p>
        </p:txBody>
      </p:sp>
      <p:sp>
        <p:nvSpPr>
          <p:cNvPr id="136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Always On AG: topología y quorum</a:t>
            </a:r>
            <a:endParaRPr b="0" lang="es-ES" sz="3400" spc="-1" strike="noStrike">
              <a:latin typeface="Arial"/>
            </a:endParaRPr>
          </a:p>
        </p:txBody>
      </p:sp>
      <p:sp>
        <p:nvSpPr>
          <p:cNvPr id="136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6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57</a:t>
            </a:r>
            <a:endParaRPr b="0" lang="es-ES" sz="1000" spc="-1" strike="noStrike">
              <a:latin typeface="Arial"/>
            </a:endParaRPr>
          </a:p>
        </p:txBody>
      </p:sp>
      <p:sp>
        <p:nvSpPr>
          <p:cNvPr id="1366" name="CustomShape 5"/>
          <p:cNvSpPr/>
          <p:nvPr/>
        </p:nvSpPr>
        <p:spPr>
          <a:xfrm>
            <a:off x="2834640" y="1600200"/>
            <a:ext cx="2376720" cy="410760"/>
          </a:xfrm>
          <a:prstGeom prst="roundRect">
            <a:avLst>
              <a:gd name="adj" fmla="val 17778"/>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Aplicaciones cliente</a:t>
            </a:r>
            <a:endParaRPr b="0" lang="es-ES" sz="1400" spc="-1" strike="noStrike">
              <a:latin typeface="Arial"/>
            </a:endParaRPr>
          </a:p>
        </p:txBody>
      </p:sp>
      <p:sp>
        <p:nvSpPr>
          <p:cNvPr id="1367" name="Line 6"/>
          <p:cNvSpPr/>
          <p:nvPr/>
        </p:nvSpPr>
        <p:spPr>
          <a:xfrm>
            <a:off x="4023360" y="2011680"/>
            <a:ext cx="0" cy="320040"/>
          </a:xfrm>
          <a:prstGeom prst="line">
            <a:avLst/>
          </a:prstGeom>
          <a:ln w="22320">
            <a:solidFill>
              <a:srgbClr val="5c6b7a"/>
            </a:solidFill>
            <a:round/>
            <a:tailEnd len="med" type="triangle" w="med"/>
          </a:ln>
        </p:spPr>
        <p:style>
          <a:lnRef idx="0"/>
          <a:fillRef idx="0"/>
          <a:effectRef idx="0"/>
          <a:fontRef idx="minor"/>
        </p:style>
      </p:sp>
      <p:sp>
        <p:nvSpPr>
          <p:cNvPr id="1368" name="CustomShape 7"/>
          <p:cNvSpPr/>
          <p:nvPr/>
        </p:nvSpPr>
        <p:spPr>
          <a:xfrm>
            <a:off x="2606040" y="2331720"/>
            <a:ext cx="2833920" cy="456480"/>
          </a:xfrm>
          <a:prstGeom prst="roundRect">
            <a:avLst>
              <a:gd name="adj" fmla="val 16000"/>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Listener (nombre virtual + IP)</a:t>
            </a:r>
            <a:endParaRPr b="0" lang="es-ES" sz="1400" spc="-1" strike="noStrike">
              <a:latin typeface="Arial"/>
            </a:endParaRPr>
          </a:p>
        </p:txBody>
      </p:sp>
      <p:sp>
        <p:nvSpPr>
          <p:cNvPr id="1369" name="Line 8"/>
          <p:cNvSpPr/>
          <p:nvPr/>
        </p:nvSpPr>
        <p:spPr>
          <a:xfrm>
            <a:off x="4023360" y="2788920"/>
            <a:ext cx="0" cy="411480"/>
          </a:xfrm>
          <a:prstGeom prst="line">
            <a:avLst/>
          </a:prstGeom>
          <a:ln w="22320">
            <a:solidFill>
              <a:srgbClr val="5c6b7a"/>
            </a:solidFill>
            <a:round/>
            <a:tailEnd len="med" type="triangle" w="med"/>
          </a:ln>
        </p:spPr>
        <p:style>
          <a:lnRef idx="0"/>
          <a:fillRef idx="0"/>
          <a:effectRef idx="0"/>
          <a:fontRef idx="minor"/>
        </p:style>
      </p:sp>
      <p:sp>
        <p:nvSpPr>
          <p:cNvPr id="1370" name="CustomShape 9"/>
          <p:cNvSpPr/>
          <p:nvPr/>
        </p:nvSpPr>
        <p:spPr>
          <a:xfrm>
            <a:off x="548640" y="3200400"/>
            <a:ext cx="2010960" cy="1096560"/>
          </a:xfrm>
          <a:prstGeom prst="roundRect">
            <a:avLst>
              <a:gd name="adj" fmla="val 6667"/>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Secundaria síncrona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SQLNODE2 · legible</a:t>
            </a:r>
            <a:endParaRPr b="0" lang="es-ES" sz="1400" spc="-1" strike="noStrike">
              <a:latin typeface="Arial"/>
            </a:endParaRPr>
          </a:p>
        </p:txBody>
      </p:sp>
      <p:sp>
        <p:nvSpPr>
          <p:cNvPr id="1371" name="CustomShape 10"/>
          <p:cNvSpPr/>
          <p:nvPr/>
        </p:nvSpPr>
        <p:spPr>
          <a:xfrm>
            <a:off x="3017520" y="3200400"/>
            <a:ext cx="2010960" cy="1096560"/>
          </a:xfrm>
          <a:prstGeom prst="roundRect">
            <a:avLst>
              <a:gd name="adj" fmla="val 6667"/>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ffffff"/>
                </a:solidFill>
                <a:latin typeface="Calibri"/>
                <a:ea typeface="Calibri"/>
              </a:rPr>
              <a:t>Réplica primaria</a:t>
            </a:r>
            <a:endParaRPr b="0" lang="es-ES" sz="1400" spc="-1" strike="noStrike">
              <a:latin typeface="Arial"/>
            </a:endParaRPr>
          </a:p>
          <a:p>
            <a:pPr algn="ctr">
              <a:lnSpc>
                <a:spcPct val="100000"/>
              </a:lnSpc>
              <a:tabLst>
                <a:tab algn="l" pos="0"/>
              </a:tabLst>
            </a:pPr>
            <a:r>
              <a:rPr b="1" lang="en-US" sz="1400" spc="-1" strike="noStrike">
                <a:solidFill>
                  <a:srgbClr val="ffffff"/>
                </a:solidFill>
                <a:latin typeface="Calibri"/>
                <a:ea typeface="Calibri"/>
              </a:rPr>
              <a:t>SQLNODE1 · R/W</a:t>
            </a:r>
            <a:endParaRPr b="0" lang="es-ES" sz="1400" spc="-1" strike="noStrike">
              <a:latin typeface="Arial"/>
            </a:endParaRPr>
          </a:p>
        </p:txBody>
      </p:sp>
      <p:sp>
        <p:nvSpPr>
          <p:cNvPr id="1372" name="CustomShape 11"/>
          <p:cNvSpPr/>
          <p:nvPr/>
        </p:nvSpPr>
        <p:spPr>
          <a:xfrm>
            <a:off x="5486400" y="3200400"/>
            <a:ext cx="2010960" cy="1096560"/>
          </a:xfrm>
          <a:prstGeom prst="roundRect">
            <a:avLst>
              <a:gd name="adj" fmla="val 6667"/>
            </a:avLst>
          </a:prstGeom>
          <a:solidFill>
            <a:srgbClr val="8da9c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Secundaria asíncrona</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SQLNODE3 · DR</a:t>
            </a:r>
            <a:endParaRPr b="0" lang="es-ES" sz="1400" spc="-1" strike="noStrike">
              <a:latin typeface="Arial"/>
            </a:endParaRPr>
          </a:p>
        </p:txBody>
      </p:sp>
      <p:sp>
        <p:nvSpPr>
          <p:cNvPr id="1373" name="Line 12"/>
          <p:cNvSpPr/>
          <p:nvPr/>
        </p:nvSpPr>
        <p:spPr>
          <a:xfrm flipH="1">
            <a:off x="2560320" y="3749040"/>
            <a:ext cx="457200" cy="0"/>
          </a:xfrm>
          <a:prstGeom prst="line">
            <a:avLst/>
          </a:prstGeom>
          <a:ln w="31680">
            <a:solidFill>
              <a:srgbClr val="0b2545"/>
            </a:solidFill>
            <a:round/>
            <a:tailEnd len="med" type="triangle" w="med"/>
          </a:ln>
        </p:spPr>
        <p:style>
          <a:lnRef idx="0"/>
          <a:fillRef idx="0"/>
          <a:effectRef idx="0"/>
          <a:fontRef idx="minor"/>
        </p:style>
      </p:sp>
      <p:sp>
        <p:nvSpPr>
          <p:cNvPr id="1374" name="Line 13"/>
          <p:cNvSpPr/>
          <p:nvPr/>
        </p:nvSpPr>
        <p:spPr>
          <a:xfrm>
            <a:off x="5029200" y="3749040"/>
            <a:ext cx="457200" cy="0"/>
          </a:xfrm>
          <a:prstGeom prst="line">
            <a:avLst/>
          </a:prstGeom>
          <a:ln w="31680">
            <a:solidFill>
              <a:srgbClr val="0b2545"/>
            </a:solidFill>
            <a:prstDash val="dash"/>
            <a:round/>
            <a:tailEnd len="med" type="triangle" w="med"/>
          </a:ln>
        </p:spPr>
        <p:style>
          <a:lnRef idx="0"/>
          <a:fillRef idx="0"/>
          <a:effectRef idx="0"/>
          <a:fontRef idx="minor"/>
        </p:style>
      </p:sp>
      <p:sp>
        <p:nvSpPr>
          <p:cNvPr id="1375" name="CustomShape 14"/>
          <p:cNvSpPr/>
          <p:nvPr/>
        </p:nvSpPr>
        <p:spPr>
          <a:xfrm>
            <a:off x="54864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Síncrona · RPO =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automático</a:t>
            </a:r>
            <a:endParaRPr b="0" lang="es-ES" sz="1300" spc="-1" strike="noStrike">
              <a:latin typeface="Arial"/>
            </a:endParaRPr>
          </a:p>
        </p:txBody>
      </p:sp>
      <p:sp>
        <p:nvSpPr>
          <p:cNvPr id="1376" name="CustomShape 15"/>
          <p:cNvSpPr/>
          <p:nvPr/>
        </p:nvSpPr>
        <p:spPr>
          <a:xfrm>
            <a:off x="301752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Envía el log de</a:t>
            </a:r>
            <a:endParaRPr b="0" lang="es-ES" sz="1300" spc="-1" strike="noStrike">
              <a:latin typeface="Arial"/>
            </a:endParaRPr>
          </a:p>
          <a:p>
            <a:pPr algn="ctr">
              <a:lnSpc>
                <a:spcPct val="100000"/>
              </a:lnSpc>
              <a:tabLst>
                <a:tab algn="l" pos="0"/>
              </a:tabLst>
            </a:pPr>
            <a:r>
              <a:rPr b="0" lang="en-US" sz="1300" spc="-1" strike="noStrike">
                <a:solidFill>
                  <a:srgbClr val="5c6b7a"/>
                </a:solidFill>
                <a:latin typeface="Calibri"/>
                <a:ea typeface="Calibri"/>
              </a:rPr>
              <a:t>transacciones</a:t>
            </a:r>
            <a:endParaRPr b="0" lang="es-ES" sz="1300" spc="-1" strike="noStrike">
              <a:latin typeface="Arial"/>
            </a:endParaRPr>
          </a:p>
        </p:txBody>
      </p:sp>
      <p:sp>
        <p:nvSpPr>
          <p:cNvPr id="1377" name="CustomShape 16"/>
          <p:cNvSpPr/>
          <p:nvPr/>
        </p:nvSpPr>
        <p:spPr>
          <a:xfrm>
            <a:off x="5486400" y="4434840"/>
            <a:ext cx="2010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1f2933"/>
                </a:solidFill>
                <a:latin typeface="Calibri"/>
                <a:ea typeface="Calibri"/>
              </a:rPr>
              <a:t>Asíncrona · RPO &gt; 0</a:t>
            </a:r>
            <a:endParaRPr b="0" lang="es-ES" sz="1300" spc="-1" strike="noStrike">
              <a:latin typeface="Arial"/>
            </a:endParaRPr>
          </a:p>
          <a:p>
            <a:pPr algn="ctr">
              <a:lnSpc>
                <a:spcPct val="100000"/>
              </a:lnSpc>
              <a:tabLst>
                <a:tab algn="l" pos="0"/>
              </a:tabLst>
            </a:pPr>
            <a:r>
              <a:rPr b="0" lang="en-US" sz="1300" spc="-1" strike="noStrike">
                <a:solidFill>
                  <a:srgbClr val="1f2933"/>
                </a:solidFill>
                <a:latin typeface="Calibri"/>
                <a:ea typeface="Calibri"/>
              </a:rPr>
              <a:t>Failover manual</a:t>
            </a:r>
            <a:endParaRPr b="0" lang="es-ES" sz="1300" spc="-1" strike="noStrike">
              <a:latin typeface="Arial"/>
            </a:endParaRPr>
          </a:p>
        </p:txBody>
      </p:sp>
      <p:sp>
        <p:nvSpPr>
          <p:cNvPr id="1378" name="CustomShape 17"/>
          <p:cNvSpPr/>
          <p:nvPr/>
        </p:nvSpPr>
        <p:spPr>
          <a:xfrm>
            <a:off x="548640" y="5257800"/>
            <a:ext cx="6948720" cy="913680"/>
          </a:xfrm>
          <a:prstGeom prst="roundRect">
            <a:avLst>
              <a:gd name="adj" fmla="val 8000"/>
            </a:avLst>
          </a:prstGeom>
          <a:solidFill>
            <a:srgbClr val="e8eef5"/>
          </a:solidFill>
          <a:ln w="12600">
            <a:solidFill>
              <a:srgbClr val="d0d7de"/>
            </a:solidFill>
            <a:round/>
          </a:ln>
        </p:spPr>
        <p:style>
          <a:lnRef idx="0"/>
          <a:fillRef idx="0"/>
          <a:effectRef idx="0"/>
          <a:fontRef idx="minor"/>
        </p:style>
        <p:txBody>
          <a:bodyPr lIns="360" rIns="1080" tIns="1080" bIns="360" anchor="ctr">
            <a:noAutofit/>
          </a:bodyPr>
          <a:p>
            <a:pPr algn="ctr">
              <a:lnSpc>
                <a:spcPct val="100000"/>
              </a:lnSpc>
              <a:tabLst>
                <a:tab algn="l" pos="0"/>
              </a:tabLst>
            </a:pPr>
            <a:r>
              <a:rPr b="1" lang="en-US" sz="1400" spc="-1" strike="noStrike">
                <a:solidFill>
                  <a:srgbClr val="0b2545"/>
                </a:solidFill>
                <a:latin typeface="Calibri"/>
                <a:ea typeface="Calibri"/>
              </a:rPr>
              <a:t>Windows Server Failover Cluster (WSFC)</a:t>
            </a:r>
            <a:endParaRPr b="0" lang="es-ES" sz="1400" spc="-1" strike="noStrike">
              <a:latin typeface="Arial"/>
            </a:endParaRPr>
          </a:p>
          <a:p>
            <a:pPr algn="ctr">
              <a:lnSpc>
                <a:spcPct val="100000"/>
              </a:lnSpc>
              <a:tabLst>
                <a:tab algn="l" pos="0"/>
              </a:tabLst>
            </a:pPr>
            <a:r>
              <a:rPr b="1" lang="en-US" sz="1400" spc="-1" strike="noStrike">
                <a:solidFill>
                  <a:srgbClr val="0b2545"/>
                </a:solidFill>
                <a:latin typeface="Calibri"/>
                <a:ea typeface="Calibri"/>
              </a:rPr>
              <a:t>Quorum: voto por nodo + Witness (File Share / Cloud / Disk)</a:t>
            </a:r>
            <a:endParaRPr b="0" lang="es-ES" sz="1400" spc="-1" strike="noStrike">
              <a:latin typeface="Arial"/>
            </a:endParaRPr>
          </a:p>
        </p:txBody>
      </p:sp>
      <p:sp>
        <p:nvSpPr>
          <p:cNvPr id="1379" name="CustomShape 18"/>
          <p:cNvSpPr/>
          <p:nvPr/>
        </p:nvSpPr>
        <p:spPr>
          <a:xfrm>
            <a:off x="7818120" y="16002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0" name="CustomShape 19"/>
          <p:cNvSpPr/>
          <p:nvPr/>
        </p:nvSpPr>
        <p:spPr>
          <a:xfrm>
            <a:off x="8046720" y="18288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Basic AG (Standard)</a:t>
            </a:r>
            <a:endParaRPr b="0" lang="es-ES" sz="1600" spc="-1" strike="noStrike">
              <a:latin typeface="Arial"/>
            </a:endParaRPr>
          </a:p>
        </p:txBody>
      </p:sp>
      <p:sp>
        <p:nvSpPr>
          <p:cNvPr id="1381" name="CustomShape 20"/>
          <p:cNvSpPr/>
          <p:nvPr/>
        </p:nvSpPr>
        <p:spPr>
          <a:xfrm>
            <a:off x="8046720" y="21823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2 réplicas, 1 BD por AG, sin lectura en la secundaria.</a:t>
            </a:r>
            <a:endParaRPr b="0" lang="es-ES" sz="1400" spc="-1" strike="noStrike">
              <a:latin typeface="Arial"/>
            </a:endParaRPr>
          </a:p>
        </p:txBody>
      </p:sp>
      <p:sp>
        <p:nvSpPr>
          <p:cNvPr id="1382" name="CustomShape 21"/>
          <p:cNvSpPr/>
          <p:nvPr/>
        </p:nvSpPr>
        <p:spPr>
          <a:xfrm>
            <a:off x="7818120" y="32004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3" name="CustomShape 22"/>
          <p:cNvSpPr/>
          <p:nvPr/>
        </p:nvSpPr>
        <p:spPr>
          <a:xfrm>
            <a:off x="8046720" y="34290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Distributed AG</a:t>
            </a:r>
            <a:endParaRPr b="0" lang="es-ES" sz="1600" spc="-1" strike="noStrike">
              <a:latin typeface="Arial"/>
            </a:endParaRPr>
          </a:p>
        </p:txBody>
      </p:sp>
      <p:sp>
        <p:nvSpPr>
          <p:cNvPr id="1384" name="CustomShape 23"/>
          <p:cNvSpPr/>
          <p:nvPr/>
        </p:nvSpPr>
        <p:spPr>
          <a:xfrm>
            <a:off x="8046720" y="37825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Une dos AG en clústeres distintos: DR entre sitios y migraciones.</a:t>
            </a:r>
            <a:endParaRPr b="0" lang="es-ES" sz="1400" spc="-1" strike="noStrike">
              <a:latin typeface="Arial"/>
            </a:endParaRPr>
          </a:p>
        </p:txBody>
      </p:sp>
      <p:sp>
        <p:nvSpPr>
          <p:cNvPr id="1385" name="CustomShape 24"/>
          <p:cNvSpPr/>
          <p:nvPr/>
        </p:nvSpPr>
        <p:spPr>
          <a:xfrm>
            <a:off x="7818120" y="4800600"/>
            <a:ext cx="382140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86" name="CustomShape 25"/>
          <p:cNvSpPr/>
          <p:nvPr/>
        </p:nvSpPr>
        <p:spPr>
          <a:xfrm>
            <a:off x="8046720" y="5029200"/>
            <a:ext cx="3364200" cy="2430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Quorum y Testigo</a:t>
            </a:r>
            <a:endParaRPr b="0" lang="es-ES" sz="1600" spc="-1" strike="noStrike">
              <a:latin typeface="Arial"/>
            </a:endParaRPr>
          </a:p>
        </p:txBody>
      </p:sp>
      <p:sp>
        <p:nvSpPr>
          <p:cNvPr id="1387" name="CustomShape 26"/>
          <p:cNvSpPr/>
          <p:nvPr/>
        </p:nvSpPr>
        <p:spPr>
          <a:xfrm>
            <a:off x="8046720" y="5382720"/>
            <a:ext cx="3364200" cy="5601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Mayoría de votos contra split-brain; testigo en nodos pares.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388"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3.1</a:t>
            </a:r>
            <a:endParaRPr b="0" lang="es-ES" sz="1000" spc="-1" strike="noStrike">
              <a:latin typeface="Arial"/>
            </a:endParaRPr>
          </a:p>
        </p:txBody>
      </p:sp>
      <p:sp>
        <p:nvSpPr>
          <p:cNvPr id="138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3.1 · Índices y medición de lecturas</a:t>
            </a:r>
            <a:endParaRPr b="0" lang="es-ES" sz="3400" spc="-1" strike="noStrike">
              <a:latin typeface="Arial"/>
            </a:endParaRPr>
          </a:p>
        </p:txBody>
      </p:sp>
      <p:sp>
        <p:nvSpPr>
          <p:cNvPr id="139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39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58</a:t>
            </a:r>
            <a:endParaRPr b="0" lang="es-ES" sz="1000" spc="-1" strike="noStrike">
              <a:latin typeface="Arial"/>
            </a:endParaRPr>
          </a:p>
        </p:txBody>
      </p:sp>
      <p:sp>
        <p:nvSpPr>
          <p:cNvPr id="1392" name="CustomShape 5"/>
          <p:cNvSpPr/>
          <p:nvPr/>
        </p:nvSpPr>
        <p:spPr>
          <a:xfrm>
            <a:off x="548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3"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394"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395" name="CustomShape 8"/>
          <p:cNvSpPr/>
          <p:nvPr/>
        </p:nvSpPr>
        <p:spPr>
          <a:xfrm>
            <a:off x="777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Preparar datos</a:t>
            </a:r>
            <a:endParaRPr b="0" lang="es-ES" sz="1600" spc="-1" strike="noStrike">
              <a:latin typeface="Arial"/>
            </a:endParaRPr>
          </a:p>
        </p:txBody>
      </p:sp>
      <p:sp>
        <p:nvSpPr>
          <p:cNvPr id="1396" name="CustomShape 9"/>
          <p:cNvSpPr/>
          <p:nvPr/>
        </p:nvSpPr>
        <p:spPr>
          <a:xfrm>
            <a:off x="777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Genera 500 000 pedidos en la base de datos Ventas.</a:t>
            </a:r>
            <a:endParaRPr b="0" lang="es-ES" sz="1400" spc="-1" strike="noStrike">
              <a:latin typeface="Arial"/>
            </a:endParaRPr>
          </a:p>
        </p:txBody>
      </p:sp>
      <p:sp>
        <p:nvSpPr>
          <p:cNvPr id="1397" name="CustomShape 10"/>
          <p:cNvSpPr/>
          <p:nvPr/>
        </p:nvSpPr>
        <p:spPr>
          <a:xfrm>
            <a:off x="3117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398" name="CustomShape 11"/>
          <p:cNvSpPr/>
          <p:nvPr/>
        </p:nvSpPr>
        <p:spPr>
          <a:xfrm>
            <a:off x="3401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399" name="CustomShape 12"/>
          <p:cNvSpPr/>
          <p:nvPr/>
        </p:nvSpPr>
        <p:spPr>
          <a:xfrm>
            <a:off x="3630240" y="1828800"/>
            <a:ext cx="502200" cy="502200"/>
          </a:xfrm>
          <a:prstGeom prst="ellipse">
            <a:avLst/>
          </a:prstGeom>
          <a:solidFill>
            <a:srgbClr val="134074"/>
          </a:solidFill>
          <a:ln>
            <a:noFill/>
          </a:ln>
        </p:spPr>
        <p:style>
          <a:lnRef idx="0"/>
          <a:fillRef idx="0"/>
          <a:effectRef idx="0"/>
          <a:fontRef idx="minor"/>
        </p:style>
      </p:sp>
      <p:sp>
        <p:nvSpPr>
          <p:cNvPr id="1400" name="CustomShape 13"/>
          <p:cNvSpPr/>
          <p:nvPr/>
        </p:nvSpPr>
        <p:spPr>
          <a:xfrm>
            <a:off x="3630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01" name="CustomShape 14"/>
          <p:cNvSpPr/>
          <p:nvPr/>
        </p:nvSpPr>
        <p:spPr>
          <a:xfrm>
            <a:off x="3630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Línea base</a:t>
            </a:r>
            <a:endParaRPr b="0" lang="es-ES" sz="1600" spc="-1" strike="noStrike">
              <a:latin typeface="Arial"/>
            </a:endParaRPr>
          </a:p>
        </p:txBody>
      </p:sp>
      <p:sp>
        <p:nvSpPr>
          <p:cNvPr id="1402" name="CustomShape 15"/>
          <p:cNvSpPr/>
          <p:nvPr/>
        </p:nvSpPr>
        <p:spPr>
          <a:xfrm>
            <a:off x="3630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Activa STATISTICS IO y plan real (Ctrl+M); anota las lecturas.</a:t>
            </a:r>
            <a:endParaRPr b="0" lang="es-ES" sz="1400" spc="-1" strike="noStrike">
              <a:latin typeface="Arial"/>
            </a:endParaRPr>
          </a:p>
        </p:txBody>
      </p:sp>
      <p:sp>
        <p:nvSpPr>
          <p:cNvPr id="1403" name="CustomShape 16"/>
          <p:cNvSpPr/>
          <p:nvPr/>
        </p:nvSpPr>
        <p:spPr>
          <a:xfrm>
            <a:off x="5970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04" name="CustomShape 17"/>
          <p:cNvSpPr/>
          <p:nvPr/>
        </p:nvSpPr>
        <p:spPr>
          <a:xfrm>
            <a:off x="625464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05" name="CustomShape 18"/>
          <p:cNvSpPr/>
          <p:nvPr/>
        </p:nvSpPr>
        <p:spPr>
          <a:xfrm>
            <a:off x="6483240" y="1828800"/>
            <a:ext cx="502200" cy="502200"/>
          </a:xfrm>
          <a:prstGeom prst="ellipse">
            <a:avLst/>
          </a:prstGeom>
          <a:solidFill>
            <a:srgbClr val="134074"/>
          </a:solidFill>
          <a:ln>
            <a:noFill/>
          </a:ln>
        </p:spPr>
        <p:style>
          <a:lnRef idx="0"/>
          <a:fillRef idx="0"/>
          <a:effectRef idx="0"/>
          <a:fontRef idx="minor"/>
        </p:style>
      </p:sp>
      <p:sp>
        <p:nvSpPr>
          <p:cNvPr id="1406" name="CustomShape 19"/>
          <p:cNvSpPr/>
          <p:nvPr/>
        </p:nvSpPr>
        <p:spPr>
          <a:xfrm>
            <a:off x="6483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07" name="CustomShape 20"/>
          <p:cNvSpPr/>
          <p:nvPr/>
        </p:nvSpPr>
        <p:spPr>
          <a:xfrm>
            <a:off x="648324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Crear índices</a:t>
            </a:r>
            <a:endParaRPr b="0" lang="es-ES" sz="1600" spc="-1" strike="noStrike">
              <a:latin typeface="Arial"/>
            </a:endParaRPr>
          </a:p>
        </p:txBody>
      </p:sp>
      <p:sp>
        <p:nvSpPr>
          <p:cNvPr id="1408" name="CustomShape 21"/>
          <p:cNvSpPr/>
          <p:nvPr/>
        </p:nvSpPr>
        <p:spPr>
          <a:xfrm>
            <a:off x="648324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Crea el índice simple y luego la versión con INCLUDE.</a:t>
            </a:r>
            <a:endParaRPr b="0" lang="es-ES" sz="1400" spc="-1" strike="noStrike">
              <a:latin typeface="Arial"/>
            </a:endParaRPr>
          </a:p>
        </p:txBody>
      </p:sp>
      <p:sp>
        <p:nvSpPr>
          <p:cNvPr id="1409" name="CustomShape 22"/>
          <p:cNvSpPr/>
          <p:nvPr/>
        </p:nvSpPr>
        <p:spPr>
          <a:xfrm>
            <a:off x="882396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410" name="CustomShape 23"/>
          <p:cNvSpPr/>
          <p:nvPr/>
        </p:nvSpPr>
        <p:spPr>
          <a:xfrm>
            <a:off x="9107280" y="1600200"/>
            <a:ext cx="2532240" cy="2376720"/>
          </a:xfrm>
          <a:prstGeom prst="roundRect">
            <a:avLst>
              <a:gd name="adj" fmla="val 4615"/>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11" name="CustomShape 24"/>
          <p:cNvSpPr/>
          <p:nvPr/>
        </p:nvSpPr>
        <p:spPr>
          <a:xfrm>
            <a:off x="9335880" y="1828800"/>
            <a:ext cx="502200" cy="502200"/>
          </a:xfrm>
          <a:prstGeom prst="ellipse">
            <a:avLst/>
          </a:prstGeom>
          <a:solidFill>
            <a:srgbClr val="134074"/>
          </a:solidFill>
          <a:ln>
            <a:noFill/>
          </a:ln>
        </p:spPr>
        <p:style>
          <a:lnRef idx="0"/>
          <a:fillRef idx="0"/>
          <a:effectRef idx="0"/>
          <a:fontRef idx="minor"/>
        </p:style>
      </p:sp>
      <p:sp>
        <p:nvSpPr>
          <p:cNvPr id="1412" name="CustomShape 25"/>
          <p:cNvSpPr/>
          <p:nvPr/>
        </p:nvSpPr>
        <p:spPr>
          <a:xfrm>
            <a:off x="933588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413" name="CustomShape 26"/>
          <p:cNvSpPr/>
          <p:nvPr/>
        </p:nvSpPr>
        <p:spPr>
          <a:xfrm>
            <a:off x="9335880" y="2468880"/>
            <a:ext cx="207504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Comparar</a:t>
            </a:r>
            <a:endParaRPr b="0" lang="es-ES" sz="1600" spc="-1" strike="noStrike">
              <a:latin typeface="Arial"/>
            </a:endParaRPr>
          </a:p>
        </p:txBody>
      </p:sp>
      <p:sp>
        <p:nvSpPr>
          <p:cNvPr id="1414" name="CustomShape 27"/>
          <p:cNvSpPr/>
          <p:nvPr/>
        </p:nvSpPr>
        <p:spPr>
          <a:xfrm>
            <a:off x="9335880" y="3154680"/>
            <a:ext cx="2075040" cy="7308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Repite la consulta y compara operador y lecturas lógicas.</a:t>
            </a:r>
            <a:endParaRPr b="0" lang="es-ES" sz="1400" spc="-1" strike="noStrike">
              <a:latin typeface="Arial"/>
            </a:endParaRPr>
          </a:p>
        </p:txBody>
      </p:sp>
      <p:sp>
        <p:nvSpPr>
          <p:cNvPr id="1415" name="CustomShape 28"/>
          <p:cNvSpPr/>
          <p:nvPr/>
        </p:nvSpPr>
        <p:spPr>
          <a:xfrm>
            <a:off x="54864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6" name="CustomShape 29"/>
          <p:cNvSpPr/>
          <p:nvPr/>
        </p:nvSpPr>
        <p:spPr>
          <a:xfrm>
            <a:off x="73152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LÍNEA BASE</a:t>
            </a:r>
            <a:endParaRPr b="0" lang="es-ES" sz="1000" spc="-1" strike="noStrike">
              <a:latin typeface="Arial"/>
            </a:endParaRPr>
          </a:p>
        </p:txBody>
      </p:sp>
      <p:sp>
        <p:nvSpPr>
          <p:cNvPr id="1417" name="CustomShape 30"/>
          <p:cNvSpPr/>
          <p:nvPr/>
        </p:nvSpPr>
        <p:spPr>
          <a:xfrm>
            <a:off x="73152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IO, </a:t>
            </a:r>
            <a:r>
              <a:rPr b="0" lang="en-US" sz="1200" spc="-1" strike="noStrike">
                <a:solidFill>
                  <a:srgbClr val="7c3aed"/>
                </a:solidFill>
                <a:latin typeface="Consolas"/>
                <a:ea typeface="Consolas"/>
              </a:rPr>
              <a:t>TIME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PedidoId, FechaPedido, Total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4217</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FechaPedido &gt;= </a:t>
            </a:r>
            <a:r>
              <a:rPr b="0" lang="en-US" sz="1200" spc="-1" strike="noStrike">
                <a:solidFill>
                  <a:srgbClr val="b4441f"/>
                </a:solidFill>
                <a:latin typeface="Consolas"/>
                <a:ea typeface="Consolas"/>
              </a:rPr>
              <a:t>'20240101'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Anota: operador y logical reads</a:t>
            </a:r>
            <a:endParaRPr b="0" lang="es-ES" sz="1200" spc="-1" strike="noStrike">
              <a:latin typeface="Arial"/>
            </a:endParaRPr>
          </a:p>
        </p:txBody>
      </p:sp>
      <p:sp>
        <p:nvSpPr>
          <p:cNvPr id="1418" name="CustomShape 31"/>
          <p:cNvSpPr/>
          <p:nvPr/>
        </p:nvSpPr>
        <p:spPr>
          <a:xfrm>
            <a:off x="6245280" y="4251960"/>
            <a:ext cx="5394240" cy="1919520"/>
          </a:xfrm>
          <a:prstGeom prst="roundRect">
            <a:avLst>
              <a:gd name="adj" fmla="val 4762"/>
            </a:avLst>
          </a:prstGeom>
          <a:solidFill>
            <a:srgbClr val="eceff3"/>
          </a:solidFill>
          <a:ln w="9360">
            <a:solidFill>
              <a:srgbClr val="d0d7de"/>
            </a:solidFill>
            <a:round/>
          </a:ln>
        </p:spPr>
        <p:style>
          <a:lnRef idx="0"/>
          <a:fillRef idx="0"/>
          <a:effectRef idx="0"/>
          <a:fontRef idx="minor"/>
        </p:style>
      </p:sp>
      <p:sp>
        <p:nvSpPr>
          <p:cNvPr id="1419" name="CustomShape 32"/>
          <p:cNvSpPr/>
          <p:nvPr/>
        </p:nvSpPr>
        <p:spPr>
          <a:xfrm>
            <a:off x="6428160" y="434340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CREAR Y MEJORAR EL ÍNDICE</a:t>
            </a:r>
            <a:endParaRPr b="0" lang="es-ES" sz="1000" spc="-1" strike="noStrike">
              <a:latin typeface="Arial"/>
            </a:endParaRPr>
          </a:p>
        </p:txBody>
      </p:sp>
      <p:sp>
        <p:nvSpPr>
          <p:cNvPr id="1420" name="CustomShape 33"/>
          <p:cNvSpPr/>
          <p:nvPr/>
        </p:nvSpPr>
        <p:spPr>
          <a:xfrm>
            <a:off x="6428160" y="4617720"/>
            <a:ext cx="5028480" cy="1462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Lookup: añade INCLUDE y recrea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CREATE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NONCLUSTERED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IX_Pedido_Cli_Fecha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(ClienteId, FechaPedido)</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INCLUDE</a:t>
            </a:r>
            <a:r>
              <a:rPr b="0" lang="en-US" sz="1200" spc="-1" strike="noStrike">
                <a:solidFill>
                  <a:srgbClr val="1f2933"/>
                </a:solidFill>
                <a:latin typeface="Consolas"/>
                <a:ea typeface="Consolas"/>
              </a:rPr>
              <a:t> (Total)</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(DROP_EXISTING =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21"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3.2</a:t>
            </a:r>
            <a:endParaRPr b="0" lang="es-ES" sz="1000" spc="-1" strike="noStrike">
              <a:latin typeface="Arial"/>
            </a:endParaRPr>
          </a:p>
        </p:txBody>
      </p:sp>
      <p:sp>
        <p:nvSpPr>
          <p:cNvPr id="142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3.2 · Analizar planes de ejecución</a:t>
            </a:r>
            <a:endParaRPr b="0" lang="es-ES" sz="3400" spc="-1" strike="noStrike">
              <a:latin typeface="Arial"/>
            </a:endParaRPr>
          </a:p>
        </p:txBody>
      </p:sp>
      <p:sp>
        <p:nvSpPr>
          <p:cNvPr id="142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2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59</a:t>
            </a:r>
            <a:endParaRPr b="0" lang="es-ES" sz="1000" spc="-1" strike="noStrike">
              <a:latin typeface="Arial"/>
            </a:endParaRPr>
          </a:p>
        </p:txBody>
      </p:sp>
      <p:sp>
        <p:nvSpPr>
          <p:cNvPr id="1425" name="CustomShape 5"/>
          <p:cNvSpPr/>
          <p:nvPr/>
        </p:nvSpPr>
        <p:spPr>
          <a:xfrm>
            <a:off x="548640" y="1600200"/>
            <a:ext cx="6308640" cy="3611160"/>
          </a:xfrm>
          <a:prstGeom prst="roundRect">
            <a:avLst>
              <a:gd name="adj" fmla="val 2532"/>
            </a:avLst>
          </a:prstGeom>
          <a:solidFill>
            <a:srgbClr val="eceff3"/>
          </a:solidFill>
          <a:ln w="9360">
            <a:solidFill>
              <a:srgbClr val="d0d7de"/>
            </a:solidFill>
            <a:round/>
          </a:ln>
        </p:spPr>
        <p:style>
          <a:lnRef idx="0"/>
          <a:fillRef idx="0"/>
          <a:effectRef idx="0"/>
          <a:fontRef idx="minor"/>
        </p:style>
      </p:sp>
      <p:sp>
        <p:nvSpPr>
          <p:cNvPr id="142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TRES CONSULTAS, TRES PLANES</a:t>
            </a:r>
            <a:endParaRPr b="0" lang="es-ES" sz="1000" spc="-1" strike="noStrike">
              <a:latin typeface="Arial"/>
            </a:endParaRPr>
          </a:p>
        </p:txBody>
      </p:sp>
      <p:sp>
        <p:nvSpPr>
          <p:cNvPr id="1427" name="CustomShape 7"/>
          <p:cNvSpPr/>
          <p:nvPr/>
        </p:nvSpPr>
        <p:spPr>
          <a:xfrm>
            <a:off x="731520" y="1965960"/>
            <a:ext cx="5942880" cy="31539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300" spc="-1" strike="noStrike">
                <a:solidFill>
                  <a:srgbClr val="1d4ed8"/>
                </a:solidFill>
                <a:latin typeface="Consolas"/>
                <a:ea typeface="Consolas"/>
              </a:rPr>
              <a:t>SET</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STATISTICS</a:t>
            </a:r>
            <a:r>
              <a:rPr b="0" lang="en-US" sz="1300" spc="-1" strike="noStrike">
                <a:solidFill>
                  <a:srgbClr val="1f2933"/>
                </a:solidFill>
                <a:latin typeface="Consolas"/>
                <a:ea typeface="Consolas"/>
              </a:rPr>
              <a:t> IO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CREATE</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NONCLUSTERED</a:t>
            </a: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INDEX</a:t>
            </a:r>
            <a:r>
              <a:rPr b="0" lang="en-US" sz="1300" spc="-1" strike="noStrike">
                <a:solidFill>
                  <a:srgbClr val="1f2933"/>
                </a:solidFill>
                <a:latin typeface="Consolas"/>
                <a:ea typeface="Consolas"/>
              </a:rPr>
              <a:t> IX_Pedido_Fecha</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ON</a:t>
            </a:r>
            <a:r>
              <a:rPr b="0" lang="en-US" sz="1300" spc="-1" strike="noStrike">
                <a:solidFill>
                  <a:srgbClr val="1f2933"/>
                </a:solidFill>
                <a:latin typeface="Consolas"/>
                <a:ea typeface="Consolas"/>
              </a:rPr>
              <a:t> dbo.Pedido (FechaPedido);</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A) No SARGable: función sobre la columna</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YEAR(FechaPedido) = </a:t>
            </a:r>
            <a:r>
              <a:rPr b="0" lang="en-US" sz="1300" spc="-1" strike="noStrike">
                <a:solidFill>
                  <a:srgbClr val="9a3412"/>
                </a:solidFill>
                <a:latin typeface="Consolas"/>
                <a:ea typeface="Consolas"/>
              </a:rPr>
              <a:t>2024</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B) SARGable: rango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&gt;= </a:t>
            </a:r>
            <a:r>
              <a:rPr b="0" lang="en-US" sz="1300" spc="-1" strike="noStrike">
                <a:solidFill>
                  <a:srgbClr val="b4441f"/>
                </a:solidFill>
                <a:latin typeface="Consolas"/>
                <a:ea typeface="Consolas"/>
              </a:rPr>
              <a:t>'20240101'</a:t>
            </a:r>
            <a:endParaRPr b="0" lang="es-ES" sz="1300" spc="-1" strike="noStrike">
              <a:latin typeface="Arial"/>
            </a:endParaRPr>
          </a:p>
          <a:p>
            <a:pPr>
              <a:lnSpc>
                <a:spcPct val="100000"/>
              </a:lnSpc>
              <a:tabLst>
                <a:tab algn="l" pos="0"/>
              </a:tabLst>
            </a:pPr>
            <a:r>
              <a:rPr b="0" lang="en-US" sz="1300" spc="-1" strike="noStrike">
                <a:solidFill>
                  <a:srgbClr val="1f2933"/>
                </a:solidFill>
                <a:latin typeface="Consolas"/>
                <a:ea typeface="Consolas"/>
              </a:rPr>
              <a:t>  </a:t>
            </a:r>
            <a:r>
              <a:rPr b="1" lang="en-US" sz="1300" spc="-1" strike="noStrike">
                <a:solidFill>
                  <a:srgbClr val="1d4ed8"/>
                </a:solidFill>
                <a:latin typeface="Consolas"/>
                <a:ea typeface="Consolas"/>
              </a:rPr>
              <a:t>AND</a:t>
            </a:r>
            <a:r>
              <a:rPr b="0" lang="en-US" sz="1300" spc="-1" strike="noStrike">
                <a:solidFill>
                  <a:srgbClr val="1f2933"/>
                </a:solidFill>
                <a:latin typeface="Consolas"/>
                <a:ea typeface="Consolas"/>
              </a:rPr>
              <a:t> FechaPedido &lt;  </a:t>
            </a:r>
            <a:r>
              <a:rPr b="0" lang="en-US" sz="1300" spc="-1" strike="noStrike">
                <a:solidFill>
                  <a:srgbClr val="b4441f"/>
                </a:solidFill>
                <a:latin typeface="Consolas"/>
                <a:ea typeface="Consolas"/>
              </a:rPr>
              <a:t>'20250101'</a:t>
            </a:r>
            <a:r>
              <a:rPr b="0" lang="en-US" sz="1300" spc="-1" strike="noStrike">
                <a:solidFill>
                  <a:srgbClr val="1f2933"/>
                </a:solidFill>
                <a:latin typeface="Consolas"/>
                <a:ea typeface="Consolas"/>
              </a:rPr>
              <a:t>;</a:t>
            </a:r>
            <a:endParaRPr b="0" lang="es-ES" sz="1300" spc="-1" strike="noStrike">
              <a:latin typeface="Arial"/>
            </a:endParaRPr>
          </a:p>
          <a:p>
            <a:pPr>
              <a:lnSpc>
                <a:spcPct val="100000"/>
              </a:lnSpc>
              <a:tabLst>
                <a:tab algn="l" pos="0"/>
              </a:tabLst>
            </a:pPr>
            <a:r>
              <a:rPr b="0" i="1" lang="en-US" sz="1300" spc="-1" strike="noStrike">
                <a:solidFill>
                  <a:srgbClr val="6b7280"/>
                </a:solidFill>
                <a:latin typeface="Consolas"/>
                <a:ea typeface="Consolas"/>
              </a:rPr>
              <a:t>-- C) Seek + Key Lookup (pide Total)</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SELECT</a:t>
            </a:r>
            <a:r>
              <a:rPr b="0" lang="en-US" sz="1300" spc="-1" strike="noStrike">
                <a:solidFill>
                  <a:srgbClr val="1f2933"/>
                </a:solidFill>
                <a:latin typeface="Consolas"/>
                <a:ea typeface="Consolas"/>
              </a:rPr>
              <a:t> PedidoId, Total </a:t>
            </a:r>
            <a:r>
              <a:rPr b="1" lang="en-US" sz="1300" spc="-1" strike="noStrike">
                <a:solidFill>
                  <a:srgbClr val="1d4ed8"/>
                </a:solidFill>
                <a:latin typeface="Consolas"/>
                <a:ea typeface="Consolas"/>
              </a:rPr>
              <a:t>FROM</a:t>
            </a:r>
            <a:r>
              <a:rPr b="0" lang="en-US" sz="1300" spc="-1" strike="noStrike">
                <a:solidFill>
                  <a:srgbClr val="1f2933"/>
                </a:solidFill>
                <a:latin typeface="Consolas"/>
                <a:ea typeface="Consolas"/>
              </a:rPr>
              <a:t> dbo.Pedido</a:t>
            </a:r>
            <a:endParaRPr b="0" lang="es-ES" sz="1300" spc="-1" strike="noStrike">
              <a:latin typeface="Arial"/>
            </a:endParaRPr>
          </a:p>
          <a:p>
            <a:pPr>
              <a:lnSpc>
                <a:spcPct val="100000"/>
              </a:lnSpc>
              <a:tabLst>
                <a:tab algn="l" pos="0"/>
              </a:tabLst>
            </a:pPr>
            <a:r>
              <a:rPr b="1" lang="en-US" sz="1300" spc="-1" strike="noStrike">
                <a:solidFill>
                  <a:srgbClr val="1d4ed8"/>
                </a:solidFill>
                <a:latin typeface="Consolas"/>
                <a:ea typeface="Consolas"/>
              </a:rPr>
              <a:t>WHERE</a:t>
            </a:r>
            <a:r>
              <a:rPr b="0" lang="en-US" sz="1300" spc="-1" strike="noStrike">
                <a:solidFill>
                  <a:srgbClr val="1f2933"/>
                </a:solidFill>
                <a:latin typeface="Consolas"/>
                <a:ea typeface="Consolas"/>
              </a:rPr>
              <a:t> FechaPedido = </a:t>
            </a:r>
            <a:r>
              <a:rPr b="0" lang="en-US" sz="1300" spc="-1" strike="noStrike">
                <a:solidFill>
                  <a:srgbClr val="b4441f"/>
                </a:solidFill>
                <a:latin typeface="Consolas"/>
                <a:ea typeface="Consolas"/>
              </a:rPr>
              <a:t>'20240315'</a:t>
            </a:r>
            <a:r>
              <a:rPr b="0" lang="en-US" sz="1300" spc="-1" strike="noStrike">
                <a:solidFill>
                  <a:srgbClr val="1f2933"/>
                </a:solidFill>
                <a:latin typeface="Consolas"/>
                <a:ea typeface="Consolas"/>
              </a:rPr>
              <a:t>;</a:t>
            </a:r>
            <a:endParaRPr b="0" lang="es-ES" sz="1300" spc="-1" strike="noStrike">
              <a:latin typeface="Arial"/>
            </a:endParaRPr>
          </a:p>
        </p:txBody>
      </p:sp>
      <p:graphicFrame>
        <p:nvGraphicFramePr>
          <p:cNvPr id="1428" name="Table 8"/>
          <p:cNvGraphicFramePr/>
          <p:nvPr/>
        </p:nvGraphicFramePr>
        <p:xfrm>
          <a:off x="7132320" y="1600200"/>
          <a:ext cx="4507560" cy="1980360"/>
        </p:xfrm>
        <a:graphic>
          <a:graphicData uri="http://schemas.openxmlformats.org/drawingml/2006/table">
            <a:tbl>
              <a:tblPr/>
              <a:tblGrid>
                <a:gridCol w="2286000"/>
                <a:gridCol w="2221920"/>
              </a:tblGrid>
              <a:tr h="396000">
                <a:tc>
                  <a:txBody>
                    <a:bodyPr lIns="109440" rIns="109440">
                      <a:noAutofit/>
                    </a:bodyPr>
                    <a:p>
                      <a:pPr>
                        <a:lnSpc>
                          <a:spcPct val="100000"/>
                        </a:lnSpc>
                        <a:tabLst>
                          <a:tab algn="l" pos="0"/>
                        </a:tabLst>
                      </a:pPr>
                      <a:r>
                        <a:rPr b="1" lang="en-US" sz="1400" spc="-1" strike="noStrike">
                          <a:solidFill>
                            <a:srgbClr val="ffffff"/>
                          </a:solidFill>
                          <a:latin typeface="Calibri"/>
                          <a:ea typeface="Calibri"/>
                        </a:rPr>
                        <a:t>Qué anotar</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400" spc="-1" strike="noStrike">
                          <a:solidFill>
                            <a:srgbClr val="ffffff"/>
                          </a:solidFill>
                          <a:latin typeface="Calibri"/>
                          <a:ea typeface="Calibri"/>
                        </a:rPr>
                        <a:t>Dónde verlo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Operador (Scan/Seek)</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Plan real (Ctrl+M)</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Logical reads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Pestaña Messages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96000">
                <a:tc>
                  <a:txBody>
                    <a:bodyPr lIns="109440" rIns="109440">
                      <a:noAutofit/>
                    </a:bodyPr>
                    <a:p>
                      <a:pPr>
                        <a:lnSpc>
                          <a:spcPct val="100000"/>
                        </a:lnSpc>
                        <a:tabLst>
                          <a:tab algn="l" pos="0"/>
                        </a:tabLst>
                      </a:pPr>
                      <a:r>
                        <a:rPr b="1" lang="en-US" sz="1400" spc="-1" strike="noStrike">
                          <a:solidFill>
                            <a:srgbClr val="0b2545"/>
                          </a:solidFill>
                          <a:latin typeface="Calibri"/>
                          <a:ea typeface="Calibri"/>
                        </a:rPr>
                        <a:t>Estimated vs Actual</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Propiedades (F4)</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96720">
                <a:tc>
                  <a:txBody>
                    <a:bodyPr lIns="109440" rIns="109440">
                      <a:noAutofit/>
                    </a:bodyPr>
                    <a:p>
                      <a:pPr>
                        <a:lnSpc>
                          <a:spcPct val="100000"/>
                        </a:lnSpc>
                        <a:tabLst>
                          <a:tab algn="l" pos="0"/>
                        </a:tabLst>
                      </a:pPr>
                      <a:r>
                        <a:rPr b="1" lang="en-US" sz="1400" spc="-1" strike="noStrike">
                          <a:solidFill>
                            <a:srgbClr val="0b2545"/>
                          </a:solidFill>
                          <a:latin typeface="Calibri"/>
                          <a:ea typeface="Calibri"/>
                        </a:rPr>
                        <a:t>Warnings</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400" spc="-1" strike="noStrike">
                          <a:solidFill>
                            <a:srgbClr val="1f2933"/>
                          </a:solidFill>
                          <a:latin typeface="Calibri"/>
                          <a:ea typeface="Calibri"/>
                        </a:rPr>
                        <a:t>Triángulo amarillo</a:t>
                      </a:r>
                      <a:endParaRPr b="0" lang="es-ES" sz="14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429" name="CustomShape 9"/>
          <p:cNvSpPr/>
          <p:nvPr/>
        </p:nvSpPr>
        <p:spPr>
          <a:xfrm>
            <a:off x="7132320" y="4023360"/>
            <a:ext cx="4507200" cy="1188000"/>
          </a:xfrm>
          <a:prstGeom prst="roundRect">
            <a:avLst>
              <a:gd name="adj" fmla="val 9231"/>
            </a:avLst>
          </a:prstGeom>
          <a:solidFill>
            <a:srgbClr val="fdede8"/>
          </a:solidFill>
          <a:ln>
            <a:noFill/>
          </a:ln>
        </p:spPr>
        <p:style>
          <a:lnRef idx="0"/>
          <a:fillRef idx="0"/>
          <a:effectRef idx="0"/>
          <a:fontRef idx="minor"/>
        </p:style>
      </p:sp>
      <p:sp>
        <p:nvSpPr>
          <p:cNvPr id="1430" name="CustomShape 10"/>
          <p:cNvSpPr/>
          <p:nvPr/>
        </p:nvSpPr>
        <p:spPr>
          <a:xfrm>
            <a:off x="7315200" y="4389120"/>
            <a:ext cx="456480" cy="456480"/>
          </a:xfrm>
          <a:prstGeom prst="ellipse">
            <a:avLst/>
          </a:prstGeom>
          <a:solidFill>
            <a:srgbClr val="d95d39"/>
          </a:solidFill>
          <a:ln>
            <a:noFill/>
          </a:ln>
        </p:spPr>
        <p:style>
          <a:lnRef idx="0"/>
          <a:fillRef idx="0"/>
          <a:effectRef idx="0"/>
          <a:fontRef idx="minor"/>
        </p:style>
      </p:sp>
      <p:pic>
        <p:nvPicPr>
          <p:cNvPr id="1431" name="Image 0" descr="preencoded.png"/>
          <p:cNvPicPr/>
          <p:nvPr/>
        </p:nvPicPr>
        <p:blipFill>
          <a:blip r:embed="rId1"/>
          <a:stretch/>
        </p:blipFill>
        <p:spPr>
          <a:xfrm>
            <a:off x="7429680" y="4503600"/>
            <a:ext cx="227880" cy="227880"/>
          </a:xfrm>
          <a:prstGeom prst="rect">
            <a:avLst/>
          </a:prstGeom>
          <a:ln>
            <a:noFill/>
          </a:ln>
        </p:spPr>
      </p:pic>
      <p:sp>
        <p:nvSpPr>
          <p:cNvPr id="1432" name="CustomShape 11"/>
          <p:cNvSpPr/>
          <p:nvPr/>
        </p:nvSpPr>
        <p:spPr>
          <a:xfrm>
            <a:off x="7955280" y="4023360"/>
            <a:ext cx="350136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compara siempre planes reales y repite cada consulta 2–3 veces.</a:t>
            </a:r>
            <a:endParaRPr b="0" lang="es-ES" sz="1400" spc="-1" strike="noStrike">
              <a:latin typeface="Arial"/>
            </a:endParaRPr>
          </a:p>
        </p:txBody>
      </p:sp>
      <p:sp>
        <p:nvSpPr>
          <p:cNvPr id="1433" name="CustomShape 12"/>
          <p:cNvSpPr/>
          <p:nvPr/>
        </p:nvSpPr>
        <p:spPr>
          <a:xfrm>
            <a:off x="548640" y="5486400"/>
            <a:ext cx="11090880" cy="685080"/>
          </a:xfrm>
          <a:prstGeom prst="roundRect">
            <a:avLst>
              <a:gd name="adj" fmla="val 16000"/>
            </a:avLst>
          </a:prstGeom>
          <a:solidFill>
            <a:srgbClr val="e8eef5"/>
          </a:solidFill>
          <a:ln>
            <a:noFill/>
          </a:ln>
        </p:spPr>
        <p:style>
          <a:lnRef idx="0"/>
          <a:fillRef idx="0"/>
          <a:effectRef idx="0"/>
          <a:fontRef idx="minor"/>
        </p:style>
      </p:sp>
      <p:sp>
        <p:nvSpPr>
          <p:cNvPr id="1434" name="CustomShape 13"/>
          <p:cNvSpPr/>
          <p:nvPr/>
        </p:nvSpPr>
        <p:spPr>
          <a:xfrm>
            <a:off x="731520" y="5600880"/>
            <a:ext cx="456480" cy="456480"/>
          </a:xfrm>
          <a:prstGeom prst="ellipse">
            <a:avLst/>
          </a:prstGeom>
          <a:solidFill>
            <a:srgbClr val="134074"/>
          </a:solidFill>
          <a:ln>
            <a:noFill/>
          </a:ln>
        </p:spPr>
        <p:style>
          <a:lnRef idx="0"/>
          <a:fillRef idx="0"/>
          <a:effectRef idx="0"/>
          <a:fontRef idx="minor"/>
        </p:style>
      </p:sp>
      <p:pic>
        <p:nvPicPr>
          <p:cNvPr id="1435" name="Image 1" descr="preencoded.png"/>
          <p:cNvPicPr/>
          <p:nvPr/>
        </p:nvPicPr>
        <p:blipFill>
          <a:blip r:embed="rId2"/>
          <a:stretch/>
        </p:blipFill>
        <p:spPr>
          <a:xfrm>
            <a:off x="846000" y="5715000"/>
            <a:ext cx="227880" cy="227880"/>
          </a:xfrm>
          <a:prstGeom prst="rect">
            <a:avLst/>
          </a:prstGeom>
          <a:ln>
            <a:noFill/>
          </a:ln>
        </p:spPr>
      </p:pic>
      <p:sp>
        <p:nvSpPr>
          <p:cNvPr id="1436" name="CustomShape 14"/>
          <p:cNvSpPr/>
          <p:nvPr/>
        </p:nvSpPr>
        <p:spPr>
          <a:xfrm>
            <a:off x="1371600" y="5486400"/>
            <a:ext cx="1008504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Entrega: </a:t>
            </a:r>
            <a:r>
              <a:rPr b="0" lang="en-US" sz="1400" spc="-1" strike="noStrike">
                <a:solidFill>
                  <a:srgbClr val="1f2933"/>
                </a:solidFill>
                <a:latin typeface="Calibri"/>
                <a:ea typeface="Calibri"/>
              </a:rPr>
              <a:t>tabla con operador, lecturas lógicas y desviación estimado/real de A, B y C.</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437" name="CustomShape 1"/>
          <p:cNvSpPr/>
          <p:nvPr/>
        </p:nvSpPr>
        <p:spPr>
          <a:xfrm>
            <a:off x="548640" y="365760"/>
            <a:ext cx="29757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3.3</a:t>
            </a:r>
            <a:endParaRPr b="0" lang="es-ES" sz="1000" spc="-1" strike="noStrike">
              <a:latin typeface="Arial"/>
            </a:endParaRPr>
          </a:p>
        </p:txBody>
      </p:sp>
      <p:sp>
        <p:nvSpPr>
          <p:cNvPr id="143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Lab 3.3 · Cuellos de botella con DMVs</a:t>
            </a:r>
            <a:endParaRPr b="0" lang="es-ES" sz="3400" spc="-1" strike="noStrike">
              <a:latin typeface="Arial"/>
            </a:endParaRPr>
          </a:p>
        </p:txBody>
      </p:sp>
      <p:sp>
        <p:nvSpPr>
          <p:cNvPr id="143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44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3   60</a:t>
            </a:r>
            <a:endParaRPr b="0" lang="es-ES" sz="1000" spc="-1" strike="noStrike">
              <a:latin typeface="Arial"/>
            </a:endParaRPr>
          </a:p>
        </p:txBody>
      </p:sp>
      <p:sp>
        <p:nvSpPr>
          <p:cNvPr id="1441" name="CustomShape 5"/>
          <p:cNvSpPr/>
          <p:nvPr/>
        </p:nvSpPr>
        <p:spPr>
          <a:xfrm>
            <a:off x="548640" y="16002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2" name="CustomShape 6"/>
          <p:cNvSpPr/>
          <p:nvPr/>
        </p:nvSpPr>
        <p:spPr>
          <a:xfrm>
            <a:off x="777240" y="1699200"/>
            <a:ext cx="502200" cy="502200"/>
          </a:xfrm>
          <a:prstGeom prst="ellipse">
            <a:avLst/>
          </a:prstGeom>
          <a:solidFill>
            <a:srgbClr val="134074"/>
          </a:solidFill>
          <a:ln>
            <a:noFill/>
          </a:ln>
        </p:spPr>
        <p:style>
          <a:lnRef idx="0"/>
          <a:fillRef idx="0"/>
          <a:effectRef idx="0"/>
          <a:fontRef idx="minor"/>
        </p:style>
      </p:sp>
      <p:sp>
        <p:nvSpPr>
          <p:cNvPr id="1443" name="CustomShape 7"/>
          <p:cNvSpPr/>
          <p:nvPr/>
        </p:nvSpPr>
        <p:spPr>
          <a:xfrm>
            <a:off x="777240" y="16992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444" name="CustomShape 8"/>
          <p:cNvSpPr/>
          <p:nvPr/>
        </p:nvSpPr>
        <p:spPr>
          <a:xfrm>
            <a:off x="1508760" y="16002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Provocar un bloqueo</a:t>
            </a:r>
            <a:endParaRPr b="0" lang="es-ES" sz="1600" spc="-1" strike="noStrike">
              <a:latin typeface="Arial"/>
            </a:endParaRPr>
          </a:p>
        </p:txBody>
      </p:sp>
      <p:sp>
        <p:nvSpPr>
          <p:cNvPr id="1445" name="CustomShape 9"/>
          <p:cNvSpPr/>
          <p:nvPr/>
        </p:nvSpPr>
        <p:spPr>
          <a:xfrm>
            <a:off x="4114800" y="16002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Sesión 1 abre una transacción con UPDATE sin COMMIT; Sesión 2 ejecuta un SELECT.</a:t>
            </a:r>
            <a:endParaRPr b="0" lang="es-ES" sz="1400" spc="-1" strike="noStrike">
              <a:latin typeface="Arial"/>
            </a:endParaRPr>
          </a:p>
        </p:txBody>
      </p:sp>
      <p:sp>
        <p:nvSpPr>
          <p:cNvPr id="1446" name="CustomShape 10"/>
          <p:cNvSpPr/>
          <p:nvPr/>
        </p:nvSpPr>
        <p:spPr>
          <a:xfrm>
            <a:off x="548640" y="248400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47" name="CustomShape 11"/>
          <p:cNvSpPr/>
          <p:nvPr/>
        </p:nvSpPr>
        <p:spPr>
          <a:xfrm>
            <a:off x="777240" y="2583360"/>
            <a:ext cx="502200" cy="502200"/>
          </a:xfrm>
          <a:prstGeom prst="ellipse">
            <a:avLst/>
          </a:prstGeom>
          <a:solidFill>
            <a:srgbClr val="134074"/>
          </a:solidFill>
          <a:ln>
            <a:noFill/>
          </a:ln>
        </p:spPr>
        <p:style>
          <a:lnRef idx="0"/>
          <a:fillRef idx="0"/>
          <a:effectRef idx="0"/>
          <a:fontRef idx="minor"/>
        </p:style>
      </p:sp>
      <p:sp>
        <p:nvSpPr>
          <p:cNvPr id="1448" name="CustomShape 12"/>
          <p:cNvSpPr/>
          <p:nvPr/>
        </p:nvSpPr>
        <p:spPr>
          <a:xfrm>
            <a:off x="777240" y="25833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449" name="CustomShape 13"/>
          <p:cNvSpPr/>
          <p:nvPr/>
        </p:nvSpPr>
        <p:spPr>
          <a:xfrm>
            <a:off x="1508760" y="248400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Localizar la espera</a:t>
            </a:r>
            <a:endParaRPr b="0" lang="es-ES" sz="1600" spc="-1" strike="noStrike">
              <a:latin typeface="Arial"/>
            </a:endParaRPr>
          </a:p>
        </p:txBody>
      </p:sp>
      <p:sp>
        <p:nvSpPr>
          <p:cNvPr id="1450" name="CustomShape 14"/>
          <p:cNvSpPr/>
          <p:nvPr/>
        </p:nvSpPr>
        <p:spPr>
          <a:xfrm>
            <a:off x="4114800" y="248400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En Sesión 3 consulta sys.dm_exec_requests y sys.dm_os_waiting_tasks (LCK_M_S).</a:t>
            </a:r>
            <a:endParaRPr b="0" lang="es-ES" sz="1400" spc="-1" strike="noStrike">
              <a:latin typeface="Arial"/>
            </a:endParaRPr>
          </a:p>
        </p:txBody>
      </p:sp>
      <p:sp>
        <p:nvSpPr>
          <p:cNvPr id="1451" name="CustomShape 15"/>
          <p:cNvSpPr/>
          <p:nvPr/>
        </p:nvSpPr>
        <p:spPr>
          <a:xfrm>
            <a:off x="548640" y="3368160"/>
            <a:ext cx="11090880" cy="700200"/>
          </a:xfrm>
          <a:prstGeom prst="roundRect">
            <a:avLst>
              <a:gd name="adj" fmla="val 1565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452" name="CustomShape 16"/>
          <p:cNvSpPr/>
          <p:nvPr/>
        </p:nvSpPr>
        <p:spPr>
          <a:xfrm>
            <a:off x="777240" y="3467160"/>
            <a:ext cx="502200" cy="502200"/>
          </a:xfrm>
          <a:prstGeom prst="ellipse">
            <a:avLst/>
          </a:prstGeom>
          <a:solidFill>
            <a:srgbClr val="134074"/>
          </a:solidFill>
          <a:ln>
            <a:noFill/>
          </a:ln>
        </p:spPr>
        <p:style>
          <a:lnRef idx="0"/>
          <a:fillRef idx="0"/>
          <a:effectRef idx="0"/>
          <a:fontRef idx="minor"/>
        </p:style>
      </p:sp>
      <p:sp>
        <p:nvSpPr>
          <p:cNvPr id="1453" name="CustomShape 17"/>
          <p:cNvSpPr/>
          <p:nvPr/>
        </p:nvSpPr>
        <p:spPr>
          <a:xfrm>
            <a:off x="777240" y="346716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454" name="CustomShape 18"/>
          <p:cNvSpPr/>
          <p:nvPr/>
        </p:nvSpPr>
        <p:spPr>
          <a:xfrm>
            <a:off x="1508760" y="3368160"/>
            <a:ext cx="246816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Resolver y revisar</a:t>
            </a:r>
            <a:endParaRPr b="0" lang="es-ES" sz="1600" spc="-1" strike="noStrike">
              <a:latin typeface="Arial"/>
            </a:endParaRPr>
          </a:p>
        </p:txBody>
      </p:sp>
      <p:sp>
        <p:nvSpPr>
          <p:cNvPr id="1455" name="CustomShape 19"/>
          <p:cNvSpPr/>
          <p:nvPr/>
        </p:nvSpPr>
        <p:spPr>
          <a:xfrm>
            <a:off x="4114800" y="3368160"/>
            <a:ext cx="7296120" cy="7002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Identifica al head blocker, haz ROLLBACK y revisa sys.dm_os_wait_stats.</a:t>
            </a:r>
            <a:endParaRPr b="0" lang="es-ES" sz="1400" spc="-1" strike="noStrike">
              <a:latin typeface="Arial"/>
            </a:endParaRPr>
          </a:p>
        </p:txBody>
      </p:sp>
      <p:sp>
        <p:nvSpPr>
          <p:cNvPr id="1456" name="CustomShape 20"/>
          <p:cNvSpPr/>
          <p:nvPr/>
        </p:nvSpPr>
        <p:spPr>
          <a:xfrm>
            <a:off x="54864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57" name="CustomShape 21"/>
          <p:cNvSpPr/>
          <p:nvPr/>
        </p:nvSpPr>
        <p:spPr>
          <a:xfrm>
            <a:off x="73152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SESIONES 1 Y 2</a:t>
            </a:r>
            <a:endParaRPr b="0" lang="es-ES" sz="1000" spc="-1" strike="noStrike">
              <a:latin typeface="Arial"/>
            </a:endParaRPr>
          </a:p>
        </p:txBody>
      </p:sp>
      <p:sp>
        <p:nvSpPr>
          <p:cNvPr id="1458" name="CustomShape 22"/>
          <p:cNvSpPr/>
          <p:nvPr/>
        </p:nvSpPr>
        <p:spPr>
          <a:xfrm>
            <a:off x="73152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Sesión 1: transacción sin cerrar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BEGIN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TRAN</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dbo.Cliente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Activo = </a:t>
            </a:r>
            <a:r>
              <a:rPr b="0" lang="en-US" sz="1200" spc="-1" strike="noStrike">
                <a:solidFill>
                  <a:srgbClr val="9a3412"/>
                </a:solidFill>
                <a:latin typeface="Consolas"/>
                <a:ea typeface="Consolas"/>
              </a:rPr>
              <a:t>0</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Sesión 2: queda bloqueada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Nombre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dbo.Cliente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ClienteId = </a:t>
            </a:r>
            <a:r>
              <a:rPr b="0" lang="en-US" sz="1200" spc="-1" strike="noStrike">
                <a:solidFill>
                  <a:srgbClr val="9a3412"/>
                </a:solidFill>
                <a:latin typeface="Consolas"/>
                <a:ea typeface="Consolas"/>
              </a:rPr>
              <a:t>1</a:t>
            </a:r>
            <a:r>
              <a:rPr b="0" lang="en-US" sz="1200" spc="-1" strike="noStrike">
                <a:solidFill>
                  <a:srgbClr val="1f2933"/>
                </a:solidFill>
                <a:latin typeface="Consolas"/>
                <a:ea typeface="Consolas"/>
              </a:rPr>
              <a:t>;</a:t>
            </a:r>
            <a:endParaRPr b="0" lang="es-ES" sz="1200" spc="-1" strike="noStrike">
              <a:latin typeface="Arial"/>
            </a:endParaRPr>
          </a:p>
        </p:txBody>
      </p:sp>
      <p:sp>
        <p:nvSpPr>
          <p:cNvPr id="1459" name="CustomShape 23"/>
          <p:cNvSpPr/>
          <p:nvPr/>
        </p:nvSpPr>
        <p:spPr>
          <a:xfrm>
            <a:off x="6245280" y="4343400"/>
            <a:ext cx="5394240" cy="1828080"/>
          </a:xfrm>
          <a:prstGeom prst="roundRect">
            <a:avLst>
              <a:gd name="adj" fmla="val 5000"/>
            </a:avLst>
          </a:prstGeom>
          <a:solidFill>
            <a:srgbClr val="eceff3"/>
          </a:solidFill>
          <a:ln w="9360">
            <a:solidFill>
              <a:srgbClr val="d0d7de"/>
            </a:solidFill>
            <a:round/>
          </a:ln>
        </p:spPr>
        <p:style>
          <a:lnRef idx="0"/>
          <a:fillRef idx="0"/>
          <a:effectRef idx="0"/>
          <a:fontRef idx="minor"/>
        </p:style>
      </p:sp>
      <p:sp>
        <p:nvSpPr>
          <p:cNvPr id="1460" name="CustomShape 24"/>
          <p:cNvSpPr/>
          <p:nvPr/>
        </p:nvSpPr>
        <p:spPr>
          <a:xfrm>
            <a:off x="6428160" y="44348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SESIÓN 3 (DBA)</a:t>
            </a:r>
            <a:endParaRPr b="0" lang="es-ES" sz="1000" spc="-1" strike="noStrike">
              <a:latin typeface="Arial"/>
            </a:endParaRPr>
          </a:p>
        </p:txBody>
      </p:sp>
      <p:sp>
        <p:nvSpPr>
          <p:cNvPr id="1461" name="CustomShape 25"/>
          <p:cNvSpPr/>
          <p:nvPr/>
        </p:nvSpPr>
        <p:spPr>
          <a:xfrm>
            <a:off x="6428160" y="4709160"/>
            <a:ext cx="5028480" cy="13708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Resolver: ROLLBACK en la sesión 1</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62"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Módulo 3: puntos clave</a:t>
            </a:r>
            <a:endParaRPr b="0" lang="es-ES" sz="4000" spc="-1" strike="noStrike">
              <a:latin typeface="Arial"/>
            </a:endParaRPr>
          </a:p>
        </p:txBody>
      </p:sp>
      <p:sp>
        <p:nvSpPr>
          <p:cNvPr id="1463"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4"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1465" name="Image 0" descr="preencoded.png"/>
          <p:cNvPicPr/>
          <p:nvPr/>
        </p:nvPicPr>
        <p:blipFill>
          <a:blip r:embed="rId1"/>
          <a:stretch/>
        </p:blipFill>
        <p:spPr>
          <a:xfrm>
            <a:off x="1166040" y="2537640"/>
            <a:ext cx="319320" cy="319320"/>
          </a:xfrm>
          <a:prstGeom prst="rect">
            <a:avLst/>
          </a:prstGeom>
          <a:ln>
            <a:noFill/>
          </a:ln>
        </p:spPr>
      </p:pic>
      <p:sp>
        <p:nvSpPr>
          <p:cNvPr id="1466"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Diseño de índices</a:t>
            </a:r>
            <a:endParaRPr b="0" lang="es-ES" sz="1800" spc="-1" strike="noStrike">
              <a:latin typeface="Arial"/>
            </a:endParaRPr>
          </a:p>
        </p:txBody>
      </p:sp>
      <p:sp>
        <p:nvSpPr>
          <p:cNvPr id="1467"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Clustered estrecho y creciente; NCI con INCLUDE; vigila el coste de escritura.</a:t>
            </a:r>
            <a:endParaRPr b="0" lang="es-ES" sz="1400" spc="-1" strike="noStrike">
              <a:latin typeface="Arial"/>
            </a:endParaRPr>
          </a:p>
        </p:txBody>
      </p:sp>
      <p:sp>
        <p:nvSpPr>
          <p:cNvPr id="1468"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69"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1470" name="Image 1" descr="preencoded.png"/>
          <p:cNvPicPr/>
          <p:nvPr/>
        </p:nvPicPr>
        <p:blipFill>
          <a:blip r:embed="rId2"/>
          <a:stretch/>
        </p:blipFill>
        <p:spPr>
          <a:xfrm>
            <a:off x="3909240" y="2537640"/>
            <a:ext cx="319320" cy="319320"/>
          </a:xfrm>
          <a:prstGeom prst="rect">
            <a:avLst/>
          </a:prstGeom>
          <a:ln>
            <a:noFill/>
          </a:ln>
        </p:spPr>
      </p:pic>
      <p:sp>
        <p:nvSpPr>
          <p:cNvPr id="1471"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Diagnóstico</a:t>
            </a:r>
            <a:endParaRPr b="0" lang="es-ES" sz="1800" spc="-1" strike="noStrike">
              <a:latin typeface="Arial"/>
            </a:endParaRPr>
          </a:p>
        </p:txBody>
      </p:sp>
      <p:sp>
        <p:nvSpPr>
          <p:cNvPr id="1472"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Plan real, STATISTICS IO y DMVs: mide antes de cambiar y compara después.</a:t>
            </a:r>
            <a:endParaRPr b="0" lang="es-ES" sz="1400" spc="-1" strike="noStrike">
              <a:latin typeface="Arial"/>
            </a:endParaRPr>
          </a:p>
        </p:txBody>
      </p:sp>
      <p:sp>
        <p:nvSpPr>
          <p:cNvPr id="1473"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4"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1475" name="Image 2" descr="preencoded.png"/>
          <p:cNvPicPr/>
          <p:nvPr/>
        </p:nvPicPr>
        <p:blipFill>
          <a:blip r:embed="rId3"/>
          <a:stretch/>
        </p:blipFill>
        <p:spPr>
          <a:xfrm>
            <a:off x="6652440" y="2537640"/>
            <a:ext cx="319320" cy="319320"/>
          </a:xfrm>
          <a:prstGeom prst="rect">
            <a:avLst/>
          </a:prstGeom>
          <a:ln>
            <a:noFill/>
          </a:ln>
        </p:spPr>
      </p:pic>
      <p:sp>
        <p:nvSpPr>
          <p:cNvPr id="1476"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Mantenimiento</a:t>
            </a:r>
            <a:endParaRPr b="0" lang="es-ES" sz="1800" spc="-1" strike="noStrike">
              <a:latin typeface="Arial"/>
            </a:endParaRPr>
          </a:p>
        </p:txBody>
      </p:sp>
      <p:sp>
        <p:nvSpPr>
          <p:cNvPr id="1477"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Reorganize 5–30 %, Rebuild &gt; 30 %, estadísticas al día y fillfactor justificado.</a:t>
            </a:r>
            <a:endParaRPr b="0" lang="es-ES" sz="1400" spc="-1" strike="noStrike">
              <a:latin typeface="Arial"/>
            </a:endParaRPr>
          </a:p>
        </p:txBody>
      </p:sp>
      <p:sp>
        <p:nvSpPr>
          <p:cNvPr id="1478"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1479"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1480" name="Image 3" descr="preencoded.png"/>
          <p:cNvPicPr/>
          <p:nvPr/>
        </p:nvPicPr>
        <p:blipFill>
          <a:blip r:embed="rId4"/>
          <a:stretch/>
        </p:blipFill>
        <p:spPr>
          <a:xfrm>
            <a:off x="9395640" y="2537640"/>
            <a:ext cx="319320" cy="319320"/>
          </a:xfrm>
          <a:prstGeom prst="rect">
            <a:avLst/>
          </a:prstGeom>
          <a:ln>
            <a:noFill/>
          </a:ln>
        </p:spPr>
      </p:pic>
      <p:sp>
        <p:nvSpPr>
          <p:cNvPr id="1481"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HA/DR</a:t>
            </a:r>
            <a:endParaRPr b="0" lang="es-ES" sz="1800" spc="-1" strike="noStrike">
              <a:latin typeface="Arial"/>
            </a:endParaRPr>
          </a:p>
        </p:txBody>
      </p:sp>
      <p:sp>
        <p:nvSpPr>
          <p:cNvPr id="1482"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Define RTO y RPO primero; elige Log Shipping, FCI o AG según edición y coste.</a:t>
            </a:r>
            <a:endParaRPr b="0" lang="es-ES" sz="1400" spc="-1" strike="noStrike">
              <a:latin typeface="Arial"/>
            </a:endParaRPr>
          </a:p>
        </p:txBody>
      </p:sp>
      <p:sp>
        <p:nvSpPr>
          <p:cNvPr id="1483"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484"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3   61</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1485" name="CustomShape 1"/>
          <p:cNvSpPr/>
          <p:nvPr/>
        </p:nvSpPr>
        <p:spPr>
          <a:xfrm>
            <a:off x="731520" y="822960"/>
            <a:ext cx="5028480" cy="182808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2000" spc="-1" strike="noStrike">
                <a:solidFill>
                  <a:srgbClr val="1e5aa8"/>
                </a:solidFill>
                <a:latin typeface="Calibri"/>
                <a:ea typeface="Calibri"/>
              </a:rPr>
              <a:t>04</a:t>
            </a:r>
            <a:endParaRPr b="0" lang="es-ES" sz="12000" spc="-1" strike="noStrike">
              <a:latin typeface="Arial"/>
            </a:endParaRPr>
          </a:p>
        </p:txBody>
      </p:sp>
      <p:sp>
        <p:nvSpPr>
          <p:cNvPr id="1486" name="CustomShape 2"/>
          <p:cNvSpPr/>
          <p:nvPr/>
        </p:nvSpPr>
        <p:spPr>
          <a:xfrm>
            <a:off x="731520" y="2880360"/>
            <a:ext cx="2651040" cy="32832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100" spc="94" strike="noStrike">
                <a:solidFill>
                  <a:srgbClr val="ffffff"/>
                </a:solidFill>
                <a:latin typeface="Calibri"/>
                <a:ea typeface="Calibri"/>
              </a:rPr>
              <a:t>MÓDULO 4 · 5 h</a:t>
            </a:r>
            <a:endParaRPr b="0" lang="es-ES" sz="1100" spc="-1" strike="noStrike">
              <a:latin typeface="Arial"/>
            </a:endParaRPr>
          </a:p>
        </p:txBody>
      </p:sp>
      <p:sp>
        <p:nvSpPr>
          <p:cNvPr id="1487" name="CustomShape 3"/>
          <p:cNvSpPr/>
          <p:nvPr/>
        </p:nvSpPr>
        <p:spPr>
          <a:xfrm>
            <a:off x="731520" y="3383280"/>
            <a:ext cx="5394240" cy="15537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3800" spc="-1" strike="noStrike">
                <a:solidFill>
                  <a:srgbClr val="ffffff"/>
                </a:solidFill>
                <a:latin typeface="Calibri"/>
                <a:ea typeface="Calibri"/>
              </a:rPr>
              <a:t>Mantenimiento y Buenas Prácticas</a:t>
            </a:r>
            <a:endParaRPr b="0" lang="es-ES" sz="3800" spc="-1" strike="noStrike">
              <a:latin typeface="Arial"/>
            </a:endParaRPr>
          </a:p>
        </p:txBody>
      </p:sp>
      <p:sp>
        <p:nvSpPr>
          <p:cNvPr id="1488" name="CustomShape 4"/>
          <p:cNvSpPr/>
          <p:nvPr/>
        </p:nvSpPr>
        <p:spPr>
          <a:xfrm>
            <a:off x="731520" y="4983480"/>
            <a:ext cx="5394240" cy="8222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600" spc="-1" strike="noStrike">
                <a:solidFill>
                  <a:srgbClr val="8da9c4"/>
                </a:solidFill>
                <a:latin typeface="Calibri"/>
                <a:ea typeface="Calibri"/>
              </a:rPr>
              <a:t>Recuperación, integridad, automatización y resolución de incidencias</a:t>
            </a:r>
            <a:endParaRPr b="0" lang="es-ES" sz="1600" spc="-1" strike="noStrike">
              <a:latin typeface="Arial"/>
            </a:endParaRPr>
          </a:p>
        </p:txBody>
      </p:sp>
      <p:sp>
        <p:nvSpPr>
          <p:cNvPr id="1489" name="CustomShape 5"/>
          <p:cNvSpPr/>
          <p:nvPr/>
        </p:nvSpPr>
        <p:spPr>
          <a:xfrm>
            <a:off x="6675120" y="10515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0" name="CustomShape 6"/>
          <p:cNvSpPr/>
          <p:nvPr/>
        </p:nvSpPr>
        <p:spPr>
          <a:xfrm>
            <a:off x="6812280" y="1166040"/>
            <a:ext cx="456480" cy="456480"/>
          </a:xfrm>
          <a:prstGeom prst="ellipse">
            <a:avLst/>
          </a:prstGeom>
          <a:solidFill>
            <a:srgbClr val="d95d39"/>
          </a:solidFill>
          <a:ln>
            <a:noFill/>
          </a:ln>
        </p:spPr>
        <p:style>
          <a:lnRef idx="0"/>
          <a:fillRef idx="0"/>
          <a:effectRef idx="0"/>
          <a:fontRef idx="minor"/>
        </p:style>
      </p:sp>
      <p:pic>
        <p:nvPicPr>
          <p:cNvPr id="1491" name="Image 0" descr="preencoded.png"/>
          <p:cNvPicPr/>
          <p:nvPr/>
        </p:nvPicPr>
        <p:blipFill>
          <a:blip r:embed="rId1"/>
          <a:stretch/>
        </p:blipFill>
        <p:spPr>
          <a:xfrm>
            <a:off x="6926760" y="1280160"/>
            <a:ext cx="227880" cy="227880"/>
          </a:xfrm>
          <a:prstGeom prst="rect">
            <a:avLst/>
          </a:prstGeom>
          <a:ln>
            <a:noFill/>
          </a:ln>
        </p:spPr>
      </p:pic>
      <p:sp>
        <p:nvSpPr>
          <p:cNvPr id="1492" name="CustomShape 7"/>
          <p:cNvSpPr/>
          <p:nvPr/>
        </p:nvSpPr>
        <p:spPr>
          <a:xfrm>
            <a:off x="7452360" y="10515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Modelos de recuperación y backups</a:t>
            </a:r>
            <a:endParaRPr b="0" lang="es-ES" sz="1600" spc="-1" strike="noStrike">
              <a:latin typeface="Arial"/>
            </a:endParaRPr>
          </a:p>
        </p:txBody>
      </p:sp>
      <p:sp>
        <p:nvSpPr>
          <p:cNvPr id="1493" name="CustomShape 8"/>
          <p:cNvSpPr/>
          <p:nvPr/>
        </p:nvSpPr>
        <p:spPr>
          <a:xfrm>
            <a:off x="6675120" y="182880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4" name="CustomShape 9"/>
          <p:cNvSpPr/>
          <p:nvPr/>
        </p:nvSpPr>
        <p:spPr>
          <a:xfrm>
            <a:off x="6812280" y="1943280"/>
            <a:ext cx="456480" cy="456480"/>
          </a:xfrm>
          <a:prstGeom prst="ellipse">
            <a:avLst/>
          </a:prstGeom>
          <a:solidFill>
            <a:srgbClr val="d95d39"/>
          </a:solidFill>
          <a:ln>
            <a:noFill/>
          </a:ln>
        </p:spPr>
        <p:style>
          <a:lnRef idx="0"/>
          <a:fillRef idx="0"/>
          <a:effectRef idx="0"/>
          <a:fontRef idx="minor"/>
        </p:style>
      </p:sp>
      <p:pic>
        <p:nvPicPr>
          <p:cNvPr id="1495" name="Image 1" descr="preencoded.png"/>
          <p:cNvPicPr/>
          <p:nvPr/>
        </p:nvPicPr>
        <p:blipFill>
          <a:blip r:embed="rId2"/>
          <a:stretch/>
        </p:blipFill>
        <p:spPr>
          <a:xfrm>
            <a:off x="6926760" y="2057400"/>
            <a:ext cx="227880" cy="227880"/>
          </a:xfrm>
          <a:prstGeom prst="rect">
            <a:avLst/>
          </a:prstGeom>
          <a:ln>
            <a:noFill/>
          </a:ln>
        </p:spPr>
      </p:pic>
      <p:sp>
        <p:nvSpPr>
          <p:cNvPr id="1496" name="CustomShape 10"/>
          <p:cNvSpPr/>
          <p:nvPr/>
        </p:nvSpPr>
        <p:spPr>
          <a:xfrm>
            <a:off x="7452360" y="182880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Restauración point-in-time</a:t>
            </a:r>
            <a:endParaRPr b="0" lang="es-ES" sz="1600" spc="-1" strike="noStrike">
              <a:latin typeface="Arial"/>
            </a:endParaRPr>
          </a:p>
        </p:txBody>
      </p:sp>
      <p:sp>
        <p:nvSpPr>
          <p:cNvPr id="1497" name="CustomShape 11"/>
          <p:cNvSpPr/>
          <p:nvPr/>
        </p:nvSpPr>
        <p:spPr>
          <a:xfrm>
            <a:off x="6675120" y="260604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498" name="CustomShape 12"/>
          <p:cNvSpPr/>
          <p:nvPr/>
        </p:nvSpPr>
        <p:spPr>
          <a:xfrm>
            <a:off x="6812280" y="2720520"/>
            <a:ext cx="456480" cy="456480"/>
          </a:xfrm>
          <a:prstGeom prst="ellipse">
            <a:avLst/>
          </a:prstGeom>
          <a:solidFill>
            <a:srgbClr val="d95d39"/>
          </a:solidFill>
          <a:ln>
            <a:noFill/>
          </a:ln>
        </p:spPr>
        <p:style>
          <a:lnRef idx="0"/>
          <a:fillRef idx="0"/>
          <a:effectRef idx="0"/>
          <a:fontRef idx="minor"/>
        </p:style>
      </p:sp>
      <p:pic>
        <p:nvPicPr>
          <p:cNvPr id="1499" name="Image 2" descr="preencoded.png"/>
          <p:cNvPicPr/>
          <p:nvPr/>
        </p:nvPicPr>
        <p:blipFill>
          <a:blip r:embed="rId3"/>
          <a:stretch/>
        </p:blipFill>
        <p:spPr>
          <a:xfrm>
            <a:off x="6926760" y="2834640"/>
            <a:ext cx="227880" cy="227880"/>
          </a:xfrm>
          <a:prstGeom prst="rect">
            <a:avLst/>
          </a:prstGeom>
          <a:ln>
            <a:noFill/>
          </a:ln>
        </p:spPr>
      </p:pic>
      <p:sp>
        <p:nvSpPr>
          <p:cNvPr id="1500" name="CustomShape 13"/>
          <p:cNvSpPr/>
          <p:nvPr/>
        </p:nvSpPr>
        <p:spPr>
          <a:xfrm>
            <a:off x="7452360" y="260604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Integridad física: DBCC CHECKDB</a:t>
            </a:r>
            <a:endParaRPr b="0" lang="es-ES" sz="1600" spc="-1" strike="noStrike">
              <a:latin typeface="Arial"/>
            </a:endParaRPr>
          </a:p>
        </p:txBody>
      </p:sp>
      <p:sp>
        <p:nvSpPr>
          <p:cNvPr id="1501" name="CustomShape 14"/>
          <p:cNvSpPr/>
          <p:nvPr/>
        </p:nvSpPr>
        <p:spPr>
          <a:xfrm>
            <a:off x="6675120" y="338328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2" name="CustomShape 15"/>
          <p:cNvSpPr/>
          <p:nvPr/>
        </p:nvSpPr>
        <p:spPr>
          <a:xfrm>
            <a:off x="6812280" y="3497760"/>
            <a:ext cx="456480" cy="456480"/>
          </a:xfrm>
          <a:prstGeom prst="ellipse">
            <a:avLst/>
          </a:prstGeom>
          <a:solidFill>
            <a:srgbClr val="d95d39"/>
          </a:solidFill>
          <a:ln>
            <a:noFill/>
          </a:ln>
        </p:spPr>
        <p:style>
          <a:lnRef idx="0"/>
          <a:fillRef idx="0"/>
          <a:effectRef idx="0"/>
          <a:fontRef idx="minor"/>
        </p:style>
      </p:sp>
      <p:pic>
        <p:nvPicPr>
          <p:cNvPr id="1503" name="Image 3" descr="preencoded.png"/>
          <p:cNvPicPr/>
          <p:nvPr/>
        </p:nvPicPr>
        <p:blipFill>
          <a:blip r:embed="rId4"/>
          <a:stretch/>
        </p:blipFill>
        <p:spPr>
          <a:xfrm>
            <a:off x="6926760" y="3611880"/>
            <a:ext cx="227880" cy="227880"/>
          </a:xfrm>
          <a:prstGeom prst="rect">
            <a:avLst/>
          </a:prstGeom>
          <a:ln>
            <a:noFill/>
          </a:ln>
        </p:spPr>
      </p:pic>
      <p:sp>
        <p:nvSpPr>
          <p:cNvPr id="1504" name="CustomShape 16"/>
          <p:cNvSpPr/>
          <p:nvPr/>
        </p:nvSpPr>
        <p:spPr>
          <a:xfrm>
            <a:off x="7452360" y="338328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Mantenimiento automatizado</a:t>
            </a:r>
            <a:endParaRPr b="0" lang="es-ES" sz="1600" spc="-1" strike="noStrike">
              <a:latin typeface="Arial"/>
            </a:endParaRPr>
          </a:p>
        </p:txBody>
      </p:sp>
      <p:sp>
        <p:nvSpPr>
          <p:cNvPr id="1505" name="CustomShape 17"/>
          <p:cNvSpPr/>
          <p:nvPr/>
        </p:nvSpPr>
        <p:spPr>
          <a:xfrm>
            <a:off x="6675120" y="416052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06" name="CustomShape 18"/>
          <p:cNvSpPr/>
          <p:nvPr/>
        </p:nvSpPr>
        <p:spPr>
          <a:xfrm>
            <a:off x="6812280" y="4275000"/>
            <a:ext cx="456480" cy="456480"/>
          </a:xfrm>
          <a:prstGeom prst="ellipse">
            <a:avLst/>
          </a:prstGeom>
          <a:solidFill>
            <a:srgbClr val="d95d39"/>
          </a:solidFill>
          <a:ln>
            <a:noFill/>
          </a:ln>
        </p:spPr>
        <p:style>
          <a:lnRef idx="0"/>
          <a:fillRef idx="0"/>
          <a:effectRef idx="0"/>
          <a:fontRef idx="minor"/>
        </p:style>
      </p:sp>
      <p:pic>
        <p:nvPicPr>
          <p:cNvPr id="1507" name="Image 4" descr="preencoded.png"/>
          <p:cNvPicPr/>
          <p:nvPr/>
        </p:nvPicPr>
        <p:blipFill>
          <a:blip r:embed="rId5"/>
          <a:stretch/>
        </p:blipFill>
        <p:spPr>
          <a:xfrm>
            <a:off x="6926760" y="4389120"/>
            <a:ext cx="227880" cy="227880"/>
          </a:xfrm>
          <a:prstGeom prst="rect">
            <a:avLst/>
          </a:prstGeom>
          <a:ln>
            <a:noFill/>
          </a:ln>
        </p:spPr>
      </p:pic>
      <p:sp>
        <p:nvSpPr>
          <p:cNvPr id="1508" name="CustomShape 19"/>
          <p:cNvSpPr/>
          <p:nvPr/>
        </p:nvSpPr>
        <p:spPr>
          <a:xfrm>
            <a:off x="7452360" y="416052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Incidencias: LDF, TempDB, bloqueos</a:t>
            </a:r>
            <a:endParaRPr b="0" lang="es-ES" sz="1600" spc="-1" strike="noStrike">
              <a:latin typeface="Arial"/>
            </a:endParaRPr>
          </a:p>
        </p:txBody>
      </p:sp>
      <p:sp>
        <p:nvSpPr>
          <p:cNvPr id="1509" name="CustomShape 20"/>
          <p:cNvSpPr/>
          <p:nvPr/>
        </p:nvSpPr>
        <p:spPr>
          <a:xfrm>
            <a:off x="6675120" y="4937760"/>
            <a:ext cx="4937040" cy="666720"/>
          </a:xfrm>
          <a:prstGeom prst="roundRect">
            <a:avLst>
              <a:gd name="adj" fmla="val 13699"/>
            </a:avLst>
          </a:prstGeom>
          <a:solidFill>
            <a:srgbClr val="ffffff">
              <a:alpha val="8000"/>
            </a:srgbClr>
          </a:solidFill>
          <a:ln>
            <a:noFill/>
          </a:ln>
        </p:spPr>
        <p:style>
          <a:lnRef idx="0"/>
          <a:fillRef idx="0"/>
          <a:effectRef idx="0"/>
          <a:fontRef idx="minor"/>
        </p:style>
      </p:sp>
      <p:sp>
        <p:nvSpPr>
          <p:cNvPr id="1510" name="CustomShape 21"/>
          <p:cNvSpPr/>
          <p:nvPr/>
        </p:nvSpPr>
        <p:spPr>
          <a:xfrm>
            <a:off x="6812280" y="5052240"/>
            <a:ext cx="456480" cy="456480"/>
          </a:xfrm>
          <a:prstGeom prst="ellipse">
            <a:avLst/>
          </a:prstGeom>
          <a:solidFill>
            <a:srgbClr val="d95d39"/>
          </a:solidFill>
          <a:ln>
            <a:noFill/>
          </a:ln>
        </p:spPr>
        <p:style>
          <a:lnRef idx="0"/>
          <a:fillRef idx="0"/>
          <a:effectRef idx="0"/>
          <a:fontRef idx="minor"/>
        </p:style>
      </p:sp>
      <p:pic>
        <p:nvPicPr>
          <p:cNvPr id="1511" name="Image 5" descr="preencoded.png"/>
          <p:cNvPicPr/>
          <p:nvPr/>
        </p:nvPicPr>
        <p:blipFill>
          <a:blip r:embed="rId6"/>
          <a:stretch/>
        </p:blipFill>
        <p:spPr>
          <a:xfrm>
            <a:off x="6926760" y="5166360"/>
            <a:ext cx="227880" cy="227880"/>
          </a:xfrm>
          <a:prstGeom prst="rect">
            <a:avLst/>
          </a:prstGeom>
          <a:ln>
            <a:noFill/>
          </a:ln>
        </p:spPr>
      </p:pic>
      <p:sp>
        <p:nvSpPr>
          <p:cNvPr id="1512" name="CustomShape 22"/>
          <p:cNvSpPr/>
          <p:nvPr/>
        </p:nvSpPr>
        <p:spPr>
          <a:xfrm>
            <a:off x="7452360" y="4937760"/>
            <a:ext cx="4022640" cy="6667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600" spc="-1" strike="noStrike">
                <a:solidFill>
                  <a:srgbClr val="ffffff"/>
                </a:solidFill>
                <a:latin typeface="Calibri"/>
                <a:ea typeface="Calibri"/>
              </a:rPr>
              <a:t>Laboratorio 4 y caso integrador</a:t>
            </a:r>
            <a:endParaRPr b="0" lang="es-ES" sz="1600" spc="-1" strike="noStrike">
              <a:latin typeface="Arial"/>
            </a:endParaRPr>
          </a:p>
        </p:txBody>
      </p:sp>
      <p:sp>
        <p:nvSpPr>
          <p:cNvPr id="1513" name="CustomShape 2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1514" name="CustomShape 2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62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15"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16"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Modelos de recuperación</a:t>
            </a:r>
            <a:endParaRPr b="0" lang="es-ES" sz="3400" spc="-1" strike="noStrike">
              <a:latin typeface="Arial"/>
            </a:endParaRPr>
          </a:p>
        </p:txBody>
      </p:sp>
      <p:sp>
        <p:nvSpPr>
          <p:cNvPr id="1517"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18"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63</a:t>
            </a:r>
            <a:endParaRPr b="0" lang="es-ES" sz="1000" spc="-1" strike="noStrike">
              <a:latin typeface="Arial"/>
            </a:endParaRPr>
          </a:p>
        </p:txBody>
      </p:sp>
      <p:graphicFrame>
        <p:nvGraphicFramePr>
          <p:cNvPr id="1519" name="Table 5"/>
          <p:cNvGraphicFramePr/>
          <p:nvPr/>
        </p:nvGraphicFramePr>
        <p:xfrm>
          <a:off x="548640" y="1600200"/>
          <a:ext cx="11091240" cy="2681640"/>
        </p:xfrm>
        <a:graphic>
          <a:graphicData uri="http://schemas.openxmlformats.org/drawingml/2006/table">
            <a:tbl>
              <a:tblPr/>
              <a:tblGrid>
                <a:gridCol w="1920240"/>
                <a:gridCol w="2926080"/>
                <a:gridCol w="3108960"/>
                <a:gridCol w="313632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Aspecto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Simple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Bulk-Logged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Truncado del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Automático en cada checkpoint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Sólo tras BACKUP 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 chain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existe; BACKUP LOG no permitido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Continua; log backups obligatorios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Operaciones masivas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Registro completo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Minimal logging (extents)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Restauración posible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Último Full o Diferencial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(STOPAT)</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Cualquier instante, salvo dentro de logs con carga masiva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1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Uso típico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Desarrollo, DWH recargable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OLTP en producción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Ventanas ETL puntuales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520" name="CustomShape 6"/>
          <p:cNvSpPr/>
          <p:nvPr/>
        </p:nvSpPr>
        <p:spPr>
          <a:xfrm>
            <a:off x="548640" y="5120640"/>
            <a:ext cx="11090880" cy="1005120"/>
          </a:xfrm>
          <a:prstGeom prst="roundRect">
            <a:avLst>
              <a:gd name="adj" fmla="val 10909"/>
            </a:avLst>
          </a:prstGeom>
          <a:solidFill>
            <a:srgbClr val="fdede8"/>
          </a:solidFill>
          <a:ln>
            <a:noFill/>
          </a:ln>
        </p:spPr>
        <p:style>
          <a:lnRef idx="0"/>
          <a:fillRef idx="0"/>
          <a:effectRef idx="0"/>
          <a:fontRef idx="minor"/>
        </p:style>
      </p:sp>
      <p:sp>
        <p:nvSpPr>
          <p:cNvPr id="1521" name="CustomShape 7"/>
          <p:cNvSpPr/>
          <p:nvPr/>
        </p:nvSpPr>
        <p:spPr>
          <a:xfrm>
            <a:off x="731520" y="5394960"/>
            <a:ext cx="456480" cy="456480"/>
          </a:xfrm>
          <a:prstGeom prst="ellipse">
            <a:avLst/>
          </a:prstGeom>
          <a:solidFill>
            <a:srgbClr val="d95d39"/>
          </a:solidFill>
          <a:ln>
            <a:noFill/>
          </a:ln>
        </p:spPr>
        <p:style>
          <a:lnRef idx="0"/>
          <a:fillRef idx="0"/>
          <a:effectRef idx="0"/>
          <a:fontRef idx="minor"/>
        </p:style>
      </p:sp>
      <p:pic>
        <p:nvPicPr>
          <p:cNvPr id="1522" name="Image 0" descr="preencoded.png"/>
          <p:cNvPicPr/>
          <p:nvPr/>
        </p:nvPicPr>
        <p:blipFill>
          <a:blip r:embed="rId1"/>
          <a:stretch/>
        </p:blipFill>
        <p:spPr>
          <a:xfrm>
            <a:off x="846000" y="5509440"/>
            <a:ext cx="227880" cy="227880"/>
          </a:xfrm>
          <a:prstGeom prst="rect">
            <a:avLst/>
          </a:prstGeom>
          <a:ln>
            <a:noFill/>
          </a:ln>
        </p:spPr>
      </p:pic>
      <p:sp>
        <p:nvSpPr>
          <p:cNvPr id="1523" name="CustomShape 8"/>
          <p:cNvSpPr/>
          <p:nvPr/>
        </p:nvSpPr>
        <p:spPr>
          <a:xfrm>
            <a:off x="1371600" y="5120640"/>
            <a:ext cx="10085040" cy="10051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Minimal logging: </a:t>
            </a:r>
            <a:r>
              <a:rPr b="0" lang="en-US" sz="1400" spc="-1" strike="noStrike">
                <a:solidFill>
                  <a:srgbClr val="1f2933"/>
                </a:solidFill>
                <a:latin typeface="Calibri"/>
                <a:ea typeface="Calibri"/>
              </a:rPr>
              <a:t>registra sólo la asignación de extents, no cada fila. Es más rápido y genera menos log, pero un log backup con carga masiva no permite STOPAT en su interior.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52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52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Estrategia: Full + Diferencial + Log chain</a:t>
            </a:r>
            <a:endParaRPr b="0" lang="es-ES" sz="3400" spc="-1" strike="noStrike">
              <a:latin typeface="Arial"/>
            </a:endParaRPr>
          </a:p>
        </p:txBody>
      </p:sp>
      <p:sp>
        <p:nvSpPr>
          <p:cNvPr id="152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52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64</a:t>
            </a:r>
            <a:endParaRPr b="0" lang="es-ES" sz="1000" spc="-1" strike="noStrike">
              <a:latin typeface="Arial"/>
            </a:endParaRPr>
          </a:p>
        </p:txBody>
      </p:sp>
      <p:sp>
        <p:nvSpPr>
          <p:cNvPr id="1528" name="CustomShape 5"/>
          <p:cNvSpPr/>
          <p:nvPr/>
        </p:nvSpPr>
        <p:spPr>
          <a:xfrm>
            <a:off x="228600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Domingo</a:t>
            </a:r>
            <a:endParaRPr b="0" lang="es-ES" sz="1300" spc="-1" strike="noStrike">
              <a:latin typeface="Arial"/>
            </a:endParaRPr>
          </a:p>
        </p:txBody>
      </p:sp>
      <p:sp>
        <p:nvSpPr>
          <p:cNvPr id="1529" name="CustomShape 6"/>
          <p:cNvSpPr/>
          <p:nvPr/>
        </p:nvSpPr>
        <p:spPr>
          <a:xfrm>
            <a:off x="41569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Lunes</a:t>
            </a:r>
            <a:endParaRPr b="0" lang="es-ES" sz="1300" spc="-1" strike="noStrike">
              <a:latin typeface="Arial"/>
            </a:endParaRPr>
          </a:p>
        </p:txBody>
      </p:sp>
      <p:sp>
        <p:nvSpPr>
          <p:cNvPr id="1530" name="CustomShape 7"/>
          <p:cNvSpPr/>
          <p:nvPr/>
        </p:nvSpPr>
        <p:spPr>
          <a:xfrm>
            <a:off x="602784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Martes</a:t>
            </a:r>
            <a:endParaRPr b="0" lang="es-ES" sz="1300" spc="-1" strike="noStrike">
              <a:latin typeface="Arial"/>
            </a:endParaRPr>
          </a:p>
        </p:txBody>
      </p:sp>
      <p:sp>
        <p:nvSpPr>
          <p:cNvPr id="1531" name="CustomShape 8"/>
          <p:cNvSpPr/>
          <p:nvPr/>
        </p:nvSpPr>
        <p:spPr>
          <a:xfrm>
            <a:off x="789876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Miércoles</a:t>
            </a:r>
            <a:endParaRPr b="0" lang="es-ES" sz="1300" spc="-1" strike="noStrike">
              <a:latin typeface="Arial"/>
            </a:endParaRPr>
          </a:p>
        </p:txBody>
      </p:sp>
      <p:sp>
        <p:nvSpPr>
          <p:cNvPr id="1532" name="CustomShape 9"/>
          <p:cNvSpPr/>
          <p:nvPr/>
        </p:nvSpPr>
        <p:spPr>
          <a:xfrm>
            <a:off x="9769320" y="1600200"/>
            <a:ext cx="1833480" cy="346680"/>
          </a:xfrm>
          <a:prstGeom prst="rect">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Jueves</a:t>
            </a:r>
            <a:endParaRPr b="0" lang="es-ES" sz="1300" spc="-1" strike="noStrike">
              <a:latin typeface="Arial"/>
            </a:endParaRPr>
          </a:p>
        </p:txBody>
      </p:sp>
      <p:sp>
        <p:nvSpPr>
          <p:cNvPr id="1533" name="CustomShape 10"/>
          <p:cNvSpPr/>
          <p:nvPr/>
        </p:nvSpPr>
        <p:spPr>
          <a:xfrm>
            <a:off x="548640" y="205740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d95d39"/>
                </a:solidFill>
                <a:latin typeface="Calibri"/>
                <a:ea typeface="Calibri"/>
              </a:rPr>
              <a:t>Full</a:t>
            </a:r>
            <a:endParaRPr b="0" lang="es-ES" sz="1400" spc="-1" strike="noStrike">
              <a:latin typeface="Arial"/>
            </a:endParaRPr>
          </a:p>
        </p:txBody>
      </p:sp>
      <p:sp>
        <p:nvSpPr>
          <p:cNvPr id="1534" name="CustomShape 11"/>
          <p:cNvSpPr/>
          <p:nvPr/>
        </p:nvSpPr>
        <p:spPr>
          <a:xfrm>
            <a:off x="2286000" y="2277000"/>
            <a:ext cx="9353520" cy="17640"/>
          </a:xfrm>
          <a:prstGeom prst="rect">
            <a:avLst/>
          </a:prstGeom>
          <a:solidFill>
            <a:srgbClr val="d0d7de"/>
          </a:solidFill>
          <a:ln>
            <a:noFill/>
          </a:ln>
        </p:spPr>
        <p:style>
          <a:lnRef idx="0"/>
          <a:fillRef idx="0"/>
          <a:effectRef idx="0"/>
          <a:fontRef idx="minor"/>
        </p:style>
      </p:sp>
      <p:sp>
        <p:nvSpPr>
          <p:cNvPr id="1535" name="CustomShape 12"/>
          <p:cNvSpPr/>
          <p:nvPr/>
        </p:nvSpPr>
        <p:spPr>
          <a:xfrm>
            <a:off x="548640" y="265176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34074"/>
                </a:solidFill>
                <a:latin typeface="Calibri"/>
                <a:ea typeface="Calibri"/>
              </a:rPr>
              <a:t>Diferencial</a:t>
            </a:r>
            <a:endParaRPr b="0" lang="es-ES" sz="1400" spc="-1" strike="noStrike">
              <a:latin typeface="Arial"/>
            </a:endParaRPr>
          </a:p>
        </p:txBody>
      </p:sp>
      <p:sp>
        <p:nvSpPr>
          <p:cNvPr id="1536" name="CustomShape 13"/>
          <p:cNvSpPr/>
          <p:nvPr/>
        </p:nvSpPr>
        <p:spPr>
          <a:xfrm>
            <a:off x="2286000" y="2871360"/>
            <a:ext cx="9353520" cy="17640"/>
          </a:xfrm>
          <a:prstGeom prst="rect">
            <a:avLst/>
          </a:prstGeom>
          <a:solidFill>
            <a:srgbClr val="d0d7de"/>
          </a:solidFill>
          <a:ln>
            <a:noFill/>
          </a:ln>
        </p:spPr>
        <p:style>
          <a:lnRef idx="0"/>
          <a:fillRef idx="0"/>
          <a:effectRef idx="0"/>
          <a:fontRef idx="minor"/>
        </p:style>
      </p:sp>
      <p:sp>
        <p:nvSpPr>
          <p:cNvPr id="1537" name="CustomShape 14"/>
          <p:cNvSpPr/>
          <p:nvPr/>
        </p:nvSpPr>
        <p:spPr>
          <a:xfrm>
            <a:off x="548640" y="3246120"/>
            <a:ext cx="1645200" cy="4564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2a7f62"/>
                </a:solidFill>
                <a:latin typeface="Calibri"/>
                <a:ea typeface="Calibri"/>
              </a:rPr>
              <a:t>Log de transacciones</a:t>
            </a:r>
            <a:endParaRPr b="0" lang="es-ES" sz="1400" spc="-1" strike="noStrike">
              <a:latin typeface="Arial"/>
            </a:endParaRPr>
          </a:p>
        </p:txBody>
      </p:sp>
      <p:sp>
        <p:nvSpPr>
          <p:cNvPr id="1538" name="CustomShape 15"/>
          <p:cNvSpPr/>
          <p:nvPr/>
        </p:nvSpPr>
        <p:spPr>
          <a:xfrm>
            <a:off x="2286000" y="3465720"/>
            <a:ext cx="9353520" cy="17640"/>
          </a:xfrm>
          <a:prstGeom prst="rect">
            <a:avLst/>
          </a:prstGeom>
          <a:solidFill>
            <a:srgbClr val="d0d7de"/>
          </a:solidFill>
          <a:ln>
            <a:noFill/>
          </a:ln>
        </p:spPr>
        <p:style>
          <a:lnRef idx="0"/>
          <a:fillRef idx="0"/>
          <a:effectRef idx="0"/>
          <a:fontRef idx="minor"/>
        </p:style>
      </p:sp>
      <p:sp>
        <p:nvSpPr>
          <p:cNvPr id="1539" name="CustomShape 16"/>
          <p:cNvSpPr/>
          <p:nvPr/>
        </p:nvSpPr>
        <p:spPr>
          <a:xfrm>
            <a:off x="3786840" y="2094120"/>
            <a:ext cx="365040" cy="365040"/>
          </a:xfrm>
          <a:prstGeom prst="roundRect">
            <a:avLst>
              <a:gd name="adj" fmla="val 15000"/>
            </a:avLst>
          </a:prstGeom>
          <a:solidFill>
            <a:srgbClr val="d95d39"/>
          </a:solidFill>
          <a:ln>
            <a:noFill/>
          </a:ln>
        </p:spPr>
        <p:style>
          <a:lnRef idx="0"/>
          <a:fillRef idx="0"/>
          <a:effectRef idx="0"/>
          <a:fontRef idx="minor"/>
        </p:style>
      </p:sp>
      <p:sp>
        <p:nvSpPr>
          <p:cNvPr id="1540" name="CustomShape 17"/>
          <p:cNvSpPr/>
          <p:nvPr/>
        </p:nvSpPr>
        <p:spPr>
          <a:xfrm>
            <a:off x="3466800" y="247788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Dom 22:00</a:t>
            </a:r>
            <a:endParaRPr b="0" lang="es-ES" sz="1000" spc="-1" strike="noStrike">
              <a:latin typeface="Arial"/>
            </a:endParaRPr>
          </a:p>
        </p:txBody>
      </p:sp>
      <p:sp>
        <p:nvSpPr>
          <p:cNvPr id="1541" name="CustomShape 18"/>
          <p:cNvSpPr/>
          <p:nvPr/>
        </p:nvSpPr>
        <p:spPr>
          <a:xfrm>
            <a:off x="5657760" y="2688480"/>
            <a:ext cx="365040" cy="365040"/>
          </a:xfrm>
          <a:prstGeom prst="roundRect">
            <a:avLst>
              <a:gd name="adj" fmla="val 15000"/>
            </a:avLst>
          </a:prstGeom>
          <a:solidFill>
            <a:srgbClr val="134074"/>
          </a:solidFill>
          <a:ln>
            <a:noFill/>
          </a:ln>
        </p:spPr>
        <p:style>
          <a:lnRef idx="0"/>
          <a:fillRef idx="0"/>
          <a:effectRef idx="0"/>
          <a:fontRef idx="minor"/>
        </p:style>
      </p:sp>
      <p:sp>
        <p:nvSpPr>
          <p:cNvPr id="1542" name="CustomShape 19"/>
          <p:cNvSpPr/>
          <p:nvPr/>
        </p:nvSpPr>
        <p:spPr>
          <a:xfrm>
            <a:off x="533772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Lun 22:00</a:t>
            </a:r>
            <a:endParaRPr b="0" lang="es-ES" sz="1000" spc="-1" strike="noStrike">
              <a:latin typeface="Arial"/>
            </a:endParaRPr>
          </a:p>
        </p:txBody>
      </p:sp>
      <p:sp>
        <p:nvSpPr>
          <p:cNvPr id="1543" name="CustomShape 20"/>
          <p:cNvSpPr/>
          <p:nvPr/>
        </p:nvSpPr>
        <p:spPr>
          <a:xfrm>
            <a:off x="7528680" y="2688480"/>
            <a:ext cx="365040" cy="365040"/>
          </a:xfrm>
          <a:prstGeom prst="roundRect">
            <a:avLst>
              <a:gd name="adj" fmla="val 15000"/>
            </a:avLst>
          </a:prstGeom>
          <a:solidFill>
            <a:srgbClr val="134074"/>
          </a:solidFill>
          <a:ln>
            <a:noFill/>
          </a:ln>
        </p:spPr>
        <p:style>
          <a:lnRef idx="0"/>
          <a:fillRef idx="0"/>
          <a:effectRef idx="0"/>
          <a:fontRef idx="minor"/>
        </p:style>
      </p:sp>
      <p:sp>
        <p:nvSpPr>
          <p:cNvPr id="1544" name="CustomShape 21"/>
          <p:cNvSpPr/>
          <p:nvPr/>
        </p:nvSpPr>
        <p:spPr>
          <a:xfrm>
            <a:off x="7208640" y="307224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Mar 22:00</a:t>
            </a:r>
            <a:endParaRPr b="0" lang="es-ES" sz="1000" spc="-1" strike="noStrike">
              <a:latin typeface="Arial"/>
            </a:endParaRPr>
          </a:p>
        </p:txBody>
      </p:sp>
      <p:sp>
        <p:nvSpPr>
          <p:cNvPr id="1545" name="CustomShape 22"/>
          <p:cNvSpPr/>
          <p:nvPr/>
        </p:nvSpPr>
        <p:spPr>
          <a:xfrm>
            <a:off x="3988800" y="3355920"/>
            <a:ext cx="36000" cy="218880"/>
          </a:xfrm>
          <a:prstGeom prst="rect">
            <a:avLst/>
          </a:prstGeom>
          <a:solidFill>
            <a:srgbClr val="2a7f62"/>
          </a:solidFill>
          <a:ln>
            <a:noFill/>
          </a:ln>
        </p:spPr>
        <p:style>
          <a:lnRef idx="0"/>
          <a:fillRef idx="0"/>
          <a:effectRef idx="0"/>
          <a:fontRef idx="minor"/>
        </p:style>
      </p:sp>
      <p:sp>
        <p:nvSpPr>
          <p:cNvPr id="1546" name="CustomShape 23"/>
          <p:cNvSpPr/>
          <p:nvPr/>
        </p:nvSpPr>
        <p:spPr>
          <a:xfrm>
            <a:off x="4063680" y="3355920"/>
            <a:ext cx="36000" cy="218880"/>
          </a:xfrm>
          <a:prstGeom prst="rect">
            <a:avLst/>
          </a:prstGeom>
          <a:solidFill>
            <a:srgbClr val="2a7f62"/>
          </a:solidFill>
          <a:ln>
            <a:noFill/>
          </a:ln>
        </p:spPr>
        <p:style>
          <a:lnRef idx="0"/>
          <a:fillRef idx="0"/>
          <a:effectRef idx="0"/>
          <a:fontRef idx="minor"/>
        </p:style>
      </p:sp>
      <p:sp>
        <p:nvSpPr>
          <p:cNvPr id="1547" name="CustomShape 24"/>
          <p:cNvSpPr/>
          <p:nvPr/>
        </p:nvSpPr>
        <p:spPr>
          <a:xfrm>
            <a:off x="4138560" y="3355920"/>
            <a:ext cx="36000" cy="218880"/>
          </a:xfrm>
          <a:prstGeom prst="rect">
            <a:avLst/>
          </a:prstGeom>
          <a:solidFill>
            <a:srgbClr val="2a7f62"/>
          </a:solidFill>
          <a:ln>
            <a:noFill/>
          </a:ln>
        </p:spPr>
        <p:style>
          <a:lnRef idx="0"/>
          <a:fillRef idx="0"/>
          <a:effectRef idx="0"/>
          <a:fontRef idx="minor"/>
        </p:style>
      </p:sp>
      <p:sp>
        <p:nvSpPr>
          <p:cNvPr id="1548" name="CustomShape 25"/>
          <p:cNvSpPr/>
          <p:nvPr/>
        </p:nvSpPr>
        <p:spPr>
          <a:xfrm>
            <a:off x="4213440" y="3355920"/>
            <a:ext cx="36000" cy="218880"/>
          </a:xfrm>
          <a:prstGeom prst="rect">
            <a:avLst/>
          </a:prstGeom>
          <a:solidFill>
            <a:srgbClr val="2a7f62"/>
          </a:solidFill>
          <a:ln>
            <a:noFill/>
          </a:ln>
        </p:spPr>
        <p:style>
          <a:lnRef idx="0"/>
          <a:fillRef idx="0"/>
          <a:effectRef idx="0"/>
          <a:fontRef idx="minor"/>
        </p:style>
      </p:sp>
      <p:sp>
        <p:nvSpPr>
          <p:cNvPr id="1549" name="CustomShape 26"/>
          <p:cNvSpPr/>
          <p:nvPr/>
        </p:nvSpPr>
        <p:spPr>
          <a:xfrm>
            <a:off x="4288320" y="3355920"/>
            <a:ext cx="36000" cy="218880"/>
          </a:xfrm>
          <a:prstGeom prst="rect">
            <a:avLst/>
          </a:prstGeom>
          <a:solidFill>
            <a:srgbClr val="2a7f62"/>
          </a:solidFill>
          <a:ln>
            <a:noFill/>
          </a:ln>
        </p:spPr>
        <p:style>
          <a:lnRef idx="0"/>
          <a:fillRef idx="0"/>
          <a:effectRef idx="0"/>
          <a:fontRef idx="minor"/>
        </p:style>
      </p:sp>
      <p:sp>
        <p:nvSpPr>
          <p:cNvPr id="1550" name="CustomShape 27"/>
          <p:cNvSpPr/>
          <p:nvPr/>
        </p:nvSpPr>
        <p:spPr>
          <a:xfrm>
            <a:off x="4363200" y="3355920"/>
            <a:ext cx="36000" cy="218880"/>
          </a:xfrm>
          <a:prstGeom prst="rect">
            <a:avLst/>
          </a:prstGeom>
          <a:solidFill>
            <a:srgbClr val="2a7f62"/>
          </a:solidFill>
          <a:ln>
            <a:noFill/>
          </a:ln>
        </p:spPr>
        <p:style>
          <a:lnRef idx="0"/>
          <a:fillRef idx="0"/>
          <a:effectRef idx="0"/>
          <a:fontRef idx="minor"/>
        </p:style>
      </p:sp>
      <p:sp>
        <p:nvSpPr>
          <p:cNvPr id="1551" name="CustomShape 28"/>
          <p:cNvSpPr/>
          <p:nvPr/>
        </p:nvSpPr>
        <p:spPr>
          <a:xfrm>
            <a:off x="4438080" y="3355920"/>
            <a:ext cx="36000" cy="218880"/>
          </a:xfrm>
          <a:prstGeom prst="rect">
            <a:avLst/>
          </a:prstGeom>
          <a:solidFill>
            <a:srgbClr val="2a7f62"/>
          </a:solidFill>
          <a:ln>
            <a:noFill/>
          </a:ln>
        </p:spPr>
        <p:style>
          <a:lnRef idx="0"/>
          <a:fillRef idx="0"/>
          <a:effectRef idx="0"/>
          <a:fontRef idx="minor"/>
        </p:style>
      </p:sp>
      <p:sp>
        <p:nvSpPr>
          <p:cNvPr id="1552" name="CustomShape 29"/>
          <p:cNvSpPr/>
          <p:nvPr/>
        </p:nvSpPr>
        <p:spPr>
          <a:xfrm>
            <a:off x="4512600" y="3355920"/>
            <a:ext cx="36000" cy="218880"/>
          </a:xfrm>
          <a:prstGeom prst="rect">
            <a:avLst/>
          </a:prstGeom>
          <a:solidFill>
            <a:srgbClr val="2a7f62"/>
          </a:solidFill>
          <a:ln>
            <a:noFill/>
          </a:ln>
        </p:spPr>
        <p:style>
          <a:lnRef idx="0"/>
          <a:fillRef idx="0"/>
          <a:effectRef idx="0"/>
          <a:fontRef idx="minor"/>
        </p:style>
      </p:sp>
      <p:sp>
        <p:nvSpPr>
          <p:cNvPr id="1553" name="CustomShape 30"/>
          <p:cNvSpPr/>
          <p:nvPr/>
        </p:nvSpPr>
        <p:spPr>
          <a:xfrm>
            <a:off x="4587480" y="3355920"/>
            <a:ext cx="36000" cy="218880"/>
          </a:xfrm>
          <a:prstGeom prst="rect">
            <a:avLst/>
          </a:prstGeom>
          <a:solidFill>
            <a:srgbClr val="2a7f62"/>
          </a:solidFill>
          <a:ln>
            <a:noFill/>
          </a:ln>
        </p:spPr>
        <p:style>
          <a:lnRef idx="0"/>
          <a:fillRef idx="0"/>
          <a:effectRef idx="0"/>
          <a:fontRef idx="minor"/>
        </p:style>
      </p:sp>
      <p:sp>
        <p:nvSpPr>
          <p:cNvPr id="1554" name="CustomShape 31"/>
          <p:cNvSpPr/>
          <p:nvPr/>
        </p:nvSpPr>
        <p:spPr>
          <a:xfrm>
            <a:off x="4662360" y="3355920"/>
            <a:ext cx="36000" cy="218880"/>
          </a:xfrm>
          <a:prstGeom prst="rect">
            <a:avLst/>
          </a:prstGeom>
          <a:solidFill>
            <a:srgbClr val="2a7f62"/>
          </a:solidFill>
          <a:ln>
            <a:noFill/>
          </a:ln>
        </p:spPr>
        <p:style>
          <a:lnRef idx="0"/>
          <a:fillRef idx="0"/>
          <a:effectRef idx="0"/>
          <a:fontRef idx="minor"/>
        </p:style>
      </p:sp>
      <p:sp>
        <p:nvSpPr>
          <p:cNvPr id="1555" name="CustomShape 32"/>
          <p:cNvSpPr/>
          <p:nvPr/>
        </p:nvSpPr>
        <p:spPr>
          <a:xfrm>
            <a:off x="4737240" y="3355920"/>
            <a:ext cx="36000" cy="218880"/>
          </a:xfrm>
          <a:prstGeom prst="rect">
            <a:avLst/>
          </a:prstGeom>
          <a:solidFill>
            <a:srgbClr val="2a7f62"/>
          </a:solidFill>
          <a:ln>
            <a:noFill/>
          </a:ln>
        </p:spPr>
        <p:style>
          <a:lnRef idx="0"/>
          <a:fillRef idx="0"/>
          <a:effectRef idx="0"/>
          <a:fontRef idx="minor"/>
        </p:style>
      </p:sp>
      <p:sp>
        <p:nvSpPr>
          <p:cNvPr id="1556" name="CustomShape 33"/>
          <p:cNvSpPr/>
          <p:nvPr/>
        </p:nvSpPr>
        <p:spPr>
          <a:xfrm>
            <a:off x="4812120" y="3355920"/>
            <a:ext cx="36000" cy="218880"/>
          </a:xfrm>
          <a:prstGeom prst="rect">
            <a:avLst/>
          </a:prstGeom>
          <a:solidFill>
            <a:srgbClr val="2a7f62"/>
          </a:solidFill>
          <a:ln>
            <a:noFill/>
          </a:ln>
        </p:spPr>
        <p:style>
          <a:lnRef idx="0"/>
          <a:fillRef idx="0"/>
          <a:effectRef idx="0"/>
          <a:fontRef idx="minor"/>
        </p:style>
      </p:sp>
      <p:sp>
        <p:nvSpPr>
          <p:cNvPr id="1557" name="CustomShape 34"/>
          <p:cNvSpPr/>
          <p:nvPr/>
        </p:nvSpPr>
        <p:spPr>
          <a:xfrm>
            <a:off x="4887000" y="3355920"/>
            <a:ext cx="36000" cy="218880"/>
          </a:xfrm>
          <a:prstGeom prst="rect">
            <a:avLst/>
          </a:prstGeom>
          <a:solidFill>
            <a:srgbClr val="2a7f62"/>
          </a:solidFill>
          <a:ln>
            <a:noFill/>
          </a:ln>
        </p:spPr>
        <p:style>
          <a:lnRef idx="0"/>
          <a:fillRef idx="0"/>
          <a:effectRef idx="0"/>
          <a:fontRef idx="minor"/>
        </p:style>
      </p:sp>
      <p:sp>
        <p:nvSpPr>
          <p:cNvPr id="1558" name="CustomShape 35"/>
          <p:cNvSpPr/>
          <p:nvPr/>
        </p:nvSpPr>
        <p:spPr>
          <a:xfrm>
            <a:off x="4961880" y="3355920"/>
            <a:ext cx="36000" cy="218880"/>
          </a:xfrm>
          <a:prstGeom prst="rect">
            <a:avLst/>
          </a:prstGeom>
          <a:solidFill>
            <a:srgbClr val="2a7f62"/>
          </a:solidFill>
          <a:ln>
            <a:noFill/>
          </a:ln>
        </p:spPr>
        <p:style>
          <a:lnRef idx="0"/>
          <a:fillRef idx="0"/>
          <a:effectRef idx="0"/>
          <a:fontRef idx="minor"/>
        </p:style>
      </p:sp>
      <p:sp>
        <p:nvSpPr>
          <p:cNvPr id="1559" name="CustomShape 36"/>
          <p:cNvSpPr/>
          <p:nvPr/>
        </p:nvSpPr>
        <p:spPr>
          <a:xfrm>
            <a:off x="5036760" y="3355920"/>
            <a:ext cx="36000" cy="218880"/>
          </a:xfrm>
          <a:prstGeom prst="rect">
            <a:avLst/>
          </a:prstGeom>
          <a:solidFill>
            <a:srgbClr val="2a7f62"/>
          </a:solidFill>
          <a:ln>
            <a:noFill/>
          </a:ln>
        </p:spPr>
        <p:style>
          <a:lnRef idx="0"/>
          <a:fillRef idx="0"/>
          <a:effectRef idx="0"/>
          <a:fontRef idx="minor"/>
        </p:style>
      </p:sp>
      <p:sp>
        <p:nvSpPr>
          <p:cNvPr id="1560" name="CustomShape 37"/>
          <p:cNvSpPr/>
          <p:nvPr/>
        </p:nvSpPr>
        <p:spPr>
          <a:xfrm>
            <a:off x="5111280" y="3355920"/>
            <a:ext cx="36000" cy="218880"/>
          </a:xfrm>
          <a:prstGeom prst="rect">
            <a:avLst/>
          </a:prstGeom>
          <a:solidFill>
            <a:srgbClr val="2a7f62"/>
          </a:solidFill>
          <a:ln>
            <a:noFill/>
          </a:ln>
        </p:spPr>
        <p:style>
          <a:lnRef idx="0"/>
          <a:fillRef idx="0"/>
          <a:effectRef idx="0"/>
          <a:fontRef idx="minor"/>
        </p:style>
      </p:sp>
      <p:sp>
        <p:nvSpPr>
          <p:cNvPr id="1561" name="CustomShape 38"/>
          <p:cNvSpPr/>
          <p:nvPr/>
        </p:nvSpPr>
        <p:spPr>
          <a:xfrm>
            <a:off x="5186160" y="3355920"/>
            <a:ext cx="36000" cy="218880"/>
          </a:xfrm>
          <a:prstGeom prst="rect">
            <a:avLst/>
          </a:prstGeom>
          <a:solidFill>
            <a:srgbClr val="2a7f62"/>
          </a:solidFill>
          <a:ln>
            <a:noFill/>
          </a:ln>
        </p:spPr>
        <p:style>
          <a:lnRef idx="0"/>
          <a:fillRef idx="0"/>
          <a:effectRef idx="0"/>
          <a:fontRef idx="minor"/>
        </p:style>
      </p:sp>
      <p:sp>
        <p:nvSpPr>
          <p:cNvPr id="1562" name="CustomShape 39"/>
          <p:cNvSpPr/>
          <p:nvPr/>
        </p:nvSpPr>
        <p:spPr>
          <a:xfrm>
            <a:off x="5261040" y="3355920"/>
            <a:ext cx="36000" cy="218880"/>
          </a:xfrm>
          <a:prstGeom prst="rect">
            <a:avLst/>
          </a:prstGeom>
          <a:solidFill>
            <a:srgbClr val="2a7f62"/>
          </a:solidFill>
          <a:ln>
            <a:noFill/>
          </a:ln>
        </p:spPr>
        <p:style>
          <a:lnRef idx="0"/>
          <a:fillRef idx="0"/>
          <a:effectRef idx="0"/>
          <a:fontRef idx="minor"/>
        </p:style>
      </p:sp>
      <p:sp>
        <p:nvSpPr>
          <p:cNvPr id="1563" name="CustomShape 40"/>
          <p:cNvSpPr/>
          <p:nvPr/>
        </p:nvSpPr>
        <p:spPr>
          <a:xfrm>
            <a:off x="5335920" y="3355920"/>
            <a:ext cx="36000" cy="218880"/>
          </a:xfrm>
          <a:prstGeom prst="rect">
            <a:avLst/>
          </a:prstGeom>
          <a:solidFill>
            <a:srgbClr val="2a7f62"/>
          </a:solidFill>
          <a:ln>
            <a:noFill/>
          </a:ln>
        </p:spPr>
        <p:style>
          <a:lnRef idx="0"/>
          <a:fillRef idx="0"/>
          <a:effectRef idx="0"/>
          <a:fontRef idx="minor"/>
        </p:style>
      </p:sp>
      <p:sp>
        <p:nvSpPr>
          <p:cNvPr id="1564" name="CustomShape 41"/>
          <p:cNvSpPr/>
          <p:nvPr/>
        </p:nvSpPr>
        <p:spPr>
          <a:xfrm>
            <a:off x="5410800" y="3355920"/>
            <a:ext cx="36000" cy="218880"/>
          </a:xfrm>
          <a:prstGeom prst="rect">
            <a:avLst/>
          </a:prstGeom>
          <a:solidFill>
            <a:srgbClr val="2a7f62"/>
          </a:solidFill>
          <a:ln>
            <a:noFill/>
          </a:ln>
        </p:spPr>
        <p:style>
          <a:lnRef idx="0"/>
          <a:fillRef idx="0"/>
          <a:effectRef idx="0"/>
          <a:fontRef idx="minor"/>
        </p:style>
      </p:sp>
      <p:sp>
        <p:nvSpPr>
          <p:cNvPr id="1565" name="CustomShape 42"/>
          <p:cNvSpPr/>
          <p:nvPr/>
        </p:nvSpPr>
        <p:spPr>
          <a:xfrm>
            <a:off x="5485680" y="3355920"/>
            <a:ext cx="36000" cy="218880"/>
          </a:xfrm>
          <a:prstGeom prst="rect">
            <a:avLst/>
          </a:prstGeom>
          <a:solidFill>
            <a:srgbClr val="2a7f62"/>
          </a:solidFill>
          <a:ln>
            <a:noFill/>
          </a:ln>
        </p:spPr>
        <p:style>
          <a:lnRef idx="0"/>
          <a:fillRef idx="0"/>
          <a:effectRef idx="0"/>
          <a:fontRef idx="minor"/>
        </p:style>
      </p:sp>
      <p:sp>
        <p:nvSpPr>
          <p:cNvPr id="1566" name="CustomShape 43"/>
          <p:cNvSpPr/>
          <p:nvPr/>
        </p:nvSpPr>
        <p:spPr>
          <a:xfrm>
            <a:off x="5560560" y="3355920"/>
            <a:ext cx="36000" cy="218880"/>
          </a:xfrm>
          <a:prstGeom prst="rect">
            <a:avLst/>
          </a:prstGeom>
          <a:solidFill>
            <a:srgbClr val="2a7f62"/>
          </a:solidFill>
          <a:ln>
            <a:noFill/>
          </a:ln>
        </p:spPr>
        <p:style>
          <a:lnRef idx="0"/>
          <a:fillRef idx="0"/>
          <a:effectRef idx="0"/>
          <a:fontRef idx="minor"/>
        </p:style>
      </p:sp>
      <p:sp>
        <p:nvSpPr>
          <p:cNvPr id="1567" name="CustomShape 44"/>
          <p:cNvSpPr/>
          <p:nvPr/>
        </p:nvSpPr>
        <p:spPr>
          <a:xfrm>
            <a:off x="5635440" y="3355920"/>
            <a:ext cx="36000" cy="218880"/>
          </a:xfrm>
          <a:prstGeom prst="rect">
            <a:avLst/>
          </a:prstGeom>
          <a:solidFill>
            <a:srgbClr val="2a7f62"/>
          </a:solidFill>
          <a:ln>
            <a:noFill/>
          </a:ln>
        </p:spPr>
        <p:style>
          <a:lnRef idx="0"/>
          <a:fillRef idx="0"/>
          <a:effectRef idx="0"/>
          <a:fontRef idx="minor"/>
        </p:style>
      </p:sp>
      <p:sp>
        <p:nvSpPr>
          <p:cNvPr id="1568" name="CustomShape 45"/>
          <p:cNvSpPr/>
          <p:nvPr/>
        </p:nvSpPr>
        <p:spPr>
          <a:xfrm>
            <a:off x="5709960" y="3355920"/>
            <a:ext cx="36000" cy="218880"/>
          </a:xfrm>
          <a:prstGeom prst="rect">
            <a:avLst/>
          </a:prstGeom>
          <a:solidFill>
            <a:srgbClr val="2a7f62"/>
          </a:solidFill>
          <a:ln>
            <a:noFill/>
          </a:ln>
        </p:spPr>
        <p:style>
          <a:lnRef idx="0"/>
          <a:fillRef idx="0"/>
          <a:effectRef idx="0"/>
          <a:fontRef idx="minor"/>
        </p:style>
      </p:sp>
      <p:sp>
        <p:nvSpPr>
          <p:cNvPr id="1569" name="CustomShape 46"/>
          <p:cNvSpPr/>
          <p:nvPr/>
        </p:nvSpPr>
        <p:spPr>
          <a:xfrm>
            <a:off x="5784840" y="3355920"/>
            <a:ext cx="36000" cy="218880"/>
          </a:xfrm>
          <a:prstGeom prst="rect">
            <a:avLst/>
          </a:prstGeom>
          <a:solidFill>
            <a:srgbClr val="2a7f62"/>
          </a:solidFill>
          <a:ln>
            <a:noFill/>
          </a:ln>
        </p:spPr>
        <p:style>
          <a:lnRef idx="0"/>
          <a:fillRef idx="0"/>
          <a:effectRef idx="0"/>
          <a:fontRef idx="minor"/>
        </p:style>
      </p:sp>
      <p:sp>
        <p:nvSpPr>
          <p:cNvPr id="1570" name="CustomShape 47"/>
          <p:cNvSpPr/>
          <p:nvPr/>
        </p:nvSpPr>
        <p:spPr>
          <a:xfrm>
            <a:off x="5859720" y="3355920"/>
            <a:ext cx="36000" cy="218880"/>
          </a:xfrm>
          <a:prstGeom prst="rect">
            <a:avLst/>
          </a:prstGeom>
          <a:solidFill>
            <a:srgbClr val="2a7f62"/>
          </a:solidFill>
          <a:ln>
            <a:noFill/>
          </a:ln>
        </p:spPr>
        <p:style>
          <a:lnRef idx="0"/>
          <a:fillRef idx="0"/>
          <a:effectRef idx="0"/>
          <a:fontRef idx="minor"/>
        </p:style>
      </p:sp>
      <p:sp>
        <p:nvSpPr>
          <p:cNvPr id="1571" name="CustomShape 48"/>
          <p:cNvSpPr/>
          <p:nvPr/>
        </p:nvSpPr>
        <p:spPr>
          <a:xfrm>
            <a:off x="5934600" y="3355920"/>
            <a:ext cx="36000" cy="218880"/>
          </a:xfrm>
          <a:prstGeom prst="rect">
            <a:avLst/>
          </a:prstGeom>
          <a:solidFill>
            <a:srgbClr val="2a7f62"/>
          </a:solidFill>
          <a:ln>
            <a:noFill/>
          </a:ln>
        </p:spPr>
        <p:style>
          <a:lnRef idx="0"/>
          <a:fillRef idx="0"/>
          <a:effectRef idx="0"/>
          <a:fontRef idx="minor"/>
        </p:style>
      </p:sp>
      <p:sp>
        <p:nvSpPr>
          <p:cNvPr id="1572" name="CustomShape 49"/>
          <p:cNvSpPr/>
          <p:nvPr/>
        </p:nvSpPr>
        <p:spPr>
          <a:xfrm>
            <a:off x="6009480" y="3355920"/>
            <a:ext cx="36000" cy="218880"/>
          </a:xfrm>
          <a:prstGeom prst="rect">
            <a:avLst/>
          </a:prstGeom>
          <a:solidFill>
            <a:srgbClr val="2a7f62"/>
          </a:solidFill>
          <a:ln>
            <a:noFill/>
          </a:ln>
        </p:spPr>
        <p:style>
          <a:lnRef idx="0"/>
          <a:fillRef idx="0"/>
          <a:effectRef idx="0"/>
          <a:fontRef idx="minor"/>
        </p:style>
      </p:sp>
      <p:sp>
        <p:nvSpPr>
          <p:cNvPr id="1573" name="CustomShape 50"/>
          <p:cNvSpPr/>
          <p:nvPr/>
        </p:nvSpPr>
        <p:spPr>
          <a:xfrm>
            <a:off x="6084360" y="3355920"/>
            <a:ext cx="36000" cy="218880"/>
          </a:xfrm>
          <a:prstGeom prst="rect">
            <a:avLst/>
          </a:prstGeom>
          <a:solidFill>
            <a:srgbClr val="2a7f62"/>
          </a:solidFill>
          <a:ln>
            <a:noFill/>
          </a:ln>
        </p:spPr>
        <p:style>
          <a:lnRef idx="0"/>
          <a:fillRef idx="0"/>
          <a:effectRef idx="0"/>
          <a:fontRef idx="minor"/>
        </p:style>
      </p:sp>
      <p:sp>
        <p:nvSpPr>
          <p:cNvPr id="1574" name="CustomShape 51"/>
          <p:cNvSpPr/>
          <p:nvPr/>
        </p:nvSpPr>
        <p:spPr>
          <a:xfrm>
            <a:off x="6159240" y="3355920"/>
            <a:ext cx="36000" cy="218880"/>
          </a:xfrm>
          <a:prstGeom prst="rect">
            <a:avLst/>
          </a:prstGeom>
          <a:solidFill>
            <a:srgbClr val="2a7f62"/>
          </a:solidFill>
          <a:ln>
            <a:noFill/>
          </a:ln>
        </p:spPr>
        <p:style>
          <a:lnRef idx="0"/>
          <a:fillRef idx="0"/>
          <a:effectRef idx="0"/>
          <a:fontRef idx="minor"/>
        </p:style>
      </p:sp>
      <p:sp>
        <p:nvSpPr>
          <p:cNvPr id="1575" name="CustomShape 52"/>
          <p:cNvSpPr/>
          <p:nvPr/>
        </p:nvSpPr>
        <p:spPr>
          <a:xfrm>
            <a:off x="6234120" y="3355920"/>
            <a:ext cx="36000" cy="218880"/>
          </a:xfrm>
          <a:prstGeom prst="rect">
            <a:avLst/>
          </a:prstGeom>
          <a:solidFill>
            <a:srgbClr val="2a7f62"/>
          </a:solidFill>
          <a:ln>
            <a:noFill/>
          </a:ln>
        </p:spPr>
        <p:style>
          <a:lnRef idx="0"/>
          <a:fillRef idx="0"/>
          <a:effectRef idx="0"/>
          <a:fontRef idx="minor"/>
        </p:style>
      </p:sp>
      <p:sp>
        <p:nvSpPr>
          <p:cNvPr id="1576" name="CustomShape 53"/>
          <p:cNvSpPr/>
          <p:nvPr/>
        </p:nvSpPr>
        <p:spPr>
          <a:xfrm>
            <a:off x="6308640" y="3355920"/>
            <a:ext cx="36000" cy="218880"/>
          </a:xfrm>
          <a:prstGeom prst="rect">
            <a:avLst/>
          </a:prstGeom>
          <a:solidFill>
            <a:srgbClr val="2a7f62"/>
          </a:solidFill>
          <a:ln>
            <a:noFill/>
          </a:ln>
        </p:spPr>
        <p:style>
          <a:lnRef idx="0"/>
          <a:fillRef idx="0"/>
          <a:effectRef idx="0"/>
          <a:fontRef idx="minor"/>
        </p:style>
      </p:sp>
      <p:sp>
        <p:nvSpPr>
          <p:cNvPr id="1577" name="CustomShape 54"/>
          <p:cNvSpPr/>
          <p:nvPr/>
        </p:nvSpPr>
        <p:spPr>
          <a:xfrm>
            <a:off x="6383520" y="3355920"/>
            <a:ext cx="36000" cy="218880"/>
          </a:xfrm>
          <a:prstGeom prst="rect">
            <a:avLst/>
          </a:prstGeom>
          <a:solidFill>
            <a:srgbClr val="2a7f62"/>
          </a:solidFill>
          <a:ln>
            <a:noFill/>
          </a:ln>
        </p:spPr>
        <p:style>
          <a:lnRef idx="0"/>
          <a:fillRef idx="0"/>
          <a:effectRef idx="0"/>
          <a:fontRef idx="minor"/>
        </p:style>
      </p:sp>
      <p:sp>
        <p:nvSpPr>
          <p:cNvPr id="1578" name="CustomShape 55"/>
          <p:cNvSpPr/>
          <p:nvPr/>
        </p:nvSpPr>
        <p:spPr>
          <a:xfrm>
            <a:off x="6458400" y="3355920"/>
            <a:ext cx="36000" cy="218880"/>
          </a:xfrm>
          <a:prstGeom prst="rect">
            <a:avLst/>
          </a:prstGeom>
          <a:solidFill>
            <a:srgbClr val="2a7f62"/>
          </a:solidFill>
          <a:ln>
            <a:noFill/>
          </a:ln>
        </p:spPr>
        <p:style>
          <a:lnRef idx="0"/>
          <a:fillRef idx="0"/>
          <a:effectRef idx="0"/>
          <a:fontRef idx="minor"/>
        </p:style>
      </p:sp>
      <p:sp>
        <p:nvSpPr>
          <p:cNvPr id="1579" name="CustomShape 56"/>
          <p:cNvSpPr/>
          <p:nvPr/>
        </p:nvSpPr>
        <p:spPr>
          <a:xfrm>
            <a:off x="6533280" y="3355920"/>
            <a:ext cx="36000" cy="218880"/>
          </a:xfrm>
          <a:prstGeom prst="rect">
            <a:avLst/>
          </a:prstGeom>
          <a:solidFill>
            <a:srgbClr val="2a7f62"/>
          </a:solidFill>
          <a:ln>
            <a:noFill/>
          </a:ln>
        </p:spPr>
        <p:style>
          <a:lnRef idx="0"/>
          <a:fillRef idx="0"/>
          <a:effectRef idx="0"/>
          <a:fontRef idx="minor"/>
        </p:style>
      </p:sp>
      <p:sp>
        <p:nvSpPr>
          <p:cNvPr id="1580" name="CustomShape 57"/>
          <p:cNvSpPr/>
          <p:nvPr/>
        </p:nvSpPr>
        <p:spPr>
          <a:xfrm>
            <a:off x="6608160" y="3355920"/>
            <a:ext cx="36000" cy="218880"/>
          </a:xfrm>
          <a:prstGeom prst="rect">
            <a:avLst/>
          </a:prstGeom>
          <a:solidFill>
            <a:srgbClr val="2a7f62"/>
          </a:solidFill>
          <a:ln>
            <a:noFill/>
          </a:ln>
        </p:spPr>
        <p:style>
          <a:lnRef idx="0"/>
          <a:fillRef idx="0"/>
          <a:effectRef idx="0"/>
          <a:fontRef idx="minor"/>
        </p:style>
      </p:sp>
      <p:sp>
        <p:nvSpPr>
          <p:cNvPr id="1581" name="CustomShape 58"/>
          <p:cNvSpPr/>
          <p:nvPr/>
        </p:nvSpPr>
        <p:spPr>
          <a:xfrm>
            <a:off x="6683040" y="3355920"/>
            <a:ext cx="36000" cy="218880"/>
          </a:xfrm>
          <a:prstGeom prst="rect">
            <a:avLst/>
          </a:prstGeom>
          <a:solidFill>
            <a:srgbClr val="2a7f62"/>
          </a:solidFill>
          <a:ln>
            <a:noFill/>
          </a:ln>
        </p:spPr>
        <p:style>
          <a:lnRef idx="0"/>
          <a:fillRef idx="0"/>
          <a:effectRef idx="0"/>
          <a:fontRef idx="minor"/>
        </p:style>
      </p:sp>
      <p:sp>
        <p:nvSpPr>
          <p:cNvPr id="1582" name="CustomShape 59"/>
          <p:cNvSpPr/>
          <p:nvPr/>
        </p:nvSpPr>
        <p:spPr>
          <a:xfrm>
            <a:off x="6757920" y="3355920"/>
            <a:ext cx="36000" cy="218880"/>
          </a:xfrm>
          <a:prstGeom prst="rect">
            <a:avLst/>
          </a:prstGeom>
          <a:solidFill>
            <a:srgbClr val="2a7f62"/>
          </a:solidFill>
          <a:ln>
            <a:noFill/>
          </a:ln>
        </p:spPr>
        <p:style>
          <a:lnRef idx="0"/>
          <a:fillRef idx="0"/>
          <a:effectRef idx="0"/>
          <a:fontRef idx="minor"/>
        </p:style>
      </p:sp>
      <p:sp>
        <p:nvSpPr>
          <p:cNvPr id="1583" name="CustomShape 60"/>
          <p:cNvSpPr/>
          <p:nvPr/>
        </p:nvSpPr>
        <p:spPr>
          <a:xfrm>
            <a:off x="6832440" y="3355920"/>
            <a:ext cx="36000" cy="218880"/>
          </a:xfrm>
          <a:prstGeom prst="rect">
            <a:avLst/>
          </a:prstGeom>
          <a:solidFill>
            <a:srgbClr val="2a7f62"/>
          </a:solidFill>
          <a:ln>
            <a:noFill/>
          </a:ln>
        </p:spPr>
        <p:style>
          <a:lnRef idx="0"/>
          <a:fillRef idx="0"/>
          <a:effectRef idx="0"/>
          <a:fontRef idx="minor"/>
        </p:style>
      </p:sp>
      <p:sp>
        <p:nvSpPr>
          <p:cNvPr id="1584" name="CustomShape 61"/>
          <p:cNvSpPr/>
          <p:nvPr/>
        </p:nvSpPr>
        <p:spPr>
          <a:xfrm>
            <a:off x="6907320" y="3355920"/>
            <a:ext cx="36000" cy="218880"/>
          </a:xfrm>
          <a:prstGeom prst="rect">
            <a:avLst/>
          </a:prstGeom>
          <a:solidFill>
            <a:srgbClr val="2a7f62"/>
          </a:solidFill>
          <a:ln>
            <a:noFill/>
          </a:ln>
        </p:spPr>
        <p:style>
          <a:lnRef idx="0"/>
          <a:fillRef idx="0"/>
          <a:effectRef idx="0"/>
          <a:fontRef idx="minor"/>
        </p:style>
      </p:sp>
      <p:sp>
        <p:nvSpPr>
          <p:cNvPr id="1585" name="CustomShape 62"/>
          <p:cNvSpPr/>
          <p:nvPr/>
        </p:nvSpPr>
        <p:spPr>
          <a:xfrm>
            <a:off x="6982200" y="3355920"/>
            <a:ext cx="36000" cy="218880"/>
          </a:xfrm>
          <a:prstGeom prst="rect">
            <a:avLst/>
          </a:prstGeom>
          <a:solidFill>
            <a:srgbClr val="2a7f62"/>
          </a:solidFill>
          <a:ln>
            <a:noFill/>
          </a:ln>
        </p:spPr>
        <p:style>
          <a:lnRef idx="0"/>
          <a:fillRef idx="0"/>
          <a:effectRef idx="0"/>
          <a:fontRef idx="minor"/>
        </p:style>
      </p:sp>
      <p:sp>
        <p:nvSpPr>
          <p:cNvPr id="1586" name="CustomShape 63"/>
          <p:cNvSpPr/>
          <p:nvPr/>
        </p:nvSpPr>
        <p:spPr>
          <a:xfrm>
            <a:off x="7057080" y="3355920"/>
            <a:ext cx="36000" cy="218880"/>
          </a:xfrm>
          <a:prstGeom prst="rect">
            <a:avLst/>
          </a:prstGeom>
          <a:solidFill>
            <a:srgbClr val="2a7f62"/>
          </a:solidFill>
          <a:ln>
            <a:noFill/>
          </a:ln>
        </p:spPr>
        <p:style>
          <a:lnRef idx="0"/>
          <a:fillRef idx="0"/>
          <a:effectRef idx="0"/>
          <a:fontRef idx="minor"/>
        </p:style>
      </p:sp>
      <p:sp>
        <p:nvSpPr>
          <p:cNvPr id="1587" name="CustomShape 64"/>
          <p:cNvSpPr/>
          <p:nvPr/>
        </p:nvSpPr>
        <p:spPr>
          <a:xfrm>
            <a:off x="7131960" y="3355920"/>
            <a:ext cx="36000" cy="218880"/>
          </a:xfrm>
          <a:prstGeom prst="rect">
            <a:avLst/>
          </a:prstGeom>
          <a:solidFill>
            <a:srgbClr val="2a7f62"/>
          </a:solidFill>
          <a:ln>
            <a:noFill/>
          </a:ln>
        </p:spPr>
        <p:style>
          <a:lnRef idx="0"/>
          <a:fillRef idx="0"/>
          <a:effectRef idx="0"/>
          <a:fontRef idx="minor"/>
        </p:style>
      </p:sp>
      <p:sp>
        <p:nvSpPr>
          <p:cNvPr id="1588" name="CustomShape 65"/>
          <p:cNvSpPr/>
          <p:nvPr/>
        </p:nvSpPr>
        <p:spPr>
          <a:xfrm>
            <a:off x="7206840" y="3355920"/>
            <a:ext cx="36000" cy="218880"/>
          </a:xfrm>
          <a:prstGeom prst="rect">
            <a:avLst/>
          </a:prstGeom>
          <a:solidFill>
            <a:srgbClr val="2a7f62"/>
          </a:solidFill>
          <a:ln>
            <a:noFill/>
          </a:ln>
        </p:spPr>
        <p:style>
          <a:lnRef idx="0"/>
          <a:fillRef idx="0"/>
          <a:effectRef idx="0"/>
          <a:fontRef idx="minor"/>
        </p:style>
      </p:sp>
      <p:sp>
        <p:nvSpPr>
          <p:cNvPr id="1589" name="CustomShape 66"/>
          <p:cNvSpPr/>
          <p:nvPr/>
        </p:nvSpPr>
        <p:spPr>
          <a:xfrm>
            <a:off x="7281720" y="3355920"/>
            <a:ext cx="36000" cy="218880"/>
          </a:xfrm>
          <a:prstGeom prst="rect">
            <a:avLst/>
          </a:prstGeom>
          <a:solidFill>
            <a:srgbClr val="2a7f62"/>
          </a:solidFill>
          <a:ln>
            <a:noFill/>
          </a:ln>
        </p:spPr>
        <p:style>
          <a:lnRef idx="0"/>
          <a:fillRef idx="0"/>
          <a:effectRef idx="0"/>
          <a:fontRef idx="minor"/>
        </p:style>
      </p:sp>
      <p:sp>
        <p:nvSpPr>
          <p:cNvPr id="1590" name="CustomShape 67"/>
          <p:cNvSpPr/>
          <p:nvPr/>
        </p:nvSpPr>
        <p:spPr>
          <a:xfrm>
            <a:off x="7356600" y="3355920"/>
            <a:ext cx="36000" cy="218880"/>
          </a:xfrm>
          <a:prstGeom prst="rect">
            <a:avLst/>
          </a:prstGeom>
          <a:solidFill>
            <a:srgbClr val="2a7f62"/>
          </a:solidFill>
          <a:ln>
            <a:noFill/>
          </a:ln>
        </p:spPr>
        <p:style>
          <a:lnRef idx="0"/>
          <a:fillRef idx="0"/>
          <a:effectRef idx="0"/>
          <a:fontRef idx="minor"/>
        </p:style>
      </p:sp>
      <p:sp>
        <p:nvSpPr>
          <p:cNvPr id="1591" name="CustomShape 68"/>
          <p:cNvSpPr/>
          <p:nvPr/>
        </p:nvSpPr>
        <p:spPr>
          <a:xfrm>
            <a:off x="7431120" y="3355920"/>
            <a:ext cx="36000" cy="218880"/>
          </a:xfrm>
          <a:prstGeom prst="rect">
            <a:avLst/>
          </a:prstGeom>
          <a:solidFill>
            <a:srgbClr val="2a7f62"/>
          </a:solidFill>
          <a:ln>
            <a:noFill/>
          </a:ln>
        </p:spPr>
        <p:style>
          <a:lnRef idx="0"/>
          <a:fillRef idx="0"/>
          <a:effectRef idx="0"/>
          <a:fontRef idx="minor"/>
        </p:style>
      </p:sp>
      <p:sp>
        <p:nvSpPr>
          <p:cNvPr id="1592" name="CustomShape 69"/>
          <p:cNvSpPr/>
          <p:nvPr/>
        </p:nvSpPr>
        <p:spPr>
          <a:xfrm>
            <a:off x="7506000" y="3355920"/>
            <a:ext cx="36000" cy="218880"/>
          </a:xfrm>
          <a:prstGeom prst="rect">
            <a:avLst/>
          </a:prstGeom>
          <a:solidFill>
            <a:srgbClr val="2a7f62"/>
          </a:solidFill>
          <a:ln>
            <a:noFill/>
          </a:ln>
        </p:spPr>
        <p:style>
          <a:lnRef idx="0"/>
          <a:fillRef idx="0"/>
          <a:effectRef idx="0"/>
          <a:fontRef idx="minor"/>
        </p:style>
      </p:sp>
      <p:sp>
        <p:nvSpPr>
          <p:cNvPr id="1593" name="CustomShape 70"/>
          <p:cNvSpPr/>
          <p:nvPr/>
        </p:nvSpPr>
        <p:spPr>
          <a:xfrm>
            <a:off x="7580880" y="3355920"/>
            <a:ext cx="36000" cy="218880"/>
          </a:xfrm>
          <a:prstGeom prst="rect">
            <a:avLst/>
          </a:prstGeom>
          <a:solidFill>
            <a:srgbClr val="2a7f62"/>
          </a:solidFill>
          <a:ln>
            <a:noFill/>
          </a:ln>
        </p:spPr>
        <p:style>
          <a:lnRef idx="0"/>
          <a:fillRef idx="0"/>
          <a:effectRef idx="0"/>
          <a:fontRef idx="minor"/>
        </p:style>
      </p:sp>
      <p:sp>
        <p:nvSpPr>
          <p:cNvPr id="1594" name="CustomShape 71"/>
          <p:cNvSpPr/>
          <p:nvPr/>
        </p:nvSpPr>
        <p:spPr>
          <a:xfrm>
            <a:off x="7655760" y="3355920"/>
            <a:ext cx="36000" cy="218880"/>
          </a:xfrm>
          <a:prstGeom prst="rect">
            <a:avLst/>
          </a:prstGeom>
          <a:solidFill>
            <a:srgbClr val="2a7f62"/>
          </a:solidFill>
          <a:ln>
            <a:noFill/>
          </a:ln>
        </p:spPr>
        <p:style>
          <a:lnRef idx="0"/>
          <a:fillRef idx="0"/>
          <a:effectRef idx="0"/>
          <a:fontRef idx="minor"/>
        </p:style>
      </p:sp>
      <p:sp>
        <p:nvSpPr>
          <p:cNvPr id="1595" name="CustomShape 72"/>
          <p:cNvSpPr/>
          <p:nvPr/>
        </p:nvSpPr>
        <p:spPr>
          <a:xfrm>
            <a:off x="7730640" y="3355920"/>
            <a:ext cx="36000" cy="218880"/>
          </a:xfrm>
          <a:prstGeom prst="rect">
            <a:avLst/>
          </a:prstGeom>
          <a:solidFill>
            <a:srgbClr val="2a7f62"/>
          </a:solidFill>
          <a:ln>
            <a:noFill/>
          </a:ln>
        </p:spPr>
        <p:style>
          <a:lnRef idx="0"/>
          <a:fillRef idx="0"/>
          <a:effectRef idx="0"/>
          <a:fontRef idx="minor"/>
        </p:style>
      </p:sp>
      <p:sp>
        <p:nvSpPr>
          <p:cNvPr id="1596" name="CustomShape 73"/>
          <p:cNvSpPr/>
          <p:nvPr/>
        </p:nvSpPr>
        <p:spPr>
          <a:xfrm>
            <a:off x="7805520" y="3355920"/>
            <a:ext cx="36000" cy="218880"/>
          </a:xfrm>
          <a:prstGeom prst="rect">
            <a:avLst/>
          </a:prstGeom>
          <a:solidFill>
            <a:srgbClr val="2a7f62"/>
          </a:solidFill>
          <a:ln>
            <a:noFill/>
          </a:ln>
        </p:spPr>
        <p:style>
          <a:lnRef idx="0"/>
          <a:fillRef idx="0"/>
          <a:effectRef idx="0"/>
          <a:fontRef idx="minor"/>
        </p:style>
      </p:sp>
      <p:sp>
        <p:nvSpPr>
          <p:cNvPr id="1597" name="CustomShape 74"/>
          <p:cNvSpPr/>
          <p:nvPr/>
        </p:nvSpPr>
        <p:spPr>
          <a:xfrm>
            <a:off x="7880400" y="3355920"/>
            <a:ext cx="36000" cy="218880"/>
          </a:xfrm>
          <a:prstGeom prst="rect">
            <a:avLst/>
          </a:prstGeom>
          <a:solidFill>
            <a:srgbClr val="2a7f62"/>
          </a:solidFill>
          <a:ln>
            <a:noFill/>
          </a:ln>
        </p:spPr>
        <p:style>
          <a:lnRef idx="0"/>
          <a:fillRef idx="0"/>
          <a:effectRef idx="0"/>
          <a:fontRef idx="minor"/>
        </p:style>
      </p:sp>
      <p:sp>
        <p:nvSpPr>
          <p:cNvPr id="1598" name="CustomShape 75"/>
          <p:cNvSpPr/>
          <p:nvPr/>
        </p:nvSpPr>
        <p:spPr>
          <a:xfrm>
            <a:off x="7955280" y="3355920"/>
            <a:ext cx="36000" cy="218880"/>
          </a:xfrm>
          <a:prstGeom prst="rect">
            <a:avLst/>
          </a:prstGeom>
          <a:solidFill>
            <a:srgbClr val="2a7f62"/>
          </a:solidFill>
          <a:ln>
            <a:noFill/>
          </a:ln>
        </p:spPr>
        <p:style>
          <a:lnRef idx="0"/>
          <a:fillRef idx="0"/>
          <a:effectRef idx="0"/>
          <a:fontRef idx="minor"/>
        </p:style>
      </p:sp>
      <p:sp>
        <p:nvSpPr>
          <p:cNvPr id="1599" name="CustomShape 76"/>
          <p:cNvSpPr/>
          <p:nvPr/>
        </p:nvSpPr>
        <p:spPr>
          <a:xfrm>
            <a:off x="8029800" y="3355920"/>
            <a:ext cx="36000" cy="218880"/>
          </a:xfrm>
          <a:prstGeom prst="rect">
            <a:avLst/>
          </a:prstGeom>
          <a:solidFill>
            <a:srgbClr val="2a7f62"/>
          </a:solidFill>
          <a:ln>
            <a:noFill/>
          </a:ln>
        </p:spPr>
        <p:style>
          <a:lnRef idx="0"/>
          <a:fillRef idx="0"/>
          <a:effectRef idx="0"/>
          <a:fontRef idx="minor"/>
        </p:style>
      </p:sp>
      <p:sp>
        <p:nvSpPr>
          <p:cNvPr id="1600" name="CustomShape 77"/>
          <p:cNvSpPr/>
          <p:nvPr/>
        </p:nvSpPr>
        <p:spPr>
          <a:xfrm>
            <a:off x="8104680" y="3355920"/>
            <a:ext cx="36000" cy="218880"/>
          </a:xfrm>
          <a:prstGeom prst="rect">
            <a:avLst/>
          </a:prstGeom>
          <a:solidFill>
            <a:srgbClr val="2a7f62"/>
          </a:solidFill>
          <a:ln>
            <a:noFill/>
          </a:ln>
        </p:spPr>
        <p:style>
          <a:lnRef idx="0"/>
          <a:fillRef idx="0"/>
          <a:effectRef idx="0"/>
          <a:fontRef idx="minor"/>
        </p:style>
      </p:sp>
      <p:sp>
        <p:nvSpPr>
          <p:cNvPr id="1601" name="CustomShape 78"/>
          <p:cNvSpPr/>
          <p:nvPr/>
        </p:nvSpPr>
        <p:spPr>
          <a:xfrm>
            <a:off x="8179560" y="3355920"/>
            <a:ext cx="36000" cy="218880"/>
          </a:xfrm>
          <a:prstGeom prst="rect">
            <a:avLst/>
          </a:prstGeom>
          <a:solidFill>
            <a:srgbClr val="2a7f62"/>
          </a:solidFill>
          <a:ln>
            <a:noFill/>
          </a:ln>
        </p:spPr>
        <p:style>
          <a:lnRef idx="0"/>
          <a:fillRef idx="0"/>
          <a:effectRef idx="0"/>
          <a:fontRef idx="minor"/>
        </p:style>
      </p:sp>
      <p:sp>
        <p:nvSpPr>
          <p:cNvPr id="1602" name="CustomShape 79"/>
          <p:cNvSpPr/>
          <p:nvPr/>
        </p:nvSpPr>
        <p:spPr>
          <a:xfrm>
            <a:off x="8254440" y="3355920"/>
            <a:ext cx="36000" cy="218880"/>
          </a:xfrm>
          <a:prstGeom prst="rect">
            <a:avLst/>
          </a:prstGeom>
          <a:solidFill>
            <a:srgbClr val="2a7f62"/>
          </a:solidFill>
          <a:ln>
            <a:noFill/>
          </a:ln>
        </p:spPr>
        <p:style>
          <a:lnRef idx="0"/>
          <a:fillRef idx="0"/>
          <a:effectRef idx="0"/>
          <a:fontRef idx="minor"/>
        </p:style>
      </p:sp>
      <p:sp>
        <p:nvSpPr>
          <p:cNvPr id="1603" name="CustomShape 80"/>
          <p:cNvSpPr/>
          <p:nvPr/>
        </p:nvSpPr>
        <p:spPr>
          <a:xfrm>
            <a:off x="8329320" y="3355920"/>
            <a:ext cx="36000" cy="218880"/>
          </a:xfrm>
          <a:prstGeom prst="rect">
            <a:avLst/>
          </a:prstGeom>
          <a:solidFill>
            <a:srgbClr val="2a7f62"/>
          </a:solidFill>
          <a:ln>
            <a:noFill/>
          </a:ln>
        </p:spPr>
        <p:style>
          <a:lnRef idx="0"/>
          <a:fillRef idx="0"/>
          <a:effectRef idx="0"/>
          <a:fontRef idx="minor"/>
        </p:style>
      </p:sp>
      <p:sp>
        <p:nvSpPr>
          <p:cNvPr id="1604" name="CustomShape 81"/>
          <p:cNvSpPr/>
          <p:nvPr/>
        </p:nvSpPr>
        <p:spPr>
          <a:xfrm>
            <a:off x="8404200" y="3355920"/>
            <a:ext cx="36000" cy="218880"/>
          </a:xfrm>
          <a:prstGeom prst="rect">
            <a:avLst/>
          </a:prstGeom>
          <a:solidFill>
            <a:srgbClr val="2a7f62"/>
          </a:solidFill>
          <a:ln>
            <a:noFill/>
          </a:ln>
        </p:spPr>
        <p:style>
          <a:lnRef idx="0"/>
          <a:fillRef idx="0"/>
          <a:effectRef idx="0"/>
          <a:fontRef idx="minor"/>
        </p:style>
      </p:sp>
      <p:sp>
        <p:nvSpPr>
          <p:cNvPr id="1605" name="CustomShape 82"/>
          <p:cNvSpPr/>
          <p:nvPr/>
        </p:nvSpPr>
        <p:spPr>
          <a:xfrm>
            <a:off x="8479080" y="3355920"/>
            <a:ext cx="36000" cy="218880"/>
          </a:xfrm>
          <a:prstGeom prst="rect">
            <a:avLst/>
          </a:prstGeom>
          <a:solidFill>
            <a:srgbClr val="2a7f62"/>
          </a:solidFill>
          <a:ln>
            <a:noFill/>
          </a:ln>
        </p:spPr>
        <p:style>
          <a:lnRef idx="0"/>
          <a:fillRef idx="0"/>
          <a:effectRef idx="0"/>
          <a:fontRef idx="minor"/>
        </p:style>
      </p:sp>
      <p:sp>
        <p:nvSpPr>
          <p:cNvPr id="1606" name="CustomShape 83"/>
          <p:cNvSpPr/>
          <p:nvPr/>
        </p:nvSpPr>
        <p:spPr>
          <a:xfrm>
            <a:off x="8553960" y="3355920"/>
            <a:ext cx="36000" cy="218880"/>
          </a:xfrm>
          <a:prstGeom prst="rect">
            <a:avLst/>
          </a:prstGeom>
          <a:solidFill>
            <a:srgbClr val="2a7f62"/>
          </a:solidFill>
          <a:ln>
            <a:noFill/>
          </a:ln>
        </p:spPr>
        <p:style>
          <a:lnRef idx="0"/>
          <a:fillRef idx="0"/>
          <a:effectRef idx="0"/>
          <a:fontRef idx="minor"/>
        </p:style>
      </p:sp>
      <p:sp>
        <p:nvSpPr>
          <p:cNvPr id="1607" name="CustomShape 84"/>
          <p:cNvSpPr/>
          <p:nvPr/>
        </p:nvSpPr>
        <p:spPr>
          <a:xfrm>
            <a:off x="8628480" y="3355920"/>
            <a:ext cx="36000" cy="218880"/>
          </a:xfrm>
          <a:prstGeom prst="rect">
            <a:avLst/>
          </a:prstGeom>
          <a:solidFill>
            <a:srgbClr val="2a7f62"/>
          </a:solidFill>
          <a:ln>
            <a:noFill/>
          </a:ln>
        </p:spPr>
        <p:style>
          <a:lnRef idx="0"/>
          <a:fillRef idx="0"/>
          <a:effectRef idx="0"/>
          <a:fontRef idx="minor"/>
        </p:style>
      </p:sp>
      <p:sp>
        <p:nvSpPr>
          <p:cNvPr id="1608" name="CustomShape 85"/>
          <p:cNvSpPr/>
          <p:nvPr/>
        </p:nvSpPr>
        <p:spPr>
          <a:xfrm>
            <a:off x="8703360" y="3355920"/>
            <a:ext cx="36000" cy="218880"/>
          </a:xfrm>
          <a:prstGeom prst="rect">
            <a:avLst/>
          </a:prstGeom>
          <a:solidFill>
            <a:srgbClr val="2a7f62"/>
          </a:solidFill>
          <a:ln>
            <a:noFill/>
          </a:ln>
        </p:spPr>
        <p:style>
          <a:lnRef idx="0"/>
          <a:fillRef idx="0"/>
          <a:effectRef idx="0"/>
          <a:fontRef idx="minor"/>
        </p:style>
      </p:sp>
      <p:sp>
        <p:nvSpPr>
          <p:cNvPr id="1609" name="CustomShape 86"/>
          <p:cNvSpPr/>
          <p:nvPr/>
        </p:nvSpPr>
        <p:spPr>
          <a:xfrm>
            <a:off x="5185800" y="3666600"/>
            <a:ext cx="1005120" cy="1821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000" spc="-1" strike="noStrike">
                <a:solidFill>
                  <a:srgbClr val="5c6b7a"/>
                </a:solidFill>
                <a:latin typeface="Calibri"/>
                <a:ea typeface="Calibri"/>
              </a:rPr>
              <a:t>cada 15 min</a:t>
            </a:r>
            <a:endParaRPr b="0" lang="es-ES" sz="1000" spc="-1" strike="noStrike">
              <a:latin typeface="Arial"/>
            </a:endParaRPr>
          </a:p>
        </p:txBody>
      </p:sp>
      <p:sp>
        <p:nvSpPr>
          <p:cNvPr id="1610" name="Line 87"/>
          <p:cNvSpPr/>
          <p:nvPr/>
        </p:nvSpPr>
        <p:spPr>
          <a:xfrm>
            <a:off x="8721720" y="1965960"/>
            <a:ext cx="0" cy="1965960"/>
          </a:xfrm>
          <a:prstGeom prst="line">
            <a:avLst/>
          </a:prstGeom>
          <a:ln w="25560">
            <a:solidFill>
              <a:srgbClr val="d95d39"/>
            </a:solidFill>
            <a:prstDash val="dash"/>
            <a:round/>
          </a:ln>
        </p:spPr>
        <p:style>
          <a:lnRef idx="0"/>
          <a:fillRef idx="0"/>
          <a:effectRef idx="0"/>
          <a:fontRef idx="minor"/>
        </p:style>
      </p:sp>
      <p:sp>
        <p:nvSpPr>
          <p:cNvPr id="1611" name="CustomShape 88"/>
          <p:cNvSpPr/>
          <p:nvPr/>
        </p:nvSpPr>
        <p:spPr>
          <a:xfrm>
            <a:off x="7578720" y="3959280"/>
            <a:ext cx="2285280" cy="383400"/>
          </a:xfrm>
          <a:prstGeom prst="roundRect">
            <a:avLst>
              <a:gd name="adj" fmla="val 19048"/>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Incidente · Mié 10:37</a:t>
            </a:r>
            <a:endParaRPr b="0" lang="es-ES" sz="1300" spc="-1" strike="noStrike">
              <a:latin typeface="Arial"/>
            </a:endParaRPr>
          </a:p>
        </p:txBody>
      </p:sp>
      <p:sp>
        <p:nvSpPr>
          <p:cNvPr id="1612" name="CustomShape 89"/>
          <p:cNvSpPr/>
          <p:nvPr/>
        </p:nvSpPr>
        <p:spPr>
          <a:xfrm>
            <a:off x="548640" y="4617720"/>
            <a:ext cx="11090880" cy="2919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500" spc="-1" strike="noStrike">
                <a:solidFill>
                  <a:srgbClr val="0b2545"/>
                </a:solidFill>
                <a:latin typeface="Calibri"/>
                <a:ea typeface="Calibri"/>
              </a:rPr>
              <a:t>Secuencia de restauración (STOPAT = 10:36)</a:t>
            </a:r>
            <a:endParaRPr b="0" lang="es-ES" sz="1500" spc="-1" strike="noStrike">
              <a:latin typeface="Arial"/>
            </a:endParaRPr>
          </a:p>
        </p:txBody>
      </p:sp>
      <p:sp>
        <p:nvSpPr>
          <p:cNvPr id="1613" name="CustomShape 90"/>
          <p:cNvSpPr/>
          <p:nvPr/>
        </p:nvSpPr>
        <p:spPr>
          <a:xfrm>
            <a:off x="54864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4" name="CustomShape 91"/>
          <p:cNvSpPr/>
          <p:nvPr/>
        </p:nvSpPr>
        <p:spPr>
          <a:xfrm>
            <a:off x="658440" y="5120640"/>
            <a:ext cx="2346840" cy="346680"/>
          </a:xfrm>
          <a:prstGeom prst="roundRect">
            <a:avLst>
              <a:gd name="adj" fmla="val 15789"/>
            </a:avLst>
          </a:prstGeom>
          <a:solidFill>
            <a:srgbClr val="d95d39"/>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1 · RESTORE FULL</a:t>
            </a:r>
            <a:endParaRPr b="0" lang="es-ES" sz="1300" spc="-1" strike="noStrike">
              <a:latin typeface="Arial"/>
            </a:endParaRPr>
          </a:p>
        </p:txBody>
      </p:sp>
      <p:sp>
        <p:nvSpPr>
          <p:cNvPr id="1615" name="CustomShape 92"/>
          <p:cNvSpPr/>
          <p:nvPr/>
        </p:nvSpPr>
        <p:spPr>
          <a:xfrm>
            <a:off x="65844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Domingo · NORECOVERY</a:t>
            </a:r>
            <a:endParaRPr b="0" lang="es-ES" sz="1200" spc="-1" strike="noStrike">
              <a:latin typeface="Arial"/>
            </a:endParaRPr>
          </a:p>
        </p:txBody>
      </p:sp>
      <p:sp>
        <p:nvSpPr>
          <p:cNvPr id="1616" name="CustomShape 93"/>
          <p:cNvSpPr/>
          <p:nvPr/>
        </p:nvSpPr>
        <p:spPr>
          <a:xfrm>
            <a:off x="314316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17" name="CustomShape 94"/>
          <p:cNvSpPr/>
          <p:nvPr/>
        </p:nvSpPr>
        <p:spPr>
          <a:xfrm>
            <a:off x="339012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18" name="CustomShape 95"/>
          <p:cNvSpPr/>
          <p:nvPr/>
        </p:nvSpPr>
        <p:spPr>
          <a:xfrm>
            <a:off x="3499920" y="5120640"/>
            <a:ext cx="2346840" cy="346680"/>
          </a:xfrm>
          <a:prstGeom prst="roundRect">
            <a:avLst>
              <a:gd name="adj" fmla="val 15789"/>
            </a:avLst>
          </a:prstGeom>
          <a:solidFill>
            <a:srgbClr val="134074"/>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2 · RESTORE DIFF</a:t>
            </a:r>
            <a:endParaRPr b="0" lang="es-ES" sz="1300" spc="-1" strike="noStrike">
              <a:latin typeface="Arial"/>
            </a:endParaRPr>
          </a:p>
        </p:txBody>
      </p:sp>
      <p:sp>
        <p:nvSpPr>
          <p:cNvPr id="1619" name="CustomShape 96"/>
          <p:cNvSpPr/>
          <p:nvPr/>
        </p:nvSpPr>
        <p:spPr>
          <a:xfrm>
            <a:off x="349992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Martes · NORECOVERY</a:t>
            </a:r>
            <a:endParaRPr b="0" lang="es-ES" sz="1200" spc="-1" strike="noStrike">
              <a:latin typeface="Arial"/>
            </a:endParaRPr>
          </a:p>
        </p:txBody>
      </p:sp>
      <p:sp>
        <p:nvSpPr>
          <p:cNvPr id="1620" name="CustomShape 97"/>
          <p:cNvSpPr/>
          <p:nvPr/>
        </p:nvSpPr>
        <p:spPr>
          <a:xfrm>
            <a:off x="598464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1" name="CustomShape 98"/>
          <p:cNvSpPr/>
          <p:nvPr/>
        </p:nvSpPr>
        <p:spPr>
          <a:xfrm>
            <a:off x="623160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2" name="CustomShape 99"/>
          <p:cNvSpPr/>
          <p:nvPr/>
        </p:nvSpPr>
        <p:spPr>
          <a:xfrm>
            <a:off x="6341400" y="5120640"/>
            <a:ext cx="2346840" cy="346680"/>
          </a:xfrm>
          <a:prstGeom prst="roundRect">
            <a:avLst>
              <a:gd name="adj" fmla="val 15789"/>
            </a:avLst>
          </a:prstGeom>
          <a:solidFill>
            <a:srgbClr val="2a7f62"/>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3 · RESTORE LOG(s)</a:t>
            </a:r>
            <a:endParaRPr b="0" lang="es-ES" sz="1300" spc="-1" strike="noStrike">
              <a:latin typeface="Arial"/>
            </a:endParaRPr>
          </a:p>
        </p:txBody>
      </p:sp>
      <p:sp>
        <p:nvSpPr>
          <p:cNvPr id="1623" name="CustomShape 100"/>
          <p:cNvSpPr/>
          <p:nvPr/>
        </p:nvSpPr>
        <p:spPr>
          <a:xfrm>
            <a:off x="634140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Mar 22:15 → Mié 10:30 · NORECOVERY</a:t>
            </a:r>
            <a:endParaRPr b="0" lang="es-ES" sz="1200" spc="-1" strike="noStrike">
              <a:latin typeface="Arial"/>
            </a:endParaRPr>
          </a:p>
        </p:txBody>
      </p:sp>
      <p:sp>
        <p:nvSpPr>
          <p:cNvPr id="1624" name="CustomShape 101"/>
          <p:cNvSpPr/>
          <p:nvPr/>
        </p:nvSpPr>
        <p:spPr>
          <a:xfrm>
            <a:off x="8826120" y="5394960"/>
            <a:ext cx="218880" cy="236880"/>
          </a:xfrm>
          <a:prstGeom prst="rightArrow">
            <a:avLst>
              <a:gd name="adj1" fmla="val 50000"/>
              <a:gd name="adj2" fmla="val 50000"/>
            </a:avLst>
          </a:prstGeom>
          <a:solidFill>
            <a:srgbClr val="d95d39"/>
          </a:solidFill>
          <a:ln>
            <a:noFill/>
          </a:ln>
        </p:spPr>
        <p:style>
          <a:lnRef idx="0"/>
          <a:fillRef idx="0"/>
          <a:effectRef idx="0"/>
          <a:fontRef idx="minor"/>
        </p:style>
      </p:sp>
      <p:sp>
        <p:nvSpPr>
          <p:cNvPr id="1625" name="CustomShape 102"/>
          <p:cNvSpPr/>
          <p:nvPr/>
        </p:nvSpPr>
        <p:spPr>
          <a:xfrm>
            <a:off x="9073080" y="5029200"/>
            <a:ext cx="2566440" cy="1005120"/>
          </a:xfrm>
          <a:prstGeom prst="roundRect">
            <a:avLst>
              <a:gd name="adj" fmla="val 9091"/>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26" name="CustomShape 103"/>
          <p:cNvSpPr/>
          <p:nvPr/>
        </p:nvSpPr>
        <p:spPr>
          <a:xfrm>
            <a:off x="9182880" y="5120640"/>
            <a:ext cx="2346840" cy="346680"/>
          </a:xfrm>
          <a:prstGeom prst="roundRect">
            <a:avLst>
              <a:gd name="adj" fmla="val 15789"/>
            </a:avLst>
          </a:prstGeom>
          <a:solidFill>
            <a:srgbClr val="0b2545"/>
          </a:solidFill>
          <a:ln>
            <a:noFill/>
          </a:ln>
        </p:spPr>
        <p:style>
          <a:lnRef idx="0"/>
          <a:fillRef idx="0"/>
          <a:effectRef idx="0"/>
          <a:fontRef idx="minor"/>
        </p:style>
        <p:txBody>
          <a:bodyPr lIns="360" rIns="1080" tIns="1080" bIns="360" anchor="ctr">
            <a:noAutofit/>
          </a:bodyPr>
          <a:p>
            <a:pPr algn="ctr">
              <a:lnSpc>
                <a:spcPct val="100000"/>
              </a:lnSpc>
              <a:tabLst>
                <a:tab algn="l" pos="0"/>
              </a:tabLst>
            </a:pPr>
            <a:r>
              <a:rPr b="1" lang="en-US" sz="1300" spc="-1" strike="noStrike">
                <a:solidFill>
                  <a:srgbClr val="ffffff"/>
                </a:solidFill>
                <a:latin typeface="Calibri"/>
                <a:ea typeface="Calibri"/>
              </a:rPr>
              <a:t>4 · LOG final</a:t>
            </a:r>
            <a:endParaRPr b="0" lang="es-ES" sz="1300" spc="-1" strike="noStrike">
              <a:latin typeface="Arial"/>
            </a:endParaRPr>
          </a:p>
        </p:txBody>
      </p:sp>
      <p:sp>
        <p:nvSpPr>
          <p:cNvPr id="1627" name="CustomShape 104"/>
          <p:cNvSpPr/>
          <p:nvPr/>
        </p:nvSpPr>
        <p:spPr>
          <a:xfrm>
            <a:off x="9182880" y="5513760"/>
            <a:ext cx="2346840" cy="45648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200" spc="-1" strike="noStrike">
                <a:solidFill>
                  <a:srgbClr val="1f2933"/>
                </a:solidFill>
                <a:latin typeface="Calibri"/>
                <a:ea typeface="Calibri"/>
              </a:rPr>
              <a:t>WITH STOPAT = 10:36, RECOVERY</a:t>
            </a:r>
            <a:endParaRPr b="0" lang="es-ES" sz="1200" spc="-1" strike="noStrike">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28"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2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T-SQL de backup: Full, Diff y Log</a:t>
            </a:r>
            <a:endParaRPr b="0" lang="es-ES" sz="3400" spc="-1" strike="noStrike">
              <a:latin typeface="Arial"/>
            </a:endParaRPr>
          </a:p>
        </p:txBody>
      </p:sp>
      <p:sp>
        <p:nvSpPr>
          <p:cNvPr id="163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3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65</a:t>
            </a:r>
            <a:endParaRPr b="0" lang="es-ES" sz="1000" spc="-1" strike="noStrike">
              <a:latin typeface="Arial"/>
            </a:endParaRPr>
          </a:p>
        </p:txBody>
      </p:sp>
      <p:sp>
        <p:nvSpPr>
          <p:cNvPr id="1632"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33"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34"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Full semanal con compresión y verificación de páginas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STATS</a:t>
            </a:r>
            <a:r>
              <a:rPr b="0" lang="en-US" sz="1200" spc="-1" strike="noStrike">
                <a:solidFill>
                  <a:srgbClr val="1f2933"/>
                </a:solidFill>
                <a:latin typeface="Consolas"/>
                <a:ea typeface="Consolas"/>
              </a:rPr>
              <a:t> =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Diferencial diario (cambios desde el último Full)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Log cada 15 min (sólo Full / Bulk-Logged)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Copia puntual que no altera la cadena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N'/var/opt/mssql/backup/Ventas_CO.bak'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COPY_ONLY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35" name="CustomShape 8"/>
          <p:cNvSpPr/>
          <p:nvPr/>
        </p:nvSpPr>
        <p:spPr>
          <a:xfrm>
            <a:off x="7863840" y="160020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36" name="CustomShape 9"/>
          <p:cNvSpPr/>
          <p:nvPr/>
        </p:nvSpPr>
        <p:spPr>
          <a:xfrm>
            <a:off x="8046720" y="1993320"/>
            <a:ext cx="547920" cy="547920"/>
          </a:xfrm>
          <a:prstGeom prst="ellipse">
            <a:avLst/>
          </a:prstGeom>
          <a:solidFill>
            <a:srgbClr val="134074"/>
          </a:solidFill>
          <a:ln>
            <a:noFill/>
          </a:ln>
        </p:spPr>
        <p:style>
          <a:lnRef idx="0"/>
          <a:fillRef idx="0"/>
          <a:effectRef idx="0"/>
          <a:fontRef idx="minor"/>
        </p:style>
      </p:sp>
      <p:pic>
        <p:nvPicPr>
          <p:cNvPr id="1637" name="Image 0" descr="preencoded.png"/>
          <p:cNvPicPr/>
          <p:nvPr/>
        </p:nvPicPr>
        <p:blipFill>
          <a:blip r:embed="rId1"/>
          <a:stretch/>
        </p:blipFill>
        <p:spPr>
          <a:xfrm>
            <a:off x="8183880" y="2130480"/>
            <a:ext cx="273600" cy="273600"/>
          </a:xfrm>
          <a:prstGeom prst="rect">
            <a:avLst/>
          </a:prstGeom>
          <a:ln>
            <a:noFill/>
          </a:ln>
        </p:spPr>
      </p:pic>
      <p:sp>
        <p:nvSpPr>
          <p:cNvPr id="1638" name="CustomShape 10"/>
          <p:cNvSpPr/>
          <p:nvPr/>
        </p:nvSpPr>
        <p:spPr>
          <a:xfrm>
            <a:off x="8778240" y="160020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COMPRESSION + CHECKSUM</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Menos E/S y tamaño; valida páginas al leer.</a:t>
            </a:r>
            <a:endParaRPr b="0" lang="es-ES" sz="1400" spc="-1" strike="noStrike">
              <a:latin typeface="Arial"/>
            </a:endParaRPr>
          </a:p>
        </p:txBody>
      </p:sp>
      <p:sp>
        <p:nvSpPr>
          <p:cNvPr id="1639" name="CustomShape 11"/>
          <p:cNvSpPr/>
          <p:nvPr/>
        </p:nvSpPr>
        <p:spPr>
          <a:xfrm>
            <a:off x="7863840" y="321876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0" name="CustomShape 12"/>
          <p:cNvSpPr/>
          <p:nvPr/>
        </p:nvSpPr>
        <p:spPr>
          <a:xfrm>
            <a:off x="8046720" y="3611880"/>
            <a:ext cx="547920" cy="547920"/>
          </a:xfrm>
          <a:prstGeom prst="ellipse">
            <a:avLst/>
          </a:prstGeom>
          <a:solidFill>
            <a:srgbClr val="134074"/>
          </a:solidFill>
          <a:ln>
            <a:noFill/>
          </a:ln>
        </p:spPr>
        <p:style>
          <a:lnRef idx="0"/>
          <a:fillRef idx="0"/>
          <a:effectRef idx="0"/>
          <a:fontRef idx="minor"/>
        </p:style>
      </p:sp>
      <p:pic>
        <p:nvPicPr>
          <p:cNvPr id="1641" name="Image 1" descr="preencoded.png"/>
          <p:cNvPicPr/>
          <p:nvPr/>
        </p:nvPicPr>
        <p:blipFill>
          <a:blip r:embed="rId2"/>
          <a:stretch/>
        </p:blipFill>
        <p:spPr>
          <a:xfrm>
            <a:off x="8183880" y="3749040"/>
            <a:ext cx="273600" cy="273600"/>
          </a:xfrm>
          <a:prstGeom prst="rect">
            <a:avLst/>
          </a:prstGeom>
          <a:ln>
            <a:noFill/>
          </a:ln>
        </p:spPr>
      </p:pic>
      <p:sp>
        <p:nvSpPr>
          <p:cNvPr id="1642" name="CustomShape 13"/>
          <p:cNvSpPr/>
          <p:nvPr/>
        </p:nvSpPr>
        <p:spPr>
          <a:xfrm>
            <a:off x="8778240" y="321876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COPY_ONLY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ad hoc sin alterar diferencial ni log chain.</a:t>
            </a:r>
            <a:endParaRPr b="0" lang="es-ES" sz="1400" spc="-1" strike="noStrike">
              <a:latin typeface="Arial"/>
            </a:endParaRPr>
          </a:p>
        </p:txBody>
      </p:sp>
      <p:sp>
        <p:nvSpPr>
          <p:cNvPr id="1643" name="CustomShape 14"/>
          <p:cNvSpPr/>
          <p:nvPr/>
        </p:nvSpPr>
        <p:spPr>
          <a:xfrm>
            <a:off x="7863840" y="4837320"/>
            <a:ext cx="377568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44" name="CustomShape 15"/>
          <p:cNvSpPr/>
          <p:nvPr/>
        </p:nvSpPr>
        <p:spPr>
          <a:xfrm>
            <a:off x="8046720" y="5230440"/>
            <a:ext cx="547920" cy="547920"/>
          </a:xfrm>
          <a:prstGeom prst="ellipse">
            <a:avLst/>
          </a:prstGeom>
          <a:solidFill>
            <a:srgbClr val="134074"/>
          </a:solidFill>
          <a:ln>
            <a:noFill/>
          </a:ln>
        </p:spPr>
        <p:style>
          <a:lnRef idx="0"/>
          <a:fillRef idx="0"/>
          <a:effectRef idx="0"/>
          <a:fontRef idx="minor"/>
        </p:style>
      </p:sp>
      <p:pic>
        <p:nvPicPr>
          <p:cNvPr id="1645" name="Image 2" descr="preencoded.png"/>
          <p:cNvPicPr/>
          <p:nvPr/>
        </p:nvPicPr>
        <p:blipFill>
          <a:blip r:embed="rId3"/>
          <a:stretch/>
        </p:blipFill>
        <p:spPr>
          <a:xfrm>
            <a:off x="8183880" y="5367600"/>
            <a:ext cx="273600" cy="273600"/>
          </a:xfrm>
          <a:prstGeom prst="rect">
            <a:avLst/>
          </a:prstGeom>
          <a:ln>
            <a:noFill/>
          </a:ln>
        </p:spPr>
      </p:pic>
      <p:sp>
        <p:nvSpPr>
          <p:cNvPr id="1646" name="CustomShape 16"/>
          <p:cNvSpPr/>
          <p:nvPr/>
        </p:nvSpPr>
        <p:spPr>
          <a:xfrm>
            <a:off x="8778240" y="4837320"/>
            <a:ext cx="267840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TO URL (Azure Blob)</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Copia externa en la nube con credencial SAS.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BACKUPS</a:t>
            </a:r>
            <a:endParaRPr b="0" lang="es-ES" sz="1000" spc="-1" strike="noStrike">
              <a:latin typeface="Arial"/>
            </a:endParaRPr>
          </a:p>
        </p:txBody>
      </p:sp>
      <p:sp>
        <p:nvSpPr>
          <p:cNvPr id="16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Tail-log, verificación e historial msdb</a:t>
            </a:r>
            <a:endParaRPr b="0" lang="es-ES" sz="3400" spc="-1" strike="noStrike">
              <a:latin typeface="Arial"/>
            </a:endParaRPr>
          </a:p>
        </p:txBody>
      </p:sp>
      <p:sp>
        <p:nvSpPr>
          <p:cNvPr id="16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66</a:t>
            </a:r>
            <a:endParaRPr b="0" lang="es-ES" sz="1000" spc="-1" strike="noStrike">
              <a:latin typeface="Arial"/>
            </a:endParaRPr>
          </a:p>
        </p:txBody>
      </p:sp>
      <p:sp>
        <p:nvSpPr>
          <p:cNvPr id="1651" name="CustomShape 5"/>
          <p:cNvSpPr/>
          <p:nvPr/>
        </p:nvSpPr>
        <p:spPr>
          <a:xfrm>
            <a:off x="548640" y="1600200"/>
            <a:ext cx="539424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53" name="CustomShape 7"/>
          <p:cNvSpPr/>
          <p:nvPr/>
        </p:nvSpPr>
        <p:spPr>
          <a:xfrm>
            <a:off x="731520" y="1965960"/>
            <a:ext cx="502848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Tail-log: salvar el final del log antes de restaurar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NO_TRUNCATE,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Verificar el backup sin restaurarlo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VERIFYONLY</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p:txBody>
      </p:sp>
      <p:sp>
        <p:nvSpPr>
          <p:cNvPr id="1654" name="CustomShape 8"/>
          <p:cNvSpPr/>
          <p:nvPr/>
        </p:nvSpPr>
        <p:spPr>
          <a:xfrm>
            <a:off x="6217920" y="1600200"/>
            <a:ext cx="5421600" cy="3062520"/>
          </a:xfrm>
          <a:prstGeom prst="roundRect">
            <a:avLst>
              <a:gd name="adj" fmla="val 2985"/>
            </a:avLst>
          </a:prstGeom>
          <a:solidFill>
            <a:srgbClr val="eceff3"/>
          </a:solidFill>
          <a:ln w="9360">
            <a:solidFill>
              <a:srgbClr val="d0d7de"/>
            </a:solidFill>
            <a:round/>
          </a:ln>
        </p:spPr>
        <p:style>
          <a:lnRef idx="0"/>
          <a:fillRef idx="0"/>
          <a:effectRef idx="0"/>
          <a:fontRef idx="minor"/>
        </p:style>
      </p:sp>
      <p:sp>
        <p:nvSpPr>
          <p:cNvPr id="1655" name="CustomShape 9"/>
          <p:cNvSpPr/>
          <p:nvPr/>
        </p:nvSpPr>
        <p:spPr>
          <a:xfrm>
            <a:off x="64008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 · HISTORIAL EN MSDB</a:t>
            </a:r>
            <a:endParaRPr b="0" lang="es-ES" sz="1000" spc="-1" strike="noStrike">
              <a:latin typeface="Arial"/>
            </a:endParaRPr>
          </a:p>
        </p:txBody>
      </p:sp>
      <p:sp>
        <p:nvSpPr>
          <p:cNvPr id="1656" name="CustomShape 10"/>
          <p:cNvSpPr/>
          <p:nvPr/>
        </p:nvSpPr>
        <p:spPr>
          <a:xfrm>
            <a:off x="6400800" y="1965960"/>
            <a:ext cx="5055840" cy="260532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10</a:t>
            </a:r>
            <a:r>
              <a:rPr b="0" lang="en-US" sz="1200" spc="-1" strike="noStrike">
                <a:solidFill>
                  <a:srgbClr val="1f2933"/>
                </a:solidFill>
                <a:latin typeface="Consolas"/>
                <a:ea typeface="Consolas"/>
              </a:rPr>
              <a:t>) bs.database_name,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bs.type,   </a:t>
            </a:r>
            <a:r>
              <a:rPr b="0" i="1" lang="en-US" sz="1200" spc="-1" strike="noStrike">
                <a:solidFill>
                  <a:srgbClr val="6b7280"/>
                </a:solidFill>
                <a:latin typeface="Consolas"/>
                <a:ea typeface="Consolas"/>
              </a:rPr>
              <a:t>-- D=Full I=Diff L=Log</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bs.backup_finish_date,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bs.is_copy_only,</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bmf.physical_device_name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msdb.dbo.backupset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msdb.dbo.backupmediafamily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bmf</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bmf.media_set_id = bs.media_set_id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bs.database_name = </a:t>
            </a:r>
            <a:r>
              <a:rPr b="0" lang="en-US" sz="1200" spc="-1" strike="noStrike">
                <a:solidFill>
                  <a:srgbClr val="b4441f"/>
                </a:solidFill>
                <a:latin typeface="Consolas"/>
                <a:ea typeface="Consolas"/>
              </a:rPr>
              <a:t>N'Ventas'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bs.backup_finish_date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p:txBody>
      </p:sp>
      <p:sp>
        <p:nvSpPr>
          <p:cNvPr id="1657" name="CustomShape 11"/>
          <p:cNvSpPr/>
          <p:nvPr/>
        </p:nvSpPr>
        <p:spPr>
          <a:xfrm>
            <a:off x="548640" y="4983480"/>
            <a:ext cx="11090880" cy="1142280"/>
          </a:xfrm>
          <a:prstGeom prst="roundRect">
            <a:avLst>
              <a:gd name="adj" fmla="val 9600"/>
            </a:avLst>
          </a:prstGeom>
          <a:solidFill>
            <a:srgbClr val="fdede8"/>
          </a:solidFill>
          <a:ln>
            <a:noFill/>
          </a:ln>
        </p:spPr>
        <p:style>
          <a:lnRef idx="0"/>
          <a:fillRef idx="0"/>
          <a:effectRef idx="0"/>
          <a:fontRef idx="minor"/>
        </p:style>
      </p:sp>
      <p:sp>
        <p:nvSpPr>
          <p:cNvPr id="1658" name="CustomShape 12"/>
          <p:cNvSpPr/>
          <p:nvPr/>
        </p:nvSpPr>
        <p:spPr>
          <a:xfrm>
            <a:off x="731520" y="5326560"/>
            <a:ext cx="456480" cy="456480"/>
          </a:xfrm>
          <a:prstGeom prst="ellipse">
            <a:avLst/>
          </a:prstGeom>
          <a:solidFill>
            <a:srgbClr val="d95d39"/>
          </a:solidFill>
          <a:ln>
            <a:noFill/>
          </a:ln>
        </p:spPr>
        <p:style>
          <a:lnRef idx="0"/>
          <a:fillRef idx="0"/>
          <a:effectRef idx="0"/>
          <a:fontRef idx="minor"/>
        </p:style>
      </p:sp>
      <p:pic>
        <p:nvPicPr>
          <p:cNvPr id="1659" name="Image 0" descr="preencoded.png"/>
          <p:cNvPicPr/>
          <p:nvPr/>
        </p:nvPicPr>
        <p:blipFill>
          <a:blip r:embed="rId1"/>
          <a:stretch/>
        </p:blipFill>
        <p:spPr>
          <a:xfrm>
            <a:off x="846000" y="5440680"/>
            <a:ext cx="227880" cy="227880"/>
          </a:xfrm>
          <a:prstGeom prst="rect">
            <a:avLst/>
          </a:prstGeom>
          <a:ln>
            <a:noFill/>
          </a:ln>
        </p:spPr>
      </p:pic>
      <p:sp>
        <p:nvSpPr>
          <p:cNvPr id="1660" name="CustomShape 13"/>
          <p:cNvSpPr/>
          <p:nvPr/>
        </p:nvSpPr>
        <p:spPr>
          <a:xfrm>
            <a:off x="1371600" y="4983480"/>
            <a:ext cx="1008504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VERIFYONLY no basta: </a:t>
            </a:r>
            <a:r>
              <a:rPr b="0" lang="en-US" sz="1400" spc="-1" strike="noStrike">
                <a:solidFill>
                  <a:srgbClr val="1f2933"/>
                </a:solidFill>
                <a:latin typeface="Calibri"/>
                <a:ea typeface="Calibri"/>
              </a:rPr>
              <a:t>sólo comprueba que el fichero es legible. La prueba real es restaurar en otro servidor y ejecutar DBCC CHECKDB; planifícala (p. ej. mensualmente).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61" name="CustomShape 1"/>
          <p:cNvSpPr/>
          <p:nvPr/>
        </p:nvSpPr>
        <p:spPr>
          <a:xfrm>
            <a:off x="548640" y="365760"/>
            <a:ext cx="14990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RESTAURACIÓN</a:t>
            </a:r>
            <a:endParaRPr b="0" lang="es-ES" sz="1000" spc="-1" strike="noStrike">
              <a:latin typeface="Arial"/>
            </a:endParaRPr>
          </a:p>
        </p:txBody>
      </p:sp>
      <p:sp>
        <p:nvSpPr>
          <p:cNvPr id="166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Restauración point-in-time (STOPAT)</a:t>
            </a:r>
            <a:endParaRPr b="0" lang="es-ES" sz="3400" spc="-1" strike="noStrike">
              <a:latin typeface="Arial"/>
            </a:endParaRPr>
          </a:p>
        </p:txBody>
      </p:sp>
      <p:sp>
        <p:nvSpPr>
          <p:cNvPr id="166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6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67</a:t>
            </a:r>
            <a:endParaRPr b="0" lang="es-ES" sz="1000" spc="-1" strike="noStrike">
              <a:latin typeface="Arial"/>
            </a:endParaRPr>
          </a:p>
        </p:txBody>
      </p:sp>
      <p:sp>
        <p:nvSpPr>
          <p:cNvPr id="1665" name="CustomShape 5"/>
          <p:cNvSpPr/>
          <p:nvPr/>
        </p:nvSpPr>
        <p:spPr>
          <a:xfrm>
            <a:off x="548640" y="1600200"/>
            <a:ext cx="717732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666"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67" name="CustomShape 7"/>
          <p:cNvSpPr/>
          <p:nvPr/>
        </p:nvSpPr>
        <p:spPr>
          <a:xfrm>
            <a:off x="731520" y="1965960"/>
            <a:ext cx="681156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-- 1) Full. MOVE reubica los ficheros lógicos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N'/var/opt/mssql/data/Ventas.mdf'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MOVE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N'Ventas_log'</a:t>
            </a:r>
            <a:r>
              <a:rPr b="0" lang="en-US" sz="1200" spc="-1" strike="noStrike">
                <a:solidFill>
                  <a:srgbClr val="1f2933"/>
                </a:solidFill>
                <a:latin typeface="Consolas"/>
                <a:ea typeface="Consolas"/>
              </a:rPr>
              <a:t> TO </a:t>
            </a:r>
            <a:r>
              <a:rPr b="0" lang="en-US" sz="1200" spc="-1" strike="noStrike">
                <a:solidFill>
                  <a:srgbClr val="b4441f"/>
                </a:solidFill>
                <a:latin typeface="Consolas"/>
                <a:ea typeface="Consolas"/>
              </a:rPr>
              <a:t>N'/var/opt/mssql/data/Ventas.ldf'</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-- 2) Último diferencial</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-- 3) Logs en orden; el último, con STOPAT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N'/var/opt/mssql/backup/Ventas_LOG_02.trn'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p:txBody>
      </p:sp>
      <p:sp>
        <p:nvSpPr>
          <p:cNvPr id="1668" name="CustomShape 8"/>
          <p:cNvSpPr/>
          <p:nvPr/>
        </p:nvSpPr>
        <p:spPr>
          <a:xfrm>
            <a:off x="8001000" y="160020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69" name="CustomShape 9"/>
          <p:cNvSpPr/>
          <p:nvPr/>
        </p:nvSpPr>
        <p:spPr>
          <a:xfrm>
            <a:off x="8183880" y="1993320"/>
            <a:ext cx="547920" cy="547920"/>
          </a:xfrm>
          <a:prstGeom prst="ellipse">
            <a:avLst/>
          </a:prstGeom>
          <a:solidFill>
            <a:srgbClr val="134074"/>
          </a:solidFill>
          <a:ln>
            <a:noFill/>
          </a:ln>
        </p:spPr>
        <p:style>
          <a:lnRef idx="0"/>
          <a:fillRef idx="0"/>
          <a:effectRef idx="0"/>
          <a:fontRef idx="minor"/>
        </p:style>
      </p:sp>
      <p:pic>
        <p:nvPicPr>
          <p:cNvPr id="1670" name="Image 0" descr="preencoded.png"/>
          <p:cNvPicPr/>
          <p:nvPr/>
        </p:nvPicPr>
        <p:blipFill>
          <a:blip r:embed="rId1"/>
          <a:stretch/>
        </p:blipFill>
        <p:spPr>
          <a:xfrm>
            <a:off x="8321040" y="2130480"/>
            <a:ext cx="273600" cy="273600"/>
          </a:xfrm>
          <a:prstGeom prst="rect">
            <a:avLst/>
          </a:prstGeom>
          <a:ln>
            <a:noFill/>
          </a:ln>
        </p:spPr>
      </p:pic>
      <p:sp>
        <p:nvSpPr>
          <p:cNvPr id="1671" name="CustomShape 10"/>
          <p:cNvSpPr/>
          <p:nvPr/>
        </p:nvSpPr>
        <p:spPr>
          <a:xfrm>
            <a:off x="8915400" y="160020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NORECOVERY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Deja la BD en RESTORING; permite encadenar más backups.</a:t>
            </a:r>
            <a:endParaRPr b="0" lang="es-ES" sz="1400" spc="-1" strike="noStrike">
              <a:latin typeface="Arial"/>
            </a:endParaRPr>
          </a:p>
        </p:txBody>
      </p:sp>
      <p:sp>
        <p:nvSpPr>
          <p:cNvPr id="1672" name="CustomShape 11"/>
          <p:cNvSpPr/>
          <p:nvPr/>
        </p:nvSpPr>
        <p:spPr>
          <a:xfrm>
            <a:off x="8001000" y="321876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3" name="CustomShape 12"/>
          <p:cNvSpPr/>
          <p:nvPr/>
        </p:nvSpPr>
        <p:spPr>
          <a:xfrm>
            <a:off x="8183880" y="3611880"/>
            <a:ext cx="547920" cy="547920"/>
          </a:xfrm>
          <a:prstGeom prst="ellipse">
            <a:avLst/>
          </a:prstGeom>
          <a:solidFill>
            <a:srgbClr val="134074"/>
          </a:solidFill>
          <a:ln>
            <a:noFill/>
          </a:ln>
        </p:spPr>
        <p:style>
          <a:lnRef idx="0"/>
          <a:fillRef idx="0"/>
          <a:effectRef idx="0"/>
          <a:fontRef idx="minor"/>
        </p:style>
      </p:sp>
      <p:pic>
        <p:nvPicPr>
          <p:cNvPr id="1674" name="Image 1" descr="preencoded.png"/>
          <p:cNvPicPr/>
          <p:nvPr/>
        </p:nvPicPr>
        <p:blipFill>
          <a:blip r:embed="rId2"/>
          <a:stretch/>
        </p:blipFill>
        <p:spPr>
          <a:xfrm>
            <a:off x="8321040" y="3749040"/>
            <a:ext cx="273600" cy="273600"/>
          </a:xfrm>
          <a:prstGeom prst="rect">
            <a:avLst/>
          </a:prstGeom>
          <a:ln>
            <a:noFill/>
          </a:ln>
        </p:spPr>
      </p:pic>
      <p:sp>
        <p:nvSpPr>
          <p:cNvPr id="1675" name="CustomShape 13"/>
          <p:cNvSpPr/>
          <p:nvPr/>
        </p:nvSpPr>
        <p:spPr>
          <a:xfrm>
            <a:off x="8915400" y="321876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Deshace lo no confirmado y abre la BD (ONLINE).</a:t>
            </a:r>
            <a:endParaRPr b="0" lang="es-ES" sz="1400" spc="-1" strike="noStrike">
              <a:latin typeface="Arial"/>
            </a:endParaRPr>
          </a:p>
        </p:txBody>
      </p:sp>
      <p:sp>
        <p:nvSpPr>
          <p:cNvPr id="1676" name="CustomShape 14"/>
          <p:cNvSpPr/>
          <p:nvPr/>
        </p:nvSpPr>
        <p:spPr>
          <a:xfrm>
            <a:off x="8001000" y="4837320"/>
            <a:ext cx="363852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77" name="CustomShape 15"/>
          <p:cNvSpPr/>
          <p:nvPr/>
        </p:nvSpPr>
        <p:spPr>
          <a:xfrm>
            <a:off x="8183880" y="5230440"/>
            <a:ext cx="547920" cy="547920"/>
          </a:xfrm>
          <a:prstGeom prst="ellipse">
            <a:avLst/>
          </a:prstGeom>
          <a:solidFill>
            <a:srgbClr val="134074"/>
          </a:solidFill>
          <a:ln>
            <a:noFill/>
          </a:ln>
        </p:spPr>
        <p:style>
          <a:lnRef idx="0"/>
          <a:fillRef idx="0"/>
          <a:effectRef idx="0"/>
          <a:fontRef idx="minor"/>
        </p:style>
      </p:sp>
      <p:pic>
        <p:nvPicPr>
          <p:cNvPr id="1678" name="Image 2" descr="preencoded.png"/>
          <p:cNvPicPr/>
          <p:nvPr/>
        </p:nvPicPr>
        <p:blipFill>
          <a:blip r:embed="rId3"/>
          <a:stretch/>
        </p:blipFill>
        <p:spPr>
          <a:xfrm>
            <a:off x="8321040" y="5367600"/>
            <a:ext cx="273600" cy="273600"/>
          </a:xfrm>
          <a:prstGeom prst="rect">
            <a:avLst/>
          </a:prstGeom>
          <a:ln>
            <a:noFill/>
          </a:ln>
        </p:spPr>
      </p:pic>
      <p:sp>
        <p:nvSpPr>
          <p:cNvPr id="1679" name="CustomShape 16"/>
          <p:cNvSpPr/>
          <p:nvPr/>
        </p:nvSpPr>
        <p:spPr>
          <a:xfrm>
            <a:off x="8915400" y="4837320"/>
            <a:ext cx="254124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STANDBY</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Sólo lectura entre restauraciones; usa fichero undo.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68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INTEGRIDAD</a:t>
            </a:r>
            <a:endParaRPr b="0" lang="es-ES" sz="1000" spc="-1" strike="noStrike">
              <a:latin typeface="Arial"/>
            </a:endParaRPr>
          </a:p>
        </p:txBody>
      </p:sp>
      <p:sp>
        <p:nvSpPr>
          <p:cNvPr id="168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Integridad física: DBCC CHECKDB</a:t>
            </a:r>
            <a:endParaRPr b="0" lang="es-ES" sz="3400" spc="-1" strike="noStrike">
              <a:latin typeface="Arial"/>
            </a:endParaRPr>
          </a:p>
        </p:txBody>
      </p:sp>
      <p:sp>
        <p:nvSpPr>
          <p:cNvPr id="168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68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68</a:t>
            </a:r>
            <a:endParaRPr b="0" lang="es-ES" sz="1000" spc="-1" strike="noStrike">
              <a:latin typeface="Arial"/>
            </a:endParaRPr>
          </a:p>
        </p:txBody>
      </p:sp>
      <p:sp>
        <p:nvSpPr>
          <p:cNvPr id="1684" name="CustomShape 5"/>
          <p:cNvSpPr/>
          <p:nvPr/>
        </p:nvSpPr>
        <p:spPr>
          <a:xfrm>
            <a:off x="54864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5" name="CustomShape 6"/>
          <p:cNvSpPr/>
          <p:nvPr/>
        </p:nvSpPr>
        <p:spPr>
          <a:xfrm>
            <a:off x="73152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823</a:t>
            </a:r>
            <a:endParaRPr b="0" lang="es-ES" sz="4400" spc="-1" strike="noStrike">
              <a:latin typeface="Arial"/>
            </a:endParaRPr>
          </a:p>
        </p:txBody>
      </p:sp>
      <p:sp>
        <p:nvSpPr>
          <p:cNvPr id="1686" name="CustomShape 7"/>
          <p:cNvSpPr/>
          <p:nvPr/>
        </p:nvSpPr>
        <p:spPr>
          <a:xfrm>
            <a:off x="73152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de E/S del sistema operativo</a:t>
            </a:r>
            <a:endParaRPr b="0" lang="es-ES" sz="1300" spc="-1" strike="noStrike">
              <a:latin typeface="Arial"/>
            </a:endParaRPr>
          </a:p>
        </p:txBody>
      </p:sp>
      <p:sp>
        <p:nvSpPr>
          <p:cNvPr id="1687" name="CustomShape 8"/>
          <p:cNvSpPr/>
          <p:nvPr/>
        </p:nvSpPr>
        <p:spPr>
          <a:xfrm>
            <a:off x="43344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88" name="CustomShape 9"/>
          <p:cNvSpPr/>
          <p:nvPr/>
        </p:nvSpPr>
        <p:spPr>
          <a:xfrm>
            <a:off x="45172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824</a:t>
            </a:r>
            <a:endParaRPr b="0" lang="es-ES" sz="4400" spc="-1" strike="noStrike">
              <a:latin typeface="Arial"/>
            </a:endParaRPr>
          </a:p>
        </p:txBody>
      </p:sp>
      <p:sp>
        <p:nvSpPr>
          <p:cNvPr id="1689" name="CustomShape 10"/>
          <p:cNvSpPr/>
          <p:nvPr/>
        </p:nvSpPr>
        <p:spPr>
          <a:xfrm>
            <a:off x="45172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Error lógico: checksum o página rota</a:t>
            </a:r>
            <a:endParaRPr b="0" lang="es-ES" sz="1300" spc="-1" strike="noStrike">
              <a:latin typeface="Arial"/>
            </a:endParaRPr>
          </a:p>
        </p:txBody>
      </p:sp>
      <p:sp>
        <p:nvSpPr>
          <p:cNvPr id="1690" name="CustomShape 11"/>
          <p:cNvSpPr/>
          <p:nvPr/>
        </p:nvSpPr>
        <p:spPr>
          <a:xfrm>
            <a:off x="8119800" y="1600200"/>
            <a:ext cx="3510720" cy="1370880"/>
          </a:xfrm>
          <a:prstGeom prst="roundRect">
            <a:avLst>
              <a:gd name="adj" fmla="val 8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1" name="CustomShape 12"/>
          <p:cNvSpPr/>
          <p:nvPr/>
        </p:nvSpPr>
        <p:spPr>
          <a:xfrm>
            <a:off x="8302680" y="1737360"/>
            <a:ext cx="3144960" cy="68508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400" spc="-1" strike="noStrike">
                <a:solidFill>
                  <a:srgbClr val="d95d39"/>
                </a:solidFill>
                <a:latin typeface="Calibri"/>
                <a:ea typeface="Calibri"/>
              </a:rPr>
              <a:t>825</a:t>
            </a:r>
            <a:endParaRPr b="0" lang="es-ES" sz="4400" spc="-1" strike="noStrike">
              <a:latin typeface="Arial"/>
            </a:endParaRPr>
          </a:p>
        </p:txBody>
      </p:sp>
      <p:sp>
        <p:nvSpPr>
          <p:cNvPr id="1692" name="CustomShape 13"/>
          <p:cNvSpPr/>
          <p:nvPr/>
        </p:nvSpPr>
        <p:spPr>
          <a:xfrm>
            <a:off x="8302680" y="2354760"/>
            <a:ext cx="3144960" cy="54792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Lectura con éxito tras reintentos: disco en riesgo</a:t>
            </a:r>
            <a:endParaRPr b="0" lang="es-ES" sz="1300" spc="-1" strike="noStrike">
              <a:latin typeface="Arial"/>
            </a:endParaRPr>
          </a:p>
        </p:txBody>
      </p:sp>
      <p:sp>
        <p:nvSpPr>
          <p:cNvPr id="1693" name="CustomShape 14"/>
          <p:cNvSpPr/>
          <p:nvPr/>
        </p:nvSpPr>
        <p:spPr>
          <a:xfrm>
            <a:off x="548640" y="3246120"/>
            <a:ext cx="6308640" cy="2925360"/>
          </a:xfrm>
          <a:prstGeom prst="roundRect">
            <a:avLst>
              <a:gd name="adj" fmla="val 3125"/>
            </a:avLst>
          </a:prstGeom>
          <a:solidFill>
            <a:srgbClr val="eceff3"/>
          </a:solidFill>
          <a:ln w="9360">
            <a:solidFill>
              <a:srgbClr val="d0d7de"/>
            </a:solidFill>
            <a:round/>
          </a:ln>
        </p:spPr>
        <p:style>
          <a:lnRef idx="0"/>
          <a:fillRef idx="0"/>
          <a:effectRef idx="0"/>
          <a:fontRef idx="minor"/>
        </p:style>
      </p:sp>
      <p:sp>
        <p:nvSpPr>
          <p:cNvPr id="1694" name="CustomShape 15"/>
          <p:cNvSpPr/>
          <p:nvPr/>
        </p:nvSpPr>
        <p:spPr>
          <a:xfrm>
            <a:off x="731520" y="333756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695" name="CustomShape 16"/>
          <p:cNvSpPr/>
          <p:nvPr/>
        </p:nvSpPr>
        <p:spPr>
          <a:xfrm>
            <a:off x="731520" y="3611880"/>
            <a:ext cx="5942880" cy="24681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Verificación de páginas a nivel de BD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PAGE_VERIFY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CHECKDB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NO_INFOMSGS, ALL_ERRORMSGS;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Páginas dañadas registradas por el motor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database_id, file_id, page_id, event_type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msdb.dbo.suspect_pages;</a:t>
            </a:r>
            <a:endParaRPr b="0" lang="es-ES" sz="1200" spc="-1" strike="noStrike">
              <a:latin typeface="Arial"/>
            </a:endParaRPr>
          </a:p>
        </p:txBody>
      </p:sp>
      <p:sp>
        <p:nvSpPr>
          <p:cNvPr id="1696" name="CustomShape 17"/>
          <p:cNvSpPr/>
          <p:nvPr/>
        </p:nvSpPr>
        <p:spPr>
          <a:xfrm>
            <a:off x="7132320" y="3246120"/>
            <a:ext cx="4507200" cy="2925360"/>
          </a:xfrm>
          <a:prstGeom prst="roundRect">
            <a:avLst>
              <a:gd name="adj" fmla="val 375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697" name="CustomShape 18"/>
          <p:cNvSpPr/>
          <p:nvPr/>
        </p:nvSpPr>
        <p:spPr>
          <a:xfrm>
            <a:off x="7360920" y="3474720"/>
            <a:ext cx="547920" cy="547920"/>
          </a:xfrm>
          <a:prstGeom prst="ellipse">
            <a:avLst/>
          </a:prstGeom>
          <a:solidFill>
            <a:srgbClr val="d95d39"/>
          </a:solidFill>
          <a:ln>
            <a:noFill/>
          </a:ln>
        </p:spPr>
        <p:style>
          <a:lnRef idx="0"/>
          <a:fillRef idx="0"/>
          <a:effectRef idx="0"/>
          <a:fontRef idx="minor"/>
        </p:style>
      </p:sp>
      <p:pic>
        <p:nvPicPr>
          <p:cNvPr id="1698" name="Image 0" descr="preencoded.png"/>
          <p:cNvPicPr/>
          <p:nvPr/>
        </p:nvPicPr>
        <p:blipFill>
          <a:blip r:embed="rId1"/>
          <a:stretch/>
        </p:blipFill>
        <p:spPr>
          <a:xfrm>
            <a:off x="7498080" y="3611880"/>
            <a:ext cx="273600" cy="273600"/>
          </a:xfrm>
          <a:prstGeom prst="rect">
            <a:avLst/>
          </a:prstGeom>
          <a:ln>
            <a:noFill/>
          </a:ln>
        </p:spPr>
      </p:pic>
      <p:sp>
        <p:nvSpPr>
          <p:cNvPr id="1699" name="CustomShape 19"/>
          <p:cNvSpPr/>
          <p:nvPr/>
        </p:nvSpPr>
        <p:spPr>
          <a:xfrm>
            <a:off x="8046720" y="3474720"/>
            <a:ext cx="33642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Opciones de reparación</a:t>
            </a:r>
            <a:endParaRPr b="0" lang="es-ES" sz="1700" spc="-1" strike="noStrike">
              <a:latin typeface="Arial"/>
            </a:endParaRPr>
          </a:p>
        </p:txBody>
      </p:sp>
      <p:sp>
        <p:nvSpPr>
          <p:cNvPr id="1700" name="CustomShape 20"/>
          <p:cNvSpPr/>
          <p:nvPr/>
        </p:nvSpPr>
        <p:spPr>
          <a:xfrm>
            <a:off x="7360920" y="4206240"/>
            <a:ext cx="4050000" cy="17366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REPAIR_REBUILD: </a:t>
            </a:r>
            <a:r>
              <a:rPr b="0" lang="en-US" sz="1400" spc="-1" strike="noStrike">
                <a:solidFill>
                  <a:srgbClr val="1f2933"/>
                </a:solidFill>
                <a:latin typeface="Calibri"/>
                <a:ea typeface="Calibri"/>
              </a:rPr>
              <a:t>sin pérdida de datos.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ALLOW_DATA_LOSS: </a:t>
            </a:r>
            <a:r>
              <a:rPr b="0" lang="en-US" sz="1400" spc="-1" strike="noStrike">
                <a:solidFill>
                  <a:srgbClr val="1f2933"/>
                </a:solidFill>
                <a:latin typeface="Calibri"/>
                <a:ea typeface="Calibri"/>
              </a:rPr>
              <a:t>último recurso, tras backup.</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Antes: restaurar desde backup.</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01"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02"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Reorganize vs Rebuild y estadísticas</a:t>
            </a:r>
            <a:endParaRPr b="0" lang="es-ES" sz="3400" spc="-1" strike="noStrike">
              <a:latin typeface="Arial"/>
            </a:endParaRPr>
          </a:p>
        </p:txBody>
      </p:sp>
      <p:sp>
        <p:nvSpPr>
          <p:cNvPr id="1703"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04"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69</a:t>
            </a:r>
            <a:endParaRPr b="0" lang="es-ES" sz="1000" spc="-1" strike="noStrike">
              <a:latin typeface="Arial"/>
            </a:endParaRPr>
          </a:p>
        </p:txBody>
      </p:sp>
      <p:graphicFrame>
        <p:nvGraphicFramePr>
          <p:cNvPr id="1705" name="Table 5"/>
          <p:cNvGraphicFramePr/>
          <p:nvPr/>
        </p:nvGraphicFramePr>
        <p:xfrm>
          <a:off x="548640" y="1600200"/>
          <a:ext cx="5211720" cy="3077640"/>
        </p:xfrm>
        <a:graphic>
          <a:graphicData uri="http://schemas.openxmlformats.org/drawingml/2006/table">
            <a:tbl>
              <a:tblPr/>
              <a:tblGrid>
                <a:gridCol w="1371600"/>
                <a:gridCol w="1828800"/>
                <a:gridCol w="201168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Criterio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REORGANIZE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REBUILD</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Fragmentación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5 –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&gt; 30 %</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Modo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Siempre online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Offline (online en Enterprise)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Interrumpible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Sí, sin perder avance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(salvo RESUMABLE)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Estadísticas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No las actualiza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Actualiza con FULLSCAN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57960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Moderado y sostenido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Mucho en recovery Full</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bl>
          </a:graphicData>
        </a:graphic>
      </p:graphicFrame>
      <p:sp>
        <p:nvSpPr>
          <p:cNvPr id="1706" name="CustomShape 6"/>
          <p:cNvSpPr/>
          <p:nvPr/>
        </p:nvSpPr>
        <p:spPr>
          <a:xfrm>
            <a:off x="6035040" y="1600200"/>
            <a:ext cx="560448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707" name="CustomShape 7"/>
          <p:cNvSpPr/>
          <p:nvPr/>
        </p:nvSpPr>
        <p:spPr>
          <a:xfrm>
            <a:off x="62179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08" name="CustomShape 8"/>
          <p:cNvSpPr/>
          <p:nvPr/>
        </p:nvSpPr>
        <p:spPr>
          <a:xfrm>
            <a:off x="6217920" y="1965960"/>
            <a:ext cx="523872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OBJECT_NAME(ips.object_id)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Tabla, i.</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ips.avg_fragmentation_in_percent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Frag</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sys.dm_db_index_physical_stats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(DB_ID(),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'LIMITED'</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ips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JOIN</a:t>
            </a:r>
            <a:r>
              <a:rPr b="0" lang="en-US" sz="1200" spc="-1" strike="noStrike">
                <a:solidFill>
                  <a:srgbClr val="1f2933"/>
                </a:solidFill>
                <a:latin typeface="Consolas"/>
                <a:ea typeface="Consolas"/>
              </a:rPr>
              <a:t> sys.indexes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i</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i.object_id = ips.object_id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 ips.index_id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ips.page_count &gt; </a:t>
            </a:r>
            <a:r>
              <a:rPr b="0" lang="en-US" sz="1200" spc="-1" strike="noStrike">
                <a:solidFill>
                  <a:srgbClr val="9a3412"/>
                </a:solidFill>
                <a:latin typeface="Consolas"/>
                <a:ea typeface="Consolas"/>
              </a:rPr>
              <a:t>1000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i.index_id &gt;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REORGANIZE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INDEX</a:t>
            </a:r>
            <a:r>
              <a:rPr b="0" lang="en-US" sz="1200" spc="-1" strike="noStrike">
                <a:solidFill>
                  <a:srgbClr val="1f2933"/>
                </a:solidFill>
                <a:latin typeface="Consolas"/>
                <a:ea typeface="Consolas"/>
              </a:rPr>
              <a:t> IX_Pedido_Fecha </a:t>
            </a:r>
            <a:r>
              <a:rPr b="1" lang="en-US" sz="1200" spc="-1" strike="noStrike">
                <a:solidFill>
                  <a:srgbClr val="1d4ed8"/>
                </a:solidFill>
                <a:latin typeface="Consolas"/>
                <a:ea typeface="Consolas"/>
              </a:rPr>
              <a:t>ON</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REBUILD</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UPDATE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STATISTICS</a:t>
            </a:r>
            <a:r>
              <a:rPr b="0" lang="en-US" sz="1200" spc="-1" strike="noStrike">
                <a:solidFill>
                  <a:srgbClr val="1f2933"/>
                </a:solidFill>
                <a:latin typeface="Consolas"/>
                <a:ea typeface="Consolas"/>
              </a:rPr>
              <a:t> dbo.Pedido </a:t>
            </a: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FULLSCAN;</a:t>
            </a:r>
            <a:endParaRPr b="0" lang="es-ES" sz="1200" spc="-1" strike="noStrike">
              <a:latin typeface="Arial"/>
            </a:endParaRPr>
          </a:p>
        </p:txBody>
      </p:sp>
      <p:sp>
        <p:nvSpPr>
          <p:cNvPr id="1709" name="CustomShape 9"/>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710" name="CustomShape 10"/>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711" name="Image 0" descr="preencoded.png"/>
          <p:cNvPicPr/>
          <p:nvPr/>
        </p:nvPicPr>
        <p:blipFill>
          <a:blip r:embed="rId1"/>
          <a:stretch/>
        </p:blipFill>
        <p:spPr>
          <a:xfrm>
            <a:off x="846000" y="5600880"/>
            <a:ext cx="227880" cy="227880"/>
          </a:xfrm>
          <a:prstGeom prst="rect">
            <a:avLst/>
          </a:prstGeom>
          <a:ln>
            <a:noFill/>
          </a:ln>
        </p:spPr>
      </p:pic>
      <p:sp>
        <p:nvSpPr>
          <p:cNvPr id="1712" name="CustomShape 11"/>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Estadísticas primero: </a:t>
            </a:r>
            <a:r>
              <a:rPr b="0" lang="en-US" sz="1400" spc="-1" strike="noStrike">
                <a:solidFill>
                  <a:srgbClr val="1f2933"/>
                </a:solidFill>
                <a:latin typeface="Calibri"/>
                <a:ea typeface="Calibri"/>
              </a:rPr>
              <a:t>actualízalas por umbral de cambios (dm_db_stats_properties) y en horas valle; suelen aportar más que reconstruir índices.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13" name="CustomShape 1"/>
          <p:cNvSpPr/>
          <p:nvPr/>
        </p:nvSpPr>
        <p:spPr>
          <a:xfrm>
            <a:off x="548640" y="365760"/>
            <a:ext cx="158580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MANTENIMIENTO</a:t>
            </a:r>
            <a:endParaRPr b="0" lang="es-ES" sz="1000" spc="-1" strike="noStrike">
              <a:latin typeface="Arial"/>
            </a:endParaRPr>
          </a:p>
        </p:txBody>
      </p:sp>
      <p:sp>
        <p:nvSpPr>
          <p:cNvPr id="1714"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Mantenimiento automatizado con Agent</a:t>
            </a:r>
            <a:endParaRPr b="0" lang="es-ES" sz="3400" spc="-1" strike="noStrike">
              <a:latin typeface="Arial"/>
            </a:endParaRPr>
          </a:p>
        </p:txBody>
      </p:sp>
      <p:sp>
        <p:nvSpPr>
          <p:cNvPr id="1715"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16"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70</a:t>
            </a:r>
            <a:endParaRPr b="0" lang="es-ES" sz="1000" spc="-1" strike="noStrike">
              <a:latin typeface="Arial"/>
            </a:endParaRPr>
          </a:p>
        </p:txBody>
      </p:sp>
      <p:sp>
        <p:nvSpPr>
          <p:cNvPr id="1717" name="CustomShape 5"/>
          <p:cNvSpPr/>
          <p:nvPr/>
        </p:nvSpPr>
        <p:spPr>
          <a:xfrm>
            <a:off x="54864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18"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19" name="Image 0" descr="preencoded.png"/>
          <p:cNvPicPr/>
          <p:nvPr/>
        </p:nvPicPr>
        <p:blipFill>
          <a:blip r:embed="rId1"/>
          <a:stretch/>
        </p:blipFill>
        <p:spPr>
          <a:xfrm>
            <a:off x="914400" y="1965960"/>
            <a:ext cx="273600" cy="273600"/>
          </a:xfrm>
          <a:prstGeom prst="rect">
            <a:avLst/>
          </a:prstGeom>
          <a:ln>
            <a:noFill/>
          </a:ln>
        </p:spPr>
      </p:pic>
      <p:sp>
        <p:nvSpPr>
          <p:cNvPr id="1720" name="CustomShape 7"/>
          <p:cNvSpPr/>
          <p:nvPr/>
        </p:nvSpPr>
        <p:spPr>
          <a:xfrm>
            <a:off x="146304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SQL Server Agent jobs</a:t>
            </a:r>
            <a:endParaRPr b="0" lang="es-ES" sz="1600" spc="-1" strike="noStrike">
              <a:latin typeface="Arial"/>
            </a:endParaRPr>
          </a:p>
        </p:txBody>
      </p:sp>
      <p:sp>
        <p:nvSpPr>
          <p:cNvPr id="1721" name="CustomShape 8"/>
          <p:cNvSpPr/>
          <p:nvPr/>
        </p:nvSpPr>
        <p:spPr>
          <a:xfrm>
            <a:off x="77724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Pasos T-SQL o CmdExec, schedules e historial en msdb.</a:t>
            </a:r>
            <a:endParaRPr b="0" lang="es-ES" sz="1400" spc="-1" strike="noStrike">
              <a:latin typeface="Arial"/>
            </a:endParaRPr>
          </a:p>
        </p:txBody>
      </p:sp>
      <p:sp>
        <p:nvSpPr>
          <p:cNvPr id="1722" name="CustomShape 9"/>
          <p:cNvSpPr/>
          <p:nvPr/>
        </p:nvSpPr>
        <p:spPr>
          <a:xfrm>
            <a:off x="433728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3" name="CustomShape 10"/>
          <p:cNvSpPr/>
          <p:nvPr/>
        </p:nvSpPr>
        <p:spPr>
          <a:xfrm>
            <a:off x="4565880" y="1828800"/>
            <a:ext cx="547920" cy="547920"/>
          </a:xfrm>
          <a:prstGeom prst="ellipse">
            <a:avLst/>
          </a:prstGeom>
          <a:solidFill>
            <a:srgbClr val="134074"/>
          </a:solidFill>
          <a:ln>
            <a:noFill/>
          </a:ln>
        </p:spPr>
        <p:style>
          <a:lnRef idx="0"/>
          <a:fillRef idx="0"/>
          <a:effectRef idx="0"/>
          <a:fontRef idx="minor"/>
        </p:style>
      </p:sp>
      <p:pic>
        <p:nvPicPr>
          <p:cNvPr id="1724" name="Image 1" descr="preencoded.png"/>
          <p:cNvPicPr/>
          <p:nvPr/>
        </p:nvPicPr>
        <p:blipFill>
          <a:blip r:embed="rId2"/>
          <a:stretch/>
        </p:blipFill>
        <p:spPr>
          <a:xfrm>
            <a:off x="4703040" y="1965960"/>
            <a:ext cx="273600" cy="273600"/>
          </a:xfrm>
          <a:prstGeom prst="rect">
            <a:avLst/>
          </a:prstGeom>
          <a:ln>
            <a:noFill/>
          </a:ln>
        </p:spPr>
      </p:pic>
      <p:sp>
        <p:nvSpPr>
          <p:cNvPr id="1725" name="CustomShape 11"/>
          <p:cNvSpPr/>
          <p:nvPr/>
        </p:nvSpPr>
        <p:spPr>
          <a:xfrm>
            <a:off x="525168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Maintenance Plans</a:t>
            </a:r>
            <a:endParaRPr b="0" lang="es-ES" sz="1600" spc="-1" strike="noStrike">
              <a:latin typeface="Arial"/>
            </a:endParaRPr>
          </a:p>
        </p:txBody>
      </p:sp>
      <p:sp>
        <p:nvSpPr>
          <p:cNvPr id="1726" name="CustomShape 12"/>
          <p:cNvSpPr/>
          <p:nvPr/>
        </p:nvSpPr>
        <p:spPr>
          <a:xfrm>
            <a:off x="456588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Asistente gráfico (SSIS): simple, pero poco flexible.</a:t>
            </a:r>
            <a:endParaRPr b="0" lang="es-ES" sz="1400" spc="-1" strike="noStrike">
              <a:latin typeface="Arial"/>
            </a:endParaRPr>
          </a:p>
        </p:txBody>
      </p:sp>
      <p:sp>
        <p:nvSpPr>
          <p:cNvPr id="1727" name="CustomShape 13"/>
          <p:cNvSpPr/>
          <p:nvPr/>
        </p:nvSpPr>
        <p:spPr>
          <a:xfrm>
            <a:off x="8125920" y="160020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28" name="CustomShape 14"/>
          <p:cNvSpPr/>
          <p:nvPr/>
        </p:nvSpPr>
        <p:spPr>
          <a:xfrm>
            <a:off x="8354520" y="1828800"/>
            <a:ext cx="547920" cy="547920"/>
          </a:xfrm>
          <a:prstGeom prst="ellipse">
            <a:avLst/>
          </a:prstGeom>
          <a:solidFill>
            <a:srgbClr val="134074"/>
          </a:solidFill>
          <a:ln>
            <a:noFill/>
          </a:ln>
        </p:spPr>
        <p:style>
          <a:lnRef idx="0"/>
          <a:fillRef idx="0"/>
          <a:effectRef idx="0"/>
          <a:fontRef idx="minor"/>
        </p:style>
      </p:sp>
      <p:pic>
        <p:nvPicPr>
          <p:cNvPr id="1729" name="Image 2" descr="preencoded.png"/>
          <p:cNvPicPr/>
          <p:nvPr/>
        </p:nvPicPr>
        <p:blipFill>
          <a:blip r:embed="rId3"/>
          <a:stretch/>
        </p:blipFill>
        <p:spPr>
          <a:xfrm>
            <a:off x="8491680" y="1965960"/>
            <a:ext cx="273600" cy="273600"/>
          </a:xfrm>
          <a:prstGeom prst="rect">
            <a:avLst/>
          </a:prstGeom>
          <a:ln>
            <a:noFill/>
          </a:ln>
        </p:spPr>
      </p:pic>
      <p:sp>
        <p:nvSpPr>
          <p:cNvPr id="1730" name="CustomShape 15"/>
          <p:cNvSpPr/>
          <p:nvPr/>
        </p:nvSpPr>
        <p:spPr>
          <a:xfrm>
            <a:off x="9040320" y="182880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Scripts Ola Hallengren</a:t>
            </a:r>
            <a:endParaRPr b="0" lang="es-ES" sz="1600" spc="-1" strike="noStrike">
              <a:latin typeface="Arial"/>
            </a:endParaRPr>
          </a:p>
        </p:txBody>
      </p:sp>
      <p:sp>
        <p:nvSpPr>
          <p:cNvPr id="1731" name="CustomShape 16"/>
          <p:cNvSpPr/>
          <p:nvPr/>
        </p:nvSpPr>
        <p:spPr>
          <a:xfrm>
            <a:off x="8354520" y="256032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DatabaseBackup, IntegrityCheck e IndexOptimize por umbrales.</a:t>
            </a:r>
            <a:endParaRPr b="0" lang="es-ES" sz="1400" spc="-1" strike="noStrike">
              <a:latin typeface="Arial"/>
            </a:endParaRPr>
          </a:p>
        </p:txBody>
      </p:sp>
      <p:sp>
        <p:nvSpPr>
          <p:cNvPr id="1732" name="CustomShape 17"/>
          <p:cNvSpPr/>
          <p:nvPr/>
        </p:nvSpPr>
        <p:spPr>
          <a:xfrm>
            <a:off x="54864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3" name="CustomShape 18"/>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34" name="Image 3" descr="preencoded.png"/>
          <p:cNvPicPr/>
          <p:nvPr/>
        </p:nvPicPr>
        <p:blipFill>
          <a:blip r:embed="rId4"/>
          <a:stretch/>
        </p:blipFill>
        <p:spPr>
          <a:xfrm>
            <a:off x="914400" y="4389120"/>
            <a:ext cx="273600" cy="273600"/>
          </a:xfrm>
          <a:prstGeom prst="rect">
            <a:avLst/>
          </a:prstGeom>
          <a:ln>
            <a:noFill/>
          </a:ln>
        </p:spPr>
      </p:pic>
      <p:sp>
        <p:nvSpPr>
          <p:cNvPr id="1735" name="CustomShape 19"/>
          <p:cNvSpPr/>
          <p:nvPr/>
        </p:nvSpPr>
        <p:spPr>
          <a:xfrm>
            <a:off x="146304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Limpieza de msdb</a:t>
            </a:r>
            <a:endParaRPr b="0" lang="es-ES" sz="1600" spc="-1" strike="noStrike">
              <a:latin typeface="Arial"/>
            </a:endParaRPr>
          </a:p>
        </p:txBody>
      </p:sp>
      <p:sp>
        <p:nvSpPr>
          <p:cNvPr id="1736" name="CustomShape 20"/>
          <p:cNvSpPr/>
          <p:nvPr/>
        </p:nvSpPr>
        <p:spPr>
          <a:xfrm>
            <a:off x="77724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sp_delete_backuphistory y sp_purge_jobhistory semanales.</a:t>
            </a:r>
            <a:endParaRPr b="0" lang="es-ES" sz="1400" spc="-1" strike="noStrike">
              <a:latin typeface="Arial"/>
            </a:endParaRPr>
          </a:p>
        </p:txBody>
      </p:sp>
      <p:sp>
        <p:nvSpPr>
          <p:cNvPr id="1737" name="CustomShape 21"/>
          <p:cNvSpPr/>
          <p:nvPr/>
        </p:nvSpPr>
        <p:spPr>
          <a:xfrm>
            <a:off x="433728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38" name="CustomShape 22"/>
          <p:cNvSpPr/>
          <p:nvPr/>
        </p:nvSpPr>
        <p:spPr>
          <a:xfrm>
            <a:off x="4565880" y="4251960"/>
            <a:ext cx="547920" cy="547920"/>
          </a:xfrm>
          <a:prstGeom prst="ellipse">
            <a:avLst/>
          </a:prstGeom>
          <a:solidFill>
            <a:srgbClr val="134074"/>
          </a:solidFill>
          <a:ln>
            <a:noFill/>
          </a:ln>
        </p:spPr>
        <p:style>
          <a:lnRef idx="0"/>
          <a:fillRef idx="0"/>
          <a:effectRef idx="0"/>
          <a:fontRef idx="minor"/>
        </p:style>
      </p:sp>
      <p:pic>
        <p:nvPicPr>
          <p:cNvPr id="1739" name="Image 4" descr="preencoded.png"/>
          <p:cNvPicPr/>
          <p:nvPr/>
        </p:nvPicPr>
        <p:blipFill>
          <a:blip r:embed="rId5"/>
          <a:stretch/>
        </p:blipFill>
        <p:spPr>
          <a:xfrm>
            <a:off x="4703040" y="4389120"/>
            <a:ext cx="273600" cy="273600"/>
          </a:xfrm>
          <a:prstGeom prst="rect">
            <a:avLst/>
          </a:prstGeom>
          <a:ln>
            <a:noFill/>
          </a:ln>
        </p:spPr>
      </p:pic>
      <p:sp>
        <p:nvSpPr>
          <p:cNvPr id="1740" name="CustomShape 23"/>
          <p:cNvSpPr/>
          <p:nvPr/>
        </p:nvSpPr>
        <p:spPr>
          <a:xfrm>
            <a:off x="525168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Database Mail y operadores</a:t>
            </a:r>
            <a:endParaRPr b="0" lang="es-ES" sz="1600" spc="-1" strike="noStrike">
              <a:latin typeface="Arial"/>
            </a:endParaRPr>
          </a:p>
        </p:txBody>
      </p:sp>
      <p:sp>
        <p:nvSpPr>
          <p:cNvPr id="1741" name="CustomShape 24"/>
          <p:cNvSpPr/>
          <p:nvPr/>
        </p:nvSpPr>
        <p:spPr>
          <a:xfrm>
            <a:off x="456588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El operador recibe el correo cuando un job falla.</a:t>
            </a:r>
            <a:endParaRPr b="0" lang="es-ES" sz="1400" spc="-1" strike="noStrike">
              <a:latin typeface="Arial"/>
            </a:endParaRPr>
          </a:p>
        </p:txBody>
      </p:sp>
      <p:sp>
        <p:nvSpPr>
          <p:cNvPr id="1742" name="CustomShape 25"/>
          <p:cNvSpPr/>
          <p:nvPr/>
        </p:nvSpPr>
        <p:spPr>
          <a:xfrm>
            <a:off x="8125920" y="4023360"/>
            <a:ext cx="35136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43" name="CustomShape 26"/>
          <p:cNvSpPr/>
          <p:nvPr/>
        </p:nvSpPr>
        <p:spPr>
          <a:xfrm>
            <a:off x="8354520" y="4251960"/>
            <a:ext cx="547920" cy="547920"/>
          </a:xfrm>
          <a:prstGeom prst="ellipse">
            <a:avLst/>
          </a:prstGeom>
          <a:solidFill>
            <a:srgbClr val="134074"/>
          </a:solidFill>
          <a:ln>
            <a:noFill/>
          </a:ln>
        </p:spPr>
        <p:style>
          <a:lnRef idx="0"/>
          <a:fillRef idx="0"/>
          <a:effectRef idx="0"/>
          <a:fontRef idx="minor"/>
        </p:style>
      </p:sp>
      <p:pic>
        <p:nvPicPr>
          <p:cNvPr id="1744" name="Image 5" descr="preencoded.png"/>
          <p:cNvPicPr/>
          <p:nvPr/>
        </p:nvPicPr>
        <p:blipFill>
          <a:blip r:embed="rId6"/>
          <a:stretch/>
        </p:blipFill>
        <p:spPr>
          <a:xfrm>
            <a:off x="8491680" y="4389120"/>
            <a:ext cx="273600" cy="273600"/>
          </a:xfrm>
          <a:prstGeom prst="rect">
            <a:avLst/>
          </a:prstGeom>
          <a:ln>
            <a:noFill/>
          </a:ln>
        </p:spPr>
      </p:pic>
      <p:sp>
        <p:nvSpPr>
          <p:cNvPr id="1745" name="CustomShape 27"/>
          <p:cNvSpPr/>
          <p:nvPr/>
        </p:nvSpPr>
        <p:spPr>
          <a:xfrm>
            <a:off x="9040320" y="4251960"/>
            <a:ext cx="23706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Alertas del Agent</a:t>
            </a:r>
            <a:endParaRPr b="0" lang="es-ES" sz="1600" spc="-1" strike="noStrike">
              <a:latin typeface="Arial"/>
            </a:endParaRPr>
          </a:p>
        </p:txBody>
      </p:sp>
      <p:sp>
        <p:nvSpPr>
          <p:cNvPr id="1746" name="CustomShape 28"/>
          <p:cNvSpPr/>
          <p:nvPr/>
        </p:nvSpPr>
        <p:spPr>
          <a:xfrm>
            <a:off x="8354520" y="4983480"/>
            <a:ext cx="30564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Gravedad 19–25 y errores 823, 824, 825 y 9002.</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47"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4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log de transacciones lleno</a:t>
            </a:r>
            <a:endParaRPr b="0" lang="es-ES" sz="3400" spc="-1" strike="noStrike">
              <a:latin typeface="Arial"/>
            </a:endParaRPr>
          </a:p>
        </p:txBody>
      </p:sp>
      <p:sp>
        <p:nvSpPr>
          <p:cNvPr id="174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5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71</a:t>
            </a:r>
            <a:endParaRPr b="0" lang="es-ES" sz="1000" spc="-1" strike="noStrike">
              <a:latin typeface="Arial"/>
            </a:endParaRPr>
          </a:p>
        </p:txBody>
      </p:sp>
      <p:sp>
        <p:nvSpPr>
          <p:cNvPr id="1751" name="CustomShape 5"/>
          <p:cNvSpPr/>
          <p:nvPr/>
        </p:nvSpPr>
        <p:spPr>
          <a:xfrm>
            <a:off x="548640" y="1600200"/>
            <a:ext cx="4754160" cy="3016800"/>
          </a:xfrm>
          <a:prstGeom prst="roundRect">
            <a:avLst>
              <a:gd name="adj" fmla="val 3030"/>
            </a:avLst>
          </a:prstGeom>
          <a:solidFill>
            <a:srgbClr val="eceff3"/>
          </a:solidFill>
          <a:ln w="9360">
            <a:solidFill>
              <a:srgbClr val="d0d7de"/>
            </a:solidFill>
            <a:round/>
          </a:ln>
        </p:spPr>
        <p:style>
          <a:lnRef idx="0"/>
          <a:fillRef idx="0"/>
          <a:effectRef idx="0"/>
          <a:fontRef idx="minor"/>
        </p:style>
      </p:sp>
      <p:sp>
        <p:nvSpPr>
          <p:cNvPr id="1752"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53" name="CustomShape 7"/>
          <p:cNvSpPr/>
          <p:nvPr/>
        </p:nvSpPr>
        <p:spPr>
          <a:xfrm>
            <a:off x="731520" y="1965960"/>
            <a:ext cx="4388400" cy="255960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recovery_model_desc,</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log_reuse_wait_desc</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sys.databases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name</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SQLPERF (LOGSPACE);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DBCC</a:t>
            </a:r>
            <a:r>
              <a:rPr b="0" lang="en-US" sz="1200" spc="-1" strike="noStrike">
                <a:solidFill>
                  <a:srgbClr val="1f2933"/>
                </a:solidFill>
                <a:latin typeface="Consolas"/>
                <a:ea typeface="Consolas"/>
              </a:rPr>
              <a:t> OPENTRAN (</a:t>
            </a:r>
            <a:r>
              <a:rPr b="0" lang="en-US" sz="1200" spc="-1" strike="noStrike">
                <a:solidFill>
                  <a:srgbClr val="b4441f"/>
                </a:solidFill>
                <a:latin typeface="Consolas"/>
                <a:ea typeface="Consolas"/>
              </a:rPr>
              <a:t>N'Ventas'</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N'/var/opt/mssql/backup/Log2.trn'</a:t>
            </a:r>
            <a:r>
              <a:rPr b="0" lang="en-US" sz="1200" spc="-1" strike="noStrike">
                <a:solidFill>
                  <a:srgbClr val="1f2933"/>
                </a:solidFill>
                <a:latin typeface="Consolas"/>
                <a:ea typeface="Consolas"/>
              </a:rPr>
              <a:t>;</a:t>
            </a:r>
            <a:endParaRPr b="0" lang="es-ES" sz="1200" spc="-1" strike="noStrike">
              <a:latin typeface="Arial"/>
            </a:endParaRPr>
          </a:p>
        </p:txBody>
      </p:sp>
      <p:graphicFrame>
        <p:nvGraphicFramePr>
          <p:cNvPr id="1754" name="Table 8"/>
          <p:cNvGraphicFramePr/>
          <p:nvPr/>
        </p:nvGraphicFramePr>
        <p:xfrm>
          <a:off x="5577840" y="1600200"/>
          <a:ext cx="6061680" cy="2300400"/>
        </p:xfrm>
        <a:graphic>
          <a:graphicData uri="http://schemas.openxmlformats.org/drawingml/2006/table">
            <a:tbl>
              <a:tblPr/>
              <a:tblGrid>
                <a:gridCol w="2080800"/>
                <a:gridCol w="1990440"/>
                <a:gridCol w="1990800"/>
              </a:tblGrid>
              <a:tr h="380880">
                <a:tc>
                  <a:txBody>
                    <a:bodyPr lIns="109440" rIns="109440">
                      <a:noAutofit/>
                    </a:bodyPr>
                    <a:p>
                      <a:pPr>
                        <a:lnSpc>
                          <a:spcPct val="100000"/>
                        </a:lnSpc>
                        <a:tabLst>
                          <a:tab algn="l" pos="0"/>
                        </a:tabLst>
                      </a:pPr>
                      <a:r>
                        <a:rPr b="1" lang="en-US" sz="1300" spc="-1" strike="noStrike">
                          <a:solidFill>
                            <a:srgbClr val="ffffff"/>
                          </a:solidFill>
                          <a:latin typeface="Calibri"/>
                          <a:ea typeface="Calibri"/>
                        </a:rPr>
                        <a:t>log_reuse_wait_desc</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Causa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c>
                  <a:txBody>
                    <a:bodyPr lIns="109440" rIns="109440">
                      <a:noAutofit/>
                    </a:bodyPr>
                    <a:p>
                      <a:pPr>
                        <a:lnSpc>
                          <a:spcPct val="100000"/>
                        </a:lnSpc>
                        <a:tabLst>
                          <a:tab algn="l" pos="0"/>
                        </a:tabLst>
                      </a:pPr>
                      <a:r>
                        <a:rPr b="1" lang="en-US" sz="1300" spc="-1" strike="noStrike">
                          <a:solidFill>
                            <a:srgbClr val="ffffff"/>
                          </a:solidFill>
                          <a:latin typeface="Calibri"/>
                          <a:ea typeface="Calibri"/>
                        </a:rPr>
                        <a:t>Acción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0b2545"/>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LOG_BACKUP</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Sin log backups</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BACKUP LOG y programarlo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578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ACTIVE_TRANSACTION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Transacción larga abierta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DBCC OPENTRAN; cerrarla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r h="380880">
                <a:tc>
                  <a:txBody>
                    <a:bodyPr lIns="109440" rIns="109440">
                      <a:noAutofit/>
                    </a:bodyPr>
                    <a:p>
                      <a:pPr>
                        <a:lnSpc>
                          <a:spcPct val="100000"/>
                        </a:lnSpc>
                        <a:tabLst>
                          <a:tab algn="l" pos="0"/>
                        </a:tabLst>
                      </a:pPr>
                      <a:r>
                        <a:rPr b="1" lang="en-US" sz="1300" spc="-1" strike="noStrike">
                          <a:solidFill>
                            <a:srgbClr val="0b2545"/>
                          </a:solidFill>
                          <a:latin typeface="Calibri"/>
                          <a:ea typeface="Calibri"/>
                        </a:rPr>
                        <a:t>AVAILABILITY_REPLICA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Réplica AG atrasada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Revisar red y réplica</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ffffff"/>
                    </a:solidFill>
                  </a:tcPr>
                </a:tc>
              </a:tr>
              <a:tr h="381240">
                <a:tc>
                  <a:txBody>
                    <a:bodyPr lIns="109440" rIns="109440">
                      <a:noAutofit/>
                    </a:bodyPr>
                    <a:p>
                      <a:pPr>
                        <a:lnSpc>
                          <a:spcPct val="100000"/>
                        </a:lnSpc>
                        <a:tabLst>
                          <a:tab algn="l" pos="0"/>
                        </a:tabLst>
                      </a:pPr>
                      <a:r>
                        <a:rPr b="1" lang="en-US" sz="1300" spc="-1" strike="noStrike">
                          <a:solidFill>
                            <a:srgbClr val="0b2545"/>
                          </a:solidFill>
                          <a:latin typeface="Calibri"/>
                          <a:ea typeface="Calibri"/>
                        </a:rPr>
                        <a:t>REPLICATION</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Log Reader parado</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c>
                  <a:txBody>
                    <a:bodyPr lIns="109440" rIns="109440">
                      <a:noAutofit/>
                    </a:bodyPr>
                    <a:p>
                      <a:pPr>
                        <a:lnSpc>
                          <a:spcPct val="100000"/>
                        </a:lnSpc>
                        <a:tabLst>
                          <a:tab algn="l" pos="0"/>
                        </a:tabLst>
                      </a:pPr>
                      <a:r>
                        <a:rPr b="0" lang="en-US" sz="1300" spc="-1" strike="noStrike">
                          <a:solidFill>
                            <a:srgbClr val="1f2933"/>
                          </a:solidFill>
                          <a:latin typeface="Calibri"/>
                          <a:ea typeface="Calibri"/>
                        </a:rPr>
                        <a:t>Reiniciar el agente</a:t>
                      </a:r>
                      <a:endParaRPr b="0" lang="es-ES" sz="1300" spc="-1" strike="noStrike">
                        <a:latin typeface="Arial"/>
                      </a:endParaRPr>
                    </a:p>
                  </a:txBody>
                  <a:tcPr marL="109440" marR="109440">
                    <a:lnL w="9360">
                      <a:solidFill>
                        <a:srgbClr val="d0d7de"/>
                      </a:solidFill>
                    </a:lnL>
                    <a:lnR w="9360">
                      <a:solidFill>
                        <a:srgbClr val="d0d7de"/>
                      </a:solidFill>
                    </a:lnR>
                    <a:lnT w="9360">
                      <a:solidFill>
                        <a:srgbClr val="d0d7de"/>
                      </a:solidFill>
                    </a:lnT>
                    <a:lnB w="9360">
                      <a:solidFill>
                        <a:srgbClr val="d0d7de"/>
                      </a:solidFill>
                    </a:lnB>
                    <a:solidFill>
                      <a:srgbClr val="e8eef5"/>
                    </a:solidFill>
                  </a:tcPr>
                </a:tc>
              </a:tr>
            </a:tbl>
          </a:graphicData>
        </a:graphic>
      </p:graphicFrame>
      <p:sp>
        <p:nvSpPr>
          <p:cNvPr id="1755" name="CustomShape 9"/>
          <p:cNvSpPr/>
          <p:nvPr/>
        </p:nvSpPr>
        <p:spPr>
          <a:xfrm>
            <a:off x="548640" y="4937760"/>
            <a:ext cx="11090880" cy="1188000"/>
          </a:xfrm>
          <a:prstGeom prst="roundRect">
            <a:avLst>
              <a:gd name="adj" fmla="val 9231"/>
            </a:avLst>
          </a:prstGeom>
          <a:solidFill>
            <a:srgbClr val="fdede8"/>
          </a:solidFill>
          <a:ln>
            <a:noFill/>
          </a:ln>
        </p:spPr>
        <p:style>
          <a:lnRef idx="0"/>
          <a:fillRef idx="0"/>
          <a:effectRef idx="0"/>
          <a:fontRef idx="minor"/>
        </p:style>
      </p:sp>
      <p:sp>
        <p:nvSpPr>
          <p:cNvPr id="1756" name="CustomShape 10"/>
          <p:cNvSpPr/>
          <p:nvPr/>
        </p:nvSpPr>
        <p:spPr>
          <a:xfrm>
            <a:off x="731520" y="5303520"/>
            <a:ext cx="456480" cy="456480"/>
          </a:xfrm>
          <a:prstGeom prst="ellipse">
            <a:avLst/>
          </a:prstGeom>
          <a:solidFill>
            <a:srgbClr val="d95d39"/>
          </a:solidFill>
          <a:ln>
            <a:noFill/>
          </a:ln>
        </p:spPr>
        <p:style>
          <a:lnRef idx="0"/>
          <a:fillRef idx="0"/>
          <a:effectRef idx="0"/>
          <a:fontRef idx="minor"/>
        </p:style>
      </p:sp>
      <p:pic>
        <p:nvPicPr>
          <p:cNvPr id="1757" name="Image 0" descr="preencoded.png"/>
          <p:cNvPicPr/>
          <p:nvPr/>
        </p:nvPicPr>
        <p:blipFill>
          <a:blip r:embed="rId1"/>
          <a:stretch/>
        </p:blipFill>
        <p:spPr>
          <a:xfrm>
            <a:off x="846000" y="5418000"/>
            <a:ext cx="227880" cy="227880"/>
          </a:xfrm>
          <a:prstGeom prst="rect">
            <a:avLst/>
          </a:prstGeom>
          <a:ln>
            <a:noFill/>
          </a:ln>
        </p:spPr>
      </p:pic>
      <p:sp>
        <p:nvSpPr>
          <p:cNvPr id="1758" name="CustomShape 11"/>
          <p:cNvSpPr/>
          <p:nvPr/>
        </p:nvSpPr>
        <p:spPr>
          <a:xfrm>
            <a:off x="1371600" y="4937760"/>
            <a:ext cx="10085040" cy="11880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Nunca borres el .ldf: </a:t>
            </a:r>
            <a:r>
              <a:rPr b="0" lang="en-US" sz="1400" spc="-1" strike="noStrike">
                <a:solidFill>
                  <a:srgbClr val="1f2933"/>
                </a:solidFill>
                <a:latin typeface="Calibri"/>
                <a:ea typeface="Calibri"/>
              </a:rPr>
              <a:t>la base puede quedar sin recuperar. Resuelve la causa raíz (log_reuse_wait_desc) y reduce el fichero sólo una vez, después.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59"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6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Incidencia: TempDB saturada</a:t>
            </a:r>
            <a:endParaRPr b="0" lang="es-ES" sz="3400" spc="-1" strike="noStrike">
              <a:latin typeface="Arial"/>
            </a:endParaRPr>
          </a:p>
        </p:txBody>
      </p:sp>
      <p:sp>
        <p:nvSpPr>
          <p:cNvPr id="176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6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72</a:t>
            </a:r>
            <a:endParaRPr b="0" lang="es-ES" sz="1000" spc="-1" strike="noStrike">
              <a:latin typeface="Arial"/>
            </a:endParaRPr>
          </a:p>
        </p:txBody>
      </p:sp>
      <p:sp>
        <p:nvSpPr>
          <p:cNvPr id="1763" name="CustomShape 5"/>
          <p:cNvSpPr/>
          <p:nvPr/>
        </p:nvSpPr>
        <p:spPr>
          <a:xfrm>
            <a:off x="54864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765" name="Image 0" descr="preencoded.png"/>
          <p:cNvPicPr/>
          <p:nvPr/>
        </p:nvPicPr>
        <p:blipFill>
          <a:blip r:embed="rId1"/>
          <a:stretch/>
        </p:blipFill>
        <p:spPr>
          <a:xfrm>
            <a:off x="914400" y="1965960"/>
            <a:ext cx="273600" cy="273600"/>
          </a:xfrm>
          <a:prstGeom prst="rect">
            <a:avLst/>
          </a:prstGeom>
          <a:ln>
            <a:noFill/>
          </a:ln>
        </p:spPr>
      </p:pic>
      <p:sp>
        <p:nvSpPr>
          <p:cNvPr id="1766" name="CustomShape 7"/>
          <p:cNvSpPr/>
          <p:nvPr/>
        </p:nvSpPr>
        <p:spPr>
          <a:xfrm>
            <a:off x="146304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Version store</a:t>
            </a:r>
            <a:endParaRPr b="0" lang="es-ES" sz="1600" spc="-1" strike="noStrike">
              <a:latin typeface="Arial"/>
            </a:endParaRPr>
          </a:p>
        </p:txBody>
      </p:sp>
      <p:sp>
        <p:nvSpPr>
          <p:cNvPr id="1767" name="CustomShape 8"/>
          <p:cNvSpPr/>
          <p:nvPr/>
        </p:nvSpPr>
        <p:spPr>
          <a:xfrm>
            <a:off x="77724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RCSI y snapshot guardan versiones; una transacción larga las retiene.</a:t>
            </a:r>
            <a:endParaRPr b="0" lang="es-ES" sz="1400" spc="-1" strike="noStrike">
              <a:latin typeface="Arial"/>
            </a:endParaRPr>
          </a:p>
        </p:txBody>
      </p:sp>
      <p:sp>
        <p:nvSpPr>
          <p:cNvPr id="1768" name="CustomShape 9"/>
          <p:cNvSpPr/>
          <p:nvPr/>
        </p:nvSpPr>
        <p:spPr>
          <a:xfrm>
            <a:off x="3840480" y="160020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69" name="CustomShape 10"/>
          <p:cNvSpPr/>
          <p:nvPr/>
        </p:nvSpPr>
        <p:spPr>
          <a:xfrm>
            <a:off x="4069080" y="1828800"/>
            <a:ext cx="547920" cy="547920"/>
          </a:xfrm>
          <a:prstGeom prst="ellipse">
            <a:avLst/>
          </a:prstGeom>
          <a:solidFill>
            <a:srgbClr val="134074"/>
          </a:solidFill>
          <a:ln>
            <a:noFill/>
          </a:ln>
        </p:spPr>
        <p:style>
          <a:lnRef idx="0"/>
          <a:fillRef idx="0"/>
          <a:effectRef idx="0"/>
          <a:fontRef idx="minor"/>
        </p:style>
      </p:sp>
      <p:pic>
        <p:nvPicPr>
          <p:cNvPr id="1770" name="Image 1" descr="preencoded.png"/>
          <p:cNvPicPr/>
          <p:nvPr/>
        </p:nvPicPr>
        <p:blipFill>
          <a:blip r:embed="rId2"/>
          <a:stretch/>
        </p:blipFill>
        <p:spPr>
          <a:xfrm>
            <a:off x="4206240" y="1965960"/>
            <a:ext cx="273600" cy="273600"/>
          </a:xfrm>
          <a:prstGeom prst="rect">
            <a:avLst/>
          </a:prstGeom>
          <a:ln>
            <a:noFill/>
          </a:ln>
        </p:spPr>
      </p:pic>
      <p:sp>
        <p:nvSpPr>
          <p:cNvPr id="1771" name="CustomShape 11"/>
          <p:cNvSpPr/>
          <p:nvPr/>
        </p:nvSpPr>
        <p:spPr>
          <a:xfrm>
            <a:off x="4754880" y="182880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Spills y temporales</a:t>
            </a:r>
            <a:endParaRPr b="0" lang="es-ES" sz="1600" spc="-1" strike="noStrike">
              <a:latin typeface="Arial"/>
            </a:endParaRPr>
          </a:p>
        </p:txBody>
      </p:sp>
      <p:sp>
        <p:nvSpPr>
          <p:cNvPr id="1772" name="CustomShape 12"/>
          <p:cNvSpPr/>
          <p:nvPr/>
        </p:nvSpPr>
        <p:spPr>
          <a:xfrm>
            <a:off x="4069080" y="256032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Sort/hash sin memoria suficiente y #tablas grandes.</a:t>
            </a:r>
            <a:endParaRPr b="0" lang="es-ES" sz="1400" spc="-1" strike="noStrike">
              <a:latin typeface="Arial"/>
            </a:endParaRPr>
          </a:p>
        </p:txBody>
      </p:sp>
      <p:sp>
        <p:nvSpPr>
          <p:cNvPr id="1773" name="CustomShape 13"/>
          <p:cNvSpPr/>
          <p:nvPr/>
        </p:nvSpPr>
        <p:spPr>
          <a:xfrm>
            <a:off x="54864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4" name="CustomShape 14"/>
          <p:cNvSpPr/>
          <p:nvPr/>
        </p:nvSpPr>
        <p:spPr>
          <a:xfrm>
            <a:off x="777240" y="4251960"/>
            <a:ext cx="547920" cy="547920"/>
          </a:xfrm>
          <a:prstGeom prst="ellipse">
            <a:avLst/>
          </a:prstGeom>
          <a:solidFill>
            <a:srgbClr val="134074"/>
          </a:solidFill>
          <a:ln>
            <a:noFill/>
          </a:ln>
        </p:spPr>
        <p:style>
          <a:lnRef idx="0"/>
          <a:fillRef idx="0"/>
          <a:effectRef idx="0"/>
          <a:fontRef idx="minor"/>
        </p:style>
      </p:sp>
      <p:pic>
        <p:nvPicPr>
          <p:cNvPr id="1775" name="Image 2" descr="preencoded.png"/>
          <p:cNvPicPr/>
          <p:nvPr/>
        </p:nvPicPr>
        <p:blipFill>
          <a:blip r:embed="rId3"/>
          <a:stretch/>
        </p:blipFill>
        <p:spPr>
          <a:xfrm>
            <a:off x="914400" y="4389120"/>
            <a:ext cx="273600" cy="273600"/>
          </a:xfrm>
          <a:prstGeom prst="rect">
            <a:avLst/>
          </a:prstGeom>
          <a:ln>
            <a:noFill/>
          </a:ln>
        </p:spPr>
      </p:pic>
      <p:sp>
        <p:nvSpPr>
          <p:cNvPr id="1776" name="CustomShape 15"/>
          <p:cNvSpPr/>
          <p:nvPr/>
        </p:nvSpPr>
        <p:spPr>
          <a:xfrm>
            <a:off x="146304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PFS / GAM / SGAM</a:t>
            </a:r>
            <a:endParaRPr b="0" lang="es-ES" sz="1600" spc="-1" strike="noStrike">
              <a:latin typeface="Arial"/>
            </a:endParaRPr>
          </a:p>
        </p:txBody>
      </p:sp>
      <p:sp>
        <p:nvSpPr>
          <p:cNvPr id="1777" name="CustomShape 16"/>
          <p:cNvSpPr/>
          <p:nvPr/>
        </p:nvSpPr>
        <p:spPr>
          <a:xfrm>
            <a:off x="77724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Contención PAGELATCH en páginas de asignación.</a:t>
            </a:r>
            <a:endParaRPr b="0" lang="es-ES" sz="1400" spc="-1" strike="noStrike">
              <a:latin typeface="Arial"/>
            </a:endParaRPr>
          </a:p>
        </p:txBody>
      </p:sp>
      <p:sp>
        <p:nvSpPr>
          <p:cNvPr id="1778" name="CustomShape 17"/>
          <p:cNvSpPr/>
          <p:nvPr/>
        </p:nvSpPr>
        <p:spPr>
          <a:xfrm>
            <a:off x="3840480" y="4023360"/>
            <a:ext cx="3016800" cy="2148120"/>
          </a:xfrm>
          <a:prstGeom prst="roundRect">
            <a:avLst>
              <a:gd name="adj" fmla="val 510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79" name="CustomShape 18"/>
          <p:cNvSpPr/>
          <p:nvPr/>
        </p:nvSpPr>
        <p:spPr>
          <a:xfrm>
            <a:off x="4069080" y="4251960"/>
            <a:ext cx="547920" cy="547920"/>
          </a:xfrm>
          <a:prstGeom prst="ellipse">
            <a:avLst/>
          </a:prstGeom>
          <a:solidFill>
            <a:srgbClr val="134074"/>
          </a:solidFill>
          <a:ln>
            <a:noFill/>
          </a:ln>
        </p:spPr>
        <p:style>
          <a:lnRef idx="0"/>
          <a:fillRef idx="0"/>
          <a:effectRef idx="0"/>
          <a:fontRef idx="minor"/>
        </p:style>
      </p:sp>
      <p:pic>
        <p:nvPicPr>
          <p:cNvPr id="1780" name="Image 3" descr="preencoded.png"/>
          <p:cNvPicPr/>
          <p:nvPr/>
        </p:nvPicPr>
        <p:blipFill>
          <a:blip r:embed="rId4"/>
          <a:stretch/>
        </p:blipFill>
        <p:spPr>
          <a:xfrm>
            <a:off x="4206240" y="4389120"/>
            <a:ext cx="273600" cy="273600"/>
          </a:xfrm>
          <a:prstGeom prst="rect">
            <a:avLst/>
          </a:prstGeom>
          <a:ln>
            <a:noFill/>
          </a:ln>
        </p:spPr>
      </p:pic>
      <p:sp>
        <p:nvSpPr>
          <p:cNvPr id="1781" name="CustomShape 19"/>
          <p:cNvSpPr/>
          <p:nvPr/>
        </p:nvSpPr>
        <p:spPr>
          <a:xfrm>
            <a:off x="4754880" y="4251960"/>
            <a:ext cx="187380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600" spc="-1" strike="noStrike">
                <a:solidFill>
                  <a:srgbClr val="0b2545"/>
                </a:solidFill>
                <a:latin typeface="Calibri"/>
                <a:ea typeface="Calibri"/>
              </a:rPr>
              <a:t>Varios ficheros</a:t>
            </a:r>
            <a:endParaRPr b="0" lang="es-ES" sz="1600" spc="-1" strike="noStrike">
              <a:latin typeface="Arial"/>
            </a:endParaRPr>
          </a:p>
        </p:txBody>
      </p:sp>
      <p:sp>
        <p:nvSpPr>
          <p:cNvPr id="1782" name="CustomShape 20"/>
          <p:cNvSpPr/>
          <p:nvPr/>
        </p:nvSpPr>
        <p:spPr>
          <a:xfrm>
            <a:off x="4069080" y="4983480"/>
            <a:ext cx="2559600" cy="95940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Ficheros de igual tamaño: 1 por core, hasta 8.</a:t>
            </a:r>
            <a:endParaRPr b="0" lang="es-ES" sz="1400" spc="-1" strike="noStrike">
              <a:latin typeface="Arial"/>
            </a:endParaRPr>
          </a:p>
        </p:txBody>
      </p:sp>
      <p:sp>
        <p:nvSpPr>
          <p:cNvPr id="1783" name="CustomShape 21"/>
          <p:cNvSpPr/>
          <p:nvPr/>
        </p:nvSpPr>
        <p:spPr>
          <a:xfrm>
            <a:off x="7132320" y="1600200"/>
            <a:ext cx="4507200" cy="3153960"/>
          </a:xfrm>
          <a:prstGeom prst="roundRect">
            <a:avLst>
              <a:gd name="adj" fmla="val 2899"/>
            </a:avLst>
          </a:prstGeom>
          <a:solidFill>
            <a:srgbClr val="eceff3"/>
          </a:solidFill>
          <a:ln w="9360">
            <a:solidFill>
              <a:srgbClr val="d0d7de"/>
            </a:solidFill>
            <a:round/>
          </a:ln>
        </p:spPr>
        <p:style>
          <a:lnRef idx="0"/>
          <a:fillRef idx="0"/>
          <a:effectRef idx="0"/>
          <a:fontRef idx="minor"/>
        </p:style>
      </p:sp>
      <p:sp>
        <p:nvSpPr>
          <p:cNvPr id="1784" name="CustomShape 22"/>
          <p:cNvSpPr/>
          <p:nvPr/>
        </p:nvSpPr>
        <p:spPr>
          <a:xfrm>
            <a:off x="731520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85" name="CustomShape 23"/>
          <p:cNvSpPr/>
          <p:nvPr/>
        </p:nvSpPr>
        <p:spPr>
          <a:xfrm>
            <a:off x="7315200" y="1965960"/>
            <a:ext cx="4141440" cy="26967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¿Quién consume TempDB?</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TOP</a:t>
            </a:r>
            <a:r>
              <a:rPr b="0" lang="en-US" sz="1200" spc="-1" strike="noStrike">
                <a:solidFill>
                  <a:srgbClr val="1f2933"/>
                </a:solidFill>
                <a:latin typeface="Consolas"/>
                <a:ea typeface="Consolas"/>
              </a:rPr>
              <a:t> (</a:t>
            </a:r>
            <a:r>
              <a:rPr b="0" lang="en-US" sz="1200" spc="-1" strike="noStrike">
                <a:solidFill>
                  <a:srgbClr val="9a3412"/>
                </a:solidFill>
                <a:latin typeface="Consolas"/>
                <a:ea typeface="Consolas"/>
              </a:rPr>
              <a:t>5</a:t>
            </a:r>
            <a:r>
              <a:rPr b="0" lang="en-US" sz="1200" spc="-1" strike="noStrike">
                <a:solidFill>
                  <a:srgbClr val="1f2933"/>
                </a:solidFill>
                <a:latin typeface="Consolas"/>
                <a:ea typeface="Consolas"/>
              </a:rPr>
              <a:t>) 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internal_objects_alloc_page_count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p_int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sys.dm_db_session_space_usage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ORDER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BY</a:t>
            </a:r>
            <a:r>
              <a:rPr b="0" lang="en-US" sz="1200" spc="-1" strike="noStrike">
                <a:solidFill>
                  <a:srgbClr val="1f2933"/>
                </a:solidFill>
                <a:latin typeface="Consolas"/>
                <a:ea typeface="Consolas"/>
              </a:rPr>
              <a:t> p_int </a:t>
            </a:r>
            <a:r>
              <a:rPr b="1" lang="en-US" sz="1200" spc="-1" strike="noStrike">
                <a:solidFill>
                  <a:srgbClr val="1d4ed8"/>
                </a:solidFill>
                <a:latin typeface="Consolas"/>
                <a:ea typeface="Consolas"/>
              </a:rPr>
              <a:t>DESC</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¿Contención de asignación?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session_id, wait_type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sys.dm_os_waiting_tasks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wait_type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N'PAGELATCH%'</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AND</a:t>
            </a:r>
            <a:r>
              <a:rPr b="0" lang="en-US" sz="1200" spc="-1" strike="noStrike">
                <a:solidFill>
                  <a:srgbClr val="1f2933"/>
                </a:solidFill>
                <a:latin typeface="Consolas"/>
                <a:ea typeface="Consolas"/>
              </a:rPr>
              <a:t> resource_description </a:t>
            </a:r>
            <a:r>
              <a:rPr b="1" lang="en-US" sz="1200" spc="-1" strike="noStrike">
                <a:solidFill>
                  <a:srgbClr val="1d4ed8"/>
                </a:solidFill>
                <a:latin typeface="Consolas"/>
                <a:ea typeface="Consolas"/>
              </a:rPr>
              <a:t>LIKE</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N'2:%'</a:t>
            </a:r>
            <a:r>
              <a:rPr b="0" lang="en-US" sz="1200" spc="-1" strike="noStrike">
                <a:solidFill>
                  <a:srgbClr val="1f2933"/>
                </a:solidFill>
                <a:latin typeface="Consolas"/>
                <a:ea typeface="Consolas"/>
              </a:rPr>
              <a:t>;</a:t>
            </a:r>
            <a:endParaRPr b="0" lang="es-ES" sz="1200" spc="-1" strike="noStrike">
              <a:latin typeface="Arial"/>
            </a:endParaRPr>
          </a:p>
        </p:txBody>
      </p:sp>
      <p:sp>
        <p:nvSpPr>
          <p:cNvPr id="1786" name="CustomShape 24"/>
          <p:cNvSpPr/>
          <p:nvPr/>
        </p:nvSpPr>
        <p:spPr>
          <a:xfrm>
            <a:off x="7132320" y="5029200"/>
            <a:ext cx="4507200" cy="1142280"/>
          </a:xfrm>
          <a:prstGeom prst="roundRect">
            <a:avLst>
              <a:gd name="adj" fmla="val 9600"/>
            </a:avLst>
          </a:prstGeom>
          <a:solidFill>
            <a:srgbClr val="e8eef5"/>
          </a:solidFill>
          <a:ln>
            <a:noFill/>
          </a:ln>
        </p:spPr>
        <p:style>
          <a:lnRef idx="0"/>
          <a:fillRef idx="0"/>
          <a:effectRef idx="0"/>
          <a:fontRef idx="minor"/>
        </p:style>
      </p:sp>
      <p:sp>
        <p:nvSpPr>
          <p:cNvPr id="1787" name="CustomShape 25"/>
          <p:cNvSpPr/>
          <p:nvPr/>
        </p:nvSpPr>
        <p:spPr>
          <a:xfrm>
            <a:off x="7315200" y="5372280"/>
            <a:ext cx="456480" cy="456480"/>
          </a:xfrm>
          <a:prstGeom prst="ellipse">
            <a:avLst/>
          </a:prstGeom>
          <a:solidFill>
            <a:srgbClr val="134074"/>
          </a:solidFill>
          <a:ln>
            <a:noFill/>
          </a:ln>
        </p:spPr>
        <p:style>
          <a:lnRef idx="0"/>
          <a:fillRef idx="0"/>
          <a:effectRef idx="0"/>
          <a:fontRef idx="minor"/>
        </p:style>
      </p:sp>
      <p:pic>
        <p:nvPicPr>
          <p:cNvPr id="1788" name="Image 4" descr="preencoded.png"/>
          <p:cNvPicPr/>
          <p:nvPr/>
        </p:nvPicPr>
        <p:blipFill>
          <a:blip r:embed="rId5"/>
          <a:stretch/>
        </p:blipFill>
        <p:spPr>
          <a:xfrm>
            <a:off x="7429680" y="5486400"/>
            <a:ext cx="227880" cy="227880"/>
          </a:xfrm>
          <a:prstGeom prst="rect">
            <a:avLst/>
          </a:prstGeom>
          <a:ln>
            <a:noFill/>
          </a:ln>
        </p:spPr>
      </p:pic>
      <p:sp>
        <p:nvSpPr>
          <p:cNvPr id="1789" name="CustomShape 26"/>
          <p:cNvSpPr/>
          <p:nvPr/>
        </p:nvSpPr>
        <p:spPr>
          <a:xfrm>
            <a:off x="7955280" y="5029200"/>
            <a:ext cx="3501360" cy="11422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400" spc="-1" strike="noStrike">
                <a:solidFill>
                  <a:srgbClr val="1f2933"/>
                </a:solidFill>
                <a:latin typeface="Calibri"/>
                <a:ea typeface="Calibri"/>
              </a:rPr>
              <a:t>Ficheros iguales y pre-dimensionados; no hagas shrink rutinario.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790"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INCIDENCIAS</a:t>
            </a:r>
            <a:endParaRPr b="0" lang="es-ES" sz="1000" spc="-1" strike="noStrike">
              <a:latin typeface="Arial"/>
            </a:endParaRPr>
          </a:p>
        </p:txBody>
      </p:sp>
      <p:sp>
        <p:nvSpPr>
          <p:cNvPr id="1791"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Bloqueos prolongados y deadlocks</a:t>
            </a:r>
            <a:endParaRPr b="0" lang="es-ES" sz="3400" spc="-1" strike="noStrike">
              <a:latin typeface="Arial"/>
            </a:endParaRPr>
          </a:p>
        </p:txBody>
      </p:sp>
      <p:sp>
        <p:nvSpPr>
          <p:cNvPr id="1792"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793"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73</a:t>
            </a:r>
            <a:endParaRPr b="0" lang="es-ES" sz="1000" spc="-1" strike="noStrike">
              <a:latin typeface="Arial"/>
            </a:endParaRPr>
          </a:p>
        </p:txBody>
      </p:sp>
      <p:sp>
        <p:nvSpPr>
          <p:cNvPr id="1794" name="CustomShape 5"/>
          <p:cNvSpPr/>
          <p:nvPr/>
        </p:nvSpPr>
        <p:spPr>
          <a:xfrm>
            <a:off x="548640" y="1600200"/>
            <a:ext cx="630864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795"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796" name="CustomShape 7"/>
          <p:cNvSpPr/>
          <p:nvPr/>
        </p:nvSpPr>
        <p:spPr>
          <a:xfrm>
            <a:off x="731520" y="1965960"/>
            <a:ext cx="594288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0" i="1" lang="en-US" sz="1200" spc="-1" strike="noStrike">
                <a:solidFill>
                  <a:srgbClr val="6b7280"/>
                </a:solidFill>
                <a:latin typeface="Consolas"/>
                <a:ea typeface="Consolas"/>
              </a:rPr>
              <a:t>-- Peticiones bloqueadas y su bloqueador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r.session_id, r.blocking_session_id,</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r.wait_type, r.wait_time, t.</a:t>
            </a:r>
            <a:r>
              <a:rPr b="0" lang="en-US" sz="1200" spc="-1" strike="noStrike">
                <a:solidFill>
                  <a:srgbClr val="7c3aed"/>
                </a:solidFill>
                <a:latin typeface="Consolas"/>
                <a:ea typeface="Consolas"/>
              </a:rPr>
              <a:t>text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sys.dm_exec_requests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CROSS</a:t>
            </a:r>
            <a:r>
              <a:rPr b="0" lang="en-US" sz="1200" spc="-1" strike="noStrike">
                <a:solidFill>
                  <a:srgbClr val="1f2933"/>
                </a:solidFill>
                <a:latin typeface="Consolas"/>
                <a:ea typeface="Consolas"/>
              </a:rPr>
              <a:t> APPLY sys.dm_exec_sql_text(r.sql_handle)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r.blocking_session_id &lt;&gt; </a:t>
            </a:r>
            <a:r>
              <a:rPr b="0" lang="en-US" sz="1200" spc="-1" strike="noStrike">
                <a:solidFill>
                  <a:srgbClr val="9a3412"/>
                </a:solidFill>
                <a:latin typeface="Consolas"/>
                <a:ea typeface="Consolas"/>
              </a:rPr>
              <a:t>0</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Locks en espera</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resource_type, request_mode,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request_status, request_session_id</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sys.dm_tran_locks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request_status = </a:t>
            </a:r>
            <a:r>
              <a:rPr b="0" lang="en-US" sz="1200" spc="-1" strike="noStrike">
                <a:solidFill>
                  <a:srgbClr val="b4441f"/>
                </a:solidFill>
                <a:latin typeface="Consolas"/>
                <a:ea typeface="Consolas"/>
              </a:rPr>
              <a:t>N'WAIT'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0" i="1" lang="en-US" sz="1200" spc="-1" strike="noStrike">
                <a:solidFill>
                  <a:srgbClr val="6b7280"/>
                </a:solidFill>
                <a:latin typeface="Consolas"/>
                <a:ea typeface="Consolas"/>
              </a:rPr>
              <a:t>-- Grafo de deadlock (system_health)</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CAST(xe.event_data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a:t>
            </a:r>
            <a:r>
              <a:rPr b="0" lang="en-US" sz="1200" spc="-1" strike="noStrike">
                <a:solidFill>
                  <a:srgbClr val="7c3aed"/>
                </a:solidFill>
                <a:latin typeface="Consolas"/>
                <a:ea typeface="Consolas"/>
              </a:rPr>
              <a:t>XML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grafo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sys.fn_xe_file_target_read_file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r>
              <a:rPr b="0" lang="en-US" sz="1200" spc="-1" strike="noStrike">
                <a:solidFill>
                  <a:srgbClr val="1f2933"/>
                </a:solidFill>
                <a:latin typeface="Consolas"/>
                <a:ea typeface="Consolas"/>
              </a:rPr>
              <a:t>(</a:t>
            </a:r>
            <a:r>
              <a:rPr b="0" lang="en-US" sz="1200" spc="-1" strike="noStrike">
                <a:solidFill>
                  <a:srgbClr val="b4441f"/>
                </a:solidFill>
                <a:latin typeface="Consolas"/>
                <a:ea typeface="Consolas"/>
              </a:rPr>
              <a:t>N'system_health*.xel'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NULL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xe</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WHERE</a:t>
            </a:r>
            <a:r>
              <a:rPr b="0" lang="en-US" sz="1200" spc="-1" strike="noStrike">
                <a:solidFill>
                  <a:srgbClr val="1f2933"/>
                </a:solidFill>
                <a:latin typeface="Consolas"/>
                <a:ea typeface="Consolas"/>
              </a:rPr>
              <a:t> xe.object_name = </a:t>
            </a:r>
            <a:r>
              <a:rPr b="0" lang="en-US" sz="1200" spc="-1" strike="noStrike">
                <a:solidFill>
                  <a:srgbClr val="b4441f"/>
                </a:solidFill>
                <a:latin typeface="Consolas"/>
                <a:ea typeface="Consolas"/>
              </a:rPr>
              <a:t>N'xml_deadlock_report'</a:t>
            </a:r>
            <a:r>
              <a:rPr b="0" lang="en-US" sz="1200" spc="-1" strike="noStrike">
                <a:solidFill>
                  <a:srgbClr val="1f2933"/>
                </a:solidFill>
                <a:latin typeface="Consolas"/>
                <a:ea typeface="Consolas"/>
              </a:rPr>
              <a:t>;</a:t>
            </a:r>
            <a:endParaRPr b="0" lang="es-ES" sz="1200" spc="-1" strike="noStrike">
              <a:latin typeface="Arial"/>
            </a:endParaRPr>
          </a:p>
        </p:txBody>
      </p:sp>
      <p:sp>
        <p:nvSpPr>
          <p:cNvPr id="1797" name="CustomShape 8"/>
          <p:cNvSpPr/>
          <p:nvPr/>
        </p:nvSpPr>
        <p:spPr>
          <a:xfrm>
            <a:off x="7132320" y="160020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798" name="CustomShape 9"/>
          <p:cNvSpPr/>
          <p:nvPr/>
        </p:nvSpPr>
        <p:spPr>
          <a:xfrm>
            <a:off x="7315200" y="1993320"/>
            <a:ext cx="547920" cy="547920"/>
          </a:xfrm>
          <a:prstGeom prst="ellipse">
            <a:avLst/>
          </a:prstGeom>
          <a:solidFill>
            <a:srgbClr val="134074"/>
          </a:solidFill>
          <a:ln>
            <a:noFill/>
          </a:ln>
        </p:spPr>
        <p:style>
          <a:lnRef idx="0"/>
          <a:fillRef idx="0"/>
          <a:effectRef idx="0"/>
          <a:fontRef idx="minor"/>
        </p:style>
      </p:sp>
      <p:pic>
        <p:nvPicPr>
          <p:cNvPr id="1799" name="Image 0" descr="preencoded.png"/>
          <p:cNvPicPr/>
          <p:nvPr/>
        </p:nvPicPr>
        <p:blipFill>
          <a:blip r:embed="rId1"/>
          <a:stretch/>
        </p:blipFill>
        <p:spPr>
          <a:xfrm>
            <a:off x="7452360" y="2130480"/>
            <a:ext cx="273600" cy="273600"/>
          </a:xfrm>
          <a:prstGeom prst="rect">
            <a:avLst/>
          </a:prstGeom>
          <a:ln>
            <a:noFill/>
          </a:ln>
        </p:spPr>
      </p:pic>
      <p:sp>
        <p:nvSpPr>
          <p:cNvPr id="1800" name="CustomShape 10"/>
          <p:cNvSpPr/>
          <p:nvPr/>
        </p:nvSpPr>
        <p:spPr>
          <a:xfrm>
            <a:off x="8046720" y="160020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Bloqueo prolongado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Transacción abierta sin COMMIT: el resto espera.</a:t>
            </a:r>
            <a:endParaRPr b="0" lang="es-ES" sz="1400" spc="-1" strike="noStrike">
              <a:latin typeface="Arial"/>
            </a:endParaRPr>
          </a:p>
        </p:txBody>
      </p:sp>
      <p:sp>
        <p:nvSpPr>
          <p:cNvPr id="1801" name="CustomShape 11"/>
          <p:cNvSpPr/>
          <p:nvPr/>
        </p:nvSpPr>
        <p:spPr>
          <a:xfrm>
            <a:off x="7132320" y="321876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2" name="CustomShape 12"/>
          <p:cNvSpPr/>
          <p:nvPr/>
        </p:nvSpPr>
        <p:spPr>
          <a:xfrm>
            <a:off x="7315200" y="3611880"/>
            <a:ext cx="547920" cy="547920"/>
          </a:xfrm>
          <a:prstGeom prst="ellipse">
            <a:avLst/>
          </a:prstGeom>
          <a:solidFill>
            <a:srgbClr val="134074"/>
          </a:solidFill>
          <a:ln>
            <a:noFill/>
          </a:ln>
        </p:spPr>
        <p:style>
          <a:lnRef idx="0"/>
          <a:fillRef idx="0"/>
          <a:effectRef idx="0"/>
          <a:fontRef idx="minor"/>
        </p:style>
      </p:sp>
      <p:pic>
        <p:nvPicPr>
          <p:cNvPr id="1803" name="Image 1" descr="preencoded.png"/>
          <p:cNvPicPr/>
          <p:nvPr/>
        </p:nvPicPr>
        <p:blipFill>
          <a:blip r:embed="rId2"/>
          <a:stretch/>
        </p:blipFill>
        <p:spPr>
          <a:xfrm>
            <a:off x="7452360" y="3749040"/>
            <a:ext cx="273600" cy="273600"/>
          </a:xfrm>
          <a:prstGeom prst="rect">
            <a:avLst/>
          </a:prstGeom>
          <a:ln>
            <a:noFill/>
          </a:ln>
        </p:spPr>
      </p:pic>
      <p:sp>
        <p:nvSpPr>
          <p:cNvPr id="1804" name="CustomShape 13"/>
          <p:cNvSpPr/>
          <p:nvPr/>
        </p:nvSpPr>
        <p:spPr>
          <a:xfrm>
            <a:off x="8046720" y="321876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Deadlock (error 1205)</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Ciclo de esperas; el Lock Monitor elige víctima.</a:t>
            </a:r>
            <a:endParaRPr b="0" lang="es-ES" sz="1400" spc="-1" strike="noStrike">
              <a:latin typeface="Arial"/>
            </a:endParaRPr>
          </a:p>
        </p:txBody>
      </p:sp>
      <p:sp>
        <p:nvSpPr>
          <p:cNvPr id="1805" name="CustomShape 14"/>
          <p:cNvSpPr/>
          <p:nvPr/>
        </p:nvSpPr>
        <p:spPr>
          <a:xfrm>
            <a:off x="7132320" y="4837320"/>
            <a:ext cx="4507200" cy="1334160"/>
          </a:xfrm>
          <a:prstGeom prst="roundRect">
            <a:avLst>
              <a:gd name="adj" fmla="val 821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06" name="CustomShape 15"/>
          <p:cNvSpPr/>
          <p:nvPr/>
        </p:nvSpPr>
        <p:spPr>
          <a:xfrm>
            <a:off x="7315200" y="5230440"/>
            <a:ext cx="547920" cy="547920"/>
          </a:xfrm>
          <a:prstGeom prst="ellipse">
            <a:avLst/>
          </a:prstGeom>
          <a:solidFill>
            <a:srgbClr val="134074"/>
          </a:solidFill>
          <a:ln>
            <a:noFill/>
          </a:ln>
        </p:spPr>
        <p:style>
          <a:lnRef idx="0"/>
          <a:fillRef idx="0"/>
          <a:effectRef idx="0"/>
          <a:fontRef idx="minor"/>
        </p:style>
      </p:sp>
      <p:pic>
        <p:nvPicPr>
          <p:cNvPr id="1807" name="Image 2" descr="preencoded.png"/>
          <p:cNvPicPr/>
          <p:nvPr/>
        </p:nvPicPr>
        <p:blipFill>
          <a:blip r:embed="rId3"/>
          <a:stretch/>
        </p:blipFill>
        <p:spPr>
          <a:xfrm>
            <a:off x="7452360" y="5367600"/>
            <a:ext cx="273600" cy="273600"/>
          </a:xfrm>
          <a:prstGeom prst="rect">
            <a:avLst/>
          </a:prstGeom>
          <a:ln>
            <a:noFill/>
          </a:ln>
        </p:spPr>
      </p:pic>
      <p:sp>
        <p:nvSpPr>
          <p:cNvPr id="1808" name="CustomShape 16"/>
          <p:cNvSpPr/>
          <p:nvPr/>
        </p:nvSpPr>
        <p:spPr>
          <a:xfrm>
            <a:off x="8046720" y="4837320"/>
            <a:ext cx="3409920" cy="13341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RCSI y KILL con cautela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Los lectores no bloquean; KILL, el último recurso.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09" name="CustomShape 1"/>
          <p:cNvSpPr/>
          <p:nvPr/>
        </p:nvSpPr>
        <p:spPr>
          <a:xfrm>
            <a:off x="548640" y="365760"/>
            <a:ext cx="219384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AUTOMATIZACIÓN Y ETL</a:t>
            </a:r>
            <a:endParaRPr b="0" lang="es-ES" sz="1000" spc="-1" strike="noStrike">
              <a:latin typeface="Arial"/>
            </a:endParaRPr>
          </a:p>
        </p:txBody>
      </p:sp>
      <p:sp>
        <p:nvSpPr>
          <p:cNvPr id="181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SSIS: arquitectura, motor y herramientas</a:t>
            </a:r>
            <a:endParaRPr b="0" lang="es-ES" sz="3400" spc="-1" strike="noStrike">
              <a:latin typeface="Arial"/>
            </a:endParaRPr>
          </a:p>
        </p:txBody>
      </p:sp>
      <p:sp>
        <p:nvSpPr>
          <p:cNvPr id="181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1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74</a:t>
            </a:r>
            <a:endParaRPr b="0" lang="es-ES" sz="1000" spc="-1" strike="noStrike">
              <a:latin typeface="Arial"/>
            </a:endParaRPr>
          </a:p>
        </p:txBody>
      </p:sp>
      <p:sp>
        <p:nvSpPr>
          <p:cNvPr id="1813" name="CustomShape 5"/>
          <p:cNvSpPr/>
          <p:nvPr/>
        </p:nvSpPr>
        <p:spPr>
          <a:xfrm>
            <a:off x="548640" y="1600200"/>
            <a:ext cx="540792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14" name="CustomShape 6"/>
          <p:cNvSpPr/>
          <p:nvPr/>
        </p:nvSpPr>
        <p:spPr>
          <a:xfrm>
            <a:off x="777240" y="1828800"/>
            <a:ext cx="547920" cy="547920"/>
          </a:xfrm>
          <a:prstGeom prst="ellipse">
            <a:avLst/>
          </a:prstGeom>
          <a:solidFill>
            <a:srgbClr val="134074"/>
          </a:solidFill>
          <a:ln>
            <a:noFill/>
          </a:ln>
        </p:spPr>
        <p:style>
          <a:lnRef idx="0"/>
          <a:fillRef idx="0"/>
          <a:effectRef idx="0"/>
          <a:fontRef idx="minor"/>
        </p:style>
      </p:sp>
      <p:pic>
        <p:nvPicPr>
          <p:cNvPr id="1815" name="Image 0" descr="preencoded.png"/>
          <p:cNvPicPr/>
          <p:nvPr/>
        </p:nvPicPr>
        <p:blipFill>
          <a:blip r:embed="rId1"/>
          <a:stretch/>
        </p:blipFill>
        <p:spPr>
          <a:xfrm>
            <a:off x="914400" y="1965960"/>
            <a:ext cx="273600" cy="273600"/>
          </a:xfrm>
          <a:prstGeom prst="rect">
            <a:avLst/>
          </a:prstGeom>
          <a:ln>
            <a:noFill/>
          </a:ln>
        </p:spPr>
      </p:pic>
      <p:sp>
        <p:nvSpPr>
          <p:cNvPr id="1816" name="CustomShape 7"/>
          <p:cNvSpPr/>
          <p:nvPr/>
        </p:nvSpPr>
        <p:spPr>
          <a:xfrm>
            <a:off x="146304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Motor en el Servidor (Setup)</a:t>
            </a:r>
            <a:endParaRPr b="0" lang="es-ES" sz="1700" spc="-1" strike="noStrike">
              <a:latin typeface="Arial"/>
            </a:endParaRPr>
          </a:p>
        </p:txBody>
      </p:sp>
      <p:sp>
        <p:nvSpPr>
          <p:cNvPr id="1817" name="CustomShape 8"/>
          <p:cNvSpPr/>
          <p:nvPr/>
        </p:nvSpPr>
        <p:spPr>
          <a:xfrm>
            <a:off x="77724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Feature en Setup: </a:t>
            </a:r>
            <a:r>
              <a:rPr b="0" lang="en-US" sz="1400" spc="-1" strike="noStrike">
                <a:solidFill>
                  <a:srgbClr val="1f2933"/>
                </a:solidFill>
                <a:latin typeface="Calibri"/>
                <a:ea typeface="Calibri"/>
              </a:rPr>
              <a:t>marcar «Integration Services» en el instalador oficial de SQL Server.</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Servicio de Windows: </a:t>
            </a:r>
            <a:r>
              <a:rPr b="0" lang="en-US" sz="1400" spc="-1" strike="noStrike">
                <a:solidFill>
                  <a:srgbClr val="1f2933"/>
                </a:solidFill>
                <a:latin typeface="Calibri"/>
                <a:ea typeface="Calibri"/>
              </a:rPr>
              <a:t>registra MsDtsSrvr.exe para gestión y ejecución de paquetes.</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Requisito CLR: </a:t>
            </a:r>
            <a:r>
              <a:rPr b="0" lang="en-US" sz="1400" spc="-1" strike="noStrike">
                <a:solidFill>
                  <a:srgbClr val="1f2933"/>
                </a:solidFill>
                <a:latin typeface="Calibri"/>
                <a:ea typeface="Calibri"/>
              </a:rPr>
              <a:t>habilitar sp_configure 'clr enabled', 1; RECONFIGURE en la instancia.</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Catálogo SSISDB: </a:t>
            </a:r>
            <a:r>
              <a:rPr b="0" lang="en-US" sz="1400" spc="-1" strike="noStrike">
                <a:solidFill>
                  <a:srgbClr val="1f2933"/>
                </a:solidFill>
                <a:latin typeface="Calibri"/>
                <a:ea typeface="Calibri"/>
              </a:rPr>
              <a:t>crear catálogo en SSMS; protegido por Database Master Key y contraseña.</a:t>
            </a:r>
            <a:endParaRPr b="0" lang="es-ES" sz="1400" spc="-1" strike="noStrike">
              <a:latin typeface="Arial"/>
            </a:endParaRPr>
          </a:p>
        </p:txBody>
      </p:sp>
      <p:sp>
        <p:nvSpPr>
          <p:cNvPr id="1818" name="CustomShape 9"/>
          <p:cNvSpPr/>
          <p:nvPr/>
        </p:nvSpPr>
        <p:spPr>
          <a:xfrm>
            <a:off x="6231600" y="1600200"/>
            <a:ext cx="5407920" cy="3428280"/>
          </a:xfrm>
          <a:prstGeom prst="roundRect">
            <a:avLst>
              <a:gd name="adj" fmla="val 3200"/>
            </a:avLst>
          </a:prstGeom>
          <a:solidFill>
            <a:srgbClr val="e8eef5"/>
          </a:solidFill>
          <a:ln>
            <a:noFill/>
          </a:ln>
        </p:spPr>
        <p:style>
          <a:lnRef idx="0"/>
          <a:fillRef idx="0"/>
          <a:effectRef idx="0"/>
          <a:fontRef idx="minor"/>
        </p:style>
      </p:sp>
      <p:sp>
        <p:nvSpPr>
          <p:cNvPr id="1819" name="CustomShape 10"/>
          <p:cNvSpPr/>
          <p:nvPr/>
        </p:nvSpPr>
        <p:spPr>
          <a:xfrm>
            <a:off x="6460200" y="1828800"/>
            <a:ext cx="547920" cy="547920"/>
          </a:xfrm>
          <a:prstGeom prst="ellipse">
            <a:avLst/>
          </a:prstGeom>
          <a:solidFill>
            <a:srgbClr val="134074"/>
          </a:solidFill>
          <a:ln>
            <a:noFill/>
          </a:ln>
        </p:spPr>
        <p:style>
          <a:lnRef idx="0"/>
          <a:fillRef idx="0"/>
          <a:effectRef idx="0"/>
          <a:fontRef idx="minor"/>
        </p:style>
      </p:sp>
      <p:pic>
        <p:nvPicPr>
          <p:cNvPr id="1820" name="Image 1" descr="preencoded.png"/>
          <p:cNvPicPr/>
          <p:nvPr/>
        </p:nvPicPr>
        <p:blipFill>
          <a:blip r:embed="rId2"/>
          <a:stretch/>
        </p:blipFill>
        <p:spPr>
          <a:xfrm>
            <a:off x="6597360" y="1965960"/>
            <a:ext cx="273600" cy="273600"/>
          </a:xfrm>
          <a:prstGeom prst="rect">
            <a:avLst/>
          </a:prstGeom>
          <a:ln>
            <a:noFill/>
          </a:ln>
        </p:spPr>
      </p:pic>
      <p:sp>
        <p:nvSpPr>
          <p:cNvPr id="1821" name="CustomShape 11"/>
          <p:cNvSpPr/>
          <p:nvPr/>
        </p:nvSpPr>
        <p:spPr>
          <a:xfrm>
            <a:off x="7146000" y="1828800"/>
            <a:ext cx="426492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Entorno de Diseño (Visual Studio)</a:t>
            </a:r>
            <a:endParaRPr b="0" lang="es-ES" sz="1700" spc="-1" strike="noStrike">
              <a:latin typeface="Arial"/>
            </a:endParaRPr>
          </a:p>
        </p:txBody>
      </p:sp>
      <p:sp>
        <p:nvSpPr>
          <p:cNvPr id="1822" name="CustomShape 12"/>
          <p:cNvSpPr/>
          <p:nvPr/>
        </p:nvSpPr>
        <p:spPr>
          <a:xfrm>
            <a:off x="6460200" y="2560320"/>
            <a:ext cx="4950720" cy="22395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Herramienta IDE: </a:t>
            </a:r>
            <a:r>
              <a:rPr b="0" lang="en-US" sz="1400" spc="-1" strike="noStrike">
                <a:solidFill>
                  <a:srgbClr val="1f2933"/>
                </a:solidFill>
                <a:latin typeface="Calibri"/>
                <a:ea typeface="Calibri"/>
              </a:rPr>
              <a:t>Visual Studio 2019 o 2022 (Community gratuita, Pro o Enterprise).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Extensión oficial: </a:t>
            </a:r>
            <a:r>
              <a:rPr b="0" lang="en-US" sz="1400" spc="-1" strike="noStrike">
                <a:solidFill>
                  <a:srgbClr val="1f2933"/>
                </a:solidFill>
                <a:latin typeface="Calibri"/>
                <a:ea typeface="Calibri"/>
              </a:rPr>
              <a:t>«SQL Server Integration Services Projects» desde VS Marketplace.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Proyectos y artefactos: </a:t>
            </a:r>
            <a:r>
              <a:rPr b="0" lang="en-US" sz="1400" spc="-1" strike="noStrike">
                <a:solidFill>
                  <a:srgbClr val="1f2933"/>
                </a:solidFill>
                <a:latin typeface="Calibri"/>
                <a:ea typeface="Calibri"/>
              </a:rPr>
              <a:t>soluciones con proyectos .dtproj y paquetes de integración .dtsx.</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Desacoplamiento: </a:t>
            </a:r>
            <a:r>
              <a:rPr b="0" lang="en-US" sz="1400" spc="-1" strike="noStrike">
                <a:solidFill>
                  <a:srgbClr val="1f2933"/>
                </a:solidFill>
                <a:latin typeface="Calibri"/>
                <a:ea typeface="Calibri"/>
              </a:rPr>
              <a:t>SSDT ya no viene en la ISO de SQL Server; ciclo de vida independiente.</a:t>
            </a:r>
            <a:endParaRPr b="0" lang="es-ES" sz="1400" spc="-1" strike="noStrike">
              <a:latin typeface="Arial"/>
            </a:endParaRPr>
          </a:p>
        </p:txBody>
      </p:sp>
      <p:sp>
        <p:nvSpPr>
          <p:cNvPr id="1823" name="CustomShape 13"/>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24" name="CustomShape 14"/>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25" name="Image 2" descr="preencoded.png"/>
          <p:cNvPicPr/>
          <p:nvPr/>
        </p:nvPicPr>
        <p:blipFill>
          <a:blip r:embed="rId3"/>
          <a:stretch/>
        </p:blipFill>
        <p:spPr>
          <a:xfrm>
            <a:off x="846000" y="5600880"/>
            <a:ext cx="227880" cy="227880"/>
          </a:xfrm>
          <a:prstGeom prst="rect">
            <a:avLst/>
          </a:prstGeom>
          <a:ln>
            <a:noFill/>
          </a:ln>
        </p:spPr>
      </p:pic>
      <p:sp>
        <p:nvSpPr>
          <p:cNvPr id="1826" name="CustomShape 15"/>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Desacoplamiento clave: </a:t>
            </a:r>
            <a:r>
              <a:rPr b="0" lang="en-US" sz="1400" spc="-1" strike="noStrike">
                <a:solidFill>
                  <a:srgbClr val="1f2933"/>
                </a:solidFill>
                <a:latin typeface="Calibri"/>
                <a:ea typeface="Calibri"/>
              </a:rPr>
              <a:t>SSDT ya no se incluye en la ISO de SQL Server. El desarrollador diseña paquetes en Visual Studio (.ispac); el DBA gestiona el servicio SSIS, provisiona SSISDB y asegura la ejecución en el servidor.</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27" name="CustomShape 1"/>
          <p:cNvSpPr/>
          <p:nvPr/>
        </p:nvSpPr>
        <p:spPr>
          <a:xfrm>
            <a:off x="548640" y="365760"/>
            <a:ext cx="175968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ETL Y DATA FLOW</a:t>
            </a:r>
            <a:endParaRPr b="0" lang="es-ES" sz="1000" spc="-1" strike="noStrike">
              <a:latin typeface="Arial"/>
            </a:endParaRPr>
          </a:p>
        </p:txBody>
      </p:sp>
      <p:sp>
        <p:nvSpPr>
          <p:cNvPr id="1828"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Pipeline ETL: ingesta de CSV a SQL Server</a:t>
            </a:r>
            <a:endParaRPr b="0" lang="es-ES" sz="3400" spc="-1" strike="noStrike">
              <a:latin typeface="Arial"/>
            </a:endParaRPr>
          </a:p>
        </p:txBody>
      </p:sp>
      <p:sp>
        <p:nvSpPr>
          <p:cNvPr id="1829"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30"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75</a:t>
            </a:r>
            <a:endParaRPr b="0" lang="es-ES" sz="1000" spc="-1" strike="noStrike">
              <a:latin typeface="Arial"/>
            </a:endParaRPr>
          </a:p>
        </p:txBody>
      </p:sp>
      <p:sp>
        <p:nvSpPr>
          <p:cNvPr id="1831" name="CustomShape 5"/>
          <p:cNvSpPr/>
          <p:nvPr/>
        </p:nvSpPr>
        <p:spPr>
          <a:xfrm>
            <a:off x="54864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2" name="CustomShape 6"/>
          <p:cNvSpPr/>
          <p:nvPr/>
        </p:nvSpPr>
        <p:spPr>
          <a:xfrm>
            <a:off x="777240" y="1828800"/>
            <a:ext cx="502200" cy="502200"/>
          </a:xfrm>
          <a:prstGeom prst="ellipse">
            <a:avLst/>
          </a:prstGeom>
          <a:solidFill>
            <a:srgbClr val="134074"/>
          </a:solidFill>
          <a:ln>
            <a:noFill/>
          </a:ln>
        </p:spPr>
        <p:style>
          <a:lnRef idx="0"/>
          <a:fillRef idx="0"/>
          <a:effectRef idx="0"/>
          <a:fontRef idx="minor"/>
        </p:style>
      </p:sp>
      <p:sp>
        <p:nvSpPr>
          <p:cNvPr id="1833" name="CustomShape 7"/>
          <p:cNvSpPr/>
          <p:nvPr/>
        </p:nvSpPr>
        <p:spPr>
          <a:xfrm>
            <a:off x="77724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34" name="CustomShape 8"/>
          <p:cNvSpPr/>
          <p:nvPr/>
        </p:nvSpPr>
        <p:spPr>
          <a:xfrm>
            <a:off x="77724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Flat File Source (CSV)</a:t>
            </a:r>
            <a:endParaRPr b="0" lang="es-ES" sz="1600" spc="-1" strike="noStrike">
              <a:latin typeface="Arial"/>
            </a:endParaRPr>
          </a:p>
        </p:txBody>
      </p:sp>
      <p:sp>
        <p:nvSpPr>
          <p:cNvPr id="1835" name="CustomShape 9"/>
          <p:cNvSpPr/>
          <p:nvPr/>
        </p:nvSpPr>
        <p:spPr>
          <a:xfrm>
            <a:off x="77724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Conexión al fichero .csv: delimitador de columnas (coma o punto y coma), calificador de texto entre comillas, codificación UTF-8 y salto de línea CRLF. Los datos entran al pipeline como cadenas DT_STR o DT_WSTR.</a:t>
            </a:r>
            <a:endParaRPr b="0" lang="es-ES" sz="1400" spc="-1" strike="noStrike">
              <a:latin typeface="Arial"/>
            </a:endParaRPr>
          </a:p>
        </p:txBody>
      </p:sp>
      <p:sp>
        <p:nvSpPr>
          <p:cNvPr id="1836" name="CustomShape 10"/>
          <p:cNvSpPr/>
          <p:nvPr/>
        </p:nvSpPr>
        <p:spPr>
          <a:xfrm>
            <a:off x="406908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37" name="CustomShape 11"/>
          <p:cNvSpPr/>
          <p:nvPr/>
        </p:nvSpPr>
        <p:spPr>
          <a:xfrm>
            <a:off x="435240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38" name="CustomShape 12"/>
          <p:cNvSpPr/>
          <p:nvPr/>
        </p:nvSpPr>
        <p:spPr>
          <a:xfrm>
            <a:off x="4581000" y="1828800"/>
            <a:ext cx="502200" cy="502200"/>
          </a:xfrm>
          <a:prstGeom prst="ellipse">
            <a:avLst/>
          </a:prstGeom>
          <a:solidFill>
            <a:srgbClr val="134074"/>
          </a:solidFill>
          <a:ln>
            <a:noFill/>
          </a:ln>
        </p:spPr>
        <p:style>
          <a:lnRef idx="0"/>
          <a:fillRef idx="0"/>
          <a:effectRef idx="0"/>
          <a:fontRef idx="minor"/>
        </p:style>
      </p:sp>
      <p:sp>
        <p:nvSpPr>
          <p:cNvPr id="1839" name="CustomShape 13"/>
          <p:cNvSpPr/>
          <p:nvPr/>
        </p:nvSpPr>
        <p:spPr>
          <a:xfrm>
            <a:off x="458100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40" name="CustomShape 14"/>
          <p:cNvSpPr/>
          <p:nvPr/>
        </p:nvSpPr>
        <p:spPr>
          <a:xfrm>
            <a:off x="458100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Data Conversion (RAM)</a:t>
            </a:r>
            <a:endParaRPr b="0" lang="es-ES" sz="1600" spc="-1" strike="noStrike">
              <a:latin typeface="Arial"/>
            </a:endParaRPr>
          </a:p>
        </p:txBody>
      </p:sp>
      <p:sp>
        <p:nvSpPr>
          <p:cNvPr id="1841" name="CustomShape 15"/>
          <p:cNvSpPr/>
          <p:nvPr/>
        </p:nvSpPr>
        <p:spPr>
          <a:xfrm>
            <a:off x="458100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Transformación en memoria: convierte las cadenas de texto del CSV a los tipos de datos relacionales de destino (DT_I4 para enteros, DT_NUMERIC para importes o DT_DATE para fechas). Permite redirigir filas erróneas.</a:t>
            </a:r>
            <a:endParaRPr b="0" lang="es-ES" sz="1400" spc="-1" strike="noStrike">
              <a:latin typeface="Arial"/>
            </a:endParaRPr>
          </a:p>
        </p:txBody>
      </p:sp>
      <p:sp>
        <p:nvSpPr>
          <p:cNvPr id="1842" name="CustomShape 16"/>
          <p:cNvSpPr/>
          <p:nvPr/>
        </p:nvSpPr>
        <p:spPr>
          <a:xfrm>
            <a:off x="7872840" y="1947600"/>
            <a:ext cx="246240" cy="273600"/>
          </a:xfrm>
          <a:prstGeom prst="rightArrow">
            <a:avLst>
              <a:gd name="adj1" fmla="val 50000"/>
              <a:gd name="adj2" fmla="val 50000"/>
            </a:avLst>
          </a:prstGeom>
          <a:solidFill>
            <a:srgbClr val="d95d39"/>
          </a:solidFill>
          <a:ln>
            <a:noFill/>
          </a:ln>
        </p:spPr>
        <p:style>
          <a:lnRef idx="0"/>
          <a:fillRef idx="0"/>
          <a:effectRef idx="0"/>
          <a:fontRef idx="minor"/>
        </p:style>
      </p:sp>
      <p:sp>
        <p:nvSpPr>
          <p:cNvPr id="1843" name="CustomShape 17"/>
          <p:cNvSpPr/>
          <p:nvPr/>
        </p:nvSpPr>
        <p:spPr>
          <a:xfrm>
            <a:off x="8156520" y="1600200"/>
            <a:ext cx="3483000" cy="3428280"/>
          </a:xfrm>
          <a:prstGeom prst="roundRect">
            <a:avLst>
              <a:gd name="adj" fmla="val 32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44" name="CustomShape 18"/>
          <p:cNvSpPr/>
          <p:nvPr/>
        </p:nvSpPr>
        <p:spPr>
          <a:xfrm>
            <a:off x="8385120" y="1828800"/>
            <a:ext cx="502200" cy="502200"/>
          </a:xfrm>
          <a:prstGeom prst="ellipse">
            <a:avLst/>
          </a:prstGeom>
          <a:solidFill>
            <a:srgbClr val="134074"/>
          </a:solidFill>
          <a:ln>
            <a:noFill/>
          </a:ln>
        </p:spPr>
        <p:style>
          <a:lnRef idx="0"/>
          <a:fillRef idx="0"/>
          <a:effectRef idx="0"/>
          <a:fontRef idx="minor"/>
        </p:style>
      </p:sp>
      <p:sp>
        <p:nvSpPr>
          <p:cNvPr id="1845" name="CustomShape 19"/>
          <p:cNvSpPr/>
          <p:nvPr/>
        </p:nvSpPr>
        <p:spPr>
          <a:xfrm>
            <a:off x="8385120" y="1828800"/>
            <a:ext cx="502200" cy="5022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46" name="CustomShape 20"/>
          <p:cNvSpPr/>
          <p:nvPr/>
        </p:nvSpPr>
        <p:spPr>
          <a:xfrm>
            <a:off x="8385120" y="2468880"/>
            <a:ext cx="3025800" cy="639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600" spc="-1" strike="noStrike">
                <a:solidFill>
                  <a:srgbClr val="0b2545"/>
                </a:solidFill>
                <a:latin typeface="Calibri"/>
                <a:ea typeface="Calibri"/>
              </a:rPr>
              <a:t>OLE DB Destination</a:t>
            </a:r>
            <a:endParaRPr b="0" lang="es-ES" sz="1600" spc="-1" strike="noStrike">
              <a:latin typeface="Arial"/>
            </a:endParaRPr>
          </a:p>
        </p:txBody>
      </p:sp>
      <p:sp>
        <p:nvSpPr>
          <p:cNvPr id="1847" name="CustomShape 21"/>
          <p:cNvSpPr/>
          <p:nvPr/>
        </p:nvSpPr>
        <p:spPr>
          <a:xfrm>
            <a:off x="8385120" y="3154680"/>
            <a:ext cx="3025800" cy="178236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1f2933"/>
                </a:solidFill>
                <a:latin typeface="Calibri"/>
                <a:ea typeface="Calibri"/>
              </a:rPr>
              <a:t>Inserción masiva en la tabla de destino de SQL Server. Configuración en modo «Table or view - fast load»: ejecuta un BULK INSERT con TABLOCK, evitando registrar cada fila individualmente en el log de transacciones.</a:t>
            </a:r>
            <a:endParaRPr b="0" lang="es-ES" sz="1400" spc="-1" strike="noStrike">
              <a:latin typeface="Arial"/>
            </a:endParaRPr>
          </a:p>
        </p:txBody>
      </p:sp>
      <p:sp>
        <p:nvSpPr>
          <p:cNvPr id="1848" name="CustomShape 22"/>
          <p:cNvSpPr/>
          <p:nvPr/>
        </p:nvSpPr>
        <p:spPr>
          <a:xfrm>
            <a:off x="548640" y="5257800"/>
            <a:ext cx="11090880" cy="913680"/>
          </a:xfrm>
          <a:prstGeom prst="roundRect">
            <a:avLst>
              <a:gd name="adj" fmla="val 12000"/>
            </a:avLst>
          </a:prstGeom>
          <a:solidFill>
            <a:srgbClr val="e8eef5"/>
          </a:solidFill>
          <a:ln>
            <a:noFill/>
          </a:ln>
        </p:spPr>
        <p:style>
          <a:lnRef idx="0"/>
          <a:fillRef idx="0"/>
          <a:effectRef idx="0"/>
          <a:fontRef idx="minor"/>
        </p:style>
      </p:sp>
      <p:sp>
        <p:nvSpPr>
          <p:cNvPr id="1849" name="CustomShape 23"/>
          <p:cNvSpPr/>
          <p:nvPr/>
        </p:nvSpPr>
        <p:spPr>
          <a:xfrm>
            <a:off x="731520" y="5486400"/>
            <a:ext cx="456480" cy="456480"/>
          </a:xfrm>
          <a:prstGeom prst="ellipse">
            <a:avLst/>
          </a:prstGeom>
          <a:solidFill>
            <a:srgbClr val="134074"/>
          </a:solidFill>
          <a:ln>
            <a:noFill/>
          </a:ln>
        </p:spPr>
        <p:style>
          <a:lnRef idx="0"/>
          <a:fillRef idx="0"/>
          <a:effectRef idx="0"/>
          <a:fontRef idx="minor"/>
        </p:style>
      </p:sp>
      <p:pic>
        <p:nvPicPr>
          <p:cNvPr id="1850" name="Image 0" descr="preencoded.png"/>
          <p:cNvPicPr/>
          <p:nvPr/>
        </p:nvPicPr>
        <p:blipFill>
          <a:blip r:embed="rId1"/>
          <a:stretch/>
        </p:blipFill>
        <p:spPr>
          <a:xfrm>
            <a:off x="846000" y="5600880"/>
            <a:ext cx="227880" cy="227880"/>
          </a:xfrm>
          <a:prstGeom prst="rect">
            <a:avLst/>
          </a:prstGeom>
          <a:ln>
            <a:noFill/>
          </a:ln>
        </p:spPr>
      </p:pic>
      <p:sp>
        <p:nvSpPr>
          <p:cNvPr id="1851" name="CustomShape 24"/>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0b2545"/>
                </a:solidFill>
                <a:latin typeface="Calibri"/>
                <a:ea typeface="Calibri"/>
              </a:rPr>
              <a:t>Por qué CSV y Fast Load: </a:t>
            </a:r>
            <a:r>
              <a:rPr b="0" lang="en-US" sz="1400" spc="-1" strike="noStrike">
                <a:solidFill>
                  <a:srgbClr val="1f2933"/>
                </a:solidFill>
                <a:latin typeface="Calibri"/>
                <a:ea typeface="Calibri"/>
              </a:rPr>
              <a:t>el formato CSV es el estándar de la industria para cargas batch limpias y sin dependencias de drivers de Office; la opción Fast Load multiplica por diez la velocidad de inserción al trabajar en bloque.</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52" name="CustomShape 1"/>
          <p:cNvSpPr/>
          <p:nvPr/>
        </p:nvSpPr>
        <p:spPr>
          <a:xfrm>
            <a:off x="548640" y="365760"/>
            <a:ext cx="27151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ADMINISTRACIÓN Y OPERACIÓN</a:t>
            </a:r>
            <a:endParaRPr b="0" lang="es-ES" sz="1000" spc="-1" strike="noStrike">
              <a:latin typeface="Arial"/>
            </a:endParaRPr>
          </a:p>
        </p:txBody>
      </p:sp>
      <p:sp>
        <p:nvSpPr>
          <p:cNvPr id="185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Despliegue en SSISDB y Jobs con Agent</a:t>
            </a:r>
            <a:endParaRPr b="0" lang="es-ES" sz="3400" spc="-1" strike="noStrike">
              <a:latin typeface="Arial"/>
            </a:endParaRPr>
          </a:p>
        </p:txBody>
      </p:sp>
      <p:sp>
        <p:nvSpPr>
          <p:cNvPr id="185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5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76</a:t>
            </a:r>
            <a:endParaRPr b="0" lang="es-ES" sz="1000" spc="-1" strike="noStrike">
              <a:latin typeface="Arial"/>
            </a:endParaRPr>
          </a:p>
        </p:txBody>
      </p:sp>
      <p:sp>
        <p:nvSpPr>
          <p:cNvPr id="1856" name="CustomShape 5"/>
          <p:cNvSpPr/>
          <p:nvPr/>
        </p:nvSpPr>
        <p:spPr>
          <a:xfrm>
            <a:off x="54864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57" name="CustomShape 6"/>
          <p:cNvSpPr/>
          <p:nvPr/>
        </p:nvSpPr>
        <p:spPr>
          <a:xfrm>
            <a:off x="731520" y="2103120"/>
            <a:ext cx="547920" cy="547920"/>
          </a:xfrm>
          <a:prstGeom prst="ellipse">
            <a:avLst/>
          </a:prstGeom>
          <a:solidFill>
            <a:srgbClr val="134074"/>
          </a:solidFill>
          <a:ln>
            <a:noFill/>
          </a:ln>
        </p:spPr>
        <p:style>
          <a:lnRef idx="0"/>
          <a:fillRef idx="0"/>
          <a:effectRef idx="0"/>
          <a:fontRef idx="minor"/>
        </p:style>
      </p:sp>
      <p:pic>
        <p:nvPicPr>
          <p:cNvPr id="1858" name="Image 0" descr="preencoded.png"/>
          <p:cNvPicPr/>
          <p:nvPr/>
        </p:nvPicPr>
        <p:blipFill>
          <a:blip r:embed="rId1"/>
          <a:stretch/>
        </p:blipFill>
        <p:spPr>
          <a:xfrm>
            <a:off x="868680" y="2240280"/>
            <a:ext cx="273600" cy="273600"/>
          </a:xfrm>
          <a:prstGeom prst="rect">
            <a:avLst/>
          </a:prstGeom>
          <a:ln>
            <a:noFill/>
          </a:ln>
        </p:spPr>
      </p:pic>
      <p:sp>
        <p:nvSpPr>
          <p:cNvPr id="1859" name="CustomShape 7"/>
          <p:cNvSpPr/>
          <p:nvPr/>
        </p:nvSpPr>
        <p:spPr>
          <a:xfrm>
            <a:off x="146304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1. Despliegue del Proyecto (.ispac)</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Compilación en Visual Studio (Project Deployment Model) generando el archivo .ispac. Despliegue en SSISDB mediante el asistente de SSMS, organizando carpetas por aplicación.</a:t>
            </a:r>
            <a:endParaRPr b="0" lang="es-ES" sz="1300" spc="-1" strike="noStrike">
              <a:latin typeface="Arial"/>
            </a:endParaRPr>
          </a:p>
        </p:txBody>
      </p:sp>
      <p:sp>
        <p:nvSpPr>
          <p:cNvPr id="1860" name="CustomShape 8"/>
          <p:cNvSpPr/>
          <p:nvPr/>
        </p:nvSpPr>
        <p:spPr>
          <a:xfrm>
            <a:off x="6231600" y="160020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1" name="CustomShape 9"/>
          <p:cNvSpPr/>
          <p:nvPr/>
        </p:nvSpPr>
        <p:spPr>
          <a:xfrm>
            <a:off x="6414480" y="2103120"/>
            <a:ext cx="547920" cy="547920"/>
          </a:xfrm>
          <a:prstGeom prst="ellipse">
            <a:avLst/>
          </a:prstGeom>
          <a:solidFill>
            <a:srgbClr val="134074"/>
          </a:solidFill>
          <a:ln>
            <a:noFill/>
          </a:ln>
        </p:spPr>
        <p:style>
          <a:lnRef idx="0"/>
          <a:fillRef idx="0"/>
          <a:effectRef idx="0"/>
          <a:fontRef idx="minor"/>
        </p:style>
      </p:sp>
      <p:pic>
        <p:nvPicPr>
          <p:cNvPr id="1862" name="Image 1" descr="preencoded.png"/>
          <p:cNvPicPr/>
          <p:nvPr/>
        </p:nvPicPr>
        <p:blipFill>
          <a:blip r:embed="rId2"/>
          <a:stretch/>
        </p:blipFill>
        <p:spPr>
          <a:xfrm>
            <a:off x="6551640" y="2240280"/>
            <a:ext cx="273600" cy="273600"/>
          </a:xfrm>
          <a:prstGeom prst="rect">
            <a:avLst/>
          </a:prstGeom>
          <a:ln>
            <a:noFill/>
          </a:ln>
        </p:spPr>
      </p:pic>
      <p:sp>
        <p:nvSpPr>
          <p:cNvPr id="1863" name="CustomShape 10"/>
          <p:cNvSpPr/>
          <p:nvPr/>
        </p:nvSpPr>
        <p:spPr>
          <a:xfrm>
            <a:off x="7146000" y="160020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2. Programación en SQL Server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Creación de un Job con paso (Job Step) de tipo «Integration Services Package». Selección del proyecto y paquete en SSISDB, con horarios (Schedules) y reintentos automáticos.</a:t>
            </a:r>
            <a:endParaRPr b="0" lang="es-ES" sz="1300" spc="-1" strike="noStrike">
              <a:latin typeface="Arial"/>
            </a:endParaRPr>
          </a:p>
        </p:txBody>
      </p:sp>
      <p:sp>
        <p:nvSpPr>
          <p:cNvPr id="1864" name="CustomShape 11"/>
          <p:cNvSpPr/>
          <p:nvPr/>
        </p:nvSpPr>
        <p:spPr>
          <a:xfrm>
            <a:off x="54864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5" name="CustomShape 12"/>
          <p:cNvSpPr/>
          <p:nvPr/>
        </p:nvSpPr>
        <p:spPr>
          <a:xfrm>
            <a:off x="731520" y="3886200"/>
            <a:ext cx="547920" cy="547920"/>
          </a:xfrm>
          <a:prstGeom prst="ellipse">
            <a:avLst/>
          </a:prstGeom>
          <a:solidFill>
            <a:srgbClr val="134074"/>
          </a:solidFill>
          <a:ln>
            <a:noFill/>
          </a:ln>
        </p:spPr>
        <p:style>
          <a:lnRef idx="0"/>
          <a:fillRef idx="0"/>
          <a:effectRef idx="0"/>
          <a:fontRef idx="minor"/>
        </p:style>
      </p:sp>
      <p:pic>
        <p:nvPicPr>
          <p:cNvPr id="1866" name="Image 2" descr="preencoded.png"/>
          <p:cNvPicPr/>
          <p:nvPr/>
        </p:nvPicPr>
        <p:blipFill>
          <a:blip r:embed="rId3"/>
          <a:stretch/>
        </p:blipFill>
        <p:spPr>
          <a:xfrm>
            <a:off x="868680" y="4023360"/>
            <a:ext cx="273600" cy="273600"/>
          </a:xfrm>
          <a:prstGeom prst="rect">
            <a:avLst/>
          </a:prstGeom>
          <a:ln>
            <a:noFill/>
          </a:ln>
        </p:spPr>
      </p:pic>
      <p:sp>
        <p:nvSpPr>
          <p:cNvPr id="1867" name="CustomShape 13"/>
          <p:cNvSpPr/>
          <p:nvPr/>
        </p:nvSpPr>
        <p:spPr>
          <a:xfrm>
            <a:off x="146304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3. Seguridad y Proxies del Agent</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Regla de oro: nunca ejecutar paquetes bajo la cuenta de servicio de SQL Server ni como sysadmin. Uso de Credential de Windows y Proxy de Agent con acceso NTFS mínimo al recurso de CSVs.</a:t>
            </a:r>
            <a:endParaRPr b="0" lang="es-ES" sz="1300" spc="-1" strike="noStrike">
              <a:latin typeface="Arial"/>
            </a:endParaRPr>
          </a:p>
        </p:txBody>
      </p:sp>
      <p:sp>
        <p:nvSpPr>
          <p:cNvPr id="1868" name="CustomShape 14"/>
          <p:cNvSpPr/>
          <p:nvPr/>
        </p:nvSpPr>
        <p:spPr>
          <a:xfrm>
            <a:off x="6231600" y="3383280"/>
            <a:ext cx="5407920" cy="1553760"/>
          </a:xfrm>
          <a:prstGeom prst="roundRect">
            <a:avLst>
              <a:gd name="adj" fmla="val 7059"/>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69" name="CustomShape 15"/>
          <p:cNvSpPr/>
          <p:nvPr/>
        </p:nvSpPr>
        <p:spPr>
          <a:xfrm>
            <a:off x="6414480" y="3886200"/>
            <a:ext cx="547920" cy="547920"/>
          </a:xfrm>
          <a:prstGeom prst="ellipse">
            <a:avLst/>
          </a:prstGeom>
          <a:solidFill>
            <a:srgbClr val="134074"/>
          </a:solidFill>
          <a:ln>
            <a:noFill/>
          </a:ln>
        </p:spPr>
        <p:style>
          <a:lnRef idx="0"/>
          <a:fillRef idx="0"/>
          <a:effectRef idx="0"/>
          <a:fontRef idx="minor"/>
        </p:style>
      </p:sp>
      <p:pic>
        <p:nvPicPr>
          <p:cNvPr id="1870" name="Image 3" descr="preencoded.png"/>
          <p:cNvPicPr/>
          <p:nvPr/>
        </p:nvPicPr>
        <p:blipFill>
          <a:blip r:embed="rId4"/>
          <a:stretch/>
        </p:blipFill>
        <p:spPr>
          <a:xfrm>
            <a:off x="6551640" y="4023360"/>
            <a:ext cx="273600" cy="273600"/>
          </a:xfrm>
          <a:prstGeom prst="rect">
            <a:avLst/>
          </a:prstGeom>
          <a:ln>
            <a:noFill/>
          </a:ln>
        </p:spPr>
      </p:pic>
      <p:sp>
        <p:nvSpPr>
          <p:cNvPr id="1871" name="CustomShape 16"/>
          <p:cNvSpPr/>
          <p:nvPr/>
        </p:nvSpPr>
        <p:spPr>
          <a:xfrm>
            <a:off x="7146000" y="3383280"/>
            <a:ext cx="4310640" cy="155376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4. Monitorización y Diagnóstico</a:t>
            </a:r>
            <a:endParaRPr b="0" lang="es-ES" sz="1600" spc="-1" strike="noStrike">
              <a:latin typeface="Arial"/>
            </a:endParaRPr>
          </a:p>
          <a:p>
            <a:pPr>
              <a:lnSpc>
                <a:spcPct val="100000"/>
              </a:lnSpc>
              <a:tabLst>
                <a:tab algn="l" pos="0"/>
              </a:tabLst>
            </a:pPr>
            <a:r>
              <a:rPr b="0" lang="en-US" sz="1300" spc="-1" strike="noStrike">
                <a:solidFill>
                  <a:srgbClr val="1f2933"/>
                </a:solidFill>
                <a:latin typeface="Calibri"/>
                <a:ea typeface="Calibri"/>
              </a:rPr>
              <a:t>Informes nativos en SSMS con clic derecho en SSISDB («All Executions») para analizar duración y filas procesadas. Consulta de vistas catalog.executions y catalog.operation_messages.</a:t>
            </a:r>
            <a:endParaRPr b="0" lang="es-ES" sz="1300" spc="-1" strike="noStrike">
              <a:latin typeface="Arial"/>
            </a:endParaRPr>
          </a:p>
        </p:txBody>
      </p:sp>
      <p:sp>
        <p:nvSpPr>
          <p:cNvPr id="1872" name="CustomShape 17"/>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873" name="CustomShape 18"/>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874" name="Image 4" descr="preencoded.png"/>
          <p:cNvPicPr/>
          <p:nvPr/>
        </p:nvPicPr>
        <p:blipFill>
          <a:blip r:embed="rId5"/>
          <a:stretch/>
        </p:blipFill>
        <p:spPr>
          <a:xfrm>
            <a:off x="846000" y="5600880"/>
            <a:ext cx="227880" cy="227880"/>
          </a:xfrm>
          <a:prstGeom prst="rect">
            <a:avLst/>
          </a:prstGeom>
          <a:ln>
            <a:noFill/>
          </a:ln>
        </p:spPr>
      </p:pic>
      <p:sp>
        <p:nvSpPr>
          <p:cNvPr id="1875" name="CustomShape 19"/>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crítica en producción: </a:t>
            </a:r>
            <a:r>
              <a:rPr b="0" lang="en-US" sz="1400" spc="-1" strike="noStrike">
                <a:solidFill>
                  <a:srgbClr val="1f2933"/>
                </a:solidFill>
                <a:latin typeface="Calibri"/>
                <a:ea typeface="Calibri"/>
              </a:rPr>
              <a:t>un paquete que funciona en Visual Studio falla en el Agent si no se usa un Proxy; la cuenta de servicio de SQL Server no suele tener permisos NTFS sobre las carpetas de red compartidas con los CSVs.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76" name="CustomShape 1"/>
          <p:cNvSpPr/>
          <p:nvPr/>
        </p:nvSpPr>
        <p:spPr>
          <a:xfrm>
            <a:off x="548640" y="365760"/>
            <a:ext cx="401796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PREPARACIÓN</a:t>
            </a:r>
            <a:endParaRPr b="0" lang="es-ES" sz="1000" spc="-1" strike="noStrike">
              <a:latin typeface="Arial"/>
            </a:endParaRPr>
          </a:p>
        </p:txBody>
      </p:sp>
      <p:sp>
        <p:nvSpPr>
          <p:cNvPr id="1877"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Preparar la BD y la cadena de backups</a:t>
            </a:r>
            <a:endParaRPr b="0" lang="es-ES" sz="3400" spc="-1" strike="noStrike">
              <a:latin typeface="Arial"/>
            </a:endParaRPr>
          </a:p>
        </p:txBody>
      </p:sp>
      <p:sp>
        <p:nvSpPr>
          <p:cNvPr id="1878"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879"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77</a:t>
            </a:r>
            <a:endParaRPr b="0" lang="es-ES" sz="1000" spc="-1" strike="noStrike">
              <a:latin typeface="Arial"/>
            </a:endParaRPr>
          </a:p>
        </p:txBody>
      </p:sp>
      <p:sp>
        <p:nvSpPr>
          <p:cNvPr id="1880"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881"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882"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ALTER</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 </a:t>
            </a:r>
            <a:r>
              <a:rPr b="1" lang="en-US" sz="1200" spc="-1" strike="noStrike">
                <a:solidFill>
                  <a:srgbClr val="1d4ed8"/>
                </a:solidFill>
                <a:latin typeface="Consolas"/>
                <a:ea typeface="Consolas"/>
              </a:rPr>
              <a:t>SET</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FULL</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COMPRESSION</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A'</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INSERT</a:t>
            </a:r>
            <a:r>
              <a:rPr b="0" lang="en-US" sz="1200" spc="-1" strike="noStrike">
                <a:solidFill>
                  <a:srgbClr val="1f2933"/>
                </a:solidFill>
                <a:latin typeface="Consolas"/>
                <a:ea typeface="Consolas"/>
              </a:rPr>
              <a:t> dbo.Cliente (Nombre) </a:t>
            </a:r>
            <a:r>
              <a:rPr b="1" lang="en-US" sz="1200" spc="-1" strike="noStrike">
                <a:solidFill>
                  <a:srgbClr val="1d4ed8"/>
                </a:solidFill>
                <a:latin typeface="Consolas"/>
                <a:ea typeface="Consolas"/>
              </a:rPr>
              <a:t>VALUES</a:t>
            </a:r>
            <a:r>
              <a:rPr b="0" lang="en-US" sz="1200" spc="-1" strike="noStrike">
                <a:solidFill>
                  <a:srgbClr val="1f2933"/>
                </a:solidFill>
                <a:latin typeface="Consolas"/>
                <a:ea typeface="Consolas"/>
              </a:rPr>
              <a:t> (</a:t>
            </a:r>
            <a:r>
              <a:rPr b="0" lang="en-US" sz="1200" spc="-1" strike="noStrike">
                <a:solidFill>
                  <a:srgbClr val="b4441f"/>
                </a:solidFill>
                <a:latin typeface="Consolas"/>
                <a:ea typeface="Consolas"/>
              </a:rPr>
              <a:t>N'Lab4 B'</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DIFFERENTIAL</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883" name="CustomShape 8"/>
          <p:cNvSpPr/>
          <p:nvPr/>
        </p:nvSpPr>
        <p:spPr>
          <a:xfrm>
            <a:off x="7863840" y="160020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4" name="CustomShape 9"/>
          <p:cNvSpPr/>
          <p:nvPr/>
        </p:nvSpPr>
        <p:spPr>
          <a:xfrm>
            <a:off x="8046720" y="1783080"/>
            <a:ext cx="547920" cy="547920"/>
          </a:xfrm>
          <a:prstGeom prst="ellipse">
            <a:avLst/>
          </a:prstGeom>
          <a:solidFill>
            <a:srgbClr val="134074"/>
          </a:solidFill>
          <a:ln>
            <a:noFill/>
          </a:ln>
        </p:spPr>
        <p:style>
          <a:lnRef idx="0"/>
          <a:fillRef idx="0"/>
          <a:effectRef idx="0"/>
          <a:fontRef idx="minor"/>
        </p:style>
      </p:sp>
      <p:sp>
        <p:nvSpPr>
          <p:cNvPr id="1885" name="CustomShape 10"/>
          <p:cNvSpPr/>
          <p:nvPr/>
        </p:nvSpPr>
        <p:spPr>
          <a:xfrm>
            <a:off x="80467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886" name="CustomShape 11"/>
          <p:cNvSpPr/>
          <p:nvPr/>
        </p:nvSpPr>
        <p:spPr>
          <a:xfrm>
            <a:off x="8778240" y="160020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Full en recovery Full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ALTER DATABASE y BACKUP DATABASE con CHECKSUM.</a:t>
            </a:r>
            <a:endParaRPr b="0" lang="es-ES" sz="1400" spc="-1" strike="noStrike">
              <a:latin typeface="Arial"/>
            </a:endParaRPr>
          </a:p>
        </p:txBody>
      </p:sp>
      <p:sp>
        <p:nvSpPr>
          <p:cNvPr id="1887" name="CustomShape 12"/>
          <p:cNvSpPr/>
          <p:nvPr/>
        </p:nvSpPr>
        <p:spPr>
          <a:xfrm>
            <a:off x="7863840" y="276156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88" name="CustomShape 13"/>
          <p:cNvSpPr/>
          <p:nvPr/>
        </p:nvSpPr>
        <p:spPr>
          <a:xfrm>
            <a:off x="8046720" y="2944440"/>
            <a:ext cx="547920" cy="547920"/>
          </a:xfrm>
          <a:prstGeom prst="ellipse">
            <a:avLst/>
          </a:prstGeom>
          <a:solidFill>
            <a:srgbClr val="134074"/>
          </a:solidFill>
          <a:ln>
            <a:noFill/>
          </a:ln>
        </p:spPr>
        <p:style>
          <a:lnRef idx="0"/>
          <a:fillRef idx="0"/>
          <a:effectRef idx="0"/>
          <a:fontRef idx="minor"/>
        </p:style>
      </p:sp>
      <p:sp>
        <p:nvSpPr>
          <p:cNvPr id="1889" name="CustomShape 14"/>
          <p:cNvSpPr/>
          <p:nvPr/>
        </p:nvSpPr>
        <p:spPr>
          <a:xfrm>
            <a:off x="8046720" y="294444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890" name="CustomShape 15"/>
          <p:cNvSpPr/>
          <p:nvPr/>
        </p:nvSpPr>
        <p:spPr>
          <a:xfrm>
            <a:off x="8778240" y="276156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Log backup 1</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insertar datos, inicia la log chain.</a:t>
            </a:r>
            <a:endParaRPr b="0" lang="es-ES" sz="1400" spc="-1" strike="noStrike">
              <a:latin typeface="Arial"/>
            </a:endParaRPr>
          </a:p>
        </p:txBody>
      </p:sp>
      <p:sp>
        <p:nvSpPr>
          <p:cNvPr id="1891" name="CustomShape 16"/>
          <p:cNvSpPr/>
          <p:nvPr/>
        </p:nvSpPr>
        <p:spPr>
          <a:xfrm>
            <a:off x="7863840" y="3922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2" name="CustomShape 17"/>
          <p:cNvSpPr/>
          <p:nvPr/>
        </p:nvSpPr>
        <p:spPr>
          <a:xfrm>
            <a:off x="8046720" y="4105800"/>
            <a:ext cx="547920" cy="547920"/>
          </a:xfrm>
          <a:prstGeom prst="ellipse">
            <a:avLst/>
          </a:prstGeom>
          <a:solidFill>
            <a:srgbClr val="134074"/>
          </a:solidFill>
          <a:ln>
            <a:noFill/>
          </a:ln>
        </p:spPr>
        <p:style>
          <a:lnRef idx="0"/>
          <a:fillRef idx="0"/>
          <a:effectRef idx="0"/>
          <a:fontRef idx="minor"/>
        </p:style>
      </p:sp>
      <p:sp>
        <p:nvSpPr>
          <p:cNvPr id="1893" name="CustomShape 18"/>
          <p:cNvSpPr/>
          <p:nvPr/>
        </p:nvSpPr>
        <p:spPr>
          <a:xfrm>
            <a:off x="8046720" y="4105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894" name="CustomShape 19"/>
          <p:cNvSpPr/>
          <p:nvPr/>
        </p:nvSpPr>
        <p:spPr>
          <a:xfrm>
            <a:off x="8778240" y="3922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Diferencial</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Tras más actividad: WITH DIFFERENTIAL.</a:t>
            </a:r>
            <a:endParaRPr b="0" lang="es-ES" sz="1400" spc="-1" strike="noStrike">
              <a:latin typeface="Arial"/>
            </a:endParaRPr>
          </a:p>
        </p:txBody>
      </p:sp>
      <p:sp>
        <p:nvSpPr>
          <p:cNvPr id="1895" name="CustomShape 20"/>
          <p:cNvSpPr/>
          <p:nvPr/>
        </p:nvSpPr>
        <p:spPr>
          <a:xfrm>
            <a:off x="7863840" y="5083920"/>
            <a:ext cx="37756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896" name="CustomShape 21"/>
          <p:cNvSpPr/>
          <p:nvPr/>
        </p:nvSpPr>
        <p:spPr>
          <a:xfrm>
            <a:off x="8046720" y="5266800"/>
            <a:ext cx="547920" cy="547920"/>
          </a:xfrm>
          <a:prstGeom prst="ellipse">
            <a:avLst/>
          </a:prstGeom>
          <a:solidFill>
            <a:srgbClr val="134074"/>
          </a:solidFill>
          <a:ln>
            <a:noFill/>
          </a:ln>
        </p:spPr>
        <p:style>
          <a:lnRef idx="0"/>
          <a:fillRef idx="0"/>
          <a:effectRef idx="0"/>
          <a:fontRef idx="minor"/>
        </p:style>
      </p:sp>
      <p:sp>
        <p:nvSpPr>
          <p:cNvPr id="1897" name="CustomShape 22"/>
          <p:cNvSpPr/>
          <p:nvPr/>
        </p:nvSpPr>
        <p:spPr>
          <a:xfrm>
            <a:off x="8046720" y="5266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4</a:t>
            </a:r>
            <a:endParaRPr b="0" lang="es-ES" sz="1800" spc="-1" strike="noStrike">
              <a:latin typeface="Arial"/>
            </a:endParaRPr>
          </a:p>
        </p:txBody>
      </p:sp>
      <p:sp>
        <p:nvSpPr>
          <p:cNvPr id="1898" name="CustomShape 23"/>
          <p:cNvSpPr/>
          <p:nvPr/>
        </p:nvSpPr>
        <p:spPr>
          <a:xfrm>
            <a:off x="8778240" y="5083920"/>
            <a:ext cx="26784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Segundo log backup</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Un cliente más y BACKUP LOG; anota el COUNT.</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899" name="CustomShape 1"/>
          <p:cNvSpPr/>
          <p:nvPr/>
        </p:nvSpPr>
        <p:spPr>
          <a:xfrm>
            <a:off x="548640" y="365760"/>
            <a:ext cx="375732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DESASTRE</a:t>
            </a:r>
            <a:endParaRPr b="0" lang="es-ES" sz="1000" spc="-1" strike="noStrike">
              <a:latin typeface="Arial"/>
            </a:endParaRPr>
          </a:p>
        </p:txBody>
      </p:sp>
      <p:sp>
        <p:nvSpPr>
          <p:cNvPr id="1900"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Simular la pérdida de datos y el tail-log</a:t>
            </a:r>
            <a:endParaRPr b="0" lang="es-ES" sz="3400" spc="-1" strike="noStrike">
              <a:latin typeface="Arial"/>
            </a:endParaRPr>
          </a:p>
        </p:txBody>
      </p:sp>
      <p:sp>
        <p:nvSpPr>
          <p:cNvPr id="1901"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02"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78</a:t>
            </a:r>
            <a:endParaRPr b="0" lang="es-ES" sz="1000" spc="-1" strike="noStrike">
              <a:latin typeface="Arial"/>
            </a:endParaRPr>
          </a:p>
        </p:txBody>
      </p:sp>
      <p:sp>
        <p:nvSpPr>
          <p:cNvPr id="1903" name="CustomShape 5"/>
          <p:cNvSpPr/>
          <p:nvPr/>
        </p:nvSpPr>
        <p:spPr>
          <a:xfrm>
            <a:off x="548640" y="160020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4" name="CustomShape 6"/>
          <p:cNvSpPr/>
          <p:nvPr/>
        </p:nvSpPr>
        <p:spPr>
          <a:xfrm>
            <a:off x="731520" y="1783080"/>
            <a:ext cx="547920" cy="547920"/>
          </a:xfrm>
          <a:prstGeom prst="ellipse">
            <a:avLst/>
          </a:prstGeom>
          <a:solidFill>
            <a:srgbClr val="134074"/>
          </a:solidFill>
          <a:ln>
            <a:noFill/>
          </a:ln>
        </p:spPr>
        <p:style>
          <a:lnRef idx="0"/>
          <a:fillRef idx="0"/>
          <a:effectRef idx="0"/>
          <a:fontRef idx="minor"/>
        </p:style>
      </p:sp>
      <p:sp>
        <p:nvSpPr>
          <p:cNvPr id="1905" name="CustomShape 7"/>
          <p:cNvSpPr/>
          <p:nvPr/>
        </p:nvSpPr>
        <p:spPr>
          <a:xfrm>
            <a:off x="731520" y="178308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1</a:t>
            </a:r>
            <a:endParaRPr b="0" lang="es-ES" sz="1800" spc="-1" strike="noStrike">
              <a:latin typeface="Arial"/>
            </a:endParaRPr>
          </a:p>
        </p:txBody>
      </p:sp>
      <p:sp>
        <p:nvSpPr>
          <p:cNvPr id="1906" name="CustomShape 8"/>
          <p:cNvSpPr/>
          <p:nvPr/>
        </p:nvSpPr>
        <p:spPr>
          <a:xfrm>
            <a:off x="1463040" y="160020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Anota HoraOK</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SELECT SYSDATETIME() antes del accidente.</a:t>
            </a:r>
            <a:endParaRPr b="0" lang="es-ES" sz="1400" spc="-1" strike="noStrike">
              <a:latin typeface="Arial"/>
            </a:endParaRPr>
          </a:p>
        </p:txBody>
      </p:sp>
      <p:sp>
        <p:nvSpPr>
          <p:cNvPr id="1907" name="CustomShape 9"/>
          <p:cNvSpPr/>
          <p:nvPr/>
        </p:nvSpPr>
        <p:spPr>
          <a:xfrm>
            <a:off x="548640" y="278892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08" name="CustomShape 10"/>
          <p:cNvSpPr/>
          <p:nvPr/>
        </p:nvSpPr>
        <p:spPr>
          <a:xfrm>
            <a:off x="731520" y="2971800"/>
            <a:ext cx="547920" cy="547920"/>
          </a:xfrm>
          <a:prstGeom prst="ellipse">
            <a:avLst/>
          </a:prstGeom>
          <a:solidFill>
            <a:srgbClr val="134074"/>
          </a:solidFill>
          <a:ln>
            <a:noFill/>
          </a:ln>
        </p:spPr>
        <p:style>
          <a:lnRef idx="0"/>
          <a:fillRef idx="0"/>
          <a:effectRef idx="0"/>
          <a:fontRef idx="minor"/>
        </p:style>
      </p:sp>
      <p:sp>
        <p:nvSpPr>
          <p:cNvPr id="1909" name="CustomShape 11"/>
          <p:cNvSpPr/>
          <p:nvPr/>
        </p:nvSpPr>
        <p:spPr>
          <a:xfrm>
            <a:off x="731520" y="297180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2</a:t>
            </a:r>
            <a:endParaRPr b="0" lang="es-ES" sz="1800" spc="-1" strike="noStrike">
              <a:latin typeface="Arial"/>
            </a:endParaRPr>
          </a:p>
        </p:txBody>
      </p:sp>
      <p:sp>
        <p:nvSpPr>
          <p:cNvPr id="1910" name="CustomShape 12"/>
          <p:cNvSpPr/>
          <p:nvPr/>
        </p:nvSpPr>
        <p:spPr>
          <a:xfrm>
            <a:off x="1463040" y="278892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Provoca el error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DELETE sin WHERE sobre dbo.Pedido.</a:t>
            </a:r>
            <a:endParaRPr b="0" lang="es-ES" sz="1400" spc="-1" strike="noStrike">
              <a:latin typeface="Arial"/>
            </a:endParaRPr>
          </a:p>
        </p:txBody>
      </p:sp>
      <p:sp>
        <p:nvSpPr>
          <p:cNvPr id="1911" name="CustomShape 13"/>
          <p:cNvSpPr/>
          <p:nvPr/>
        </p:nvSpPr>
        <p:spPr>
          <a:xfrm>
            <a:off x="548640" y="3977640"/>
            <a:ext cx="4571280" cy="913680"/>
          </a:xfrm>
          <a:prstGeom prst="roundRect">
            <a:avLst>
              <a:gd name="adj" fmla="val 12000"/>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12" name="CustomShape 14"/>
          <p:cNvSpPr/>
          <p:nvPr/>
        </p:nvSpPr>
        <p:spPr>
          <a:xfrm>
            <a:off x="731520" y="4160520"/>
            <a:ext cx="547920" cy="547920"/>
          </a:xfrm>
          <a:prstGeom prst="ellipse">
            <a:avLst/>
          </a:prstGeom>
          <a:solidFill>
            <a:srgbClr val="134074"/>
          </a:solidFill>
          <a:ln>
            <a:noFill/>
          </a:ln>
        </p:spPr>
        <p:style>
          <a:lnRef idx="0"/>
          <a:fillRef idx="0"/>
          <a:effectRef idx="0"/>
          <a:fontRef idx="minor"/>
        </p:style>
      </p:sp>
      <p:sp>
        <p:nvSpPr>
          <p:cNvPr id="1913" name="CustomShape 15"/>
          <p:cNvSpPr/>
          <p:nvPr/>
        </p:nvSpPr>
        <p:spPr>
          <a:xfrm>
            <a:off x="731520" y="4160520"/>
            <a:ext cx="547920" cy="54792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1800" spc="-1" strike="noStrike">
                <a:solidFill>
                  <a:srgbClr val="ffffff"/>
                </a:solidFill>
                <a:latin typeface="Calibri"/>
                <a:ea typeface="Calibri"/>
              </a:rPr>
              <a:t>3</a:t>
            </a:r>
            <a:endParaRPr b="0" lang="es-ES" sz="1800" spc="-1" strike="noStrike">
              <a:latin typeface="Arial"/>
            </a:endParaRPr>
          </a:p>
        </p:txBody>
      </p:sp>
      <p:sp>
        <p:nvSpPr>
          <p:cNvPr id="1914" name="CustomShape 16"/>
          <p:cNvSpPr/>
          <p:nvPr/>
        </p:nvSpPr>
        <p:spPr>
          <a:xfrm>
            <a:off x="1463040" y="3977640"/>
            <a:ext cx="3474000" cy="91368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Salva la cola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Tail-log con NORECOVERY: la BD pasa a RESTORING.</a:t>
            </a:r>
            <a:endParaRPr b="0" lang="es-ES" sz="1400" spc="-1" strike="noStrike">
              <a:latin typeface="Arial"/>
            </a:endParaRPr>
          </a:p>
        </p:txBody>
      </p:sp>
      <p:sp>
        <p:nvSpPr>
          <p:cNvPr id="1915" name="CustomShape 17"/>
          <p:cNvSpPr/>
          <p:nvPr/>
        </p:nvSpPr>
        <p:spPr>
          <a:xfrm>
            <a:off x="5394960" y="1600200"/>
            <a:ext cx="6244560" cy="3382560"/>
          </a:xfrm>
          <a:prstGeom prst="roundRect">
            <a:avLst>
              <a:gd name="adj" fmla="val 2703"/>
            </a:avLst>
          </a:prstGeom>
          <a:solidFill>
            <a:srgbClr val="eceff3"/>
          </a:solidFill>
          <a:ln w="9360">
            <a:solidFill>
              <a:srgbClr val="d0d7de"/>
            </a:solidFill>
            <a:round/>
          </a:ln>
        </p:spPr>
        <p:style>
          <a:lnRef idx="0"/>
          <a:fillRef idx="0"/>
          <a:effectRef idx="0"/>
          <a:fontRef idx="minor"/>
        </p:style>
      </p:sp>
      <p:sp>
        <p:nvSpPr>
          <p:cNvPr id="1916" name="CustomShape 18"/>
          <p:cNvSpPr/>
          <p:nvPr/>
        </p:nvSpPr>
        <p:spPr>
          <a:xfrm>
            <a:off x="557784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17" name="CustomShape 19"/>
          <p:cNvSpPr/>
          <p:nvPr/>
        </p:nvSpPr>
        <p:spPr>
          <a:xfrm>
            <a:off x="5577840" y="1965960"/>
            <a:ext cx="5878800" cy="292536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SYSDATETIME()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HoraOK;    </a:t>
            </a:r>
            <a:r>
              <a:rPr b="0" i="1" lang="en-US" sz="1200" spc="-1" strike="noStrike">
                <a:solidFill>
                  <a:srgbClr val="6b7280"/>
                </a:solidFill>
                <a:latin typeface="Consolas"/>
                <a:ea typeface="Consolas"/>
              </a:rPr>
              <a:t>-- anótala</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WAITFOR DELAY </a:t>
            </a:r>
            <a:r>
              <a:rPr b="0" lang="en-US" sz="1200" spc="-1" strike="noStrike">
                <a:solidFill>
                  <a:srgbClr val="b4441f"/>
                </a:solidFill>
                <a:latin typeface="Consolas"/>
                <a:ea typeface="Consolas"/>
              </a:rPr>
              <a:t>'00:00:05'</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DELETE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dbo.Pedido;            </a:t>
            </a:r>
            <a:r>
              <a:rPr b="0" i="1" lang="en-US" sz="1200" spc="-1" strike="noStrike">
                <a:solidFill>
                  <a:srgbClr val="6b7280"/>
                </a:solidFill>
                <a:latin typeface="Consolas"/>
                <a:ea typeface="Consolas"/>
              </a:rPr>
              <a:t>-- "accidente"</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BACKUP</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TO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CHECKSUM</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INIT</a:t>
            </a:r>
            <a:r>
              <a:rPr b="0" lang="en-US" sz="1200" spc="-1" strike="noStrike">
                <a:solidFill>
                  <a:srgbClr val="1f2933"/>
                </a:solidFill>
                <a:latin typeface="Consolas"/>
                <a:ea typeface="Consolas"/>
              </a:rPr>
              <a:t>;</a:t>
            </a:r>
            <a:endParaRPr b="0" lang="es-ES" sz="1200" spc="-1" strike="noStrike">
              <a:latin typeface="Arial"/>
            </a:endParaRPr>
          </a:p>
        </p:txBody>
      </p:sp>
      <p:sp>
        <p:nvSpPr>
          <p:cNvPr id="1918" name="CustomShape 20"/>
          <p:cNvSpPr/>
          <p:nvPr/>
        </p:nvSpPr>
        <p:spPr>
          <a:xfrm>
            <a:off x="548640" y="5257800"/>
            <a:ext cx="11090880" cy="913680"/>
          </a:xfrm>
          <a:prstGeom prst="roundRect">
            <a:avLst>
              <a:gd name="adj" fmla="val 12000"/>
            </a:avLst>
          </a:prstGeom>
          <a:solidFill>
            <a:srgbClr val="fdede8"/>
          </a:solidFill>
          <a:ln>
            <a:noFill/>
          </a:ln>
        </p:spPr>
        <p:style>
          <a:lnRef idx="0"/>
          <a:fillRef idx="0"/>
          <a:effectRef idx="0"/>
          <a:fontRef idx="minor"/>
        </p:style>
      </p:sp>
      <p:sp>
        <p:nvSpPr>
          <p:cNvPr id="1919" name="CustomShape 21"/>
          <p:cNvSpPr/>
          <p:nvPr/>
        </p:nvSpPr>
        <p:spPr>
          <a:xfrm>
            <a:off x="731520" y="5486400"/>
            <a:ext cx="456480" cy="456480"/>
          </a:xfrm>
          <a:prstGeom prst="ellipse">
            <a:avLst/>
          </a:prstGeom>
          <a:solidFill>
            <a:srgbClr val="d95d39"/>
          </a:solidFill>
          <a:ln>
            <a:noFill/>
          </a:ln>
        </p:spPr>
        <p:style>
          <a:lnRef idx="0"/>
          <a:fillRef idx="0"/>
          <a:effectRef idx="0"/>
          <a:fontRef idx="minor"/>
        </p:style>
      </p:sp>
      <p:pic>
        <p:nvPicPr>
          <p:cNvPr id="1920" name="Image 0" descr="preencoded.png"/>
          <p:cNvPicPr/>
          <p:nvPr/>
        </p:nvPicPr>
        <p:blipFill>
          <a:blip r:embed="rId1"/>
          <a:stretch/>
        </p:blipFill>
        <p:spPr>
          <a:xfrm>
            <a:off x="846000" y="5600880"/>
            <a:ext cx="227880" cy="227880"/>
          </a:xfrm>
          <a:prstGeom prst="rect">
            <a:avLst/>
          </a:prstGeom>
          <a:ln>
            <a:noFill/>
          </a:ln>
        </p:spPr>
      </p:pic>
      <p:sp>
        <p:nvSpPr>
          <p:cNvPr id="1921" name="CustomShape 22"/>
          <p:cNvSpPr/>
          <p:nvPr/>
        </p:nvSpPr>
        <p:spPr>
          <a:xfrm>
            <a:off x="1371600" y="5257800"/>
            <a:ext cx="1008504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si hay conexiones abiertas a Ventas, usa ALTER DATABASE … SET SINGLE_USER WITH ROLLBACK IMMEDIATE antes del tail-log.</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22" name="CustomShape 1"/>
          <p:cNvSpPr/>
          <p:nvPr/>
        </p:nvSpPr>
        <p:spPr>
          <a:xfrm>
            <a:off x="548640" y="365760"/>
            <a:ext cx="410508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LABORATORIO 4 · RESTAURACIÓN</a:t>
            </a:r>
            <a:endParaRPr b="0" lang="es-ES" sz="1000" spc="-1" strike="noStrike">
              <a:latin typeface="Arial"/>
            </a:endParaRPr>
          </a:p>
        </p:txBody>
      </p:sp>
      <p:sp>
        <p:nvSpPr>
          <p:cNvPr id="1923"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Restaurar a un punto en el tiempo</a:t>
            </a:r>
            <a:endParaRPr b="0" lang="es-ES" sz="3400" spc="-1" strike="noStrike">
              <a:latin typeface="Arial"/>
            </a:endParaRPr>
          </a:p>
        </p:txBody>
      </p:sp>
      <p:sp>
        <p:nvSpPr>
          <p:cNvPr id="1924"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25"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79</a:t>
            </a:r>
            <a:endParaRPr b="0" lang="es-ES" sz="1000" spc="-1" strike="noStrike">
              <a:latin typeface="Arial"/>
            </a:endParaRPr>
          </a:p>
        </p:txBody>
      </p:sp>
      <p:sp>
        <p:nvSpPr>
          <p:cNvPr id="1926" name="CustomShape 5"/>
          <p:cNvSpPr/>
          <p:nvPr/>
        </p:nvSpPr>
        <p:spPr>
          <a:xfrm>
            <a:off x="548640" y="1600200"/>
            <a:ext cx="7040160" cy="4571280"/>
          </a:xfrm>
          <a:prstGeom prst="roundRect">
            <a:avLst>
              <a:gd name="adj" fmla="val 2000"/>
            </a:avLst>
          </a:prstGeom>
          <a:solidFill>
            <a:srgbClr val="eceff3"/>
          </a:solidFill>
          <a:ln w="9360">
            <a:solidFill>
              <a:srgbClr val="d0d7de"/>
            </a:solidFill>
            <a:round/>
          </a:ln>
        </p:spPr>
        <p:style>
          <a:lnRef idx="0"/>
          <a:fillRef idx="0"/>
          <a:effectRef idx="0"/>
          <a:fontRef idx="minor"/>
        </p:style>
      </p:sp>
      <p:sp>
        <p:nvSpPr>
          <p:cNvPr id="1927" name="CustomShape 6"/>
          <p:cNvSpPr/>
          <p:nvPr/>
        </p:nvSpPr>
        <p:spPr>
          <a:xfrm>
            <a:off x="731520" y="1691640"/>
            <a:ext cx="2742480" cy="2278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000" spc="94" strike="noStrike">
                <a:solidFill>
                  <a:srgbClr val="134074"/>
                </a:solidFill>
                <a:latin typeface="Calibri"/>
                <a:ea typeface="Calibri"/>
              </a:rPr>
              <a:t>T-SQL</a:t>
            </a:r>
            <a:endParaRPr b="0" lang="es-ES" sz="1000" spc="-1" strike="noStrike">
              <a:latin typeface="Arial"/>
            </a:endParaRPr>
          </a:p>
        </p:txBody>
      </p:sp>
      <p:sp>
        <p:nvSpPr>
          <p:cNvPr id="1928" name="CustomShape 7"/>
          <p:cNvSpPr/>
          <p:nvPr/>
        </p:nvSpPr>
        <p:spPr>
          <a:xfrm>
            <a:off x="731520" y="1965960"/>
            <a:ext cx="6674400" cy="4114080"/>
          </a:xfrm>
          <a:prstGeom prst="rect">
            <a:avLst/>
          </a:prstGeom>
          <a:noFill/>
          <a:ln>
            <a:noFill/>
          </a:ln>
        </p:spPr>
        <p:style>
          <a:lnRef idx="0"/>
          <a:fillRef idx="0"/>
          <a:effectRef idx="0"/>
          <a:fontRef idx="minor"/>
        </p:style>
        <p:txBody>
          <a:bodyPr wrap="none" lIns="0" rIns="0" tIns="0" bIns="0">
            <a:noAutofit/>
          </a:bodyPr>
          <a:p>
            <a:pPr>
              <a:lnSpc>
                <a:spcPct val="100000"/>
              </a:lnSpc>
              <a:tabLst>
                <a:tab algn="l" pos="0"/>
              </a:tabLst>
            </a:pPr>
            <a:r>
              <a:rPr b="1" lang="en-US" sz="1200" spc="-1" strike="noStrike">
                <a:solidFill>
                  <a:srgbClr val="1d4ed8"/>
                </a:solidFill>
                <a:latin typeface="Consolas"/>
                <a:ea typeface="Consolas"/>
              </a:rPr>
              <a:t>USE</a:t>
            </a:r>
            <a:r>
              <a:rPr b="0" lang="en-US" sz="1200" spc="-1" strike="noStrike">
                <a:solidFill>
                  <a:srgbClr val="1f2933"/>
                </a:solidFill>
                <a:latin typeface="Consolas"/>
                <a:ea typeface="Consolas"/>
              </a:rPr>
              <a:t> master;</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N'/var/opt/mssql/backup/Ventas_L4_FULL.bak'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REPLACE</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DATABASE</a:t>
            </a:r>
            <a:r>
              <a:rPr b="0" lang="en-US" sz="1200" spc="-1" strike="noStrike">
                <a:solidFill>
                  <a:srgbClr val="1f2933"/>
                </a:solidFill>
                <a:latin typeface="Consolas"/>
                <a:ea typeface="Consolas"/>
              </a:rPr>
              <a:t>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N'/var/opt/mssql/backup/Ventas_L4_DIFF.bak'</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N'/var/opt/mssql/backup/Ventas_L4_LOG1.trn'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NORECOVERY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RESTORE</a:t>
            </a:r>
            <a:r>
              <a:rPr b="0" lang="en-US" sz="1200" spc="-1" strike="noStrike">
                <a:solidFill>
                  <a:srgbClr val="1f2933"/>
                </a:solidFill>
                <a:latin typeface="Consolas"/>
                <a:ea typeface="Consolas"/>
              </a:rPr>
              <a:t> LOG Ventas</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DISK = </a:t>
            </a:r>
            <a:r>
              <a:rPr b="0" lang="en-US" sz="1200" spc="-1" strike="noStrike">
                <a:solidFill>
                  <a:srgbClr val="b4441f"/>
                </a:solidFill>
                <a:latin typeface="Consolas"/>
                <a:ea typeface="Consolas"/>
              </a:rPr>
              <a:t>N'/var/opt/mssql/backup/Ventas_L4_TAIL.trn'</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WITH</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STOPAT</a:t>
            </a:r>
            <a:r>
              <a:rPr b="0" lang="en-US" sz="1200" spc="-1" strike="noStrike">
                <a:solidFill>
                  <a:srgbClr val="1f2933"/>
                </a:solidFill>
                <a:latin typeface="Consolas"/>
                <a:ea typeface="Consolas"/>
              </a:rPr>
              <a:t> = </a:t>
            </a:r>
            <a:r>
              <a:rPr b="0" lang="en-US" sz="1200" spc="-1" strike="noStrike">
                <a:solidFill>
                  <a:srgbClr val="b4441f"/>
                </a:solidFill>
                <a:latin typeface="Consolas"/>
                <a:ea typeface="Consolas"/>
              </a:rPr>
              <a:t>N'2025-03-12T10:36:00'</a:t>
            </a:r>
            <a:r>
              <a:rPr b="0" lang="en-US" sz="1200" spc="-1" strike="noStrike">
                <a:solidFill>
                  <a:srgbClr val="1f2933"/>
                </a:solidFill>
                <a:latin typeface="Consolas"/>
                <a:ea typeface="Consolas"/>
              </a:rPr>
              <a:t>, </a:t>
            </a:r>
            <a:r>
              <a:rPr b="1" lang="en-US" sz="1200" spc="-1" strike="noStrike">
                <a:solidFill>
                  <a:srgbClr val="1d4ed8"/>
                </a:solidFill>
                <a:latin typeface="Consolas"/>
                <a:ea typeface="Consolas"/>
              </a:rPr>
              <a:t>RECOVERY</a:t>
            </a:r>
            <a:r>
              <a:rPr b="0" lang="en-US" sz="1200" spc="-1" strike="noStrike">
                <a:solidFill>
                  <a:srgbClr val="1f2933"/>
                </a:solidFill>
                <a:latin typeface="Consolas"/>
                <a:ea typeface="Consolas"/>
              </a:rPr>
              <a:t>;</a:t>
            </a:r>
            <a:endParaRPr b="0" lang="es-ES" sz="1200" spc="-1" strike="noStrike">
              <a:latin typeface="Arial"/>
            </a:endParaRPr>
          </a:p>
          <a:p>
            <a:pPr>
              <a:lnSpc>
                <a:spcPct val="100000"/>
              </a:lnSpc>
              <a:tabLst>
                <a:tab algn="l" pos="0"/>
              </a:tabLst>
            </a:pPr>
            <a:r>
              <a:rPr b="0" lang="en-US" sz="1200" spc="-1" strike="noStrike">
                <a:solidFill>
                  <a:srgbClr val="1f2933"/>
                </a:solidFill>
                <a:latin typeface="Consolas"/>
                <a:ea typeface="Consolas"/>
              </a:rPr>
              <a:t> </a:t>
            </a:r>
            <a:endParaRPr b="0" lang="es-ES" sz="1200" spc="-1" strike="noStrike">
              <a:latin typeface="Arial"/>
            </a:endParaRPr>
          </a:p>
          <a:p>
            <a:pPr>
              <a:lnSpc>
                <a:spcPct val="100000"/>
              </a:lnSpc>
              <a:tabLst>
                <a:tab algn="l" pos="0"/>
              </a:tabLst>
            </a:pPr>
            <a:r>
              <a:rPr b="1" lang="en-US" sz="1200" spc="-1" strike="noStrike">
                <a:solidFill>
                  <a:srgbClr val="1d4ed8"/>
                </a:solidFill>
                <a:latin typeface="Consolas"/>
                <a:ea typeface="Consolas"/>
              </a:rPr>
              <a:t>SELECT</a:t>
            </a:r>
            <a:r>
              <a:rPr b="0" lang="en-US" sz="1200" spc="-1" strike="noStrike">
                <a:solidFill>
                  <a:srgbClr val="1f2933"/>
                </a:solidFill>
                <a:latin typeface="Consolas"/>
                <a:ea typeface="Consolas"/>
              </a:rPr>
              <a:t> COUNT(*) </a:t>
            </a:r>
            <a:r>
              <a:rPr b="1" lang="en-US" sz="1200" spc="-1" strike="noStrike">
                <a:solidFill>
                  <a:srgbClr val="1d4ed8"/>
                </a:solidFill>
                <a:latin typeface="Consolas"/>
                <a:ea typeface="Consolas"/>
              </a:rPr>
              <a:t>AS</a:t>
            </a:r>
            <a:r>
              <a:rPr b="0" lang="en-US" sz="1200" spc="-1" strike="noStrike">
                <a:solidFill>
                  <a:srgbClr val="1f2933"/>
                </a:solidFill>
                <a:latin typeface="Consolas"/>
                <a:ea typeface="Consolas"/>
              </a:rPr>
              <a:t> Pedidos </a:t>
            </a:r>
            <a:r>
              <a:rPr b="1" lang="en-US" sz="1200" spc="-1" strike="noStrike">
                <a:solidFill>
                  <a:srgbClr val="1d4ed8"/>
                </a:solidFill>
                <a:latin typeface="Consolas"/>
                <a:ea typeface="Consolas"/>
              </a:rPr>
              <a:t>FROM</a:t>
            </a:r>
            <a:r>
              <a:rPr b="0" lang="en-US" sz="1200" spc="-1" strike="noStrike">
                <a:solidFill>
                  <a:srgbClr val="1f2933"/>
                </a:solidFill>
                <a:latin typeface="Consolas"/>
                <a:ea typeface="Consolas"/>
              </a:rPr>
              <a:t> Ventas.dbo.Pedido;</a:t>
            </a:r>
            <a:endParaRPr b="0" lang="es-ES" sz="1200" spc="-1" strike="noStrike">
              <a:latin typeface="Arial"/>
            </a:endParaRPr>
          </a:p>
        </p:txBody>
      </p:sp>
      <p:sp>
        <p:nvSpPr>
          <p:cNvPr id="1929" name="CustomShape 8"/>
          <p:cNvSpPr/>
          <p:nvPr/>
        </p:nvSpPr>
        <p:spPr>
          <a:xfrm>
            <a:off x="7863840" y="1600200"/>
            <a:ext cx="3775680" cy="2468160"/>
          </a:xfrm>
          <a:prstGeom prst="roundRect">
            <a:avLst>
              <a:gd name="adj" fmla="val 4444"/>
            </a:avLst>
          </a:prstGeom>
          <a:solidFill>
            <a:srgbClr val="e8eef5"/>
          </a:solidFill>
          <a:ln>
            <a:noFill/>
          </a:ln>
        </p:spPr>
        <p:style>
          <a:lnRef idx="0"/>
          <a:fillRef idx="0"/>
          <a:effectRef idx="0"/>
          <a:fontRef idx="minor"/>
        </p:style>
      </p:sp>
      <p:sp>
        <p:nvSpPr>
          <p:cNvPr id="1930" name="CustomShape 9"/>
          <p:cNvSpPr/>
          <p:nvPr/>
        </p:nvSpPr>
        <p:spPr>
          <a:xfrm>
            <a:off x="8092440" y="1828800"/>
            <a:ext cx="547920" cy="547920"/>
          </a:xfrm>
          <a:prstGeom prst="ellipse">
            <a:avLst/>
          </a:prstGeom>
          <a:solidFill>
            <a:srgbClr val="134074"/>
          </a:solidFill>
          <a:ln>
            <a:noFill/>
          </a:ln>
        </p:spPr>
        <p:style>
          <a:lnRef idx="0"/>
          <a:fillRef idx="0"/>
          <a:effectRef idx="0"/>
          <a:fontRef idx="minor"/>
        </p:style>
      </p:sp>
      <p:pic>
        <p:nvPicPr>
          <p:cNvPr id="1931" name="Image 0" descr="preencoded.png"/>
          <p:cNvPicPr/>
          <p:nvPr/>
        </p:nvPicPr>
        <p:blipFill>
          <a:blip r:embed="rId1"/>
          <a:stretch/>
        </p:blipFill>
        <p:spPr>
          <a:xfrm>
            <a:off x="8229600" y="1965960"/>
            <a:ext cx="273600" cy="273600"/>
          </a:xfrm>
          <a:prstGeom prst="rect">
            <a:avLst/>
          </a:prstGeom>
          <a:ln>
            <a:noFill/>
          </a:ln>
        </p:spPr>
      </p:pic>
      <p:sp>
        <p:nvSpPr>
          <p:cNvPr id="1932" name="CustomShape 10"/>
          <p:cNvSpPr/>
          <p:nvPr/>
        </p:nvSpPr>
        <p:spPr>
          <a:xfrm>
            <a:off x="8778240" y="1828800"/>
            <a:ext cx="26326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Verifica el resultado</a:t>
            </a:r>
            <a:endParaRPr b="0" lang="es-ES" sz="1700" spc="-1" strike="noStrike">
              <a:latin typeface="Arial"/>
            </a:endParaRPr>
          </a:p>
        </p:txBody>
      </p:sp>
      <p:sp>
        <p:nvSpPr>
          <p:cNvPr id="1933" name="CustomShape 11"/>
          <p:cNvSpPr/>
          <p:nvPr/>
        </p:nvSpPr>
        <p:spPr>
          <a:xfrm>
            <a:off x="8092440" y="2560320"/>
            <a:ext cx="3318480" cy="127944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COUNT(*) igual al baseline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state_desc = ONLINE</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DBCC CHECKDB sin errores</a:t>
            </a:r>
            <a:endParaRPr b="0" lang="es-ES" sz="1400" spc="-1" strike="noStrike">
              <a:latin typeface="Arial"/>
            </a:endParaRPr>
          </a:p>
        </p:txBody>
      </p:sp>
      <p:sp>
        <p:nvSpPr>
          <p:cNvPr id="1934" name="CustomShape 12"/>
          <p:cNvSpPr/>
          <p:nvPr/>
        </p:nvSpPr>
        <p:spPr>
          <a:xfrm>
            <a:off x="7863840" y="4343400"/>
            <a:ext cx="3775680" cy="1828080"/>
          </a:xfrm>
          <a:prstGeom prst="roundRect">
            <a:avLst>
              <a:gd name="adj" fmla="val 6000"/>
            </a:avLst>
          </a:prstGeom>
          <a:solidFill>
            <a:srgbClr val="fdede8"/>
          </a:solidFill>
          <a:ln>
            <a:noFill/>
          </a:ln>
        </p:spPr>
        <p:style>
          <a:lnRef idx="0"/>
          <a:fillRef idx="0"/>
          <a:effectRef idx="0"/>
          <a:fontRef idx="minor"/>
        </p:style>
      </p:sp>
      <p:sp>
        <p:nvSpPr>
          <p:cNvPr id="1935" name="CustomShape 13"/>
          <p:cNvSpPr/>
          <p:nvPr/>
        </p:nvSpPr>
        <p:spPr>
          <a:xfrm>
            <a:off x="8046720" y="5029200"/>
            <a:ext cx="456480" cy="456480"/>
          </a:xfrm>
          <a:prstGeom prst="ellipse">
            <a:avLst/>
          </a:prstGeom>
          <a:solidFill>
            <a:srgbClr val="d95d39"/>
          </a:solidFill>
          <a:ln>
            <a:noFill/>
          </a:ln>
        </p:spPr>
        <p:style>
          <a:lnRef idx="0"/>
          <a:fillRef idx="0"/>
          <a:effectRef idx="0"/>
          <a:fontRef idx="minor"/>
        </p:style>
      </p:sp>
      <p:pic>
        <p:nvPicPr>
          <p:cNvPr id="1936" name="Image 1" descr="preencoded.png"/>
          <p:cNvPicPr/>
          <p:nvPr/>
        </p:nvPicPr>
        <p:blipFill>
          <a:blip r:embed="rId2"/>
          <a:stretch/>
        </p:blipFill>
        <p:spPr>
          <a:xfrm>
            <a:off x="8161200" y="5143680"/>
            <a:ext cx="227880" cy="227880"/>
          </a:xfrm>
          <a:prstGeom prst="rect">
            <a:avLst/>
          </a:prstGeom>
          <a:ln>
            <a:noFill/>
          </a:ln>
        </p:spPr>
      </p:pic>
      <p:sp>
        <p:nvSpPr>
          <p:cNvPr id="1937" name="CustomShape 14"/>
          <p:cNvSpPr/>
          <p:nvPr/>
        </p:nvSpPr>
        <p:spPr>
          <a:xfrm>
            <a:off x="8686800" y="4343400"/>
            <a:ext cx="2769840" cy="1828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a8431f"/>
                </a:solidFill>
                <a:latin typeface="Calibri"/>
                <a:ea typeface="Calibri"/>
              </a:rPr>
              <a:t>Trampa: </a:t>
            </a:r>
            <a:r>
              <a:rPr b="0" lang="en-US" sz="1400" spc="-1" strike="noStrike">
                <a:solidFill>
                  <a:srgbClr val="1f2933"/>
                </a:solidFill>
                <a:latin typeface="Calibri"/>
                <a:ea typeface="Calibri"/>
              </a:rPr>
              <a:t>STOPAT va en HoraOK, antes del DELETE, y sin NORECOVERY en el último paso.</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38" name="CustomShape 1"/>
          <p:cNvSpPr/>
          <p:nvPr/>
        </p:nvSpPr>
        <p:spPr>
          <a:xfrm>
            <a:off x="548640" y="365760"/>
            <a:ext cx="3497040" cy="273600"/>
          </a:xfrm>
          <a:prstGeom prst="roundRect">
            <a:avLst>
              <a:gd name="adj" fmla="val 50000"/>
            </a:avLst>
          </a:prstGeom>
          <a:solidFill>
            <a:srgbClr val="d95d39"/>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LABORATORIO · CASO INTEGRADOR FINAL</a:t>
            </a:r>
            <a:endParaRPr b="0" lang="es-ES" sz="1000" spc="-1" strike="noStrike">
              <a:latin typeface="Arial"/>
            </a:endParaRPr>
          </a:p>
        </p:txBody>
      </p:sp>
      <p:sp>
        <p:nvSpPr>
          <p:cNvPr id="1939"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Caso práctico integrador final</a:t>
            </a:r>
            <a:endParaRPr b="0" lang="es-ES" sz="3400" spc="-1" strike="noStrike">
              <a:latin typeface="Arial"/>
            </a:endParaRPr>
          </a:p>
        </p:txBody>
      </p:sp>
      <p:sp>
        <p:nvSpPr>
          <p:cNvPr id="1940"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41"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80</a:t>
            </a:r>
            <a:endParaRPr b="0" lang="es-ES" sz="1000" spc="-1" strike="noStrike">
              <a:latin typeface="Arial"/>
            </a:endParaRPr>
          </a:p>
        </p:txBody>
      </p:sp>
      <p:sp>
        <p:nvSpPr>
          <p:cNvPr id="1942" name="CustomShape 5"/>
          <p:cNvSpPr/>
          <p:nvPr/>
        </p:nvSpPr>
        <p:spPr>
          <a:xfrm>
            <a:off x="54864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3" name="CustomShape 6"/>
          <p:cNvSpPr/>
          <p:nvPr/>
        </p:nvSpPr>
        <p:spPr>
          <a:xfrm>
            <a:off x="73152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15 min</a:t>
            </a:r>
            <a:endParaRPr b="0" lang="es-ES" sz="4000" spc="-1" strike="noStrike">
              <a:latin typeface="Arial"/>
            </a:endParaRPr>
          </a:p>
        </p:txBody>
      </p:sp>
      <p:sp>
        <p:nvSpPr>
          <p:cNvPr id="1944" name="CustomShape 7"/>
          <p:cNvSpPr/>
          <p:nvPr/>
        </p:nvSpPr>
        <p:spPr>
          <a:xfrm>
            <a:off x="73152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RPO: log backup cada 15 minutos</a:t>
            </a:r>
            <a:endParaRPr b="0" lang="es-ES" sz="1300" spc="-1" strike="noStrike">
              <a:latin typeface="Arial"/>
            </a:endParaRPr>
          </a:p>
        </p:txBody>
      </p:sp>
      <p:sp>
        <p:nvSpPr>
          <p:cNvPr id="1945" name="CustomShape 8"/>
          <p:cNvSpPr/>
          <p:nvPr/>
        </p:nvSpPr>
        <p:spPr>
          <a:xfrm>
            <a:off x="3392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6" name="CustomShape 9"/>
          <p:cNvSpPr/>
          <p:nvPr/>
        </p:nvSpPr>
        <p:spPr>
          <a:xfrm>
            <a:off x="3575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60 min</a:t>
            </a:r>
            <a:endParaRPr b="0" lang="es-ES" sz="4000" spc="-1" strike="noStrike">
              <a:latin typeface="Arial"/>
            </a:endParaRPr>
          </a:p>
        </p:txBody>
      </p:sp>
      <p:sp>
        <p:nvSpPr>
          <p:cNvPr id="1947" name="CustomShape 10"/>
          <p:cNvSpPr/>
          <p:nvPr/>
        </p:nvSpPr>
        <p:spPr>
          <a:xfrm>
            <a:off x="3575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RTO: restaurar y validar en una hora</a:t>
            </a:r>
            <a:endParaRPr b="0" lang="es-ES" sz="1300" spc="-1" strike="noStrike">
              <a:latin typeface="Arial"/>
            </a:endParaRPr>
          </a:p>
        </p:txBody>
      </p:sp>
      <p:sp>
        <p:nvSpPr>
          <p:cNvPr id="1948" name="CustomShape 11"/>
          <p:cNvSpPr/>
          <p:nvPr/>
        </p:nvSpPr>
        <p:spPr>
          <a:xfrm>
            <a:off x="623628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49" name="CustomShape 12"/>
          <p:cNvSpPr/>
          <p:nvPr/>
        </p:nvSpPr>
        <p:spPr>
          <a:xfrm>
            <a:off x="641916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3 roles</a:t>
            </a:r>
            <a:endParaRPr b="0" lang="es-ES" sz="4000" spc="-1" strike="noStrike">
              <a:latin typeface="Arial"/>
            </a:endParaRPr>
          </a:p>
        </p:txBody>
      </p:sp>
      <p:sp>
        <p:nvSpPr>
          <p:cNvPr id="1950" name="CustomShape 13"/>
          <p:cNvSpPr/>
          <p:nvPr/>
        </p:nvSpPr>
        <p:spPr>
          <a:xfrm>
            <a:off x="641916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Mínimo privilegio: app, informes, DBA</a:t>
            </a:r>
            <a:endParaRPr b="0" lang="es-ES" sz="1300" spc="-1" strike="noStrike">
              <a:latin typeface="Arial"/>
            </a:endParaRPr>
          </a:p>
        </p:txBody>
      </p:sp>
      <p:sp>
        <p:nvSpPr>
          <p:cNvPr id="1951" name="CustomShape 14"/>
          <p:cNvSpPr/>
          <p:nvPr/>
        </p:nvSpPr>
        <p:spPr>
          <a:xfrm>
            <a:off x="9079920" y="1600200"/>
            <a:ext cx="2568600" cy="1325160"/>
          </a:xfrm>
          <a:prstGeom prst="roundRect">
            <a:avLst>
              <a:gd name="adj" fmla="val 8276"/>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2" name="CustomShape 15"/>
          <p:cNvSpPr/>
          <p:nvPr/>
        </p:nvSpPr>
        <p:spPr>
          <a:xfrm>
            <a:off x="9262800" y="1737360"/>
            <a:ext cx="2202840" cy="662400"/>
          </a:xfrm>
          <a:prstGeom prst="rect">
            <a:avLst/>
          </a:prstGeom>
          <a:noFill/>
          <a:ln>
            <a:noFill/>
          </a:ln>
        </p:spPr>
        <p:style>
          <a:lnRef idx="0"/>
          <a:fillRef idx="0"/>
          <a:effectRef idx="0"/>
          <a:fontRef idx="minor"/>
        </p:style>
        <p:txBody>
          <a:bodyPr lIns="0" rIns="0" tIns="0" bIns="0" anchor="ctr">
            <a:noAutofit/>
          </a:bodyPr>
          <a:p>
            <a:pPr algn="ctr">
              <a:lnSpc>
                <a:spcPct val="100000"/>
              </a:lnSpc>
              <a:tabLst>
                <a:tab algn="l" pos="0"/>
              </a:tabLst>
            </a:pPr>
            <a:r>
              <a:rPr b="1" lang="en-US" sz="4000" spc="-1" strike="noStrike">
                <a:solidFill>
                  <a:srgbClr val="d95d39"/>
                </a:solidFill>
                <a:latin typeface="Calibri"/>
                <a:ea typeface="Calibri"/>
              </a:rPr>
              <a:t>1 / sem</a:t>
            </a:r>
            <a:endParaRPr b="0" lang="es-ES" sz="4000" spc="-1" strike="noStrike">
              <a:latin typeface="Arial"/>
            </a:endParaRPr>
          </a:p>
        </p:txBody>
      </p:sp>
      <p:sp>
        <p:nvSpPr>
          <p:cNvPr id="1953" name="CustomShape 16"/>
          <p:cNvSpPr/>
          <p:nvPr/>
        </p:nvSpPr>
        <p:spPr>
          <a:xfrm>
            <a:off x="9262800" y="2329560"/>
            <a:ext cx="2202840" cy="529560"/>
          </a:xfrm>
          <a:prstGeom prst="rect">
            <a:avLst/>
          </a:prstGeom>
          <a:noFill/>
          <a:ln>
            <a:noFill/>
          </a:ln>
        </p:spPr>
        <p:style>
          <a:lnRef idx="0"/>
          <a:fillRef idx="0"/>
          <a:effectRef idx="0"/>
          <a:fontRef idx="minor"/>
        </p:style>
        <p:txBody>
          <a:bodyPr lIns="0" rIns="0" tIns="0" bIns="0">
            <a:noAutofit/>
          </a:bodyPr>
          <a:p>
            <a:pPr algn="ctr">
              <a:lnSpc>
                <a:spcPct val="100000"/>
              </a:lnSpc>
              <a:tabLst>
                <a:tab algn="l" pos="0"/>
              </a:tabLst>
            </a:pPr>
            <a:r>
              <a:rPr b="0" lang="en-US" sz="1300" spc="-1" strike="noStrike">
                <a:solidFill>
                  <a:srgbClr val="5c6b7a"/>
                </a:solidFill>
                <a:latin typeface="Calibri"/>
                <a:ea typeface="Calibri"/>
              </a:rPr>
              <a:t>DBCC CHECKDB semanal con alerta</a:t>
            </a:r>
            <a:endParaRPr b="0" lang="es-ES" sz="1300" spc="-1" strike="noStrike">
              <a:latin typeface="Arial"/>
            </a:endParaRPr>
          </a:p>
        </p:txBody>
      </p:sp>
      <p:sp>
        <p:nvSpPr>
          <p:cNvPr id="1954" name="CustomShape 17"/>
          <p:cNvSpPr/>
          <p:nvPr/>
        </p:nvSpPr>
        <p:spPr>
          <a:xfrm>
            <a:off x="548640" y="3200400"/>
            <a:ext cx="6400080" cy="2971080"/>
          </a:xfrm>
          <a:prstGeom prst="roundRect">
            <a:avLst>
              <a:gd name="adj" fmla="val 3692"/>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55" name="CustomShape 18"/>
          <p:cNvSpPr/>
          <p:nvPr/>
        </p:nvSpPr>
        <p:spPr>
          <a:xfrm>
            <a:off x="777240" y="3429000"/>
            <a:ext cx="547920" cy="547920"/>
          </a:xfrm>
          <a:prstGeom prst="ellipse">
            <a:avLst/>
          </a:prstGeom>
          <a:solidFill>
            <a:srgbClr val="134074"/>
          </a:solidFill>
          <a:ln>
            <a:noFill/>
          </a:ln>
        </p:spPr>
        <p:style>
          <a:lnRef idx="0"/>
          <a:fillRef idx="0"/>
          <a:effectRef idx="0"/>
          <a:fontRef idx="minor"/>
        </p:style>
      </p:sp>
      <p:pic>
        <p:nvPicPr>
          <p:cNvPr id="1956" name="Image 0" descr="preencoded.png"/>
          <p:cNvPicPr/>
          <p:nvPr/>
        </p:nvPicPr>
        <p:blipFill>
          <a:blip r:embed="rId1"/>
          <a:stretch/>
        </p:blipFill>
        <p:spPr>
          <a:xfrm>
            <a:off x="914400" y="3566160"/>
            <a:ext cx="273600" cy="273600"/>
          </a:xfrm>
          <a:prstGeom prst="rect">
            <a:avLst/>
          </a:prstGeom>
          <a:ln>
            <a:noFill/>
          </a:ln>
        </p:spPr>
      </p:pic>
      <p:sp>
        <p:nvSpPr>
          <p:cNvPr id="1957" name="CustomShape 19"/>
          <p:cNvSpPr/>
          <p:nvPr/>
        </p:nvSpPr>
        <p:spPr>
          <a:xfrm>
            <a:off x="1463040" y="3429000"/>
            <a:ext cx="525708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Requisitos de Ventas S.A.</a:t>
            </a:r>
            <a:endParaRPr b="0" lang="es-ES" sz="1700" spc="-1" strike="noStrike">
              <a:latin typeface="Arial"/>
            </a:endParaRPr>
          </a:p>
        </p:txBody>
      </p:sp>
      <p:sp>
        <p:nvSpPr>
          <p:cNvPr id="1958" name="CustomShape 20"/>
          <p:cNvSpPr/>
          <p:nvPr/>
        </p:nvSpPr>
        <p:spPr>
          <a:xfrm>
            <a:off x="777240" y="4160520"/>
            <a:ext cx="594288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Seguridad: </a:t>
            </a:r>
            <a:r>
              <a:rPr b="0" lang="en-US" sz="1400" spc="-1" strike="noStrike">
                <a:solidFill>
                  <a:srgbClr val="1f2933"/>
                </a:solidFill>
                <a:latin typeface="Calibri"/>
                <a:ea typeface="Calibri"/>
              </a:rPr>
              <a:t>logins y roles sin sysadmin.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Índices: </a:t>
            </a:r>
            <a:r>
              <a:rPr b="0" lang="en-US" sz="1400" spc="-1" strike="noStrike">
                <a:solidFill>
                  <a:srgbClr val="1f2933"/>
                </a:solidFill>
                <a:latin typeface="Calibri"/>
                <a:ea typeface="Calibri"/>
              </a:rPr>
              <a:t>2 justificados con su plan.</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Backups: </a:t>
            </a:r>
            <a:r>
              <a:rPr b="0" lang="en-US" sz="1400" spc="-1" strike="noStrike">
                <a:solidFill>
                  <a:srgbClr val="1f2933"/>
                </a:solidFill>
                <a:latin typeface="Calibri"/>
                <a:ea typeface="Calibri"/>
              </a:rPr>
              <a:t>Full, Diff y Log; prueba de restore.</a:t>
            </a:r>
            <a:endParaRPr b="0" lang="es-ES" sz="1400" spc="-1" strike="noStrike">
              <a:latin typeface="Arial"/>
            </a:endParaRPr>
          </a:p>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Mantenimiento: </a:t>
            </a:r>
            <a:r>
              <a:rPr b="0" lang="en-US" sz="1400" spc="-1" strike="noStrike">
                <a:solidFill>
                  <a:srgbClr val="1f2933"/>
                </a:solidFill>
                <a:latin typeface="Calibri"/>
                <a:ea typeface="Calibri"/>
              </a:rPr>
              <a:t>jobs, CHECKDB y alertas.</a:t>
            </a:r>
            <a:endParaRPr b="0" lang="es-ES" sz="1400" spc="-1" strike="noStrike">
              <a:latin typeface="Arial"/>
            </a:endParaRPr>
          </a:p>
        </p:txBody>
      </p:sp>
      <p:sp>
        <p:nvSpPr>
          <p:cNvPr id="1959" name="CustomShape 21"/>
          <p:cNvSpPr/>
          <p:nvPr/>
        </p:nvSpPr>
        <p:spPr>
          <a:xfrm>
            <a:off x="7223760" y="3200400"/>
            <a:ext cx="4415760" cy="2971080"/>
          </a:xfrm>
          <a:prstGeom prst="roundRect">
            <a:avLst>
              <a:gd name="adj" fmla="val 3692"/>
            </a:avLst>
          </a:prstGeom>
          <a:solidFill>
            <a:srgbClr val="e8eef5"/>
          </a:solidFill>
          <a:ln>
            <a:noFill/>
          </a:ln>
        </p:spPr>
        <p:style>
          <a:lnRef idx="0"/>
          <a:fillRef idx="0"/>
          <a:effectRef idx="0"/>
          <a:fontRef idx="minor"/>
        </p:style>
      </p:sp>
      <p:sp>
        <p:nvSpPr>
          <p:cNvPr id="1960" name="CustomShape 22"/>
          <p:cNvSpPr/>
          <p:nvPr/>
        </p:nvSpPr>
        <p:spPr>
          <a:xfrm>
            <a:off x="7452360" y="3429000"/>
            <a:ext cx="547920" cy="547920"/>
          </a:xfrm>
          <a:prstGeom prst="ellipse">
            <a:avLst/>
          </a:prstGeom>
          <a:solidFill>
            <a:srgbClr val="134074"/>
          </a:solidFill>
          <a:ln>
            <a:noFill/>
          </a:ln>
        </p:spPr>
        <p:style>
          <a:lnRef idx="0"/>
          <a:fillRef idx="0"/>
          <a:effectRef idx="0"/>
          <a:fontRef idx="minor"/>
        </p:style>
      </p:sp>
      <p:pic>
        <p:nvPicPr>
          <p:cNvPr id="1961" name="Image 1" descr="preencoded.png"/>
          <p:cNvPicPr/>
          <p:nvPr/>
        </p:nvPicPr>
        <p:blipFill>
          <a:blip r:embed="rId2"/>
          <a:stretch/>
        </p:blipFill>
        <p:spPr>
          <a:xfrm>
            <a:off x="7589520" y="3566160"/>
            <a:ext cx="273600" cy="273600"/>
          </a:xfrm>
          <a:prstGeom prst="rect">
            <a:avLst/>
          </a:prstGeom>
          <a:ln>
            <a:noFill/>
          </a:ln>
        </p:spPr>
      </p:pic>
      <p:sp>
        <p:nvSpPr>
          <p:cNvPr id="1962" name="CustomShape 23"/>
          <p:cNvSpPr/>
          <p:nvPr/>
        </p:nvSpPr>
        <p:spPr>
          <a:xfrm>
            <a:off x="8138160" y="3429000"/>
            <a:ext cx="3272760" cy="54792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0b2545"/>
                </a:solidFill>
                <a:latin typeface="Calibri"/>
                <a:ea typeface="Calibri"/>
              </a:rPr>
              <a:t>Evaluación y entregables</a:t>
            </a:r>
            <a:endParaRPr b="0" lang="es-ES" sz="1700" spc="-1" strike="noStrike">
              <a:latin typeface="Arial"/>
            </a:endParaRPr>
          </a:p>
        </p:txBody>
      </p:sp>
      <p:sp>
        <p:nvSpPr>
          <p:cNvPr id="1963" name="CustomShape 24"/>
          <p:cNvSpPr/>
          <p:nvPr/>
        </p:nvSpPr>
        <p:spPr>
          <a:xfrm>
            <a:off x="7452360" y="4160520"/>
            <a:ext cx="3958560" cy="1782360"/>
          </a:xfrm>
          <a:prstGeom prst="rect">
            <a:avLst/>
          </a:prstGeom>
          <a:noFill/>
          <a:ln>
            <a:noFill/>
          </a:ln>
        </p:spPr>
        <p:style>
          <a:lnRef idx="0"/>
          <a:fillRef idx="0"/>
          <a:effectRef idx="0"/>
          <a:fontRef idx="minor"/>
        </p:style>
        <p:txBody>
          <a:bodyPr lIns="0" rIns="0" tIns="0" bIns="0">
            <a:noAutofit/>
          </a:bodyPr>
          <a:p>
            <a:pPr marL="203040" indent="-202320">
              <a:lnSpc>
                <a:spcPct val="100000"/>
              </a:lnSpc>
              <a:spcAft>
                <a:spcPts val="400"/>
              </a:spcAft>
              <a:buClr>
                <a:srgbClr val="0b2545"/>
              </a:buClr>
              <a:buFont typeface="Symbol"/>
              <a:buChar char=""/>
            </a:pPr>
            <a:r>
              <a:rPr b="1" lang="en-US" sz="1400" spc="-1" strike="noStrike">
                <a:solidFill>
                  <a:srgbClr val="0b2545"/>
                </a:solidFill>
                <a:latin typeface="Calibri"/>
                <a:ea typeface="Calibri"/>
              </a:rPr>
              <a:t>Peso: </a:t>
            </a:r>
            <a:r>
              <a:rPr b="0" lang="en-US" sz="1400" spc="-1" strike="noStrike">
                <a:solidFill>
                  <a:srgbClr val="1f2933"/>
                </a:solidFill>
                <a:latin typeface="Calibri"/>
                <a:ea typeface="Calibri"/>
              </a:rPr>
              <a:t>25 · 25 · 30 · 20 %.</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Script T-SQL comentado.</a:t>
            </a:r>
            <a:endParaRPr b="0" lang="es-ES" sz="1400" spc="-1" strike="noStrike">
              <a:latin typeface="Arial"/>
            </a:endParaRPr>
          </a:p>
          <a:p>
            <a:pPr marL="203040" indent="-202320">
              <a:lnSpc>
                <a:spcPct val="100000"/>
              </a:lnSpc>
              <a:spcAft>
                <a:spcPts val="400"/>
              </a:spcAft>
              <a:buClr>
                <a:srgbClr val="1f2933"/>
              </a:buClr>
              <a:buFont typeface="Symbol"/>
              <a:buChar char=""/>
            </a:pPr>
            <a:r>
              <a:rPr b="0" lang="en-US" sz="1400" spc="-1" strike="noStrike">
                <a:solidFill>
                  <a:srgbClr val="1f2933"/>
                </a:solidFill>
                <a:latin typeface="Calibri"/>
                <a:ea typeface="Calibri"/>
              </a:rPr>
              <a:t>Informe con RPO y 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a"/>
        </a:solidFill>
      </p:bgPr>
    </p:bg>
    <p:spTree>
      <p:nvGrpSpPr>
        <p:cNvPr id="1" name=""/>
        <p:cNvGrpSpPr/>
        <p:nvPr/>
      </p:nvGrpSpPr>
      <p:grpSpPr>
        <a:xfrm>
          <a:off x="0" y="0"/>
          <a:ext cx="0" cy="0"/>
          <a:chOff x="0" y="0"/>
          <a:chExt cx="0" cy="0"/>
        </a:xfrm>
      </p:grpSpPr>
      <p:sp>
        <p:nvSpPr>
          <p:cNvPr id="1964" name="CustomShape 1"/>
          <p:cNvSpPr/>
          <p:nvPr/>
        </p:nvSpPr>
        <p:spPr>
          <a:xfrm>
            <a:off x="548640" y="365760"/>
            <a:ext cx="1462320" cy="273600"/>
          </a:xfrm>
          <a:prstGeom prst="roundRect">
            <a:avLst>
              <a:gd name="adj" fmla="val 50000"/>
            </a:avLst>
          </a:prstGeom>
          <a:solidFill>
            <a:srgbClr val="134074"/>
          </a:solidFill>
          <a:ln>
            <a:noFill/>
          </a:ln>
        </p:spPr>
        <p:style>
          <a:lnRef idx="0"/>
          <a:fillRef idx="0"/>
          <a:effectRef idx="0"/>
          <a:fontRef idx="minor"/>
        </p:style>
        <p:txBody>
          <a:bodyPr lIns="0" rIns="0" tIns="0" bIns="0" anchor="ctr">
            <a:noAutofit/>
          </a:bodyPr>
          <a:p>
            <a:pPr algn="ctr">
              <a:lnSpc>
                <a:spcPct val="100000"/>
              </a:lnSpc>
              <a:tabLst>
                <a:tab algn="l" pos="0"/>
              </a:tabLst>
            </a:pPr>
            <a:r>
              <a:rPr b="1" lang="en-US" sz="1000" spc="94" strike="noStrike">
                <a:solidFill>
                  <a:srgbClr val="ffffff"/>
                </a:solidFill>
                <a:latin typeface="Calibri"/>
                <a:ea typeface="Calibri"/>
              </a:rPr>
              <a:t>RESUMEN</a:t>
            </a:r>
            <a:endParaRPr b="0" lang="es-ES" sz="1000" spc="-1" strike="noStrike">
              <a:latin typeface="Arial"/>
            </a:endParaRPr>
          </a:p>
        </p:txBody>
      </p:sp>
      <p:sp>
        <p:nvSpPr>
          <p:cNvPr id="1965" name="CustomShape 2"/>
          <p:cNvSpPr/>
          <p:nvPr/>
        </p:nvSpPr>
        <p:spPr>
          <a:xfrm>
            <a:off x="548640" y="731520"/>
            <a:ext cx="11093760" cy="6850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0b2545"/>
                </a:solidFill>
                <a:latin typeface="Calibri"/>
                <a:ea typeface="Calibri"/>
              </a:rPr>
              <a:t>Checklist de buenas prácticas del DBA</a:t>
            </a:r>
            <a:endParaRPr b="0" lang="es-ES" sz="3400" spc="-1" strike="noStrike">
              <a:latin typeface="Arial"/>
            </a:endParaRPr>
          </a:p>
        </p:txBody>
      </p:sp>
      <p:sp>
        <p:nvSpPr>
          <p:cNvPr id="1966" name="CustomShape 3"/>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5c6b7a"/>
                </a:solidFill>
                <a:latin typeface="Calibri"/>
                <a:ea typeface="Calibri"/>
              </a:rPr>
              <a:t>Curso de Administración de SQL Server · 20 h</a:t>
            </a:r>
            <a:endParaRPr b="0" lang="es-ES" sz="1000" spc="-1" strike="noStrike">
              <a:latin typeface="Arial"/>
            </a:endParaRPr>
          </a:p>
        </p:txBody>
      </p:sp>
      <p:sp>
        <p:nvSpPr>
          <p:cNvPr id="1967" name="CustomShape 4"/>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5c6b7a"/>
                </a:solidFill>
                <a:latin typeface="Calibri"/>
                <a:ea typeface="Calibri"/>
              </a:rPr>
              <a:t>Módulo 4   81</a:t>
            </a:r>
            <a:endParaRPr b="0" lang="es-ES" sz="1000" spc="-1" strike="noStrike">
              <a:latin typeface="Arial"/>
            </a:endParaRPr>
          </a:p>
        </p:txBody>
      </p:sp>
      <p:sp>
        <p:nvSpPr>
          <p:cNvPr id="1968" name="CustomShape 5"/>
          <p:cNvSpPr/>
          <p:nvPr/>
        </p:nvSpPr>
        <p:spPr>
          <a:xfrm>
            <a:off x="54864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69" name="CustomShape 6"/>
          <p:cNvSpPr/>
          <p:nvPr/>
        </p:nvSpPr>
        <p:spPr>
          <a:xfrm>
            <a:off x="731520" y="1771560"/>
            <a:ext cx="547920" cy="547920"/>
          </a:xfrm>
          <a:prstGeom prst="ellipse">
            <a:avLst/>
          </a:prstGeom>
          <a:solidFill>
            <a:srgbClr val="134074"/>
          </a:solidFill>
          <a:ln>
            <a:noFill/>
          </a:ln>
        </p:spPr>
        <p:style>
          <a:lnRef idx="0"/>
          <a:fillRef idx="0"/>
          <a:effectRef idx="0"/>
          <a:fontRef idx="minor"/>
        </p:style>
      </p:sp>
      <p:pic>
        <p:nvPicPr>
          <p:cNvPr id="1970" name="Image 0" descr="preencoded.png"/>
          <p:cNvPicPr/>
          <p:nvPr/>
        </p:nvPicPr>
        <p:blipFill>
          <a:blip r:embed="rId1"/>
          <a:stretch/>
        </p:blipFill>
        <p:spPr>
          <a:xfrm>
            <a:off x="868680" y="1908720"/>
            <a:ext cx="273600" cy="273600"/>
          </a:xfrm>
          <a:prstGeom prst="rect">
            <a:avLst/>
          </a:prstGeom>
          <a:ln>
            <a:noFill/>
          </a:ln>
        </p:spPr>
      </p:pic>
      <p:sp>
        <p:nvSpPr>
          <p:cNvPr id="1971" name="CustomShape 7"/>
          <p:cNvSpPr/>
          <p:nvPr/>
        </p:nvSpPr>
        <p:spPr>
          <a:xfrm>
            <a:off x="146304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Backups probados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Full + Diff + Log con CHECKSUM, copia externa y restore mensual.</a:t>
            </a:r>
            <a:endParaRPr b="0" lang="es-ES" sz="1400" spc="-1" strike="noStrike">
              <a:latin typeface="Arial"/>
            </a:endParaRPr>
          </a:p>
        </p:txBody>
      </p:sp>
      <p:sp>
        <p:nvSpPr>
          <p:cNvPr id="1972" name="CustomShape 8"/>
          <p:cNvSpPr/>
          <p:nvPr/>
        </p:nvSpPr>
        <p:spPr>
          <a:xfrm>
            <a:off x="6231600" y="160020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3" name="CustomShape 9"/>
          <p:cNvSpPr/>
          <p:nvPr/>
        </p:nvSpPr>
        <p:spPr>
          <a:xfrm>
            <a:off x="6414480" y="1771560"/>
            <a:ext cx="547920" cy="547920"/>
          </a:xfrm>
          <a:prstGeom prst="ellipse">
            <a:avLst/>
          </a:prstGeom>
          <a:solidFill>
            <a:srgbClr val="134074"/>
          </a:solidFill>
          <a:ln>
            <a:noFill/>
          </a:ln>
        </p:spPr>
        <p:style>
          <a:lnRef idx="0"/>
          <a:fillRef idx="0"/>
          <a:effectRef idx="0"/>
          <a:fontRef idx="minor"/>
        </p:style>
      </p:sp>
      <p:pic>
        <p:nvPicPr>
          <p:cNvPr id="1974" name="Image 1" descr="preencoded.png"/>
          <p:cNvPicPr/>
          <p:nvPr/>
        </p:nvPicPr>
        <p:blipFill>
          <a:blip r:embed="rId2"/>
          <a:stretch/>
        </p:blipFill>
        <p:spPr>
          <a:xfrm>
            <a:off x="6551640" y="1908720"/>
            <a:ext cx="273600" cy="273600"/>
          </a:xfrm>
          <a:prstGeom prst="rect">
            <a:avLst/>
          </a:prstGeom>
          <a:ln>
            <a:noFill/>
          </a:ln>
        </p:spPr>
      </p:pic>
      <p:sp>
        <p:nvSpPr>
          <p:cNvPr id="1975" name="CustomShape 10"/>
          <p:cNvSpPr/>
          <p:nvPr/>
        </p:nvSpPr>
        <p:spPr>
          <a:xfrm>
            <a:off x="7146000" y="160020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Recovery Full en producción</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Log backups cada 15 min según el RPO.</a:t>
            </a:r>
            <a:endParaRPr b="0" lang="es-ES" sz="1400" spc="-1" strike="noStrike">
              <a:latin typeface="Arial"/>
            </a:endParaRPr>
          </a:p>
        </p:txBody>
      </p:sp>
      <p:sp>
        <p:nvSpPr>
          <p:cNvPr id="1976" name="CustomShape 11"/>
          <p:cNvSpPr/>
          <p:nvPr/>
        </p:nvSpPr>
        <p:spPr>
          <a:xfrm>
            <a:off x="54864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77" name="CustomShape 12"/>
          <p:cNvSpPr/>
          <p:nvPr/>
        </p:nvSpPr>
        <p:spPr>
          <a:xfrm>
            <a:off x="731520" y="2937600"/>
            <a:ext cx="547920" cy="547920"/>
          </a:xfrm>
          <a:prstGeom prst="ellipse">
            <a:avLst/>
          </a:prstGeom>
          <a:solidFill>
            <a:srgbClr val="134074"/>
          </a:solidFill>
          <a:ln>
            <a:noFill/>
          </a:ln>
        </p:spPr>
        <p:style>
          <a:lnRef idx="0"/>
          <a:fillRef idx="0"/>
          <a:effectRef idx="0"/>
          <a:fontRef idx="minor"/>
        </p:style>
      </p:sp>
      <p:pic>
        <p:nvPicPr>
          <p:cNvPr id="1978" name="Image 2" descr="preencoded.png"/>
          <p:cNvPicPr/>
          <p:nvPr/>
        </p:nvPicPr>
        <p:blipFill>
          <a:blip r:embed="rId3"/>
          <a:stretch/>
        </p:blipFill>
        <p:spPr>
          <a:xfrm>
            <a:off x="868680" y="3074760"/>
            <a:ext cx="273600" cy="273600"/>
          </a:xfrm>
          <a:prstGeom prst="rect">
            <a:avLst/>
          </a:prstGeom>
          <a:ln>
            <a:noFill/>
          </a:ln>
        </p:spPr>
      </p:pic>
      <p:sp>
        <p:nvSpPr>
          <p:cNvPr id="1979" name="CustomShape 13"/>
          <p:cNvSpPr/>
          <p:nvPr/>
        </p:nvSpPr>
        <p:spPr>
          <a:xfrm>
            <a:off x="146304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Integridad vigilada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PAGE_VERIFY CHECKSUM y CHECKDB semanal.</a:t>
            </a:r>
            <a:endParaRPr b="0" lang="es-ES" sz="1400" spc="-1" strike="noStrike">
              <a:latin typeface="Arial"/>
            </a:endParaRPr>
          </a:p>
        </p:txBody>
      </p:sp>
      <p:sp>
        <p:nvSpPr>
          <p:cNvPr id="1980" name="CustomShape 14"/>
          <p:cNvSpPr/>
          <p:nvPr/>
        </p:nvSpPr>
        <p:spPr>
          <a:xfrm>
            <a:off x="6231600" y="276624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1" name="CustomShape 15"/>
          <p:cNvSpPr/>
          <p:nvPr/>
        </p:nvSpPr>
        <p:spPr>
          <a:xfrm>
            <a:off x="6414480" y="2937600"/>
            <a:ext cx="547920" cy="547920"/>
          </a:xfrm>
          <a:prstGeom prst="ellipse">
            <a:avLst/>
          </a:prstGeom>
          <a:solidFill>
            <a:srgbClr val="134074"/>
          </a:solidFill>
          <a:ln>
            <a:noFill/>
          </a:ln>
        </p:spPr>
        <p:style>
          <a:lnRef idx="0"/>
          <a:fillRef idx="0"/>
          <a:effectRef idx="0"/>
          <a:fontRef idx="minor"/>
        </p:style>
      </p:sp>
      <p:pic>
        <p:nvPicPr>
          <p:cNvPr id="1982" name="Image 3" descr="preencoded.png"/>
          <p:cNvPicPr/>
          <p:nvPr/>
        </p:nvPicPr>
        <p:blipFill>
          <a:blip r:embed="rId4"/>
          <a:stretch/>
        </p:blipFill>
        <p:spPr>
          <a:xfrm>
            <a:off x="6551640" y="3074760"/>
            <a:ext cx="273600" cy="273600"/>
          </a:xfrm>
          <a:prstGeom prst="rect">
            <a:avLst/>
          </a:prstGeom>
          <a:ln>
            <a:noFill/>
          </a:ln>
        </p:spPr>
      </p:pic>
      <p:sp>
        <p:nvSpPr>
          <p:cNvPr id="1983" name="CustomShape 16"/>
          <p:cNvSpPr/>
          <p:nvPr/>
        </p:nvSpPr>
        <p:spPr>
          <a:xfrm>
            <a:off x="7146000" y="276624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Mantenimiento por umbrales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Índices y estadísticas con scripts, no a ciegas.</a:t>
            </a:r>
            <a:endParaRPr b="0" lang="es-ES" sz="1400" spc="-1" strike="noStrike">
              <a:latin typeface="Arial"/>
            </a:endParaRPr>
          </a:p>
        </p:txBody>
      </p:sp>
      <p:sp>
        <p:nvSpPr>
          <p:cNvPr id="1984" name="CustomShape 17"/>
          <p:cNvSpPr/>
          <p:nvPr/>
        </p:nvSpPr>
        <p:spPr>
          <a:xfrm>
            <a:off x="54864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5" name="CustomShape 18"/>
          <p:cNvSpPr/>
          <p:nvPr/>
        </p:nvSpPr>
        <p:spPr>
          <a:xfrm>
            <a:off x="731520" y="4103280"/>
            <a:ext cx="547920" cy="547920"/>
          </a:xfrm>
          <a:prstGeom prst="ellipse">
            <a:avLst/>
          </a:prstGeom>
          <a:solidFill>
            <a:srgbClr val="134074"/>
          </a:solidFill>
          <a:ln>
            <a:noFill/>
          </a:ln>
        </p:spPr>
        <p:style>
          <a:lnRef idx="0"/>
          <a:fillRef idx="0"/>
          <a:effectRef idx="0"/>
          <a:fontRef idx="minor"/>
        </p:style>
      </p:sp>
      <p:pic>
        <p:nvPicPr>
          <p:cNvPr id="1986" name="Image 4" descr="preencoded.png"/>
          <p:cNvPicPr/>
          <p:nvPr/>
        </p:nvPicPr>
        <p:blipFill>
          <a:blip r:embed="rId5"/>
          <a:stretch/>
        </p:blipFill>
        <p:spPr>
          <a:xfrm>
            <a:off x="868680" y="4240440"/>
            <a:ext cx="273600" cy="273600"/>
          </a:xfrm>
          <a:prstGeom prst="rect">
            <a:avLst/>
          </a:prstGeom>
          <a:ln>
            <a:noFill/>
          </a:ln>
        </p:spPr>
      </p:pic>
      <p:sp>
        <p:nvSpPr>
          <p:cNvPr id="1987" name="CustomShape 19"/>
          <p:cNvSpPr/>
          <p:nvPr/>
        </p:nvSpPr>
        <p:spPr>
          <a:xfrm>
            <a:off x="146304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Capacidad controlada</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Autogrowth fijo, tempdb igual y espacio monitorizado.</a:t>
            </a:r>
            <a:endParaRPr b="0" lang="es-ES" sz="1400" spc="-1" strike="noStrike">
              <a:latin typeface="Arial"/>
            </a:endParaRPr>
          </a:p>
        </p:txBody>
      </p:sp>
      <p:sp>
        <p:nvSpPr>
          <p:cNvPr id="1988" name="CustomShape 20"/>
          <p:cNvSpPr/>
          <p:nvPr/>
        </p:nvSpPr>
        <p:spPr>
          <a:xfrm>
            <a:off x="6231600" y="393192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89" name="CustomShape 21"/>
          <p:cNvSpPr/>
          <p:nvPr/>
        </p:nvSpPr>
        <p:spPr>
          <a:xfrm>
            <a:off x="6414480" y="4103280"/>
            <a:ext cx="547920" cy="547920"/>
          </a:xfrm>
          <a:prstGeom prst="ellipse">
            <a:avLst/>
          </a:prstGeom>
          <a:solidFill>
            <a:srgbClr val="134074"/>
          </a:solidFill>
          <a:ln>
            <a:noFill/>
          </a:ln>
        </p:spPr>
        <p:style>
          <a:lnRef idx="0"/>
          <a:fillRef idx="0"/>
          <a:effectRef idx="0"/>
          <a:fontRef idx="minor"/>
        </p:style>
      </p:sp>
      <p:pic>
        <p:nvPicPr>
          <p:cNvPr id="1990" name="Image 5" descr="preencoded.png"/>
          <p:cNvPicPr/>
          <p:nvPr/>
        </p:nvPicPr>
        <p:blipFill>
          <a:blip r:embed="rId6"/>
          <a:stretch/>
        </p:blipFill>
        <p:spPr>
          <a:xfrm>
            <a:off x="6551640" y="4240440"/>
            <a:ext cx="273600" cy="273600"/>
          </a:xfrm>
          <a:prstGeom prst="rect">
            <a:avLst/>
          </a:prstGeom>
          <a:ln>
            <a:noFill/>
          </a:ln>
        </p:spPr>
      </p:pic>
      <p:sp>
        <p:nvSpPr>
          <p:cNvPr id="1991" name="CustomShape 22"/>
          <p:cNvSpPr/>
          <p:nvPr/>
        </p:nvSpPr>
        <p:spPr>
          <a:xfrm>
            <a:off x="7146000" y="393192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Alertas operativas</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Errores 823/824/825 y gravedad 19–25 por correo.</a:t>
            </a:r>
            <a:endParaRPr b="0" lang="es-ES" sz="1400" spc="-1" strike="noStrike">
              <a:latin typeface="Arial"/>
            </a:endParaRPr>
          </a:p>
        </p:txBody>
      </p:sp>
      <p:sp>
        <p:nvSpPr>
          <p:cNvPr id="1992" name="CustomShape 23"/>
          <p:cNvSpPr/>
          <p:nvPr/>
        </p:nvSpPr>
        <p:spPr>
          <a:xfrm>
            <a:off x="54864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3" name="CustomShape 24"/>
          <p:cNvSpPr/>
          <p:nvPr/>
        </p:nvSpPr>
        <p:spPr>
          <a:xfrm>
            <a:off x="731520" y="5269320"/>
            <a:ext cx="547920" cy="547920"/>
          </a:xfrm>
          <a:prstGeom prst="ellipse">
            <a:avLst/>
          </a:prstGeom>
          <a:solidFill>
            <a:srgbClr val="134074"/>
          </a:solidFill>
          <a:ln>
            <a:noFill/>
          </a:ln>
        </p:spPr>
        <p:style>
          <a:lnRef idx="0"/>
          <a:fillRef idx="0"/>
          <a:effectRef idx="0"/>
          <a:fontRef idx="minor"/>
        </p:style>
      </p:sp>
      <p:pic>
        <p:nvPicPr>
          <p:cNvPr id="1994" name="Image 6" descr="preencoded.png"/>
          <p:cNvPicPr/>
          <p:nvPr/>
        </p:nvPicPr>
        <p:blipFill>
          <a:blip r:embed="rId7"/>
          <a:stretch/>
        </p:blipFill>
        <p:spPr>
          <a:xfrm>
            <a:off x="868680" y="5406480"/>
            <a:ext cx="273600" cy="273600"/>
          </a:xfrm>
          <a:prstGeom prst="rect">
            <a:avLst/>
          </a:prstGeom>
          <a:ln>
            <a:noFill/>
          </a:ln>
        </p:spPr>
      </p:pic>
      <p:sp>
        <p:nvSpPr>
          <p:cNvPr id="1995" name="CustomShape 25"/>
          <p:cNvSpPr/>
          <p:nvPr/>
        </p:nvSpPr>
        <p:spPr>
          <a:xfrm>
            <a:off x="146304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Mínimo privilegio</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Roles ajustados y auditoría de sysadmin.</a:t>
            </a:r>
            <a:endParaRPr b="0" lang="es-ES" sz="1400" spc="-1" strike="noStrike">
              <a:latin typeface="Arial"/>
            </a:endParaRPr>
          </a:p>
        </p:txBody>
      </p:sp>
      <p:sp>
        <p:nvSpPr>
          <p:cNvPr id="1996" name="CustomShape 26"/>
          <p:cNvSpPr/>
          <p:nvPr/>
        </p:nvSpPr>
        <p:spPr>
          <a:xfrm>
            <a:off x="6231600" y="5097960"/>
            <a:ext cx="5407920" cy="891000"/>
          </a:xfrm>
          <a:prstGeom prst="roundRect">
            <a:avLst>
              <a:gd name="adj" fmla="val 12308"/>
            </a:avLst>
          </a:prstGeom>
          <a:solidFill>
            <a:srgbClr val="ffffff"/>
          </a:solidFill>
          <a:ln w="9360">
            <a:solidFill>
              <a:srgbClr val="d0d7de"/>
            </a:solidFill>
            <a:round/>
          </a:ln>
          <a:effectLst>
            <a:outerShdw algn="bl" blurRad="101600" dir="5400000" dist="25560" kx="0" ky="0" rotWithShape="0" sx="100000" sy="100000">
              <a:srgbClr val="000000">
                <a:alpha val="14000"/>
              </a:srgbClr>
            </a:outerShdw>
          </a:effectLst>
        </p:spPr>
        <p:style>
          <a:lnRef idx="0"/>
          <a:fillRef idx="0"/>
          <a:effectRef idx="0"/>
          <a:fontRef idx="minor"/>
        </p:style>
      </p:sp>
      <p:sp>
        <p:nvSpPr>
          <p:cNvPr id="1997" name="CustomShape 27"/>
          <p:cNvSpPr/>
          <p:nvPr/>
        </p:nvSpPr>
        <p:spPr>
          <a:xfrm>
            <a:off x="6414480" y="5269320"/>
            <a:ext cx="547920" cy="547920"/>
          </a:xfrm>
          <a:prstGeom prst="ellipse">
            <a:avLst/>
          </a:prstGeom>
          <a:solidFill>
            <a:srgbClr val="134074"/>
          </a:solidFill>
          <a:ln>
            <a:noFill/>
          </a:ln>
        </p:spPr>
        <p:style>
          <a:lnRef idx="0"/>
          <a:fillRef idx="0"/>
          <a:effectRef idx="0"/>
          <a:fontRef idx="minor"/>
        </p:style>
      </p:sp>
      <p:pic>
        <p:nvPicPr>
          <p:cNvPr id="1998" name="Image 7" descr="preencoded.png"/>
          <p:cNvPicPr/>
          <p:nvPr/>
        </p:nvPicPr>
        <p:blipFill>
          <a:blip r:embed="rId8"/>
          <a:stretch/>
        </p:blipFill>
        <p:spPr>
          <a:xfrm>
            <a:off x="6551640" y="5406480"/>
            <a:ext cx="273600" cy="273600"/>
          </a:xfrm>
          <a:prstGeom prst="rect">
            <a:avLst/>
          </a:prstGeom>
          <a:ln>
            <a:noFill/>
          </a:ln>
        </p:spPr>
      </p:pic>
      <p:sp>
        <p:nvSpPr>
          <p:cNvPr id="1999" name="CustomShape 28"/>
          <p:cNvSpPr/>
          <p:nvPr/>
        </p:nvSpPr>
        <p:spPr>
          <a:xfrm>
            <a:off x="7146000" y="5097960"/>
            <a:ext cx="4310640" cy="891000"/>
          </a:xfrm>
          <a:prstGeom prst="rect">
            <a:avLst/>
          </a:prstGeom>
          <a:noFill/>
          <a:ln>
            <a:noFill/>
          </a:ln>
        </p:spPr>
        <p:style>
          <a:lnRef idx="0"/>
          <a:fillRef idx="0"/>
          <a:effectRef idx="0"/>
          <a:fontRef idx="minor"/>
        </p:style>
        <p:txBody>
          <a:bodyPr lIns="0" rIns="0" tIns="0" bIns="0" anchor="ctr">
            <a:noAutofit/>
          </a:bodyPr>
          <a:p>
            <a:pPr>
              <a:lnSpc>
                <a:spcPct val="100000"/>
              </a:lnSpc>
              <a:spcAft>
                <a:spcPts val="201"/>
              </a:spcAft>
              <a:tabLst>
                <a:tab algn="l" pos="0"/>
              </a:tabLst>
            </a:pPr>
            <a:r>
              <a:rPr b="1" lang="en-US" sz="1600" spc="-1" strike="noStrike">
                <a:solidFill>
                  <a:srgbClr val="0b2545"/>
                </a:solidFill>
                <a:latin typeface="Calibri"/>
                <a:ea typeface="Calibri"/>
              </a:rPr>
              <a:t>Runbook y DR</a:t>
            </a:r>
            <a:endParaRPr b="0" lang="es-ES" sz="1600" spc="-1" strike="noStrike">
              <a:latin typeface="Arial"/>
            </a:endParaRPr>
          </a:p>
          <a:p>
            <a:pPr>
              <a:lnSpc>
                <a:spcPct val="100000"/>
              </a:lnSpc>
              <a:tabLst>
                <a:tab algn="l" pos="0"/>
              </a:tabLst>
            </a:pPr>
            <a:r>
              <a:rPr b="0" lang="en-US" sz="1400" spc="-1" strike="noStrike">
                <a:solidFill>
                  <a:srgbClr val="1f2933"/>
                </a:solidFill>
                <a:latin typeface="Calibri"/>
                <a:ea typeface="Calibri"/>
              </a:rPr>
              <a:t>Procedimientos documentados y RPO/RTO medidos.</a:t>
            </a:r>
            <a:endParaRPr b="0" lang="es-ES" sz="1400" spc="-1" strike="noStrike">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81528"/>
        </a:solidFill>
      </p:bgPr>
    </p:bg>
    <p:spTree>
      <p:nvGrpSpPr>
        <p:cNvPr id="1" name=""/>
        <p:cNvGrpSpPr/>
        <p:nvPr/>
      </p:nvGrpSpPr>
      <p:grpSpPr>
        <a:xfrm>
          <a:off x="0" y="0"/>
          <a:ext cx="0" cy="0"/>
          <a:chOff x="0" y="0"/>
          <a:chExt cx="0" cy="0"/>
        </a:xfrm>
      </p:grpSpPr>
      <p:sp>
        <p:nvSpPr>
          <p:cNvPr id="2000" name="CustomShape 1"/>
          <p:cNvSpPr/>
          <p:nvPr/>
        </p:nvSpPr>
        <p:spPr>
          <a:xfrm>
            <a:off x="731520" y="731520"/>
            <a:ext cx="10697760" cy="91368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1" lang="en-US" sz="4000" spc="-1" strike="noStrike">
                <a:solidFill>
                  <a:srgbClr val="ffffff"/>
                </a:solidFill>
                <a:latin typeface="Calibri"/>
                <a:ea typeface="Calibri"/>
              </a:rPr>
              <a:t>Gracias: ahora piensas como un DBA</a:t>
            </a:r>
            <a:endParaRPr b="0" lang="es-ES" sz="4000" spc="-1" strike="noStrike">
              <a:latin typeface="Arial"/>
            </a:endParaRPr>
          </a:p>
        </p:txBody>
      </p:sp>
      <p:sp>
        <p:nvSpPr>
          <p:cNvPr id="2001" name="CustomShape 2"/>
          <p:cNvSpPr/>
          <p:nvPr/>
        </p:nvSpPr>
        <p:spPr>
          <a:xfrm>
            <a:off x="7315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2" name="CustomShape 3"/>
          <p:cNvSpPr/>
          <p:nvPr/>
        </p:nvSpPr>
        <p:spPr>
          <a:xfrm>
            <a:off x="1005840" y="2377440"/>
            <a:ext cx="639360" cy="639360"/>
          </a:xfrm>
          <a:prstGeom prst="ellipse">
            <a:avLst/>
          </a:prstGeom>
          <a:solidFill>
            <a:srgbClr val="d95d39"/>
          </a:solidFill>
          <a:ln>
            <a:noFill/>
          </a:ln>
        </p:spPr>
        <p:style>
          <a:lnRef idx="0"/>
          <a:fillRef idx="0"/>
          <a:effectRef idx="0"/>
          <a:fontRef idx="minor"/>
        </p:style>
      </p:sp>
      <p:pic>
        <p:nvPicPr>
          <p:cNvPr id="2003" name="Image 0" descr="preencoded.png"/>
          <p:cNvPicPr/>
          <p:nvPr/>
        </p:nvPicPr>
        <p:blipFill>
          <a:blip r:embed="rId1"/>
          <a:stretch/>
        </p:blipFill>
        <p:spPr>
          <a:xfrm>
            <a:off x="1166040" y="2537640"/>
            <a:ext cx="319320" cy="319320"/>
          </a:xfrm>
          <a:prstGeom prst="rect">
            <a:avLst/>
          </a:prstGeom>
          <a:ln>
            <a:noFill/>
          </a:ln>
        </p:spPr>
      </p:pic>
      <p:sp>
        <p:nvSpPr>
          <p:cNvPr id="2004" name="CustomShape 4"/>
          <p:cNvSpPr/>
          <p:nvPr/>
        </p:nvSpPr>
        <p:spPr>
          <a:xfrm>
            <a:off x="10058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Entiende el motor</a:t>
            </a:r>
            <a:endParaRPr b="0" lang="es-ES" sz="1800" spc="-1" strike="noStrike">
              <a:latin typeface="Arial"/>
            </a:endParaRPr>
          </a:p>
        </p:txBody>
      </p:sp>
      <p:sp>
        <p:nvSpPr>
          <p:cNvPr id="2005" name="CustomShape 5"/>
          <p:cNvSpPr/>
          <p:nvPr/>
        </p:nvSpPr>
        <p:spPr>
          <a:xfrm>
            <a:off x="10058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Buffer Pool, WAL y VLFs explican rendimiento y recuperación.</a:t>
            </a:r>
            <a:endParaRPr b="0" lang="es-ES" sz="1400" spc="-1" strike="noStrike">
              <a:latin typeface="Arial"/>
            </a:endParaRPr>
          </a:p>
        </p:txBody>
      </p:sp>
      <p:sp>
        <p:nvSpPr>
          <p:cNvPr id="2006" name="CustomShape 6"/>
          <p:cNvSpPr/>
          <p:nvPr/>
        </p:nvSpPr>
        <p:spPr>
          <a:xfrm>
            <a:off x="34747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07" name="CustomShape 7"/>
          <p:cNvSpPr/>
          <p:nvPr/>
        </p:nvSpPr>
        <p:spPr>
          <a:xfrm>
            <a:off x="3749040" y="2377440"/>
            <a:ext cx="639360" cy="639360"/>
          </a:xfrm>
          <a:prstGeom prst="ellipse">
            <a:avLst/>
          </a:prstGeom>
          <a:solidFill>
            <a:srgbClr val="d95d39"/>
          </a:solidFill>
          <a:ln>
            <a:noFill/>
          </a:ln>
        </p:spPr>
        <p:style>
          <a:lnRef idx="0"/>
          <a:fillRef idx="0"/>
          <a:effectRef idx="0"/>
          <a:fontRef idx="minor"/>
        </p:style>
      </p:sp>
      <p:pic>
        <p:nvPicPr>
          <p:cNvPr id="2008" name="Image 1" descr="preencoded.png"/>
          <p:cNvPicPr/>
          <p:nvPr/>
        </p:nvPicPr>
        <p:blipFill>
          <a:blip r:embed="rId2"/>
          <a:stretch/>
        </p:blipFill>
        <p:spPr>
          <a:xfrm>
            <a:off x="3909240" y="2537640"/>
            <a:ext cx="319320" cy="319320"/>
          </a:xfrm>
          <a:prstGeom prst="rect">
            <a:avLst/>
          </a:prstGeom>
          <a:ln>
            <a:noFill/>
          </a:ln>
        </p:spPr>
      </p:pic>
      <p:sp>
        <p:nvSpPr>
          <p:cNvPr id="2009" name="CustomShape 8"/>
          <p:cNvSpPr/>
          <p:nvPr/>
        </p:nvSpPr>
        <p:spPr>
          <a:xfrm>
            <a:off x="37490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Protege los datos</a:t>
            </a:r>
            <a:endParaRPr b="0" lang="es-ES" sz="1800" spc="-1" strike="noStrike">
              <a:latin typeface="Arial"/>
            </a:endParaRPr>
          </a:p>
        </p:txBody>
      </p:sp>
      <p:sp>
        <p:nvSpPr>
          <p:cNvPr id="2010" name="CustomShape 9"/>
          <p:cNvSpPr/>
          <p:nvPr/>
        </p:nvSpPr>
        <p:spPr>
          <a:xfrm>
            <a:off x="37490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Mínimo privilegio y backups con CHECKSUM, probados.</a:t>
            </a:r>
            <a:endParaRPr b="0" lang="es-ES" sz="1400" spc="-1" strike="noStrike">
              <a:latin typeface="Arial"/>
            </a:endParaRPr>
          </a:p>
        </p:txBody>
      </p:sp>
      <p:sp>
        <p:nvSpPr>
          <p:cNvPr id="2011" name="CustomShape 10"/>
          <p:cNvSpPr/>
          <p:nvPr/>
        </p:nvSpPr>
        <p:spPr>
          <a:xfrm>
            <a:off x="62179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2" name="CustomShape 11"/>
          <p:cNvSpPr/>
          <p:nvPr/>
        </p:nvSpPr>
        <p:spPr>
          <a:xfrm>
            <a:off x="6492240" y="2377440"/>
            <a:ext cx="639360" cy="639360"/>
          </a:xfrm>
          <a:prstGeom prst="ellipse">
            <a:avLst/>
          </a:prstGeom>
          <a:solidFill>
            <a:srgbClr val="d95d39"/>
          </a:solidFill>
          <a:ln>
            <a:noFill/>
          </a:ln>
        </p:spPr>
        <p:style>
          <a:lnRef idx="0"/>
          <a:fillRef idx="0"/>
          <a:effectRef idx="0"/>
          <a:fontRef idx="minor"/>
        </p:style>
      </p:sp>
      <p:pic>
        <p:nvPicPr>
          <p:cNvPr id="2013" name="Image 2" descr="preencoded.png"/>
          <p:cNvPicPr/>
          <p:nvPr/>
        </p:nvPicPr>
        <p:blipFill>
          <a:blip r:embed="rId3"/>
          <a:stretch/>
        </p:blipFill>
        <p:spPr>
          <a:xfrm>
            <a:off x="6652440" y="2537640"/>
            <a:ext cx="319320" cy="319320"/>
          </a:xfrm>
          <a:prstGeom prst="rect">
            <a:avLst/>
          </a:prstGeom>
          <a:ln>
            <a:noFill/>
          </a:ln>
        </p:spPr>
      </p:pic>
      <p:sp>
        <p:nvSpPr>
          <p:cNvPr id="2014" name="CustomShape 12"/>
          <p:cNvSpPr/>
          <p:nvPr/>
        </p:nvSpPr>
        <p:spPr>
          <a:xfrm>
            <a:off x="64922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Optimiza con datos</a:t>
            </a:r>
            <a:endParaRPr b="0" lang="es-ES" sz="1800" spc="-1" strike="noStrike">
              <a:latin typeface="Arial"/>
            </a:endParaRPr>
          </a:p>
        </p:txBody>
      </p:sp>
      <p:sp>
        <p:nvSpPr>
          <p:cNvPr id="2015" name="CustomShape 13"/>
          <p:cNvSpPr/>
          <p:nvPr/>
        </p:nvSpPr>
        <p:spPr>
          <a:xfrm>
            <a:off x="64922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Índices, estadísticas y DMVs antes de tocar nada.</a:t>
            </a:r>
            <a:endParaRPr b="0" lang="es-ES" sz="1400" spc="-1" strike="noStrike">
              <a:latin typeface="Arial"/>
            </a:endParaRPr>
          </a:p>
        </p:txBody>
      </p:sp>
      <p:sp>
        <p:nvSpPr>
          <p:cNvPr id="2016" name="CustomShape 14"/>
          <p:cNvSpPr/>
          <p:nvPr/>
        </p:nvSpPr>
        <p:spPr>
          <a:xfrm>
            <a:off x="8961120" y="2103120"/>
            <a:ext cx="2468160" cy="3108240"/>
          </a:xfrm>
          <a:prstGeom prst="roundRect">
            <a:avLst>
              <a:gd name="adj" fmla="val 4444"/>
            </a:avLst>
          </a:prstGeom>
          <a:solidFill>
            <a:srgbClr val="ffffff">
              <a:alpha val="10000"/>
            </a:srgbClr>
          </a:solidFill>
          <a:ln>
            <a:noFill/>
          </a:ln>
        </p:spPr>
        <p:style>
          <a:lnRef idx="0"/>
          <a:fillRef idx="0"/>
          <a:effectRef idx="0"/>
          <a:fontRef idx="minor"/>
        </p:style>
      </p:sp>
      <p:sp>
        <p:nvSpPr>
          <p:cNvPr id="2017" name="CustomShape 15"/>
          <p:cNvSpPr/>
          <p:nvPr/>
        </p:nvSpPr>
        <p:spPr>
          <a:xfrm>
            <a:off x="9235440" y="2377440"/>
            <a:ext cx="639360" cy="639360"/>
          </a:xfrm>
          <a:prstGeom prst="ellipse">
            <a:avLst/>
          </a:prstGeom>
          <a:solidFill>
            <a:srgbClr val="d95d39"/>
          </a:solidFill>
          <a:ln>
            <a:noFill/>
          </a:ln>
        </p:spPr>
        <p:style>
          <a:lnRef idx="0"/>
          <a:fillRef idx="0"/>
          <a:effectRef idx="0"/>
          <a:fontRef idx="minor"/>
        </p:style>
      </p:sp>
      <p:pic>
        <p:nvPicPr>
          <p:cNvPr id="2018" name="Image 3" descr="preencoded.png"/>
          <p:cNvPicPr/>
          <p:nvPr/>
        </p:nvPicPr>
        <p:blipFill>
          <a:blip r:embed="rId4"/>
          <a:stretch/>
        </p:blipFill>
        <p:spPr>
          <a:xfrm>
            <a:off x="9395640" y="2537640"/>
            <a:ext cx="319320" cy="319320"/>
          </a:xfrm>
          <a:prstGeom prst="rect">
            <a:avLst/>
          </a:prstGeom>
          <a:ln>
            <a:noFill/>
          </a:ln>
        </p:spPr>
      </p:pic>
      <p:sp>
        <p:nvSpPr>
          <p:cNvPr id="2019" name="CustomShape 16"/>
          <p:cNvSpPr/>
          <p:nvPr/>
        </p:nvSpPr>
        <p:spPr>
          <a:xfrm>
            <a:off x="9235440" y="3200400"/>
            <a:ext cx="1919520" cy="54792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1" lang="en-US" sz="1800" spc="-1" strike="noStrike">
                <a:solidFill>
                  <a:srgbClr val="ffffff"/>
                </a:solidFill>
                <a:latin typeface="Calibri"/>
                <a:ea typeface="Calibri"/>
              </a:rPr>
              <a:t>Automatiza y vigila</a:t>
            </a:r>
            <a:endParaRPr b="0" lang="es-ES" sz="1800" spc="-1" strike="noStrike">
              <a:latin typeface="Arial"/>
            </a:endParaRPr>
          </a:p>
        </p:txBody>
      </p:sp>
      <p:sp>
        <p:nvSpPr>
          <p:cNvPr id="2020" name="CustomShape 17"/>
          <p:cNvSpPr/>
          <p:nvPr/>
        </p:nvSpPr>
        <p:spPr>
          <a:xfrm>
            <a:off x="9235440" y="3794760"/>
            <a:ext cx="1919520" cy="1279440"/>
          </a:xfrm>
          <a:prstGeom prst="rect">
            <a:avLst/>
          </a:prstGeom>
          <a:noFill/>
          <a:ln>
            <a:noFill/>
          </a:ln>
        </p:spPr>
        <p:style>
          <a:lnRef idx="0"/>
          <a:fillRef idx="0"/>
          <a:effectRef idx="0"/>
          <a:fontRef idx="minor"/>
        </p:style>
        <p:txBody>
          <a:bodyPr lIns="0" rIns="0" tIns="0" bIns="0">
            <a:noAutofit/>
          </a:bodyPr>
          <a:p>
            <a:pPr>
              <a:lnSpc>
                <a:spcPct val="100000"/>
              </a:lnSpc>
              <a:tabLst>
                <a:tab algn="l" pos="0"/>
              </a:tabLst>
            </a:pPr>
            <a:r>
              <a:rPr b="0" lang="en-US" sz="1400" spc="-1" strike="noStrike">
                <a:solidFill>
                  <a:srgbClr val="dce6f2"/>
                </a:solidFill>
                <a:latin typeface="Calibri"/>
                <a:ea typeface="Calibri"/>
              </a:rPr>
              <a:t>Jobs, alertas y runbooks: menos errores humanos.</a:t>
            </a:r>
            <a:endParaRPr b="0" lang="es-ES" sz="1400" spc="-1" strike="noStrike">
              <a:latin typeface="Arial"/>
            </a:endParaRPr>
          </a:p>
        </p:txBody>
      </p:sp>
      <p:sp>
        <p:nvSpPr>
          <p:cNvPr id="2021" name="CustomShape 18"/>
          <p:cNvSpPr/>
          <p:nvPr/>
        </p:nvSpPr>
        <p:spPr>
          <a:xfrm>
            <a:off x="548640" y="6400800"/>
            <a:ext cx="5485680" cy="273600"/>
          </a:xfrm>
          <a:prstGeom prst="rect">
            <a:avLst/>
          </a:prstGeom>
          <a:noFill/>
          <a:ln>
            <a:noFill/>
          </a:ln>
        </p:spPr>
        <p:style>
          <a:lnRef idx="0"/>
          <a:fillRef idx="0"/>
          <a:effectRef idx="0"/>
          <a:fontRef idx="minor"/>
        </p:style>
        <p:txBody>
          <a:bodyPr lIns="0" rIns="0" tIns="0" bIns="0" anchor="ctr">
            <a:noAutofit/>
          </a:bodyPr>
          <a:p>
            <a:pPr>
              <a:lnSpc>
                <a:spcPct val="100000"/>
              </a:lnSpc>
              <a:tabLst>
                <a:tab algn="l" pos="0"/>
              </a:tabLst>
            </a:pPr>
            <a:r>
              <a:rPr b="0" lang="en-US" sz="1000" spc="-1" strike="noStrike">
                <a:solidFill>
                  <a:srgbClr val="8da9c4"/>
                </a:solidFill>
                <a:latin typeface="Calibri"/>
                <a:ea typeface="Calibri"/>
              </a:rPr>
              <a:t>Curso de Administración de SQL Server · 20 h</a:t>
            </a:r>
            <a:endParaRPr b="0" lang="es-ES" sz="1000" spc="-1" strike="noStrike">
              <a:latin typeface="Arial"/>
            </a:endParaRPr>
          </a:p>
        </p:txBody>
      </p:sp>
      <p:sp>
        <p:nvSpPr>
          <p:cNvPr id="2022" name="CustomShape 19"/>
          <p:cNvSpPr/>
          <p:nvPr/>
        </p:nvSpPr>
        <p:spPr>
          <a:xfrm>
            <a:off x="7985520" y="6400800"/>
            <a:ext cx="3656880" cy="273600"/>
          </a:xfrm>
          <a:prstGeom prst="rect">
            <a:avLst/>
          </a:prstGeom>
          <a:noFill/>
          <a:ln>
            <a:noFill/>
          </a:ln>
        </p:spPr>
        <p:style>
          <a:lnRef idx="0"/>
          <a:fillRef idx="0"/>
          <a:effectRef idx="0"/>
          <a:fontRef idx="minor"/>
        </p:style>
        <p:txBody>
          <a:bodyPr lIns="0" rIns="0" tIns="0" bIns="0" anchor="ctr">
            <a:noAutofit/>
          </a:bodyPr>
          <a:p>
            <a:pPr algn="r">
              <a:lnSpc>
                <a:spcPct val="100000"/>
              </a:lnSpc>
              <a:tabLst>
                <a:tab algn="l" pos="0"/>
              </a:tabLst>
            </a:pPr>
            <a:r>
              <a:rPr b="0" lang="en-US" sz="1000" spc="-1" strike="noStrike">
                <a:solidFill>
                  <a:srgbClr val="8da9c4"/>
                </a:solidFill>
                <a:latin typeface="Calibri"/>
                <a:ea typeface="Calibri"/>
              </a:rPr>
              <a:t>Módulo 4   82</a:t>
            </a:r>
            <a:endParaRPr b="0" lang="es-ES" sz="10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381</TotalTime>
  <Application>LibreOffice/6.4.6.2$Linux_X86_64 LibreOffice_project/40$Build-2</Applicat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2026-10-18T09:14:43Z</dcterms:created>
  <dc:creator>Formación SQL Server</dc:creator>
  <dc:description/>
  <dc:language>es-ES</dc:language>
  <cp:lastModifiedBy/>
  <dcterms:modified xsi:type="dcterms:W3CDTF">2026-10-19T22:51:38Z</dcterms:modified>
  <cp:revision>16</cp:revision>
  <dc:subject>SQL Server DBA</dc:subject>
  <dc:title>Curso de Administración de SQL Server (20 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PptxGenJS</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Notes">
    <vt:i4>82</vt:i4>
  </property>
  <property fmtid="{D5CDD505-2E9C-101B-9397-08002B2CF9AE}" pid="9" name="PresentationFormat">
    <vt:lpwstr>On-screen Show (16:9)</vt:lpwstr>
  </property>
  <property fmtid="{D5CDD505-2E9C-101B-9397-08002B2CF9AE}" pid="10" name="ScaleCrop">
    <vt:bool>0</vt:bool>
  </property>
  <property fmtid="{D5CDD505-2E9C-101B-9397-08002B2CF9AE}" pid="11" name="ShareDoc">
    <vt:bool>0</vt:bool>
  </property>
  <property fmtid="{D5CDD505-2E9C-101B-9397-08002B2CF9AE}" pid="12" name="Slides">
    <vt:i4>82</vt:i4>
  </property>
</Properties>
</file>