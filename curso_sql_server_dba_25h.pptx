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Dar la bienvenida, situar el curso en el rol real de un DBA y fijar expectativas sobre lo que el alumno sabrá hacer al terminar.
Guion y Explicación Técnica:
- Presentación del instructor y de los alumnos: ronda rápida (rol, experiencia previa con T-SQL, qué versión de SQL Server usan hoy en su empresa).
- Mensaje clave: un DBA no "administra tablas", garantiza que los datos estén disponibles, íntegros, seguros y rápidos. Los cuatro adjetivos estructuran el curso.
- El curso son 25 horas repartidas en 4 módulos: Fundamentos y arquitectura (5,5 h), Gestión y seguridad (7 h), Optimización y alta disponibilidad (6 h) y Mantenimiento y buenas prácticas (6 h), más 0,5 h de bienvenida y entorno.
- Cada módulo termina con un laboratorio guiado y el curso cierra con un caso práctico integrador que obliga a combinar todo: diseño, seguridad, índices y backups.
- Versión de referencia: SQL Server 2022 (compatible con 2019). Las diferencias relevantes con 2016/2017 y 2025 se señalan cuando importan.
Puntos de Interacción / Preguntas:
- ¿Quién ha sufrido alguna vez una caída de producción por falta de espacio, de backups o de índices? (Sirve de gancho para todo el curso.)
- ¿Qué esperáis poder hacer el último día que hoy no sabéis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Que el alumno visualice el mapa completo del curso, el reparto horario y las competencias que adquirirá.
Guion y Explicación Técnica:
- Módulo 1 (5,5 h): cómo es SQL Server por dentro. Sin entender Buffer Pool, páginas, ficheros y log no se puede diagnosticar nada después. Incluye ediciones y licenciamiento, que es donde más dinero se gasta o se pierde.
- Módulo 2 (7 h): crear objetos (tablas, restricciones, vistas, procedimientos), consultar con soltura (JOINs, window functions) y asegurar el acceso con el principio de mínimo privilegio.
- Módulo 3 (6 h): rendimiento (índices, estadísticas, planes de ejecución, DMVs) y alta disponibilidad / recuperación ante desastres (RTO, RPO, Log Shipping, FCI, Always On AG).
- Módulo 4 (6 h): lo que separa a un aficionado de un DBA: modelos de recuperación, backups, restauración point-in-time, DBCC CHECKDB, automatización con Agent y resolución de incidencias.
- Los números no son rígidos: si un laboratorio genera debate, se recorta teoría. El tiempo de laboratorio es el más valioso.
- Al final del curso el alumno podrá diseñar una estrategia de backup que cumpla un RPO dado, interpretar un plan de ejecución, y montar un esquema de permisos segregado.
Puntos de Interacción / Preguntas:
- De los cuatro bloques, ¿cuál creéis que os va a costar más y por qué?
- ¿Qué tema que no aparece aquí os gustaría ver? (Anotarlo para el cierre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Acordar la dinámica: teoría breve, laboratorio inmediato y participación constante; fijar reglas de seguridad del entorno de práctica.
Guion y Explicación Técnica:
- Formato: bloques de teoría de 20-30 minutos, siempre seguidos de una demostración o ejercicio. Un curso de administración se aprende con las manos en el teclado.
- Los laboratorios se hacen sobre un contenedor Docker o una instancia local propia: cada alumno puede romper su servidor sin afectar a nadie. Romper cosas a propósito (llenar el log, corromper una página) es parte del plan.
- Regla de oro: nunca ejecutar los scripts del curso contra un servidor de producción. Se pide confirmar el nombre del servidor (SELECT @@SERVERNAME) antes de cualquier script destructivo; es un hábito profesional.
- Material: diapositivas, scripts T-SQL del curso y la Guía del Docente en Markdown con todo el guion. Cada diapositiva de laboratorio incluye una guía de resolución en las notas.
- Evaluación: participación, entrega del Laboratorio 4 y resolución del caso práctico integrador final (con criterios explícitos que se verán al comienzo del caso).
- Se anima a interrumpir con preguntas: es más barato resolver una duda ahora que durante un incidente real.
Puntos de Interacción / Preguntas:
- ¿Qué entorno tiene cada uno disponible: Windows con SSMS, macOS/Linux con Docker, ambos?
- ¿Qué os frena más al aprender administración: no tener un servidor donde practicar o miedo a romperlo?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Dejar el entorno preparado: instancia SQL Server accesible y herramienta cliente conectada antes de empezar el Módulo 1.
Guion y Explicación Técnica:
- Tres piezas: una instancia SQL Server (Docker o local), una herramienta cliente (SSMS en Windows; extensión MSSQL de VS Code en macOS/Linux) y un editor de scripts.
- Azure Data Studio ha llegado al final de su soporte (28 de febrero de 2026): Microsoft recomienda la extensión MSSQL de Visual Studio Code. Si algún alumno lo tiene instalado, funciona pero ya no recibe actualizaciones.
- Docker: la imagen oficial mcr.microsoft.com/mssql/server:2022-latest es multiplataforma. En Mac con Apple Silicon hay que ejecutar Docker Desktop con emulación x86_64 (--platform linux/amd64) y activar Rosetta en los ajustes; el arranque es más lento pero funciona.
- Variables imprescindibles: ACCEPT_EULA=Y y MSSQL_SA_PASSWORD con una contraseña que cumpla la política de complejidad (8+ caracteres, tres de cuatro categorías); si no, el contenedor arranca y se detiene sin avisar: se diagnostica con docker logs sql2022.
- El volumen -v sqldata:/var/opt/mssql persiste los ficheros .mdf/.ldf si se elimina el contenedor. Se usará en el laboratorio de restauración del Módulo 4.
- Opción local (Windows): SQL Server 2022 Developer Edition (gratuita, con todas las funciones de Enterprise y sólo para desarrollo y pruebas) + SSMS 20/21.
Puntos de Interacción / Preguntas:
- ¿Qué diferencia hay entre conectarse con la cuenta sa y con autenticación de Windows? (Anticipa el Módulo 2.)
- ¿Por qué crees que el contenedor se detiene si la contraseña de sa no cumple la política?
Instrucciones de Laboratorio:
- Arrancar el contenedor con el comando de la diapositiva y comprobar con docker ps que el estado es Up.
- Conectar desde SSMS o VS Code: servidor localhost,1433, usuario sa, marcar "Trust server certificate".
- Ejecutar SELECT @@VERSION, @@SERVERNAME; y guardar el resultado como evidencia.
- Trampas: puerto 1433 ocupado por otra instancia local (usar -p 14333:1433 y conectar a localhost,14333); contraseña con caracteres especiales mal escapados en el shell (usar comillas simples en zsh/bash).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Introducir el Módulo 1 y justificar por qué empezamos por la arquitectura interna antes que por la sintaxis.
Guion y Explicación Técnica:
- Idea fuerza: casi todos los problemas que veremos más adelante (bloqueos, rendimiento, log lleno, restauraciones) se explican con cuatro conceptos: Buffer Pool, páginas, Transaction Log y tempdb. Este módulo los instala en la cabeza del alumno.
- Recorrido: historia y versiones → arquitectura → estructura física (páginas, extensiones, MDF/NDF/LDF, WAL y VLFs) → instancias y bases del sistema → ediciones y licenciamiento → herramientas → Laboratorio 1.
- Duración estimada 5,5 horas: ~3,5 de teoría con demostraciones y ~2 de laboratorio.
Puntos de Interacción / Preguntas:
- ¿Qué creéis que ocurre exactamente entre que escribís un INSERT y que el dato está "guardado"? Anotad las respuestas, las revisaremos al explicar el 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Situar las versiones actuales, sus hitos y su ciclo de vida para decidir cuál instalar o a cuál migrar.
Guion y Explicación Técnica:
- SQL Server nace en 1989 (Sybase/Microsoft/Ashton-Tate). Los hitos modernos empiezan con 2005 (DMVs, TRY/CATCH, CLR), 2008 (compresión, Policy-Based Management) y 2012 (Always On AG y columnstore).
- 2014: In-Memory OLTP (Hekaton) y Buffer Pool Extension. 2016: Query Store, Always Encrypted, Row-Level Security, temporal tables. 2017: primera versión en Linux y Docker; adaptive query processing.
- 2019: Intelligent Query Processing (memory grant feedback, batch mode en rowstore), Accelerated Database Recovery (ADR) y UTF-8. 2022: Ledger, Parameter Sensitive Plan optimization, Contained Availability Groups y copia a S3.
- 2025: incorpora el tipo vector y funciones de IA, el tipo json nativo y expresiones regulares en T-SQL. Conviene verificar en la página de ciclo de vida de Microsoft las fechas de soporte vigentes.
- Ciclo de vida: 5 años de soporte principal + 5 de soporte extendido (parches de seguridad). SQL Server 2016 terminó su soporte extendido en julio de 2026; 2017 termina en octubre de 2027, 2019 en enero de 2030 y 2022 en enero de 2033.
- Nivel de compatibilidad (COMPATIBILITY_LEVEL): 130=2016, 140=2017, 150=2019, 160=2022. Una BD restaurada en una versión nueva mantiene su nivel de compatibilidad hasta que se cambie; es clave en migraciones.
Puntos de Interacción / Preguntas:
- ¿Qué versión tenéis en producción y en qué fecha termina su soporte extendido?
- ¿Qué riesgo tiene subir el nivel de compatibilidad de una base de datos sin probarla? (Cambios en el optimizador/CE, regresiones de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Que el alumno identifique las capas del motor (SNI, Relational Engine, Storage Engine, SQLOS) y sepa qué responsabilidad tiene cada una.
Guion y Explicación Técnica:
- Seguir el recorrido de arriba abajo con el puntero. El cliente se comunica mediante el protocolo TDS (Tabular Data Stream) sobre un protocolo de red: Shared Memory (local), TCP/IP (el habitual, puerto 1433 por defecto) o Named Pipes. La capa SNI (SQL Network Interface) los abstrae.
- Relational Engine (query processor): el Parser comprueba la sintaxis; el Algebrizer resuelve nombres de objetos/tipos y produce un árbol de consulta; el Optimizer, basado en costes, elige un plan a partir de estadísticas; el Query Executor lo ejecuta operador a operador.
- Storage Engine: Access Methods (cómo leer/escribir filas, índices, heaps), Buffer Manager (gestiona el Buffer Pool: caché de páginas de datos en memoria) y Transaction Manager (log, bloqueos, aislamiento: ACID).
- SQLOS es una capa propia de SQL Server (no es el sistema operativo): planificación cooperativa con schedulers (uno por CPU lógica), gestión de memoria, I/O, sincronización y bloqueos. Explica los wait types (PAGEIOLATCH, CXPACKET, LCK_M_*).
- A la derecha, el disco: ficheros de datos (.mdf/.ndf) y de log (.ldf). El motor nunca escribe directamente en el disco de datos al hacer COMMIT: primero escribe en el log (WAL). Lo veremos en la diapositiva del Transaction Log.
- Punto de vista del DBA: cada capa suele ser origen de un tipo de problema: red (latencias, fallos de conexión), optimizador (planes malos), almacenamiento (E/S lenta, log), SQLOS (esperas de CPU/memoria).
Puntos de Interacción / Preguntas:
- ¿En qué capa se decide si una consulta usa un Index Seek o un Index Scan? ¿Y quién lo ejecuta?
- Si el servidor sufre esperas PAGEIOLATCH_SH, ¿qué capas están implicadas?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el recorrido completo de una sentencia, qué se cachea (plan cache) y por qué la segunda ejecución es más barata.
Guion y Explicación Técnica:
- Paso 1 – Parse: validación sintáctica; si hay error aquí nunca llega al optimizador. Paso 2 – Bind/Algebrize: resuelve tablas, columnas y tipos; comprueba permisos sobre los objetos.
- Paso 3 – Optimize: antes de optimizar, el motor busca en el plan cache un plan reutilizable con hash de la consulta. Si no existe, el optimizador explora alternativas (join order, tipos de join, acceso por índice) y elige el de menor coste estimado; no busca el óptimo absoluto, sino uno "suficientemente bueno" en tiempo limitado (Good Enough Plan Found).
- Paso 4 – Execute: el Query Executor es un modelo de iteradores (cada operador pide filas al siguiente). Pide a Access Methods las filas y estos al Buffer Manager las páginas.
- Paso 5 – Lectura de páginas: si la página está en el Buffer Pool es una lectura lógica; si no, se lee del disco (lectura física) y se sube al Buffer Pool. SET STATISTICS IO muestra ambas.
- Resultado: se envían filas al cliente por TDS en paquetes (4096 bytes por defecto). Un cliente lento consumiendo resultados provoca la espera ASYNC_NETWORK_IO, que no es un problema del servidor.
- El plan cache se vacía al reiniciar, con DBCC FREEPROCCACHE o por presión de memoria. Consultas ad hoc con literales distintos generan un plan por cada variante (plan cache bloat); la parametrización lo evita.
Puntos de Interacción / Preguntas:
- ¿Por qué la primera ejecución de una consulta suele ser más lenta que las siguientes? (Compilación + lecturas físicas.)
- ¿Qué ventaja tiene que el plan quede cacheado y qué riesgo introduce? (Parameter sniffing, se verá en el Módulo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que SQL Server usa casi toda la memoria disponible por diseño, qué se guarda en ella y cómo limitarla correctamente.
Guion y Explicación Técnica:
- El Buffer Pool es la mayor parte de la memoria de la instancia: caché de páginas de datos (8 KB). Leer de memoria cuesta microsegundos, de disco milisegundos. Por eso SQL Server "se come" la RAM: es su comportamiento normal, no una fuga.
- El Plan Cache guarda planes compilados. Otras cachés: Memory Grants (workspace para sorts y hashes), caché de metadatos y de bloqueos.
- Página sucia (dirty page): modificada en memoria y aún no escrita en el .mdf. Dos procesos las escriben: Checkpoint (periódico, controla el tiempo de recuperación; objetivo por defecto 60 s en BD nuevas) y Lazy Writer (libera páginas cuando hay presión de memoria).
- max server memory: por defecto 2.147.483.647 MB (sin límite). En producción hay que fijarlo dejando memoria al SO y otros procesos (regla de partida: 10-20% o al menos 4 GB, más si hay otras instancias o servicios). Sin límite, el SO puede paginar y el rendimiento se degrada.
- Indicadores: Page Life Expectancy (PLE) y Buffer Cache Hit Ratio; el segundo es engañoso. Lo más fiable: esperas PAGEIOLATCH y tasa de lecturas físicas.
- En virtualización, recomendar reservar la memoria (memory reservation) para evitar ballooning, que quita memoria al Buffer Pool sin que SQL Server lo sepa.
Puntos de Interacción / Preguntas:
- El administrador del sistema dice "SQL Server usa el 95% de la RAM, hay una fuga". ¿Qué respondéis?
- ¿Qué diferencia hay entre Checkpoint y Lazy Writer?
Instrucciones de Laboratorio:
- Opcional (demo): consultar sys.dm_os_sys_memory y sys.dm_os_process_memory; cambiar max server memory y observar cómo cambia el valor de Target Server Memory en sys.dm_os_performance_counters.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Conocer la unidad básica de almacenamiento (página de 8 KB) y su agrupación en extensiones, y relacionarlas con ficheros y log.
Guion y Explicación Técnica:
- Página = 8 KB (8192 bytes), unidad mínima de E/S. Estructura: cabecera de 96 bytes (tipo de página, ids, LSN, contadores), área de filas, y un array de desplazamientos de fila al final (2 bytes por fila) que crece hacia arriba.
- Máximo 8060 bytes de datos de fila en página (no LOB). Si las columnas variables exceden, se mueven a páginas ROW_OVERFLOW; los LOB (varchar(max), xml, etc.) van a páginas LOB_DATA.
- Extensión = 8 páginas contiguas = 64 KB, unidad de asignación. Mixtas (comparten objetos distintos; las primeras 8 páginas de un objeto en versiones antiguas) y uniformes (un solo objeto). Desde SQL Server 2016, la opción por defecto en BD de usuario es asignar extensiones uniformes (MIXED_PAGE_ALLOCATION OFF).
- Tipos de página de asignación: PFS (espacio libre), GAM/SGAM (qué extensiones están libres/mixtas), IAM (qué extensiones pertenecen a un objeto). Importante en tempdb: contención en PFS/GAM/SGAM.
- Demostración: DBCC IND / sys.dm_db_database_page_allocations y DBCC PAGE (con TRACE FLAG 3604) para ver una página real; muy ilustrativo en el laboratorio avanzado.
- Consecuencia práctica: leer una fila implica leer una página entera. Filas anchas = menos filas por página = más E/S. El diseño de tablas importa.
Puntos de Interacción / Preguntas:
- ¿Cuántas filas de 200 bytes caben aproximadamente en una página? (≈ 40.)
- ¿Por qué un SELECT de una sola fila puede acabar leyendo 8 KB 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Distinguir los tres tipos de fichero, el concepto de filegroup y las prácticas correctas de tamaño y crecimiento.
Guion y Explicación Técnica:
- Toda base de datos tiene al menos un fichero de datos primario (.mdf, con el catálogo de la BD) y un fichero de log (.ldf). Los secundarios (.ndf) son opcionales y se agrupan en filegroups.
- Filegroup: unidad lógica de administración. PRIMARY es el predeterminado. Sirven para repartir E/S entre discos, restaurar parcialmente (piecemeal restore), colocar tablas calientes en almacenamiento rápido o particionar tablas.
- Los ficheros de un mismo filegroup se llenan por el algoritmo proportional fill: más espacio libre = más escrituras. Por eso conviene que tengan el mismo tamaño y el mismo crecimiento.
- Autogrowth: configúralo siempre en MB fijos (p. ej. 256-512 MB para datos grandes) y no en porcentaje, porque crecer un 10% de un fichero de 500 GB son 50 GB bloqueando operaciones. El tamaño inicial debe estimarse para evitar crecimientos frecuentes.
- Instant File Initialization (IFI): el privilegio "Perform volume maintenance tasks" evita poner a cero los ficheros de datos al crecer o restaurar (el log siempre se pone a cero, salvo mejoras recientes de 2022 para crecimientos pequeños). Reduce drásticamente el tiempo de restauración.
- Un solo fichero de log por BD es suficiente: se escribe de forma secuencial; añadir más ficheros no mejora el rendimiento, sólo complica la gestión.
Puntos de Interacción / Preguntas:
- ¿Por qué un autogrowth del 10% es una mala práctica en un fichero grande?
- ¿Qué ventaja tiene separar tablas en distintos filegroups si todos los discos son el mismo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el protocolo Write-Ahead Logging, por qué COMMIT sólo espera al log, y cómo el log se divide en VLFs que se reutilizan.
Guion y Explicación Técnica:
- WAL (Write-Ahead Logging): antes de modificar una página de datos en disco, el registro de log que describe el cambio debe estar en disco. Al hacer COMMIT, SQL Server sólo espera a que el log esté persistido (flush); las páginas de datos modificadas se escriben después por Checkpoint/Lazy Writer.
- Por eso, ante un fallo, la recuperación (crash recovery) rehace (REDO) transacciones confirmadas cuyas páginas no llegaron al disco y deshace (UNDO) las no confirmadas. Es la base de la durabilidad (D de ACID).
- El log es una secuencia lógica de registros identificados por un LSN. Internamente se divide en Virtual Log Files (VLFs). El motor reutiliza los VLFs ya no necesarios; un VLF no se puede reutilizar mientras contenga log activo (transacciones abiertas, replicación pendiente, backup de log pendiente, AG…).
- Qué libera log: en modelo SIMPLE, un checkpoint; en FULL/BULK_LOGGED, un backup de log. Si el log crece sin parar en FULL y no hay backups de log, la causa es esa (se verá con log_reuse_wait_desc en Módulo 4).
- Demasiados VLFs (miles) por autogrowths pequeños ralentizan el arranque, la recuperación y los backups de log. Se mide con sys.dm_db_log_info (SQL Server 2016 SP2 en adelante).
- ADR (Accelerated Database Recovery, 2019): mantiene un version store persistente para que la recuperación y el rollback sean casi instantáneos, independientemente del tamaño de la transacción.
Puntos de Interacción / Preguntas:
- Si el servidor se apaga justo después de un COMMIT, ¿cómo es posible que el dato no se pierda aunque la página de datos no se haya escrito?
- ¿Por qué un SELECT grande no genera log pero un UPDATE grande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qué es una instancia, cómo se identifican y conectan, y por qué se usan varias en un mismo servidor.
Guion y Explicación Técnica:
- Una instancia es una copia independiente del motor (procesos, memoria, bases del sistema, cuentas, configuración). Un servidor puede alojar una instancia predeterminada (MSSQLSERVER) y hasta 50 con nombre.
- Conexión: la predeterminada se accede por nombre de servidor (puerto TCP 1433 por defecto); las nombradas como SERVIDOR\INSTANCIA, normalmente con puerto dinámico que resuelve el servicio SQL Server Browser (UDP 1434). En entornos con cortafuegos se recomienda fijar puerto estático.
- Casos de uso: aislar versiones o parches, separar entornos (desarrollo/preproducción), aislar cargas, separar administración y seguridad. Contrapartida: más memoria y CPU repartidas manualmente; hay que fijar max server memory por instancia.
- SERVERPROPERTY devuelve metadatos: InstanceName, Edition, ProductVersion, ProductLevel, IsClustered, etc. Es la forma estándar de inventariar instancias con T-SQL.
- Cada instancia tiene su cuenta de servicio. Recomendación: cuentas de dominio dedicadas o gMSA (Group Managed Service Accounts), nunca LocalSystem.
- En contenedores Docker, cada contenedor es de hecho una instancia aislada: es la forma más cómoda de tener varias versiones para pruebas.
Puntos de Interacción / Preguntas:
- ¿En qué caso elegirías dos instancias en el mismo servidor frente a dos servidores?
- ¿Qué ocurre si el servicio SQL Server Browser está parado y te conectas a una instancia con nombre sin indicar puerto?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Conocer la función de cada base de datos del sistema, su criticidad y qué incluir en la política de backups.
Guion y Explicación Técnica:
- master: catálogo de la instancia (logins, configuración, endpoints, ubicación de ficheros de todas las BD). Si se pierde, la instancia no arranca. Backup obligatorio tras cualquier cambio de logins o configuración.
- model: plantilla para CREATE DATABASE; sus propiedades (modelo de recuperación, tamaño, autogrowth) se heredan. También lo es para tempdb en cada reinicio.
- msdb: SQL Server Agent (jobs, alertas, operadores), historial de backups y restauraciones, Database Mail, planes de mantenimiento. Backup obligatorio.
- tempdb: espacio de trabajo temporal (tablas #temp, variables de tabla, spills de sort/hash, version store, cursores). Se recrea en cada arranque, no se hace backup, y es compartida por toda la instancia: un consumidor puede afectar a todos. Buenas prácticas: varios ficheros de datos iguales (hasta 8 inicialmente), en almacenamiento rápido.
- mssqlsystemresource (Resource database): sólo lectura, oculta, contiene los objetos del sistema (sys.*). Se actualiza al parchear. No se ve en SSMS, pero existe en el disco.
- Otras BD del sistema según configuración: distribution (replicación), BD de SSISDB, etc. Importante no confundir "BD del sistema" con "objetos del sistema": no se crean tablas de usuario en master.
Puntos de Interacción / Preguntas:
- ¿Qué ocurre con los jobs de mantenimiento si se pierde msdb y no hay backup?
- ¿Por qué tempdb no necesita backup, pero sí necesita planificación de 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Elegir la edición adecuada según límites de cómputo, memoria y funcionalidades, y entender las restricciones de cada una.
Guion y Explicación Técnica:
- Express: gratuita, para aplicaciones pequeñas y aprendizaje. Límites: 1 socket o 4 cores (el menor), 1.410 MB para el Buffer Pool, 10 GB por base de datos; sin SQL Server Agent.
- Standard: para cargas departamentales. Hasta 4 sockets o 24 cores, 128 GB de Buffer Pool. Incluye Basic Availability Groups (una BD por AG, una réplica secundaria), compresión de backup, TDE (desde 2019) y cifrado.
- Enterprise: sin límites de cómputo (el máximo que permita el SO) y todas las funciones: particionado online, compresión de datos, Always On AG avanzados, rebuild online de índices, in-memory ampliado, Resource Governor, etc.
- Developer: mismas funciones que Enterprise, gratis pero sin derecho a producción. Es la edición ideal para el laboratorio y desarrollo. La edición Evaluation dura 180 días.
- Web existe sólo para proveedores de hosting. Las cifras de límites pueden variar entre versiones: validar siempre con la documentación oficial "Editions and supported features of SQL Server 2022".
- Criterios de elección: necesidad de HA avanzada, volumen de memoria/CPU, funciones de seguridad y cumplimiento, y coste. Standard cubre mucho más de lo que se cree; Enterprise se justifica por funciones concretas, no por prestigio.
Puntos de Interacción / Preguntas:
- ¿Qué funcionalidad concreta justificaría pagar Enterprise en vuestra organización?
- ¿Por qué una base de datos de 40 GB no puede alojarse en Express aunque la aplicación sea pequeña?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los dos modelos de licenciamiento, sus reglas mínimas y cuándo conviene cada uno.
Guion y Explicación Técnica:
- Licenciamiento por núcleo (Per Core): se licencian todos los núcleos físicos de cada procesador del servidor, con un mínimo de 4 licencias de núcleo por procesador; se venden en paquetes de 2 núcleos. No requiere CAL: usuarios y dispositivos ilimitados. Es el único modelo para Enterprise.
- Servidor + CAL (Server + Client Access License): sólo para Standard. Una licencia de servidor por instancia/servidor más una CAL por usuario o por dispositivo que accede. Conviene con pocos usuarios identificables y estables; con acceso por web/internet o muchos usuarios, suele salir peor.
- En máquinas virtuales se licencian los núcleos virtuales asignados (mínimo 4 por VM); con Enterprise y Software Assurance se puede licenciar todo el host y ejecutar un número ilimitado de VMs.
- Software Assurance (SA): da derecho a nuevas versiones, y para HA, el derecho a tener una réplica secundaria pasiva de failover sin licencia adicional (con ciertas condiciones: no atender consultas ni backups).
- Los precios y condiciones cambian: no se citan cifras en el curso; recomendar validar con un partner de licenciamiento (LAR) antes de comprar y documentar el inventario de licencias.
- Error típico de auditoría: instancias de Developer usadas en producción, o más núcleos licenciados de los que realmente corresponden. Un DBA debe poder demostrar el inventario.
Puntos de Interacción / Preguntas:
- Un servidor con 1 procesador de 2 núcleos físicos, ¿cuántas licencias de núcleo hay que comprar con Per Core? (4, por el mínimo.)
- ¿Qué modelo elegirías para una aplicación pública accesible por Internet?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Conocer las herramientas principales de trabajo del DBA y cuándo usar cada una.
Guion y Explicación Técnica:
- SSMS (SQL Server Management Studio): herramienta de referencia en Windows. Explorador de objetos, editor T-SQL, planes de ejecución gráficos, Agent, Activity Monitor, asistentes de backup/restore, XEvents Profiler. Se actualiza independientemente del motor (versión 20/21); administra desde 2008 hasta 2022 y Azure SQL.
- Extensión MSSQL de VS Code (y Azure Data Studio, hasta su fin de soporte el 28/02/2026): multiplataforma, notebooks, extensiones, integración con Git. Menos funciones de administración que SSMS, pero suficiente para consultas y scripts.
- sqlcmd: utilidad de línea de comandos para ejecutar T-SQL o scripts en lotes, automatizable en shell o CI. Variante moderna go-sqlcmd (multiplataforma, instalable con winget/brew).
- SQL Server Profiler y Extended Events: Profiler (traza) está obsoleto para el motor y consume más recursos; Extended Events (XEvents) es su sustitución ligera. SSMS incluye XEvent Profiler y el visor de eventos en vivo.
- Otras: SQL Server Configuration Manager (servicios, protocolos, puertos), PowerShell con dbatools (módulo comunitario imprescindible), Database Engine Tuning Advisor, Query Store GUI y Azure Arc / portal para entornos híbridos.
- Buena práctica: administrar con scripts (T-SQL/PowerShell) versionados en lugar de sólo con asistentes gráficos: son repetibles, auditables y reducen errores humanos.
Puntos de Interacción / Preguntas:
- ¿Qué ventaja tiene lanzar una tarea con sqlcmd frente a hacerla con el asistente de SSMS?
- ¿Por qué se desaconseja dejar una traza de Profiler contra un servidor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Saber lanzar consultas con sqlcmd y crear una sesión básica de Extended Events para capturar sentencias lentas.
Guion y Explicación Técnica:
- sqlcmd -S servidor -U usuario -P clave -Q "consulta" ejecuta una sentencia y sale. -E usa autenticación de Windows; -i ejecuta un fichero; -o redirige a salida; -b hace que falle con código de error si hay error (útil en scripts). -C confía en el certificado del servidor (necesario con ODBC 18 cuando el certificado es autofirmado).
- Nunca dejar contraseñas en texto claro en scripts o en el historial de shell: usar variables de entorno (SQLCMDPASSWORD) o autenticación integrada.
- Extended Events: arquitectura event-driven ligera. Una sesión tiene eventos (qué ocurre), acciones (datos adicionales), predicados (filtros) y targets (dónde se escribe: event_file, ring_buffer).
- En el ejemplo, sql_statement_completed con duration &gt; 1.000.000 µs (1 segundo) y destino fichero .xel. Siempre filtrar con predicados para limitar sobrecarga. Se lee con sys.fn_xe_file_target_read_file o con el visor de SSMS.
- La sesión system_health viene activa por defecto: captura deadlocks, errores graves, esperas largas. Es el primer sitio donde mirar tras un incidente.
- Para eliminar: DROP EVENT SESSION [lentas] ON SERVER; Para ver las sesiones activas: sys.dm_xe_sessions.
Puntos de Interacción / Preguntas:
- ¿Qué riesgo tiene capturar todos los eventos sin predicados en un servidor muy cargado?
- ¿Qué información útil esperaríais encontrar en system_health tras una caída de rendimiento?
Instrucciones de Laboratorio:
- Conectar con sqlcmd al contenedor y ejecutar SELECT @@VERSION; verificar el código de salida con echo $?.
- Crear la sesión "lentas", ejecutar WAITFOR DELAY '00:00:02' desde otra conexión y abrir el visor de datos en vivo en SSMS.
- Trampa: el nombre del fichero .xel es relativo al directorio de log de la instancia; en Linux, ruta /var/opt/mssql/log/.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Aplicar lo aprendido: crear una base de datos con filegroup propio, varios ficheros de datos y log dimensionado, usando T-SQL.
Guion y Explicación Técnica:
- Resumen de lo que debe lograr el alumno: crear Ventas con filegroup PRIMARY (catálogo), filegroup FG_DATOS con dos ficheros de igual tamaño (proportional fill) y un fichero de log.
- Insistir en la elección de tamaños: inicial razonable y FILEGROWTH en MB. Es habitual que los alumnos pongan porcentajes o 1 MB por costumbre.
- Las rutas de ejemplo corresponden al contenedor Linux (/var/opt/mssql/data y /log). En Windows serían p. ej. C:\SQLData\.
Puntos de Interacción / Preguntas:
- ¿Qué pasaría si los dos ficheros de FG_DATOS tuvieran tamaños distintos? (Proportional fill: el más grande recibe más escrituras.)
- ¿Por qué conviene que PRIMARY contenga sólo el catálogo y los datos del usuario vayan a otro filegroup?
Instrucciones de Laboratorio:
- Paso 1: conectar a la instancia y comprobar SELECT @@SERVERNAME (hábito de seguridad).
- Paso 2: ejecutar el CREATE DATABASE Ventas de la diapositiva. Si da error de ruta, comprobar que el directorio existe y que el usuario mssql tiene permisos.
- Paso 3: verificar en SSMS (Propiedades de la BD → Archivos) que aparecen 4 ficheros y 2 filegroups.
- Trampas habituales: comillas simples tipográficas copiadas de Word; olvidar la coma entre ficheros del mismo filegroup; usar rutas de Windows en el contenedor Linux.
- Solución: ver el script completo de la diapositiva; si el alumno ya tiene una BD Ventas, hacer DROP DATABASE Ventas primero (con USE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Verificar la estructura creada con las vistas de catálogo, establecer el filegroup predeterminado y comprobar el comportamiento del crecimiento.
Guion y Explicación Técnica:
- Tras crear la BD, fijar FG_DATOS como filegroup predeterminado: las tablas nuevas irán allí por defecto y PRIMARY queda reservado para el catálogo. Es una práctica muy extendida.
- sys.database_files muestra tamaño en páginas de 8 KB (de ahí size*8/1024 para MB) y las propiedades de crecimiento; is_percent_growth debe ser 0 en todos.
- Para ver el efecto del crecimiento: crear una tabla ancha en FG_DATOS e insertar más datos que los 512 MB iniciales; los ficheros crecerán en bloques de 128 MB y se puede consultar en sys.database_files o en el reporte de eventos de SSMS.
- Cierre del Módulo 1: repasar los cuatro conceptos que han aparecido hoy (Buffer Pool, páginas/extensiones, Transaction Log/WAL, tempdb) y conectarlos con los módulos siguientes.
Puntos de Interacción / Preguntas:
- ¿Qué diferencia observáis entre el tamaño reservado y el espacio realmente usado? (FILEPROPERTY(name,'SpaceUsed').)
- ¿Qué haríais si un fichero de datos alcanza el límite de disco? (Añadir fichero en otra unidad, no shrink indiscriminado.)
Instrucciones de Laboratorio:
- Paso 1: ejecutar ALTER DATABASE Ventas MODIFY FILEGROUP FG_DATOS DEFAULT.
- Paso 2: ejecutar las dos consultas de verificación y comprobar que size_mb es 64/256/256/128 y que growth está en MB.
- Paso 3 (extra): crear una tabla dbo.Prueba(id INT IDENTITY, relleno CHAR(8000)) y insertar 100.000 filas con un WHILE; revisar si ha crecido algún fichero.
- Trampas: querer cambiar el filegroup predeterminado a uno que no contiene ficheros (error); confundir size (páginas) con MB.
- Resolución: las consultas de la diapositiva con size*8/1024 devuelven MB; si growth = 16384 y is_percent_growth = 0, equivale a 128 MB (16384 páginas × 8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Situar al grupo en el recorrido del módulo: primero se construyen y consultan los datos (DDL y DML) y después se protegen (seguridad). Las dos mitades comparten la misma BD de ejemplo, Ventas.
Guion y Explicación Técnica:
- Este módulo es el más práctico del curso (~7 h): alterna teoría breve con T-SQL que los alumnos ejecutan en su instancia (Docker o local).
- Hilo conductor: la base de datos Ventas con dbo.Cliente y dbo.Pedido. Todos los ejemplos, el Laboratorio 2A y el 2B reutilizan esas tablas, de modo que cada concepto se apoya en el anterior.
- Bloque 1 (DDL): tablas con restricciones, vistas estándar e indexadas, procedimientos almacenados y cómo el motor cachea y recompila planes (Plan Cache).
- Bloque 2 (DML avanzado): orden lógico del SELECT, JOINs lógicos y sus tres algoritmos físicos (Nested Loops, Merge, Hash), subconsultas, CTE y window functions.
- Bloque 3 (seguridad): autenticación, jerarquía Login → User → Rol → Permiso, GRANT/DENY/REVOKE, ownership chaining, mínimo privilegio y auditoría básica.
- Aviso de planificación: Laboratorio 2A tras DML (~1 h) y Laboratorio 2B al final de seguridad (~1 h). Si el grupo va justo de tiempo, se recortan ejercicios opcionales, nunca los pasos de verificación.
- Requisito previo: SSMS o Azure Data Studio conectados a una instancia 2019/2022 con permisos de sysadmin (para crear logins y bases de datos).
Puntos de Interacción / Preguntas:
- ¿Qué parte de vuestro trabajo actual depende más de que el modelo de datos esté bien definido (integridad) y cuál de que esté bien protegido?
- ¿Alguna vez habéis visto una aplicación conectándose con sa o con un usuario db_owner? ¿Qué podría salir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Que el alumno sepa declarar tablas con las cinco restricciones básicas (PK, FK, CHECK, UNIQUE, DEFAULT) y entienda qué hace el motor internamente con cada una.
Guion y Explicación Técnica:
- Mostrar el script de dbo.Cliente y dbo.Pedido línea a línea. Se nombran explícitamente todas las restricciones (PK_, FK_, UQ_, CK_, DF_): si no, SQL Server genera nombres con sufijo aleatorio (p. ej. PK__Cliente__A1B2C3) que complican los scripts de despliegue y las comparaciones entre entornos.
- PRIMARY KEY: identifica la fila, obliga a NOT NULL y crea un índice único; por defecto es CLUSTERED salvo que ya exista uno. Elegir una clave estrecha, estática y creciente (IDENTITY) reduce Page Splits y el tamaño de todos los índices non-clustered, que incluyen la clave del clustered.
- UNIQUE: crea un índice único non-clustered. Admite un solo NULL por columna (a diferencia de la norma ANSI). Para «único salvo NULL» se usa un índice filtrado: CREATE UNIQUE INDEX ... WHERE Col IS NOT NULL.
- FOREIGN KEY: garantiza integridad referencial, pero SQL Server NO crea el índice en la columna hija. Sin índice, un DELETE en el padre obliga a escanear la tabla hija. Es el error de diseño más frecuente.
- CHECK: se evalúa en INSERT/UPDATE; si es «trusted», el optimizador la usa para eliminar ramas imposibles del plan. DEFAULT: se aplica cuando la columna se omite en el INSERT; es una restricción a nivel de columna.
- Tipos de datos: DECIMAL(12,2) para importes (nunca FLOAT/MONEY por redondeos), DATETIME2(0) en lugar de DATETIME (más preciso y compacto), NVARCHAR sólo si se necesita Unicode.
- Consultar el catálogo: sys.key_constraints, sys.foreign_keys, sys.check_constraints, sys.default_constraints; o EXEC sp_help N'dbo.Pedido'.
Puntos de Interacción / Preguntas:
- ¿Qué pasaría con un DELETE de un cliente que tiene 2 millones de pedidos si la FK no tiene índice de apoyo?
- ¿Es mejor validar una regla de negocio en la aplicación, con un CHECK o con ambas? ¿Quién protege la BD de otra aplicación que escriba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Interiorizar los seis errores de diseño más habituales en producción y su consecuencia medible en rendimiento o integridad.
Guion y Explicación Técnica:
- Tabla sin PK (heap): permite duplicados, complica replicación transaccional, CDC y los UPDATE/DELETE con forwarded records. Salvo staging, toda tabla debe tener PK.
- FK sin índice en la columna hija: provoca scans y bloqueos largos al borrar o actualizar en el padre. Detectarlo con sys.foreign_keys cruzado con sys.index_columns.
- WITH NOCHECK: añade la restricción sin validar los datos existentes y la marca como no confiable (sys.foreign_keys.is_not_trusted = 1). El optimizador no puede usarla y pierde optimizaciones como la eliminación de joins. Reparar con ALTER TABLE ... WITH CHECK CHECK CONSTRAINT.
- VARCHAR vs NVARCHAR: NVARCHAR usa 2 bytes por carácter; mezclarlos en un JOIN o WHERE genera conversión implícita (CONVERT_IMPLICIT en el plan) y puede impedir un Index Seek por precedencia de tipos.
- GUID aleatorio como clustered key (NEWID()): inserciones por toda la B-Tree, Page Splits, fragmentación y Buffer Pool ineficiente. Alternativas: IDENTITY, SEQUENCE o NEWSEQUENTIALID().
- Tipos sobredimensionados (BIGINT, VARCHAR(MAX), CHAR(500)): más páginas de 8 KB, más I/O y más memoria de Buffer Pool para el mismo dato; y VARCHAR(MAX) no se puede indexar como clave.
- Regla práctica: el diseño físico se revisa con la herramienta de los datos, no con intuición: sys.dm_db_index_usage_stats y los planes de ejecución.
Puntos de Interacción / Preguntas:
- ¿Cuál de estos errores creéis que existe hoy en alguna de vuestras bases de datos? ¿Cómo lo detectaríais con una consulta al catálogo?
- ¿Por qué un GUID aleatorio es mala idea como clustered key, pero puede ser aceptable como clave no agrupada?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Distinguir una vista estándar (consulta almacenada, sin datos) de una vista indexada (resultado materializado) y saber cuándo conviene cada una.
Guion y Explicación Técnica:
- Vista estándar: sólo se guarda la definición en sys.sql_modules. Al consultarla, el optimizador la expande (view expansion) dentro de la consulta externa y genera un único plan; no hay penalización ni ganancia de rendimiento por sí misma.
- Usos: abstraer joins complejos, ocultar columnas sensibles y dar un punto de seguridad estable (GRANT SELECT sobre la vista sin dar acceso a la tabla; el ownership chaining lo hace posible).
- Anidar vistas sobre vistas es un antipatrón: cada capa añade joins que el optimizador debe simplificar y los planes se vuelven difíciles de leer.
- Vista indexada (materializada): al crear sobre ella un UNIQUE CLUSTERED INDEX, SQL Server almacena físicamente el resultado y lo mantiene sincronizado en cada INSERT/UPDATE/DELETE de las tablas base (coste en escrituras).
- En ediciones Enterprise/Developer el optimizador puede usar la vista indexada aunque la consulta no la nombre (matching automático); en Standard hay que usar la pista WITH (NOEXPAND).
- Cuándo usarla: agregaciones costosas y muy repetidas sobre tablas de lectura intensiva (informes, dashboards). Cuándo no: tablas con alta tasa de escritura, porque cada DML paga el mantenimiento.
- Consulta útil: SELECT name, type_desc FROM sys.views; y sys.indexes WHERE object_id = OBJECT_ID('dbo.vVentasCliente').
Puntos de Interacción / Preguntas:
- ¿Una vista estándar mejora el rendimiento de una consulta? ¿Por qué sí o por qué no?
- Si una tabla recibe 5 000 inserciones por segundo, ¿pondríais una vista indexada sobre ella? ¿Qué medirías antes de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Crear correctamente una vista indexada conociendo sus restricciones y sus costes de mantenimiento.
Guion y Explicación Técnica:
- WITH SCHEMABINDING enlaza la vista a las tablas base: impide ALTER/DROP de columnas usadas mientras la vista exista. Obliga a nombres de dos partes (dbo.Pedido) y prohíbe SELECT *.
- Si la vista agrupa (GROUP BY), debe incluir COUNT_BIG(*): permite al motor mantener el resultado de forma incremental al borrar filas. SUM sólo sobre expresiones no nulables (aquí Total es NOT NULL).
- Construcciones prohibidas: OUTER JOIN, subconsultas, DISTINCT, TOP, UNION, MIN/MAX/AVG, ORDER BY, CTE, tablas derivadas y auto-joins. Expresiones no deterministas (GETDATE) tampoco.
- El primer índice debe ser UNIQUE CLUSTERED; después se pueden crear índices non-clustered adicionales sobre la vista.
- Opciones SET requeridas al crearla y al modificar las tablas base: ANSI_NULLS, ANSI_PADDING, ANSI_WARNINGS, ARITHABORT, CONCAT_NULL_YIELDS_NULL y QUOTED_IDENTIFIER en ON; NUMERIC_ROUNDABORT en OFF. SSMS las trae bien por defecto; ciertos drivers antiguos no (error 1934).
- Consumo: en Standard hay que escribir WITH (NOEXPAND); en Enterprise el optimizador puede usarla automáticamente. Verificar en el plan: ¿aparece un Clustered Index Scan sobre la vista o se expande a las tablas base?
- Advertencia de rendimiento: cada INSERT sobre dbo.Pedido provoca también una modificación en el índice de la vista, con su bloqueo y su log. Medir con SET STATISTICS IO y sys.dm_db_index_operational_stats.
Puntos de Interacción / Preguntas:
- ¿Por qué creéis que se exige COUNT_BIG(*) cuando hay GROUP BY?
- Un desarrollador quiere borrar una columna de dbo.Pedido y recibe un error de dependencia. ¿Qué lo causa y cómo lo localizaríais?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qué aporta un procedimiento almacenado (rendimiento, encapsulación y seguridad) y escribir uno con las buenas prácticas básicas.
Guion y Explicación Técnica:
- Un procedimiento almacenado (stored procedure, SP) es código T-SQL con nombre guardado en la BD. Se compila en la primera ejecución y el plan queda en el Plan Cache para reutilizarse.
- Parámetros tipados: evitan la concatenación de cadenas y, con ella, la inyección SQL. Un parámetro con DEFAULT lo hace opcional.
- SET NOCOUNT ON suprime los mensajes «n filas afectadas»: reduce tráfico de red y evita que algunos drivers interpreten esos mensajes como resultados.
- CREATE OR ALTER (desde SQL Server 2016 SP1) conserva permisos y metadatos al modificar, a diferencia de DROP + CREATE que obliga a reasignar GRANTs.
- Seguridad: se puede dar EXECUTE sobre el procedimiento sin dar permisos sobre las tablas gracias al ownership chaining (se verá en la parte de seguridad). Es la «API» de la BD.
- Gestión de errores y transacciones: TRY...CATCH, THROW y SET XACT_ABORT ON para que cualquier error aborte y revierta la transacción abierta.
- Metadatos útiles: sys.procedures, sys.sql_modules (definición), sys.dm_exec_procedure_stats (veces ejecutado, tiempo, lecturas lógicas por procedimiento).
Puntos de Interacción / Preguntas:
- ¿Qué ventajas tiene dar EXECUTE sobre un procedimiento frente a dar SELECT/INSERT sobre las tablas?
- ¿En qué se diferencia un procedimiento almacenado de una consulta enviada como cadena desde la aplicación (ad 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el ciclo compilar → cachear → reutilizar → recompilar y reconocer un problema de parameter sniffing con sus mitigaciones.
Guion y Explicación Técnica:
- Compilar es caro (CPU): parse, binding (algebrizer), optimización basada en costes con estadísticas. El plan resultante se guarda en el Plan Cache, parte del Buffer Pool, y se localiza por un hash del texto de la consulta más atributos (SET options, esquema por defecto).
- Reutilizar evita volver a compilar: es la gran ventaja de procedimientos y consultas parametrizadas. Las consultas ad hoc con literales distintos generan un plan cada una (cache bloat); mitigación: parametrizar, «optimize for ad hoc workloads» o PARAMETERIZATION FORCED.
- Parameter sniffing: en la primera ejecución el optimizador «espía» el valor real del parámetro y construye un plan óptimo para ese valor. Si los datos están sesgados (un cliente con 60 % de los pedidos), ese plan (Index Seek + Key Lookup) puede ser desastroso para el valor frecuente (necesita Scan).
- No es un bug, es un compromiso. Mitigaciones: OPTION (RECOMPILE) por consulta, OPTION (OPTIMIZE FOR UNKNOWN) o OPTIMIZE FOR (@p = valor), WITH RECOMPILE en el procedimiento, y Query Store con plan forcing (2016+). SQL Server 2022 añade Parameter Sensitive Plan (PSP) optimization con nivel de compatibilidad 160.
- Recompilación: el plan se invalida por cambios de esquema, actualización de estadísticas (umbral dinámico en compat. 130+), cambios de SET options, sp_recompile o ALTER del objeto. Desde 2005 la recompilación es a nivel de sentencia, no de todo el procedimiento.
- DMVs: sys.dm_exec_cached_plans (usecounts, size_in_bytes), sys.dm_exec_query_stats, sys.dm_exec_sql_text(plan_handle) y sys.dm_exec_query_plan(plan_handle). Contadores: «SQL Re-Compilations/sec» y «Batch Requests/sec».
- DBCC FREEPROCCACHE vacía la caché: sólo en entornos de prueba o con un plan_handle concreto; en producción provoca una tormenta de compilaciones.
Puntos de Interacción / Preguntas:
- Un procedimiento va en 20 ms para unos clientes y en 40 s para otros. ¿Qué hipótesis plantearíais y qué mirarías primero en el plan?
- ¿Por qué vaciar el Plan Cache «para arreglarlo» sólo oculta el problema durante un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Aprender que el orden de escritura de un SELECT no es el orden en que se evalúa, y usarlo para razonar sobre alias, filtros y agregados.
Guion y Explicación Técnica:
- El orden lógico (logical query processing) es: FROM/JOIN → WHERE → GROUP BY → HAVING → SELECT (incluidas window functions) → DISTINCT → ORDER BY → TOP/OFFSET. Es un modelo conceptual: el optimizador puede reordenar físicamente mientras el resultado sea equivalente.
- Consecuencia 1: WHERE no puede usar alias definidos en SELECT (todavía no existen), pero ORDER BY sí. Consecuencia 2: WHERE filtra filas antes de agrupar; HAVING filtra grupos después de agregar.
- Consecuencia 3: las window functions se evalúan en la fase SELECT, por eso no pueden aparecer en WHERE ni en GROUP BY; para filtrarlas hay que envolverlas en una CTE o subconsulta.
- Rendimiento: filtrar pronto reduce filas. Predicados SARGable (Search ARGument ABLE) como Fecha &gt;= '20240101' permiten Index Seek; envolver la columna en una función (YEAR(Fecha) = 2024) obliga a escanear.
- Evitar SELECT *: aumenta lecturas, rompe vistas y procedimientos al cambiar el esquema e impide usar índices cubrientes (covering).
- El ejemplo agrupa por cliente y año. Pedir a los alumnos que predigan el número de columnas del resultado y qué ocurre si se mueve SUM(p.Total) &gt; 1000 del HAVING al WHERE (error: función de agregado no válida en WHERE).
- Mostrar el plan (Ctrl+M) para ver cómo el Stream Aggregate o Hash Match Aggregate aparece antes del Sort.
Puntos de Interacción / Preguntas:
- ¿Por qué puedo escribir ORDER BY Ventas DESC usando el alias, pero no WHERE Ventas &gt; 1000?
- ¿Qué diferencia práctica hay entre filtrar en WHERE y en HAVING cuando la condición no usa agregados?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Elegir el tipo de JOIN lógico adecuado y evitar la trampa clásica de filtrar la tabla externa en el WHERE.
Guion y Explicación Técnica:
- INNER JOIN devuelve sólo filas con coincidencia. LEFT JOIN conserva todas las filas de la izquierda y rellena con NULL; es la base del anti-join (clientes sin pedidos con WHERE p.PedidoId IS NULL).
- RIGHT JOIN es equivalente a un LEFT con las tablas invertidas; se evita por legibilidad. FULL JOIN se usa en conciliaciones entre dos fuentes. CROSS JOIN genera el producto cartesiano (n × m filas): útil para calendarios y combinaciones, peligroso si es accidental.
- Trampa principal: un predicado sobre la tabla derecha en el WHERE (p.Fecha &gt;= ...) descarta las filas con NULL y convierte el LEFT JOIN en INNER JOIN. Si se quiere conservar los clientes sin pedidos en el rango, el filtro va en la cláusula ON.
- Trampa 2: duplicación de filas por relaciones 1:N. Sumar un importe del lado «uno» después de un JOIN a «varios» multiplica el total; agregar antes del JOIN o usar APPLY.
- Trampa 3: JOIN con columnas de tipos distintos (varchar vs nvarchar, int vs varchar) → conversión implícita y scans. Las claves de join deben tener el mismo tipo y collation.
- Alternativas semánticas: EXISTS / NOT EXISTS para semi y anti-joins (no multiplican filas); NOT IN falla silenciosamente si la subconsulta devuelve algún NULL.
- Pedir que ejecuten ambas consultas de la derecha y comparen el número de filas devuelto.
Puntos de Interacción / Preguntas:
- ¿Cuántas filas devuelve un CROSS JOIN entre 1 000 clientes y 365 días? ¿Y entre dos tablas de 1 millón?
- Si queréis clientes sin pedidos en 2024 (aunque tengan en otros años), ¿dónde pondríais el filtro de fecha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Reconocer en un plan de ejecución los tres operadores físicos de join, saber cuándo es adecuado cada uno y qué señales indican una mala elección.
Guion y Explicación Técnica:
- Un JOIN lógico se implementa con un operador físico que el optimizador elige por coste, según cardinalidad estimada, índices y orden disponible.
- Nested Loops: por cada fila de la entrada externa (outer) busca coincidencias en la interna (inner). Brilla cuando la externa es pequeña y la interna tiene un índice para Index Seek. Coste ≈ filas externas × coste del seek. Es el típico de consultas OLTP.
- Merge Join: recorre en paralelo dos entradas ordenadas por la clave de join, una sola pasada. Requiere condición de igualdad y orden (de un índice o de un operador Sort, caro). Muy eficiente con volúmenes grandes ya ordenados.
- Hash Match: construye una tabla hash en memoria con la entrada más pequeña (build) y «sondea» con la grande (probe). No necesita índices ni orden; es el caballo de batalla de cargas analíticas. Consume memory grant: si se subestima, se derrama a tempdb (Hash Spill, aviso en el plan).
- Señales de problema: Nested Loops con millones de iteraciones (estimación de filas muy baja), warnings de spill en Hash/Sort, diferencias grandes entre Estimated y Actual Rows (estadísticas obsoletas o parameter sniffing).
- Pistas de join (OPTION (HASH JOIN), LOOP JOIN, MERGE JOIN) existen pero se usan sólo como último recurso diagnóstico: fijan el algoritmo y ocultan el problema de fondo.
- Novedades: Adaptive Joins (2017+, batch mode) deciden entre Hash y Nested Loops en tiempo de ejecución; en 2019+ el batch mode también funciona sobre tablas rowstore. DMVs: sys.dm_exec_query_memory_grants y sys.dm_exec_query_stats.
Puntos de Interacción / Preguntas:
- ¿Por qué un Hash Match suele aparecer en consultas analíticas y un Nested Loops en consultas OLTP?
- Si veis un Nested Loops con 5 millones de ejecuciones en la entrada interna, ¿qué sospecharíais sobre las estimaciones?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Usar subconsultas escalares y correlacionadas, EXISTS y CTE de forma legible sin penalizar el rendimiento.
Guion y Explicación Técnica:
- Subconsulta escalar: devuelve un único valor y se usa como expresión (Total &gt; (SELECT AVG(Total) ...)). Si devolviera más de una fila, error 512. No correlacionada: se evalúa una vez.
- Subconsulta correlacionada: referencia columnas de la consulta externa (p.ClienteId = c.ClienteId). Lógicamente se evalúa por cada fila, pero el optimizador la transforma casi siempre en un semi-join (Left Semi Join) con un coste mucho menor.
- EXISTS se detiene en la primera coincidencia y devuelve verdadero/falso; es ideal para «existe algún pedido». IN sobre una lista es equivalente en la mayoría de los casos, pero NOT IN devuelve cero filas si la subconsulta contiene un NULL: preferir NOT EXISTS.
- CTE (Common Table Expression, WITH ... AS): mejora la legibilidad y permite recursividad (jerarquías). En SQL Server NO se materializa: se expande como una vista en línea cada vez que se referencia; si se usa 3 veces, se ejecuta 3 veces. Para reutilizar un resultado costoso, usar una tabla temporal #tabla.
- CROSS APPLY / OUTER APPLY: permiten invocar una subconsulta correlacionada o una función con valores de tabla por cada fila (típico: «los 3 últimos pedidos de cada cliente»).
- Rendimiento: comprobar siempre el plan; una subconsulta en la lista de SELECT correlacionada puede ejecutarse fila a fila (Nested Loops con muchas iteraciones). Reescribir como JOIN agregado suele ser más estable.
- Ejercicio rápido: reescribir la consulta EXISTS con un JOIN y comparar los planes y el número de lecturas lógicas con SET STATISTICS IO ON.
Puntos de Interacción / Preguntas:
- ¿Qué devuelve WHERE ClienteId NOT IN (SELECT ClienteId FROM ...) si la subconsulta contiene un NULL? ¿Y con NOT EXISTS?
- ¿Una CTE guarda el resultado en memoria o en tempdb? ¿Cómo lo comprobaríais en el plan de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Diferenciar GROUP BY (colapsa filas) de las window functions (mantienen el detalle) y aplicar ROW_NUMBER, RANK, SUM OVER y LAG.
Guion y Explicación Técnica:
- Funciones de agregado (COUNT, SUM, AVG, MIN, MAX) con GROUP BY colapsan el conjunto en una fila por grupo. Las window functions calculan sobre una «ventana» de filas relacionadas pero devuelven una fila por cada fila de entrada, conservando el detalle.
- Sintaxis: función() OVER (PARTITION BY ... ORDER BY ... [ROWS|RANGE ...]). PARTITION BY define los grupos (como un GROUP BY sin colapsar); ORDER BY define el orden dentro de la partición; la cláusula de frame define las filas incluidas.
- ROW_NUMBER(): numera 1, 2, 3 sin empates (los desempates son no deterministas si el ORDER BY no es único). RANK(): los empates comparten posición y deja huecos (1, 1, 3); DENSE_RANK() no deja huecos.
- SUM(...) OVER (PARTITION BY ... ORDER BY ...): total acumulado (running total). Advertencia de rendimiento: si no se especifica frame, el valor por defecto es RANGE UNBOUNDED PRECEDING, que usa un worktable en disco; especificar ROWS UNBOUNDED PRECEDING es mucho más rápido y suele ser lo que se desea.
- LAG(col, n, default) y LEAD(col, n): acceden a filas anterior/siguiente sin auto-join (disponibles desde SQL Server 2012). Útiles para variaciones periodo a periodo.
- Las window functions sólo se permiten en SELECT y ORDER BY; para filtrar por rn = 1 («último pedido por cliente») hay que usar CTE/subconsulta. Un índice con PARTITION BY y ORDER BY como claves (en ese orden) evita el operador Sort.
- En el plan buscar los operadores Segment, Sequence Project y Window Spool (si aparece Window Spool, revisar el frame).
Puntos de Interacción / Preguntas:
- ¿Qué diferencia hay entre ROW_NUMBER y RANK cuando dos pedidos tienen el mismo importe?
- ¿Cómo obtendríais el último pedido de cada cliente usando una window function? ¿Y con GROUP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Aplicar DML avanzado (window functions, CTE) y encapsular el resultado en un procedimiento almacenado, observando plan caching y parameter sniffing en vivo.
Guion y Explicación Técnica:
- Duración orientativa: 60–70 min. Los alumnos trabajan individualmente o por parejas sobre la BD Ventas creada en las diapositivas de DDL.
- Objetivo técnico: ver con sus propios ojos que (1) las window functions resuelven en una consulta lo que antes requería auto-joins, (2) un procedimiento reutiliza plan y (3) el mismo plan puede ser bueno para un parámetro y malo para otro.
- El docente recorre los puestos al paso 3: es donde más se atascan (CTE antes del SELECT, ORDER BY dentro de la CTE, nombres de columna).
- Criterio de éxito: el procedimiento devuelve las 3 mejores ventas de cada cliente y el alumno sabe explicar por qué el plan para @ClienteId = 1 (60 % de las filas) es diferente del de un cliente raro.
- Cierre: puesta en común de 5 minutos; pedir a un grupo que enseñe su plan con el Key Lookup y a otro el plan con Clustered Index Scan.
Puntos de Interacción / Preguntas:
- ¿Por qué el plan de la segunda ejecución es idéntico al de la primera aunque el parámetro sea distinto?
- ¿Qué cambia en el plan al añadir OPTION (RECOMPILE)? ¿Qué coste tiene hacerlo en cada ejecución?
Instrucciones de Laboratorio:
- Requisito: contenedor SQL Server 2022 en marcha (docker run -e ACCEPT_EULA=Y -e MSSQL_SA_PASSWORD=&lt;clave&gt; -p 1433:1433 mcr.microsoft.com/mssql/server:2022-latest) y SSMS conectado a localhost,1433.
- Paso 1 — Datos: CREATE DATABASE Ventas; USE Ventas; crear dbo.Cliente y dbo.Pedido con los scripts de la diapositiva 22. Cargar 500 clientes: INSERT dbo.Cliente (Email, Nombre) SELECT TOP (500) CONCAT('c', n, '@demo.es'), CONCAT(N'Cliente ', n) FROM (SELECT ROW_NUMBER() OVER (ORDER BY (SELECT NULL)) AS n FROM sys.all_objects a CROSS JOIN sys.all_objects b) AS t ORDER BY n;
- Paso 1b — Pedidos sesgados: INSERT dbo.Pedido (ClienteId, Fecha, Total) SELECT TOP (50000) CASE WHEN ABS(CHECKSUM(NEWID())) % 10 &lt; 6 THEN 1 ELSE 2 + ABS(CHECKSUM(NEWID())) % 499 END, DATEADD(DAY, -ABS(CHECKSUM(NEWID())) % 730, CAST(GETDATE() AS date)), CAST(10 + ABS(CHECKSUM(NEWID())) % 990 AS decimal(12,2)) FROM sys.all_objects a CROSS JOIN sys.all_objects b; Después: CREATE INDEX IX_Pedido_Cliente ON dbo.Pedido (ClienteId) INCLUDE (Fecha, Total);
- Paso 2 — Consulta analítica: top 3 pedidos por importe de cada cliente con ROW_NUMBER() OVER (PARTITION BY ClienteId ORDER BY Total DESC) dentro de una CTE y WHERE rn &lt;= 3 fuera. Añadir una columna con SUM(Total) OVER (PARTITION BY ClienteId) para el % sobre el total del cliente.
- Paso 3 — Procedimiento: CREATE OR ALTER PROCEDURE dbo.usp_TopPedidosCliente @ClienteId INT, @N INT = 3 con SET NOCOUNT ON y SELECT TOP (@N) ... ORDER BY Total DESC. Probar EXEC con @ClienteId = 1 y luego con 250.
- Paso 4 — Plan y sniffing: activar plan real (Ctrl+M) y SET STATISTICS IO ON. Ejecutar primero con un cliente raro (Seek + Key Lookup) y luego con el cliente 1 (compara lecturas lógicas). Ver el plan cacheado: SELECT usecounts, plan_handle FROM sys.dm_exec_cached_plans CROSS APPLY sys.dm_exec_sql_text(plan_handle) WHERE text LIKE '%usp_TopPedidosCliente%'. Repetir con EXEC ... WITH RECOMPILE y comparar.
- Trampas habituales: (a) ORDER BY dentro de una CTE sin TOP → error 1033; (b) filtrar rn en el mismo SELECT donde se calcula → error 4108 (usar CTE); (c) ejecutar CREATE PROCEDURE sin GO previo cuando hay más sentencias en el lote; (d) olvidar USE Ventas y crear los objetos en master.
- Guía de resolución: si el alumno no ve diferencia de planes, confirmar que el sesgo existe (SELECT ClienteId, COUNT(*) FROM dbo.Pedido GROUP BY ClienteId ORDER BY 2 DESC) y que el índice IX_Pedido_Cliente está creado; vaciar la caché sólo con DBCC FREEPROCCACHE en el contenedor de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Presentar la cadena completa de seguridad (autenticación → login → user → roles/permisos → objetos) y la frontera entre nivel de instancia y de base de datos.
Guion y Explicación Técnica:
- Una petición atraviesa varias capas en orden. 1) Autenticación: ¿quién eres? Windows (Kerberos/NTLM) o SQL Server (usuario y contraseña). 2) Login: principal a nivel de servidor que permite entrar a la instancia (sys.server_principals).
- 3) User: principal de base de datos mapeado a un login (sys.database_principals); sin user (o guest) no se accede a la BD aunque el login sea válido. 4) Roles y permisos: GRANT/DENY/REVOKE sobre objetos, schemas o la propia BD. 5) Objetos: tablas, vistas, procedimientos, agrupados en schemas.
- Los permisos se evalúan jerárquicamente: servidor → base de datos → schema → objeto → columna. Un permiso concedido en un nivel alto (p. ej. SELECT sobre la BD) se hereda por los inferiores, salvo DENY.
- Principals: logins, users, roles de servidor/BD y roles de aplicación. Securables: servidor, BD, schema, objeto. Permission: CONNECT, SELECT, EXECUTE, ALTER, CONTROL, etc.
- Idea clave para el DBA: el login abre la puerta de la instancia, pero no da acceso a ningún dato; ahí entran el user, los roles y los permisos. Por eso «tener un login» y «tener acceso» no son lo mismo.
- Otras capas complementarias fuera de esta diapositiva: cifrado en tránsito (TLS), TDE, Always Encrypted, Row-Level Security y Dynamic Data Masking. Se mencionan, no se desarrollan.
- Vistas de catálogo de referencia: sys.server_principals, sys.database_principals, sys.server_permissions, sys.database_permissions y sys.fn_my_permissions.
Puntos de Interacción / Preguntas:
- ¿Puede un login con credenciales válidas conectarse a la instancia y aun así no ver ninguna base de datos de usuario? ¿Por qué?
- ¿Qué diferencia hay entre un permiso concedido a nivel de schema y uno concedido tabla a tabla en una base de datos con 500 tablas?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Comparar los dos modos de autenticación, saber cuándo habilitar el modo mixto y cuáles son sus riesgos.
Guion y Explicación Técnica:
- Autenticación de Windows (integrada): SQL Server confía en la identidad validada por Active Directory (Kerberos, o NTLM como alternativa). Se gestionan contraseñas, caducidad, bloqueo y MFA en el directorio, y se pueden crear logins para grupos de AD, lo que simplifica el alta y baja de personas.
- Autenticación de SQL Server: el login y el hash de la contraseña (SHA-512 con sal desde 2012) se guardan en master (sys.sql_logins). Sirve para aplicaciones heredadas, servidores fuera de dominio, instancias en Linux o contenedores sin AD y herramientas de terceros.
- Modo de autenticación del servidor: «Sólo Windows» o «Mixto» (Windows + SQL). Se cambia en Propiedades del servidor → Seguridad y requiere reiniciar el servicio. SERVERPROPERTY('IsIntegratedSecurityOnly') indica el modo (1 = sólo Windows).
- En modo mixto la cuenta sa pasa a estar activa: es el objetivo número uno de los ataques de fuerza bruta. Buenas prácticas: contraseña robusta, cambiar el nombre (ALTER LOGIN sa WITH NAME = ...) o deshabilitarla (ALTER LOGIN sa DISABLE).
- Para logins SQL activar CHECK_POLICY = ON (aplica la política de contraseñas de Windows) y CHECK_EXPIRATION según el caso. Visible en sys.sql_logins (is_policy_checked, is_expiration_checked).
- Problema del doble salto (double hop): con Kerberos mal configurado (SPN ausente), las conexiones remotas caen a NTLM o fallan. Verificar con SELECT auth_scheme FROM sys.dm_exec_connections WHERE session_id = @@SPID.
- En Docker/Linux (contenedor del laboratorio) la autenticación inicial es SQL (sa); Windows/AD se habilita con adutil en SQL Server 2019+ pero queda fuera del alcance del curso.
Puntos de Interacción / Preguntas:
- ¿Qué ventajas operativas tiene crear un login para un grupo de Active Directory en lugar de uno por persona?
- ¿Qué haríais con la cuenta sa en un servidor en modo mixto expuesto a varias aplicaciones? ¿Y si una aplicación sólo soporta SQL 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Distinguir login (instancia) de user (base de datos), entender su mapeo por SID y usar los schemas como espacio de nombres y unidad de permisos.
Guion y Explicación Técnica:
- Login = principal de servidor; User = principal de base de datos. Se enlazan por el SID (Security Identifier). CREATE USER ... FOR LOGIN guarda el SID del login en sys.database_principals.
- Un login puede tener un user distinto en cada BD; sin user en la BD (y guest deshabilitado) no hay acceso. Cada BD tiene el user especial dbo (propietario) y los de sistema (guest, INFORMATION_SCHEMA, sys).
- Usuario huérfano (orphaned user): tras restaurar una BD en otra instancia, el SID del user no coincide con ningún login. Detectar con sp_change_users_login 'Report' o comparando SIDs; reparar con ALTER USER ... WITH LOGIN = login. Alternativa moderna: bases de datos contenidas (CONTAINMENT = PARTIAL) con usuarios con contraseña propios.
- Schema = espacio de nombres y contenedor de seguridad dentro de la BD. No es lo mismo que el user (desde 2005 están separados): el propietario del schema puede cambiarse sin renombrar objetos.
- Un permiso concedido a nivel de schema (GRANT SELECT ON SCHEMA::rpt) cubre los objetos actuales y los futuros; es la forma más mantenible de segregar permisos (rpt para informes, app para procedimientos de aplicación, dbo para administración).
- DEFAULT_SCHEMA del user determina cómo se resuelven nombres sin calificar; mejor calificar siempre (dbo.Pedido) para evitar resoluciones ambiguas y ahorrar recompilaciones en el plan cache.
- Cuidado con CREATE LOGIN ... WITH PASSWORD en scripts versionados: nunca contraseñas reales en el control de código. Para Windows: CREATE LOGIN [DOMINIO\ana] FROM WINDOWS (sólo con AD).
Puntos de Interacción / Preguntas:
- ¿Qué ocurre si restauráis una copia de Ventas en otro servidor donde el login lg_analista existe pero se creó con otro SID?
- ¿Qué ventaja tiene organizar los objetos en schemas (rpt, app, dbo) frente a tenerlo todo en dbo?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Conocer los roles fijos más relevantes y justificar por qué se prefieren roles personalizados con permisos sobre schemas.
Guion y Explicación Técnica:
- Roles fijos de servidor: sysadmin (control total, ignora DENY), securityadmin (administra logins; casi equivale a sysadmin por escalada), dbcreator (crea/restaura BDs), serveradmin, processadmin, diskadmin, bulkadmin, setupadmin y public. SQL Server 2022 añade roles granulares como ##MS_ServerStateReader## para monitorización sin sysadmin.
- Roles fijos de BD: db_owner (control total de la BD), db_datareader/db_datawriter (SELECT/INSERT-UPDATE-DELETE sobre todas las tablas), db_ddladmin (DDL), db_securityadmin, db_accessadmin, db_backupoperator y los db_denydatareader/db_denydatawriter.
- El rol public existe en servidor y BD, y todos los principals pertenecen a él: no se le debe conceder nada que no se quiera dar a todo el mundo.
- Problema de los roles fijos: son «todo o nada» (db_datareader lee todas las tablas presentes y futuras). Para el mínimo privilegio se definen roles personalizados (CREATE ROLE) y se les concede permisos sobre un schema o procedimientos concretos.
- Gestión: ALTER ROLE rol ADD MEMBER usuario (desde 2012; sp_addrolemember está obsoleto). En SQL Server 2012+ también existen roles de servidor definidos por el usuario (CREATE SERVER ROLE).
- Los roles pueden anidarse (un rol miembro de otro), pero la anidación excesiva complica las auditorías. Convención: rol_&lt;función&gt;, p. ej. rol_lectura_rpt, rol_operador.
- Auditar membresías: SELECT r.name AS rol, m.name AS miembro FROM sys.database_role_members rm JOIN sys.database_principals r ON r.principal_id = rm.role_principal_id JOIN sys.database_principals m ON m.principal_id = rm.member_principal_id; y sys.server_role_members para servidor.
Puntos de Interacción / Preguntas:
- ¿Por qué un login miembro de securityadmin debe tratarse casi como un sysadmin?
- ¿Qué ocurre con las tablas creadas el próximo mes si añadimos a un usuario a db_datareader? ¿Y si le damos SELECT sobre un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Aplicar correctamente las tres sentencias de permisos y razonar sobre la precedencia entre ellas y entre roles.
Guion y Explicación Técnica:
- GRANT concede un permiso (SELECT, INSERT, UPDATE, DELETE, EXECUTE, ALTER, CONTROL…) sobre un securable. WITH GRANT OPTION permite al receptor delegarlo; usarlo con extrema cautela.
- DENY prohíbe explícitamente el permiso y tiene precedencia sobre cualquier GRANT, incluso heredado de un rol o de un nivel superior. Excepciones: no afecta a sysadmin ni al user dbo.
- REVOKE elimina un GRANT o un DENY previo y devuelve al estado «sin permiso explícito»: no equivale a denegar, y el usuario puede seguir teniendo el permiso por otro camino (rol o schema).
- Orden de evaluación: DENY &gt; GRANT &gt; sin permiso (denegado implícito). Los permisos de roles se acumulan, salvo un DENY en cualquiera de ellos.
- Los permisos se pueden aplicar a niveles distintos: servidor, BD, schema (GRANT SELECT ON SCHEMA::rpt), objeto, columna (GRANT SELECT (Nombre, Email) ON dbo.Cliente). Favorecer schema y rol.
- Verificación: sys.fn_my_permissions('dbo.Pedido', 'OBJECT') para el contexto actual; combinar con EXECUTE AS USER = 'x' para probar como otro usuario (siempre cerrar con REVERT). Catálogo: sys.database_permissions.
- Error típico del alumno: usar DENY como mecanismo principal. DENY es una excepción, no una estrategia: complica el análisis de permisos efectivos. Mejor construir la lista de GRANT mínima.
Puntos de Interacción / Preguntas:
- Un usuario pertenece a dos roles: uno con GRANT SELECT sobre dbo.Pedido y otro con DENY SELECT. ¿Qué ocurre al consultar? ¿Y si se hace REVOKE del DENY?
- ¿Cómo comprobaríais los permisos efectivos de un usuario sin iniciar sesión como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cómo la cadena de propiedad permite exponer datos sólo a través de procedimientos o vistas y cuándo se rompe.
Guion y Explicación Técnica:
- Cuando un objeto (vista, procedimiento) accede a otro con el mismo propietario, SQL Server comprueba sólo el permiso sobre el primer objeto (p. ej. EXECUTE) y omite la comprobación sobre los objetos subyacentes. Eso es el ownership chaining.
- Aplicación práctica: el operador recibe EXECUTE sobre app.usp_AltaPedido y no tiene ningún permiso sobre dbo.Pedido. El procedimiento escribe en la tabla porque el propietario del schema app y de dbo es el mismo (dbo): la cadena es intacta.
- La cadena se rompe cuando el propietario cambia a lo largo de ella (p. ej. procedimiento propiedad de otro user): entonces se evalúan los permisos del llamador sobre el objeto siguiente y falla con error 229 si no los tiene.
- Limitaciones: sólo cubre SELECT, INSERT, UPDATE, DELETE y EXECUTE; no cubre DDL (TRUNCATE TABLE, CREATE, ALTER) ni, importante, SQL dinámico: EXEC(@sql) y sp_executesql se ejecutan en otro contexto y rompen la cadena.
- Entre bases de datos, el cross-database ownership chaining está desactivado por defecto (DB_CHAINING OFF) y es un riesgo si se activa: un propietario de BD con db_owner puede alcanzar objetos de otras BDs.
- Alternativas explícitas y más controlables: EXECUTE AS OWNER en el módulo (cambio de contexto) o firma de procedimientos con certificados (module signing).
- Comprobación en laboratorio: EXECUTE AS USER = 'operador'; EXEC app.usp_AltaPedido ...; SELECT * FROM dbo.Pedido; (error 229). Documentarlo: es la forma más clara de demostrarlo a los alumnos.
Puntos de Interacción / Preguntas:
- ¿Por qué un procedimiento con SQL dinámico (EXEC(@sql)) falla con «permiso denegado» aunque el usuario tenga EXECUTE sobre él?
- ¿Qué riesgo introduce activar cross-database ownership chaining entre dos bases de datos con administradores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Traducir el principio de mínimo privilegio en reglas concretas y conocer las tres herramientas básicas de auditoría de SQL Server.
Guion y Explicación Técnica:
- Mínimo privilegio: cada principal recibe sólo los permisos imprescindibles, durante el tiempo imprescindible. En la práctica: permisos a roles (no a usuarios sueltos), GRANT sobre schemas o procedimientos, cuentas separadas para aplicaciones y para administración, y revisión periódica de miembros de sysadmin y db_owner.
- Cuentas de servicio: ejecutar el motor con una cuenta de bajo privilegio (idealmente gMSA o cuenta virtual), no como administrador del dominio. Deshabilitar sa y el user guest; quitar CONNECT a guest en las BDs de usuario.
- SQL Server Audit: objeto de auditoría (destino: archivo, Application Log o Security Log) + especificación a nivel de servidor o de BD con grupos de acciones (FAILED_LOGIN_GROUP, DATABASE_ROLE_MEMBER_CHANGE_GROUP, SCHEMA_OBJECT_ACCESS_GROUP…). Disponible en todas las ediciones a nivel de servidor; las especificaciones de BD son para todas desde 2016 SP1.
- Login auditing: Propiedades del servidor → Seguridad → Auditoría de inicio de sesión (Ninguno, Sólo erróneos, Sólo correctos, Ambos); escribe en el Error Log. Barato y suficiente para detectar ataques de fuerza bruta (error 18456).
- DMVs y catálogo para revisión: sys.dm_exec_sessions (quién está conectado y desde dónde), sys.dm_exec_connections (auth_scheme), sys.server_principals, sys.database_permissions y sys.dm_server_audit_status.
- Leer el resultado de la auditoría: SELECT * FROM sys.fn_get_audit_file('/var/opt/mssql/audit/*.sqlaudit', DEFAULT, DEFAULT). Extended Events y triggers DDL cubren cambios de esquema.
- Advertencia: una auditoría demasiado amplia (p. ej. SELECT sobre tablas calientes) genera mucho volumen y penaliza el rendimiento; auditar lo que importa y proteger el destino contra manipulación.
Puntos de Interacción / Preguntas:
- ¿Qué eventos auditaríais primero en un servidor de producción con presupuesto limitado de I/O?
- ¿Cómo detectaríais que un usuario ha sido añadido a db_owner la semana pasada sin que nadie lo notificara?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Diseñar e implementar un esquema de permisos segregados (analista de lectura y operador de aplicación) siguiendo el mínimo privilegio, y verificarlo con EXECUTE AS.
Guion y Explicación Técnica:
- Duración orientativa: 60 min. Escenario: dos perfiles sobre la BD Ventas. El analista sólo consulta informes (schema rpt); el operador sólo da de alta pedidos mediante un procedimiento (schema app) y NO debe poder leer ni modificar dbo.Pedido directamente.
- Objetivo técnico: poner en práctica login → user → rol → permiso sobre schema, y demostrar ownership chaining (EXECUTE sobre el procedimiento basta para insertar).
- Criterio de éxito: el analista puede hacer SELECT en rpt.vVentasCliente pero no en dbo.Pedido; el operador ejecuta app.usp_AltaPedido con éxito pero recibe el error 229 al hacer SELECT directo.
- El docente debe insistir en el patrón de verificación: probar siempre lo que NO debe poder hacerse. Una prueba sólo de éxito no demuestra el mínimo privilegio.
- Cierre: revisar entre todos la salida de sys.database_permissions y sys.database_role_members como inventario de permisos del esquema creado.
Puntos de Interacción / Preguntas:
- ¿Qué permisos tiene realmente el operador? Demostrad con sys.fn_my_permissions y con pruebas negativas.
- ¿Qué pasaría si el procedimiento usara SQL dinámico para insertar? ¿Cómo lo resolveríais sin dar permisos sobre la tabla?
Instrucciones de Laboratorio:
- Requisito: BD Ventas con dbo.Cliente, dbo.Pedido y datos (Laboratorio 2A) y sesión con rol sysadmin.
- Paso 1 — Principals: CREATE LOGIN lg_analista WITH PASSWORD = N'&lt;clave fuerte&gt;', CHECK_POLICY = ON; y lo mismo con lg_operador. USE Ventas; CREATE SCHEMA rpt AUTHORIZATION dbo; (en su propio lote con GO) y CREATE SCHEMA app AUTHORIZATION dbo; CREATE USER analista FOR LOGIN lg_analista WITH DEFAULT_SCHEMA = rpt; CREATE USER operador FOR LOGIN lg_operador WITH DEFAULT_SCHEMA = app;
- Paso 2 — Objetos: CREATE VIEW rpt.vVentasCliente AS SELECT c.ClienteId, c.Nombre, COUNT(*) AS NumPedidos, SUM(p.Total) AS Ventas FROM dbo.Cliente c JOIN dbo.Pedido p ON p.ClienteId = c.ClienteId GROUP BY c.ClienteId, c.Nombre; y CREATE PROCEDURE app.usp_AltaPedido @ClienteId INT, @Total DECIMAL(12,2) AS BEGIN SET NOCOUNT ON; INSERT dbo.Pedido (ClienteId, Fecha, Total) VALUES (@ClienteId, CAST(GETDATE() AS date), @Total); END;
- Paso 3 — Roles y permisos: CREATE ROLE rol_lectura_rpt; GRANT SELECT ON SCHEMA::rpt TO rol_lectura_rpt; ALTER ROLE rol_lectura_rpt ADD MEMBER analista; CREATE ROLE rol_operador; GRANT EXECUTE ON SCHEMA::app TO rol_operador; ALTER ROLE rol_operador ADD MEMBER operador; DENY SELECT ON dbo.Pedido TO operador;
- Paso 4 — Verificación: EXECUTE AS USER = 'operador'; EXEC app.usp_AltaPedido @ClienteId = 1, @Total = 99.90; (debe funcionar); SELECT TOP (1) * FROM dbo.Pedido; (error 229); REVERT; Repetir con EXECUTE AS USER = 'analista': SELECT * FROM rpt.vVentasCliente; (ok) y SELECT * FROM dbo.Cliente; (error 229). Inventario: SELECT * FROM sys.database_permissions WHERE grantee_principal_id IN (DATABASE_PRINCIPAL_ID('rol_lectura_rpt'), DATABASE_PRINCIPAL_ID('rol_operador'));
- Paso 5 (opcional) — Conexión real: crear conexiones nuevas en SSMS (Autenticación SQL) con cada login y repetir las pruebas.
- Trampas habituales: (a) CREATE SCHEMA no es la primera instrucción del lote → error 111, separar con GO; (b) olvidar REVERT tras EXECUTE AS: las pruebas siguientes se ejecutan como el usuario suplantado; (c) el DENY directo sobre dbo.Pedido NO bloquea el procedimiento porque la cadena de propiedad omite la comprobación; si el alumno espera que falle, explicar la regla; (d) usar un login sin user en Ventas → error 916 (la entidad de seguridad no puede acceder a la BD).
- Guía de resolución: si el operador no puede ejecutar el procedimiento, comprobar con sys.fn_my_permissions('app.usp_AltaPedido', 'OBJECT') y que el schema app pertenece a dbo (sys.schemas.principal_id); si la cadena no funciona, verificar que ambos objetos tienen el mismo propietario efectivo.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Consolidar los cuatro bloques del módulo y conectar con el siguiente (rendimiento y alta disponibilidad).
Guion y Explicación Técnica:
- DDL e integridad: las cinco restricciones son la primera línea de calidad de datos; el índice de apoyo de las FK y los tipos ajustados evitan problemas de rendimiento futuros.
- Vistas y procedimientos: la vista indexada materializa agregaciones (coste en escritura); los procedimientos reutilizan plan y son la «API» de la BD, pero exigen vigilar el parameter sniffing y las recompilaciones.
- DML analítico: el orden lógico del SELECT explica alias, WHERE y HAVING; los tres algoritmos de join (Nested Loops, Merge, Hash) se reconocen en el plan; las window functions evitan auto-joins; usa ROWS en el frame.
- Seguridad: login (instancia) → user (BD) → rol → permiso sobre schema/objeto; DENY gana a GRANT; el ownership chaining permite exponer sólo procedimientos; mínimo privilegio y auditoría (SQL Server Audit, login auditing, DMVs).
- Hacer una ronda de «una cosa que aplicaré el lunes» (1 min por persona) y recoger dudas pendientes para repasarlas antes del siguiente módulo.
- Puente al Módulo 3: hemos visto que la elección de join, el Index Seek y el sniffing dependen de índices y estadísticas. El siguiente módulo explica cómo se construyen (B-Tree), cómo leer planes de ejecución y cómo detectar cuellos de botella con DMVs.
Puntos de Interacción / Preguntas:
- ¿Qué decisión de este módulo tendría mayor impacto en vuestra BD de producción esta semana?
- ¿Qué concepto de seguridad os parece más difícil de explicar a un desarrollador y cómo lo haríais?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Situar al alumnado en el siguiente bloque del curso: pasar de "la base de datos funciona" a "la base de datos funciona rápido y no se cae". Se presenta el mapa del módulo y los resultados esperados.
Guion y Explicación Técnica:
- Este módulo dura unas 6 horas y se divide en tres bloques: (1) optimización a nivel de datos (índices, fragmentación y estadísticas), (2) diagnóstico (planes de ejecución y DMVs) y (3) continuidad de negocio (HA/DR).
- Mensaje clave: en rendimiento NO se adivina, se mide. Todo el módulo sigue el ciclo medir → hipótesis → cambio → volver a medir, usando STATISTICS IO/TIME, el plan real y las Dynamic Management Views (DMVs).
- Conectar con el Módulo 1: lo visto sobre páginas de 8 KB, extensiones y el Buffer Pool explica por qué un índice reduce lecturas lógicas; lo visto sobre el Transaction Log será la base de Log Shipping y Always On.
- Advertir de que la mayoría de problemas de rendimiento en producción se resuelven con un buen diseño de índices y estadísticas actualizadas, antes de tocar hardware o parámetros del servidor.
- En HA/DR veremos conceptos y comparativa; la configuración paso a paso de un Availability Group queda fuera del alcance del laboratorio, pero se deja claro qué pregunta de negocio responde cada tecnología.
- Entorno del laboratorio: SQL Server 2019/2022 en Docker o instancia local, base de datos Ventas (dbo.Cliente, dbo.Pedido, dbo.Producto) y SSMS. Verificar que todos pueden conectarse antes de empezar.
Puntos de Interacción / Preguntas:
- ¿Cuál ha sido la consulta más lenta que habéis sufrido en producción y cómo se averiguó la causa?
- ¿Qué diferencia hay entre "alta disponibilidad" y "copia de seguridad"? Recogemos ideas y las contrastamos al final del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cómo SQL Server organiza físicamente una tabla (Heap o Clustered Index) y por qué esa decisión condiciona todos los demás índices y el coste de cada consulta.
Guion y Explicación Técnica:
- Una tabla sin Clustered Index es un Heap: las filas se guardan en páginas de 8 KB sin ningún orden lógico; el motor las localiza mediante las páginas IAM (Index Allocation Map). La única forma de leerlo entero es un Table Scan.
- Un Clustered Index ordena físicamente la tabla por la clave: el nivel hoja del B-Tree ES la tabla (data pages). Sólo puede haber uno por tabla. Al crear una PRIMARY KEY sin indicar otra cosa, SQL Server crea por defecto un Clustered Index único.
- Problema típico del Heap: los Forwarded Records. Si un UPDATE hace crecer una fila y no cabe en su página, la fila se mueve y deja un puntero de reenvío; cada lectura posterior cuesta una E/S adicional. Se detecta en sys.dm_db_index_physical_stats con forwarded_record_count (modo DETAILED).
- Un buen candidato a clave clustered es estrecho (menos bytes en todos los NCI, porque la clave clustered se copia en cada fila de cada índice no clustered), único (si no, SQL Server añade un uniquifier de 4 bytes), estático (cambiarla mueve la fila) y creciente (INT/BIGINT IDENTITY evita Page Splits en mitad del índice).
- Un GUID aleatorio (NEWID()) como clave clustered provoca Page Splits constantes y fragmentación; si hace falta un GUID, usar NEWSEQUENTIALID() o separar el GUID de la clave clustered.
- Cuándo un Heap sí tiene sentido: tablas de staging para cargas masivas (BULK INSERT, bcp) donde se escribe mucho y se lee una sola vez; incluso ahí conviene medir.
- Consulta útil para ver qué tiene cada tabla: SELECT OBJECT_NAME(object_id), type_desc FROM sys.indexes WHERE index_id IN (0,1); index_id 0 = Heap, 1 = Clustered.
Puntos de Interacción / Preguntas:
- ¿Qué le ocurre a una tabla con 20 índices no clustered si elegimos como clave clustered una columna NVARCHAR(200)?
- Si una tabla de auditoría sólo recibe INSERT y nunca se consulta por clave, ¿Heap o Clustered? Argumentad el coste de cada opción.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Visualizar el B-Tree como estructura común de Clustered y Non-Clustered Index para entender por qué un Index Seek necesita pocas lecturas y qué contiene realmente el nivel hoja.
Guion y Explicación Técnica:
- Todos los índices rowstore se almacenan como B-Tree balanceado: una página raíz (Root), cero o más niveles intermedios y el nivel hoja (Leaf). Un Seek recorre raíz → intermedio → hoja: típicamente 3–4 lecturas lógicas incluso en tablas de millones de filas.
- Clustered Index (izquierda): las hojas SON las páginas de datos, con todas las columnas de la fila. Las páginas de una misma hoja se enlazan en una lista doblemente enlazada, lo que permite recorrer rangos en orden (ORDER BY, BETWEEN) sin volver a la raíz.
- Non-Clustered Index (derecha): la hoja guarda las columnas de la clave del índice (más las INCLUDE) y un localizador de fila: la clave del Clustered Index o, en un Heap, el RID (File:Page:Slot). Por eso hace falta un Key Lookup/RID Lookup para recuperar el resto de columnas.
- La profundidad del árbol crece logarítmicamente: con claves de 8 bytes caben unos 600 punteros por página intermedia; con 3 niveles se direccionan cientos de millones de filas. Claves anchas reducen el fan-out y aumentan la profundidad.
- Se puede inspeccionar con sys.dm_db_index_physical_stats (columna index_depth) y con DBCC IND/DBCC PAGE (no documentados oficialmente) para mostrar páginas reales en clase.
- Impacto de escritura: cada INSERT/UPDATE/DELETE debe mantener el Clustered Index y todos los NCI afectados; de ahí que "más índices" no sea gratis.
Puntos de Interacción / Preguntas:
- ¿Cuántas lecturas lógicas esperáis para un Seek por clave en una tabla de 100 millones de filas con clave INT? ¿Y para un Scan completo?
- Si el NCI guarda la clave clustered como puntero, ¿qué pasa con todos los NCI cuando cambiamos el valor de la clave clustered de una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Explicar el Key Lookup como el coste oculto de los Non-Clustered Index y enseñar cómo un índice covering con INCLUDE lo elimina.
Guion y Explicación Técnica:
- Un Non-Clustered Index (NCI) es una estructura adicional que apunta a las filas. Si la consulta pide columnas que no están en el índice, el motor hace un Key Lookup (en Heap, RID Lookup): por cada fila encontrada en el NCI hace una lectura aleatoria al Clustered Index.
- El plan típico es Index Seek (NCI) + Nested Loops + Key Lookup (Clustered). Con pocas filas es barato; con miles de filas el coste se multiplica y el optimizador puede preferir un Clustered Index Scan directamente (tipping point, normalmente cuando el Lookup afectaría a ~25–33 % de las páginas de la tabla).
- Un índice covering contiene todas las columnas que necesita la consulta, de modo que se resuelve sólo con el NCI. Con INCLUDE las columnas extra se guardan únicamente en el nivel hoja: no forman parte de la clave, no ordenan y no cuentan para el límite de clave (1700 bytes en NCI desde SQL Server 2016, 900 en clustered).
- Orden de columnas de la clave: primero las de igualdad (=), luego la de rango (&gt;, &lt;, BETWEEN) y al final las usadas sólo para ordenar. La selectividad importa, pero el patrón de acceso manda.
- Advertencia: cada columna INCLUDE aumenta el tamaño del índice y el coste de cada escritura. No se debe "cubrir" cualquier consulta; se cubre la consulta crítica y frecuente.
- WITH (DROP_EXISTING = ON) permite redefinir un índice en una sola operación, evitando reconstruir los NCI dos veces; ONLINE = ON requiere Enterprise Edition.
Puntos de Interacción / Preguntas:
- ¿Por qué un SELECT * rara vez puede ser cubierto por un índice? ¿Qué alternativa propondríais al desarrollador?
- Vemos un Key Lookup con 80 % del coste del plan: ¿añadimos INCLUDE siempre? ¿Qué comprobaríais antes (nº de filas, columnas, frecuencia)?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Conocer dos tipos especiales de índice (filtered y columnstore) y aprender a usar con cautela las sugerencias de índices que expone el propio motor.
Guion y Explicación Técnica:
- Filtered Index: es un NCI con cláusula WHERE que indexa sólo un subconjunto de filas (por ejemplo, pedidos abiertos, Estado = 1). Es más pequeño, más barato de mantener y sus estadísticas son más precisas para ese subconjunto.
- Limitaciones: el predicado debe ser determinista y simple; el optimizador sólo lo usa si la consulta garantiza el predicado. Con consultas parametrizadas (WHERE Estado = @e) puede no usarse sin OPTION (RECOMPILE). Requiere ciertas opciones SET (QUOTED_IDENTIFIER, ANSI_NULLS ON) en la sesión.
- Columnstore (sólo mención en este curso): almacena por columnas, comprimido y procesado en modo batch. Es ideal para analítica y Data Warehouse (agregaciones sobre millones de filas); no para búsquedas puntuales OLTP. Existe clustered columnstore y nonclustered columnstore; desde 2016 se puede combinar con OLTP (operational analytics).
- Missing Index DMVs (sys.dm_db_missing_index_details, _groups, _group_stats): el optimizador registra los índices que le habrían ayudado. Son sugerencias, no órdenes: ignoran el orden óptimo de las columnas, pueden proponer índices casi duplicados, no consideran el coste de escritura y se pierden al reiniciar el servicio.
- Procedimiento sano: usar las DMVs como punto de partida, validar con el plan real de la consulta, consolidar con índices existentes (sys.dm_db_index_usage_stats muestra user_seeks/scans/lookups frente a user_updates) y medir antes/después.
- Un índice con muchos user_updates y cero lecturas es candidato a eliminarse, pero hay que observar un ciclo de negocio completo (cierre mensual, informes anuales) y recordar que estas cifras se reinician al reiniciar la instancia.
Puntos de Interacción / Preguntas:
- ¿Qué casos de vuestro negocio tienen un subconjunto "caliente" de filas (pedidos abiertos, usuarios activos) donde un filtered index aportaría valor?
- Si el servidor lleva 3 días encendido, ¿es fiable concluir que un índice no se usa? ¿Qué información adicional necesitaríais?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qué es la fragmentación de índices, cómo se mide con sys.dm_db_index_physical_stats y cómo decidir entre REORGANIZE y REBUILD apoyándose en el fillfactor.
Guion y Explicación Técnica:
- Fragmentación lógica (avg_fragmentation_in_percent): porcentaje de páginas hoja cuyo orden físico no coincide con el orden lógico de la clave. Afecta sobre todo a las lecturas de rango (read-ahead menos eficiente). Fragmentación interna: páginas poco llenas (avg_page_space_used_in_percent baja), que desperdician espacio y memoria del Buffer Pool.
- Page Split: cuando se inserta o se actualiza una fila en una página hoja llena, el motor reserva una página nueva, mueve ~50 % de las filas y enlaza la nueva página. Es costoso (log, bloqueos) y deja ambas páginas a medio llenar. Claves aleatorias (GUID) o UPDATEs que hacen crecer filas los multiplican.
- Se mide con sys.dm_db_index_physical_stats; el modo LIMITED es rápido (sólo niveles superiores) y suficiente para avg_fragmentation_in_percent; DETAILED recorre todo y es caro: no usarlo en horario de producción en tablas grandes.
- Regla de partida de Microsoft: ignorar índices de menos de ~1000 páginas; entre 5 y 30 % ALTER INDEX … REORGANIZE (siempre online, compacta hojas, interrumpible); por encima de 30 % ALTER INDEX … REBUILD (recrea el índice, actualiza estadísticas con FULLSCAN, puede ser ONLINE sólo en Enterprise). Son umbrales de partida, no leyes.
- FILLFACTOR deja un porcentaje libre en cada página hoja al reconstruir (por ejemplo 90) para absorber inserciones sin Page Split. Con claves crecientes lo habitual es 100; bájalo sólo en índices con inserciones aleatorias, y comprueba que reduce Page Splits (contador Page Splits/sec, sys.dm_db_index_operational_stats: leaf_allocation_count).
- En almacenamiento SSD/flash la fragmentación lógica penaliza menos; la densidad de página y las estadísticas siguen siendo relevantes. Un REBUILD masivo diario puede ser peor (log, bloqueos, réplicas) que el problema que intenta resolver.
Puntos de Interacción / Preguntas:
- Un índice de 300 páginas con 60 % de fragmentación: ¿lo reconstruiríais? ¿Por qué?
- ¿Qué efecto tendría un FILLFACTOR = 70 en una tabla de solo lectura? ¿Y en una con inserciones aleatorias?
- ¿Cómo comprobaríais, tras cambiar el fillfactor, que de verdad disminuyen los Page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que el optimizador elige el plan a partir de estimaciones de cardinalidad basadas en estadísticas, y saber inspeccionarlas, mantenerlas y reconocer cuándo fallan.
Guion y Explicación Técnica:
- Las estadísticas describen la distribución de valores de una o varias columnas. El Query Optimizer las usa para estimar cuántas filas devolverá cada operador (cardinalidad) y, con ello, elegir Seek vs Scan, tipo de JOIN y concesión de memoria. Estadísticas malas = planes malos.
- Cada objeto de estadísticas tiene un encabezado (filas, filas muestreadas, última actualización), un vector de densidad y un histograma de hasta 200 pasos sobre la PRIMERA columna de la clave. Se inspecciona con DBCC SHOW_STATISTICS; para ver la fecha y el nº de modificaciones, sys.dm_db_stats_properties.
- AUTO_CREATE_STATISTICS crea estadísticas de columna (_WA_Sys_…) cuando una consulta filtra por una columna sin ellas; AUTO_UPDATE_STATISTICS las refresca cuando el número de cambios supera un umbral: clásico 500 + 20 % de las filas; con nivel de compatibilidad 130 o superior, umbral dinámico aproximado √(1000 × filas), mucho más sensible en tablas grandes. AUTO_UPDATE_STATISTICS_ASYNC evita bloquear la consulta que dispara la actualización.
- Las estadísticas del índice se actualizan con FULLSCAN al hacer REBUILD, no con REORGANIZE; el muestreo por defecto de UPDATE STATISTICS puede ser insuficiente en datos muy sesgados: considerar WITH FULLSCAN o PERSIST_SAMPLE_PERCENT (2016 SP1+/2019).
- Cardinality Estimator (CE): con nivel de compatibilidad 120+ se usa el CE nuevo (2014), que cambió supuestos de correlación y contención entre predicados. Si una migración provoca regresiones, se puede comparar con LEGACY_CARDINALITY_ESTIMATION (database scoped configuration) o el hint USE HINT.
- Síntoma clásico: en el plan real, Estimated Number of Rows muy distinto de Actual Number of Rows. Causas habituales: estadísticas obsoletas, parameter sniffing, variables locales, tablas variable, columnas correlacionadas.
Puntos de Interacción / Preguntas:
- ¿Por qué un REBUILD de índice "arregla" a veces un plan lento aunque la fragmentación fuera baja?
- Una tabla de 50 millones de filas con auto-update clásico necesitaría 10 millones de cambios para actualizar estadísticas: ¿qué consecuencias tiene y cómo lo mitiga el umbral dinámico?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Reconocer los tres operadores de acceso a datos más frecuentes en un plan de ejecución y saber cuándo son normales y cuándo son una señal de alarma.
Guion y Explicación Técnica:
- Table Scan (Heap) / Clustered Index Scan / Index Scan: leen todas las páginas del objeto. Coste proporcional al número de páginas. No es malo por definición: en tablas pequeñas o cuando la consulta necesita la mayoría de las filas, un Scan secuencial con read-ahead es lo más eficiente.
- Index Seek: navega el B-Tree desde la raíz hasta el primer valor que cumple el predicado y lee sólo el rango necesario. Requiere un predicado SARGable (Search ARGument ABLE): columna sola a un lado, sin funciones ni conversiones implícitas (WHERE YEAR(Fecha) = 2024 anula el Seek; mejor un rango Fecha &gt;= … AND Fecha &lt; …).
- Un Seek también puede ser caro si devuelve millones de filas o se ejecuta muchas veces dentro de un Nested Loops (mirar Number of Executions y Actual Rows en las propiedades del operador).
- Key Lookup (Clustered) / RID Lookup (Heap): obtiene las columnas que el NCI no contiene. Va acompañado de Nested Loops. Si el nº de ejecuciones es alto, es el candidato nº 1 para un índice covering (INCLUDE).
- Coste CPU y E/S: cada operador muestra Estimated I/O Cost y Estimated CPU Cost; el porcentaje del plan es una estimación relativa del optimizador, calculada con un modelo de hardware de referencia, y NO equivale a tiempo real. Para tiempo real, usar el plan real y SET STATISTICS TIME.
- Orden de lectura: de derecha a izquierda y de arriba abajo (el flujo de datos va hacia la izquierda); el grosor de las flechas indica el volumen de filas.
Puntos de Interacción / Preguntas:
- Veis un Clustered Index Scan sobre una tabla de 200 filas: ¿hay que arreglarlo? ¿Y si la tabla tiene 200 millones?
- ¿Por qué WHERE CONVERT(VARCHAR(10), FechaPedido, 120) = '2024-03-15' impide el Index Seek? ¿Cómo lo reescribiríais?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Aprender a obtener y leer un plan de ejecución real, medir E/S y tiempo con STATISTICS IO/TIME y detectar las desviaciones y avisos que indican un problema.
Guion y Explicación Técnica:
- Plan estimado (Ctrl+L): se genera sin ejecutar la consulta; sólo contiene estimaciones. Plan real (Ctrl+M antes de ejecutar): incluye métricas reales (Actual Rows, Actual Executions, tiempos) y avisos de ejecución como spills.
- SET STATISTICS IO ON muestra por tabla: Scan count, logical reads (páginas leídas de memoria), physical reads y read-ahead reads. Las lecturas lógicas son la métrica más estable para comparar versiones de una consulta, porque no dependen de la caché ni de la carga del servidor.
- SET STATISTICS TIME ON informa de CPU time y elapsed time; el elapsed incluye esperas (bloqueos, E/S). Comparar siempre con la caché caliente y repetir varias ejecuciones; evitar DBCC DROPCLEANBUFFERS en producción.
- Estimated vs Actual Rows: una diferencia de un orden de magnitud o más es la principal pista de estadísticas obsoletas, parameter sniffing o de un predicado que el CE no sabe estimar. Se ven en las propiedades de cada operador (F4).
- Warnings (triángulo amarillo): Sort/Hash Spill a tempdb por concesión de memoria insuficiente, conversión implícita (CONVERT_IMPLICIT) que anula Seeks, columnas sin estadísticas, Missing Index. Un spill indica memory grant mal estimado.
- Query Store (SQL Server 2016+; mención): guarda por base de datos las consultas, sus planes y métricas históricas; permite detectar regresiones de plan y forzar un plan anterior. Se activa con ALTER DATABASE … SET QUERY_STORE = ON y está activado por defecto en bases nuevas desde SQL Server 2022.
Puntos de Interacción / Preguntas:
- ¿Por qué elegimos lecturas lógicas y no el tiempo transcurrido para comparar dos versiones de una consulta?
- El plan muestra Estimated Rows = 1 y Actual Rows = 900.000: ¿qué hipótesis plantearíais y qué comprobaríais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Usar las DMVs sys.dm_exec_query_stats y sys.dm_exec_requests junto con sys.dm_exec_sql_text/query_plan para localizar las consultas más costosas y ver qué está ejecutándose ahora mismo.
Guion y Explicación Técnica:
- Las Dynamic Management Views exponen el estado interno del motor sin instalar nada. Requieren el permiso VIEW SERVER STATE (VIEW SERVER PERFORMANCE STATE en SQL Server 2022) y sus datos son volátiles: se reinician al reiniciar la instancia.
- sys.dm_exec_query_stats acumula, por sentencia en la caché de planes, execution_count, total_worker_time (CPU, µs), total_elapsed_time, total_logical_reads/writes y últimos valores. Se une con sys.dm_exec_sql_text(sql_handle) para obtener el texto y con sys.dm_exec_query_plan(plan_handle) para el plan XML.
- Importante: sólo ve consultas cuyo plan sigue en caché; los planes expulsados por memoria o recompilados desaparecen, y las consultas con OPTION (RECOMPILE) no aparecen. Para histórico fiable, Query Store.
- Ordenar por total_worker_time identifica lo que más CPU consume en conjunto; por total_logical_reads, lo que más memoria/E-S toca; por promedio (dividir por execution_count) las consultas individualmente lentas. Una consulta de 5 ms ejecutada un millón de veces puede pesar más que una de 5 s ejecutada una vez.
- sys.dm_exec_requests muestra las peticiones activas ahora: status, command, wait_type, wait_time, blocking_session_id, cpu_time, logical_reads, database_id y sql_handle. Es el primer sitio al que mirar cuando "va lento ahora".
- Buenas prácticas: filtrar session_id &gt; 50 o unir con sys.dm_exec_sessions (is_user_process = 1), excluir @@SPID y limitar columnas de texto (LEFT/SUBSTRING) para no devolver lotes enormes a SSMS.
Puntos de Interacción / Preguntas:
- ¿Por qué ordenar sólo por duración media puede ocultar la consulta que más daño hace al servidor?
- Reiniciamos el servicio ayer y hoy sys.dm_exec_query_stats está casi vacío: ¿qué conclusiones podemos (y no) extraer?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Aplicar el método de Wait Statistics: identificar los tipos de espera dominantes con sys.dm_os_wait_stats y localizar bloqueos con sys.dm_os_waiting_tasks.
Guion y Explicación Técnica:
- Cada hilo (worker) de SQL Server pasa por estados RUNNING, RUNNABLE y SUSPENDED. Cuando no puede avanzar (espera un bloqueo, una E/S, memoria…) registra una espera. Analizar dónde espera el servidor indica cuál es el cuello de botella dominante.
- sys.dm_os_wait_stats es acumulativa desde el inicio de la instancia (o desde DBCC SQLPERF('sys.dm_os_wait_stats', CLEAR)): wait_time_ms incluye signal_wait_time_ms (tiempo en cola esperando CPU después de que el recurso esté listo). Si el signal wait supera ~20–25 % del total hay presión de CPU.
- Hay que filtrar las esperas benignas (SLEEP_*, LAZYWRITER_SLEEP, XE_TIMER_EVENT, BROKER_*, WAITFOR…). La lista real es larga; los scripts de referencia de la comunidad (por ejemplo, los de Paul Randal) mantienen un listado actualizado. La consulta de la diapositiva es una simplificación didáctica.
- Interpretación rápida: PAGEIOLATCH_SH/EX = lecturas de disco lentas o falta de memoria; WRITELOG = latencia del disco de log; LCK_M_* = bloqueos entre sesiones; SOS_SCHEDULER_YIELD = presión de CPU; CXPACKET/CXCONSUMER = paralelismo (no siempre un problema por sí solo); ASYNC_NETWORK_IO = el cliente tarda en consumir resultados.
- sys.dm_os_waiting_tasks es una vista instantánea de las tareas que esperan AHORA: session_id, wait_type, wait_duration_ms, blocking_session_id y resource_description (por ejemplo, el recurso bloqueado). Permite reconstruir cadenas de bloqueo y localizar el head blocker (el que bloquea y no está bloqueado).
- Método sano: tomar dos snapshots de wait_stats separados por unos minutos y calcular la diferencia; los valores acumulados desde hace semanas diluyen el problema actual.
Puntos de Interacción / Preguntas:
- El 60 % de las esperas es PAGEIOLATCH_SH: ¿qué dos líneas de actuación distintas se os ocurren (E/S y memoria/consultas)?
- ¿Por qué una consulta puede tardar 30 s con CPU time de 200 ms? ¿Dónde lo veríais?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Definir RTO y RPO como los dos requisitos de negocio que determinan qué tecnología de HA/DR elegir, y distinguir alta disponibilidad de recuperación ante desastres.
Guion y Explicación Técnica:
- RPO (Recovery Point Objective): cuántos datos, medidos en tiempo, puede perder el negocio. RPO = 15 min significa que tras un fallo se aceptan hasta 15 minutos de transacciones perdidas. RPO ≈ 0 exige que cada commit esté ya en otro lugar antes de confirmarse (replicación síncrona).
- RTO (Recovery Time Objective): cuánto tiempo puede estar caído el servicio hasta restablecerse (incluye detección, decisión, failover y recuperación de la BD). RTO = 1 min exige failover automático; RTO = 4 h permite restaurar desde backup.
- Alta Disponibilidad (HA) protege frente a fallos locales (nodo, instancia, disco) con RTO/RPO bajos, normalmente en el mismo CPD. Disaster Recovery (DR) protege frente a la pérdida de un sitio entero, normalmente con replicación asíncrona a otra ubicación; el RPO suele ser mayor que cero.
- Cuanto más cercanos a cero son RTO y RPO, mayor es el coste (licencias Enterprise, hardware duplicado, red de baja latencia, complejidad operativa). Los requisitos los define el negocio, no el DBA; el DBA los traduce a arquitectura.
- La replicación y HA NO sustituyen a los backups: un DROP TABLE accidental o la corrupción lógica se replican al secundario. Los backups (Módulo 4) siguen siendo la defensa frente a errores humanos y ransomware.
- Para un ejercicio rápido: dar tres sistemas (tienda online, ERP interno, informes mensuales) y pedir que propongan RPO y RTO razonables y su justificación económica.
Puntos de Interacción / Preguntas:
- ¿Qué RPO y RTO fijaríais para el sistema de pedidos de una tienda online en campaña de Black Friday y para un datamart de informes mensuales?
- Si el RPO es 0 y el RTO 30 s, ¿qué opciones tecnológicas siguen disponibles? ¿Y si además hay que cubrir la pérdida de todo el CPD?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Comparar Log Shipping, Replicación, Failover Cluster Instances y Always On Availability Groups según alcance, failover, pérdida de datos y requisitos, para saber elegir cada una.
Guion y Explicación Técnica:
- Log Shipping: automatiza el backup del Transaction Log de la primaria, su copia y su restauración en una o varias secundarias (NORECOVERY o STANDBY de sólo lectura). Es sencillo, barato, funciona en Standard y tiene RPO igual al intervalo de backup (minutos). El failover es manual: hay que restaurar la cola de log, recuperar la BD y redirigir las aplicaciones.
- Replicación (Snapshot, Transactional, Merge): distribuye datos a nivel de tablas/artículos, no de base de datos completa. Sirve para informes descargados, consolidación y escenarios de datos distribuidos; no es una solución de HA/DR completa (no replica logins, jobs, ni el esquema entero).
- Failover Cluster Instance (FCI): protege la INSTANCIA entera sobre un Windows Server Failover Cluster (WSFC) con almacenamiento compartido (SAN, S2D, SMB). Una sola copia de los datos: si el almacenamiento falla, todo falla. Failover automático (segundos a pocos minutos, incluida la recuperación de la BD), RPO ≈ 0. Disponible en Standard con 2 nodos.
- Always On Availability Groups (AG): protege un conjunto de bases de datos replicando el log a hasta 8 réplicas secundarias (Enterprise), síncronas (RPO 0, failover automático) o asíncronas (RPO &gt; 0, failover manual forzado). No necesita almacenamiento compartido; las réplicas pueden ser legibles y usarse para backups o informes (Enterprise).
- Un AG no replica objetos a nivel de instancia (logins, SQL Agent jobs, linked servers): hay que sincronizarlos aparte. FCI y AG pueden combinarse (FCI como réplicas de un AG).
- Criterios de elección: RTO/RPO exigidos, edición y licencias, topología de red y almacenamiento, capacidad del equipo para operar un WSFC y presupuesto. No hay una opción "mejor" en abstracto.
Puntos de Interacción / Preguntas:
- Una pyme con SQL Server Standard, un solo CPD y RTO de 30 min: ¿qué tecnología propondríais y qué limitaciones explicaríais a la dirección?
- ¿Por qué un FCI no protege frente a la corrupción del almacenamiento compartido? ¿Cómo lo complementaríais?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Interpretar la topología de un Always On Availability Group (réplicas, modos de disponibilidad, listener y quorum) y conocer las variantes Basic AG y Distributed AG.
Guion y Explicación Técnica:
- Un AG se construye sobre un Windows Server Failover Cluster (WSFC) (o, en Linux, Pacemaker). Los nodos votan para decidir qué miembros siguen en servicio: es el quorum. Con un número par de nodos se añade un testigo (File Share Witness, Cloud Witness en Azure o Disk Witness) para evitar el split-brain, es decir, dos nodos creyéndose primarios.
- La réplica primaria acepta lecturas y escrituras y envía el log de transacciones (log blocks) a las secundarias. En modo de disponibilidad síncrono (synchronous-commit) el commit no se confirma al cliente hasta que el log está endurecido en la secundaria: RPO 0 a cambio de latencia añadida; permite failover automático. En modo asíncrono el commit no espera: RPO &gt; 0 y sólo failover manual forzado (con posible pérdida de datos).
- El listener es un nombre de red virtual (VNN) y una o varias IP que siguen a la réplica primaria: las aplicaciones se conectan a él y tras un failover se reconectan a la nueva primaria (usar MultiSubnetFailover=True en la cadena de conexión). Con ApplicationIntent=ReadOnly y read-only routing se puede dirigir lectura a secundarias legibles (Enterprise).
- Basic Availability Groups (Standard Edition, desde 2016 SP1): un único par de réplicas, una sola base de datos por AG, sin lectura en la secundaria ni backups en ella. Es el sustituto de Database Mirroring, obsoleto.
- Distributed Availability Group (mención): un AG que contiene otros dos AG en clústeres WSFC distintos; útil para DR entre sitios, migraciones sin downtime y cambios de versión/SO. Enterprise Edition.
- Monitorización: sys.dm_hadr_availability_replica_states, sys.dm_hadr_database_replica_states (log_send_queue_size, redo_queue_size, synchronization_state_desc) y el Dashboard de Always On en SSMS.
- Advertencia de rendimiento: una réplica síncrona con red lenta o disco de log saturado en la secundaria penaliza a TODAS las transacciones de la primaria (esperas HADR_SYNC_COMMIT).
Puntos de Interacción / Preguntas:
- ¿Qué ocurriría con las escrituras en la primaria si la réplica síncrona pierde conectividad? ¿Cómo lo gestiona el AG?
- Tenéis dos nodos en un mismo CPD y quorum de mayoría de nodos: ¿qué pasa si cae uno? ¿Cómo ayuda un Cloud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Crear índices Non-Clustered y covering sobre dbo.Pedido y cuantificar su efecto comparando operador, lecturas lógicas y plan antes y después.
Guion y Explicación Técnica:
- Duración orientativa: 35–40 minutos. Se trabaja en parejas con SSMS conectado a la instancia (Docker: localhost,1433).
- Idea central del laboratorio: el mismo SELECT pasa de un Clustered Index Scan, a un Index Seek con Key Lookup, y finalmente a un Index Seek puro cuando el índice es covering. Cada paso se mide con STATISTICS IO.
- Recalcar la disciplina de medir: anotar en una tabla (operador, logical reads, CPU/elapsed) para la versión sin índice, con índice de clave y con índice covering.
- Aviso de rendimiento: crear índices sobre 500.000 filas es rápido en el laboratorio, pero en producción es una operación pesada (bloqueos de esquema, log, E/S); se haría fuera de horario o con ONLINE = ON (Enterprise).
Puntos de Interacción / Preguntas:
- ¿Cuánto bajan las lecturas lógicas entre el Scan y el Seek? ¿Y entre Seek+Lookup y covering?
- ¿Qué coste adicional tiene ahora un INSERT en dbo.Pedido? ¿Cómo lo medirías?
Instrucciones de Laboratorio:
- PASO 0 · Preparar datos (si no existen ya de módulos anteriores). Ejecutar en SSMS: CREATE DATABASE Ventas; (si no existe) y USE Ventas;
- CREATE TABLE dbo.Cliente (ClienteId INT IDENTITY(1,1) CONSTRAINT PK_Cliente PRIMARY KEY, Nombre NVARCHAR(100) NOT NULL, Activo BIT NOT NULL DEFAULT 1);
- INSERT dbo.Cliente (Nombre) SELECT TOP (10000) N'Cliente ' + CAST(ROW_NUMBER() OVER (ORDER BY (SELECT NULL)) AS NVARCHAR(10)) FROM sys.all_objects a CROSS JOIN sys.all_objects b;
- CREATE TABLE dbo.Pedido (PedidoId INT IDENTITY(1,1) CONSTRAINT PK_Pedido PRIMARY KEY, ClienteId INT NOT NULL, FechaPedido DATE NOT NULL, Total DECIMAL(12,2) NOT NULL, Estado TINYINT NOT NULL DEFAULT 1, Notas CHAR(200) NOT NULL DEFAULT '');
- INSERT dbo.Pedido (ClienteId, FechaPedido, Total) SELECT TOP (500000) ABS(CHECKSUM(NEWID())) % 10000 + 1, DATEADD(DAY, -(ABS(CHECKSUM(NEWID())) % 1460), CAST(GETDATE() AS DATE)), CAST(ABS(CHECKSUM(NEWID())) % 100000 / 100.0 AS DECIMAL(12,2)) FROM sys.all_objects a CROSS JOIN sys.all_objects b CROSS JOIN sys.all_objects c;
- PASO 1 · Línea base. SET STATISTICS IO, TIME ON; activar Ctrl+M (Incluir plan de ejecución real) y ejecutar: SELECT PedidoId, FechaPedido, Total FROM dbo.Pedido WHERE ClienteId = 4217 AND FechaPedido &gt;= '20240101'; Anotar operador (Clustered Index Scan) y logical reads (varios miles).
- PASO 2 · Índice de clave. CREATE NONCLUSTERED INDEX IX_Pedido_Cli_Fecha ON dbo.Pedido (ClienteId, FechaPedido); Repetir la consulta: aparece Index Seek + Key Lookup (Nested Loops). Anotar lecturas.
- PASO 3 · Índice covering. CREATE NONCLUSTERED INDEX IX_Pedido_Cli_Fecha ON dbo.Pedido (ClienteId, FechaPedido) INCLUDE (Total) WITH (DROP_EXISTING = ON); Repetir: Index Seek sin Key Lookup, lecturas lógicas de un dígito.
- PASO 4 · Uso de índices. SELECT OBJECT_NAME(s.object_id) AS Tabla, i.name, s.user_seeks, s.user_scans, s.user_lookups, s.user_updates FROM sys.dm_db_index_usage_stats s JOIN sys.indexes i ON i.object_id = s.object_id AND i.index_id = s.index_id WHERE s.database_id = DB_ID() AND s.object_id = OBJECT_ID('dbo.Pedido'); Comprobar que user_seeks aumenta con el nuevo índice.
- TRAMPAS HABITUALES: (a) olvidar activar el plan real y ver sólo el estimado; (b) ejecutar con la caché fría la primera vez y comparar con otra caliente: repetir 2–3 veces y usar logical reads; (c) la tabla tiene tan pocas filas que el optimizador sigue eligiendo Scan: comprobar que hay 500.000 filas (SELECT COUNT(*)); (d) error "ClienteId" inexistente: la tabla se creó en master porque faltó USE Ventas; (e) el generador CROSS JOIN no llega a 500.000 filas en una instancia vacía: añadir otro CROSS JOIN.
- GUÍA DE RESOLUCIÓN: si tras el paso 3 sigue habiendo Key Lookup, la consulta pide una columna que no está en el índice (por ejemplo Estado): añadirla en INCLUDE o quitarla del SELECT. Si el índice no se usa, revisar que el predicado sea SARGable y que los tipos coincidan (FechaPedido es DATE: usar literales en formato 'yyyymmdd').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Practicar la lectura de planes reales: contrastar un predicado no SARGable con uno SARGable, localizar un Key Lookup y registrar lecturas y desviaciones de cardinalidad.
Guion y Explicación Técnica:
- Duración orientativa: 30–35 minutos. Requiere haber completado el Lab 3.1 (tablas Ventas.dbo.Pedido con 500.000 filas).
- Objetivo: tres consultas casi idénticas con planes muy distintos. A) YEAR(FechaPedido) = 2024 obliga a evaluar la función sobre cada fila: Index Scan; B) rango de fechas SARGable: Index Seek; C) consulta que pide Total sobre un índice que no lo incluye: Seek + Key Lookup.
- Pedir que cada pareja rellene una tabla con operador, logical reads, Estimated vs Actual Rows y si hay warnings, y que justifique cuál es la mejor versión y por qué.
- Cerrar con una puesta en común: ¿qué cambio de código (no de índice) mejoró más? Insistir en que reescribir predicados suele ser más barato que crear índices.
Puntos de Interacción / Preguntas:
- ¿Por qué en la consulta A el optimizador no puede hacer un Seek aunque exista el índice sobre FechaPedido?
- ¿Qué indica que Estimated Rows y Actual Rows difieran mucho en la consulta C y qué haríais para corregirlo?
Instrucciones de Laboratorio:
- PASO 1 · SET STATISTICS IO ON; activar Ctrl+M. Crear el índice: CREATE NONCLUSTERED INDEX IX_Pedido_Fecha ON dbo.Pedido (FechaPedido);
- PASO 2 · Consulta A (no SARGable): SELECT PedidoId FROM dbo.Pedido WHERE YEAR(FechaPedido) = 2024; Resultado esperado: Index Scan sobre IX_Pedido_Fecha, lecturas lógicas altas. Anotar operador, logical reads y Estimated/Actual Rows.
- PASO 3 · Consulta B (SARGable): SELECT PedidoId FROM dbo.Pedido WHERE FechaPedido &gt;= '20240101' AND FechaPedido &lt; '20250101'; Resultado esperado: Index Seek con las mismas filas. Comparar lecturas con A.
- PASO 4 · Consulta C: SELECT PedidoId, Total FROM dbo.Pedido WHERE FechaPedido = '20240315'; Resultado esperado: Index Seek + Key Lookup (Total no está en el índice). Abrir las propiedades del Key Lookup (F4) y ver Number of Executions.
- PASO 5 · Resolver C: CREATE NONCLUSTERED INDEX IX_Pedido_Fecha ON dbo.Pedido (FechaPedido) INCLUDE (Total) WITH (DROP_EXISTING = ON); y repetir. El Key Lookup desaparece.
- PASO 6 · Opcional: en el plan, clic derecho → Show Execution Plan XML y localizar CardinalityEstimationModelVersion y StatementOptmLevel; luego comparar con ALTER DATABASE SCOPED CONFIGURATION SET LEGACY_CARDINALITY_ESTIMATION = ON; (volver a OFF al terminar).
- TRAMPAS HABITUALES: (a) comparar planes estimados en lugar de reales; (b) el optimizador elige Scan en la consulta B si el año consultado abarca gran parte de la tabla: probar con un mes en vez de un año; (c) mezclar tipos (comparar con un literal NVARCHAR o con una columna de otro tipo) provoca CONVERT_IMPLICIT y warnings; (d) el plan cacheado de ejecuciones previas: usar OPTION (RECOMPILE) si hay dudas con parametrización.
- GUÍA DE RESOLUCIÓN: si B no hace Seek, comprobar que el índice IX_Pedido_Fecha existe (sys.indexes) y que se ha ejecutado en la base Ventas; si hay desviación de estimaciones, UPDATE STATISTICS dbo.Pedido WITH FULLSCAN y repetir.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Provocar un bloqueo controlado y localizarlo con DMVs (sys.dm_exec_requests, sys.dm_os_waiting_tasks, sys.dm_os_wait_stats), identificando al head blocker y resolviendo la incidencia.
Guion y Explicación Técnica:
- Duración orientativa: 30 minutos. Se necesitan tres pestañas de consulta en SSMS (tres sesiones) contra la base Ventas.
- Narrativa: "la aplicación se queda colgada". Un desarrollador dejó una transacción abierta (Sesión 1); otra consulta (Sesión 2) queda bloqueada con LCK_M_S. La Sesión 3 es la del DBA que investiga solo con DMVs.
- Conceptos reforzados: blocking_session_id, wait_type LCK_M_*, head blocker, dm_os_waiting_tasks vs dm_exec_requests, y la lectura de dm_os_wait_stats antes/después.
- Cuando acabe el laboratorio, es el momento de mencionar READ_COMMITTED_SNAPSHOT (RCSI) como mitigación de bloqueos lector-escritor y de mantener transacciones cortas en la aplicación.
Puntos de Interacción / Preguntas:
- ¿Cómo distinguiríais entre una consulta lenta por CPU y una lenta por bloqueo mirando únicamente sys.dm_exec_requests?
- ¿Es razonable ejecutar KILL sobre el head blocker en producción? ¿Qué información necesitáis antes?
Instrucciones de Laboratorio:
- PASO 1 · SESIÓN 1 (pestaña 1): USE Ventas; BEGIN TRAN; UPDATE dbo.Cliente SET Activo = 0 WHERE ClienteId = 1; (no ejecutar COMMIT). Anotar el SPID con SELECT @@SPID;
- PASO 2 · SESIÓN 2 (pestaña 2): USE Ventas; SELECT Nombre FROM dbo.Cliente WHERE ClienteId = 1; La consulta queda "Ejecutando…" sin devolver resultados (bloqueada por LCK_M_S).
- PASO 3 · SESIÓN 3 (pestaña 3, la del DBA): SELECT r.session_id, r.blocking_session_id, r.wait_type, r.wait_time, t.text FROM sys.dm_exec_requests AS r CROSS APPLY sys.dm_exec_sql_text(r.sql_handle) AS t WHERE r.blocking_session_id &lt;&gt; 0; Resultado esperado: la sesión 2 con blocking_session_id = SPID de la sesión 1 y wait_type LCK_M_S.
- PASO 4 · Ver la vista instantánea de esperas: SELECT session_id, wait_type, wait_duration_ms, blocking_session_id, resource_description FROM sys.dm_os_waiting_tasks WHERE session_id &gt; 50; Localizar el head blocker (el SPID que aparece como bloqueante y no espera). Con sys.dm_exec_sessions comprobar login_name, host_name y program_name del responsable.
- PASO 5 · Resolver: en la Sesión 1 ejecutar ROLLBACK; (o KILL &lt;spid&gt; desde la sesión 3 en un caso real tras confirmar con el responsable). La Sesión 2 se completa.
- PASO 6 · Revisar esperas acumuladas: SELECT TOP (5) wait_type, wait_time_ms FROM sys.dm_os_wait_stats ORDER BY wait_time_ms DESC; y comentar que LCK_M_S de este experimento es insignificante frente a las esperas del sistema; por eso se necesitan dos snapshots.
- TRAMPAS HABITUALES: (a) la sesión 3 usa la misma pestaña que la 1 o 2 y queda bloqueada también: abrir pestañas distintas; (b) READ_COMMITTED_SNAPSHOT ON en la base evita el bloqueo del SELECT: comprobar con SELECT is_read_committed_snapshot_on FROM sys.databases WHERE name = N'Ventas'; (c) sin permiso VIEW SERVER STATE las DMVs fallan o devuelven vacío; (d) olvidar cerrar la transacción al final y dejar la tabla bloqueada para otros grupos.
- GUÍA DE RESOLUCIÓN: si no ves bloqueo, repetir con SET TRANSACTION ISOLATION LEVEL READ COMMITTED en la sesión 2 o actualizar la misma fila; para ver también las transacciones abiertas usar DBCC OPENTRAN o sys.dm_tran_active_transactions.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Consolidar los cuatro mensajes del módulo (diseño de índices, diagnóstico, mantenimiento y HA/DR) y repasar los errores más frecuentes antes de pasar al Módulo 4.
Guion y Explicación Técnica:
- Recapitular con el ciclo: medir → hipótesis → cambio → volver a medir. Cada herramienta del módulo (plan real, STATISTICS IO/TIME, DMVs, Query Store) sirve a una de esas fases.
- Índices: un Clustered Index estrecho, único, estático y creciente; NCI diseñados para las consultas críticas, con la clave en orden igualdad → rango y columnas de lectura en INCLUDE; revisar user_updates frente a user_seeks para eliminar índices inútiles.
- Errores comunes: crear índices a ciegas copiando Missing Index DMVs; reconstruir todos los índices cada noche con el mismo umbral; no ajustar el nivel de compatibilidad ni el CE tras migrar; predicados no SARGable (funciones sobre columnas, conversiones implícitas); confiar en el Coste % del plan como si fuera tiempo.
- Mantenimiento: sys.dm_db_index_physical_stats en modo LIMITED, reorganizar entre 5 y 30 %, reconstruir por encima de 30 % en índices de más de ~1000 páginas; mantener estadísticas actualizadas (el REBUILD ya lo hace con FULLSCAN; tras REORGANIZE, actualizarlas aparte).
- HA/DR: empezar siempre por RTO y RPO acordados con el negocio; Log Shipping (simple, manual), FCI (instancia, almacenamiento compartido), AG (base de datos, réplicas síncronas/asíncronas) y recordar que ninguna sustituye a los backups (Módulo 4).
- Transición: en el Módulo 4 se automatiza el mantenimiento de índices y estadísticas, se diseña la estrategia de backups y restauración, y se practican incidencias reales (LDF lleno, tempdb, deadlocks).
Puntos de Interacción / Preguntas:
- ¿Qué cambio de este módulo aplicaríais primero mañana en vuestro entorno real y cómo mediríais que ha funcionado?
- ¿Qué diferencia hay entre "alta disponibilidad" y "copia de seguridad" tras lo visto? Comparad con la respuesta de inicio del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Situar al alumnado en el último bloque del curso: pasar de «saber crear y consultar» a «saber proteger, mantener y recuperar» una instancia en producción.
Guion y Explicación Técnica:
- Este módulo es el que separa a un desarrollador con conocimientos de SQL Server de un DBA: aquí se juega la continuidad del negocio. Todo lo anterior (arquitectura, seguridad, índices, HA) converge en una pregunta: ¿qué ocurre cuando algo falla a las 3 de la madrugada?
- Recorrido: (1) modelos de recuperación y cómo condicionan el Transaction Log; (2) estrategia de backups Full + Diferencial + Log y su verificación; (3) restauración point-in-time; (4) integridad física con DBCC CHECKDB; (5) mantenimiento automatizado con SQL Server Agent; (6) incidencias típicas (LDF lleno, TempDB saturada, bloqueos y deadlocks).
- Cerraremos con el Laboratorio 4 (pérdida de datos simulada y recuperación a un instante exacto) y un caso integrador que evalúa todo el curso: seguridad, índices, backups y RPO/RTO.
- Recordar el hilo conductor: el Transaction Log (WAL) que vimos en el Módulo 1 es la pieza que hace posible la durabilidad (la «D» de ACID), el crash recovery y la restauración a un punto en el tiempo. Casi todo lo de este módulo es una consecuencia del WAL.
- Tiempo orientativo: ~6 h (teoría ~3,5 h, laboratorio 4 ~1,5 h, caso integrador ~1 h). Si el grupo va justo de tiempo, la diapositiva de mantenimiento de índices puede darse como lectura y recuperarse en el caso final.
Puntos de Interacción / Preguntas:
- ¿Quién ha sufrido alguna vez una pérdida de datos o ha tenido que restaurar una base de datos? ¿Qué falló: el backup, el proceso o la comunicación?
- ¿Cuál es el backup más importante: el que se hace o el que se ha probado restaurar?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Entender que el recovery model no cambia lo que se registra para el crash recovery, sino cuándo se puede truncar el log y hasta qué punto se puede restaurar.
Guion y Explicación Técnica:
- Recovery model Simple: el log se sigue usando (rollback y crash recovery) pero se trunca automáticamente en cada checkpoint cuando no hay otro motivo de retención. No existe BACKUP LOG y sólo se puede restaurar al último Full o Diferencial: RPO = tiempo desde el último backup.
- Full: toda operación se registra completa y el log NO se trunca hasta que un BACKUP LOG marca los VLFs como reutilizables (log_reuse_wait_desc = LOG_BACKUP). Permite STOPAT y un RPO cercano a cero con tail-log backup. Ojo: hasta el primer Full backup la base se comporta como Simple (la log chain aún no se ha iniciado).
- Bulk-Logged: igual que Full salvo en operaciones masivas (BULK INSERT, bcp, INSERT…SELECT con TABLOCK, SELECT INTO, CREATE/ALTER INDEX) que usan minimal logging: sólo se registran las asignaciones de extents, no las filas. El log backup posterior copia además esos extents (bitmap ML), por lo que puede ser grande.
- Limitación clave de Bulk-Logged: un log backup que contiene operaciones minimally logged no admite STOPAT dentro de él (error 4341) y, si el MDF se pierde, no se puede hacer tail-log. Por eso se activa sólo durante la ventana ETL y se vuelve a Full inmediatamente, con un log backup antes y otro después.
- Cambiar de modelo: ALTER DATABASE Ventas SET RECOVERY FULL. De Simple a Full hay que tomar un Full (o Diferencial) para iniciar la cadena. De Full a Simple se rompe la log chain: tras volver a Full, nuevo Full obligatorio.
- Dato práctico: la base model viene en Full, así que toda base nueva nace en Full. Si nadie programa BACKUP LOG, el LDF crece sin límite hasta llenar el disco (causa nº 1 de «LDF lleno»; lo veremos en las incidencias). Consulta: SELECT name, recovery_model_desc, log_reuse_wait_desc FROM sys.databases.
Puntos de Interacción / Preguntas:
- Si una base es Simple, ¿cuántos datos puedes perder como máximo si el disco falla justo antes del siguiente backup? ¿Es aceptable para un ERP?
- ¿Por qué cambiar a Bulk-Logged «sólo un rato» es una decisión con riesgo para el RPO?
- ¿Qué recovery model elegirías para un entorno de desarrollo y cuál para la base Ventas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Diseñar una estrategia de backups que combine los tres tipos para cumplir un RPO y un RTO concretos, y entender la log chain y los LSN.
Guion y Explicación Técnica:
- Full: copia todas las páginas asignadas más la parte activa del log necesaria para dejar la base consistente al terminar. Es la base de cualquier restauración; en el ejemplo, cada domingo a las 22:00.
- Diferencial: copia los extents modificados desde el último Full, que el motor localiza con el bitmap DCM (Differential Changed Map). Es acumulativo: para restaurar sólo se necesita el último diferencial, no todos. Crece a lo largo de la semana; si supera ~50 % del Full conviene un nuevo Full.
- Log backup: copia el log desde el último BACKUP LOG y permite truncar. Cada log backup enlaza con el anterior mediante LSN (el first_lsn de uno es el last_lsn del anterior); esa secuencia ininterrumpida es la log chain. Se rompe al pasar a Simple o si se pierde/borra un .trn.
- RPO y RTO: el RPO lo marca la frecuencia del log backup (cada 15 min → hasta 15 min de pérdida; con tail-log backup, casi cero). El RTO depende del tamaño del Full, del diferencial y de cuántos logs hay que reaplicar: más diferenciales = menos logs que reproducir = restauración más rápida.
- Ejemplo del diagrama: fallo el miércoles a las 10:37. Restauramos el Full del domingo (NORECOVERY), el diferencial del martes (NORECOVERY), los logs del martes 22:15 al miércoles 10:30 (NORECOVERY) y el último con STOPAT 10:36 y RECOVERY. Cualquier log que falte interrumpe la secuencia.
- COPY_ONLY no restablece el bitmap DCM ni afecta a la cadena: es lo que se usa para copias puntuales (por ejemplo, pasar la base a pre-producción) sin invalidar el plan. En msdb.dbo.backupset las columnas first_lsn, last_lsn, database_backup_lsn y differential_base_lsn permiten auditar la cadena.
Puntos de Interacción / Preguntas:
- Con un Full semanal, diferencial diario y log cada 15 minutos, ¿cuál es el peor caso de pérdida de datos? ¿Y qué ocurre si falla el disco donde están también los backups?
- ¿Qué backups hay que restaurar si el fallo ocurre el jueves a las 09:00 y el diferencial del miércoles está corrupto?
- ¿Cómo equilibrarías RTO y coste de almacenamiento al decidir entre más diferenciales o más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Dominar la sintaxis de BACKUP con las opciones que se usan en producción (COMPRESSION, CHECKSUM, COPY_ONLY, TO URL) y saber por qué se usan.
Guion y Explicación Técnica:
- BACKUP DATABASE … TO DISK con WITH COMPRESSION reduce el tamaño (típicamente 3–5× según los datos) y la E/S de escritura, a costa de algo de CPU. Está disponible en Standard y Enterprise desde SQL Server 2008 R2/2012. Se puede forzar por defecto con sp_configure «backup compression default».
- CHECKSUM hace que el motor valide el checksum de cada página al leerla y calcule un checksum global del backup. Si encuentra una página corrupta, el backup falla (a menos que se use CONTINUE_AFTER_ERROR), lo cual es una detección temprana de corrupción. Es obligatorio en toda la estrategia.
- INIT sobrescribe el fichero; sin él se anexan sets al mismo medio (NOINIT). STATS = 10 muestra el avance. Convención de nombres con fecha y hora (Ventas_FULL_20250312_2200.bak) para evitar sobrescrituras y facilitar la limpieza.
- DIFFERENTIAL: sólo cambios desde el último Full «base». Un BACKUP LOG sólo es posible en Full/Bulk-Logged y tras un primer Full; si la base está en Simple devuelve el error 4208.
- COPY_ONLY: copia independiente que no actualiza differential_base_lsn ni trunca el log (en BACKUP LOG). Úsalo para extraer copias para desarrollo o auditoría.
- BACKUP … TO URL (Azure Blob Storage) permite enviar copias fuera del datacenter con una credencial SAS (CREATE CREDENTIAL sobre la URL del contenedor). Desde 2022 también se admite S3. Regla 3-2-1: 3 copias, 2 soportes distintos, 1 fuera de sitio. Para backups grandes en Azure, usar striping (varios TO URL) por el límite de bloque.
- En Docker/Linux las rutas son /var/opt/mssql/backup/…; el proceso mssql necesita permisos de escritura en esa carpeta (usuario mssql). Un backup en el mismo disco que los datos no es un backup.
Puntos de Interacción / Preguntas:
- ¿Qué ventaja tiene CHECKSUM frente a lanzar un backup sin verificación de páginas?
- ¿Cuándo usarías COPY_ONLY y qué se rompería si hicieras ese backup sin la opción?
- ¿Dónde guardarías los ficheros .bak para cumplir la regla 3-2-1?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Saber salvar la cola del log antes de restaurar, verificar que un backup es legible y consultar el historial de backups en msdb.
Guion y Explicación Técnica:
- Tail-log backup: es el log backup que se hace ANTES de restaurar para capturar las transacciones que aún no estaban en ningún backup. WITH NORECOVERY deja la base en estado RESTORING e impide nuevas transacciones; WITH NO_TRUNCATE permite hacerlo aunque la base esté dañada (siempre que el LDF sea accesible). Es lo que da un RPO cercano a cero.
- Si el LDF también se ha perdido, el tail-log es imposible y el RPO queda en el último log backup. Por eso conviene separar MDF y LDF en discos distintos, y por eso los log backups frecuentes importan más que los Full.
- RESTORE VERIFYONLY comprueba que el set de backup está completo y es legible (cabecera, checksums si se tomó WITH CHECKSUM). NO restaura datos ni garantiza que la base sea consistente: es una verificación mínima. La prueba real es restaurar en otro servidor y lanzar DBCC CHECKDB.
- msdb.dbo.backupset guarda un registro por backup (type: D = Full, I = Diferencial, L = Log; is_copy_only, first_lsn, last_lsn, backup_size, compressed_backup_size) y backupmediafamily la ruta física. msdb.dbo.restorehistory documenta las restauraciones. Son la fuente de verdad para reconstruir la cadena cuando alguien pregunta «¿cuál fue el último backup?».
- Limpieza: msdb crece con el historial; programar sp_delete_backuphistory @oldest_date (lo veremos en mantenimiento) y vigilar el tamaño de msdb. Alerta: un backup «reciente» en msdb no implica que el fichero exista aún en disco.
- RESTORE HEADERONLY, RESTORE FILELISTONLY y RESTORE LABELONLY inspeccionan el contenido de un .bak sin restaurarlo; FILELISTONLY es imprescindible para saber qué nombres lógicos usar en MOVE.
Puntos de Interacción / Preguntas:
- ¿Qué diferencia hay entre «el backup se ha verificado» y «la base se puede restaurar»?
- ¿Qué haces si el servidor ha caído, el MDF está corrupto pero el LDF está intacto?
- ¿Cómo detectarías con una consulta que lleva dos semanas sin hacerse un log backup en alguna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Ser capaz de escribir y razonar la secuencia completa de RESTORE (Full → Diff → Logs) para volver a un instante concreto, entendiendo NORECOVERY, RECOVERY, STANDBY y MOVE.
Guion y Explicación Técnica:
- Orden estricto: 1) RESTORE DATABASE del Full con NORECOVERY; 2) el último Diferencial con NORECOVERY (opcional pero acelera); 3) todos los RESTORE LOG en orden de LSN con NORECOVERY; 4) el último log con STOPAT y RECOVERY (o sólo RECOVERY si se quiere hasta el final).
- NORECOVERY deja la base en RESTORING y NO deshace transacciones sin confirmar, para poder seguir aplicando backups. RECOVERY (opción por defecto) ejecuta la fase de undo, abre la base y ya no admite más backups de la cadena. STANDBY = fichero undo + base de sólo lectura entre restauraciones (útil en Log Shipping para consultar la réplica).
- STOPAT = fecha/hora: el motor reaplica el log hasta ese instante y descarta las transacciones posteriores (la hora es la del servidor, no UTC). Alternativas: STOPATMARK / STOPBEFOREMARK con transacciones marcadas (BEGIN TRAN … WITH MARK) y STOPAT con LSN en 2022.
- MOVE reubica los ficheros lógicos al restaurar (otro volumen o servidor). Los nombres lógicos se ven con RESTORE FILELISTONLY. En Linux/Docker las rutas son /var/opt/mssql/data/…; si no se usa MOVE, el motor intenta usar las rutas originales y falla si no existen.
- REPLACE sobrescribe una base existente: úsalo sólo si estás seguro. Antes, hacer siempre un tail-log. Para restauraciones parciales existen RESTORE … PAGE (restauración de página, online en Enterprise) y RESTORE con PARTIAL / filegroups.
- Progreso: STATS = 5 o sys.dm_exec_requests.percent_complete. El tiempo de restauración incluye la fase de recovery (redo/undo): un log de transacción largo con una transacción grande abierta alarga el undo. El Instant File Initialization acelera la creación de los MDF/NDF, no del LDF.
- Tras RECOVERY: validar el negocio (COUNT(*) de tablas clave), ejecutar DBCC CHECKDB y recrear logins huérfanos con ALTER USER … WITH LOGIN o sp_change_users_login (mismatch de SID al restaurar en otro servidor).
Puntos de Interacción / Preguntas:
- ¿Qué pasa si restauras el Full con RECOVERY y luego intentas aplicar un diferencial?
- Un compañero ejecutó DELETE sin WHERE a las 10:36. ¿Qué STOPAT usarías y qué harías con los datos introducidos entre las 10:36 y las 10:50?
- ¿Por qué conviene restaurar con otro nombre en un servidor distinto antes de tocar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cómo se detecta la corrupción (PAGE_VERIFY CHECKSUM, DBCC CHECKDB, errores 823/824/825) y por qué la reparación con pérdida de datos es el último recurso.
Guion y Explicación Técnica:
- PAGE_VERIFY CHECKSUM (por defecto desde 2005 en bases nuevas) escribe un checksum en la cabecera de cada página al grabarla a disco y lo valida al leerla. Detecta corrupción introducida por el subsistema de E/S. Comprobar con SELECT name, page_verify_option_desc FROM sys.databases; las bases migradas de 2000 pueden estar en TORN_PAGE_DETECTION o NONE.
- Los errores típicos: 823 = fallo de E/S del sistema operativo al leer/escribir (CRC, disco o controladora); 824 = error lógico de consistencia (checksum o torn page incorrectos); 825 = la lectura falló pero tuvo éxito tras reintentos (read-retry): es una alerta temprana de un disco que se está degradando. Todos son gravedad 24: crear alertas del Agent para 823, 824, 825 y gravedades 19–25.
- DBCC CHECKDB combina CHECKALLOC (asignación), CHECKTABLE (estructuras de tablas e índices), CHECKCATALOG y validación de Service Broker/vistas indexadas. Trabaja sobre un snapshot interno (sparse, sin bloqueos) y usa mucho TempDB y E/S. Con WITH PHYSICAL_ONLY es mucho más rápido (sólo estructura física y checksums); ejecutar la verificación completa al menos semanalmente.
- msdb.dbo.suspect_pages registra las páginas con error 823/824 (event_type 1–3: error de E/S, mal checksum, torn page; 4 = restaurada; 5 = reparada; 7 = desasignada). En un Availability Group, la réplica puede reparar páginas automáticamente (sys.dm_hadr_auto_page_repair).
- Reparación: REPAIR_REBUILD arregla problemas menores (por ejemplo, índices non-clustered) sin pérdida; REPAIR_ALLOW_DATA_LOSS borra páginas y filas para restaurar consistencia estructural, sin respetar integridad referencial ni reglas de negocio. Exige SINGLE_USER y siempre después de hacer un backup. Es el último recurso.
- Primera opción ante corrupción: restaurar desde backup (o RESTORE … PAGE si afecta a pocas páginas y existe log chain) y reaplicar logs; así no se pierden datos. Ejecuta CHECKDB sobre una copia restaurada para descargar producción y, de paso, probar los backups.
Puntos de Interacción / Preguntas:
- ¿Por qué un backup WITH CHECKSUM no sustituye a DBCC CHECKDB?
- Aparece un error 825 en el errorlog, pero las aplicaciones funcionan. ¿Qué haces y con qué urgencia?
- ¿Cuándo es defendible usar REPAIR_ALLOW_DATA_LOSS, y qué comunicarías al negocio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Elegir entre REORGANIZE y REBUILD según el nivel de fragmentación y entender por qué las estadísticas actualizadas importan más que la fragmentación.
Guion y Explicación Técnica:
- Fragmentación: sys.dm_db_index_physical_stats con modo LIMITED (barato, sólo nivel hoja padre) mide avg_fragmentation_in_percent (fragmentación lógica por Page Splits). Regla clásica: &lt; 5 % no hacer nada; 5–30 % REORGANIZE; &gt; 30 % REBUILD; ignorar índices de menos de ~1000 páginas (no merece la pena).
- REORGANIZE: compacta y reordena las páginas hoja en el sitio, siempre ONLINE, en pequeñas transacciones, se puede interrumpir sin perder el trabajo hecho, y NO actualiza estadísticas. Usa poco log pero lo genera de forma sostenida.
- REBUILD: crea un índice nuevo completo y elimina el viejo; actualiza las estadísticas del índice con el equivalente a FULLSCAN, aplica el fill factor y puede reducir el espacio. Es offline por defecto; ONLINE = ON sólo en Enterprise (con WAIT_AT_LOW_PRIORITY desde 2014 y RESUMABLE desde 2017). Registra mucho log en Full: vigilar el LDF y los log backups durante la ventana.
- Realidad moderna: con SSD/SAN y Buffer Pool grande la fragmentación influye menos que antes (sobre todo en scans y read-ahead). Lo realmente importante son las estadísticas: el optimizador estima cardinalidades con el histograma; estadísticas obsoletas = planes malos.
- Auto update statistics se dispara con ~20 % de filas modificadas (+500) en bases antiguas; con compatibilidad 130+ el umbral dinámico es SQRT(1000 × filas), mucho más sensible en tablas grandes. Se consulta con sys.dm_db_stats_properties (modification_counter, last_updated). UPDATE STATISTICS … WITH FULLSCAN en horas valle para tablas críticas.
- Recordatorio: REBUILD de todos los índices cada noche es un antipatrón de los Maintenance Plans clásicos; genera log, bloquea y no suele mejorar nada. Mejor soluciones por umbrales (Ola Hallengren) y fill factor adecuado para reducir los Page Splits.
Puntos de Interacción / Preguntas:
- ¿Por qué un REBUILD no necesita luego un UPDATE STATISTICS sobre el mismo índice, pero un REORGANIZE sí?
- ¿Qué riesgo tiene un REBUILD nocturno de todos los índices en una base en recovery Full?
- Si la fragmentación está al 40 % en un índice de 200 páginas, ¿merece la pena actuar?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Conocer las piezas para automatizar el mantenimiento (Agent jobs, Maintenance Plans, scripts de Ola Hallengren, limpieza de msdb, Database Mail y alertas) y saber elegir entre ellas.
Guion y Explicación Técnica:
- SQL Server Agent ejecuta jobs: pasos (T-SQL, CmdExec, PowerShell, SSIS), schedules, notificaciones y reintentos. El estado vive en msdb (sysjobs, sysjobsteps, sysjobhistory). No existe en Express. En Docker/Linux se activa con MSSQL_AGENT_ENABLED=true (o mssql-conf set sqlagent.enabled true).
- Maintenance Plans: asistente gráfico, genera paquetes SSIS. Son fáciles pero poco flexibles: la tarea «Rebuild Index» reconstruye todo sin mirar fragmentación y la tarea «Shrink Database» es un antipatrón (fragmenta de nuevo y provoca crecimiento posterior).
- Scripts de Ola Hallengren (ola.hallengren.com): DatabaseBackup, DatabaseIntegrityCheck e IndexOptimize como procedimientos almacenados con parámetros (@FragmentationLevel1 = 5, @FragmentationLevel2 = 30, @UpdateStatistics = «ALL», @LogToTable). Son el estándar de facto, se auditan en la tabla CommandLog y funcionan con jobs de Agent. Recomendados sobre los Maintenance Plans.
- Limpieza de msdb: sp_delete_backuphistory @oldest_date, sp_purge_jobhistory, sysmail_delete_mailitems_sp y sysmail_delete_log_sp. Un msdb con años de historial ralentiza SSMS y las restauraciones (el asistente consulta backupset).
- Database Mail (sp_configure «Database Mail XPs», perfil + cuenta SMTP) permite que el Agent notifique. Los operadores (sp_add_operator) definen quién recibe correos de fallo de job. Alertas del Agent: por gravedad 19–25 y por errores concretos (823, 824, 825, 9002); la alerta dispara un job o notifica a un operador.
- Calendario de referencia en producción: log backup cada 15 min; diferencial diario; Full semanal; CHECKDB semanal; IndexOptimize diario/semanal; limpieza de historial semanal. Todo con notificación de fallo y vigilancia de que el job «no se ha ejecutado» (un job que nunca corre no falla).
Puntos de Interacción / Preguntas:
- ¿Qué ventajas ofrece una solución basada en scripts frente a un Maintenance Plan gráfico? ¿Y desventajas?
- ¿Cómo te enterarías de que un job de backup lleva tres noches sin ejecutarse?
- ¿Qué errores y gravedades darías de alta como alertas en una instancia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Diagnosticar un LDF lleno (error 9002) mediante log_reuse_wait_desc, tratar la causa raíz y evitar «soluciones» peligrosas como borrar el fichero o encadenar SHRINKFILE.
Guion y Explicación Técnica:
- Síntoma: error 9002 «The transaction log for database is full due to …». El motivo se indica al final del mensaje y en sys.databases.log_reuse_wait_desc: es lo que impide que los VLFs inactivos se marquen como reutilizables (truncado lógico).
- LOG_BACKUP: la causa más habitual; la base está en Full/Bulk-Logged y no hay BACKUP LOG programado (o ha fallado). Solución: hacer log backup y programarlos cada 15 min.
- ACTIVE_TRANSACTION: una transacción larga o abandonada mantiene activo el MinLSN; el log no se puede truncar aunque se hagan log backups. DBCC OPENTRAN o sys.dm_tran_active_transactions + sys.dm_exec_sessions localizan al responsable; cerrar la transacción en el cliente es preferible a KILL (el rollback puede tardar tanto como el trabajo hecho).
- AVAILABILITY_REPLICA y REPLICATION: una réplica del AG atrasada (sys.dm_hadr_database_replica_states) o un Log Reader Agent parado retienen el log hasta que el consumidor lo lea. También hay OLDEST_PAGE, CHECKPOINT, ACTIVE_BACKUP_OR_RESTORE y DATABASE_MIRRORING.
- Medición: DBCC SQLPERF (LOGSPACE) o sys.dm_db_log_space_usage; sys.dm_db_log_info (2016 SP2+) muestra los VLFs. Un autogrowth pequeño (1 MB o 10 %) crea cientos de VLFs y ralentiza recuperación y backups: configurar crecimiento fijo (p. ej. 512 MB–1 GB) y tamaño inicial adecuado.
- Qué NO hacer: borrar o renombrar el .ldf, pasar a Simple «para que se vacíe» sin entender que se rompe la log chain, o reducir (SHRINKFILE) en bucle. En emergencia puede añadirse un segundo fichero de log en otro volumen y retirarlo después. La reducción es puntual, tras resolver la causa.
Puntos de Interacción / Preguntas:
- ¿Por qué hacer un BACKUP LOG no libera espacio si hay una transacción abierta desde ayer?
- ¿Qué implica cambiar la base a Simple en mitad de la incidencia para el RPO del negocio?
- ¿Cómo evitarías que se repita (monitorización, tamaño inicial, autogrowth, alertas)?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Identificar qué consume TempDB (objetos de usuario, internos y version store) y reconocer y mitigar la contención de páginas de asignación PFS/GAM/SGAM.
Guion y Explicación Técnica:
- TempDB se recrea en cada arranque a partir de model; usa un log que no hace redo y es siempre «minimal». Todas las sesiones la comparten: una consulta descontrolada o una transacción larga puede llenarla y afectar a toda la instancia (errores 1105 y 9002 sobre tempdb).
- Consumidores: (1) objetos de usuario (#tablas, @variables tabla, cursores); (2) objetos internos (sorts, hash joins, spools, spills a disco por una mala estimación del memory grant: aparecen como Sort/Hash Warning en el plan); (3) version store, con RCSI, SNAPSHOT, triggers, online index operations: lo limpia una tarea de fondo, pero una transacción larga abierta impide la limpieza.
- Diagnóstico: sys.dm_db_file_space_usage (user_object_reserved_page_count, internal_object_reserved_page_count, version_store_reserved_page_count), sys.dm_db_session_space_usage y sys.dm_db_task_space_usage por sesión; sys.dm_tran_active_snapshot_database_transactions para la transacción más antigua del version store.
- Contención de asignación: PFS (página 1, cada 8088 páginas), GAM (página 2) y SGAM (página 3) se protegen con latches. Con muchas sesiones creando/destruyendo objetos temporales aparecen esperas PAGELATCH_UP/EX sobre 2:1:1, 2:1:2, 2:1:3 (sys.dm_os_waiting_tasks). Con 2019 se añade contención de metadatos, mitigable con MEMORY_OPTIMIZED TEMPDB_METADATA.
- Mitigación: varios ficheros de datos del MISMO tamaño y FILEGROWTH (1 por núcleo lógico hasta 8; si persiste, de 4 en 4); el instalador (2016+) propone el número y los TF 1117/1118 son comportamiento por defecto en tempdb. Pre-dimensionar y ponerla en almacenamiento rápido.
- No reducir tempdb de forma rutinaria: reiniciar la instancia la devuelve a su tamaño configurado. Si se llena, localizar la sesión (KILL con cautela), corregir la consulta (índices, estadísticas, memory grant) o acortar la transacción que retiene el version store.
Puntos de Interacción / Preguntas:
- ¿Qué diferencia hay entre un spill a TempDB y la creación explícita de una #tabla? ¿Cómo lo reconoces en el plan?
- Si activamos RCSI en Ventas, ¿qué cambia en el consumo de TempDB y qué vigilarías?
- ¿Por qué los ficheros de tempdb deben tener el mismo tamaño?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Distinguir bloqueo prolongado de deadlock, localizar al bloqueador raíz con DMVs, leer el grafo de deadlock de system_health y aplicar mitigaciones (RCSI, índices, orden de acceso) sin abusar de KILL.
Guion y Explicación Técnica:
- Bloqueo (blocking): una sesión pide un lock incompatible con el que otra mantiene y espera (LCK_M_S, LCK_M_X, LCK_M_U…). Es normal y breve; es incidencia cuando se prolonga porque el bloqueador tiene una transacción abierta (sesión sleeping con open_transaction_count &gt; 0).
- Diagnóstico: sys.dm_exec_requests.blocking_session_id muestra quién bloquea a cada petición; el bloqueador raíz es la sesión que bloquea a otras y no está bloqueada (blocking_session_id = 0). sys.dm_tran_locks (request_status = WAIT / GRANT) detalla recurso y modo; sys.dm_os_waiting_tasks da la cadena de esperas; sys.dm_exec_sql_text(sql_handle) y most_recent_sql_handle en dm_exec_connections revelan la consulta.
- Deadlock: dos o más sesiones se esperan en ciclo. El Lock Monitor (cada 5 s, más a menudo si hay deadlocks) elige una víctima (DEADLOCK_PRIORITY, luego menor coste de rollback) y devuelve el error 1205 al cliente. El grafo (xml_deadlock_report) está en la sesión Extended Events system_health (siempre activa, ficheros .xel); también TF 1222 lo escribe en el errorlog.
- Mitigación: transacciones cortas, acceder a los objetos siempre en el mismo orden, índices adecuados (menos filas bloqueadas, evita table scans bajo lock y la escalada a lock de tabla a las ~5000 locks), reintentos con TRY…CATCH ante el error 1205 y LOCK_TIMEOUT.
- Niveles de aislamiento: READ COMMITTED (por defecto) bloquea lectores contra escritores. READ_COMMITTED_SNAPSHOT (RCSI) hace que los lectores lean la última versión confirmada del version store (en TempDB) sin bloquear: ALTER DATABASE Ventas SET READ_COMMITTED_SNAPSHOT ON WITH ROLLBACK IMMEDIATE. Coste: TempDB y 14 bytes por fila. SNAPSHOT añade lecturas consistentes por transacción y conflictos de actualización (error 3960).
- KILL &lt;session_id&gt; termina la sesión y revierte su transacción: el rollback puede ser tan largo como lo ya hecho (KILL … WITH STATUSONLY indica el avance) y mientras tanto sigue reteniendo locks. Nunca matar sesiones del sistema ni sin entender qué hace el proceso (backup, restore, rebuild). Es el último paso, tras intentar contactar al propietario.
Puntos de Interacción / Preguntas:
- ¿Cómo distingues desde las DMVs entre un bloqueo largo y un deadlock? ¿Qué ve el usuario en cada caso?
- ¿Qué gana y qué pierde Ventas al activar RCSI? ¿Quién paga el coste?
- Encuentras que el bloqueador raíz es una sesión «sleeping» con una transacción abierta de hace 3 horas. ¿Qué haces antes de ejecutar 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Comprender la arquitectura desacoplada de SQL Server Integration Services (SSIS), los pasos para instalar el motor en el servidor y la configuración del entorno de desarrollo visual en Visual Studio.
Guion y Explicación Técnica:
- SQL Server Integration Services (SSIS) es la plataforma empresarial de Microsoft para extracción, transformación y carga (ETL). Para un DBA, es crucial distinguir el motor de ejecución en el servidor del entorno de diseño en el cliente.
- Instalación en servidor: en el asistente de instalación de SQL Server (Setup.exe), se debe marcar la característica «Integration Services» dentro de Shared Features. Esto registra el servicio de Windows MsDtsSrvr. Para utilizar el modelo moderno de despliegue por proyectos, se debe crear el catálogo SSISDB en Management Studio (SSMS). Esto requiere habilitar previamente CLR mediante sp_configure «clr enabled», 1 y RECONFIGURE.
- Catálogo SSISDB: es una base de datos de usuario alojada en la propia instancia relacional. Protege contraseñas y parámetros de conexión mediante cifrado simétrico y asimétrico respaldado por la Database Master Key. Si se migra la base de datos a otro servidor, es imprescindible contar con la contraseña maestra definida al crear el catálogo.
- Herramienta visual de diseño: antiguamente venía BIDS o SSDT integrado en la ISO de SQL Server. Desde las versiones modernas (SQL Server 2017/2019/2022), Microsoft desacopló el ciclo de vida: se instala Visual Studio (edición Community gratuita, Professional o Enterprise) y se añade la extensión «SQL Server Integration Services Projects» desde el Marketplace de Visual Studio.
- El artefacto final de diseño es un archivo .ispac que empaqueta el proyecto completo con sus parámetros de entorno, conexiones y paquetes .dtsx.
Puntos de Interacción / Preguntas:
- ¿Por qué Microsoft separó la herramienta de diseño visual del instalador del motor de base de datos?
- ¿Qué consecuencias tendría perder la contraseña de cifrado del catálogo SSISDB al migrar a otro servidor?
- ¿Qué diferencia hay entre ejecutar un paquete en modo depuración dentro de Visual Studio y ejecutarlo en el motor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Aprender a construir un pipeline de carga masiva en el Data Flow de SSIS desde un archivo plano CSV hacia una tabla relacional en SQL Server, comprendiendo los tipos de datos internos y la optimización de carga.
Guion y Explicación Técnica:
- En SSIS, la arquitectura distingue dos niveles fundamentales: el Control Flow (orquesta tareas, bucles y lógica condicional de ejecución) y el Data Flow Task (mueve y transforma datos en memoria RAM).
- Dentro de la tarea Data Flow, el motor de SSIS utiliza un pipeline basado en buffers en memoria RAM (gobernados por DefaultBufferMaxRows y DefaultBufferSize). Los datos nunca tocan el disco mientras viajan del origen al destino a menos que se sature la RAM (spooling).
- Paso 1 - Flat File Source: lee el archivo CSV. Es crucial definir correctamente la página de códigos (ej. UTF-8 65001), delimitadores de columna y salto de fila, y si la primera fila contiene los encabezados. Todos los campos de texto plano se interpretan inicialmente como cadenas DT_STR (ANSI) o DT_WSTR (Unicode).
- Paso 2 - Data Conversion: la base de datos relacional espera enteros, fechas o decimales tipados. Esta transformación convierte los tipos de datos en el buffer de memoria. Si una fila contiene un valor no convertible, el componente permite redirigir el error (Error Output) a un fichero de auditoría sin abortar todo el lote.
- Paso 3 - OLE DB Destination: conecta con la base de datos destino de SQL Server. La configuración crítica para el DBA es seleccionar «Table or view - fast load». Esto ejecuta un BULK INSERT directo a la tabla con la opción TABLOCK, minimizando el consumo de Transaction Log y realizando cargas de cientos de miles de filas en segundos en lugar de ejecutar INSERTs individuales.
Puntos de Interacción / Preguntas:
- ¿Qué ocurre con el rendimiento de la base de datos si dejamos OLE DB Destination en modo estándar en vez de Fast Load?
- ¿Por qué es preferible usar Flat File (CSV) frente a Excel para procesos batch automáticos y desatendidos?
- ¿Cómo configurarías la salida de errores (Error Output) para no detener la carga si 5 filas de 100.000 vienen con datos corruptos?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Dominar el ciclo de vida de producción de un paquete SSIS: despliegue en SSISDB, automatización mediante SQL Server Agent y aseguramiento con Proxies para cumplimiento del mínimo privilegio.
Guion y Explicación Técnica:
- El ciclo de vida de un paquete SSIS no termina en Visual Studio: el rol del DBA comienza cuando el desarrollador entrega el archivo compilado .ispac (Project Deployment Model).
- Despliegue: en SSMS, se despliega el .ispac dentro del catálogo SSISDB en una carpeta dedicada por aplicación. SSISDB permite definir Variables de Entorno (Environments), de modo que el mismo paquete use cadenas de conexión de desarrollo, staging o producción sin necesidad de recompilar.
- Automatización: en SQL Server Agent se crea un nuevo Job. Al añadir un paso (Job Step), se selecciona el tipo de subsistema «SQL Server Integration Services Package», apuntando al proyecto y paquete en SSISDB.
- Seguridad con Proxies (punto clave): por defecto, los pasos de SSIS ejecutados por usuarios no-sysadmin no pueden correr bajo la cuenta de servicio del Agent. Un DBA profesional crea una Credential con un usuario de servicio de Windows y la vincula a un Proxy del Agent para el subsistema SSIS. Así, el paquete tiene únicamente los permisos de lectura NTFS sobre la carpeta de red donde caen los CSVs y permisos de escritura en la tabla destino.
- Diagnóstico y monitorización: cuando un job de SSIS falla, el historial del Agent suele mostrar un error genérico («The package execution failed»). Para ver la causa exacta (fila errónea, tipo incompatible, timeout), el DBA hace clic derecho en el proyecto dentro de SSISDB -&gt; Reports -&gt; Standard Reports -&gt; All Executions, o consulta directamente la tabla catalog.operation_messages.
Puntos de Interacción / Preguntas:
- ¿Por qué es una mala práctica convertir en sysadmin al usuario que ejecuta los jobs de SSIS para solucionar problemas de permisos?
- ¿Dónde buscarías el mensaje detallado de error si el historial del Agent solo indica «falló el paso 1»?
- ¿Cómo ayudan los «Environments» de SSISDB a separar los entornos de pruebas y producción sin tocar el código del paquete?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Dejar la base Ventas lista para el ejercicio de desastre: recovery model Full y una log chain completa (Full, log, diferencial, log) con actividad entre backups.
Guion y Explicación Técnica:
- Contexto: el laboratorio simula el escenario del diagrama de la estrategia: un Full, actividad, backups intermedios y un desastre posterior. Todo se hace sobre Ventas (la base creada en los laboratorios anteriores) en el contenedor Docker de SQL Server.
- Importancia del orden: sin Full previo, BACKUP LOG falla (error 4214 / «no hay backup actual de la base»); un diferencial exige un Full base. Por eso el primer paso es el Full, y por eso la log chain empieza aquí.
- WITH COMPRESSION, CHECKSUM, INIT: INIT sobrescribe el fichero si se repite el ejercicio; CHECKSUM valida páginas. Las rutas son /var/opt/mssql/backup/ dentro del contenedor; hay que montarla como volumen (docker run -v …) si se quiere ver desde el host.
- La actividad entre backups (INSERT en dbo.Cliente) sirve para que cada tipo de backup contenga datos distintos y para poder comprobar después hasta dónde se restauró.
- Anotar la hora (SYSDATETIME) justo antes del desastre es el dato más importante de la práctica: será el STOPAT. Pedir al alumnado que lo copie en un bloc de notas.
- Tiempo: ~20 min. Mientras corren los backups, aprovechar para repasar msdb.dbo.backupset y la columna type.
Puntos de Interacción / Preguntas:
- ¿Qué ocurre si se lanza BACKUP LOG antes del primer Full? ¿Por qué?
- ¿Qué contiene el diferencial respecto del log backup anterior?
Instrucciones de Laboratorio:
- Paso 1 (SSMS o sqlcmd conectado al contenedor): ejecutar USE master; ALTER DATABASE Ventas SET RECOVERY FULL; y comprobar con SELECT recovery_model_desc FROM sys.databases WHERE name = N'Ventas'.
- Paso 2: tomar el Full inicial (Ventas_L4_FULL.bak). Verificar que aparece en msdb.dbo.backupset con type = D.
- Paso 3: insertar un cliente y tomar el primer log backup (Ventas_L4_LOG1.trn); insertar otro y tomar el diferencial (Ventas_L4_DIFF.bak).
- Paso 4: insertar un tercer cliente y tomar un segundo log backup (Ventas_L4_LOG2.trn). Ejecutar SELECT COUNT(*) FROM dbo.Pedido y anotar el resultado (baseline).
- Trampas habituales: (a) el usuario mssql del contenedor no tiene permiso sobre la carpeta del volumen montado (error 3201/«Operating system error 5»); (b) la base estaba en SIMPLE y no se cambió (BACKUP LOG devuelve el error 4208); (c) la columna Nombre de dbo.Cliente tiene otras columnas NOT NULL: adaptar el INSERT; (d) rutas Windows (C:\…) en un contenedor Linux.
- Guía de resolución: SELECT bs.type, bs.backup_finish_date, bmf.physical_device_name FROM msdb.dbo.backupset bs JOIN msdb.dbo.backupmediafamily bmf ON bmf.media_set_id = bs.media_set_id WHERE bs.database_name = N'Ventas' ORDER BY bs.backup_finish_date; debe mostrar D, L, I, L en ese orden. Si falta alguno, repetir ese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Provocar un error humano (DELETE sin WHERE), registrar la hora previa y salvar las transacciones con un tail-log backup antes de restaurar.
Guion y Explicación Técnica:
- El error humano es la causa de pérdida de datos más frecuente en producción (más que el fallo hardware). Simulamos un DELETE FROM dbo.Pedido sin WHERE: las filas desaparecen de forma lógica pero el log las contiene.
- Capturar SYSDATETIME() justo antes, y esperar unos segundos (WAITFOR DELAY) antes del DELETE para que haya margen entre HoraOK y el accidente al fijar STOPAT. La hora es la del servidor: en Docker normalmente UTC.
- Tail-log backup con NORECOVERY: toma la cola del log (incluye el DELETE y todo lo anterior) y deja la base en RESTORING, bloqueando nuevas escrituras mientras se restaura. En producción es el paso que evita perder los últimos minutos.
- Explicar la lección: lo que se restaura es la base anterior al DELETE, pero los datos legítimos hechos entre el accidente y la detección se perderían; alternativa: restaurar con otro nombre (RESTORE … AS Ventas_Recup) y copiar sólo las filas borradas con INSERT…SELECT.
- Verificar el estado tras el tail-log: SELECT name, state_desc FROM sys.databases WHERE name = N'Ventas'; debe mostrar RESTORING.
Puntos de Interacción / Preguntas:
- ¿Por qué hay que hacer el tail-log ANTES de empezar a restaurar?
- ¿Qué alternativa tendrías si sólo quisieras recuperar las filas borradas sin revertir toda la base?
Instrucciones de Laboratorio:
- Paso 1: en una pestaña de SSMS ejecutar USE Ventas; SELECT COUNT(*) AS Pedidos FROM dbo.Pedido; y anotar el valor.
- Paso 2: ejecutar SELECT SYSDATETIME() AS HoraOK; copiar el valor (p. ej. 2025-03-12 10:36:05.1234567) y esperar 5 s con WAITFOR DELAY.
- Paso 3: ejecutar el «accidente»: DELETE FROM dbo.Pedido; y comprobar COUNT(*) = 0.
- Paso 4: desde master tomar el tail-log (Ventas_L4_TAIL.trn) WITH NORECOVERY, CHECKSUM. Si la sesión que borró sigue conectada a Ventas, cerrarla antes o añadir ALTER DATABASE … SET SINGLE_USER WITH ROLLBACK IMMEDIATE.
- Trampas habituales: (a) dejar USE Ventas activo y no poder pasar a RESTORING (hay conexiones abiertas); (b) olvidar anotar la hora; (c) usar NORECOVERY en el tail-log y luego querer consultar la base (está en RESTORING, es lo esperado); (d) confundir hora local y UTC.
- Guía de resolución: si el tail-log falla por conexiones, ejecutar ALTER DATABASE Ventas SET SINGLE_USER WITH ROLLBACK IMMEDIATE y repetir. Si se olvidó la hora, buscarla con fn_dblog o, tras restaurar a otro nombre, con una consulta por la fecha de la última fila válida.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Ejecutar la secuencia completa de restauración con STOPAT, recuperar Pedido y verificar el resultado comparándolo con el baseline.
Guion y Explicación Técnica:
- Secuencia: Full (NORECOVERY, REPLACE) → diferencial (NORECOVERY) → log 1 (NORECOVERY) → log 2 (NORECOVERY, si se tomó) → tail-log con STOPAT = HoraOK y RECOVERY. Cada paso debe devolver «RESTORE DATABASE successfully processed» antes del siguiente.
- El STOPAT ha de ir en el último log que cubra la hora y estar ANTES del DELETE. Si la hora indicada es anterior al inicio de ese log, el motor devuelve el error 4326 («too early to apply»); si es posterior al final, avisa de que el log termina antes (y la base queda recuperada al final del log).
- REPLACE es necesario porque la base existe (en RESTORING) y se sobrescribe. Si alguien omite NORECOVERY en el Full, el siguiente RESTORE falla («the database is online / el log no se puede restaurar»): hay que volver a empezar.
- Verificación: SELECT COUNT(*) FROM dbo.Pedido debe igualar el baseline anotado antes del DELETE. Después: DBCC CHECKDB (Ventas) WITH NO_INFOMSGS y una consulta a msdb.dbo.restorehistory para ver la secuencia.
- Cierre pedagógico: discutir el RTO real medido (cuánto tardó) y el RPO (qué se perdió, en este caso nada gracias al tail-log); conectar con el caso integrador.
Puntos de Interacción / Preguntas:
- ¿Qué diferencia habría si en vez de STOPAT usáramos sólo RECOVERY con el tail-log completo?
- Si el COUNT(*) es menor que el baseline, ¿qué hipótesis comprobarías primero?
Instrucciones de Laboratorio:
- Paso 1: desde master, RESTORE DATABASE Ventas FROM DISK = Ventas_L4_FULL.bak WITH NORECOVERY, REPLACE.
- Paso 2: RESTORE DATABASE Ventas FROM DISK = Ventas_L4_DIFF.bak WITH NORECOVERY.
- Paso 3: RESTORE LOG con Ventas_L4_LOG1.trn (NORECOVERY); si se tomó el segundo log (LOG2), restaurarlo también en orden.
- Paso 4: RESTORE LOG con Ventas_L4_TAIL.trn WITH STOPAT = N'&lt;HoraOK&gt;', RECOVERY (usar el valor anotado; formato aaaa-mm-ddThh:mm:ss).
- Paso 5: comprobar COUNT(*) FROM dbo.Pedido = baseline, state_desc = ONLINE y ejecutar DBCC CHECKDB.
- Trampas habituales: (a) aplicar un log fuera de orden o saltarse uno: error 4305 («log too recent / LSN too early»); (b) STOPAT posterior al DELETE: la tabla sigue vacía; (c) restaurar el Full sin NORECOVERY: la base se abre y la cadena se corta; (d) nombres lógicos distintos al usar MOVE (revisar con RESTORE FILELISTONLY).
- Guía de resolución: si se cometió el error (c), repetir desde el paso 1 con REPLACE. Si STOPAT queda tarde, repetir toda la secuencia con una hora anterior (restaurando de nuevo desde el Full). Comprobar los LSN con RESTORE HEADERONLY o en msdb.dbo.backupset (first_lsn / last_lsn).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Integrar todo el curso en un único entregable: dejar una instancia lista para producción con seguridad, rendimiento, estrategia de backups y mantenimiento que cumpla un RPO y un RTO dados.
Guion y Explicación Técnica:
- Escenario: «Ventas S.A.» pone en producción la base Ventas (Cliente, Pedido, Producto) en una instancia nueva. Se pide un plan de operación defendible ante el responsable de sistemas, con un RPO ≤ 15 min y un RTO ≤ 60 min.
- Requisitos de seguridad (Módulo 2): login SQL o de dominio para la aplicación con permisos mínimos (db_datareader/db_datawriter o permisos sobre schema), rol de sólo lectura para informes, ningún miembro de sysadmin salvo el DBA; auditoría básica de logins fallidos.
- Requisitos de rendimiento (Módulo 3): al menos 2 índices justificados con plan de ejecución antes/después (por ejemplo, Pedido por ClienteId + Fecha con INCLUDE de Total) y una consulta analítica que pase de scan a seek; evidencias con SET STATISTICS IO.
- Requisitos de backups (Módulo 4): recovery Full, Full semanal, Diferencial diario, Log cada 15 min con COMPRESSION y CHECKSUM, copia fuera del servidor (Azure Blob o ruta de red), restauración de prueba en otro nombre (Ventas_Test) con medición del tiempo real.
- Mantenimiento: jobs de Agent para backups, CHECKDB semanal, mantenimiento de índices y estadísticas por umbrales, limpieza de msdb, alertas 823/824/825 y gravedad 19–25, Database Mail y operador DBA.
- Evaluación: seguridad 25 %, rendimiento 25 %, backups y restauración 30 %, mantenimiento y alertas 20 %. Entregables: script T-SQL (idempotente y comentado), informe breve de 1–2 páginas con RPO/RTO medidos y capturas de la restauración.
Puntos de Interacción / Preguntas:
- ¿Cómo demostrarías con datos que se cumple el RPO de 15 minutos? ¿Y el RTO de 60 minutos?
- ¿Qué riesgo queda sin cubrir con este diseño (p. ej. fallo del sitio completo) y cómo lo mitigarías con lo visto en HA/DR?
- ¿Qué pondrías en el runbook para que otra persona pueda restaurar a las 3 de la madrugada?
Instrucciones de Laboratorio:
- Dinámica: trabajo individual o en parejas, ~60 min más 10 min de puesta en común. El docente recorre los grupos con la rúbrica.
- Paso 1 (10 min): seguridad: CREATE LOGIN + CREATE USER + roles; probar con EXECUTE AS que la app no puede DROP ni leer fuera de su schema.
- Paso 2 (15 min): índices: capturar el plan antes (Table Scan / Key Lookup), crear el índice (con INCLUDE), capturar después (Index Seek) y comparar lecturas lógicas.
- Paso 3 (20 min): backups: recovery Full, Full + Diff + Log con CHECKSUM, simular un fallo y restaurar a otro nombre con MOVE, medir el RTO.
- Paso 4 (15 min): mantenimiento: crear al menos un job (log backup cada 15 min), una alerta (error 823 o gravedad 24) y el operador DBA.
- Trampas habituales: backups en el mismo volumen que los datos; no probar la restauración; dar sysadmin a la aplicación «para ir más rápido»; índices duplicados; olvidar el INCLUDE y mantener el Key Lookup; no iniciar la log chain (falta del primer Full).
- Guía de resolución: seguridad correcta = login → user → rol/permisos sin sysadmin; rendimiento = lecturas lógicas menores y plan con Seek; backups = cadena msdb completa (D, I, L) y tiempo de restore medido &lt; 60 min; mantenimiento = jobs con historial en msdb y alertas visibles en sysjobs / sysalerts.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Consolidar en una lista accionable los hábitos que protegen la instancia y que el alumnado puede aplicar desde el primer día de trabajo.
Guion y Explicación Técnica:
- Backups: el estándar es recovery Full con Full + Diff + Log según RPO/RTO, siempre con CHECKSUM y compresión, guardados fuera del servidor (3-2-1) y con una restauración de prueba mensual. «Un backup no probado es una esperanza».
- Integridad: PAGE_VERIFY CHECKSUM en todas las bases, DBCC CHECKDB al menos semanal (idealmente sobre una copia restaurada) y alertas 823, 824, 825 y gravedad 19–25 enviadas por Database Mail.
- Mantenimiento: reorganizar/reconstruir por umbrales (5 %/30 %, &gt; 1000 páginas), estadísticas actualizadas, limpieza de msdb y revisión del historial de jobs. Evitar SHRINK y rebuild ciegos.
- Capacidad y rendimiento: autogrowth en MB fijos y tamaños iniciales realistas, ficheros de tempdb iguales, monitorización de espacio, log_reuse_wait_desc y esperas con DMVs. Baseline para detectar desviaciones.
- Seguridad: mínimo privilegio, sin cuentas compartidas, sa deshabilitada o con contraseña robusta, auditoría de sysadmin y parches (CU) al día con ventana de mantenimiento.
- Operación: runbooks documentados, contactos de escalado, pruebas de DR periódicas (RPO/RTO medidos) y control de cambios. La automatización reduce errores humanos, la principal causa de incidentes.
Puntos de Interacción / Preguntas:
- ¿Qué elemento del checklist es el más barato de implantar y el más caro de olvidar?
- ¿Cuáles de estos hábitos ya se aplican en vuestra organización y cuáles no? ¿Qué impide hacerlo?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Pedagógico:
Cerrar el curso resumiendo las ideas que el alumnado debe recordar y animarle a seguir practicando con un entorno propio.
Guion y Explicación Técnica:
- Resumen en cuatro ideas. 1) Entender el motor: Relational Engine, Storage Engine, Buffer Pool y el Transaction Log (WAL) explican por qué SQL Server rinde y se recupera como lo hace; casi todo problema se resuelve mejor sabiendo qué hay debajo.
- 2) Proteger los datos: mínimo privilegio, estrategia de backups alineada con RPO/RTO, CHECKSUM, tail-log, restauraciones de prueba y DBCC CHECKDB. La disciplina vale más que las herramientas.
- 3) Optimizar con evidencia: medir primero (DMVs, planes de ejecución, esperas) y actuar después (índices adecuados, estadísticas actualizadas), evitando «recetas» como rebuild nocturno o shrink.
- 4) Automatizar y vigilar: jobs del Agent, alertas, Database Mail y runbooks. Un DBA eficaz es el que consigue que lo previsible no requiera intervención y que lo imprevisto se detecte pronto.
- Próximos pasos recomendados: montar un laboratorio personal en Docker; practicar Always On Availability Groups, TDE y Always Encrypted; explorar Query Store y Extended Events; preparar las certificaciones DP-300 (Azure Database Administrator) o similares.
- Cerrar con la evaluación del caso integrador, la encuesta del curso y un espacio para dudas. Agradecer la participación y compartir los scripts y la guía del docente.
Puntos de Interacción / Preguntas:
- ¿Qué es lo primero que cambiarías mañana en tu instancia de producción tras este curso?
- ¿Qué parte te gustaría profundizar: alta disponibilidad, tuning de consultas o seguridad avanzada?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slideLayout" Target="../slideLayouts/slideLayout1.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slideLayout" Target="../slideLayouts/slideLayout1.xml"/><Relationship Id="rId8"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image" Target="../media/image-69-6.png"/><Relationship Id="rId7" Type="http://schemas.openxmlformats.org/officeDocument/2006/relationships/slideLayout" Target="../slideLayouts/slideLayout1.xml"/><Relationship Id="rId8"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slideLayout" Target="../slideLayouts/slideLayout1.xml"/><Relationship Id="rId7"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1.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slideLayout" Target="../slideLayouts/slideLayout1.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image" Target="../media/image-80-6.png"/><Relationship Id="rId7" Type="http://schemas.openxmlformats.org/officeDocument/2006/relationships/image" Target="../media/image-80-7.png"/><Relationship Id="rId8" Type="http://schemas.openxmlformats.org/officeDocument/2006/relationships/image" Target="../media/image-80-8.png"/><Relationship Id="rId9" Type="http://schemas.openxmlformats.org/officeDocument/2006/relationships/slideLayout" Target="../slideLayouts/slideLayout1.xml"/><Relationship Id="rId1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1.xml"/><Relationship Id="rId6"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528"/>
        </a:solidFill>
      </p:bgPr>
    </p:bg>
    <p:spTree>
      <p:nvGrpSpPr>
        <p:cNvPr id="1" name=""/>
        <p:cNvGrpSpPr/>
        <p:nvPr/>
      </p:nvGrpSpPr>
      <p:grpSpPr>
        <a:xfrm>
          <a:off x="0" y="0"/>
          <a:ext cx="0" cy="0"/>
          <a:chOff x="0" y="0"/>
          <a:chExt cx="0" cy="0"/>
        </a:xfrm>
      </p:grpSpPr>
      <p:sp>
        <p:nvSpPr>
          <p:cNvPr id="2" name="Shape 0"/>
          <p:cNvSpPr/>
          <p:nvPr/>
        </p:nvSpPr>
        <p:spPr>
          <a:xfrm>
            <a:off x="7406640" y="822960"/>
            <a:ext cx="4754880" cy="4754880"/>
          </a:xfrm>
          <a:prstGeom prst="ellipse">
            <a:avLst/>
          </a:prstGeom>
          <a:solidFill>
            <a:srgbClr val="134074">
              <a:alpha val="30000"/>
            </a:srgbClr>
          </a:solidFill>
          <a:ln/>
        </p:spPr>
      </p:sp>
      <p:sp>
        <p:nvSpPr>
          <p:cNvPr id="3" name="Shape 1"/>
          <p:cNvSpPr/>
          <p:nvPr/>
        </p:nvSpPr>
        <p:spPr>
          <a:xfrm>
            <a:off x="8001000" y="1417320"/>
            <a:ext cx="3566160" cy="3566160"/>
          </a:xfrm>
          <a:prstGeom prst="ellipse">
            <a:avLst/>
          </a:prstGeom>
          <a:solidFill>
            <a:srgbClr val="134074">
              <a:alpha val="55000"/>
            </a:srgbClr>
          </a:solidFill>
          <a:ln/>
        </p:spPr>
      </p:sp>
      <p:sp>
        <p:nvSpPr>
          <p:cNvPr id="4" name="Shape 2"/>
          <p:cNvSpPr/>
          <p:nvPr/>
        </p:nvSpPr>
        <p:spPr>
          <a:xfrm>
            <a:off x="8732520" y="2148840"/>
            <a:ext cx="2103120" cy="2103120"/>
          </a:xfrm>
          <a:prstGeom prst="ellipse">
            <a:avLst/>
          </a:prstGeom>
          <a:solidFill>
            <a:srgbClr val="D95D39"/>
          </a:solidFill>
          <a:ln/>
        </p:spPr>
      </p:sp>
      <p:pic>
        <p:nvPicPr>
          <p:cNvPr id="5" name="Image 0" descr="preencoded.png">    </p:cNvPr>
          <p:cNvPicPr>
            <a:picLocks noChangeAspect="1"/>
          </p:cNvPicPr>
          <p:nvPr/>
        </p:nvPicPr>
        <p:blipFill>
          <a:blip r:embed="rId1"/>
          <a:stretch>
            <a:fillRect/>
          </a:stretch>
        </p:blipFill>
        <p:spPr>
          <a:xfrm>
            <a:off x="9258300" y="2674620"/>
            <a:ext cx="1051560" cy="1051560"/>
          </a:xfrm>
          <a:prstGeom prst="rect">
            <a:avLst/>
          </a:prstGeom>
        </p:spPr>
      </p:pic>
      <p:sp>
        <p:nvSpPr>
          <p:cNvPr id="6" name="Shape 3"/>
          <p:cNvSpPr/>
          <p:nvPr/>
        </p:nvSpPr>
        <p:spPr>
          <a:xfrm>
            <a:off x="7498080" y="1143000"/>
            <a:ext cx="640080" cy="640080"/>
          </a:xfrm>
          <a:prstGeom prst="ellipse">
            <a:avLst/>
          </a:prstGeom>
          <a:solidFill>
            <a:srgbClr val="0B2545"/>
          </a:solidFill>
          <a:ln/>
        </p:spPr>
      </p:sp>
      <p:pic>
        <p:nvPicPr>
          <p:cNvPr id="7" name="Image 1" descr="preencoded.png">    </p:cNvPr>
          <p:cNvPicPr>
            <a:picLocks noChangeAspect="1"/>
          </p:cNvPicPr>
          <p:nvPr/>
        </p:nvPicPr>
        <p:blipFill>
          <a:blip r:embed="rId2"/>
          <a:stretch>
            <a:fillRect/>
          </a:stretch>
        </p:blipFill>
        <p:spPr>
          <a:xfrm>
            <a:off x="7658100" y="1303020"/>
            <a:ext cx="320040" cy="320040"/>
          </a:xfrm>
          <a:prstGeom prst="rect">
            <a:avLst/>
          </a:prstGeom>
        </p:spPr>
      </p:pic>
      <p:sp>
        <p:nvSpPr>
          <p:cNvPr id="8" name="Shape 4"/>
          <p:cNvSpPr/>
          <p:nvPr/>
        </p:nvSpPr>
        <p:spPr>
          <a:xfrm>
            <a:off x="10972800" y="1417320"/>
            <a:ext cx="640080" cy="640080"/>
          </a:xfrm>
          <a:prstGeom prst="ellipse">
            <a:avLst/>
          </a:prstGeom>
          <a:solidFill>
            <a:srgbClr val="0B2545"/>
          </a:solidFill>
          <a:ln/>
        </p:spPr>
      </p:sp>
      <p:pic>
        <p:nvPicPr>
          <p:cNvPr id="9" name="Image 2" descr="preencoded.png">    </p:cNvPr>
          <p:cNvPicPr>
            <a:picLocks noChangeAspect="1"/>
          </p:cNvPicPr>
          <p:nvPr/>
        </p:nvPicPr>
        <p:blipFill>
          <a:blip r:embed="rId3"/>
          <a:stretch>
            <a:fillRect/>
          </a:stretch>
        </p:blipFill>
        <p:spPr>
          <a:xfrm>
            <a:off x="11132820" y="1577340"/>
            <a:ext cx="320040" cy="320040"/>
          </a:xfrm>
          <a:prstGeom prst="rect">
            <a:avLst/>
          </a:prstGeom>
        </p:spPr>
      </p:pic>
      <p:sp>
        <p:nvSpPr>
          <p:cNvPr id="10" name="Shape 5"/>
          <p:cNvSpPr/>
          <p:nvPr/>
        </p:nvSpPr>
        <p:spPr>
          <a:xfrm>
            <a:off x="7818120" y="4709160"/>
            <a:ext cx="640080" cy="640080"/>
          </a:xfrm>
          <a:prstGeom prst="ellipse">
            <a:avLst/>
          </a:prstGeom>
          <a:solidFill>
            <a:srgbClr val="0B2545"/>
          </a:solidFill>
          <a:ln/>
        </p:spPr>
      </p:sp>
      <p:pic>
        <p:nvPicPr>
          <p:cNvPr id="11" name="Image 3" descr="preencoded.png">    </p:cNvPr>
          <p:cNvPicPr>
            <a:picLocks noChangeAspect="1"/>
          </p:cNvPicPr>
          <p:nvPr/>
        </p:nvPicPr>
        <p:blipFill>
          <a:blip r:embed="rId4"/>
          <a:stretch>
            <a:fillRect/>
          </a:stretch>
        </p:blipFill>
        <p:spPr>
          <a:xfrm>
            <a:off x="7978140" y="4869180"/>
            <a:ext cx="320040" cy="320040"/>
          </a:xfrm>
          <a:prstGeom prst="rect">
            <a:avLst/>
          </a:prstGeom>
        </p:spPr>
      </p:pic>
      <p:sp>
        <p:nvSpPr>
          <p:cNvPr id="12" name="Shape 6"/>
          <p:cNvSpPr/>
          <p:nvPr/>
        </p:nvSpPr>
        <p:spPr>
          <a:xfrm>
            <a:off x="10835640" y="4617720"/>
            <a:ext cx="640080" cy="640080"/>
          </a:xfrm>
          <a:prstGeom prst="ellipse">
            <a:avLst/>
          </a:prstGeom>
          <a:solidFill>
            <a:srgbClr val="0B2545"/>
          </a:solidFill>
          <a:ln/>
        </p:spPr>
      </p:sp>
      <p:pic>
        <p:nvPicPr>
          <p:cNvPr id="13" name="Image 4" descr="preencoded.png">    </p:cNvPr>
          <p:cNvPicPr>
            <a:picLocks noChangeAspect="1"/>
          </p:cNvPicPr>
          <p:nvPr/>
        </p:nvPicPr>
        <p:blipFill>
          <a:blip r:embed="rId5"/>
          <a:stretch>
            <a:fillRect/>
          </a:stretch>
        </p:blipFill>
        <p:spPr>
          <a:xfrm>
            <a:off x="10995660" y="4777740"/>
            <a:ext cx="320040" cy="320040"/>
          </a:xfrm>
          <a:prstGeom prst="rect">
            <a:avLst/>
          </a:prstGeom>
        </p:spPr>
      </p:pic>
      <p:sp>
        <p:nvSpPr>
          <p:cNvPr id="14" name="Text 7"/>
          <p:cNvSpPr/>
          <p:nvPr/>
        </p:nvSpPr>
        <p:spPr>
          <a:xfrm>
            <a:off x="731520" y="1463040"/>
            <a:ext cx="2926080" cy="329184"/>
          </a:xfrm>
          <a:prstGeom prst="roundRect">
            <a:avLst>
              <a:gd name="adj" fmla="val 50000"/>
            </a:avLst>
          </a:prstGeom>
          <a:solidFill>
            <a:srgbClr val="D95D39"/>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CURSO DE FORMACIÓN · 25 H</a:t>
            </a:r>
            <a:endParaRPr lang="en-US" sz="1100" dirty="0"/>
          </a:p>
        </p:txBody>
      </p:sp>
      <p:sp>
        <p:nvSpPr>
          <p:cNvPr id="15" name="Text 8"/>
          <p:cNvSpPr/>
          <p:nvPr/>
        </p:nvSpPr>
        <p:spPr>
          <a:xfrm>
            <a:off x="731520" y="2011680"/>
            <a:ext cx="6400800" cy="201168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Administración de SQL Server</a:t>
            </a:r>
            <a:endParaRPr lang="en-US" sz="4600" dirty="0"/>
          </a:p>
        </p:txBody>
      </p:sp>
      <p:sp>
        <p:nvSpPr>
          <p:cNvPr id="16" name="Text 9"/>
          <p:cNvSpPr/>
          <p:nvPr/>
        </p:nvSpPr>
        <p:spPr>
          <a:xfrm>
            <a:off x="731520" y="4206240"/>
            <a:ext cx="6217920" cy="914400"/>
          </a:xfrm>
          <a:prstGeom prst="rect">
            <a:avLst/>
          </a:prstGeom>
          <a:noFill/>
          <a:ln/>
        </p:spPr>
        <p:txBody>
          <a:bodyPr wrap="square" lIns="0" tIns="0" rIns="0" bIns="0" rtlCol="0" anchor="t"/>
          <a:lstStyle/>
          <a:p>
            <a:pPr indent="0" marL="0">
              <a:buNone/>
            </a:pPr>
            <a:r>
              <a:rPr lang="en-US" sz="2000" dirty="0">
                <a:solidFill>
                  <a:srgbClr val="8DA9C4"/>
                </a:solidFill>
                <a:latin typeface="Calibri" pitchFamily="34" charset="0"/>
                <a:ea typeface="Calibri" pitchFamily="34" charset="-122"/>
                <a:cs typeface="Calibri" pitchFamily="34" charset="-120"/>
              </a:rPr>
              <a:t>De la arquitectura del motor a la alta disponibilidad: operar bases de datos en producción</a:t>
            </a:r>
            <a:endParaRPr lang="en-US" sz="2000" dirty="0"/>
          </a:p>
        </p:txBody>
      </p:sp>
      <p:sp>
        <p:nvSpPr>
          <p:cNvPr id="17" name="Text 1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18" name="Text 11"/>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0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BIENVENIDA</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Qué vamos a aprender: 25 horas, 4 módulos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0   2</a:t>
            </a:r>
            <a:endParaRPr lang="en-US" sz="1000" dirty="0"/>
          </a:p>
        </p:txBody>
      </p:sp>
      <p:sp>
        <p:nvSpPr>
          <p:cNvPr id="7" name="Shape 4"/>
          <p:cNvSpPr/>
          <p:nvPr/>
        </p:nvSpPr>
        <p:spPr>
          <a:xfrm>
            <a:off x="548640" y="1600200"/>
            <a:ext cx="2036003" cy="1737360"/>
          </a:xfrm>
          <a:prstGeom prst="roundRect">
            <a:avLst>
              <a:gd name="adj" fmla="val 6316"/>
            </a:avLst>
          </a:prstGeom>
          <a:solidFill>
            <a:srgbClr val="0B2545"/>
          </a:solidFill>
          <a:ln/>
        </p:spPr>
      </p:sp>
      <p:sp>
        <p:nvSpPr>
          <p:cNvPr id="8" name="Text 5"/>
          <p:cNvSpPr/>
          <p:nvPr/>
        </p:nvSpPr>
        <p:spPr>
          <a:xfrm>
            <a:off x="731520" y="1737360"/>
            <a:ext cx="1670243"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0,5 h</a:t>
            </a:r>
            <a:endParaRPr lang="en-US" sz="4000" dirty="0"/>
          </a:p>
        </p:txBody>
      </p:sp>
      <p:sp>
        <p:nvSpPr>
          <p:cNvPr id="9" name="Text 6"/>
          <p:cNvSpPr/>
          <p:nvPr/>
        </p:nvSpPr>
        <p:spPr>
          <a:xfrm>
            <a:off x="731520" y="2555748"/>
            <a:ext cx="1670243" cy="694944"/>
          </a:xfrm>
          <a:prstGeom prst="rect">
            <a:avLst/>
          </a:prstGeom>
          <a:noFill/>
          <a:ln/>
        </p:spPr>
        <p:txBody>
          <a:bodyPr wrap="square" lIns="0" tIns="0" rIns="0" bIns="0" rtlCol="0" anchor="t"/>
          <a:lstStyle/>
          <a:p>
            <a:pPr algn="ctr" indent="0" marL="0">
              <a:buNone/>
            </a:pPr>
            <a:r>
              <a:rPr lang="en-US" sz="1300" dirty="0">
                <a:solidFill>
                  <a:srgbClr val="DCE6F2"/>
                </a:solidFill>
                <a:latin typeface="Calibri" pitchFamily="34" charset="0"/>
                <a:ea typeface="Calibri" pitchFamily="34" charset="-122"/>
                <a:cs typeface="Calibri" pitchFamily="34" charset="-120"/>
              </a:rPr>
              <a:t>M0 · Bienvenida y entorno</a:t>
            </a:r>
            <a:endParaRPr lang="en-US" sz="1300" dirty="0"/>
          </a:p>
        </p:txBody>
      </p:sp>
      <p:sp>
        <p:nvSpPr>
          <p:cNvPr id="10" name="Shape 7"/>
          <p:cNvSpPr/>
          <p:nvPr/>
        </p:nvSpPr>
        <p:spPr>
          <a:xfrm>
            <a:off x="2813243" y="1600200"/>
            <a:ext cx="2036003" cy="1737360"/>
          </a:xfrm>
          <a:prstGeom prst="roundRect">
            <a:avLst>
              <a:gd name="adj" fmla="val 631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2996123" y="1737360"/>
            <a:ext cx="1670243" cy="86868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5,5 h</a:t>
            </a:r>
            <a:endParaRPr lang="en-US" sz="4000" dirty="0"/>
          </a:p>
        </p:txBody>
      </p:sp>
      <p:sp>
        <p:nvSpPr>
          <p:cNvPr id="12" name="Text 9"/>
          <p:cNvSpPr/>
          <p:nvPr/>
        </p:nvSpPr>
        <p:spPr>
          <a:xfrm>
            <a:off x="2996123" y="2555748"/>
            <a:ext cx="1670243" cy="694944"/>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M1 · Fundamentos y arquitectura</a:t>
            </a:r>
            <a:endParaRPr lang="en-US" sz="1300" dirty="0"/>
          </a:p>
        </p:txBody>
      </p:sp>
      <p:sp>
        <p:nvSpPr>
          <p:cNvPr id="13" name="Shape 10"/>
          <p:cNvSpPr/>
          <p:nvPr/>
        </p:nvSpPr>
        <p:spPr>
          <a:xfrm>
            <a:off x="5077846" y="1600200"/>
            <a:ext cx="2036003" cy="1737360"/>
          </a:xfrm>
          <a:prstGeom prst="roundRect">
            <a:avLst>
              <a:gd name="adj" fmla="val 631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Text 11"/>
          <p:cNvSpPr/>
          <p:nvPr/>
        </p:nvSpPr>
        <p:spPr>
          <a:xfrm>
            <a:off x="5260726" y="1737360"/>
            <a:ext cx="1670243" cy="86868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7 h</a:t>
            </a:r>
            <a:endParaRPr lang="en-US" sz="4000" dirty="0"/>
          </a:p>
        </p:txBody>
      </p:sp>
      <p:sp>
        <p:nvSpPr>
          <p:cNvPr id="15" name="Text 12"/>
          <p:cNvSpPr/>
          <p:nvPr/>
        </p:nvSpPr>
        <p:spPr>
          <a:xfrm>
            <a:off x="5260726" y="2555748"/>
            <a:ext cx="1670243" cy="694944"/>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M2 · Gestión y seguridad</a:t>
            </a:r>
            <a:endParaRPr lang="en-US" sz="1300" dirty="0"/>
          </a:p>
        </p:txBody>
      </p:sp>
      <p:sp>
        <p:nvSpPr>
          <p:cNvPr id="16" name="Shape 13"/>
          <p:cNvSpPr/>
          <p:nvPr/>
        </p:nvSpPr>
        <p:spPr>
          <a:xfrm>
            <a:off x="7342449" y="1600200"/>
            <a:ext cx="2036003" cy="1737360"/>
          </a:xfrm>
          <a:prstGeom prst="roundRect">
            <a:avLst>
              <a:gd name="adj" fmla="val 631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7" name="Text 14"/>
          <p:cNvSpPr/>
          <p:nvPr/>
        </p:nvSpPr>
        <p:spPr>
          <a:xfrm>
            <a:off x="7525329" y="1737360"/>
            <a:ext cx="1670243" cy="86868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6 h</a:t>
            </a:r>
            <a:endParaRPr lang="en-US" sz="4000" dirty="0"/>
          </a:p>
        </p:txBody>
      </p:sp>
      <p:sp>
        <p:nvSpPr>
          <p:cNvPr id="18" name="Text 15"/>
          <p:cNvSpPr/>
          <p:nvPr/>
        </p:nvSpPr>
        <p:spPr>
          <a:xfrm>
            <a:off x="7525329" y="2555748"/>
            <a:ext cx="1670243" cy="694944"/>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M3 · Optimización y alta disponibilidad</a:t>
            </a:r>
            <a:endParaRPr lang="en-US" sz="1300" dirty="0"/>
          </a:p>
        </p:txBody>
      </p:sp>
      <p:sp>
        <p:nvSpPr>
          <p:cNvPr id="19" name="Shape 16"/>
          <p:cNvSpPr/>
          <p:nvPr/>
        </p:nvSpPr>
        <p:spPr>
          <a:xfrm>
            <a:off x="9607052" y="1600200"/>
            <a:ext cx="2036003" cy="1737360"/>
          </a:xfrm>
          <a:prstGeom prst="roundRect">
            <a:avLst>
              <a:gd name="adj" fmla="val 631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Text 17"/>
          <p:cNvSpPr/>
          <p:nvPr/>
        </p:nvSpPr>
        <p:spPr>
          <a:xfrm>
            <a:off x="9789932" y="1737360"/>
            <a:ext cx="1670243" cy="86868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6 h</a:t>
            </a:r>
            <a:endParaRPr lang="en-US" sz="4000" dirty="0"/>
          </a:p>
        </p:txBody>
      </p:sp>
      <p:sp>
        <p:nvSpPr>
          <p:cNvPr id="21" name="Text 18"/>
          <p:cNvSpPr/>
          <p:nvPr/>
        </p:nvSpPr>
        <p:spPr>
          <a:xfrm>
            <a:off x="9789932" y="2555748"/>
            <a:ext cx="1670243" cy="694944"/>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M4 · Mantenimiento y buenas prácticas</a:t>
            </a:r>
            <a:endParaRPr lang="en-US" sz="1300" dirty="0"/>
          </a:p>
        </p:txBody>
      </p:sp>
      <p:sp>
        <p:nvSpPr>
          <p:cNvPr id="22" name="Shape 19"/>
          <p:cNvSpPr/>
          <p:nvPr/>
        </p:nvSpPr>
        <p:spPr>
          <a:xfrm>
            <a:off x="548640" y="3611880"/>
            <a:ext cx="5410048" cy="2560320"/>
          </a:xfrm>
          <a:prstGeom prst="roundRect">
            <a:avLst>
              <a:gd name="adj" fmla="val 4286"/>
            </a:avLst>
          </a:prstGeom>
          <a:solidFill>
            <a:srgbClr val="E8EEF5"/>
          </a:solidFill>
          <a:ln/>
        </p:spPr>
      </p:sp>
      <p:sp>
        <p:nvSpPr>
          <p:cNvPr id="23" name="Shape 20"/>
          <p:cNvSpPr/>
          <p:nvPr/>
        </p:nvSpPr>
        <p:spPr>
          <a:xfrm>
            <a:off x="777240" y="3840480"/>
            <a:ext cx="548640" cy="548640"/>
          </a:xfrm>
          <a:prstGeom prst="ellipse">
            <a:avLst/>
          </a:prstGeom>
          <a:solidFill>
            <a:srgbClr val="134074"/>
          </a:solidFill>
          <a:ln/>
        </p:spPr>
      </p:sp>
      <p:pic>
        <p:nvPicPr>
          <p:cNvPr id="24" name="Image 0" descr="preencoded.png">    </p:cNvPr>
          <p:cNvPicPr>
            <a:picLocks noChangeAspect="1"/>
          </p:cNvPicPr>
          <p:nvPr/>
        </p:nvPicPr>
        <p:blipFill>
          <a:blip r:embed="rId1"/>
          <a:stretch>
            <a:fillRect/>
          </a:stretch>
        </p:blipFill>
        <p:spPr>
          <a:xfrm>
            <a:off x="914400" y="3977640"/>
            <a:ext cx="274320" cy="274320"/>
          </a:xfrm>
          <a:prstGeom prst="rect">
            <a:avLst/>
          </a:prstGeom>
        </p:spPr>
      </p:pic>
      <p:sp>
        <p:nvSpPr>
          <p:cNvPr id="25" name="Text 21"/>
          <p:cNvSpPr/>
          <p:nvPr/>
        </p:nvSpPr>
        <p:spPr>
          <a:xfrm>
            <a:off x="1463040" y="384048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Al terminar sabrás…</a:t>
            </a:r>
            <a:endParaRPr lang="en-US" sz="1700" dirty="0"/>
          </a:p>
        </p:txBody>
      </p:sp>
      <p:sp>
        <p:nvSpPr>
          <p:cNvPr id="26" name="Text 22"/>
          <p:cNvSpPr/>
          <p:nvPr/>
        </p:nvSpPr>
        <p:spPr>
          <a:xfrm>
            <a:off x="777240" y="4572000"/>
            <a:ext cx="4952848"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Explicar cómo ejecuta el motor una consulta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Crear objetos y un modelo de permisos seguro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Leer un plan de ejecución y diagnosticar con DMVs</a:t>
            </a:r>
            <a:endParaRPr lang="en-US" sz="1400" dirty="0"/>
          </a:p>
        </p:txBody>
      </p:sp>
      <p:sp>
        <p:nvSpPr>
          <p:cNvPr id="27" name="Shape 23"/>
          <p:cNvSpPr/>
          <p:nvPr/>
        </p:nvSpPr>
        <p:spPr>
          <a:xfrm>
            <a:off x="6233008" y="3611880"/>
            <a:ext cx="5410048" cy="2560320"/>
          </a:xfrm>
          <a:prstGeom prst="roundRect">
            <a:avLst>
              <a:gd name="adj" fmla="val 4286"/>
            </a:avLst>
          </a:prstGeom>
          <a:solidFill>
            <a:srgbClr val="E8EEF5"/>
          </a:solidFill>
          <a:ln/>
        </p:spPr>
      </p:sp>
      <p:sp>
        <p:nvSpPr>
          <p:cNvPr id="28" name="Shape 24"/>
          <p:cNvSpPr/>
          <p:nvPr/>
        </p:nvSpPr>
        <p:spPr>
          <a:xfrm>
            <a:off x="6461608" y="3840480"/>
            <a:ext cx="548640" cy="548640"/>
          </a:xfrm>
          <a:prstGeom prst="ellipse">
            <a:avLst/>
          </a:prstGeom>
          <a:solidFill>
            <a:srgbClr val="134074"/>
          </a:solidFill>
          <a:ln/>
        </p:spPr>
      </p:sp>
      <p:pic>
        <p:nvPicPr>
          <p:cNvPr id="29" name="Image 1" descr="preencoded.png">    </p:cNvPr>
          <p:cNvPicPr>
            <a:picLocks noChangeAspect="1"/>
          </p:cNvPicPr>
          <p:nvPr/>
        </p:nvPicPr>
        <p:blipFill>
          <a:blip r:embed="rId2"/>
          <a:stretch>
            <a:fillRect/>
          </a:stretch>
        </p:blipFill>
        <p:spPr>
          <a:xfrm>
            <a:off x="6598768" y="3977640"/>
            <a:ext cx="274320" cy="274320"/>
          </a:xfrm>
          <a:prstGeom prst="rect">
            <a:avLst/>
          </a:prstGeom>
        </p:spPr>
      </p:pic>
      <p:sp>
        <p:nvSpPr>
          <p:cNvPr id="30" name="Text 25"/>
          <p:cNvSpPr/>
          <p:nvPr/>
        </p:nvSpPr>
        <p:spPr>
          <a:xfrm>
            <a:off x="7147408" y="384048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…y serás capaz de operar</a:t>
            </a:r>
            <a:endParaRPr lang="en-US" sz="1700" dirty="0"/>
          </a:p>
        </p:txBody>
      </p:sp>
      <p:sp>
        <p:nvSpPr>
          <p:cNvPr id="31" name="Text 26"/>
          <p:cNvSpPr/>
          <p:nvPr/>
        </p:nvSpPr>
        <p:spPr>
          <a:xfrm>
            <a:off x="6461608" y="4572000"/>
            <a:ext cx="4952848"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Diseñar backups según RPO/RTO y restaurar a un punto exacto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Automatizar mantenimiento y resolver incidencias comunes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Elegir la solución de HA/DR adecuada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BIENVENIDA</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Cómo trabajaremos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0   3</a:t>
            </a:r>
            <a:endParaRPr lang="en-US" sz="1000" dirty="0"/>
          </a:p>
        </p:txBody>
      </p:sp>
      <p:sp>
        <p:nvSpPr>
          <p:cNvPr id="7" name="Shape 4"/>
          <p:cNvSpPr/>
          <p:nvPr/>
        </p:nvSpPr>
        <p:spPr>
          <a:xfrm>
            <a:off x="548640" y="1600200"/>
            <a:ext cx="3515258" cy="2651760"/>
          </a:xfrm>
          <a:prstGeom prst="roundRect">
            <a:avLst>
              <a:gd name="adj" fmla="val 413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Teoría breve</a:t>
            </a:r>
            <a:endParaRPr lang="en-US" sz="1700" dirty="0"/>
          </a:p>
        </p:txBody>
      </p:sp>
      <p:sp>
        <p:nvSpPr>
          <p:cNvPr id="11" name="Text 7"/>
          <p:cNvSpPr/>
          <p:nvPr/>
        </p:nvSpPr>
        <p:spPr>
          <a:xfrm>
            <a:off x="777240" y="2560320"/>
            <a:ext cx="3058058"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Bloques de 20-30 min con esquemas, demostraciones en vivo y fragmentos T-SQL reales.</a:t>
            </a:r>
            <a:endParaRPr lang="en-US" sz="1400" dirty="0"/>
          </a:p>
        </p:txBody>
      </p:sp>
      <p:sp>
        <p:nvSpPr>
          <p:cNvPr id="12" name="Shape 8"/>
          <p:cNvSpPr/>
          <p:nvPr/>
        </p:nvSpPr>
        <p:spPr>
          <a:xfrm>
            <a:off x="4338218" y="1600200"/>
            <a:ext cx="3515258" cy="2651760"/>
          </a:xfrm>
          <a:prstGeom prst="roundRect">
            <a:avLst>
              <a:gd name="adj" fmla="val 413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681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978" y="1965960"/>
            <a:ext cx="274320" cy="274320"/>
          </a:xfrm>
          <a:prstGeom prst="rect">
            <a:avLst/>
          </a:prstGeom>
        </p:spPr>
      </p:pic>
      <p:sp>
        <p:nvSpPr>
          <p:cNvPr id="15" name="Text 10"/>
          <p:cNvSpPr/>
          <p:nvPr/>
        </p:nvSpPr>
        <p:spPr>
          <a:xfrm>
            <a:off x="5252618"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Laboratorios guiados</a:t>
            </a:r>
            <a:endParaRPr lang="en-US" sz="1700" dirty="0"/>
          </a:p>
        </p:txBody>
      </p:sp>
      <p:sp>
        <p:nvSpPr>
          <p:cNvPr id="16" name="Text 11"/>
          <p:cNvSpPr/>
          <p:nvPr/>
        </p:nvSpPr>
        <p:spPr>
          <a:xfrm>
            <a:off x="4566818" y="2560320"/>
            <a:ext cx="3058058"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Cuatro laboratorios y un caso integrador. Cada alumno trabaja en su propia instancia.</a:t>
            </a:r>
            <a:endParaRPr lang="en-US" sz="1400" dirty="0"/>
          </a:p>
        </p:txBody>
      </p:sp>
      <p:sp>
        <p:nvSpPr>
          <p:cNvPr id="17" name="Shape 12"/>
          <p:cNvSpPr/>
          <p:nvPr/>
        </p:nvSpPr>
        <p:spPr>
          <a:xfrm>
            <a:off x="8127797" y="1600200"/>
            <a:ext cx="3515258" cy="2651760"/>
          </a:xfrm>
          <a:prstGeom prst="roundRect">
            <a:avLst>
              <a:gd name="adj" fmla="val 413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6397"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3557" y="1965960"/>
            <a:ext cx="274320" cy="274320"/>
          </a:xfrm>
          <a:prstGeom prst="rect">
            <a:avLst/>
          </a:prstGeom>
        </p:spPr>
      </p:pic>
      <p:sp>
        <p:nvSpPr>
          <p:cNvPr id="20" name="Text 14"/>
          <p:cNvSpPr/>
          <p:nvPr/>
        </p:nvSpPr>
        <p:spPr>
          <a:xfrm>
            <a:off x="9042197"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Participación</a:t>
            </a:r>
            <a:endParaRPr lang="en-US" sz="1700" dirty="0"/>
          </a:p>
        </p:txBody>
      </p:sp>
      <p:sp>
        <p:nvSpPr>
          <p:cNvPr id="21" name="Text 15"/>
          <p:cNvSpPr/>
          <p:nvPr/>
        </p:nvSpPr>
        <p:spPr>
          <a:xfrm>
            <a:off x="8356397" y="2560320"/>
            <a:ext cx="3058058"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Preguntas y debates en cada tema. Los errores son material de aprendizaje.</a:t>
            </a:r>
            <a:endParaRPr lang="en-US" sz="1400" dirty="0"/>
          </a:p>
        </p:txBody>
      </p:sp>
      <p:sp>
        <p:nvSpPr>
          <p:cNvPr id="22" name="Shape 16"/>
          <p:cNvSpPr/>
          <p:nvPr/>
        </p:nvSpPr>
        <p:spPr>
          <a:xfrm>
            <a:off x="548640" y="4572000"/>
            <a:ext cx="11094415" cy="914400"/>
          </a:xfrm>
          <a:prstGeom prst="roundRect">
            <a:avLst>
              <a:gd name="adj" fmla="val 12000"/>
            </a:avLst>
          </a:prstGeom>
          <a:solidFill>
            <a:srgbClr val="FDEDE8"/>
          </a:solidFill>
          <a:ln/>
        </p:spPr>
      </p:sp>
      <p:sp>
        <p:nvSpPr>
          <p:cNvPr id="23" name="Shape 17"/>
          <p:cNvSpPr/>
          <p:nvPr/>
        </p:nvSpPr>
        <p:spPr>
          <a:xfrm>
            <a:off x="731520" y="4800600"/>
            <a:ext cx="457200" cy="457200"/>
          </a:xfrm>
          <a:prstGeom prst="ellipse">
            <a:avLst/>
          </a:prstGeom>
          <a:solidFill>
            <a:srgbClr val="D95D39"/>
          </a:solidFill>
          <a:ln/>
        </p:spPr>
      </p:sp>
      <p:pic>
        <p:nvPicPr>
          <p:cNvPr id="24" name="Image 3" descr="preencoded.png">    </p:cNvPr>
          <p:cNvPicPr>
            <a:picLocks noChangeAspect="1"/>
          </p:cNvPicPr>
          <p:nvPr/>
        </p:nvPicPr>
        <p:blipFill>
          <a:blip r:embed="rId4"/>
          <a:stretch>
            <a:fillRect/>
          </a:stretch>
        </p:blipFill>
        <p:spPr>
          <a:xfrm>
            <a:off x="845820" y="4914900"/>
            <a:ext cx="228600" cy="228600"/>
          </a:xfrm>
          <a:prstGeom prst="rect">
            <a:avLst/>
          </a:prstGeom>
        </p:spPr>
      </p:pic>
      <p:sp>
        <p:nvSpPr>
          <p:cNvPr id="25" name="Text 18"/>
          <p:cNvSpPr/>
          <p:nvPr/>
        </p:nvSpPr>
        <p:spPr>
          <a:xfrm>
            <a:off x="1371600" y="4572000"/>
            <a:ext cx="10088575" cy="9144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Regla de seguridad: </a:t>
            </a:r>
            <a:r>
              <a:rPr lang="en-US" sz="1400" dirty="0">
                <a:solidFill>
                  <a:srgbClr val="1F2933"/>
                </a:solidFill>
                <a:latin typeface="Calibri" pitchFamily="34" charset="0"/>
                <a:ea typeface="Calibri" pitchFamily="34" charset="-122"/>
                <a:cs typeface="Calibri" pitchFamily="34" charset="-120"/>
              </a:rPr>
              <a:t>los scripts del curso son destructivos a propósito. Comprueba siempre SELECT @@SERVERNAME antes de ejecutarlos y nunca los lances contra producción.</a:t>
            </a:r>
            <a:endParaRPr lang="en-US" sz="1400" dirty="0"/>
          </a:p>
        </p:txBody>
      </p:sp>
      <p:sp>
        <p:nvSpPr>
          <p:cNvPr id="26" name="Shape 19"/>
          <p:cNvSpPr/>
          <p:nvPr/>
        </p:nvSpPr>
        <p:spPr>
          <a:xfrm>
            <a:off x="548640" y="5212080"/>
            <a:ext cx="11094415" cy="914400"/>
          </a:xfrm>
          <a:prstGeom prst="roundRect">
            <a:avLst>
              <a:gd name="adj" fmla="val 12000"/>
            </a:avLst>
          </a:prstGeom>
          <a:solidFill>
            <a:srgbClr val="E8EEF5"/>
          </a:solidFill>
          <a:ln/>
        </p:spPr>
      </p:sp>
      <p:sp>
        <p:nvSpPr>
          <p:cNvPr id="27" name="Shape 20"/>
          <p:cNvSpPr/>
          <p:nvPr/>
        </p:nvSpPr>
        <p:spPr>
          <a:xfrm>
            <a:off x="731520" y="5440680"/>
            <a:ext cx="457200" cy="457200"/>
          </a:xfrm>
          <a:prstGeom prst="ellipse">
            <a:avLst/>
          </a:prstGeom>
          <a:solidFill>
            <a:srgbClr val="134074"/>
          </a:solidFill>
          <a:ln/>
        </p:spPr>
      </p:sp>
      <p:pic>
        <p:nvPicPr>
          <p:cNvPr id="28" name="Image 4" descr="preencoded.png">    </p:cNvPr>
          <p:cNvPicPr>
            <a:picLocks noChangeAspect="1"/>
          </p:cNvPicPr>
          <p:nvPr/>
        </p:nvPicPr>
        <p:blipFill>
          <a:blip r:embed="rId5"/>
          <a:stretch>
            <a:fillRect/>
          </a:stretch>
        </p:blipFill>
        <p:spPr>
          <a:xfrm>
            <a:off x="845820" y="5554980"/>
            <a:ext cx="228600" cy="228600"/>
          </a:xfrm>
          <a:prstGeom prst="rect">
            <a:avLst/>
          </a:prstGeom>
        </p:spPr>
      </p:pic>
      <p:sp>
        <p:nvSpPr>
          <p:cNvPr id="29" name="Text 21"/>
          <p:cNvSpPr/>
          <p:nvPr/>
        </p:nvSpPr>
        <p:spPr>
          <a:xfrm>
            <a:off x="1371600" y="5212080"/>
            <a:ext cx="10088575" cy="9144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Material: </a:t>
            </a:r>
            <a:r>
              <a:rPr lang="en-US" sz="1400" dirty="0">
                <a:solidFill>
                  <a:srgbClr val="1F2933"/>
                </a:solidFill>
                <a:latin typeface="Calibri" pitchFamily="34" charset="0"/>
                <a:ea typeface="Calibri" pitchFamily="34" charset="-122"/>
                <a:cs typeface="Calibri" pitchFamily="34" charset="-120"/>
              </a:rPr>
              <a:t>diapositivas con guion completo en las notas, scripts T-SQL del curso y la Guía del Docente en Markdown.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ENTORNO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Entorno de trabajo del curso</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0   4</a:t>
            </a:r>
            <a:endParaRPr lang="en-US" sz="1000" dirty="0"/>
          </a:p>
        </p:txBody>
      </p:sp>
      <p:sp>
        <p:nvSpPr>
          <p:cNvPr id="7" name="Shape 4"/>
          <p:cNvSpPr/>
          <p:nvPr/>
        </p:nvSpPr>
        <p:spPr>
          <a:xfrm>
            <a:off x="548640" y="1600200"/>
            <a:ext cx="5394960"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965960"/>
            <a:ext cx="640080" cy="64008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37260" y="2125980"/>
            <a:ext cx="320040" cy="320040"/>
          </a:xfrm>
          <a:prstGeom prst="rect">
            <a:avLst/>
          </a:prstGeom>
        </p:spPr>
      </p:pic>
      <p:sp>
        <p:nvSpPr>
          <p:cNvPr id="10" name="Text 6"/>
          <p:cNvSpPr/>
          <p:nvPr/>
        </p:nvSpPr>
        <p:spPr>
          <a:xfrm>
            <a:off x="1645920" y="1691640"/>
            <a:ext cx="4069080" cy="1188720"/>
          </a:xfrm>
          <a:prstGeom prst="rect">
            <a:avLst/>
          </a:prstGeom>
          <a:noFill/>
          <a:ln/>
        </p:spPr>
        <p:txBody>
          <a:bodyPr wrap="square" lIns="0" tIns="0" rIns="0" bIns="0" rtlCol="0" anchor="ctr"/>
          <a:lstStyle/>
          <a:p>
            <a:pPr indent="0" marL="0">
              <a:spcAft>
                <a:spcPts val="400"/>
              </a:spcAft>
              <a:buNone/>
            </a:pPr>
            <a:r>
              <a:rPr lang="en-US" sz="1700" b="1" dirty="0">
                <a:solidFill>
                  <a:srgbClr val="0B2545"/>
                </a:solidFill>
                <a:latin typeface="Calibri" pitchFamily="34" charset="0"/>
                <a:ea typeface="Calibri" pitchFamily="34" charset="-122"/>
                <a:cs typeface="Calibri" pitchFamily="34" charset="-120"/>
              </a:rPr>
              <a:t>SSMS (Windows)</a:t>
            </a:r>
            <a:endParaRPr lang="en-US" sz="1700" dirty="0"/>
          </a:p>
          <a:p>
            <a:pPr indent="0" marL="0">
              <a:spcAft>
                <a:spcPts val="400"/>
              </a:spcAft>
              <a:buNone/>
            </a:pPr>
            <a:r>
              <a:rPr lang="en-US" sz="1400" dirty="0">
                <a:solidFill>
                  <a:srgbClr val="1F2933"/>
                </a:solidFill>
                <a:latin typeface="Calibri" pitchFamily="34" charset="0"/>
                <a:ea typeface="Calibri" pitchFamily="34" charset="-122"/>
                <a:cs typeface="Calibri" pitchFamily="34" charset="-120"/>
              </a:rPr>
              <a:t>Cliente completo: objetos, planes de ejecución, Agent, Profiler.</a:t>
            </a:r>
            <a:endParaRPr lang="en-US" sz="1700" dirty="0"/>
          </a:p>
        </p:txBody>
      </p:sp>
      <p:sp>
        <p:nvSpPr>
          <p:cNvPr id="11" name="Shape 7"/>
          <p:cNvSpPr/>
          <p:nvPr/>
        </p:nvSpPr>
        <p:spPr>
          <a:xfrm>
            <a:off x="548640" y="3200400"/>
            <a:ext cx="5394960"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2" name="Shape 8"/>
          <p:cNvSpPr/>
          <p:nvPr/>
        </p:nvSpPr>
        <p:spPr>
          <a:xfrm>
            <a:off x="777240" y="3566160"/>
            <a:ext cx="640080" cy="640080"/>
          </a:xfrm>
          <a:prstGeom prst="ellipse">
            <a:avLst/>
          </a:prstGeom>
          <a:solidFill>
            <a:srgbClr val="134074"/>
          </a:solidFill>
          <a:ln/>
        </p:spPr>
      </p:sp>
      <p:pic>
        <p:nvPicPr>
          <p:cNvPr id="13" name="Image 1" descr="preencoded.png">    </p:cNvPr>
          <p:cNvPicPr>
            <a:picLocks noChangeAspect="1"/>
          </p:cNvPicPr>
          <p:nvPr/>
        </p:nvPicPr>
        <p:blipFill>
          <a:blip r:embed="rId2"/>
          <a:stretch>
            <a:fillRect/>
          </a:stretch>
        </p:blipFill>
        <p:spPr>
          <a:xfrm>
            <a:off x="937260" y="3726180"/>
            <a:ext cx="320040" cy="320040"/>
          </a:xfrm>
          <a:prstGeom prst="rect">
            <a:avLst/>
          </a:prstGeom>
        </p:spPr>
      </p:pic>
      <p:sp>
        <p:nvSpPr>
          <p:cNvPr id="14" name="Text 9"/>
          <p:cNvSpPr/>
          <p:nvPr/>
        </p:nvSpPr>
        <p:spPr>
          <a:xfrm>
            <a:off x="1645920" y="3291840"/>
            <a:ext cx="4069080" cy="1188720"/>
          </a:xfrm>
          <a:prstGeom prst="rect">
            <a:avLst/>
          </a:prstGeom>
          <a:noFill/>
          <a:ln/>
        </p:spPr>
        <p:txBody>
          <a:bodyPr wrap="square" lIns="0" tIns="0" rIns="0" bIns="0" rtlCol="0" anchor="ctr"/>
          <a:lstStyle/>
          <a:p>
            <a:pPr indent="0" marL="0">
              <a:spcAft>
                <a:spcPts val="400"/>
              </a:spcAft>
              <a:buNone/>
            </a:pPr>
            <a:r>
              <a:rPr lang="en-US" sz="1700" b="1" dirty="0">
                <a:solidFill>
                  <a:srgbClr val="0B2545"/>
                </a:solidFill>
                <a:latin typeface="Calibri" pitchFamily="34" charset="0"/>
                <a:ea typeface="Calibri" pitchFamily="34" charset="-122"/>
                <a:cs typeface="Calibri" pitchFamily="34" charset="-120"/>
              </a:rPr>
              <a:t>VS Code + extensión MSSQL</a:t>
            </a:r>
            <a:endParaRPr lang="en-US" sz="1700" dirty="0"/>
          </a:p>
          <a:p>
            <a:pPr indent="0" marL="0">
              <a:spcAft>
                <a:spcPts val="400"/>
              </a:spcAft>
              <a:buNone/>
            </a:pPr>
            <a:r>
              <a:rPr lang="en-US" sz="1400" dirty="0">
                <a:solidFill>
                  <a:srgbClr val="1F2933"/>
                </a:solidFill>
                <a:latin typeface="Calibri" pitchFamily="34" charset="0"/>
                <a:ea typeface="Calibri" pitchFamily="34" charset="-122"/>
                <a:cs typeface="Calibri" pitchFamily="34" charset="-120"/>
              </a:rPr>
              <a:t>Multiplataforma; sustituye a Azure Data Studio (fin de soporte 28/02/2026).</a:t>
            </a:r>
            <a:endParaRPr lang="en-US" sz="1700" dirty="0"/>
          </a:p>
        </p:txBody>
      </p:sp>
      <p:sp>
        <p:nvSpPr>
          <p:cNvPr id="15" name="Shape 10"/>
          <p:cNvSpPr/>
          <p:nvPr/>
        </p:nvSpPr>
        <p:spPr>
          <a:xfrm>
            <a:off x="548640" y="4800600"/>
            <a:ext cx="5394960"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777240" y="5166360"/>
            <a:ext cx="640080" cy="640080"/>
          </a:xfrm>
          <a:prstGeom prst="ellipse">
            <a:avLst/>
          </a:prstGeom>
          <a:solidFill>
            <a:srgbClr val="134074"/>
          </a:solidFill>
          <a:ln/>
        </p:spPr>
      </p:sp>
      <p:pic>
        <p:nvPicPr>
          <p:cNvPr id="17" name="Image 2" descr="preencoded.png">    </p:cNvPr>
          <p:cNvPicPr>
            <a:picLocks noChangeAspect="1"/>
          </p:cNvPicPr>
          <p:nvPr/>
        </p:nvPicPr>
        <p:blipFill>
          <a:blip r:embed="rId3"/>
          <a:stretch>
            <a:fillRect/>
          </a:stretch>
        </p:blipFill>
        <p:spPr>
          <a:xfrm>
            <a:off x="937260" y="5326380"/>
            <a:ext cx="320040" cy="320040"/>
          </a:xfrm>
          <a:prstGeom prst="rect">
            <a:avLst/>
          </a:prstGeom>
        </p:spPr>
      </p:pic>
      <p:sp>
        <p:nvSpPr>
          <p:cNvPr id="18" name="Text 12"/>
          <p:cNvSpPr/>
          <p:nvPr/>
        </p:nvSpPr>
        <p:spPr>
          <a:xfrm>
            <a:off x="1645920" y="4892040"/>
            <a:ext cx="4069080" cy="1188720"/>
          </a:xfrm>
          <a:prstGeom prst="rect">
            <a:avLst/>
          </a:prstGeom>
          <a:noFill/>
          <a:ln/>
        </p:spPr>
        <p:txBody>
          <a:bodyPr wrap="square" lIns="0" tIns="0" rIns="0" bIns="0" rtlCol="0" anchor="ctr"/>
          <a:lstStyle/>
          <a:p>
            <a:pPr indent="0" marL="0">
              <a:spcAft>
                <a:spcPts val="400"/>
              </a:spcAft>
              <a:buNone/>
            </a:pPr>
            <a:r>
              <a:rPr lang="en-US" sz="1700" b="1" dirty="0">
                <a:solidFill>
                  <a:srgbClr val="0B2545"/>
                </a:solidFill>
                <a:latin typeface="Calibri" pitchFamily="34" charset="0"/>
                <a:ea typeface="Calibri" pitchFamily="34" charset="-122"/>
                <a:cs typeface="Calibri" pitchFamily="34" charset="-120"/>
              </a:rPr>
              <a:t>Docker o instalación local</a:t>
            </a:r>
            <a:endParaRPr lang="en-US" sz="1700" dirty="0"/>
          </a:p>
          <a:p>
            <a:pPr indent="0" marL="0">
              <a:spcAft>
                <a:spcPts val="400"/>
              </a:spcAft>
              <a:buNone/>
            </a:pPr>
            <a:r>
              <a:rPr lang="en-US" sz="1400" dirty="0">
                <a:solidFill>
                  <a:srgbClr val="1F2933"/>
                </a:solidFill>
                <a:latin typeface="Calibri" pitchFamily="34" charset="0"/>
                <a:ea typeface="Calibri" pitchFamily="34" charset="-122"/>
                <a:cs typeface="Calibri" pitchFamily="34" charset="-120"/>
              </a:rPr>
              <a:t>Imagen oficial 2022-latest, o Developer Edition en Windows.</a:t>
            </a:r>
            <a:endParaRPr lang="en-US" sz="1700" dirty="0"/>
          </a:p>
        </p:txBody>
      </p:sp>
      <p:sp>
        <p:nvSpPr>
          <p:cNvPr id="19" name="Shape 13"/>
          <p:cNvSpPr/>
          <p:nvPr/>
        </p:nvSpPr>
        <p:spPr>
          <a:xfrm>
            <a:off x="6309360" y="1600200"/>
            <a:ext cx="5330952" cy="3108960"/>
          </a:xfrm>
          <a:prstGeom prst="roundRect">
            <a:avLst>
              <a:gd name="adj" fmla="val 2941"/>
            </a:avLst>
          </a:prstGeom>
          <a:solidFill>
            <a:srgbClr val="ECEFF3"/>
          </a:solidFill>
          <a:ln w="9525">
            <a:solidFill>
              <a:srgbClr val="D0D7DE"/>
            </a:solidFill>
            <a:prstDash val="solid"/>
          </a:ln>
        </p:spPr>
      </p:sp>
      <p:sp>
        <p:nvSpPr>
          <p:cNvPr id="20" name="Text 14"/>
          <p:cNvSpPr/>
          <p:nvPr/>
        </p:nvSpPr>
        <p:spPr>
          <a:xfrm>
            <a:off x="649224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BASH · DOCKER</a:t>
            </a:r>
            <a:endParaRPr lang="en-US" sz="1000" dirty="0"/>
          </a:p>
        </p:txBody>
      </p:sp>
      <p:sp>
        <p:nvSpPr>
          <p:cNvPr id="21" name="Text 15"/>
          <p:cNvSpPr/>
          <p:nvPr/>
        </p:nvSpPr>
        <p:spPr>
          <a:xfrm>
            <a:off x="6492240" y="1965960"/>
            <a:ext cx="4965192" cy="2651760"/>
          </a:xfrm>
          <a:prstGeom prst="rect">
            <a:avLst/>
          </a:prstGeom>
          <a:noFill/>
          <a:ln/>
        </p:spPr>
        <p:txBody>
          <a:bodyPr wrap="none" lIns="0" tIns="0" rIns="0" bIns="0" rtlCol="0" anchor="t"/>
          <a:lstStyle/>
          <a:p>
            <a:pPr indent="0" marL="0">
              <a:buNone/>
            </a:pPr>
            <a:r>
              <a:rPr lang="en-US" sz="1200" dirty="0">
                <a:solidFill>
                  <a:srgbClr val="1F2933"/>
                </a:solidFill>
                <a:latin typeface="Consolas" pitchFamily="34" charset="0"/>
                <a:ea typeface="Consolas" pitchFamily="34" charset="-122"/>
                <a:cs typeface="Consolas" pitchFamily="34" charset="-120"/>
              </a:rPr>
              <a:t>docker run -d </a:t>
            </a:r>
            <a:r>
              <a:rPr lang="en-US" sz="1200" i="1" dirty="0">
                <a:solidFill>
                  <a:srgbClr val="6B7280"/>
                </a:solidFill>
                <a:latin typeface="Consolas" pitchFamily="34" charset="0"/>
                <a:ea typeface="Consolas" pitchFamily="34" charset="-122"/>
                <a:cs typeface="Consolas" pitchFamily="34" charset="-120"/>
              </a:rPr>
              <a:t>--name sql2022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-e "ACCEPT_EULA=Y"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-e "MSSQL_SA_PASSWORD=Curso#SQL2022!"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-p </a:t>
            </a:r>
            <a:r>
              <a:rPr lang="en-US" sz="1200" dirty="0">
                <a:solidFill>
                  <a:srgbClr val="9A3412"/>
                </a:solidFill>
                <a:latin typeface="Consolas" pitchFamily="34" charset="0"/>
                <a:ea typeface="Consolas" pitchFamily="34" charset="-122"/>
                <a:cs typeface="Consolas" pitchFamily="34" charset="-120"/>
              </a:rPr>
              <a:t>1433</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1433</a:t>
            </a: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-v sqldata:/var/opt/mssql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mcr.microsoft.com/mssql/server:</a:t>
            </a:r>
            <a:r>
              <a:rPr lang="en-US" sz="1200" dirty="0">
                <a:solidFill>
                  <a:srgbClr val="9A3412"/>
                </a:solidFill>
                <a:latin typeface="Consolas" pitchFamily="34" charset="0"/>
                <a:ea typeface="Consolas" pitchFamily="34" charset="-122"/>
                <a:cs typeface="Consolas" pitchFamily="34" charset="-120"/>
              </a:rPr>
              <a:t>2022</a:t>
            </a:r>
            <a:r>
              <a:rPr lang="en-US" sz="1200" dirty="0">
                <a:solidFill>
                  <a:srgbClr val="1F2933"/>
                </a:solidFill>
                <a:latin typeface="Consolas" pitchFamily="34" charset="0"/>
                <a:ea typeface="Consolas" pitchFamily="34" charset="-122"/>
                <a:cs typeface="Consolas" pitchFamily="34" charset="-120"/>
              </a:rPr>
              <a:t>-latest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docker ps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docker logs sql2022 | tail -n </a:t>
            </a:r>
            <a:r>
              <a:rPr lang="en-US" sz="1200" dirty="0">
                <a:solidFill>
                  <a:srgbClr val="9A3412"/>
                </a:solidFill>
                <a:latin typeface="Consolas" pitchFamily="34" charset="0"/>
                <a:ea typeface="Consolas" pitchFamily="34" charset="-122"/>
                <a:cs typeface="Consolas" pitchFamily="34" charset="-120"/>
              </a:rPr>
              <a:t>5</a:t>
            </a:r>
            <a:endParaRPr lang="en-US" sz="1200" dirty="0"/>
          </a:p>
        </p:txBody>
      </p:sp>
      <p:sp>
        <p:nvSpPr>
          <p:cNvPr id="22" name="Shape 16"/>
          <p:cNvSpPr/>
          <p:nvPr/>
        </p:nvSpPr>
        <p:spPr>
          <a:xfrm>
            <a:off x="6309360" y="4983480"/>
            <a:ext cx="5330952" cy="1188720"/>
          </a:xfrm>
          <a:prstGeom prst="roundRect">
            <a:avLst>
              <a:gd name="adj" fmla="val 9231"/>
            </a:avLst>
          </a:prstGeom>
          <a:solidFill>
            <a:srgbClr val="FDEDE8"/>
          </a:solidFill>
          <a:ln/>
        </p:spPr>
      </p:sp>
      <p:sp>
        <p:nvSpPr>
          <p:cNvPr id="23" name="Shape 17"/>
          <p:cNvSpPr/>
          <p:nvPr/>
        </p:nvSpPr>
        <p:spPr>
          <a:xfrm>
            <a:off x="6492240" y="5349240"/>
            <a:ext cx="457200" cy="457200"/>
          </a:xfrm>
          <a:prstGeom prst="ellipse">
            <a:avLst/>
          </a:prstGeom>
          <a:solidFill>
            <a:srgbClr val="D95D39"/>
          </a:solidFill>
          <a:ln/>
        </p:spPr>
      </p:sp>
      <p:pic>
        <p:nvPicPr>
          <p:cNvPr id="24" name="Image 3" descr="preencoded.png">    </p:cNvPr>
          <p:cNvPicPr>
            <a:picLocks noChangeAspect="1"/>
          </p:cNvPicPr>
          <p:nvPr/>
        </p:nvPicPr>
        <p:blipFill>
          <a:blip r:embed="rId4"/>
          <a:stretch>
            <a:fillRect/>
          </a:stretch>
        </p:blipFill>
        <p:spPr>
          <a:xfrm>
            <a:off x="6606540" y="5463540"/>
            <a:ext cx="228600" cy="228600"/>
          </a:xfrm>
          <a:prstGeom prst="rect">
            <a:avLst/>
          </a:prstGeom>
        </p:spPr>
      </p:pic>
      <p:sp>
        <p:nvSpPr>
          <p:cNvPr id="25" name="Text 18"/>
          <p:cNvSpPr/>
          <p:nvPr/>
        </p:nvSpPr>
        <p:spPr>
          <a:xfrm>
            <a:off x="7132320" y="4983480"/>
            <a:ext cx="4325112" cy="118872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Si el contenedor se para: </a:t>
            </a:r>
            <a:r>
              <a:rPr lang="en-US" sz="1400" dirty="0">
                <a:solidFill>
                  <a:srgbClr val="1F2933"/>
                </a:solidFill>
                <a:latin typeface="Calibri" pitchFamily="34" charset="0"/>
                <a:ea typeface="Calibri" pitchFamily="34" charset="-122"/>
                <a:cs typeface="Calibri" pitchFamily="34" charset="-120"/>
              </a:rPr>
              <a:t>revisa docker logs. Casi siempre es una contraseña de sa que no cumple la política de complejidad.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528"/>
        </a:solidFill>
      </p:bgPr>
    </p:bg>
    <p:spTree>
      <p:nvGrpSpPr>
        <p:cNvPr id="1" name=""/>
        <p:cNvGrpSpPr/>
        <p:nvPr/>
      </p:nvGrpSpPr>
      <p:grpSpPr>
        <a:xfrm>
          <a:off x="0" y="0"/>
          <a:ext cx="0" cy="0"/>
          <a:chOff x="0" y="0"/>
          <a:chExt cx="0" cy="0"/>
        </a:xfrm>
      </p:grpSpPr>
      <p:sp>
        <p:nvSpPr>
          <p:cNvPr id="2" name="Text 0"/>
          <p:cNvSpPr/>
          <p:nvPr/>
        </p:nvSpPr>
        <p:spPr>
          <a:xfrm>
            <a:off x="731520" y="822960"/>
            <a:ext cx="5029200" cy="1828800"/>
          </a:xfrm>
          <a:prstGeom prst="rect">
            <a:avLst/>
          </a:prstGeom>
          <a:noFill/>
          <a:ln/>
        </p:spPr>
        <p:txBody>
          <a:bodyPr wrap="square" lIns="0" tIns="0" rIns="0" bIns="0" rtlCol="0" anchor="t"/>
          <a:lstStyle/>
          <a:p>
            <a:pPr indent="0" marL="0">
              <a:buNone/>
            </a:pPr>
            <a:r>
              <a:rPr lang="en-US" sz="12000" b="1" dirty="0">
                <a:solidFill>
                  <a:srgbClr val="1E5AA8"/>
                </a:solidFill>
                <a:latin typeface="Calibri" pitchFamily="34" charset="0"/>
                <a:ea typeface="Calibri" pitchFamily="34" charset="-122"/>
                <a:cs typeface="Calibri" pitchFamily="34" charset="-120"/>
              </a:rPr>
              <a:t>01</a:t>
            </a:r>
            <a:endParaRPr lang="en-US" sz="12000" dirty="0"/>
          </a:p>
        </p:txBody>
      </p:sp>
      <p:sp>
        <p:nvSpPr>
          <p:cNvPr id="3" name="Text 1"/>
          <p:cNvSpPr/>
          <p:nvPr/>
        </p:nvSpPr>
        <p:spPr>
          <a:xfrm>
            <a:off x="731520" y="2880360"/>
            <a:ext cx="2651760" cy="329184"/>
          </a:xfrm>
          <a:prstGeom prst="roundRect">
            <a:avLst>
              <a:gd name="adj" fmla="val 50000"/>
            </a:avLst>
          </a:prstGeom>
          <a:solidFill>
            <a:srgbClr val="D95D39"/>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MÓDULO 1 · ≈ 5,5 H</a:t>
            </a:r>
            <a:endParaRPr lang="en-US" sz="1100" dirty="0"/>
          </a:p>
        </p:txBody>
      </p:sp>
      <p:sp>
        <p:nvSpPr>
          <p:cNvPr id="4" name="Text 2"/>
          <p:cNvSpPr/>
          <p:nvPr/>
        </p:nvSpPr>
        <p:spPr>
          <a:xfrm>
            <a:off x="731520" y="3383280"/>
            <a:ext cx="5394960" cy="15544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Fundamentos y arquitectura</a:t>
            </a:r>
            <a:endParaRPr lang="en-US" sz="3800" dirty="0"/>
          </a:p>
        </p:txBody>
      </p:sp>
      <p:sp>
        <p:nvSpPr>
          <p:cNvPr id="5" name="Text 3"/>
          <p:cNvSpPr/>
          <p:nvPr/>
        </p:nvSpPr>
        <p:spPr>
          <a:xfrm>
            <a:off x="731520" y="4983480"/>
            <a:ext cx="5394960" cy="822960"/>
          </a:xfrm>
          <a:prstGeom prst="rect">
            <a:avLst/>
          </a:prstGeom>
          <a:noFill/>
          <a:ln/>
        </p:spPr>
        <p:txBody>
          <a:bodyPr wrap="square" lIns="0" tIns="0" rIns="0" bIns="0" rtlCol="0" anchor="t"/>
          <a:lstStyle/>
          <a:p>
            <a:pPr indent="0" marL="0">
              <a:buNone/>
            </a:pPr>
            <a:r>
              <a:rPr lang="en-US" sz="1600" dirty="0">
                <a:solidFill>
                  <a:srgbClr val="8DA9C4"/>
                </a:solidFill>
                <a:latin typeface="Calibri" pitchFamily="34" charset="0"/>
                <a:ea typeface="Calibri" pitchFamily="34" charset="-122"/>
                <a:cs typeface="Calibri" pitchFamily="34" charset="-120"/>
              </a:rPr>
              <a:t>Incluye licenciamiento: cómo es SQL Server por dentro y qué edición y licencia necesitas</a:t>
            </a:r>
            <a:endParaRPr lang="en-US" sz="1600" dirty="0"/>
          </a:p>
        </p:txBody>
      </p:sp>
      <p:sp>
        <p:nvSpPr>
          <p:cNvPr id="6" name="Shape 4"/>
          <p:cNvSpPr/>
          <p:nvPr/>
        </p:nvSpPr>
        <p:spPr>
          <a:xfrm>
            <a:off x="6675120" y="1051560"/>
            <a:ext cx="4937760" cy="667512"/>
          </a:xfrm>
          <a:prstGeom prst="roundRect">
            <a:avLst>
              <a:gd name="adj" fmla="val 13699"/>
            </a:avLst>
          </a:prstGeom>
          <a:solidFill>
            <a:srgbClr val="FFFFFF">
              <a:alpha val="8000"/>
            </a:srgbClr>
          </a:solidFill>
          <a:ln/>
        </p:spPr>
      </p:sp>
      <p:sp>
        <p:nvSpPr>
          <p:cNvPr id="7" name="Shape 5"/>
          <p:cNvSpPr/>
          <p:nvPr/>
        </p:nvSpPr>
        <p:spPr>
          <a:xfrm>
            <a:off x="6812280" y="1165860"/>
            <a:ext cx="457200" cy="457200"/>
          </a:xfrm>
          <a:prstGeom prst="ellipse">
            <a:avLst/>
          </a:prstGeom>
          <a:solidFill>
            <a:srgbClr val="D95D39"/>
          </a:solidFill>
          <a:ln/>
        </p:spPr>
      </p:sp>
      <p:pic>
        <p:nvPicPr>
          <p:cNvPr id="8" name="Image 0" descr="preencoded.png">    </p:cNvPr>
          <p:cNvPicPr>
            <a:picLocks noChangeAspect="1"/>
          </p:cNvPicPr>
          <p:nvPr/>
        </p:nvPicPr>
        <p:blipFill>
          <a:blip r:embed="rId1"/>
          <a:stretch>
            <a:fillRect/>
          </a:stretch>
        </p:blipFill>
        <p:spPr>
          <a:xfrm>
            <a:off x="6926580" y="1280160"/>
            <a:ext cx="228600" cy="228600"/>
          </a:xfrm>
          <a:prstGeom prst="rect">
            <a:avLst/>
          </a:prstGeom>
        </p:spPr>
      </p:pic>
      <p:sp>
        <p:nvSpPr>
          <p:cNvPr id="9" name="Text 6"/>
          <p:cNvSpPr/>
          <p:nvPr/>
        </p:nvSpPr>
        <p:spPr>
          <a:xfrm>
            <a:off x="7452360" y="10515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Historia y versiones</a:t>
            </a:r>
            <a:endParaRPr lang="en-US" sz="1600" dirty="0"/>
          </a:p>
        </p:txBody>
      </p:sp>
      <p:sp>
        <p:nvSpPr>
          <p:cNvPr id="10" name="Shape 7"/>
          <p:cNvSpPr/>
          <p:nvPr/>
        </p:nvSpPr>
        <p:spPr>
          <a:xfrm>
            <a:off x="6675120" y="1828800"/>
            <a:ext cx="4937760" cy="667512"/>
          </a:xfrm>
          <a:prstGeom prst="roundRect">
            <a:avLst>
              <a:gd name="adj" fmla="val 13699"/>
            </a:avLst>
          </a:prstGeom>
          <a:solidFill>
            <a:srgbClr val="FFFFFF">
              <a:alpha val="8000"/>
            </a:srgbClr>
          </a:solidFill>
          <a:ln/>
        </p:spPr>
      </p:sp>
      <p:sp>
        <p:nvSpPr>
          <p:cNvPr id="11" name="Shape 8"/>
          <p:cNvSpPr/>
          <p:nvPr/>
        </p:nvSpPr>
        <p:spPr>
          <a:xfrm>
            <a:off x="6812280" y="1943100"/>
            <a:ext cx="457200" cy="457200"/>
          </a:xfrm>
          <a:prstGeom prst="ellipse">
            <a:avLst/>
          </a:prstGeom>
          <a:solidFill>
            <a:srgbClr val="D95D39"/>
          </a:solidFill>
          <a:ln/>
        </p:spPr>
      </p:sp>
      <p:pic>
        <p:nvPicPr>
          <p:cNvPr id="12" name="Image 1" descr="preencoded.png">    </p:cNvPr>
          <p:cNvPicPr>
            <a:picLocks noChangeAspect="1"/>
          </p:cNvPicPr>
          <p:nvPr/>
        </p:nvPicPr>
        <p:blipFill>
          <a:blip r:embed="rId2"/>
          <a:stretch>
            <a:fillRect/>
          </a:stretch>
        </p:blipFill>
        <p:spPr>
          <a:xfrm>
            <a:off x="6926580" y="2057400"/>
            <a:ext cx="228600" cy="228600"/>
          </a:xfrm>
          <a:prstGeom prst="rect">
            <a:avLst/>
          </a:prstGeom>
        </p:spPr>
      </p:pic>
      <p:sp>
        <p:nvSpPr>
          <p:cNvPr id="13" name="Text 9"/>
          <p:cNvSpPr/>
          <p:nvPr/>
        </p:nvSpPr>
        <p:spPr>
          <a:xfrm>
            <a:off x="7452360" y="182880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Arquitectura del motor</a:t>
            </a:r>
            <a:endParaRPr lang="en-US" sz="1600" dirty="0"/>
          </a:p>
        </p:txBody>
      </p:sp>
      <p:sp>
        <p:nvSpPr>
          <p:cNvPr id="14" name="Shape 10"/>
          <p:cNvSpPr/>
          <p:nvPr/>
        </p:nvSpPr>
        <p:spPr>
          <a:xfrm>
            <a:off x="6675120" y="2606040"/>
            <a:ext cx="4937760" cy="667512"/>
          </a:xfrm>
          <a:prstGeom prst="roundRect">
            <a:avLst>
              <a:gd name="adj" fmla="val 13699"/>
            </a:avLst>
          </a:prstGeom>
          <a:solidFill>
            <a:srgbClr val="FFFFFF">
              <a:alpha val="8000"/>
            </a:srgbClr>
          </a:solidFill>
          <a:ln/>
        </p:spPr>
      </p:sp>
      <p:sp>
        <p:nvSpPr>
          <p:cNvPr id="15" name="Shape 11"/>
          <p:cNvSpPr/>
          <p:nvPr/>
        </p:nvSpPr>
        <p:spPr>
          <a:xfrm>
            <a:off x="6812280" y="2720340"/>
            <a:ext cx="457200" cy="457200"/>
          </a:xfrm>
          <a:prstGeom prst="ellipse">
            <a:avLst/>
          </a:prstGeom>
          <a:solidFill>
            <a:srgbClr val="D95D39"/>
          </a:solidFill>
          <a:ln/>
        </p:spPr>
      </p:sp>
      <p:pic>
        <p:nvPicPr>
          <p:cNvPr id="16" name="Image 2" descr="preencoded.png">    </p:cNvPr>
          <p:cNvPicPr>
            <a:picLocks noChangeAspect="1"/>
          </p:cNvPicPr>
          <p:nvPr/>
        </p:nvPicPr>
        <p:blipFill>
          <a:blip r:embed="rId3"/>
          <a:stretch>
            <a:fillRect/>
          </a:stretch>
        </p:blipFill>
        <p:spPr>
          <a:xfrm>
            <a:off x="6926580" y="2834640"/>
            <a:ext cx="228600" cy="228600"/>
          </a:xfrm>
          <a:prstGeom prst="rect">
            <a:avLst/>
          </a:prstGeom>
        </p:spPr>
      </p:pic>
      <p:sp>
        <p:nvSpPr>
          <p:cNvPr id="17" name="Text 12"/>
          <p:cNvSpPr/>
          <p:nvPr/>
        </p:nvSpPr>
        <p:spPr>
          <a:xfrm>
            <a:off x="7452360" y="260604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Páginas, extensiones y ficheros</a:t>
            </a:r>
            <a:endParaRPr lang="en-US" sz="1600" dirty="0"/>
          </a:p>
        </p:txBody>
      </p:sp>
      <p:sp>
        <p:nvSpPr>
          <p:cNvPr id="18" name="Shape 13"/>
          <p:cNvSpPr/>
          <p:nvPr/>
        </p:nvSpPr>
        <p:spPr>
          <a:xfrm>
            <a:off x="6675120" y="3383280"/>
            <a:ext cx="4937760" cy="667512"/>
          </a:xfrm>
          <a:prstGeom prst="roundRect">
            <a:avLst>
              <a:gd name="adj" fmla="val 13699"/>
            </a:avLst>
          </a:prstGeom>
          <a:solidFill>
            <a:srgbClr val="FFFFFF">
              <a:alpha val="8000"/>
            </a:srgbClr>
          </a:solidFill>
          <a:ln/>
        </p:spPr>
      </p:sp>
      <p:sp>
        <p:nvSpPr>
          <p:cNvPr id="19" name="Shape 14"/>
          <p:cNvSpPr/>
          <p:nvPr/>
        </p:nvSpPr>
        <p:spPr>
          <a:xfrm>
            <a:off x="6812280" y="3497580"/>
            <a:ext cx="457200" cy="457200"/>
          </a:xfrm>
          <a:prstGeom prst="ellipse">
            <a:avLst/>
          </a:prstGeom>
          <a:solidFill>
            <a:srgbClr val="D95D39"/>
          </a:solidFill>
          <a:ln/>
        </p:spPr>
      </p:sp>
      <p:pic>
        <p:nvPicPr>
          <p:cNvPr id="20" name="Image 3" descr="preencoded.png">    </p:cNvPr>
          <p:cNvPicPr>
            <a:picLocks noChangeAspect="1"/>
          </p:cNvPicPr>
          <p:nvPr/>
        </p:nvPicPr>
        <p:blipFill>
          <a:blip r:embed="rId4"/>
          <a:stretch>
            <a:fillRect/>
          </a:stretch>
        </p:blipFill>
        <p:spPr>
          <a:xfrm>
            <a:off x="6926580" y="3611880"/>
            <a:ext cx="228600" cy="228600"/>
          </a:xfrm>
          <a:prstGeom prst="rect">
            <a:avLst/>
          </a:prstGeom>
        </p:spPr>
      </p:pic>
      <p:sp>
        <p:nvSpPr>
          <p:cNvPr id="21" name="Text 15"/>
          <p:cNvSpPr/>
          <p:nvPr/>
        </p:nvSpPr>
        <p:spPr>
          <a:xfrm>
            <a:off x="7452360" y="338328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Instancias y bases del sistema</a:t>
            </a:r>
            <a:endParaRPr lang="en-US" sz="1600" dirty="0"/>
          </a:p>
        </p:txBody>
      </p:sp>
      <p:sp>
        <p:nvSpPr>
          <p:cNvPr id="22" name="Shape 16"/>
          <p:cNvSpPr/>
          <p:nvPr/>
        </p:nvSpPr>
        <p:spPr>
          <a:xfrm>
            <a:off x="6675120" y="4160520"/>
            <a:ext cx="4937760" cy="667512"/>
          </a:xfrm>
          <a:prstGeom prst="roundRect">
            <a:avLst>
              <a:gd name="adj" fmla="val 13699"/>
            </a:avLst>
          </a:prstGeom>
          <a:solidFill>
            <a:srgbClr val="FFFFFF">
              <a:alpha val="8000"/>
            </a:srgbClr>
          </a:solidFill>
          <a:ln/>
        </p:spPr>
      </p:sp>
      <p:sp>
        <p:nvSpPr>
          <p:cNvPr id="23" name="Shape 17"/>
          <p:cNvSpPr/>
          <p:nvPr/>
        </p:nvSpPr>
        <p:spPr>
          <a:xfrm>
            <a:off x="6812280" y="4274820"/>
            <a:ext cx="457200" cy="457200"/>
          </a:xfrm>
          <a:prstGeom prst="ellipse">
            <a:avLst/>
          </a:prstGeom>
          <a:solidFill>
            <a:srgbClr val="D95D39"/>
          </a:solidFill>
          <a:ln/>
        </p:spPr>
      </p:sp>
      <p:pic>
        <p:nvPicPr>
          <p:cNvPr id="24" name="Image 4" descr="preencoded.png">    </p:cNvPr>
          <p:cNvPicPr>
            <a:picLocks noChangeAspect="1"/>
          </p:cNvPicPr>
          <p:nvPr/>
        </p:nvPicPr>
        <p:blipFill>
          <a:blip r:embed="rId5"/>
          <a:stretch>
            <a:fillRect/>
          </a:stretch>
        </p:blipFill>
        <p:spPr>
          <a:xfrm>
            <a:off x="6926580" y="4389120"/>
            <a:ext cx="228600" cy="228600"/>
          </a:xfrm>
          <a:prstGeom prst="rect">
            <a:avLst/>
          </a:prstGeom>
        </p:spPr>
      </p:pic>
      <p:sp>
        <p:nvSpPr>
          <p:cNvPr id="25" name="Text 18"/>
          <p:cNvSpPr/>
          <p:nvPr/>
        </p:nvSpPr>
        <p:spPr>
          <a:xfrm>
            <a:off x="7452360" y="416052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Ediciones y licenciamiento</a:t>
            </a:r>
            <a:endParaRPr lang="en-US" sz="1600" dirty="0"/>
          </a:p>
        </p:txBody>
      </p:sp>
      <p:sp>
        <p:nvSpPr>
          <p:cNvPr id="26" name="Shape 19"/>
          <p:cNvSpPr/>
          <p:nvPr/>
        </p:nvSpPr>
        <p:spPr>
          <a:xfrm>
            <a:off x="6675120" y="4937760"/>
            <a:ext cx="4937760" cy="667512"/>
          </a:xfrm>
          <a:prstGeom prst="roundRect">
            <a:avLst>
              <a:gd name="adj" fmla="val 13699"/>
            </a:avLst>
          </a:prstGeom>
          <a:solidFill>
            <a:srgbClr val="FFFFFF">
              <a:alpha val="8000"/>
            </a:srgbClr>
          </a:solidFill>
          <a:ln/>
        </p:spPr>
      </p:sp>
      <p:sp>
        <p:nvSpPr>
          <p:cNvPr id="27" name="Shape 20"/>
          <p:cNvSpPr/>
          <p:nvPr/>
        </p:nvSpPr>
        <p:spPr>
          <a:xfrm>
            <a:off x="6812280" y="5052060"/>
            <a:ext cx="457200" cy="457200"/>
          </a:xfrm>
          <a:prstGeom prst="ellipse">
            <a:avLst/>
          </a:prstGeom>
          <a:solidFill>
            <a:srgbClr val="D95D39"/>
          </a:solidFill>
          <a:ln/>
        </p:spPr>
      </p:sp>
      <p:pic>
        <p:nvPicPr>
          <p:cNvPr id="28" name="Image 5" descr="preencoded.png">    </p:cNvPr>
          <p:cNvPicPr>
            <a:picLocks noChangeAspect="1"/>
          </p:cNvPicPr>
          <p:nvPr/>
        </p:nvPicPr>
        <p:blipFill>
          <a:blip r:embed="rId6"/>
          <a:stretch>
            <a:fillRect/>
          </a:stretch>
        </p:blipFill>
        <p:spPr>
          <a:xfrm>
            <a:off x="6926580" y="5166360"/>
            <a:ext cx="228600" cy="228600"/>
          </a:xfrm>
          <a:prstGeom prst="rect">
            <a:avLst/>
          </a:prstGeom>
        </p:spPr>
      </p:pic>
      <p:sp>
        <p:nvSpPr>
          <p:cNvPr id="29" name="Text 21"/>
          <p:cNvSpPr/>
          <p:nvPr/>
        </p:nvSpPr>
        <p:spPr>
          <a:xfrm>
            <a:off x="7452360" y="49377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Laboratorio 1</a:t>
            </a:r>
            <a:endParaRPr lang="en-US" sz="1600" dirty="0"/>
          </a:p>
        </p:txBody>
      </p:sp>
      <p:sp>
        <p:nvSpPr>
          <p:cNvPr id="30" name="Text 2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31" name="Text 2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1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HISTORIA</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Versiones de SQL Server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6</a:t>
            </a:r>
            <a:endParaRPr lang="en-US" sz="1000" dirty="0"/>
          </a:p>
        </p:txBody>
      </p:sp>
      <p:sp>
        <p:nvSpPr>
          <p:cNvPr id="7" name="Shape 4"/>
          <p:cNvSpPr/>
          <p:nvPr/>
        </p:nvSpPr>
        <p:spPr>
          <a:xfrm>
            <a:off x="548640" y="1600200"/>
            <a:ext cx="1467351" cy="3108960"/>
          </a:xfrm>
          <a:prstGeom prst="roundRect">
            <a:avLst>
              <a:gd name="adj" fmla="val 7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Text 5"/>
          <p:cNvSpPr/>
          <p:nvPr/>
        </p:nvSpPr>
        <p:spPr>
          <a:xfrm>
            <a:off x="548640" y="1783080"/>
            <a:ext cx="1467351" cy="548640"/>
          </a:xfrm>
          <a:prstGeom prst="rect">
            <a:avLst/>
          </a:prstGeom>
          <a:noFill/>
          <a:ln/>
        </p:spPr>
        <p:txBody>
          <a:bodyPr wrap="square" lIns="0" tIns="0" rIns="0" bIns="0" rtlCol="0" anchor="ctr"/>
          <a:lstStyle/>
          <a:p>
            <a:pPr algn="ctr" indent="0" marL="0">
              <a:buNone/>
            </a:pPr>
            <a:r>
              <a:rPr lang="en-US" sz="2800" b="1" dirty="0">
                <a:solidFill>
                  <a:srgbClr val="D95D39"/>
                </a:solidFill>
                <a:latin typeface="Calibri" pitchFamily="34" charset="0"/>
                <a:ea typeface="Calibri" pitchFamily="34" charset="-122"/>
                <a:cs typeface="Calibri" pitchFamily="34" charset="-120"/>
              </a:rPr>
              <a:t>2012</a:t>
            </a:r>
            <a:endParaRPr lang="en-US" sz="2800" dirty="0"/>
          </a:p>
        </p:txBody>
      </p:sp>
      <p:sp>
        <p:nvSpPr>
          <p:cNvPr id="9" name="Text 6"/>
          <p:cNvSpPr/>
          <p:nvPr/>
        </p:nvSpPr>
        <p:spPr>
          <a:xfrm>
            <a:off x="685800"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Always On AG</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Columnstore</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Secuencias</a:t>
            </a:r>
            <a:endParaRPr lang="en-US" sz="1300" dirty="0"/>
          </a:p>
        </p:txBody>
      </p:sp>
      <p:sp>
        <p:nvSpPr>
          <p:cNvPr id="10" name="Shape 7"/>
          <p:cNvSpPr/>
          <p:nvPr/>
        </p:nvSpPr>
        <p:spPr>
          <a:xfrm>
            <a:off x="2153151" y="1600200"/>
            <a:ext cx="1467351" cy="3108960"/>
          </a:xfrm>
          <a:prstGeom prst="roundRect">
            <a:avLst>
              <a:gd name="adj" fmla="val 7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2153151" y="1783080"/>
            <a:ext cx="1467351" cy="548640"/>
          </a:xfrm>
          <a:prstGeom prst="rect">
            <a:avLst/>
          </a:prstGeom>
          <a:noFill/>
          <a:ln/>
        </p:spPr>
        <p:txBody>
          <a:bodyPr wrap="square" lIns="0" tIns="0" rIns="0" bIns="0" rtlCol="0" anchor="ctr"/>
          <a:lstStyle/>
          <a:p>
            <a:pPr algn="ctr" indent="0" marL="0">
              <a:buNone/>
            </a:pPr>
            <a:r>
              <a:rPr lang="en-US" sz="2800" b="1" dirty="0">
                <a:solidFill>
                  <a:srgbClr val="D95D39"/>
                </a:solidFill>
                <a:latin typeface="Calibri" pitchFamily="34" charset="0"/>
                <a:ea typeface="Calibri" pitchFamily="34" charset="-122"/>
                <a:cs typeface="Calibri" pitchFamily="34" charset="-120"/>
              </a:rPr>
              <a:t>2014</a:t>
            </a:r>
            <a:endParaRPr lang="en-US" sz="2800" dirty="0"/>
          </a:p>
        </p:txBody>
      </p:sp>
      <p:sp>
        <p:nvSpPr>
          <p:cNvPr id="12" name="Text 9"/>
          <p:cNvSpPr/>
          <p:nvPr/>
        </p:nvSpPr>
        <p:spPr>
          <a:xfrm>
            <a:off x="2290311"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In-Memory OLTP</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Buffer Pool Ext.</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Backup cifrado</a:t>
            </a:r>
            <a:endParaRPr lang="en-US" sz="1300" dirty="0"/>
          </a:p>
        </p:txBody>
      </p:sp>
      <p:sp>
        <p:nvSpPr>
          <p:cNvPr id="13" name="Shape 10"/>
          <p:cNvSpPr/>
          <p:nvPr/>
        </p:nvSpPr>
        <p:spPr>
          <a:xfrm>
            <a:off x="3757661" y="1600200"/>
            <a:ext cx="1467351" cy="3108960"/>
          </a:xfrm>
          <a:prstGeom prst="roundRect">
            <a:avLst>
              <a:gd name="adj" fmla="val 7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Text 11"/>
          <p:cNvSpPr/>
          <p:nvPr/>
        </p:nvSpPr>
        <p:spPr>
          <a:xfrm>
            <a:off x="3757661" y="1783080"/>
            <a:ext cx="1467351" cy="548640"/>
          </a:xfrm>
          <a:prstGeom prst="rect">
            <a:avLst/>
          </a:prstGeom>
          <a:noFill/>
          <a:ln/>
        </p:spPr>
        <p:txBody>
          <a:bodyPr wrap="square" lIns="0" tIns="0" rIns="0" bIns="0" rtlCol="0" anchor="ctr"/>
          <a:lstStyle/>
          <a:p>
            <a:pPr algn="ctr" indent="0" marL="0">
              <a:buNone/>
            </a:pPr>
            <a:r>
              <a:rPr lang="en-US" sz="2800" b="1" dirty="0">
                <a:solidFill>
                  <a:srgbClr val="D95D39"/>
                </a:solidFill>
                <a:latin typeface="Calibri" pitchFamily="34" charset="0"/>
                <a:ea typeface="Calibri" pitchFamily="34" charset="-122"/>
                <a:cs typeface="Calibri" pitchFamily="34" charset="-120"/>
              </a:rPr>
              <a:t>2016</a:t>
            </a:r>
            <a:endParaRPr lang="en-US" sz="2800" dirty="0"/>
          </a:p>
        </p:txBody>
      </p:sp>
      <p:sp>
        <p:nvSpPr>
          <p:cNvPr id="15" name="Text 12"/>
          <p:cNvSpPr/>
          <p:nvPr/>
        </p:nvSpPr>
        <p:spPr>
          <a:xfrm>
            <a:off x="3894821"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Query Store</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Always Encrypted</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Temporal tables</a:t>
            </a:r>
            <a:endParaRPr lang="en-US" sz="1300" dirty="0"/>
          </a:p>
        </p:txBody>
      </p:sp>
      <p:sp>
        <p:nvSpPr>
          <p:cNvPr id="16" name="Shape 13"/>
          <p:cNvSpPr/>
          <p:nvPr/>
        </p:nvSpPr>
        <p:spPr>
          <a:xfrm>
            <a:off x="5362172" y="1600200"/>
            <a:ext cx="1467351" cy="3108960"/>
          </a:xfrm>
          <a:prstGeom prst="roundRect">
            <a:avLst>
              <a:gd name="adj" fmla="val 7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7" name="Text 14"/>
          <p:cNvSpPr/>
          <p:nvPr/>
        </p:nvSpPr>
        <p:spPr>
          <a:xfrm>
            <a:off x="5362172" y="1783080"/>
            <a:ext cx="1467351" cy="548640"/>
          </a:xfrm>
          <a:prstGeom prst="rect">
            <a:avLst/>
          </a:prstGeom>
          <a:noFill/>
          <a:ln/>
        </p:spPr>
        <p:txBody>
          <a:bodyPr wrap="square" lIns="0" tIns="0" rIns="0" bIns="0" rtlCol="0" anchor="ctr"/>
          <a:lstStyle/>
          <a:p>
            <a:pPr algn="ctr" indent="0" marL="0">
              <a:buNone/>
            </a:pPr>
            <a:r>
              <a:rPr lang="en-US" sz="2800" b="1" dirty="0">
                <a:solidFill>
                  <a:srgbClr val="D95D39"/>
                </a:solidFill>
                <a:latin typeface="Calibri" pitchFamily="34" charset="0"/>
                <a:ea typeface="Calibri" pitchFamily="34" charset="-122"/>
                <a:cs typeface="Calibri" pitchFamily="34" charset="-120"/>
              </a:rPr>
              <a:t>2017</a:t>
            </a:r>
            <a:endParaRPr lang="en-US" sz="2800" dirty="0"/>
          </a:p>
        </p:txBody>
      </p:sp>
      <p:sp>
        <p:nvSpPr>
          <p:cNvPr id="18" name="Text 15"/>
          <p:cNvSpPr/>
          <p:nvPr/>
        </p:nvSpPr>
        <p:spPr>
          <a:xfrm>
            <a:off x="5499332"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Linux y Docker</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Adaptive QP</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Python</a:t>
            </a:r>
            <a:endParaRPr lang="en-US" sz="1300" dirty="0"/>
          </a:p>
        </p:txBody>
      </p:sp>
      <p:sp>
        <p:nvSpPr>
          <p:cNvPr id="19" name="Shape 16"/>
          <p:cNvSpPr/>
          <p:nvPr/>
        </p:nvSpPr>
        <p:spPr>
          <a:xfrm>
            <a:off x="6966683" y="1600200"/>
            <a:ext cx="1467351" cy="3108960"/>
          </a:xfrm>
          <a:prstGeom prst="roundRect">
            <a:avLst>
              <a:gd name="adj" fmla="val 7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Text 17"/>
          <p:cNvSpPr/>
          <p:nvPr/>
        </p:nvSpPr>
        <p:spPr>
          <a:xfrm>
            <a:off x="6966683" y="1783080"/>
            <a:ext cx="1467351" cy="548640"/>
          </a:xfrm>
          <a:prstGeom prst="rect">
            <a:avLst/>
          </a:prstGeom>
          <a:noFill/>
          <a:ln/>
        </p:spPr>
        <p:txBody>
          <a:bodyPr wrap="square" lIns="0" tIns="0" rIns="0" bIns="0" rtlCol="0" anchor="ctr"/>
          <a:lstStyle/>
          <a:p>
            <a:pPr algn="ctr" indent="0" marL="0">
              <a:buNone/>
            </a:pPr>
            <a:r>
              <a:rPr lang="en-US" sz="2800" b="1" dirty="0">
                <a:solidFill>
                  <a:srgbClr val="D95D39"/>
                </a:solidFill>
                <a:latin typeface="Calibri" pitchFamily="34" charset="0"/>
                <a:ea typeface="Calibri" pitchFamily="34" charset="-122"/>
                <a:cs typeface="Calibri" pitchFamily="34" charset="-120"/>
              </a:rPr>
              <a:t>2019</a:t>
            </a:r>
            <a:endParaRPr lang="en-US" sz="2800" dirty="0"/>
          </a:p>
        </p:txBody>
      </p:sp>
      <p:sp>
        <p:nvSpPr>
          <p:cNvPr id="21" name="Text 18"/>
          <p:cNvSpPr/>
          <p:nvPr/>
        </p:nvSpPr>
        <p:spPr>
          <a:xfrm>
            <a:off x="7103843"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Intelligent QP</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ADR</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UTF-8</a:t>
            </a:r>
            <a:endParaRPr lang="en-US" sz="1300" dirty="0"/>
          </a:p>
        </p:txBody>
      </p:sp>
      <p:sp>
        <p:nvSpPr>
          <p:cNvPr id="22" name="Shape 19"/>
          <p:cNvSpPr/>
          <p:nvPr/>
        </p:nvSpPr>
        <p:spPr>
          <a:xfrm>
            <a:off x="8571194" y="1600200"/>
            <a:ext cx="1467351" cy="3108960"/>
          </a:xfrm>
          <a:prstGeom prst="roundRect">
            <a:avLst>
              <a:gd name="adj" fmla="val 7478"/>
            </a:avLst>
          </a:prstGeom>
          <a:solidFill>
            <a:srgbClr val="0B2545"/>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Text 20"/>
          <p:cNvSpPr/>
          <p:nvPr/>
        </p:nvSpPr>
        <p:spPr>
          <a:xfrm>
            <a:off x="8571194" y="1783080"/>
            <a:ext cx="1467351"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2022</a:t>
            </a:r>
            <a:endParaRPr lang="en-US" sz="2800" dirty="0"/>
          </a:p>
        </p:txBody>
      </p:sp>
      <p:sp>
        <p:nvSpPr>
          <p:cNvPr id="24" name="Text 21"/>
          <p:cNvSpPr/>
          <p:nvPr/>
        </p:nvSpPr>
        <p:spPr>
          <a:xfrm>
            <a:off x="8708354"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Ledger</a:t>
            </a:r>
            <a:endParaRPr lang="en-US" sz="1300" dirty="0"/>
          </a:p>
          <a:p>
            <a:pPr marL="203200" indent="-2032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PSP optimization</a:t>
            </a:r>
            <a:endParaRPr lang="en-US" sz="1300" dirty="0"/>
          </a:p>
          <a:p>
            <a:pPr marL="203200" indent="-2032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Contained AG</a:t>
            </a:r>
            <a:endParaRPr lang="en-US" sz="1300" dirty="0"/>
          </a:p>
        </p:txBody>
      </p:sp>
      <p:sp>
        <p:nvSpPr>
          <p:cNvPr id="25" name="Shape 22"/>
          <p:cNvSpPr/>
          <p:nvPr/>
        </p:nvSpPr>
        <p:spPr>
          <a:xfrm>
            <a:off x="10175704" y="1600200"/>
            <a:ext cx="1467351" cy="3108960"/>
          </a:xfrm>
          <a:prstGeom prst="roundRect">
            <a:avLst>
              <a:gd name="adj" fmla="val 7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Text 23"/>
          <p:cNvSpPr/>
          <p:nvPr/>
        </p:nvSpPr>
        <p:spPr>
          <a:xfrm>
            <a:off x="10175704" y="1783080"/>
            <a:ext cx="1467351" cy="548640"/>
          </a:xfrm>
          <a:prstGeom prst="rect">
            <a:avLst/>
          </a:prstGeom>
          <a:noFill/>
          <a:ln/>
        </p:spPr>
        <p:txBody>
          <a:bodyPr wrap="square" lIns="0" tIns="0" rIns="0" bIns="0" rtlCol="0" anchor="ctr"/>
          <a:lstStyle/>
          <a:p>
            <a:pPr algn="ctr" indent="0" marL="0">
              <a:buNone/>
            </a:pPr>
            <a:r>
              <a:rPr lang="en-US" sz="2800" b="1" dirty="0">
                <a:solidFill>
                  <a:srgbClr val="D95D39"/>
                </a:solidFill>
                <a:latin typeface="Calibri" pitchFamily="34" charset="0"/>
                <a:ea typeface="Calibri" pitchFamily="34" charset="-122"/>
                <a:cs typeface="Calibri" pitchFamily="34" charset="-120"/>
              </a:rPr>
              <a:t>2025</a:t>
            </a:r>
            <a:endParaRPr lang="en-US" sz="2800" dirty="0"/>
          </a:p>
        </p:txBody>
      </p:sp>
      <p:sp>
        <p:nvSpPr>
          <p:cNvPr id="27" name="Text 24"/>
          <p:cNvSpPr/>
          <p:nvPr/>
        </p:nvSpPr>
        <p:spPr>
          <a:xfrm>
            <a:off x="10312864" y="2514600"/>
            <a:ext cx="1238751" cy="21031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Tipo vector (IA)</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Tipo json</a:t>
            </a:r>
            <a:endParaRPr lang="en-US" sz="1300" dirty="0"/>
          </a:p>
          <a:p>
            <a:pPr marL="203200" indent="-2032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Regex en T-SQL</a:t>
            </a:r>
            <a:endParaRPr lang="en-US" sz="1300" dirty="0"/>
          </a:p>
        </p:txBody>
      </p:sp>
      <p:sp>
        <p:nvSpPr>
          <p:cNvPr id="28" name="Shape 25"/>
          <p:cNvSpPr/>
          <p:nvPr/>
        </p:nvSpPr>
        <p:spPr>
          <a:xfrm>
            <a:off x="548640" y="5029200"/>
            <a:ext cx="11094415" cy="1097280"/>
          </a:xfrm>
          <a:prstGeom prst="roundRect">
            <a:avLst>
              <a:gd name="adj" fmla="val 10000"/>
            </a:avLst>
          </a:prstGeom>
          <a:solidFill>
            <a:srgbClr val="FDEDE8"/>
          </a:solidFill>
          <a:ln/>
        </p:spPr>
      </p:sp>
      <p:sp>
        <p:nvSpPr>
          <p:cNvPr id="29" name="Shape 26"/>
          <p:cNvSpPr/>
          <p:nvPr/>
        </p:nvSpPr>
        <p:spPr>
          <a:xfrm>
            <a:off x="731520" y="5349240"/>
            <a:ext cx="457200" cy="457200"/>
          </a:xfrm>
          <a:prstGeom prst="ellipse">
            <a:avLst/>
          </a:prstGeom>
          <a:solidFill>
            <a:srgbClr val="D95D39"/>
          </a:solidFill>
          <a:ln/>
        </p:spPr>
      </p:sp>
      <p:pic>
        <p:nvPicPr>
          <p:cNvPr id="30" name="Image 0" descr="preencoded.png">    </p:cNvPr>
          <p:cNvPicPr>
            <a:picLocks noChangeAspect="1"/>
          </p:cNvPicPr>
          <p:nvPr/>
        </p:nvPicPr>
        <p:blipFill>
          <a:blip r:embed="rId1"/>
          <a:stretch>
            <a:fillRect/>
          </a:stretch>
        </p:blipFill>
        <p:spPr>
          <a:xfrm>
            <a:off x="845820" y="5463540"/>
            <a:ext cx="228600" cy="228600"/>
          </a:xfrm>
          <a:prstGeom prst="rect">
            <a:avLst/>
          </a:prstGeom>
        </p:spPr>
      </p:pic>
      <p:sp>
        <p:nvSpPr>
          <p:cNvPr id="31" name="Text 27"/>
          <p:cNvSpPr/>
          <p:nvPr/>
        </p:nvSpPr>
        <p:spPr>
          <a:xfrm>
            <a:off x="1371600" y="5029200"/>
            <a:ext cx="10088575" cy="109728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Ciclo de vida: </a:t>
            </a:r>
            <a:r>
              <a:rPr lang="en-US" sz="1400" dirty="0">
                <a:solidFill>
                  <a:srgbClr val="1F2933"/>
                </a:solidFill>
                <a:latin typeface="Calibri" pitchFamily="34" charset="0"/>
                <a:ea typeface="Calibri" pitchFamily="34" charset="-122"/>
                <a:cs typeface="Calibri" pitchFamily="34" charset="-120"/>
              </a:rPr>
              <a:t>5 años de soporte principal + 5 de soporte extendido. SQL Server 2016 ya no recibe parches de seguridad (jul-2026); 2022 es la referencia del curso.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ARQUITECTURA</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Arquitectura interna del motor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7</a:t>
            </a:r>
            <a:endParaRPr lang="en-US" sz="1000" dirty="0"/>
          </a:p>
        </p:txBody>
      </p:sp>
      <p:sp>
        <p:nvSpPr>
          <p:cNvPr id="7" name="Text 4"/>
          <p:cNvSpPr/>
          <p:nvPr/>
        </p:nvSpPr>
        <p:spPr>
          <a:xfrm>
            <a:off x="548640" y="1600200"/>
            <a:ext cx="5303520" cy="411480"/>
          </a:xfrm>
          <a:prstGeom prst="roundRect">
            <a:avLst>
              <a:gd name="adj" fmla="val 17778"/>
            </a:avLst>
          </a:prstGeom>
          <a:solidFill>
            <a:srgbClr val="8DA9C4"/>
          </a:solidFill>
          <a:ln/>
        </p:spPr>
        <p:txBody>
          <a:bodyPr wrap="square" lIns="508" tIns="1016" rIns="1016" bIns="508"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Aplicación cliente · SSMS · sqlcmd · .NET</a:t>
            </a:r>
            <a:endParaRPr lang="en-US" sz="1300" dirty="0"/>
          </a:p>
        </p:txBody>
      </p:sp>
      <p:sp>
        <p:nvSpPr>
          <p:cNvPr id="8" name="Shape 5"/>
          <p:cNvSpPr/>
          <p:nvPr/>
        </p:nvSpPr>
        <p:spPr>
          <a:xfrm>
            <a:off x="3200400" y="2011680"/>
            <a:ext cx="0" cy="146304"/>
          </a:xfrm>
          <a:prstGeom prst="line">
            <a:avLst/>
          </a:prstGeom>
          <a:noFill/>
          <a:ln w="25400">
            <a:solidFill>
              <a:srgbClr val="D95D39"/>
            </a:solidFill>
            <a:prstDash val="solid"/>
            <a:tailEnd type="triangle"/>
          </a:ln>
        </p:spPr>
      </p:sp>
      <p:sp>
        <p:nvSpPr>
          <p:cNvPr id="9" name="Text 6"/>
          <p:cNvSpPr/>
          <p:nvPr/>
        </p:nvSpPr>
        <p:spPr>
          <a:xfrm>
            <a:off x="3310128" y="1993392"/>
            <a:ext cx="548640" cy="182880"/>
          </a:xfrm>
          <a:prstGeom prst="rect">
            <a:avLst/>
          </a:prstGeom>
          <a:noFill/>
          <a:ln/>
        </p:spPr>
        <p:txBody>
          <a:bodyPr wrap="square" lIns="0" tIns="0" rIns="0" bIns="0" rtlCol="0" anchor="t"/>
          <a:lstStyle/>
          <a:p>
            <a:pPr algn="l" indent="0" marL="0">
              <a:buNone/>
            </a:pPr>
            <a:r>
              <a:rPr lang="en-US" sz="1100" b="1" dirty="0">
                <a:solidFill>
                  <a:srgbClr val="D95D39"/>
                </a:solidFill>
                <a:latin typeface="Calibri" pitchFamily="34" charset="0"/>
                <a:ea typeface="Calibri" pitchFamily="34" charset="-122"/>
                <a:cs typeface="Calibri" pitchFamily="34" charset="-120"/>
              </a:rPr>
              <a:t>TDS</a:t>
            </a:r>
            <a:endParaRPr lang="en-US" sz="1100" dirty="0"/>
          </a:p>
        </p:txBody>
      </p:sp>
      <p:sp>
        <p:nvSpPr>
          <p:cNvPr id="10" name="Shape 7"/>
          <p:cNvSpPr/>
          <p:nvPr/>
        </p:nvSpPr>
        <p:spPr>
          <a:xfrm>
            <a:off x="548640" y="2157984"/>
            <a:ext cx="5303520" cy="777240"/>
          </a:xfrm>
          <a:prstGeom prst="roundRect">
            <a:avLst>
              <a:gd name="adj" fmla="val 11765"/>
            </a:avLst>
          </a:prstGeom>
          <a:solidFill>
            <a:srgbClr val="E8EEF5"/>
          </a:solidFill>
          <a:ln w="9525">
            <a:solidFill>
              <a:srgbClr val="134074"/>
            </a:solidFill>
            <a:prstDash val="solid"/>
          </a:ln>
        </p:spPr>
      </p:sp>
      <p:sp>
        <p:nvSpPr>
          <p:cNvPr id="11" name="Text 8"/>
          <p:cNvSpPr/>
          <p:nvPr/>
        </p:nvSpPr>
        <p:spPr>
          <a:xfrm>
            <a:off x="685800" y="2212848"/>
            <a:ext cx="5029200" cy="237744"/>
          </a:xfrm>
          <a:prstGeom prst="rect">
            <a:avLst/>
          </a:prstGeom>
          <a:noFill/>
          <a:ln/>
        </p:spPr>
        <p:txBody>
          <a:bodyPr wrap="square" lIns="0" tIns="0" rIns="0" bIns="0" rtlCol="0" anchor="t"/>
          <a:lstStyle/>
          <a:p>
            <a:pPr algn="l" indent="0" marL="0">
              <a:buNone/>
            </a:pPr>
            <a:r>
              <a:rPr lang="en-US" sz="1100" b="1" dirty="0">
                <a:solidFill>
                  <a:srgbClr val="134074"/>
                </a:solidFill>
                <a:latin typeface="Calibri" pitchFamily="34" charset="0"/>
                <a:ea typeface="Calibri" pitchFamily="34" charset="-122"/>
                <a:cs typeface="Calibri" pitchFamily="34" charset="-120"/>
              </a:rPr>
              <a:t>SNI · SQL Network Interface</a:t>
            </a:r>
            <a:endParaRPr lang="en-US" sz="1100" dirty="0"/>
          </a:p>
        </p:txBody>
      </p:sp>
      <p:sp>
        <p:nvSpPr>
          <p:cNvPr id="12" name="Text 9"/>
          <p:cNvSpPr/>
          <p:nvPr/>
        </p:nvSpPr>
        <p:spPr>
          <a:xfrm>
            <a:off x="685800" y="2487168"/>
            <a:ext cx="1603248" cy="356616"/>
          </a:xfrm>
          <a:prstGeom prst="roundRect">
            <a:avLst>
              <a:gd name="adj" fmla="val 20513"/>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Shared Memory</a:t>
            </a:r>
            <a:endParaRPr lang="en-US" sz="1200" dirty="0"/>
          </a:p>
        </p:txBody>
      </p:sp>
      <p:sp>
        <p:nvSpPr>
          <p:cNvPr id="13" name="Text 10"/>
          <p:cNvSpPr/>
          <p:nvPr/>
        </p:nvSpPr>
        <p:spPr>
          <a:xfrm>
            <a:off x="2398776" y="2487168"/>
            <a:ext cx="1603248" cy="356616"/>
          </a:xfrm>
          <a:prstGeom prst="roundRect">
            <a:avLst>
              <a:gd name="adj" fmla="val 20513"/>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TCP/IP</a:t>
            </a:r>
            <a:endParaRPr lang="en-US" sz="1200" dirty="0"/>
          </a:p>
        </p:txBody>
      </p:sp>
      <p:sp>
        <p:nvSpPr>
          <p:cNvPr id="14" name="Text 11"/>
          <p:cNvSpPr/>
          <p:nvPr/>
        </p:nvSpPr>
        <p:spPr>
          <a:xfrm>
            <a:off x="4111752" y="2487168"/>
            <a:ext cx="1603248" cy="356616"/>
          </a:xfrm>
          <a:prstGeom prst="roundRect">
            <a:avLst>
              <a:gd name="adj" fmla="val 20513"/>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Named Pipes</a:t>
            </a:r>
            <a:endParaRPr lang="en-US" sz="1200" dirty="0"/>
          </a:p>
        </p:txBody>
      </p:sp>
      <p:sp>
        <p:nvSpPr>
          <p:cNvPr id="15" name="Shape 12"/>
          <p:cNvSpPr/>
          <p:nvPr/>
        </p:nvSpPr>
        <p:spPr>
          <a:xfrm>
            <a:off x="3200400" y="2935224"/>
            <a:ext cx="0" cy="146304"/>
          </a:xfrm>
          <a:prstGeom prst="line">
            <a:avLst/>
          </a:prstGeom>
          <a:noFill/>
          <a:ln w="25400">
            <a:solidFill>
              <a:srgbClr val="D95D39"/>
            </a:solidFill>
            <a:prstDash val="solid"/>
            <a:tailEnd type="triangle"/>
          </a:ln>
        </p:spPr>
      </p:sp>
      <p:sp>
        <p:nvSpPr>
          <p:cNvPr id="16" name="Shape 13"/>
          <p:cNvSpPr/>
          <p:nvPr/>
        </p:nvSpPr>
        <p:spPr>
          <a:xfrm>
            <a:off x="548640" y="3081528"/>
            <a:ext cx="5303520" cy="1005840"/>
          </a:xfrm>
          <a:prstGeom prst="roundRect">
            <a:avLst>
              <a:gd name="adj" fmla="val 9091"/>
            </a:avLst>
          </a:prstGeom>
          <a:solidFill>
            <a:srgbClr val="DDE7F3"/>
          </a:solidFill>
          <a:ln w="9525">
            <a:solidFill>
              <a:srgbClr val="0B2545"/>
            </a:solidFill>
            <a:prstDash val="solid"/>
          </a:ln>
        </p:spPr>
      </p:sp>
      <p:sp>
        <p:nvSpPr>
          <p:cNvPr id="17" name="Text 14"/>
          <p:cNvSpPr/>
          <p:nvPr/>
        </p:nvSpPr>
        <p:spPr>
          <a:xfrm>
            <a:off x="685800" y="3136392"/>
            <a:ext cx="5029200" cy="237744"/>
          </a:xfrm>
          <a:prstGeom prst="rect">
            <a:avLst/>
          </a:prstGeom>
          <a:noFill/>
          <a:ln/>
        </p:spPr>
        <p:txBody>
          <a:bodyPr wrap="square" lIns="0" tIns="0" rIns="0" bIns="0" rtlCol="0" anchor="t"/>
          <a:lstStyle/>
          <a:p>
            <a:pPr algn="l" indent="0" marL="0">
              <a:buNone/>
            </a:pPr>
            <a:r>
              <a:rPr lang="en-US" sz="1100" b="1" dirty="0">
                <a:solidFill>
                  <a:srgbClr val="0B2545"/>
                </a:solidFill>
                <a:latin typeface="Calibri" pitchFamily="34" charset="0"/>
                <a:ea typeface="Calibri" pitchFamily="34" charset="-122"/>
                <a:cs typeface="Calibri" pitchFamily="34" charset="-120"/>
              </a:rPr>
              <a:t>RELATIONAL ENGINE (Query Processor)</a:t>
            </a:r>
            <a:endParaRPr lang="en-US" sz="1100" dirty="0"/>
          </a:p>
        </p:txBody>
      </p:sp>
      <p:sp>
        <p:nvSpPr>
          <p:cNvPr id="18" name="Text 15"/>
          <p:cNvSpPr/>
          <p:nvPr/>
        </p:nvSpPr>
        <p:spPr>
          <a:xfrm>
            <a:off x="685800" y="3410712"/>
            <a:ext cx="1175004" cy="585216"/>
          </a:xfrm>
          <a:prstGeom prst="roundRect">
            <a:avLst>
              <a:gd name="adj" fmla="val 12500"/>
            </a:avLst>
          </a:prstGeom>
          <a:solidFill>
            <a:srgbClr val="0B2545"/>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Parser</a:t>
            </a:r>
            <a:endParaRPr lang="en-US" sz="1200" dirty="0"/>
          </a:p>
        </p:txBody>
      </p:sp>
      <p:sp>
        <p:nvSpPr>
          <p:cNvPr id="19" name="Text 16"/>
          <p:cNvSpPr/>
          <p:nvPr/>
        </p:nvSpPr>
        <p:spPr>
          <a:xfrm>
            <a:off x="1970532" y="3410712"/>
            <a:ext cx="1175004" cy="585216"/>
          </a:xfrm>
          <a:prstGeom prst="roundRect">
            <a:avLst>
              <a:gd name="adj" fmla="val 12500"/>
            </a:avLst>
          </a:prstGeom>
          <a:solidFill>
            <a:srgbClr val="0B2545"/>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Algebrizer</a:t>
            </a:r>
            <a:endParaRPr lang="en-US" sz="1200" dirty="0"/>
          </a:p>
        </p:txBody>
      </p:sp>
      <p:sp>
        <p:nvSpPr>
          <p:cNvPr id="20" name="Text 17"/>
          <p:cNvSpPr/>
          <p:nvPr/>
        </p:nvSpPr>
        <p:spPr>
          <a:xfrm>
            <a:off x="3255264" y="3410712"/>
            <a:ext cx="1175004" cy="585216"/>
          </a:xfrm>
          <a:prstGeom prst="roundRect">
            <a:avLst>
              <a:gd name="adj" fmla="val 12500"/>
            </a:avLst>
          </a:prstGeom>
          <a:solidFill>
            <a:srgbClr val="0B2545"/>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Optimizer</a:t>
            </a:r>
            <a:endParaRPr lang="en-US" sz="1200" dirty="0"/>
          </a:p>
        </p:txBody>
      </p:sp>
      <p:sp>
        <p:nvSpPr>
          <p:cNvPr id="21" name="Text 18"/>
          <p:cNvSpPr/>
          <p:nvPr/>
        </p:nvSpPr>
        <p:spPr>
          <a:xfrm>
            <a:off x="4539996" y="3410712"/>
            <a:ext cx="1175004" cy="585216"/>
          </a:xfrm>
          <a:prstGeom prst="roundRect">
            <a:avLst>
              <a:gd name="adj" fmla="val 12500"/>
            </a:avLst>
          </a:prstGeom>
          <a:solidFill>
            <a:srgbClr val="0B2545"/>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Query Executor</a:t>
            </a:r>
            <a:endParaRPr lang="en-US" sz="1200" dirty="0"/>
          </a:p>
        </p:txBody>
      </p:sp>
      <p:sp>
        <p:nvSpPr>
          <p:cNvPr id="22" name="Shape 19"/>
          <p:cNvSpPr/>
          <p:nvPr/>
        </p:nvSpPr>
        <p:spPr>
          <a:xfrm>
            <a:off x="3200400" y="4087368"/>
            <a:ext cx="0" cy="146304"/>
          </a:xfrm>
          <a:prstGeom prst="line">
            <a:avLst/>
          </a:prstGeom>
          <a:noFill/>
          <a:ln w="25400">
            <a:solidFill>
              <a:srgbClr val="D95D39"/>
            </a:solidFill>
            <a:prstDash val="solid"/>
            <a:tailEnd type="triangle"/>
          </a:ln>
        </p:spPr>
      </p:sp>
      <p:sp>
        <p:nvSpPr>
          <p:cNvPr id="23" name="Shape 20"/>
          <p:cNvSpPr/>
          <p:nvPr/>
        </p:nvSpPr>
        <p:spPr>
          <a:xfrm>
            <a:off x="548640" y="4233672"/>
            <a:ext cx="5303520" cy="1005840"/>
          </a:xfrm>
          <a:prstGeom prst="roundRect">
            <a:avLst>
              <a:gd name="adj" fmla="val 9091"/>
            </a:avLst>
          </a:prstGeom>
          <a:solidFill>
            <a:srgbClr val="DDE7F3"/>
          </a:solidFill>
          <a:ln w="9525">
            <a:solidFill>
              <a:srgbClr val="0B2545"/>
            </a:solidFill>
            <a:prstDash val="solid"/>
          </a:ln>
        </p:spPr>
      </p:sp>
      <p:sp>
        <p:nvSpPr>
          <p:cNvPr id="24" name="Text 21"/>
          <p:cNvSpPr/>
          <p:nvPr/>
        </p:nvSpPr>
        <p:spPr>
          <a:xfrm>
            <a:off x="685800" y="4288536"/>
            <a:ext cx="5029200" cy="237744"/>
          </a:xfrm>
          <a:prstGeom prst="rect">
            <a:avLst/>
          </a:prstGeom>
          <a:noFill/>
          <a:ln/>
        </p:spPr>
        <p:txBody>
          <a:bodyPr wrap="square" lIns="0" tIns="0" rIns="0" bIns="0" rtlCol="0" anchor="t"/>
          <a:lstStyle/>
          <a:p>
            <a:pPr algn="l" indent="0" marL="0">
              <a:buNone/>
            </a:pPr>
            <a:r>
              <a:rPr lang="en-US" sz="1100" b="1" dirty="0">
                <a:solidFill>
                  <a:srgbClr val="0B2545"/>
                </a:solidFill>
                <a:latin typeface="Calibri" pitchFamily="34" charset="0"/>
                <a:ea typeface="Calibri" pitchFamily="34" charset="-122"/>
                <a:cs typeface="Calibri" pitchFamily="34" charset="-120"/>
              </a:rPr>
              <a:t>STORAGE ENGINE</a:t>
            </a:r>
            <a:endParaRPr lang="en-US" sz="1100" dirty="0"/>
          </a:p>
        </p:txBody>
      </p:sp>
      <p:sp>
        <p:nvSpPr>
          <p:cNvPr id="25" name="Text 22"/>
          <p:cNvSpPr/>
          <p:nvPr/>
        </p:nvSpPr>
        <p:spPr>
          <a:xfrm>
            <a:off x="685800" y="4562856"/>
            <a:ext cx="1603248" cy="585216"/>
          </a:xfrm>
          <a:prstGeom prst="roundRect">
            <a:avLst>
              <a:gd name="adj" fmla="val 12500"/>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Access Methods</a:t>
            </a:r>
            <a:endParaRPr lang="en-US" sz="1200" dirty="0"/>
          </a:p>
        </p:txBody>
      </p:sp>
      <p:sp>
        <p:nvSpPr>
          <p:cNvPr id="26" name="Text 23"/>
          <p:cNvSpPr/>
          <p:nvPr/>
        </p:nvSpPr>
        <p:spPr>
          <a:xfrm>
            <a:off x="2398776" y="4562856"/>
            <a:ext cx="1603248" cy="585216"/>
          </a:xfrm>
          <a:prstGeom prst="roundRect">
            <a:avLst>
              <a:gd name="adj" fmla="val 12500"/>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Buffer Manager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(Buffer Pool)</a:t>
            </a:r>
            <a:endParaRPr lang="en-US" sz="1200" dirty="0"/>
          </a:p>
        </p:txBody>
      </p:sp>
      <p:sp>
        <p:nvSpPr>
          <p:cNvPr id="27" name="Text 24"/>
          <p:cNvSpPr/>
          <p:nvPr/>
        </p:nvSpPr>
        <p:spPr>
          <a:xfrm>
            <a:off x="4111752" y="4562856"/>
            <a:ext cx="1603248" cy="585216"/>
          </a:xfrm>
          <a:prstGeom prst="roundRect">
            <a:avLst>
              <a:gd name="adj" fmla="val 12500"/>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Transaction Manager</a:t>
            </a:r>
            <a:endParaRPr lang="en-US" sz="1200" dirty="0"/>
          </a:p>
        </p:txBody>
      </p:sp>
      <p:sp>
        <p:nvSpPr>
          <p:cNvPr id="28" name="Shape 25"/>
          <p:cNvSpPr/>
          <p:nvPr/>
        </p:nvSpPr>
        <p:spPr>
          <a:xfrm>
            <a:off x="548640" y="5385816"/>
            <a:ext cx="5303520" cy="777240"/>
          </a:xfrm>
          <a:prstGeom prst="roundRect">
            <a:avLst>
              <a:gd name="adj" fmla="val 11765"/>
            </a:avLst>
          </a:prstGeom>
          <a:solidFill>
            <a:srgbClr val="E8EEF5"/>
          </a:solidFill>
          <a:ln w="9525">
            <a:solidFill>
              <a:srgbClr val="5C6B7A"/>
            </a:solidFill>
            <a:prstDash val="solid"/>
          </a:ln>
        </p:spPr>
      </p:sp>
      <p:sp>
        <p:nvSpPr>
          <p:cNvPr id="29" name="Text 26"/>
          <p:cNvSpPr/>
          <p:nvPr/>
        </p:nvSpPr>
        <p:spPr>
          <a:xfrm>
            <a:off x="685800" y="5440680"/>
            <a:ext cx="5029200" cy="237744"/>
          </a:xfrm>
          <a:prstGeom prst="rect">
            <a:avLst/>
          </a:prstGeom>
          <a:noFill/>
          <a:ln/>
        </p:spPr>
        <p:txBody>
          <a:bodyPr wrap="square" lIns="0" tIns="0" rIns="0" bIns="0" rtlCol="0" anchor="t"/>
          <a:lstStyle/>
          <a:p>
            <a:pPr algn="l" indent="0" marL="0">
              <a:buNone/>
            </a:pPr>
            <a:r>
              <a:rPr lang="en-US" sz="1100" b="1" dirty="0">
                <a:solidFill>
                  <a:srgbClr val="5C6B7A"/>
                </a:solidFill>
                <a:latin typeface="Calibri" pitchFamily="34" charset="0"/>
                <a:ea typeface="Calibri" pitchFamily="34" charset="-122"/>
                <a:cs typeface="Calibri" pitchFamily="34" charset="-120"/>
              </a:rPr>
              <a:t>SQLOS · servicios del sistema operativo</a:t>
            </a:r>
            <a:endParaRPr lang="en-US" sz="1100" dirty="0"/>
          </a:p>
        </p:txBody>
      </p:sp>
      <p:sp>
        <p:nvSpPr>
          <p:cNvPr id="30" name="Text 27"/>
          <p:cNvSpPr/>
          <p:nvPr/>
        </p:nvSpPr>
        <p:spPr>
          <a:xfrm>
            <a:off x="685800" y="5715000"/>
            <a:ext cx="1175004" cy="356616"/>
          </a:xfrm>
          <a:prstGeom prst="roundRect">
            <a:avLst>
              <a:gd name="adj" fmla="val 20513"/>
            </a:avLst>
          </a:prstGeom>
          <a:solidFill>
            <a:srgbClr val="5C6B7A"/>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Schedulers</a:t>
            </a:r>
            <a:endParaRPr lang="en-US" sz="1200" dirty="0"/>
          </a:p>
        </p:txBody>
      </p:sp>
      <p:sp>
        <p:nvSpPr>
          <p:cNvPr id="31" name="Text 28"/>
          <p:cNvSpPr/>
          <p:nvPr/>
        </p:nvSpPr>
        <p:spPr>
          <a:xfrm>
            <a:off x="1970532" y="5715000"/>
            <a:ext cx="1175004" cy="356616"/>
          </a:xfrm>
          <a:prstGeom prst="roundRect">
            <a:avLst>
              <a:gd name="adj" fmla="val 20513"/>
            </a:avLst>
          </a:prstGeom>
          <a:solidFill>
            <a:srgbClr val="5C6B7A"/>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Memory Manager</a:t>
            </a:r>
            <a:endParaRPr lang="en-US" sz="1200" dirty="0"/>
          </a:p>
        </p:txBody>
      </p:sp>
      <p:sp>
        <p:nvSpPr>
          <p:cNvPr id="32" name="Text 29"/>
          <p:cNvSpPr/>
          <p:nvPr/>
        </p:nvSpPr>
        <p:spPr>
          <a:xfrm>
            <a:off x="3255264" y="5715000"/>
            <a:ext cx="1175004" cy="356616"/>
          </a:xfrm>
          <a:prstGeom prst="roundRect">
            <a:avLst>
              <a:gd name="adj" fmla="val 20513"/>
            </a:avLst>
          </a:prstGeom>
          <a:solidFill>
            <a:srgbClr val="5C6B7A"/>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I/O</a:t>
            </a:r>
            <a:endParaRPr lang="en-US" sz="1200" dirty="0"/>
          </a:p>
        </p:txBody>
      </p:sp>
      <p:sp>
        <p:nvSpPr>
          <p:cNvPr id="33" name="Text 30"/>
          <p:cNvSpPr/>
          <p:nvPr/>
        </p:nvSpPr>
        <p:spPr>
          <a:xfrm>
            <a:off x="4539996" y="5715000"/>
            <a:ext cx="1175004" cy="356616"/>
          </a:xfrm>
          <a:prstGeom prst="roundRect">
            <a:avLst>
              <a:gd name="adj" fmla="val 20513"/>
            </a:avLst>
          </a:prstGeom>
          <a:solidFill>
            <a:srgbClr val="5C6B7A"/>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Locks</a:t>
            </a:r>
            <a:endParaRPr lang="en-US" sz="1200" dirty="0"/>
          </a:p>
        </p:txBody>
      </p:sp>
      <p:sp>
        <p:nvSpPr>
          <p:cNvPr id="34" name="Shape 31"/>
          <p:cNvSpPr/>
          <p:nvPr/>
        </p:nvSpPr>
        <p:spPr>
          <a:xfrm>
            <a:off x="5852160" y="4736592"/>
            <a:ext cx="594360" cy="0"/>
          </a:xfrm>
          <a:prstGeom prst="line">
            <a:avLst/>
          </a:prstGeom>
          <a:noFill/>
          <a:ln w="25400">
            <a:solidFill>
              <a:srgbClr val="D95D39"/>
            </a:solidFill>
            <a:prstDash val="solid"/>
            <a:headEnd type="triangle"/>
            <a:tailEnd type="triangle"/>
          </a:ln>
        </p:spPr>
      </p:sp>
      <p:sp>
        <p:nvSpPr>
          <p:cNvPr id="35" name="Text 32"/>
          <p:cNvSpPr/>
          <p:nvPr/>
        </p:nvSpPr>
        <p:spPr>
          <a:xfrm>
            <a:off x="6492240" y="3730752"/>
            <a:ext cx="1097280" cy="228600"/>
          </a:xfrm>
          <a:prstGeom prst="rect">
            <a:avLst/>
          </a:prstGeom>
          <a:noFill/>
          <a:ln/>
        </p:spPr>
        <p:txBody>
          <a:bodyPr wrap="square" lIns="0" tIns="0" rIns="0" bIns="0" rtlCol="0" anchor="t"/>
          <a:lstStyle/>
          <a:p>
            <a:pPr algn="ctr" indent="0" marL="0">
              <a:buNone/>
            </a:pPr>
            <a:r>
              <a:rPr lang="en-US" sz="1200" b="1" dirty="0">
                <a:solidFill>
                  <a:srgbClr val="0B2545"/>
                </a:solidFill>
                <a:latin typeface="Calibri" pitchFamily="34" charset="0"/>
                <a:ea typeface="Calibri" pitchFamily="34" charset="-122"/>
                <a:cs typeface="Calibri" pitchFamily="34" charset="-120"/>
              </a:rPr>
              <a:t>Disco</a:t>
            </a:r>
            <a:endParaRPr lang="en-US" sz="1200" dirty="0"/>
          </a:p>
        </p:txBody>
      </p:sp>
      <p:sp>
        <p:nvSpPr>
          <p:cNvPr id="36" name="Shape 33"/>
          <p:cNvSpPr/>
          <p:nvPr/>
        </p:nvSpPr>
        <p:spPr>
          <a:xfrm>
            <a:off x="6583680" y="4005072"/>
            <a:ext cx="914400" cy="868680"/>
          </a:xfrm>
          <a:prstGeom prst="can">
            <a:avLst/>
          </a:prstGeom>
          <a:solidFill>
            <a:srgbClr val="134074"/>
          </a:solidFill>
          <a:ln/>
        </p:spPr>
      </p:sp>
      <p:sp>
        <p:nvSpPr>
          <p:cNvPr id="37" name="Text 34"/>
          <p:cNvSpPr/>
          <p:nvPr/>
        </p:nvSpPr>
        <p:spPr>
          <a:xfrm>
            <a:off x="6492240" y="4233672"/>
            <a:ext cx="10972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.mdf</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.ndf</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(datos)</a:t>
            </a:r>
            <a:endParaRPr lang="en-US" sz="1200" dirty="0"/>
          </a:p>
        </p:txBody>
      </p:sp>
      <p:sp>
        <p:nvSpPr>
          <p:cNvPr id="38" name="Shape 35"/>
          <p:cNvSpPr/>
          <p:nvPr/>
        </p:nvSpPr>
        <p:spPr>
          <a:xfrm>
            <a:off x="6583680" y="5010912"/>
            <a:ext cx="914400" cy="868680"/>
          </a:xfrm>
          <a:prstGeom prst="can">
            <a:avLst/>
          </a:prstGeom>
          <a:solidFill>
            <a:srgbClr val="D95D39"/>
          </a:solidFill>
          <a:ln/>
        </p:spPr>
      </p:sp>
      <p:sp>
        <p:nvSpPr>
          <p:cNvPr id="39" name="Text 36"/>
          <p:cNvSpPr/>
          <p:nvPr/>
        </p:nvSpPr>
        <p:spPr>
          <a:xfrm>
            <a:off x="6492240" y="5239512"/>
            <a:ext cx="10972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.ldf</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(log WAL)</a:t>
            </a:r>
            <a:endParaRPr lang="en-US" sz="1200" dirty="0"/>
          </a:p>
        </p:txBody>
      </p:sp>
      <p:sp>
        <p:nvSpPr>
          <p:cNvPr id="40" name="Shape 37"/>
          <p:cNvSpPr/>
          <p:nvPr/>
        </p:nvSpPr>
        <p:spPr>
          <a:xfrm>
            <a:off x="7955280" y="1600200"/>
            <a:ext cx="3685032" cy="2194560"/>
          </a:xfrm>
          <a:prstGeom prst="roundRect">
            <a:avLst>
              <a:gd name="adj" fmla="val 5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41" name="Shape 38"/>
          <p:cNvSpPr/>
          <p:nvPr/>
        </p:nvSpPr>
        <p:spPr>
          <a:xfrm>
            <a:off x="8183880" y="1828800"/>
            <a:ext cx="548640" cy="548640"/>
          </a:xfrm>
          <a:prstGeom prst="ellipse">
            <a:avLst/>
          </a:prstGeom>
          <a:solidFill>
            <a:srgbClr val="134074"/>
          </a:solidFill>
          <a:ln/>
        </p:spPr>
      </p:sp>
      <p:pic>
        <p:nvPicPr>
          <p:cNvPr id="42" name="Image 0" descr="preencoded.png">    </p:cNvPr>
          <p:cNvPicPr>
            <a:picLocks noChangeAspect="1"/>
          </p:cNvPicPr>
          <p:nvPr/>
        </p:nvPicPr>
        <p:blipFill>
          <a:blip r:embed="rId1"/>
          <a:stretch>
            <a:fillRect/>
          </a:stretch>
        </p:blipFill>
        <p:spPr>
          <a:xfrm>
            <a:off x="8321040" y="1965960"/>
            <a:ext cx="274320" cy="274320"/>
          </a:xfrm>
          <a:prstGeom prst="rect">
            <a:avLst/>
          </a:prstGeom>
        </p:spPr>
      </p:pic>
      <p:sp>
        <p:nvSpPr>
          <p:cNvPr id="43" name="Text 39"/>
          <p:cNvSpPr/>
          <p:nvPr/>
        </p:nvSpPr>
        <p:spPr>
          <a:xfrm>
            <a:off x="8869680" y="1828800"/>
            <a:ext cx="254203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Relational Engine</a:t>
            </a:r>
            <a:endParaRPr lang="en-US" sz="1700" dirty="0"/>
          </a:p>
        </p:txBody>
      </p:sp>
      <p:sp>
        <p:nvSpPr>
          <p:cNvPr id="44" name="Text 40"/>
          <p:cNvSpPr/>
          <p:nvPr/>
        </p:nvSpPr>
        <p:spPr>
          <a:xfrm>
            <a:off x="8183880" y="2560320"/>
            <a:ext cx="3227832" cy="10058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Decide el cómo (plan)</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Parser → Algebrizer → Optimizer</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Cost-based con estadísticas</a:t>
            </a:r>
            <a:endParaRPr lang="en-US" sz="1400" dirty="0"/>
          </a:p>
        </p:txBody>
      </p:sp>
      <p:sp>
        <p:nvSpPr>
          <p:cNvPr id="45" name="Shape 41"/>
          <p:cNvSpPr/>
          <p:nvPr/>
        </p:nvSpPr>
        <p:spPr>
          <a:xfrm>
            <a:off x="7955280" y="3977640"/>
            <a:ext cx="3685032" cy="2194560"/>
          </a:xfrm>
          <a:prstGeom prst="roundRect">
            <a:avLst>
              <a:gd name="adj" fmla="val 5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46" name="Shape 42"/>
          <p:cNvSpPr/>
          <p:nvPr/>
        </p:nvSpPr>
        <p:spPr>
          <a:xfrm>
            <a:off x="8183880" y="4206240"/>
            <a:ext cx="548640" cy="548640"/>
          </a:xfrm>
          <a:prstGeom prst="ellipse">
            <a:avLst/>
          </a:prstGeom>
          <a:solidFill>
            <a:srgbClr val="134074"/>
          </a:solidFill>
          <a:ln/>
        </p:spPr>
      </p:sp>
      <p:pic>
        <p:nvPicPr>
          <p:cNvPr id="47" name="Image 1" descr="preencoded.png">    </p:cNvPr>
          <p:cNvPicPr>
            <a:picLocks noChangeAspect="1"/>
          </p:cNvPicPr>
          <p:nvPr/>
        </p:nvPicPr>
        <p:blipFill>
          <a:blip r:embed="rId2"/>
          <a:stretch>
            <a:fillRect/>
          </a:stretch>
        </p:blipFill>
        <p:spPr>
          <a:xfrm>
            <a:off x="8321040" y="4343400"/>
            <a:ext cx="274320" cy="274320"/>
          </a:xfrm>
          <a:prstGeom prst="rect">
            <a:avLst/>
          </a:prstGeom>
        </p:spPr>
      </p:pic>
      <p:sp>
        <p:nvSpPr>
          <p:cNvPr id="48" name="Text 43"/>
          <p:cNvSpPr/>
          <p:nvPr/>
        </p:nvSpPr>
        <p:spPr>
          <a:xfrm>
            <a:off x="8869680" y="4206240"/>
            <a:ext cx="254203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Storage Engine</a:t>
            </a:r>
            <a:endParaRPr lang="en-US" sz="1700" dirty="0"/>
          </a:p>
        </p:txBody>
      </p:sp>
      <p:sp>
        <p:nvSpPr>
          <p:cNvPr id="49" name="Text 44"/>
          <p:cNvSpPr/>
          <p:nvPr/>
        </p:nvSpPr>
        <p:spPr>
          <a:xfrm>
            <a:off x="8183880" y="4937760"/>
            <a:ext cx="3227832" cy="10058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Ejecuta el acceso a los datos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Buffer Pool y Access Methods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Log, bloqueos y transacciones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ARQUITECTURA</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Ciclo de vida de una consulta</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8</a:t>
            </a:r>
            <a:endParaRPr lang="en-US" sz="1000" dirty="0"/>
          </a:p>
        </p:txBody>
      </p:sp>
      <p:sp>
        <p:nvSpPr>
          <p:cNvPr id="7" name="Shape 4"/>
          <p:cNvSpPr/>
          <p:nvPr/>
        </p:nvSpPr>
        <p:spPr>
          <a:xfrm>
            <a:off x="548640" y="1600200"/>
            <a:ext cx="1962851" cy="3108960"/>
          </a:xfrm>
          <a:prstGeom prst="roundRect">
            <a:avLst>
              <a:gd name="adj" fmla="val 559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1505651"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Parse + Algebrize</a:t>
            </a:r>
            <a:endParaRPr lang="en-US" sz="1600" dirty="0"/>
          </a:p>
        </p:txBody>
      </p:sp>
      <p:sp>
        <p:nvSpPr>
          <p:cNvPr id="11" name="Text 8"/>
          <p:cNvSpPr/>
          <p:nvPr/>
        </p:nvSpPr>
        <p:spPr>
          <a:xfrm>
            <a:off x="777240" y="3154680"/>
            <a:ext cx="1505651"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Sintaxis, resolución de objetos y permisos.</a:t>
            </a:r>
            <a:endParaRPr lang="en-US" sz="1400" dirty="0"/>
          </a:p>
        </p:txBody>
      </p:sp>
      <p:sp>
        <p:nvSpPr>
          <p:cNvPr id="12" name="Shape 9"/>
          <p:cNvSpPr/>
          <p:nvPr/>
        </p:nvSpPr>
        <p:spPr>
          <a:xfrm>
            <a:off x="2548067" y="1947672"/>
            <a:ext cx="246888" cy="274320"/>
          </a:xfrm>
          <a:prstGeom prst="rightArrow">
            <a:avLst/>
          </a:prstGeom>
          <a:solidFill>
            <a:srgbClr val="D95D39"/>
          </a:solidFill>
          <a:ln/>
        </p:spPr>
      </p:sp>
      <p:sp>
        <p:nvSpPr>
          <p:cNvPr id="13" name="Shape 10"/>
          <p:cNvSpPr/>
          <p:nvPr/>
        </p:nvSpPr>
        <p:spPr>
          <a:xfrm>
            <a:off x="2831531" y="1600200"/>
            <a:ext cx="1962851" cy="3108960"/>
          </a:xfrm>
          <a:prstGeom prst="roundRect">
            <a:avLst>
              <a:gd name="adj" fmla="val 559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3060131" y="1828800"/>
            <a:ext cx="502920" cy="502920"/>
          </a:xfrm>
          <a:prstGeom prst="ellipse">
            <a:avLst/>
          </a:prstGeom>
          <a:solidFill>
            <a:srgbClr val="134074"/>
          </a:solidFill>
          <a:ln/>
        </p:spPr>
      </p:sp>
      <p:sp>
        <p:nvSpPr>
          <p:cNvPr id="15" name="Text 12"/>
          <p:cNvSpPr/>
          <p:nvPr/>
        </p:nvSpPr>
        <p:spPr>
          <a:xfrm>
            <a:off x="3060131"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3060131" y="2468880"/>
            <a:ext cx="1505651"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Plan cache</a:t>
            </a:r>
            <a:endParaRPr lang="en-US" sz="1600" dirty="0"/>
          </a:p>
        </p:txBody>
      </p:sp>
      <p:sp>
        <p:nvSpPr>
          <p:cNvPr id="17" name="Text 14"/>
          <p:cNvSpPr/>
          <p:nvPr/>
        </p:nvSpPr>
        <p:spPr>
          <a:xfrm>
            <a:off x="3060131" y="3154680"/>
            <a:ext cx="1505651"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¿Existe un plan reutilizable? Si sí, se salta la optimización.</a:t>
            </a:r>
            <a:endParaRPr lang="en-US" sz="1400" dirty="0"/>
          </a:p>
        </p:txBody>
      </p:sp>
      <p:sp>
        <p:nvSpPr>
          <p:cNvPr id="18" name="Shape 15"/>
          <p:cNvSpPr/>
          <p:nvPr/>
        </p:nvSpPr>
        <p:spPr>
          <a:xfrm>
            <a:off x="4830958" y="1947672"/>
            <a:ext cx="246888" cy="274320"/>
          </a:xfrm>
          <a:prstGeom prst="rightArrow">
            <a:avLst/>
          </a:prstGeom>
          <a:solidFill>
            <a:srgbClr val="D95D39"/>
          </a:solidFill>
          <a:ln/>
        </p:spPr>
      </p:sp>
      <p:sp>
        <p:nvSpPr>
          <p:cNvPr id="19" name="Shape 16"/>
          <p:cNvSpPr/>
          <p:nvPr/>
        </p:nvSpPr>
        <p:spPr>
          <a:xfrm>
            <a:off x="5114422" y="1600200"/>
            <a:ext cx="1962851" cy="3108960"/>
          </a:xfrm>
          <a:prstGeom prst="roundRect">
            <a:avLst>
              <a:gd name="adj" fmla="val 559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5343022" y="1828800"/>
            <a:ext cx="502920" cy="502920"/>
          </a:xfrm>
          <a:prstGeom prst="ellipse">
            <a:avLst/>
          </a:prstGeom>
          <a:solidFill>
            <a:srgbClr val="134074"/>
          </a:solidFill>
          <a:ln/>
        </p:spPr>
      </p:sp>
      <p:sp>
        <p:nvSpPr>
          <p:cNvPr id="21" name="Text 18"/>
          <p:cNvSpPr/>
          <p:nvPr/>
        </p:nvSpPr>
        <p:spPr>
          <a:xfrm>
            <a:off x="5343022"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5343022" y="2468880"/>
            <a:ext cx="1505651"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Optimize</a:t>
            </a:r>
            <a:endParaRPr lang="en-US" sz="1600" dirty="0"/>
          </a:p>
        </p:txBody>
      </p:sp>
      <p:sp>
        <p:nvSpPr>
          <p:cNvPr id="23" name="Text 20"/>
          <p:cNvSpPr/>
          <p:nvPr/>
        </p:nvSpPr>
        <p:spPr>
          <a:xfrm>
            <a:off x="5343022" y="3154680"/>
            <a:ext cx="1505651"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Elige el plan de menor coste estimado con estadísticas.</a:t>
            </a:r>
            <a:endParaRPr lang="en-US" sz="1400" dirty="0"/>
          </a:p>
        </p:txBody>
      </p:sp>
      <p:sp>
        <p:nvSpPr>
          <p:cNvPr id="24" name="Shape 21"/>
          <p:cNvSpPr/>
          <p:nvPr/>
        </p:nvSpPr>
        <p:spPr>
          <a:xfrm>
            <a:off x="7113849" y="1947672"/>
            <a:ext cx="246888" cy="274320"/>
          </a:xfrm>
          <a:prstGeom prst="rightArrow">
            <a:avLst/>
          </a:prstGeom>
          <a:solidFill>
            <a:srgbClr val="D95D39"/>
          </a:solidFill>
          <a:ln/>
        </p:spPr>
      </p:sp>
      <p:sp>
        <p:nvSpPr>
          <p:cNvPr id="25" name="Shape 22"/>
          <p:cNvSpPr/>
          <p:nvPr/>
        </p:nvSpPr>
        <p:spPr>
          <a:xfrm>
            <a:off x="7397313" y="1600200"/>
            <a:ext cx="1962851" cy="3108960"/>
          </a:xfrm>
          <a:prstGeom prst="roundRect">
            <a:avLst>
              <a:gd name="adj" fmla="val 559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7625913" y="1828800"/>
            <a:ext cx="502920" cy="502920"/>
          </a:xfrm>
          <a:prstGeom prst="ellipse">
            <a:avLst/>
          </a:prstGeom>
          <a:solidFill>
            <a:srgbClr val="134074"/>
          </a:solidFill>
          <a:ln/>
        </p:spPr>
      </p:sp>
      <p:sp>
        <p:nvSpPr>
          <p:cNvPr id="27" name="Text 24"/>
          <p:cNvSpPr/>
          <p:nvPr/>
        </p:nvSpPr>
        <p:spPr>
          <a:xfrm>
            <a:off x="7625913"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7625913" y="2468880"/>
            <a:ext cx="1505651"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Execute</a:t>
            </a:r>
            <a:endParaRPr lang="en-US" sz="1600" dirty="0"/>
          </a:p>
        </p:txBody>
      </p:sp>
      <p:sp>
        <p:nvSpPr>
          <p:cNvPr id="29" name="Text 26"/>
          <p:cNvSpPr/>
          <p:nvPr/>
        </p:nvSpPr>
        <p:spPr>
          <a:xfrm>
            <a:off x="7625913" y="3154680"/>
            <a:ext cx="1505651"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Operadores en iteradores piden filas y páginas.</a:t>
            </a:r>
            <a:endParaRPr lang="en-US" sz="1400" dirty="0"/>
          </a:p>
        </p:txBody>
      </p:sp>
      <p:sp>
        <p:nvSpPr>
          <p:cNvPr id="30" name="Shape 27"/>
          <p:cNvSpPr/>
          <p:nvPr/>
        </p:nvSpPr>
        <p:spPr>
          <a:xfrm>
            <a:off x="9396740" y="1947672"/>
            <a:ext cx="246888" cy="274320"/>
          </a:xfrm>
          <a:prstGeom prst="rightArrow">
            <a:avLst/>
          </a:prstGeom>
          <a:solidFill>
            <a:srgbClr val="D95D39"/>
          </a:solidFill>
          <a:ln/>
        </p:spPr>
      </p:sp>
      <p:sp>
        <p:nvSpPr>
          <p:cNvPr id="31" name="Shape 28"/>
          <p:cNvSpPr/>
          <p:nvPr/>
        </p:nvSpPr>
        <p:spPr>
          <a:xfrm>
            <a:off x="9680204" y="1600200"/>
            <a:ext cx="1962851" cy="3108960"/>
          </a:xfrm>
          <a:prstGeom prst="roundRect">
            <a:avLst>
              <a:gd name="adj" fmla="val 559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2" name="Shape 29"/>
          <p:cNvSpPr/>
          <p:nvPr/>
        </p:nvSpPr>
        <p:spPr>
          <a:xfrm>
            <a:off x="9908804" y="1828800"/>
            <a:ext cx="502920" cy="502920"/>
          </a:xfrm>
          <a:prstGeom prst="ellipse">
            <a:avLst/>
          </a:prstGeom>
          <a:solidFill>
            <a:srgbClr val="134074"/>
          </a:solidFill>
          <a:ln/>
        </p:spPr>
      </p:sp>
      <p:sp>
        <p:nvSpPr>
          <p:cNvPr id="33" name="Text 30"/>
          <p:cNvSpPr/>
          <p:nvPr/>
        </p:nvSpPr>
        <p:spPr>
          <a:xfrm>
            <a:off x="990880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4" name="Text 31"/>
          <p:cNvSpPr/>
          <p:nvPr/>
        </p:nvSpPr>
        <p:spPr>
          <a:xfrm>
            <a:off x="9908804" y="2468880"/>
            <a:ext cx="1505651"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Buffer Pool + TDS</a:t>
            </a:r>
            <a:endParaRPr lang="en-US" sz="1600" dirty="0"/>
          </a:p>
        </p:txBody>
      </p:sp>
      <p:sp>
        <p:nvSpPr>
          <p:cNvPr id="35" name="Text 32"/>
          <p:cNvSpPr/>
          <p:nvPr/>
        </p:nvSpPr>
        <p:spPr>
          <a:xfrm>
            <a:off x="9908804" y="3154680"/>
            <a:ext cx="1505651"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Lectura lógica o física; resultado al cliente.</a:t>
            </a:r>
            <a:endParaRPr lang="en-US" sz="1400" dirty="0"/>
          </a:p>
        </p:txBody>
      </p:sp>
      <p:sp>
        <p:nvSpPr>
          <p:cNvPr id="36" name="Shape 33"/>
          <p:cNvSpPr/>
          <p:nvPr/>
        </p:nvSpPr>
        <p:spPr>
          <a:xfrm>
            <a:off x="548640" y="5029200"/>
            <a:ext cx="11094415" cy="1097280"/>
          </a:xfrm>
          <a:prstGeom prst="roundRect">
            <a:avLst>
              <a:gd name="adj" fmla="val 10000"/>
            </a:avLst>
          </a:prstGeom>
          <a:solidFill>
            <a:srgbClr val="E8EEF5"/>
          </a:solidFill>
          <a:ln/>
        </p:spPr>
      </p:sp>
      <p:sp>
        <p:nvSpPr>
          <p:cNvPr id="37" name="Shape 34"/>
          <p:cNvSpPr/>
          <p:nvPr/>
        </p:nvSpPr>
        <p:spPr>
          <a:xfrm>
            <a:off x="731520" y="5349240"/>
            <a:ext cx="457200" cy="457200"/>
          </a:xfrm>
          <a:prstGeom prst="ellipse">
            <a:avLst/>
          </a:prstGeom>
          <a:solidFill>
            <a:srgbClr val="134074"/>
          </a:solidFill>
          <a:ln/>
        </p:spPr>
      </p:sp>
      <p:pic>
        <p:nvPicPr>
          <p:cNvPr id="38" name="Image 0" descr="preencoded.png">    </p:cNvPr>
          <p:cNvPicPr>
            <a:picLocks noChangeAspect="1"/>
          </p:cNvPicPr>
          <p:nvPr/>
        </p:nvPicPr>
        <p:blipFill>
          <a:blip r:embed="rId1"/>
          <a:stretch>
            <a:fillRect/>
          </a:stretch>
        </p:blipFill>
        <p:spPr>
          <a:xfrm>
            <a:off x="845820" y="5463540"/>
            <a:ext cx="228600" cy="228600"/>
          </a:xfrm>
          <a:prstGeom prst="rect">
            <a:avLst/>
          </a:prstGeom>
        </p:spPr>
      </p:pic>
      <p:sp>
        <p:nvSpPr>
          <p:cNvPr id="39" name="Text 35"/>
          <p:cNvSpPr/>
          <p:nvPr/>
        </p:nvSpPr>
        <p:spPr>
          <a:xfrm>
            <a:off x="1371600" y="5029200"/>
            <a:ext cx="10088575" cy="109728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Pruébalo: </a:t>
            </a:r>
            <a:r>
              <a:rPr lang="en-US" sz="1400" dirty="0">
                <a:solidFill>
                  <a:srgbClr val="1F2933"/>
                </a:solidFill>
                <a:latin typeface="Calibri" pitchFamily="34" charset="0"/>
                <a:ea typeface="Calibri" pitchFamily="34" charset="-122"/>
                <a:cs typeface="Calibri" pitchFamily="34" charset="-120"/>
              </a:rPr>
              <a:t>SET STATISTICS IO, TIME ON; muestra lecturas lógicas, físicas y tiempo de compilación frente a ejecución.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ARQUITECTURA</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Buffer Pool y gestión de memoria</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9</a:t>
            </a:r>
            <a:endParaRPr lang="en-US" sz="1000" dirty="0"/>
          </a:p>
        </p:txBody>
      </p:sp>
      <p:sp>
        <p:nvSpPr>
          <p:cNvPr id="7" name="Shape 4"/>
          <p:cNvSpPr/>
          <p:nvPr/>
        </p:nvSpPr>
        <p:spPr>
          <a:xfrm>
            <a:off x="548640" y="1600200"/>
            <a:ext cx="3515258" cy="2743200"/>
          </a:xfrm>
          <a:prstGeom prst="roundRect">
            <a:avLst>
              <a:gd name="adj" fmla="val 4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Buffer Pool</a:t>
            </a:r>
            <a:endParaRPr lang="en-US" sz="1700" dirty="0"/>
          </a:p>
        </p:txBody>
      </p:sp>
      <p:sp>
        <p:nvSpPr>
          <p:cNvPr id="11" name="Text 7"/>
          <p:cNvSpPr/>
          <p:nvPr/>
        </p:nvSpPr>
        <p:spPr>
          <a:xfrm>
            <a:off x="777240" y="2560320"/>
            <a:ext cx="3058058" cy="1554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Caché de páginas de datos de 8 KB. Lectura lógica (memoria) frente a física (disco).</a:t>
            </a:r>
            <a:endParaRPr lang="en-US" sz="1400" dirty="0"/>
          </a:p>
        </p:txBody>
      </p:sp>
      <p:sp>
        <p:nvSpPr>
          <p:cNvPr id="12" name="Shape 8"/>
          <p:cNvSpPr/>
          <p:nvPr/>
        </p:nvSpPr>
        <p:spPr>
          <a:xfrm>
            <a:off x="4338218" y="1600200"/>
            <a:ext cx="3515258" cy="2743200"/>
          </a:xfrm>
          <a:prstGeom prst="roundRect">
            <a:avLst>
              <a:gd name="adj" fmla="val 4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681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978" y="1965960"/>
            <a:ext cx="274320" cy="274320"/>
          </a:xfrm>
          <a:prstGeom prst="rect">
            <a:avLst/>
          </a:prstGeom>
        </p:spPr>
      </p:pic>
      <p:sp>
        <p:nvSpPr>
          <p:cNvPr id="15" name="Text 10"/>
          <p:cNvSpPr/>
          <p:nvPr/>
        </p:nvSpPr>
        <p:spPr>
          <a:xfrm>
            <a:off x="5252618"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Plan Cache</a:t>
            </a:r>
            <a:endParaRPr lang="en-US" sz="1700" dirty="0"/>
          </a:p>
        </p:txBody>
      </p:sp>
      <p:sp>
        <p:nvSpPr>
          <p:cNvPr id="16" name="Text 11"/>
          <p:cNvSpPr/>
          <p:nvPr/>
        </p:nvSpPr>
        <p:spPr>
          <a:xfrm>
            <a:off x="4566818" y="2560320"/>
            <a:ext cx="3058058" cy="1554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Planes compilados reutilizables. Se pierde al reiniciar o por presión de memoria.</a:t>
            </a:r>
            <a:endParaRPr lang="en-US" sz="1400" dirty="0"/>
          </a:p>
        </p:txBody>
      </p:sp>
      <p:sp>
        <p:nvSpPr>
          <p:cNvPr id="17" name="Shape 12"/>
          <p:cNvSpPr/>
          <p:nvPr/>
        </p:nvSpPr>
        <p:spPr>
          <a:xfrm>
            <a:off x="8127797" y="1600200"/>
            <a:ext cx="3515258" cy="2743200"/>
          </a:xfrm>
          <a:prstGeom prst="roundRect">
            <a:avLst>
              <a:gd name="adj" fmla="val 4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6397"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3557" y="1965960"/>
            <a:ext cx="274320" cy="274320"/>
          </a:xfrm>
          <a:prstGeom prst="rect">
            <a:avLst/>
          </a:prstGeom>
        </p:spPr>
      </p:pic>
      <p:sp>
        <p:nvSpPr>
          <p:cNvPr id="20" name="Text 14"/>
          <p:cNvSpPr/>
          <p:nvPr/>
        </p:nvSpPr>
        <p:spPr>
          <a:xfrm>
            <a:off x="9042197"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Checkpoint y Lazy Writer</a:t>
            </a:r>
            <a:endParaRPr lang="en-US" sz="1700" dirty="0"/>
          </a:p>
        </p:txBody>
      </p:sp>
      <p:sp>
        <p:nvSpPr>
          <p:cNvPr id="21" name="Text 15"/>
          <p:cNvSpPr/>
          <p:nvPr/>
        </p:nvSpPr>
        <p:spPr>
          <a:xfrm>
            <a:off x="8356397" y="2560320"/>
            <a:ext cx="3058058" cy="1554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Checkpoint escribe páginas sucias periódicamente; Lazy Writer libera memoria bajo presión.</a:t>
            </a:r>
            <a:endParaRPr lang="en-US" sz="1400" dirty="0"/>
          </a:p>
        </p:txBody>
      </p:sp>
      <p:sp>
        <p:nvSpPr>
          <p:cNvPr id="22" name="Shape 16"/>
          <p:cNvSpPr/>
          <p:nvPr/>
        </p:nvSpPr>
        <p:spPr>
          <a:xfrm>
            <a:off x="548640" y="4709160"/>
            <a:ext cx="6675120" cy="1463040"/>
          </a:xfrm>
          <a:prstGeom prst="roundRect">
            <a:avLst>
              <a:gd name="adj" fmla="val 6250"/>
            </a:avLst>
          </a:prstGeom>
          <a:solidFill>
            <a:srgbClr val="ECEFF3"/>
          </a:solidFill>
          <a:ln w="9525">
            <a:solidFill>
              <a:srgbClr val="D0D7DE"/>
            </a:solidFill>
            <a:prstDash val="solid"/>
          </a:ln>
        </p:spPr>
      </p:sp>
      <p:sp>
        <p:nvSpPr>
          <p:cNvPr id="23" name="Text 17"/>
          <p:cNvSpPr/>
          <p:nvPr/>
        </p:nvSpPr>
        <p:spPr>
          <a:xfrm>
            <a:off x="731520" y="480060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LIMITAR LA MEMORIA</a:t>
            </a:r>
            <a:endParaRPr lang="en-US" sz="1000" dirty="0"/>
          </a:p>
        </p:txBody>
      </p:sp>
      <p:sp>
        <p:nvSpPr>
          <p:cNvPr id="24" name="Text 18"/>
          <p:cNvSpPr/>
          <p:nvPr/>
        </p:nvSpPr>
        <p:spPr>
          <a:xfrm>
            <a:off x="731520" y="5074920"/>
            <a:ext cx="6309360" cy="100584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EXEC</a:t>
            </a:r>
            <a:r>
              <a:rPr lang="en-US" sz="1200" dirty="0">
                <a:solidFill>
                  <a:srgbClr val="1F2933"/>
                </a:solidFill>
                <a:latin typeface="Consolas" pitchFamily="34" charset="0"/>
                <a:ea typeface="Consolas" pitchFamily="34" charset="-122"/>
                <a:cs typeface="Consolas" pitchFamily="34" charset="-120"/>
              </a:rPr>
              <a:t> sp_configure </a:t>
            </a:r>
            <a:r>
              <a:rPr lang="en-US" sz="1200" dirty="0">
                <a:solidFill>
                  <a:srgbClr val="B4441F"/>
                </a:solidFill>
                <a:latin typeface="Consolas" pitchFamily="34" charset="0"/>
                <a:ea typeface="Consolas" pitchFamily="34" charset="-122"/>
                <a:cs typeface="Consolas" pitchFamily="34" charset="-120"/>
              </a:rPr>
              <a:t>'show advanced options'</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RECONFIGURE;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EXEC</a:t>
            </a:r>
            <a:r>
              <a:rPr lang="en-US" sz="1200" dirty="0">
                <a:solidFill>
                  <a:srgbClr val="1F2933"/>
                </a:solidFill>
                <a:latin typeface="Consolas" pitchFamily="34" charset="0"/>
                <a:ea typeface="Consolas" pitchFamily="34" charset="-122"/>
                <a:cs typeface="Consolas" pitchFamily="34" charset="-120"/>
              </a:rPr>
              <a:t> sp_configure </a:t>
            </a:r>
            <a:r>
              <a:rPr lang="en-US" sz="1200" dirty="0">
                <a:solidFill>
                  <a:srgbClr val="B4441F"/>
                </a:solidFill>
                <a:latin typeface="Consolas" pitchFamily="34" charset="0"/>
                <a:ea typeface="Consolas" pitchFamily="34" charset="-122"/>
                <a:cs typeface="Consolas" pitchFamily="34" charset="-120"/>
              </a:rPr>
              <a:t>'max server memory (MB)'</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12288</a:t>
            </a:r>
            <a:r>
              <a:rPr lang="en-US" sz="1200" dirty="0">
                <a:solidFill>
                  <a:srgbClr val="1F2933"/>
                </a:solidFill>
                <a:latin typeface="Consolas" pitchFamily="34" charset="0"/>
                <a:ea typeface="Consolas" pitchFamily="34" charset="-122"/>
                <a:cs typeface="Consolas" pitchFamily="34" charset="-120"/>
              </a:rPr>
              <a:t>; RECONFIGURE;</a:t>
            </a:r>
            <a:endParaRPr lang="en-US" sz="1200" dirty="0"/>
          </a:p>
        </p:txBody>
      </p:sp>
      <p:sp>
        <p:nvSpPr>
          <p:cNvPr id="25" name="Shape 19"/>
          <p:cNvSpPr/>
          <p:nvPr/>
        </p:nvSpPr>
        <p:spPr>
          <a:xfrm>
            <a:off x="7498080" y="4709160"/>
            <a:ext cx="4142232" cy="1463040"/>
          </a:xfrm>
          <a:prstGeom prst="roundRect">
            <a:avLst>
              <a:gd name="adj" fmla="val 7500"/>
            </a:avLst>
          </a:prstGeom>
          <a:solidFill>
            <a:srgbClr val="FDEDE8"/>
          </a:solidFill>
          <a:ln/>
        </p:spPr>
      </p:sp>
      <p:sp>
        <p:nvSpPr>
          <p:cNvPr id="26" name="Shape 20"/>
          <p:cNvSpPr/>
          <p:nvPr/>
        </p:nvSpPr>
        <p:spPr>
          <a:xfrm>
            <a:off x="7680960" y="5212080"/>
            <a:ext cx="457200" cy="457200"/>
          </a:xfrm>
          <a:prstGeom prst="ellipse">
            <a:avLst/>
          </a:prstGeom>
          <a:solidFill>
            <a:srgbClr val="D95D39"/>
          </a:solidFill>
          <a:ln/>
        </p:spPr>
      </p:sp>
      <p:pic>
        <p:nvPicPr>
          <p:cNvPr id="27" name="Image 3" descr="preencoded.png">    </p:cNvPr>
          <p:cNvPicPr>
            <a:picLocks noChangeAspect="1"/>
          </p:cNvPicPr>
          <p:nvPr/>
        </p:nvPicPr>
        <p:blipFill>
          <a:blip r:embed="rId4"/>
          <a:stretch>
            <a:fillRect/>
          </a:stretch>
        </p:blipFill>
        <p:spPr>
          <a:xfrm>
            <a:off x="7795260" y="5326380"/>
            <a:ext cx="228600" cy="228600"/>
          </a:xfrm>
          <a:prstGeom prst="rect">
            <a:avLst/>
          </a:prstGeom>
        </p:spPr>
      </p:pic>
      <p:sp>
        <p:nvSpPr>
          <p:cNvPr id="28" name="Text 21"/>
          <p:cNvSpPr/>
          <p:nvPr/>
        </p:nvSpPr>
        <p:spPr>
          <a:xfrm>
            <a:off x="8321040" y="4709160"/>
            <a:ext cx="3136392" cy="146304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Siempre limita </a:t>
            </a:r>
            <a:r>
              <a:rPr lang="en-US" sz="1400" dirty="0">
                <a:solidFill>
                  <a:srgbClr val="1F2933"/>
                </a:solidFill>
                <a:latin typeface="Calibri" pitchFamily="34" charset="0"/>
                <a:ea typeface="Calibri" pitchFamily="34" charset="-122"/>
                <a:cs typeface="Calibri" pitchFamily="34" charset="-120"/>
              </a:rPr>
              <a:t>max server memory en producción y deja memoria libre para el sistema operativo.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ALMACENAMIENTO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Estructura física: páginas y extensiones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10</a:t>
            </a:r>
            <a:endParaRPr lang="en-US" sz="1000" dirty="0"/>
          </a:p>
        </p:txBody>
      </p:sp>
      <p:sp>
        <p:nvSpPr>
          <p:cNvPr id="7" name="Text 4"/>
          <p:cNvSpPr/>
          <p:nvPr/>
        </p:nvSpPr>
        <p:spPr>
          <a:xfrm>
            <a:off x="548640" y="1600200"/>
            <a:ext cx="3017520" cy="274320"/>
          </a:xfrm>
          <a:prstGeom prst="rect">
            <a:avLst/>
          </a:prstGeom>
          <a:noFill/>
          <a:ln/>
        </p:spPr>
        <p:txBody>
          <a:bodyPr wrap="square" lIns="0" tIns="0" rIns="0" bIns="0" rtlCol="0" anchor="t"/>
          <a:lstStyle/>
          <a:p>
            <a:pPr algn="l" indent="0" marL="0">
              <a:buNone/>
            </a:pPr>
            <a:r>
              <a:rPr lang="en-US" sz="1400" b="1" dirty="0">
                <a:solidFill>
                  <a:srgbClr val="0B2545"/>
                </a:solidFill>
                <a:latin typeface="Calibri" pitchFamily="34" charset="0"/>
                <a:ea typeface="Calibri" pitchFamily="34" charset="-122"/>
                <a:cs typeface="Calibri" pitchFamily="34" charset="-120"/>
              </a:rPr>
              <a:t>Página = 8 KB (unidad mínima de E/S)</a:t>
            </a:r>
            <a:endParaRPr lang="en-US" sz="1400" dirty="0"/>
          </a:p>
        </p:txBody>
      </p:sp>
      <p:sp>
        <p:nvSpPr>
          <p:cNvPr id="8" name="Text 5"/>
          <p:cNvSpPr/>
          <p:nvPr/>
        </p:nvSpPr>
        <p:spPr>
          <a:xfrm>
            <a:off x="548640" y="1965960"/>
            <a:ext cx="3017520" cy="502920"/>
          </a:xfrm>
          <a:prstGeom prst="rect">
            <a:avLst/>
          </a:prstGeom>
          <a:solidFill>
            <a:srgbClr val="0B2545"/>
          </a:solidFill>
          <a:ln w="12700">
            <a:solidFill>
              <a:srgbClr val="D0D7DE"/>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Page Header · 96 bytes</a:t>
            </a:r>
            <a:endParaRPr lang="en-US" sz="1300" dirty="0"/>
          </a:p>
        </p:txBody>
      </p:sp>
      <p:sp>
        <p:nvSpPr>
          <p:cNvPr id="9" name="Text 6"/>
          <p:cNvSpPr/>
          <p:nvPr/>
        </p:nvSpPr>
        <p:spPr>
          <a:xfrm>
            <a:off x="548640" y="2468880"/>
            <a:ext cx="3017520" cy="1508760"/>
          </a:xfrm>
          <a:prstGeom prst="rect">
            <a:avLst/>
          </a:prstGeom>
          <a:solidFill>
            <a:srgbClr val="134074"/>
          </a:solidFill>
          <a:ln w="12700">
            <a:solidFill>
              <a:srgbClr val="D0D7DE"/>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Filas de datos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(crecen hacia abajo ↓)</a:t>
            </a:r>
            <a:endParaRPr lang="en-US" sz="1300" dirty="0"/>
          </a:p>
        </p:txBody>
      </p:sp>
      <p:sp>
        <p:nvSpPr>
          <p:cNvPr id="10" name="Text 7"/>
          <p:cNvSpPr/>
          <p:nvPr/>
        </p:nvSpPr>
        <p:spPr>
          <a:xfrm>
            <a:off x="548640" y="3977640"/>
            <a:ext cx="3017520" cy="822960"/>
          </a:xfrm>
          <a:prstGeom prst="rect">
            <a:avLst/>
          </a:prstGeom>
          <a:solidFill>
            <a:srgbClr val="FFFFFF"/>
          </a:solidFill>
          <a:ln w="12700">
            <a:solidFill>
              <a:srgbClr val="D0D7DE"/>
            </a:solidFill>
          </a:ln>
        </p:spPr>
        <p:txBody>
          <a:bodyPr wrap="square" lIns="508" tIns="1016" rIns="1016" bIns="508" rtlCol="0" anchor="ctr"/>
          <a:lstStyle/>
          <a:p>
            <a:pPr algn="ctr" indent="0" marL="0">
              <a:buNone/>
            </a:pPr>
            <a:r>
              <a:rPr lang="en-US" sz="1300" b="1" dirty="0">
                <a:solidFill>
                  <a:srgbClr val="5C6B7A"/>
                </a:solidFill>
                <a:latin typeface="Calibri" pitchFamily="34" charset="0"/>
                <a:ea typeface="Calibri" pitchFamily="34" charset="-122"/>
                <a:cs typeface="Calibri" pitchFamily="34" charset="-120"/>
              </a:rPr>
              <a:t>Espacio libre</a:t>
            </a:r>
            <a:endParaRPr lang="en-US" sz="1300" dirty="0"/>
          </a:p>
        </p:txBody>
      </p:sp>
      <p:sp>
        <p:nvSpPr>
          <p:cNvPr id="11" name="Text 8"/>
          <p:cNvSpPr/>
          <p:nvPr/>
        </p:nvSpPr>
        <p:spPr>
          <a:xfrm>
            <a:off x="548640" y="4800600"/>
            <a:ext cx="3017520" cy="822960"/>
          </a:xfrm>
          <a:prstGeom prst="rect">
            <a:avLst/>
          </a:prstGeom>
          <a:solidFill>
            <a:srgbClr val="D95D39"/>
          </a:solidFill>
          <a:ln w="12700">
            <a:solidFill>
              <a:srgbClr val="D0D7DE"/>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Row Offset Array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 bytes/fila, crece hacia arriba ↑)</a:t>
            </a:r>
            <a:endParaRPr lang="en-US" sz="1300" dirty="0"/>
          </a:p>
        </p:txBody>
      </p:sp>
      <p:sp>
        <p:nvSpPr>
          <p:cNvPr id="12" name="Text 9"/>
          <p:cNvSpPr/>
          <p:nvPr/>
        </p:nvSpPr>
        <p:spPr>
          <a:xfrm>
            <a:off x="548640" y="5733288"/>
            <a:ext cx="3017520" cy="548640"/>
          </a:xfrm>
          <a:prstGeom prst="rect">
            <a:avLst/>
          </a:prstGeom>
          <a:noFill/>
          <a:ln/>
        </p:spPr>
        <p:txBody>
          <a:bodyPr wrap="square" lIns="0" tIns="0" rIns="0" bIns="0" rtlCol="0" anchor="t"/>
          <a:lstStyle/>
          <a:p>
            <a:pPr algn="l" indent="0" marL="0">
              <a:buNone/>
            </a:pPr>
            <a:r>
              <a:rPr lang="en-US" sz="1200" dirty="0">
                <a:solidFill>
                  <a:srgbClr val="5C6B7A"/>
                </a:solidFill>
                <a:latin typeface="Calibri" pitchFamily="34" charset="0"/>
                <a:ea typeface="Calibri" pitchFamily="34" charset="-122"/>
                <a:cs typeface="Calibri" pitchFamily="34" charset="-120"/>
              </a:rPr>
              <a:t>Máx. 8060 bytes de datos por fila en página (límite en fila)</a:t>
            </a:r>
            <a:endParaRPr lang="en-US" sz="1200" dirty="0"/>
          </a:p>
        </p:txBody>
      </p:sp>
      <p:sp>
        <p:nvSpPr>
          <p:cNvPr id="13" name="Text 10"/>
          <p:cNvSpPr/>
          <p:nvPr/>
        </p:nvSpPr>
        <p:spPr>
          <a:xfrm>
            <a:off x="4023360" y="1600200"/>
            <a:ext cx="7619695" cy="274320"/>
          </a:xfrm>
          <a:prstGeom prst="rect">
            <a:avLst/>
          </a:prstGeom>
          <a:noFill/>
          <a:ln/>
        </p:spPr>
        <p:txBody>
          <a:bodyPr wrap="square" lIns="0" tIns="0" rIns="0" bIns="0" rtlCol="0" anchor="t"/>
          <a:lstStyle/>
          <a:p>
            <a:pPr algn="l" indent="0" marL="0">
              <a:buNone/>
            </a:pPr>
            <a:r>
              <a:rPr lang="en-US" sz="1400" b="1" dirty="0">
                <a:solidFill>
                  <a:srgbClr val="0B2545"/>
                </a:solidFill>
                <a:latin typeface="Calibri" pitchFamily="34" charset="0"/>
                <a:ea typeface="Calibri" pitchFamily="34" charset="-122"/>
                <a:cs typeface="Calibri" pitchFamily="34" charset="-120"/>
              </a:rPr>
              <a:t>Extensión = 8 páginas contiguas = 64 KB</a:t>
            </a:r>
            <a:endParaRPr lang="en-US" sz="1400" dirty="0"/>
          </a:p>
        </p:txBody>
      </p:sp>
      <p:sp>
        <p:nvSpPr>
          <p:cNvPr id="14" name="Text 11"/>
          <p:cNvSpPr/>
          <p:nvPr/>
        </p:nvSpPr>
        <p:spPr>
          <a:xfrm>
            <a:off x="4023360" y="1965960"/>
            <a:ext cx="888454" cy="548640"/>
          </a:xfrm>
          <a:prstGeom prst="roundRect">
            <a:avLst>
              <a:gd name="adj" fmla="val 10000"/>
            </a:avLst>
          </a:prstGeom>
          <a:solidFill>
            <a:srgbClr val="D95D39"/>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15" name="Text 12"/>
          <p:cNvSpPr/>
          <p:nvPr/>
        </p:nvSpPr>
        <p:spPr>
          <a:xfrm>
            <a:off x="4984966"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16" name="Text 13"/>
          <p:cNvSpPr/>
          <p:nvPr/>
        </p:nvSpPr>
        <p:spPr>
          <a:xfrm>
            <a:off x="5946572"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17" name="Text 14"/>
          <p:cNvSpPr/>
          <p:nvPr/>
        </p:nvSpPr>
        <p:spPr>
          <a:xfrm>
            <a:off x="6908178"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P4</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18" name="Text 15"/>
          <p:cNvSpPr/>
          <p:nvPr/>
        </p:nvSpPr>
        <p:spPr>
          <a:xfrm>
            <a:off x="7869784"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P5</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19" name="Text 16"/>
          <p:cNvSpPr/>
          <p:nvPr/>
        </p:nvSpPr>
        <p:spPr>
          <a:xfrm>
            <a:off x="8831390"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P6</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20" name="Text 17"/>
          <p:cNvSpPr/>
          <p:nvPr/>
        </p:nvSpPr>
        <p:spPr>
          <a:xfrm>
            <a:off x="9792995"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P7</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21" name="Text 18"/>
          <p:cNvSpPr/>
          <p:nvPr/>
        </p:nvSpPr>
        <p:spPr>
          <a:xfrm>
            <a:off x="10754601" y="1965960"/>
            <a:ext cx="888454" cy="548640"/>
          </a:xfrm>
          <a:prstGeom prst="roundRect">
            <a:avLst>
              <a:gd name="adj" fmla="val 10000"/>
            </a:avLst>
          </a:prstGeom>
          <a:solidFill>
            <a:srgbClr val="134074"/>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P8</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8 KB</a:t>
            </a:r>
            <a:endParaRPr lang="en-US" sz="1100" dirty="0"/>
          </a:p>
        </p:txBody>
      </p:sp>
      <p:sp>
        <p:nvSpPr>
          <p:cNvPr id="22" name="Text 19"/>
          <p:cNvSpPr/>
          <p:nvPr/>
        </p:nvSpPr>
        <p:spPr>
          <a:xfrm>
            <a:off x="4023360" y="2560320"/>
            <a:ext cx="7619695" cy="274320"/>
          </a:xfrm>
          <a:prstGeom prst="rect">
            <a:avLst/>
          </a:prstGeom>
          <a:noFill/>
          <a:ln/>
        </p:spPr>
        <p:txBody>
          <a:bodyPr wrap="square" lIns="0" tIns="0" rIns="0" bIns="0" rtlCol="0" anchor="t"/>
          <a:lstStyle/>
          <a:p>
            <a:pPr algn="l" indent="0" marL="0">
              <a:buNone/>
            </a:pPr>
            <a:r>
              <a:rPr lang="en-US" sz="1200" dirty="0">
                <a:solidFill>
                  <a:srgbClr val="5C6B7A"/>
                </a:solidFill>
                <a:latin typeface="Calibri" pitchFamily="34" charset="0"/>
                <a:ea typeface="Calibri" pitchFamily="34" charset="-122"/>
                <a:cs typeface="Calibri" pitchFamily="34" charset="-120"/>
              </a:rPr>
              <a:t>Mixta: páginas de distintos objetos · Uniforme: un solo objeto (desde la 9.ª página)</a:t>
            </a:r>
            <a:endParaRPr lang="en-US" sz="1200" dirty="0"/>
          </a:p>
        </p:txBody>
      </p:sp>
      <p:sp>
        <p:nvSpPr>
          <p:cNvPr id="23" name="Text 20"/>
          <p:cNvSpPr/>
          <p:nvPr/>
        </p:nvSpPr>
        <p:spPr>
          <a:xfrm>
            <a:off x="4023360" y="3017520"/>
            <a:ext cx="7619695" cy="274320"/>
          </a:xfrm>
          <a:prstGeom prst="rect">
            <a:avLst/>
          </a:prstGeom>
          <a:noFill/>
          <a:ln/>
        </p:spPr>
        <p:txBody>
          <a:bodyPr wrap="square" lIns="0" tIns="0" rIns="0" bIns="0" rtlCol="0" anchor="t"/>
          <a:lstStyle/>
          <a:p>
            <a:pPr algn="l" indent="0" marL="0">
              <a:buNone/>
            </a:pPr>
            <a:r>
              <a:rPr lang="en-US" sz="1400" b="1" dirty="0">
                <a:solidFill>
                  <a:srgbClr val="0B2545"/>
                </a:solidFill>
                <a:latin typeface="Calibri" pitchFamily="34" charset="0"/>
                <a:ea typeface="Calibri" pitchFamily="34" charset="-122"/>
                <a:cs typeface="Calibri" pitchFamily="34" charset="-120"/>
              </a:rPr>
              <a:t>Ficheros de datos agrupados en filegroups</a:t>
            </a:r>
            <a:endParaRPr lang="en-US" sz="1400" dirty="0"/>
          </a:p>
        </p:txBody>
      </p:sp>
      <p:sp>
        <p:nvSpPr>
          <p:cNvPr id="24" name="Shape 21"/>
          <p:cNvSpPr/>
          <p:nvPr/>
        </p:nvSpPr>
        <p:spPr>
          <a:xfrm>
            <a:off x="4023360" y="3364992"/>
            <a:ext cx="7619695" cy="1051560"/>
          </a:xfrm>
          <a:prstGeom prst="roundRect">
            <a:avLst>
              <a:gd name="adj" fmla="val 8696"/>
            </a:avLst>
          </a:prstGeom>
          <a:solidFill>
            <a:srgbClr val="E8EEF5"/>
          </a:solidFill>
          <a:ln w="9525">
            <a:solidFill>
              <a:srgbClr val="134074"/>
            </a:solidFill>
            <a:prstDash val="solid"/>
          </a:ln>
        </p:spPr>
      </p:sp>
      <p:sp>
        <p:nvSpPr>
          <p:cNvPr id="25" name="Text 22"/>
          <p:cNvSpPr/>
          <p:nvPr/>
        </p:nvSpPr>
        <p:spPr>
          <a:xfrm>
            <a:off x="4160520" y="3410712"/>
            <a:ext cx="7345375" cy="228600"/>
          </a:xfrm>
          <a:prstGeom prst="rect">
            <a:avLst/>
          </a:prstGeom>
          <a:noFill/>
          <a:ln/>
        </p:spPr>
        <p:txBody>
          <a:bodyPr wrap="square" lIns="0" tIns="0" rIns="0" bIns="0" rtlCol="0" anchor="t"/>
          <a:lstStyle/>
          <a:p>
            <a:pPr algn="l" indent="0" marL="0">
              <a:buNone/>
            </a:pPr>
            <a:r>
              <a:rPr lang="en-US" sz="1100" b="1" dirty="0">
                <a:solidFill>
                  <a:srgbClr val="134074"/>
                </a:solidFill>
                <a:latin typeface="Calibri" pitchFamily="34" charset="0"/>
                <a:ea typeface="Calibri" pitchFamily="34" charset="-122"/>
                <a:cs typeface="Calibri" pitchFamily="34" charset="-120"/>
              </a:rPr>
              <a:t>Filegroup PRIMARY (por defecto)</a:t>
            </a:r>
            <a:endParaRPr lang="en-US" sz="1100" dirty="0"/>
          </a:p>
        </p:txBody>
      </p:sp>
      <p:sp>
        <p:nvSpPr>
          <p:cNvPr id="26" name="Text 23"/>
          <p:cNvSpPr/>
          <p:nvPr/>
        </p:nvSpPr>
        <p:spPr>
          <a:xfrm>
            <a:off x="4160520" y="3703320"/>
            <a:ext cx="3604108" cy="594360"/>
          </a:xfrm>
          <a:prstGeom prst="roundRect">
            <a:avLst>
              <a:gd name="adj" fmla="val 12308"/>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Primario .mdf</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(catálogo + datos)</a:t>
            </a:r>
            <a:endParaRPr lang="en-US" sz="1200" dirty="0"/>
          </a:p>
        </p:txBody>
      </p:sp>
      <p:sp>
        <p:nvSpPr>
          <p:cNvPr id="27" name="Text 24"/>
          <p:cNvSpPr/>
          <p:nvPr/>
        </p:nvSpPr>
        <p:spPr>
          <a:xfrm>
            <a:off x="7901788" y="3703320"/>
            <a:ext cx="3604108" cy="594360"/>
          </a:xfrm>
          <a:prstGeom prst="roundRect">
            <a:avLst>
              <a:gd name="adj" fmla="val 12308"/>
            </a:avLst>
          </a:prstGeom>
          <a:solidFill>
            <a:srgbClr val="134074"/>
          </a:solidFill>
          <a:ln/>
        </p:spPr>
        <p:txBody>
          <a:bodyPr wrap="square" lIns="508" tIns="1016" rIns="1016"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Secundario .ndf</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(datos adicionales)</a:t>
            </a:r>
            <a:endParaRPr lang="en-US" sz="1200" dirty="0"/>
          </a:p>
        </p:txBody>
      </p:sp>
      <p:sp>
        <p:nvSpPr>
          <p:cNvPr id="28" name="Text 25"/>
          <p:cNvSpPr/>
          <p:nvPr/>
        </p:nvSpPr>
        <p:spPr>
          <a:xfrm>
            <a:off x="4023360" y="4663440"/>
            <a:ext cx="7619695" cy="274320"/>
          </a:xfrm>
          <a:prstGeom prst="rect">
            <a:avLst/>
          </a:prstGeom>
          <a:noFill/>
          <a:ln/>
        </p:spPr>
        <p:txBody>
          <a:bodyPr wrap="square" lIns="0" tIns="0" rIns="0" bIns="0" rtlCol="0" anchor="t"/>
          <a:lstStyle/>
          <a:p>
            <a:pPr algn="l" indent="0" marL="0">
              <a:buNone/>
            </a:pPr>
            <a:r>
              <a:rPr lang="en-US" sz="1400" b="1" dirty="0">
                <a:solidFill>
                  <a:srgbClr val="0B2545"/>
                </a:solidFill>
                <a:latin typeface="Calibri" pitchFamily="34" charset="0"/>
                <a:ea typeface="Calibri" pitchFamily="34" charset="-122"/>
                <a:cs typeface="Calibri" pitchFamily="34" charset="-120"/>
              </a:rPr>
              <a:t>Transaction log (.ldf) — secuencia circular de VLFs</a:t>
            </a:r>
            <a:endParaRPr lang="en-US" sz="1400" dirty="0"/>
          </a:p>
        </p:txBody>
      </p:sp>
      <p:sp>
        <p:nvSpPr>
          <p:cNvPr id="29" name="Shape 26"/>
          <p:cNvSpPr/>
          <p:nvPr/>
        </p:nvSpPr>
        <p:spPr>
          <a:xfrm>
            <a:off x="4023360" y="5010912"/>
            <a:ext cx="7619695" cy="868680"/>
          </a:xfrm>
          <a:prstGeom prst="roundRect">
            <a:avLst>
              <a:gd name="adj" fmla="val 10526"/>
            </a:avLst>
          </a:prstGeom>
          <a:solidFill>
            <a:srgbClr val="FDEDE8"/>
          </a:solidFill>
          <a:ln w="9525">
            <a:solidFill>
              <a:srgbClr val="D95D39"/>
            </a:solidFill>
            <a:prstDash val="solid"/>
          </a:ln>
        </p:spPr>
      </p:sp>
      <p:sp>
        <p:nvSpPr>
          <p:cNvPr id="30" name="Text 27"/>
          <p:cNvSpPr/>
          <p:nvPr/>
        </p:nvSpPr>
        <p:spPr>
          <a:xfrm>
            <a:off x="4160520" y="5120640"/>
            <a:ext cx="870166" cy="365760"/>
          </a:xfrm>
          <a:prstGeom prst="roundRect">
            <a:avLst>
              <a:gd name="adj" fmla="val 12500"/>
            </a:avLst>
          </a:prstGeom>
          <a:solidFill>
            <a:srgbClr val="5C6B7A"/>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VLF 1</a:t>
            </a:r>
            <a:endParaRPr lang="en-US" sz="1100" dirty="0"/>
          </a:p>
        </p:txBody>
      </p:sp>
      <p:sp>
        <p:nvSpPr>
          <p:cNvPr id="31" name="Text 28"/>
          <p:cNvSpPr/>
          <p:nvPr/>
        </p:nvSpPr>
        <p:spPr>
          <a:xfrm>
            <a:off x="5085550" y="5120640"/>
            <a:ext cx="870166" cy="365760"/>
          </a:xfrm>
          <a:prstGeom prst="roundRect">
            <a:avLst>
              <a:gd name="adj" fmla="val 12500"/>
            </a:avLst>
          </a:prstGeom>
          <a:solidFill>
            <a:srgbClr val="5C6B7A"/>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VLF 2</a:t>
            </a:r>
            <a:endParaRPr lang="en-US" sz="1100" dirty="0"/>
          </a:p>
        </p:txBody>
      </p:sp>
      <p:sp>
        <p:nvSpPr>
          <p:cNvPr id="32" name="Text 29"/>
          <p:cNvSpPr/>
          <p:nvPr/>
        </p:nvSpPr>
        <p:spPr>
          <a:xfrm>
            <a:off x="6010580" y="5120640"/>
            <a:ext cx="870166" cy="365760"/>
          </a:xfrm>
          <a:prstGeom prst="roundRect">
            <a:avLst>
              <a:gd name="adj" fmla="val 12500"/>
            </a:avLst>
          </a:prstGeom>
          <a:solidFill>
            <a:srgbClr val="5C6B7A"/>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VLF 3</a:t>
            </a:r>
            <a:endParaRPr lang="en-US" sz="1100" dirty="0"/>
          </a:p>
        </p:txBody>
      </p:sp>
      <p:sp>
        <p:nvSpPr>
          <p:cNvPr id="33" name="Text 30"/>
          <p:cNvSpPr/>
          <p:nvPr/>
        </p:nvSpPr>
        <p:spPr>
          <a:xfrm>
            <a:off x="6935610" y="5120640"/>
            <a:ext cx="870166" cy="365760"/>
          </a:xfrm>
          <a:prstGeom prst="roundRect">
            <a:avLst>
              <a:gd name="adj" fmla="val 12500"/>
            </a:avLst>
          </a:prstGeom>
          <a:solidFill>
            <a:srgbClr val="D95D39"/>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VLF 4</a:t>
            </a:r>
            <a:endParaRPr lang="en-US" sz="1100" dirty="0"/>
          </a:p>
        </p:txBody>
      </p:sp>
      <p:sp>
        <p:nvSpPr>
          <p:cNvPr id="34" name="Text 31"/>
          <p:cNvSpPr/>
          <p:nvPr/>
        </p:nvSpPr>
        <p:spPr>
          <a:xfrm>
            <a:off x="7860640" y="5120640"/>
            <a:ext cx="870166" cy="365760"/>
          </a:xfrm>
          <a:prstGeom prst="roundRect">
            <a:avLst>
              <a:gd name="adj" fmla="val 12500"/>
            </a:avLst>
          </a:prstGeom>
          <a:solidFill>
            <a:srgbClr val="D95D39"/>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VLF 5</a:t>
            </a:r>
            <a:endParaRPr lang="en-US" sz="1100" dirty="0"/>
          </a:p>
        </p:txBody>
      </p:sp>
      <p:sp>
        <p:nvSpPr>
          <p:cNvPr id="35" name="Text 32"/>
          <p:cNvSpPr/>
          <p:nvPr/>
        </p:nvSpPr>
        <p:spPr>
          <a:xfrm>
            <a:off x="8785670" y="5120640"/>
            <a:ext cx="870166" cy="365760"/>
          </a:xfrm>
          <a:prstGeom prst="roundRect">
            <a:avLst>
              <a:gd name="adj" fmla="val 12500"/>
            </a:avLst>
          </a:prstGeom>
          <a:solidFill>
            <a:srgbClr val="D95D39"/>
          </a:solidFill>
          <a:ln/>
        </p:spPr>
        <p:txBody>
          <a:bodyPr wrap="square" lIns="508" tIns="1016" rIns="1016"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VLF 6</a:t>
            </a:r>
            <a:endParaRPr lang="en-US" sz="1100" dirty="0"/>
          </a:p>
        </p:txBody>
      </p:sp>
      <p:sp>
        <p:nvSpPr>
          <p:cNvPr id="36" name="Text 33"/>
          <p:cNvSpPr/>
          <p:nvPr/>
        </p:nvSpPr>
        <p:spPr>
          <a:xfrm>
            <a:off x="9710699" y="5120640"/>
            <a:ext cx="870166" cy="365760"/>
          </a:xfrm>
          <a:prstGeom prst="roundRect">
            <a:avLst>
              <a:gd name="adj" fmla="val 12500"/>
            </a:avLst>
          </a:prstGeom>
          <a:solidFill>
            <a:srgbClr val="FFFFFF"/>
          </a:solidFill>
          <a:ln w="12700">
            <a:solidFill>
              <a:srgbClr val="D0D7DE"/>
            </a:solidFill>
          </a:ln>
        </p:spPr>
        <p:txBody>
          <a:bodyPr wrap="square" lIns="508" tIns="1016" rIns="1016" bIns="508" rtlCol="0" anchor="ctr"/>
          <a:lstStyle/>
          <a:p>
            <a:pPr algn="ctr" indent="0" marL="0">
              <a:buNone/>
            </a:pPr>
            <a:r>
              <a:rPr lang="en-US" sz="1100" b="1" dirty="0">
                <a:solidFill>
                  <a:srgbClr val="5C6B7A"/>
                </a:solidFill>
                <a:latin typeface="Calibri" pitchFamily="34" charset="0"/>
                <a:ea typeface="Calibri" pitchFamily="34" charset="-122"/>
                <a:cs typeface="Calibri" pitchFamily="34" charset="-120"/>
              </a:rPr>
              <a:t>VLF 7</a:t>
            </a:r>
            <a:endParaRPr lang="en-US" sz="1100" dirty="0"/>
          </a:p>
        </p:txBody>
      </p:sp>
      <p:sp>
        <p:nvSpPr>
          <p:cNvPr id="37" name="Text 34"/>
          <p:cNvSpPr/>
          <p:nvPr/>
        </p:nvSpPr>
        <p:spPr>
          <a:xfrm>
            <a:off x="10635729" y="5120640"/>
            <a:ext cx="870166" cy="365760"/>
          </a:xfrm>
          <a:prstGeom prst="roundRect">
            <a:avLst>
              <a:gd name="adj" fmla="val 12500"/>
            </a:avLst>
          </a:prstGeom>
          <a:solidFill>
            <a:srgbClr val="FFFFFF"/>
          </a:solidFill>
          <a:ln w="12700">
            <a:solidFill>
              <a:srgbClr val="D0D7DE"/>
            </a:solidFill>
          </a:ln>
        </p:spPr>
        <p:txBody>
          <a:bodyPr wrap="square" lIns="508" tIns="1016" rIns="1016" bIns="508" rtlCol="0" anchor="ctr"/>
          <a:lstStyle/>
          <a:p>
            <a:pPr algn="ctr" indent="0" marL="0">
              <a:buNone/>
            </a:pPr>
            <a:r>
              <a:rPr lang="en-US" sz="1100" b="1" dirty="0">
                <a:solidFill>
                  <a:srgbClr val="5C6B7A"/>
                </a:solidFill>
                <a:latin typeface="Calibri" pitchFamily="34" charset="0"/>
                <a:ea typeface="Calibri" pitchFamily="34" charset="-122"/>
                <a:cs typeface="Calibri" pitchFamily="34" charset="-120"/>
              </a:rPr>
              <a:t>VLF 8</a:t>
            </a:r>
            <a:endParaRPr lang="en-US" sz="1100" dirty="0"/>
          </a:p>
        </p:txBody>
      </p:sp>
      <p:sp>
        <p:nvSpPr>
          <p:cNvPr id="38" name="Text 35"/>
          <p:cNvSpPr/>
          <p:nvPr/>
        </p:nvSpPr>
        <p:spPr>
          <a:xfrm>
            <a:off x="4160520" y="5541264"/>
            <a:ext cx="7345375" cy="274320"/>
          </a:xfrm>
          <a:prstGeom prst="rect">
            <a:avLst/>
          </a:prstGeom>
          <a:noFill/>
          <a:ln/>
        </p:spPr>
        <p:txBody>
          <a:bodyPr wrap="square" lIns="0" tIns="0" rIns="0" bIns="0" rtlCol="0" anchor="t"/>
          <a:lstStyle/>
          <a:p>
            <a:pPr algn="l" indent="0" marL="0">
              <a:buNone/>
            </a:pPr>
            <a:r>
              <a:rPr lang="en-US" sz="1100" dirty="0">
                <a:solidFill>
                  <a:srgbClr val="5C6B7A"/>
                </a:solidFill>
                <a:latin typeface="Calibri" pitchFamily="34" charset="0"/>
                <a:ea typeface="Calibri" pitchFamily="34" charset="-122"/>
                <a:cs typeface="Calibri" pitchFamily="34" charset="-120"/>
              </a:rPr>
              <a:t>Gris: reutilizables · Naranja: activos (log activo) · Blanco: libres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ALMACENAMIENTO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Ficheros de datos y de log: MDF, NDF, LDF</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11</a:t>
            </a:r>
            <a:endParaRPr lang="en-US" sz="1000" dirty="0"/>
          </a:p>
        </p:txBody>
      </p:sp>
      <p:sp>
        <p:nvSpPr>
          <p:cNvPr id="7" name="Shape 4"/>
          <p:cNvSpPr/>
          <p:nvPr/>
        </p:nvSpPr>
        <p:spPr>
          <a:xfrm>
            <a:off x="548640" y="1600200"/>
            <a:ext cx="3515258" cy="2560320"/>
          </a:xfrm>
          <a:prstGeom prst="roundRect">
            <a:avLst>
              <a:gd name="adj" fmla="val 428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Primario · .mdf</a:t>
            </a:r>
            <a:endParaRPr lang="en-US" sz="1700" dirty="0"/>
          </a:p>
        </p:txBody>
      </p:sp>
      <p:sp>
        <p:nvSpPr>
          <p:cNvPr id="11" name="Text 7"/>
          <p:cNvSpPr/>
          <p:nvPr/>
        </p:nvSpPr>
        <p:spPr>
          <a:xfrm>
            <a:off x="777240" y="2560320"/>
            <a:ext cx="3058058"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Uno por BD. Contiene el catálogo y, si no hay más, los datos. Filegroup PRIMARY.</a:t>
            </a:r>
            <a:endParaRPr lang="en-US" sz="1400" dirty="0"/>
          </a:p>
        </p:txBody>
      </p:sp>
      <p:sp>
        <p:nvSpPr>
          <p:cNvPr id="12" name="Shape 8"/>
          <p:cNvSpPr/>
          <p:nvPr/>
        </p:nvSpPr>
        <p:spPr>
          <a:xfrm>
            <a:off x="4338218" y="1600200"/>
            <a:ext cx="3515258" cy="2560320"/>
          </a:xfrm>
          <a:prstGeom prst="roundRect">
            <a:avLst>
              <a:gd name="adj" fmla="val 428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681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978" y="1965960"/>
            <a:ext cx="274320" cy="274320"/>
          </a:xfrm>
          <a:prstGeom prst="rect">
            <a:avLst/>
          </a:prstGeom>
        </p:spPr>
      </p:pic>
      <p:sp>
        <p:nvSpPr>
          <p:cNvPr id="15" name="Text 10"/>
          <p:cNvSpPr/>
          <p:nvPr/>
        </p:nvSpPr>
        <p:spPr>
          <a:xfrm>
            <a:off x="5252618"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Secundarios · .ndf</a:t>
            </a:r>
            <a:endParaRPr lang="en-US" sz="1700" dirty="0"/>
          </a:p>
        </p:txBody>
      </p:sp>
      <p:sp>
        <p:nvSpPr>
          <p:cNvPr id="16" name="Text 11"/>
          <p:cNvSpPr/>
          <p:nvPr/>
        </p:nvSpPr>
        <p:spPr>
          <a:xfrm>
            <a:off x="4566818" y="2560320"/>
            <a:ext cx="3058058"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Opcionales. Reparten datos en varios discos y permiten restaurar por filegroup.</a:t>
            </a:r>
            <a:endParaRPr lang="en-US" sz="1400" dirty="0"/>
          </a:p>
        </p:txBody>
      </p:sp>
      <p:sp>
        <p:nvSpPr>
          <p:cNvPr id="17" name="Shape 12"/>
          <p:cNvSpPr/>
          <p:nvPr/>
        </p:nvSpPr>
        <p:spPr>
          <a:xfrm>
            <a:off x="8127797" y="1600200"/>
            <a:ext cx="3515258" cy="2560320"/>
          </a:xfrm>
          <a:prstGeom prst="roundRect">
            <a:avLst>
              <a:gd name="adj" fmla="val 428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6397"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3557" y="1965960"/>
            <a:ext cx="274320" cy="274320"/>
          </a:xfrm>
          <a:prstGeom prst="rect">
            <a:avLst/>
          </a:prstGeom>
        </p:spPr>
      </p:pic>
      <p:sp>
        <p:nvSpPr>
          <p:cNvPr id="20" name="Text 14"/>
          <p:cNvSpPr/>
          <p:nvPr/>
        </p:nvSpPr>
        <p:spPr>
          <a:xfrm>
            <a:off x="9042197"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Log · .ldf</a:t>
            </a:r>
            <a:endParaRPr lang="en-US" sz="1700" dirty="0"/>
          </a:p>
        </p:txBody>
      </p:sp>
      <p:sp>
        <p:nvSpPr>
          <p:cNvPr id="21" name="Text 15"/>
          <p:cNvSpPr/>
          <p:nvPr/>
        </p:nvSpPr>
        <p:spPr>
          <a:xfrm>
            <a:off x="8356397" y="2560320"/>
            <a:ext cx="3058058"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Registro secuencial de cambios (WAL). Con uno es suficiente y no pertenece a ningún filegroup.</a:t>
            </a:r>
            <a:endParaRPr lang="en-US" sz="1400" dirty="0"/>
          </a:p>
        </p:txBody>
      </p:sp>
      <p:sp>
        <p:nvSpPr>
          <p:cNvPr id="22" name="Shape 16"/>
          <p:cNvSpPr/>
          <p:nvPr/>
        </p:nvSpPr>
        <p:spPr>
          <a:xfrm>
            <a:off x="548640" y="4526280"/>
            <a:ext cx="5410048" cy="1645920"/>
          </a:xfrm>
          <a:prstGeom prst="roundRect">
            <a:avLst>
              <a:gd name="adj" fmla="val 6667"/>
            </a:avLst>
          </a:prstGeom>
          <a:solidFill>
            <a:srgbClr val="FDEDE8"/>
          </a:solidFill>
          <a:ln/>
        </p:spPr>
      </p:sp>
      <p:sp>
        <p:nvSpPr>
          <p:cNvPr id="23" name="Shape 17"/>
          <p:cNvSpPr/>
          <p:nvPr/>
        </p:nvSpPr>
        <p:spPr>
          <a:xfrm>
            <a:off x="731520" y="5120640"/>
            <a:ext cx="457200" cy="457200"/>
          </a:xfrm>
          <a:prstGeom prst="ellipse">
            <a:avLst/>
          </a:prstGeom>
          <a:solidFill>
            <a:srgbClr val="D95D39"/>
          </a:solidFill>
          <a:ln/>
        </p:spPr>
      </p:sp>
      <p:pic>
        <p:nvPicPr>
          <p:cNvPr id="24" name="Image 3" descr="preencoded.png">    </p:cNvPr>
          <p:cNvPicPr>
            <a:picLocks noChangeAspect="1"/>
          </p:cNvPicPr>
          <p:nvPr/>
        </p:nvPicPr>
        <p:blipFill>
          <a:blip r:embed="rId4"/>
          <a:stretch>
            <a:fillRect/>
          </a:stretch>
        </p:blipFill>
        <p:spPr>
          <a:xfrm>
            <a:off x="845820" y="5234940"/>
            <a:ext cx="228600" cy="228600"/>
          </a:xfrm>
          <a:prstGeom prst="rect">
            <a:avLst/>
          </a:prstGeom>
        </p:spPr>
      </p:pic>
      <p:sp>
        <p:nvSpPr>
          <p:cNvPr id="25" name="Text 18"/>
          <p:cNvSpPr/>
          <p:nvPr/>
        </p:nvSpPr>
        <p:spPr>
          <a:xfrm>
            <a:off x="1371600" y="4526280"/>
            <a:ext cx="4404208" cy="164592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Autogrowth en MB, no en %: </a:t>
            </a:r>
            <a:r>
              <a:rPr lang="en-US" sz="1400" dirty="0">
                <a:solidFill>
                  <a:srgbClr val="1F2933"/>
                </a:solidFill>
                <a:latin typeface="Calibri" pitchFamily="34" charset="0"/>
                <a:ea typeface="Calibri" pitchFamily="34" charset="-122"/>
                <a:cs typeface="Calibri" pitchFamily="34" charset="-120"/>
              </a:rPr>
              <a:t>un 10% de 500 GB son 50 GB de golpe. Dimensiona el tamaño inicial para evitar crecer.</a:t>
            </a:r>
            <a:endParaRPr lang="en-US" sz="1400" dirty="0"/>
          </a:p>
        </p:txBody>
      </p:sp>
      <p:sp>
        <p:nvSpPr>
          <p:cNvPr id="26" name="Shape 19"/>
          <p:cNvSpPr/>
          <p:nvPr/>
        </p:nvSpPr>
        <p:spPr>
          <a:xfrm>
            <a:off x="6233008" y="4526280"/>
            <a:ext cx="5410048" cy="1645920"/>
          </a:xfrm>
          <a:prstGeom prst="roundRect">
            <a:avLst>
              <a:gd name="adj" fmla="val 6667"/>
            </a:avLst>
          </a:prstGeom>
          <a:solidFill>
            <a:srgbClr val="E8EEF5"/>
          </a:solidFill>
          <a:ln/>
        </p:spPr>
      </p:sp>
      <p:sp>
        <p:nvSpPr>
          <p:cNvPr id="27" name="Shape 20"/>
          <p:cNvSpPr/>
          <p:nvPr/>
        </p:nvSpPr>
        <p:spPr>
          <a:xfrm>
            <a:off x="6415888" y="5120640"/>
            <a:ext cx="457200" cy="457200"/>
          </a:xfrm>
          <a:prstGeom prst="ellipse">
            <a:avLst/>
          </a:prstGeom>
          <a:solidFill>
            <a:srgbClr val="134074"/>
          </a:solidFill>
          <a:ln/>
        </p:spPr>
      </p:sp>
      <p:pic>
        <p:nvPicPr>
          <p:cNvPr id="28" name="Image 4" descr="preencoded.png">    </p:cNvPr>
          <p:cNvPicPr>
            <a:picLocks noChangeAspect="1"/>
          </p:cNvPicPr>
          <p:nvPr/>
        </p:nvPicPr>
        <p:blipFill>
          <a:blip r:embed="rId5"/>
          <a:stretch>
            <a:fillRect/>
          </a:stretch>
        </p:blipFill>
        <p:spPr>
          <a:xfrm>
            <a:off x="6530188" y="5234940"/>
            <a:ext cx="228600" cy="228600"/>
          </a:xfrm>
          <a:prstGeom prst="rect">
            <a:avLst/>
          </a:prstGeom>
        </p:spPr>
      </p:pic>
      <p:sp>
        <p:nvSpPr>
          <p:cNvPr id="29" name="Text 21"/>
          <p:cNvSpPr/>
          <p:nvPr/>
        </p:nvSpPr>
        <p:spPr>
          <a:xfrm>
            <a:off x="7055968" y="4526280"/>
            <a:ext cx="4404208" cy="1645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IFI (Instant File Initialization): </a:t>
            </a:r>
            <a:r>
              <a:rPr lang="en-US" sz="1400" dirty="0">
                <a:solidFill>
                  <a:srgbClr val="1F2933"/>
                </a:solidFill>
                <a:latin typeface="Calibri" pitchFamily="34" charset="0"/>
                <a:ea typeface="Calibri" pitchFamily="34" charset="-122"/>
                <a:cs typeface="Calibri" pitchFamily="34" charset="-120"/>
              </a:rPr>
              <a:t>concede "Perform volume maintenance tasks" a la cuenta del servicio para crear y restaurar ficheros de datos mucho más rápido.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ALMACENAMIENTO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Transaction Log: WAL y VLFs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12</a:t>
            </a:r>
            <a:endParaRPr lang="en-US" sz="1000" dirty="0"/>
          </a:p>
        </p:txBody>
      </p:sp>
      <p:sp>
        <p:nvSpPr>
          <p:cNvPr id="7" name="Shape 4"/>
          <p:cNvSpPr/>
          <p:nvPr/>
        </p:nvSpPr>
        <p:spPr>
          <a:xfrm>
            <a:off x="548640" y="1600200"/>
            <a:ext cx="2533574" cy="2651760"/>
          </a:xfrm>
          <a:prstGeom prst="roundRect">
            <a:avLst>
              <a:gd name="adj" fmla="val 433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207637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Se modifica la página</a:t>
            </a:r>
            <a:endParaRPr lang="en-US" sz="1600" dirty="0"/>
          </a:p>
        </p:txBody>
      </p:sp>
      <p:sp>
        <p:nvSpPr>
          <p:cNvPr id="11" name="Text 8"/>
          <p:cNvSpPr/>
          <p:nvPr/>
        </p:nvSpPr>
        <p:spPr>
          <a:xfrm>
            <a:off x="777240" y="3154680"/>
            <a:ext cx="2076374" cy="10058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Cambio en el Buffer Pool; la página queda sucia.</a:t>
            </a:r>
            <a:endParaRPr lang="en-US" sz="1400" dirty="0"/>
          </a:p>
        </p:txBody>
      </p:sp>
      <p:sp>
        <p:nvSpPr>
          <p:cNvPr id="12" name="Shape 9"/>
          <p:cNvSpPr/>
          <p:nvPr/>
        </p:nvSpPr>
        <p:spPr>
          <a:xfrm>
            <a:off x="3118790" y="1947672"/>
            <a:ext cx="246888" cy="274320"/>
          </a:xfrm>
          <a:prstGeom prst="rightArrow">
            <a:avLst/>
          </a:prstGeom>
          <a:solidFill>
            <a:srgbClr val="D95D39"/>
          </a:solidFill>
          <a:ln/>
        </p:spPr>
      </p:sp>
      <p:sp>
        <p:nvSpPr>
          <p:cNvPr id="13" name="Shape 10"/>
          <p:cNvSpPr/>
          <p:nvPr/>
        </p:nvSpPr>
        <p:spPr>
          <a:xfrm>
            <a:off x="3402254" y="1600200"/>
            <a:ext cx="2533574" cy="2651760"/>
          </a:xfrm>
          <a:prstGeom prst="roundRect">
            <a:avLst>
              <a:gd name="adj" fmla="val 433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3630854" y="1828800"/>
            <a:ext cx="502920" cy="502920"/>
          </a:xfrm>
          <a:prstGeom prst="ellipse">
            <a:avLst/>
          </a:prstGeom>
          <a:solidFill>
            <a:srgbClr val="134074"/>
          </a:solidFill>
          <a:ln/>
        </p:spPr>
      </p:sp>
      <p:sp>
        <p:nvSpPr>
          <p:cNvPr id="15" name="Text 12"/>
          <p:cNvSpPr/>
          <p:nvPr/>
        </p:nvSpPr>
        <p:spPr>
          <a:xfrm>
            <a:off x="363085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3630854" y="2468880"/>
            <a:ext cx="207637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Se escribe el log</a:t>
            </a:r>
            <a:endParaRPr lang="en-US" sz="1600" dirty="0"/>
          </a:p>
        </p:txBody>
      </p:sp>
      <p:sp>
        <p:nvSpPr>
          <p:cNvPr id="17" name="Text 14"/>
          <p:cNvSpPr/>
          <p:nvPr/>
        </p:nvSpPr>
        <p:spPr>
          <a:xfrm>
            <a:off x="3630854" y="3154680"/>
            <a:ext cx="2076374" cy="10058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Registro con LSN en el log buffer.</a:t>
            </a:r>
            <a:endParaRPr lang="en-US" sz="1400" dirty="0"/>
          </a:p>
        </p:txBody>
      </p:sp>
      <p:sp>
        <p:nvSpPr>
          <p:cNvPr id="18" name="Shape 15"/>
          <p:cNvSpPr/>
          <p:nvPr/>
        </p:nvSpPr>
        <p:spPr>
          <a:xfrm>
            <a:off x="5972404" y="1947672"/>
            <a:ext cx="246888" cy="274320"/>
          </a:xfrm>
          <a:prstGeom prst="rightArrow">
            <a:avLst/>
          </a:prstGeom>
          <a:solidFill>
            <a:srgbClr val="D95D39"/>
          </a:solidFill>
          <a:ln/>
        </p:spPr>
      </p:sp>
      <p:sp>
        <p:nvSpPr>
          <p:cNvPr id="19" name="Shape 16"/>
          <p:cNvSpPr/>
          <p:nvPr/>
        </p:nvSpPr>
        <p:spPr>
          <a:xfrm>
            <a:off x="6255868" y="1600200"/>
            <a:ext cx="2533574" cy="2651760"/>
          </a:xfrm>
          <a:prstGeom prst="roundRect">
            <a:avLst>
              <a:gd name="adj" fmla="val 433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6484468" y="1828800"/>
            <a:ext cx="502920" cy="502920"/>
          </a:xfrm>
          <a:prstGeom prst="ellipse">
            <a:avLst/>
          </a:prstGeom>
          <a:solidFill>
            <a:srgbClr val="134074"/>
          </a:solidFill>
          <a:ln/>
        </p:spPr>
      </p:sp>
      <p:sp>
        <p:nvSpPr>
          <p:cNvPr id="21" name="Text 18"/>
          <p:cNvSpPr/>
          <p:nvPr/>
        </p:nvSpPr>
        <p:spPr>
          <a:xfrm>
            <a:off x="64844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6484468" y="2468880"/>
            <a:ext cx="207637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COMMIT</a:t>
            </a:r>
            <a:endParaRPr lang="en-US" sz="1600" dirty="0"/>
          </a:p>
        </p:txBody>
      </p:sp>
      <p:sp>
        <p:nvSpPr>
          <p:cNvPr id="23" name="Text 20"/>
          <p:cNvSpPr/>
          <p:nvPr/>
        </p:nvSpPr>
        <p:spPr>
          <a:xfrm>
            <a:off x="6484468" y="3154680"/>
            <a:ext cx="2076374" cy="10058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Flush del log a disco. El cliente recibe OK.</a:t>
            </a:r>
            <a:endParaRPr lang="en-US" sz="1400" dirty="0"/>
          </a:p>
        </p:txBody>
      </p:sp>
      <p:sp>
        <p:nvSpPr>
          <p:cNvPr id="24" name="Shape 21"/>
          <p:cNvSpPr/>
          <p:nvPr/>
        </p:nvSpPr>
        <p:spPr>
          <a:xfrm>
            <a:off x="8826017" y="1947672"/>
            <a:ext cx="246888" cy="274320"/>
          </a:xfrm>
          <a:prstGeom prst="rightArrow">
            <a:avLst/>
          </a:prstGeom>
          <a:solidFill>
            <a:srgbClr val="D95D39"/>
          </a:solidFill>
          <a:ln/>
        </p:spPr>
      </p:sp>
      <p:sp>
        <p:nvSpPr>
          <p:cNvPr id="25" name="Shape 22"/>
          <p:cNvSpPr/>
          <p:nvPr/>
        </p:nvSpPr>
        <p:spPr>
          <a:xfrm>
            <a:off x="9109481" y="1600200"/>
            <a:ext cx="2533574" cy="2651760"/>
          </a:xfrm>
          <a:prstGeom prst="roundRect">
            <a:avLst>
              <a:gd name="adj" fmla="val 433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9338081" y="1828800"/>
            <a:ext cx="502920" cy="502920"/>
          </a:xfrm>
          <a:prstGeom prst="ellipse">
            <a:avLst/>
          </a:prstGeom>
          <a:solidFill>
            <a:srgbClr val="134074"/>
          </a:solidFill>
          <a:ln/>
        </p:spPr>
      </p:sp>
      <p:sp>
        <p:nvSpPr>
          <p:cNvPr id="27" name="Text 24"/>
          <p:cNvSpPr/>
          <p:nvPr/>
        </p:nvSpPr>
        <p:spPr>
          <a:xfrm>
            <a:off x="9338081"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9338081" y="2468880"/>
            <a:ext cx="207637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Checkpoint</a:t>
            </a:r>
            <a:endParaRPr lang="en-US" sz="1600" dirty="0"/>
          </a:p>
        </p:txBody>
      </p:sp>
      <p:sp>
        <p:nvSpPr>
          <p:cNvPr id="29" name="Text 26"/>
          <p:cNvSpPr/>
          <p:nvPr/>
        </p:nvSpPr>
        <p:spPr>
          <a:xfrm>
            <a:off x="9338081" y="3154680"/>
            <a:ext cx="2076374" cy="10058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Más tarde, las páginas sucias se escriben al .mdf.</a:t>
            </a:r>
            <a:endParaRPr lang="en-US" sz="1400" dirty="0"/>
          </a:p>
        </p:txBody>
      </p:sp>
      <p:sp>
        <p:nvSpPr>
          <p:cNvPr id="30" name="Shape 27"/>
          <p:cNvSpPr/>
          <p:nvPr/>
        </p:nvSpPr>
        <p:spPr>
          <a:xfrm>
            <a:off x="548640" y="4526280"/>
            <a:ext cx="6949440" cy="1645920"/>
          </a:xfrm>
          <a:prstGeom prst="roundRect">
            <a:avLst>
              <a:gd name="adj" fmla="val 5556"/>
            </a:avLst>
          </a:prstGeom>
          <a:solidFill>
            <a:srgbClr val="ECEFF3"/>
          </a:solidFill>
          <a:ln w="9525">
            <a:solidFill>
              <a:srgbClr val="D0D7DE"/>
            </a:solidFill>
            <a:prstDash val="solid"/>
          </a:ln>
        </p:spPr>
      </p:sp>
      <p:sp>
        <p:nvSpPr>
          <p:cNvPr id="31" name="Text 28"/>
          <p:cNvSpPr/>
          <p:nvPr/>
        </p:nvSpPr>
        <p:spPr>
          <a:xfrm>
            <a:off x="731520" y="461772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VLFS DE LA BD ACTUAL</a:t>
            </a:r>
            <a:endParaRPr lang="en-US" sz="1000" dirty="0"/>
          </a:p>
        </p:txBody>
      </p:sp>
      <p:sp>
        <p:nvSpPr>
          <p:cNvPr id="32" name="Text 29"/>
          <p:cNvSpPr/>
          <p:nvPr/>
        </p:nvSpPr>
        <p:spPr>
          <a:xfrm>
            <a:off x="731520" y="4892040"/>
            <a:ext cx="6583680" cy="11887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COUNT(*)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vlf_total,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SUM(</a:t>
            </a:r>
            <a:r>
              <a:rPr lang="en-US" sz="1200" b="1" dirty="0">
                <a:solidFill>
                  <a:srgbClr val="1D4ED8"/>
                </a:solidFill>
                <a:latin typeface="Consolas" pitchFamily="34" charset="0"/>
                <a:ea typeface="Consolas" pitchFamily="34" charset="-122"/>
                <a:cs typeface="Consolas" pitchFamily="34" charset="-120"/>
              </a:rPr>
              <a:t>CASE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WHEN</a:t>
            </a:r>
            <a:r>
              <a:rPr lang="en-US" sz="1200" dirty="0">
                <a:solidFill>
                  <a:srgbClr val="1F2933"/>
                </a:solidFill>
                <a:latin typeface="Consolas" pitchFamily="34" charset="0"/>
                <a:ea typeface="Consolas" pitchFamily="34" charset="-122"/>
                <a:cs typeface="Consolas" pitchFamily="34" charset="-120"/>
              </a:rPr>
              <a:t> vlf_active =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THEN</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ELSE</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END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vlf_activos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sys.dm_db_log_info(DB_ID());</a:t>
            </a:r>
            <a:endParaRPr lang="en-US" sz="1200" dirty="0"/>
          </a:p>
        </p:txBody>
      </p:sp>
      <p:sp>
        <p:nvSpPr>
          <p:cNvPr id="33" name="Shape 30"/>
          <p:cNvSpPr/>
          <p:nvPr/>
        </p:nvSpPr>
        <p:spPr>
          <a:xfrm>
            <a:off x="7772400" y="4526280"/>
            <a:ext cx="3867912" cy="1645920"/>
          </a:xfrm>
          <a:prstGeom prst="roundRect">
            <a:avLst>
              <a:gd name="adj" fmla="val 6667"/>
            </a:avLst>
          </a:prstGeom>
          <a:solidFill>
            <a:srgbClr val="FDEDE8"/>
          </a:solidFill>
          <a:ln/>
        </p:spPr>
      </p:sp>
      <p:sp>
        <p:nvSpPr>
          <p:cNvPr id="34" name="Shape 31"/>
          <p:cNvSpPr/>
          <p:nvPr/>
        </p:nvSpPr>
        <p:spPr>
          <a:xfrm>
            <a:off x="7955280" y="5120640"/>
            <a:ext cx="457200" cy="457200"/>
          </a:xfrm>
          <a:prstGeom prst="ellipse">
            <a:avLst/>
          </a:prstGeom>
          <a:solidFill>
            <a:srgbClr val="D95D39"/>
          </a:solidFill>
          <a:ln/>
        </p:spPr>
      </p:sp>
      <p:pic>
        <p:nvPicPr>
          <p:cNvPr id="35" name="Image 0" descr="preencoded.png">    </p:cNvPr>
          <p:cNvPicPr>
            <a:picLocks noChangeAspect="1"/>
          </p:cNvPicPr>
          <p:nvPr/>
        </p:nvPicPr>
        <p:blipFill>
          <a:blip r:embed="rId1"/>
          <a:stretch>
            <a:fillRect/>
          </a:stretch>
        </p:blipFill>
        <p:spPr>
          <a:xfrm>
            <a:off x="8069580" y="5234940"/>
            <a:ext cx="228600" cy="228600"/>
          </a:xfrm>
          <a:prstGeom prst="rect">
            <a:avLst/>
          </a:prstGeom>
        </p:spPr>
      </p:pic>
      <p:sp>
        <p:nvSpPr>
          <p:cNvPr id="36" name="Text 32"/>
          <p:cNvSpPr/>
          <p:nvPr/>
        </p:nvSpPr>
        <p:spPr>
          <a:xfrm>
            <a:off x="8595360" y="4526280"/>
            <a:ext cx="2862072" cy="164592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Miles de VLFs </a:t>
            </a:r>
            <a:r>
              <a:rPr lang="en-US" sz="1400" dirty="0">
                <a:solidFill>
                  <a:srgbClr val="1F2933"/>
                </a:solidFill>
                <a:latin typeface="Calibri" pitchFamily="34" charset="0"/>
                <a:ea typeface="Calibri" pitchFamily="34" charset="-122"/>
                <a:cs typeface="Calibri" pitchFamily="34" charset="-120"/>
              </a:rPr>
              <a:t>por autogrowths pequeños ralentizan arranque y recuperación. Dimensiona el log de una vez.</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INSTANCIAS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Instancias: predeterminada y con nombre</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13</a:t>
            </a:r>
            <a:endParaRPr lang="en-US" sz="1000" dirty="0"/>
          </a:p>
        </p:txBody>
      </p:sp>
      <p:sp>
        <p:nvSpPr>
          <p:cNvPr id="7" name="Shape 4"/>
          <p:cNvSpPr/>
          <p:nvPr/>
        </p:nvSpPr>
        <p:spPr>
          <a:xfrm>
            <a:off x="548640" y="1600200"/>
            <a:ext cx="5410048" cy="2194560"/>
          </a:xfrm>
          <a:prstGeom prst="roundRect">
            <a:avLst>
              <a:gd name="adj" fmla="val 5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Predeterminada</a:t>
            </a:r>
            <a:endParaRPr lang="en-US" sz="1700" dirty="0"/>
          </a:p>
        </p:txBody>
      </p:sp>
      <p:sp>
        <p:nvSpPr>
          <p:cNvPr id="11" name="Text 7"/>
          <p:cNvSpPr/>
          <p:nvPr/>
        </p:nvSpPr>
        <p:spPr>
          <a:xfrm>
            <a:off x="777240" y="2560320"/>
            <a:ext cx="4952848" cy="10058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Nombre de servicio MSSQLSERVER. Se conecta por nombre de host, puerto TCP 1433.</a:t>
            </a:r>
            <a:endParaRPr lang="en-US" sz="1400" dirty="0"/>
          </a:p>
        </p:txBody>
      </p:sp>
      <p:sp>
        <p:nvSpPr>
          <p:cNvPr id="12" name="Shape 8"/>
          <p:cNvSpPr/>
          <p:nvPr/>
        </p:nvSpPr>
        <p:spPr>
          <a:xfrm>
            <a:off x="6233008" y="1600200"/>
            <a:ext cx="5410048" cy="2194560"/>
          </a:xfrm>
          <a:prstGeom prst="roundRect">
            <a:avLst>
              <a:gd name="adj" fmla="val 5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646160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6598768" y="1965960"/>
            <a:ext cx="274320" cy="274320"/>
          </a:xfrm>
          <a:prstGeom prst="rect">
            <a:avLst/>
          </a:prstGeom>
        </p:spPr>
      </p:pic>
      <p:sp>
        <p:nvSpPr>
          <p:cNvPr id="15" name="Text 10"/>
          <p:cNvSpPr/>
          <p:nvPr/>
        </p:nvSpPr>
        <p:spPr>
          <a:xfrm>
            <a:off x="7147408" y="182880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Con nombre</a:t>
            </a:r>
            <a:endParaRPr lang="en-US" sz="1700" dirty="0"/>
          </a:p>
        </p:txBody>
      </p:sp>
      <p:sp>
        <p:nvSpPr>
          <p:cNvPr id="16" name="Text 11"/>
          <p:cNvSpPr/>
          <p:nvPr/>
        </p:nvSpPr>
        <p:spPr>
          <a:xfrm>
            <a:off x="6461608" y="2560320"/>
            <a:ext cx="4952848" cy="10058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SERVIDOR\INSTANCIA. Puerto dinámico resuelto por SQL Server Browser (UDP 1434).</a:t>
            </a:r>
            <a:endParaRPr lang="en-US" sz="1400" dirty="0"/>
          </a:p>
        </p:txBody>
      </p:sp>
      <p:sp>
        <p:nvSpPr>
          <p:cNvPr id="17" name="Shape 12"/>
          <p:cNvSpPr/>
          <p:nvPr/>
        </p:nvSpPr>
        <p:spPr>
          <a:xfrm>
            <a:off x="548640" y="4069080"/>
            <a:ext cx="6583680" cy="2103120"/>
          </a:xfrm>
          <a:prstGeom prst="roundRect">
            <a:avLst>
              <a:gd name="adj" fmla="val 4348"/>
            </a:avLst>
          </a:prstGeom>
          <a:solidFill>
            <a:srgbClr val="ECEFF3"/>
          </a:solidFill>
          <a:ln w="9525">
            <a:solidFill>
              <a:srgbClr val="D0D7DE"/>
            </a:solidFill>
            <a:prstDash val="solid"/>
          </a:ln>
        </p:spPr>
      </p:sp>
      <p:sp>
        <p:nvSpPr>
          <p:cNvPr id="18" name="Text 13"/>
          <p:cNvSpPr/>
          <p:nvPr/>
        </p:nvSpPr>
        <p:spPr>
          <a:xfrm>
            <a:off x="731520" y="416052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IDENTIFICAR LA INSTANCIA</a:t>
            </a:r>
            <a:endParaRPr lang="en-US" sz="1000" dirty="0"/>
          </a:p>
        </p:txBody>
      </p:sp>
      <p:sp>
        <p:nvSpPr>
          <p:cNvPr id="19" name="Text 14"/>
          <p:cNvSpPr/>
          <p:nvPr/>
        </p:nvSpPr>
        <p:spPr>
          <a:xfrm>
            <a:off x="731520" y="4434840"/>
            <a:ext cx="6217920" cy="16459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0F766E"/>
                </a:solidFill>
                <a:latin typeface="Consolas" pitchFamily="34" charset="0"/>
                <a:ea typeface="Consolas" pitchFamily="34" charset="-122"/>
                <a:cs typeface="Consolas" pitchFamily="34" charset="-120"/>
              </a:rPr>
              <a:t>@@SERVERNAME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servidor,</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SERVERPROPERTY(</a:t>
            </a:r>
            <a:r>
              <a:rPr lang="en-US" sz="1200" dirty="0">
                <a:solidFill>
                  <a:srgbClr val="B4441F"/>
                </a:solidFill>
                <a:latin typeface="Consolas" pitchFamily="34" charset="0"/>
                <a:ea typeface="Consolas" pitchFamily="34" charset="-122"/>
                <a:cs typeface="Consolas" pitchFamily="34" charset="-120"/>
              </a:rPr>
              <a:t>'InstanceName'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instancia,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SERVERPROPERTY(</a:t>
            </a:r>
            <a:r>
              <a:rPr lang="en-US" sz="1200" dirty="0">
                <a:solidFill>
                  <a:srgbClr val="B4441F"/>
                </a:solidFill>
                <a:latin typeface="Consolas" pitchFamily="34" charset="0"/>
                <a:ea typeface="Consolas" pitchFamily="34" charset="-122"/>
                <a:cs typeface="Consolas" pitchFamily="34" charset="-120"/>
              </a:rPr>
              <a:t>'Edition'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edicion,</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SERVERPROPERTY(</a:t>
            </a:r>
            <a:r>
              <a:rPr lang="en-US" sz="1200" dirty="0">
                <a:solidFill>
                  <a:srgbClr val="B4441F"/>
                </a:solidFill>
                <a:latin typeface="Consolas" pitchFamily="34" charset="0"/>
                <a:ea typeface="Consolas" pitchFamily="34" charset="-122"/>
                <a:cs typeface="Consolas" pitchFamily="34" charset="-120"/>
              </a:rPr>
              <a:t>'ProductVersion'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version;</a:t>
            </a:r>
            <a:endParaRPr lang="en-US" sz="1200" dirty="0"/>
          </a:p>
        </p:txBody>
      </p:sp>
      <p:sp>
        <p:nvSpPr>
          <p:cNvPr id="20" name="Shape 15"/>
          <p:cNvSpPr/>
          <p:nvPr/>
        </p:nvSpPr>
        <p:spPr>
          <a:xfrm>
            <a:off x="7406640" y="4069080"/>
            <a:ext cx="4233672" cy="2103120"/>
          </a:xfrm>
          <a:prstGeom prst="roundRect">
            <a:avLst>
              <a:gd name="adj" fmla="val 5217"/>
            </a:avLst>
          </a:prstGeom>
          <a:solidFill>
            <a:srgbClr val="E8EEF5"/>
          </a:solidFill>
          <a:ln/>
        </p:spPr>
      </p:sp>
      <p:sp>
        <p:nvSpPr>
          <p:cNvPr id="21" name="Shape 16"/>
          <p:cNvSpPr/>
          <p:nvPr/>
        </p:nvSpPr>
        <p:spPr>
          <a:xfrm>
            <a:off x="7589520" y="4892040"/>
            <a:ext cx="457200" cy="457200"/>
          </a:xfrm>
          <a:prstGeom prst="ellipse">
            <a:avLst/>
          </a:prstGeom>
          <a:solidFill>
            <a:srgbClr val="134074"/>
          </a:solidFill>
          <a:ln/>
        </p:spPr>
      </p:sp>
      <p:pic>
        <p:nvPicPr>
          <p:cNvPr id="22" name="Image 2" descr="preencoded.png">    </p:cNvPr>
          <p:cNvPicPr>
            <a:picLocks noChangeAspect="1"/>
          </p:cNvPicPr>
          <p:nvPr/>
        </p:nvPicPr>
        <p:blipFill>
          <a:blip r:embed="rId3"/>
          <a:stretch>
            <a:fillRect/>
          </a:stretch>
        </p:blipFill>
        <p:spPr>
          <a:xfrm>
            <a:off x="7703820" y="5006340"/>
            <a:ext cx="228600" cy="228600"/>
          </a:xfrm>
          <a:prstGeom prst="rect">
            <a:avLst/>
          </a:prstGeom>
        </p:spPr>
      </p:pic>
      <p:sp>
        <p:nvSpPr>
          <p:cNvPr id="23" name="Text 17"/>
          <p:cNvSpPr/>
          <p:nvPr/>
        </p:nvSpPr>
        <p:spPr>
          <a:xfrm>
            <a:off x="8229600" y="4069080"/>
            <a:ext cx="3227832" cy="21031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En producción: </a:t>
            </a:r>
            <a:r>
              <a:rPr lang="en-US" sz="1400" dirty="0">
                <a:solidFill>
                  <a:srgbClr val="1F2933"/>
                </a:solidFill>
                <a:latin typeface="Calibri" pitchFamily="34" charset="0"/>
                <a:ea typeface="Calibri" pitchFamily="34" charset="-122"/>
                <a:cs typeface="Calibri" pitchFamily="34" charset="-120"/>
              </a:rPr>
              <a:t>fija puertos estáticos, usa cuentas de servicio dedicadas (gMSA) y configura max server memory en cada instancia.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INSTANCIAS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Bases de datos del sistema</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14</a:t>
            </a:r>
            <a:endParaRPr lang="en-US" sz="1000" dirty="0"/>
          </a:p>
        </p:txBody>
      </p:sp>
      <p:sp>
        <p:nvSpPr>
          <p:cNvPr id="7" name="Shape 4"/>
          <p:cNvSpPr/>
          <p:nvPr/>
        </p:nvSpPr>
        <p:spPr>
          <a:xfrm>
            <a:off x="548640" y="160020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master</a:t>
            </a:r>
            <a:endParaRPr lang="en-US" sz="1700" dirty="0"/>
          </a:p>
        </p:txBody>
      </p:sp>
      <p:sp>
        <p:nvSpPr>
          <p:cNvPr id="11" name="Text 7"/>
          <p:cNvSpPr/>
          <p:nvPr/>
        </p:nvSpPr>
        <p:spPr>
          <a:xfrm>
            <a:off x="777240" y="256032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Catálogo de la instancia: logins, configuración, ubicación de las BD. Sin ella no arranca.</a:t>
            </a:r>
            <a:endParaRPr lang="en-US" sz="1400" dirty="0"/>
          </a:p>
        </p:txBody>
      </p:sp>
      <p:sp>
        <p:nvSpPr>
          <p:cNvPr id="12" name="Shape 8"/>
          <p:cNvSpPr/>
          <p:nvPr/>
        </p:nvSpPr>
        <p:spPr>
          <a:xfrm>
            <a:off x="4338218" y="160020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681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978" y="1965960"/>
            <a:ext cx="274320" cy="274320"/>
          </a:xfrm>
          <a:prstGeom prst="rect">
            <a:avLst/>
          </a:prstGeom>
        </p:spPr>
      </p:pic>
      <p:sp>
        <p:nvSpPr>
          <p:cNvPr id="15" name="Text 10"/>
          <p:cNvSpPr/>
          <p:nvPr/>
        </p:nvSpPr>
        <p:spPr>
          <a:xfrm>
            <a:off x="5252618"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model</a:t>
            </a:r>
            <a:endParaRPr lang="en-US" sz="1700" dirty="0"/>
          </a:p>
        </p:txBody>
      </p:sp>
      <p:sp>
        <p:nvSpPr>
          <p:cNvPr id="16" name="Text 11"/>
          <p:cNvSpPr/>
          <p:nvPr/>
        </p:nvSpPr>
        <p:spPr>
          <a:xfrm>
            <a:off x="4566818" y="256032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Plantilla de las nuevas BD y de tempdb en cada arranque.</a:t>
            </a:r>
            <a:endParaRPr lang="en-US" sz="1400" dirty="0"/>
          </a:p>
        </p:txBody>
      </p:sp>
      <p:sp>
        <p:nvSpPr>
          <p:cNvPr id="17" name="Shape 12"/>
          <p:cNvSpPr/>
          <p:nvPr/>
        </p:nvSpPr>
        <p:spPr>
          <a:xfrm>
            <a:off x="8127797" y="160020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6397"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3557" y="1965960"/>
            <a:ext cx="274320" cy="274320"/>
          </a:xfrm>
          <a:prstGeom prst="rect">
            <a:avLst/>
          </a:prstGeom>
        </p:spPr>
      </p:pic>
      <p:sp>
        <p:nvSpPr>
          <p:cNvPr id="20" name="Text 14"/>
          <p:cNvSpPr/>
          <p:nvPr/>
        </p:nvSpPr>
        <p:spPr>
          <a:xfrm>
            <a:off x="9042197" y="182880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msdb</a:t>
            </a:r>
            <a:endParaRPr lang="en-US" sz="1700" dirty="0"/>
          </a:p>
        </p:txBody>
      </p:sp>
      <p:sp>
        <p:nvSpPr>
          <p:cNvPr id="21" name="Text 15"/>
          <p:cNvSpPr/>
          <p:nvPr/>
        </p:nvSpPr>
        <p:spPr>
          <a:xfrm>
            <a:off x="8356397" y="256032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Agent: jobs y alertas; historial de backups; Database Mail.</a:t>
            </a:r>
            <a:endParaRPr lang="en-US" sz="1400" dirty="0"/>
          </a:p>
        </p:txBody>
      </p:sp>
      <p:sp>
        <p:nvSpPr>
          <p:cNvPr id="22" name="Shape 16"/>
          <p:cNvSpPr/>
          <p:nvPr/>
        </p:nvSpPr>
        <p:spPr>
          <a:xfrm>
            <a:off x="548640" y="402336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Shape 17"/>
          <p:cNvSpPr/>
          <p:nvPr/>
        </p:nvSpPr>
        <p:spPr>
          <a:xfrm>
            <a:off x="777240" y="4251960"/>
            <a:ext cx="548640" cy="54864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914400" y="4389120"/>
            <a:ext cx="274320" cy="274320"/>
          </a:xfrm>
          <a:prstGeom prst="rect">
            <a:avLst/>
          </a:prstGeom>
        </p:spPr>
      </p:pic>
      <p:sp>
        <p:nvSpPr>
          <p:cNvPr id="25" name="Text 18"/>
          <p:cNvSpPr/>
          <p:nvPr/>
        </p:nvSpPr>
        <p:spPr>
          <a:xfrm>
            <a:off x="1463040" y="425196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tempdb</a:t>
            </a:r>
            <a:endParaRPr lang="en-US" sz="1700" dirty="0"/>
          </a:p>
        </p:txBody>
      </p:sp>
      <p:sp>
        <p:nvSpPr>
          <p:cNvPr id="26" name="Text 19"/>
          <p:cNvSpPr/>
          <p:nvPr/>
        </p:nvSpPr>
        <p:spPr>
          <a:xfrm>
            <a:off x="777240" y="498348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Objetos temporales, spills y version store. Se recrea al arrancar. Sin backup.</a:t>
            </a:r>
            <a:endParaRPr lang="en-US" sz="1400" dirty="0"/>
          </a:p>
        </p:txBody>
      </p:sp>
      <p:sp>
        <p:nvSpPr>
          <p:cNvPr id="27" name="Shape 20"/>
          <p:cNvSpPr/>
          <p:nvPr/>
        </p:nvSpPr>
        <p:spPr>
          <a:xfrm>
            <a:off x="4338218" y="402336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8" name="Shape 21"/>
          <p:cNvSpPr/>
          <p:nvPr/>
        </p:nvSpPr>
        <p:spPr>
          <a:xfrm>
            <a:off x="4566818" y="4251960"/>
            <a:ext cx="548640" cy="548640"/>
          </a:xfrm>
          <a:prstGeom prst="ellipse">
            <a:avLst/>
          </a:prstGeom>
          <a:solidFill>
            <a:srgbClr val="134074"/>
          </a:solidFill>
          <a:ln/>
        </p:spPr>
      </p:sp>
      <p:pic>
        <p:nvPicPr>
          <p:cNvPr id="29" name="Image 4" descr="preencoded.png">    </p:cNvPr>
          <p:cNvPicPr>
            <a:picLocks noChangeAspect="1"/>
          </p:cNvPicPr>
          <p:nvPr/>
        </p:nvPicPr>
        <p:blipFill>
          <a:blip r:embed="rId5"/>
          <a:stretch>
            <a:fillRect/>
          </a:stretch>
        </p:blipFill>
        <p:spPr>
          <a:xfrm>
            <a:off x="4703978" y="4389120"/>
            <a:ext cx="274320" cy="274320"/>
          </a:xfrm>
          <a:prstGeom prst="rect">
            <a:avLst/>
          </a:prstGeom>
        </p:spPr>
      </p:pic>
      <p:sp>
        <p:nvSpPr>
          <p:cNvPr id="30" name="Text 22"/>
          <p:cNvSpPr/>
          <p:nvPr/>
        </p:nvSpPr>
        <p:spPr>
          <a:xfrm>
            <a:off x="5252618" y="4251960"/>
            <a:ext cx="237225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mssqlsystemresource</a:t>
            </a:r>
            <a:endParaRPr lang="en-US" sz="1700" dirty="0"/>
          </a:p>
        </p:txBody>
      </p:sp>
      <p:sp>
        <p:nvSpPr>
          <p:cNvPr id="31" name="Text 23"/>
          <p:cNvSpPr/>
          <p:nvPr/>
        </p:nvSpPr>
        <p:spPr>
          <a:xfrm>
            <a:off x="4566818" y="498348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Sólo lectura y oculta. Contiene los objetos del sistema (sys.*).</a:t>
            </a:r>
            <a:endParaRPr lang="en-US" sz="1400" dirty="0"/>
          </a:p>
        </p:txBody>
      </p:sp>
      <p:sp>
        <p:nvSpPr>
          <p:cNvPr id="32" name="Shape 24"/>
          <p:cNvSpPr/>
          <p:nvPr/>
        </p:nvSpPr>
        <p:spPr>
          <a:xfrm>
            <a:off x="8127797" y="4023360"/>
            <a:ext cx="3515258" cy="2148840"/>
          </a:xfrm>
          <a:prstGeom prst="roundRect">
            <a:avLst>
              <a:gd name="adj" fmla="val 5106"/>
            </a:avLst>
          </a:prstGeom>
          <a:solidFill>
            <a:srgbClr val="134074"/>
          </a:solidFill>
          <a:ln/>
        </p:spPr>
      </p:sp>
      <p:sp>
        <p:nvSpPr>
          <p:cNvPr id="33" name="Shape 25"/>
          <p:cNvSpPr/>
          <p:nvPr/>
        </p:nvSpPr>
        <p:spPr>
          <a:xfrm>
            <a:off x="8356397" y="4251960"/>
            <a:ext cx="548640" cy="548640"/>
          </a:xfrm>
          <a:prstGeom prst="ellipse">
            <a:avLst/>
          </a:prstGeom>
          <a:solidFill>
            <a:srgbClr val="D95D39"/>
          </a:solidFill>
          <a:ln/>
        </p:spPr>
      </p:sp>
      <p:pic>
        <p:nvPicPr>
          <p:cNvPr id="34" name="Image 5" descr="preencoded.png">    </p:cNvPr>
          <p:cNvPicPr>
            <a:picLocks noChangeAspect="1"/>
          </p:cNvPicPr>
          <p:nvPr/>
        </p:nvPicPr>
        <p:blipFill>
          <a:blip r:embed="rId6"/>
          <a:stretch>
            <a:fillRect/>
          </a:stretch>
        </p:blipFill>
        <p:spPr>
          <a:xfrm>
            <a:off x="8493557" y="4389120"/>
            <a:ext cx="274320" cy="274320"/>
          </a:xfrm>
          <a:prstGeom prst="rect">
            <a:avLst/>
          </a:prstGeom>
        </p:spPr>
      </p:pic>
      <p:sp>
        <p:nvSpPr>
          <p:cNvPr id="35" name="Text 26"/>
          <p:cNvSpPr/>
          <p:nvPr/>
        </p:nvSpPr>
        <p:spPr>
          <a:xfrm>
            <a:off x="9042197" y="4251960"/>
            <a:ext cx="2372258"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Backup obligatorio</a:t>
            </a:r>
            <a:endParaRPr lang="en-US" sz="1700" dirty="0"/>
          </a:p>
        </p:txBody>
      </p:sp>
      <p:sp>
        <p:nvSpPr>
          <p:cNvPr id="36" name="Text 27"/>
          <p:cNvSpPr/>
          <p:nvPr/>
        </p:nvSpPr>
        <p:spPr>
          <a:xfrm>
            <a:off x="8356397" y="4983480"/>
            <a:ext cx="3058058" cy="960120"/>
          </a:xfrm>
          <a:prstGeom prst="rect">
            <a:avLst/>
          </a:prstGeom>
          <a:noFill/>
          <a:ln/>
        </p:spPr>
        <p:txBody>
          <a:bodyPr wrap="square" lIns="0" tIns="0" rIns="0" bIns="0" rtlCol="0" anchor="t"/>
          <a:lstStyle/>
          <a:p>
            <a:pPr indent="0" marL="0">
              <a:buNone/>
            </a:pPr>
            <a:r>
              <a:rPr lang="en-US" sz="1400" dirty="0">
                <a:solidFill>
                  <a:srgbClr val="E6EEF8"/>
                </a:solidFill>
                <a:latin typeface="Calibri" pitchFamily="34" charset="0"/>
                <a:ea typeface="Calibri" pitchFamily="34" charset="-122"/>
                <a:cs typeface="Calibri" pitchFamily="34" charset="-120"/>
              </a:rPr>
              <a:t>master, model y msdb. tempdb y Resource no se respaldan.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LICENCIAMIENTO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Ediciones de SQL Server 2022</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375341"/>
                <a:gridCol w="2567303"/>
                <a:gridCol w="2017166"/>
                <a:gridCol w="2017166"/>
                <a:gridCol w="3117439"/>
              </a:tblGrid>
              <a:tr h="6096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Edición</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Uso típico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Cómputo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Memoria (Buffer Pool)</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Claves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Express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Apps pequeñas, aprendizaje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1 socket o 4 cores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1,4 GB</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Gratuita · 10 GB/BD · sin Agent</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Standard</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Cargas departamentales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4 sockets o 24 cores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128 GB</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Basic AG · backup comprimido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60960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Enterprise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Misión crítica y alta carga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Máximo del SO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Máximo del SO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AG completos · online · particionado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Developer</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Desarrollo y laboratorio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Como Enterprise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Como Enterprise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Gratis · prohibido en producción</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
        <p:nvSpPr>
          <p:cNvPr id="8" name="Shape 4"/>
          <p:cNvSpPr/>
          <p:nvPr/>
        </p:nvSpPr>
        <p:spPr>
          <a:xfrm>
            <a:off x="548640" y="5029200"/>
            <a:ext cx="11094415" cy="1097280"/>
          </a:xfrm>
          <a:prstGeom prst="roundRect">
            <a:avLst>
              <a:gd name="adj" fmla="val 10000"/>
            </a:avLst>
          </a:prstGeom>
          <a:solidFill>
            <a:srgbClr val="E8EEF5"/>
          </a:solidFill>
          <a:ln/>
        </p:spPr>
      </p:sp>
      <p:sp>
        <p:nvSpPr>
          <p:cNvPr id="9" name="Shape 5"/>
          <p:cNvSpPr/>
          <p:nvPr/>
        </p:nvSpPr>
        <p:spPr>
          <a:xfrm>
            <a:off x="731520" y="5349240"/>
            <a:ext cx="457200" cy="457200"/>
          </a:xfrm>
          <a:prstGeom prst="ellipse">
            <a:avLst/>
          </a:prstGeom>
          <a:solidFill>
            <a:srgbClr val="134074"/>
          </a:solidFill>
          <a:ln/>
        </p:spPr>
      </p:sp>
      <p:pic>
        <p:nvPicPr>
          <p:cNvPr id="10" name="Image 0" descr="preencoded.png">    </p:cNvPr>
          <p:cNvPicPr>
            <a:picLocks noChangeAspect="1"/>
          </p:cNvPicPr>
          <p:nvPr/>
        </p:nvPicPr>
        <p:blipFill>
          <a:blip r:embed="rId1"/>
          <a:stretch>
            <a:fillRect/>
          </a:stretch>
        </p:blipFill>
        <p:spPr>
          <a:xfrm>
            <a:off x="845820" y="5463540"/>
            <a:ext cx="228600" cy="228600"/>
          </a:xfrm>
          <a:prstGeom prst="rect">
            <a:avLst/>
          </a:prstGeom>
        </p:spPr>
      </p:pic>
      <p:sp>
        <p:nvSpPr>
          <p:cNvPr id="11" name="Text 6"/>
          <p:cNvSpPr/>
          <p:nvPr/>
        </p:nvSpPr>
        <p:spPr>
          <a:xfrm>
            <a:off x="1371600" y="5029200"/>
            <a:ext cx="10088575" cy="109728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Regla práctica: </a:t>
            </a:r>
            <a:r>
              <a:rPr lang="en-US" sz="1400" dirty="0">
                <a:solidFill>
                  <a:srgbClr val="1F2933"/>
                </a:solidFill>
                <a:latin typeface="Calibri" pitchFamily="34" charset="0"/>
                <a:ea typeface="Calibri" pitchFamily="34" charset="-122"/>
                <a:cs typeface="Calibri" pitchFamily="34" charset="-120"/>
              </a:rPr>
              <a:t>empieza por Standard y justifica Enterprise con una función concreta. Developer para pruebas, nunca para producción.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LICENCIAMIENTO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Modelos de licencia: Core vs Server + CAL</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16</a:t>
            </a:r>
            <a:endParaRPr lang="en-US" sz="1000" dirty="0"/>
          </a:p>
        </p:txBody>
      </p:sp>
      <p:sp>
        <p:nvSpPr>
          <p:cNvPr id="7" name="Shape 4"/>
          <p:cNvSpPr/>
          <p:nvPr/>
        </p:nvSpPr>
        <p:spPr>
          <a:xfrm>
            <a:off x="548640" y="1600200"/>
            <a:ext cx="5410048" cy="2651760"/>
          </a:xfrm>
          <a:prstGeom prst="roundRect">
            <a:avLst>
              <a:gd name="adj" fmla="val 413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Per Core (por núcleo)</a:t>
            </a:r>
            <a:endParaRPr lang="en-US" sz="1700" dirty="0"/>
          </a:p>
        </p:txBody>
      </p:sp>
      <p:sp>
        <p:nvSpPr>
          <p:cNvPr id="11" name="Text 7"/>
          <p:cNvSpPr/>
          <p:nvPr/>
        </p:nvSpPr>
        <p:spPr>
          <a:xfrm>
            <a:off x="777240" y="2560320"/>
            <a:ext cx="4952848" cy="1463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Standard y Enterprise</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Usuarios y dispositivos ilimitados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Mínimo 4 núcleos por procesador y VM</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Paquetes de 2 núcleos</a:t>
            </a:r>
            <a:endParaRPr lang="en-US" sz="1400" dirty="0"/>
          </a:p>
        </p:txBody>
      </p:sp>
      <p:sp>
        <p:nvSpPr>
          <p:cNvPr id="12" name="Shape 8"/>
          <p:cNvSpPr/>
          <p:nvPr/>
        </p:nvSpPr>
        <p:spPr>
          <a:xfrm>
            <a:off x="6233008" y="1600200"/>
            <a:ext cx="5410048" cy="2651760"/>
          </a:xfrm>
          <a:prstGeom prst="roundRect">
            <a:avLst>
              <a:gd name="adj" fmla="val 4138"/>
            </a:avLst>
          </a:prstGeom>
          <a:solidFill>
            <a:srgbClr val="E8EEF5"/>
          </a:solidFill>
          <a:ln/>
        </p:spPr>
      </p:sp>
      <p:sp>
        <p:nvSpPr>
          <p:cNvPr id="13" name="Shape 9"/>
          <p:cNvSpPr/>
          <p:nvPr/>
        </p:nvSpPr>
        <p:spPr>
          <a:xfrm>
            <a:off x="646160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6598768" y="1965960"/>
            <a:ext cx="274320" cy="274320"/>
          </a:xfrm>
          <a:prstGeom prst="rect">
            <a:avLst/>
          </a:prstGeom>
        </p:spPr>
      </p:pic>
      <p:sp>
        <p:nvSpPr>
          <p:cNvPr id="15" name="Text 10"/>
          <p:cNvSpPr/>
          <p:nvPr/>
        </p:nvSpPr>
        <p:spPr>
          <a:xfrm>
            <a:off x="7147408" y="182880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Server + CAL</a:t>
            </a:r>
            <a:endParaRPr lang="en-US" sz="1700" dirty="0"/>
          </a:p>
        </p:txBody>
      </p:sp>
      <p:sp>
        <p:nvSpPr>
          <p:cNvPr id="16" name="Text 11"/>
          <p:cNvSpPr/>
          <p:nvPr/>
        </p:nvSpPr>
        <p:spPr>
          <a:xfrm>
            <a:off x="6461608" y="2560320"/>
            <a:ext cx="4952848" cy="1463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Sólo Standard</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Licencia de servidor + CAL por usuario o dispositivo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Conviene con pocos usuarios identificados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No válido para acceso masivo desde internet</a:t>
            </a:r>
            <a:endParaRPr lang="en-US" sz="1400" dirty="0"/>
          </a:p>
        </p:txBody>
      </p:sp>
      <p:sp>
        <p:nvSpPr>
          <p:cNvPr id="17" name="Shape 12"/>
          <p:cNvSpPr/>
          <p:nvPr/>
        </p:nvSpPr>
        <p:spPr>
          <a:xfrm>
            <a:off x="548640" y="4526280"/>
            <a:ext cx="3515258" cy="1645920"/>
          </a:xfrm>
          <a:prstGeom prst="roundRect">
            <a:avLst>
              <a:gd name="adj" fmla="val 6667"/>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Text 13"/>
          <p:cNvSpPr/>
          <p:nvPr/>
        </p:nvSpPr>
        <p:spPr>
          <a:xfrm>
            <a:off x="731520" y="4663440"/>
            <a:ext cx="3149498" cy="82296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4</a:t>
            </a:r>
            <a:endParaRPr lang="en-US" sz="4000" dirty="0"/>
          </a:p>
        </p:txBody>
      </p:sp>
      <p:sp>
        <p:nvSpPr>
          <p:cNvPr id="19" name="Text 14"/>
          <p:cNvSpPr/>
          <p:nvPr/>
        </p:nvSpPr>
        <p:spPr>
          <a:xfrm>
            <a:off x="731520" y="5431536"/>
            <a:ext cx="3149498" cy="658368"/>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núcleos mínimos por procesador</a:t>
            </a:r>
            <a:endParaRPr lang="en-US" sz="1300" dirty="0"/>
          </a:p>
        </p:txBody>
      </p:sp>
      <p:sp>
        <p:nvSpPr>
          <p:cNvPr id="20" name="Shape 15"/>
          <p:cNvSpPr/>
          <p:nvPr/>
        </p:nvSpPr>
        <p:spPr>
          <a:xfrm>
            <a:off x="4338218" y="4526280"/>
            <a:ext cx="3515258" cy="1645920"/>
          </a:xfrm>
          <a:prstGeom prst="roundRect">
            <a:avLst>
              <a:gd name="adj" fmla="val 6667"/>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1" name="Text 16"/>
          <p:cNvSpPr/>
          <p:nvPr/>
        </p:nvSpPr>
        <p:spPr>
          <a:xfrm>
            <a:off x="4521098" y="4663440"/>
            <a:ext cx="3149498" cy="82296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2</a:t>
            </a:r>
            <a:endParaRPr lang="en-US" sz="4000" dirty="0"/>
          </a:p>
        </p:txBody>
      </p:sp>
      <p:sp>
        <p:nvSpPr>
          <p:cNvPr id="22" name="Text 17"/>
          <p:cNvSpPr/>
          <p:nvPr/>
        </p:nvSpPr>
        <p:spPr>
          <a:xfrm>
            <a:off x="4521098" y="5431536"/>
            <a:ext cx="3149498" cy="658368"/>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núcleos por paquete de licencia</a:t>
            </a:r>
            <a:endParaRPr lang="en-US" sz="1300" dirty="0"/>
          </a:p>
        </p:txBody>
      </p:sp>
      <p:sp>
        <p:nvSpPr>
          <p:cNvPr id="23" name="Shape 18"/>
          <p:cNvSpPr/>
          <p:nvPr/>
        </p:nvSpPr>
        <p:spPr>
          <a:xfrm>
            <a:off x="8127797" y="4526280"/>
            <a:ext cx="3515258" cy="1645920"/>
          </a:xfrm>
          <a:prstGeom prst="roundRect">
            <a:avLst>
              <a:gd name="adj" fmla="val 6667"/>
            </a:avLst>
          </a:prstGeom>
          <a:solidFill>
            <a:srgbClr val="0B2545"/>
          </a:solidFill>
          <a:ln/>
        </p:spPr>
      </p:sp>
      <p:sp>
        <p:nvSpPr>
          <p:cNvPr id="24" name="Text 19"/>
          <p:cNvSpPr/>
          <p:nvPr/>
        </p:nvSpPr>
        <p:spPr>
          <a:xfrm>
            <a:off x="8310677" y="4663440"/>
            <a:ext cx="3149498"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SA</a:t>
            </a:r>
            <a:endParaRPr lang="en-US" sz="4000" dirty="0"/>
          </a:p>
        </p:txBody>
      </p:sp>
      <p:sp>
        <p:nvSpPr>
          <p:cNvPr id="25" name="Text 20"/>
          <p:cNvSpPr/>
          <p:nvPr/>
        </p:nvSpPr>
        <p:spPr>
          <a:xfrm>
            <a:off x="8310677" y="5431536"/>
            <a:ext cx="3149498" cy="658368"/>
          </a:xfrm>
          <a:prstGeom prst="rect">
            <a:avLst/>
          </a:prstGeom>
          <a:noFill/>
          <a:ln/>
        </p:spPr>
        <p:txBody>
          <a:bodyPr wrap="square" lIns="0" tIns="0" rIns="0" bIns="0" rtlCol="0" anchor="t"/>
          <a:lstStyle/>
          <a:p>
            <a:pPr algn="ctr" indent="0" marL="0">
              <a:buNone/>
            </a:pPr>
            <a:r>
              <a:rPr lang="en-US" sz="1300" dirty="0">
                <a:solidFill>
                  <a:srgbClr val="DCE6F2"/>
                </a:solidFill>
                <a:latin typeface="Calibri" pitchFamily="34" charset="0"/>
                <a:ea typeface="Calibri" pitchFamily="34" charset="-122"/>
                <a:cs typeface="Calibri" pitchFamily="34" charset="-120"/>
              </a:rPr>
              <a:t>Software Assurance: derechos de failover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HERRAMIENTAS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Herramientas de administración</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17</a:t>
            </a:r>
            <a:endParaRPr lang="en-US" sz="1000" dirty="0"/>
          </a:p>
        </p:txBody>
      </p:sp>
      <p:sp>
        <p:nvSpPr>
          <p:cNvPr id="7" name="Shape 4"/>
          <p:cNvSpPr/>
          <p:nvPr/>
        </p:nvSpPr>
        <p:spPr>
          <a:xfrm>
            <a:off x="548640" y="1600200"/>
            <a:ext cx="541004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SSMS</a:t>
            </a:r>
            <a:endParaRPr lang="en-US" sz="1700" dirty="0"/>
          </a:p>
        </p:txBody>
      </p:sp>
      <p:sp>
        <p:nvSpPr>
          <p:cNvPr id="11" name="Text 7"/>
          <p:cNvSpPr/>
          <p:nvPr/>
        </p:nvSpPr>
        <p:spPr>
          <a:xfrm>
            <a:off x="777240" y="2560320"/>
            <a:ext cx="495284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Referencia en Windows: objetos, planes gráficos, Agent, asistentes de backup/restore.</a:t>
            </a:r>
            <a:endParaRPr lang="en-US" sz="1400" dirty="0"/>
          </a:p>
        </p:txBody>
      </p:sp>
      <p:sp>
        <p:nvSpPr>
          <p:cNvPr id="12" name="Shape 8"/>
          <p:cNvSpPr/>
          <p:nvPr/>
        </p:nvSpPr>
        <p:spPr>
          <a:xfrm>
            <a:off x="6233008" y="1600200"/>
            <a:ext cx="541004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646160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6598768" y="1965960"/>
            <a:ext cx="274320" cy="274320"/>
          </a:xfrm>
          <a:prstGeom prst="rect">
            <a:avLst/>
          </a:prstGeom>
        </p:spPr>
      </p:pic>
      <p:sp>
        <p:nvSpPr>
          <p:cNvPr id="15" name="Text 10"/>
          <p:cNvSpPr/>
          <p:nvPr/>
        </p:nvSpPr>
        <p:spPr>
          <a:xfrm>
            <a:off x="7147408" y="182880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VS Code + extensión MSSQL</a:t>
            </a:r>
            <a:endParaRPr lang="en-US" sz="1700" dirty="0"/>
          </a:p>
        </p:txBody>
      </p:sp>
      <p:sp>
        <p:nvSpPr>
          <p:cNvPr id="16" name="Text 11"/>
          <p:cNvSpPr/>
          <p:nvPr/>
        </p:nvSpPr>
        <p:spPr>
          <a:xfrm>
            <a:off x="6461608" y="2560320"/>
            <a:ext cx="495284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Multiplataforma, notebooks y Git. Sustituye a Azure Data Studio.</a:t>
            </a:r>
            <a:endParaRPr lang="en-US" sz="1400" dirty="0"/>
          </a:p>
        </p:txBody>
      </p:sp>
      <p:sp>
        <p:nvSpPr>
          <p:cNvPr id="17" name="Shape 12"/>
          <p:cNvSpPr/>
          <p:nvPr/>
        </p:nvSpPr>
        <p:spPr>
          <a:xfrm>
            <a:off x="548640" y="4023360"/>
            <a:ext cx="541004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777240" y="425196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914400" y="4389120"/>
            <a:ext cx="274320" cy="274320"/>
          </a:xfrm>
          <a:prstGeom prst="rect">
            <a:avLst/>
          </a:prstGeom>
        </p:spPr>
      </p:pic>
      <p:sp>
        <p:nvSpPr>
          <p:cNvPr id="20" name="Text 14"/>
          <p:cNvSpPr/>
          <p:nvPr/>
        </p:nvSpPr>
        <p:spPr>
          <a:xfrm>
            <a:off x="1463040" y="425196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sqlcmd</a:t>
            </a:r>
            <a:endParaRPr lang="en-US" sz="1700" dirty="0"/>
          </a:p>
        </p:txBody>
      </p:sp>
      <p:sp>
        <p:nvSpPr>
          <p:cNvPr id="21" name="Text 15"/>
          <p:cNvSpPr/>
          <p:nvPr/>
        </p:nvSpPr>
        <p:spPr>
          <a:xfrm>
            <a:off x="777240" y="4983480"/>
            <a:ext cx="495284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Línea de comandos para scripts, CI y automatización.</a:t>
            </a:r>
            <a:endParaRPr lang="en-US" sz="1400" dirty="0"/>
          </a:p>
        </p:txBody>
      </p:sp>
      <p:sp>
        <p:nvSpPr>
          <p:cNvPr id="22" name="Shape 16"/>
          <p:cNvSpPr/>
          <p:nvPr/>
        </p:nvSpPr>
        <p:spPr>
          <a:xfrm>
            <a:off x="6233008" y="4023360"/>
            <a:ext cx="541004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Shape 17"/>
          <p:cNvSpPr/>
          <p:nvPr/>
        </p:nvSpPr>
        <p:spPr>
          <a:xfrm>
            <a:off x="6461608" y="4251960"/>
            <a:ext cx="548640" cy="54864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6598768" y="4389120"/>
            <a:ext cx="274320" cy="274320"/>
          </a:xfrm>
          <a:prstGeom prst="rect">
            <a:avLst/>
          </a:prstGeom>
        </p:spPr>
      </p:pic>
      <p:sp>
        <p:nvSpPr>
          <p:cNvPr id="25" name="Text 18"/>
          <p:cNvSpPr/>
          <p:nvPr/>
        </p:nvSpPr>
        <p:spPr>
          <a:xfrm>
            <a:off x="7147408" y="4251960"/>
            <a:ext cx="426704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Extended Events</a:t>
            </a:r>
            <a:endParaRPr lang="en-US" sz="1700" dirty="0"/>
          </a:p>
        </p:txBody>
      </p:sp>
      <p:sp>
        <p:nvSpPr>
          <p:cNvPr id="26" name="Text 19"/>
          <p:cNvSpPr/>
          <p:nvPr/>
        </p:nvSpPr>
        <p:spPr>
          <a:xfrm>
            <a:off x="6461608" y="4983480"/>
            <a:ext cx="495284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Trazas ligeras. Sustituyen a SQL Server Profiler (obsoleto).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HERRAMIENTAS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sqlcmd y Extended Events básicos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18</a:t>
            </a:r>
            <a:endParaRPr lang="en-US" sz="1000" dirty="0"/>
          </a:p>
        </p:txBody>
      </p:sp>
      <p:sp>
        <p:nvSpPr>
          <p:cNvPr id="7" name="Shape 4"/>
          <p:cNvSpPr/>
          <p:nvPr/>
        </p:nvSpPr>
        <p:spPr>
          <a:xfrm>
            <a:off x="548640" y="1600200"/>
            <a:ext cx="4937760" cy="2194560"/>
          </a:xfrm>
          <a:prstGeom prst="roundRect">
            <a:avLst>
              <a:gd name="adj" fmla="val 4167"/>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BASH · SQLCMD</a:t>
            </a:r>
            <a:endParaRPr lang="en-US" sz="1000" dirty="0"/>
          </a:p>
        </p:txBody>
      </p:sp>
      <p:sp>
        <p:nvSpPr>
          <p:cNvPr id="9" name="Text 6"/>
          <p:cNvSpPr/>
          <p:nvPr/>
        </p:nvSpPr>
        <p:spPr>
          <a:xfrm>
            <a:off x="731520" y="1965960"/>
            <a:ext cx="4572000" cy="1737360"/>
          </a:xfrm>
          <a:prstGeom prst="rect">
            <a:avLst/>
          </a:prstGeom>
          <a:noFill/>
          <a:ln/>
        </p:spPr>
        <p:txBody>
          <a:bodyPr wrap="none" lIns="0" tIns="0" rIns="0" bIns="0" rtlCol="0" anchor="t"/>
          <a:lstStyle/>
          <a:p>
            <a:pPr indent="0" marL="0">
              <a:buNone/>
            </a:pPr>
            <a:r>
              <a:rPr lang="en-US" sz="1200" dirty="0">
                <a:solidFill>
                  <a:srgbClr val="1F2933"/>
                </a:solidFill>
                <a:latin typeface="Consolas" pitchFamily="34" charset="0"/>
                <a:ea typeface="Consolas" pitchFamily="34" charset="-122"/>
                <a:cs typeface="Consolas" pitchFamily="34" charset="-120"/>
              </a:rPr>
              <a:t>sqlcmd -S localhost,</a:t>
            </a:r>
            <a:r>
              <a:rPr lang="en-US" sz="1200" dirty="0">
                <a:solidFill>
                  <a:srgbClr val="9A3412"/>
                </a:solidFill>
                <a:latin typeface="Consolas" pitchFamily="34" charset="0"/>
                <a:ea typeface="Consolas" pitchFamily="34" charset="-122"/>
                <a:cs typeface="Consolas" pitchFamily="34" charset="-120"/>
              </a:rPr>
              <a:t>1433</a:t>
            </a:r>
            <a:r>
              <a:rPr lang="en-US" sz="1200" dirty="0">
                <a:solidFill>
                  <a:srgbClr val="1F2933"/>
                </a:solidFill>
                <a:latin typeface="Consolas" pitchFamily="34" charset="0"/>
                <a:ea typeface="Consolas" pitchFamily="34" charset="-122"/>
                <a:cs typeface="Consolas" pitchFamily="34" charset="-120"/>
              </a:rPr>
              <a:t> -U sa -C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-P "Curso#SQL2022!"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-Q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0F766E"/>
                </a:solidFill>
                <a:latin typeface="Consolas" pitchFamily="34" charset="0"/>
                <a:ea typeface="Consolas" pitchFamily="34" charset="-122"/>
                <a:cs typeface="Consolas" pitchFamily="34" charset="-120"/>
              </a:rPr>
              <a:t>@@VERSION</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sqlcmd -S .\SQLEXPRESS -E -b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-i script.sql -o salida.txt</a:t>
            </a:r>
            <a:endParaRPr lang="en-US" sz="1200" dirty="0"/>
          </a:p>
        </p:txBody>
      </p:sp>
      <p:sp>
        <p:nvSpPr>
          <p:cNvPr id="10" name="Shape 7"/>
          <p:cNvSpPr/>
          <p:nvPr/>
        </p:nvSpPr>
        <p:spPr>
          <a:xfrm>
            <a:off x="5760720" y="1600200"/>
            <a:ext cx="5879592" cy="3566160"/>
          </a:xfrm>
          <a:prstGeom prst="roundRect">
            <a:avLst>
              <a:gd name="adj" fmla="val 2564"/>
            </a:avLst>
          </a:prstGeom>
          <a:solidFill>
            <a:srgbClr val="ECEFF3"/>
          </a:solidFill>
          <a:ln w="9525">
            <a:solidFill>
              <a:srgbClr val="D0D7DE"/>
            </a:solidFill>
            <a:prstDash val="solid"/>
          </a:ln>
        </p:spPr>
      </p:sp>
      <p:sp>
        <p:nvSpPr>
          <p:cNvPr id="11" name="Text 8"/>
          <p:cNvSpPr/>
          <p:nvPr/>
        </p:nvSpPr>
        <p:spPr>
          <a:xfrm>
            <a:off x="594360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EXTENDED EVENTS</a:t>
            </a:r>
            <a:endParaRPr lang="en-US" sz="1000" dirty="0"/>
          </a:p>
        </p:txBody>
      </p:sp>
      <p:sp>
        <p:nvSpPr>
          <p:cNvPr id="12" name="Text 9"/>
          <p:cNvSpPr/>
          <p:nvPr/>
        </p:nvSpPr>
        <p:spPr>
          <a:xfrm>
            <a:off x="5943600" y="1965960"/>
            <a:ext cx="5513832" cy="310896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EVENT SESSION [lentas]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SERVER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ADD</a:t>
            </a:r>
            <a:r>
              <a:rPr lang="en-US" sz="1200" dirty="0">
                <a:solidFill>
                  <a:srgbClr val="1F2933"/>
                </a:solidFill>
                <a:latin typeface="Consolas" pitchFamily="34" charset="0"/>
                <a:ea typeface="Consolas" pitchFamily="34" charset="-122"/>
                <a:cs typeface="Consolas" pitchFamily="34" charset="-120"/>
              </a:rPr>
              <a:t> EVENT sqlserver.sql_statement_completed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duration &gt; </a:t>
            </a:r>
            <a:r>
              <a:rPr lang="en-US" sz="1200" dirty="0">
                <a:solidFill>
                  <a:srgbClr val="9A3412"/>
                </a:solidFill>
                <a:latin typeface="Consolas" pitchFamily="34" charset="0"/>
                <a:ea typeface="Consolas" pitchFamily="34" charset="-122"/>
                <a:cs typeface="Consolas" pitchFamily="34" charset="-120"/>
              </a:rPr>
              <a:t>1000000</a:t>
            </a:r>
            <a:r>
              <a:rPr lang="en-US" sz="1200" dirty="0">
                <a:solidFill>
                  <a:srgbClr val="1F2933"/>
                </a:solidFill>
                <a:latin typeface="Consolas" pitchFamily="34" charset="0"/>
                <a:ea typeface="Consolas" pitchFamily="34" charset="-122"/>
                <a:cs typeface="Consolas" pitchFamily="34" charset="-120"/>
              </a:rPr>
              <a:t>)   </a:t>
            </a:r>
            <a:r>
              <a:rPr lang="en-US" sz="1200" i="1" dirty="0">
                <a:solidFill>
                  <a:srgbClr val="6B7280"/>
                </a:solidFill>
                <a:latin typeface="Consolas" pitchFamily="34" charset="0"/>
                <a:ea typeface="Consolas" pitchFamily="34" charset="-122"/>
                <a:cs typeface="Consolas" pitchFamily="34" charset="-120"/>
              </a:rPr>
              <a:t>-- &gt; 1 s (µs)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ADD</a:t>
            </a:r>
            <a:r>
              <a:rPr lang="en-US" sz="1200" dirty="0">
                <a:solidFill>
                  <a:srgbClr val="1F2933"/>
                </a:solidFill>
                <a:latin typeface="Consolas" pitchFamily="34" charset="0"/>
                <a:ea typeface="Consolas" pitchFamily="34" charset="-122"/>
                <a:cs typeface="Consolas" pitchFamily="34" charset="-120"/>
              </a:rPr>
              <a:t> TARGET package0.event_file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SET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filename</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N'lentas.xel'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(STARTUP_STATE = </a:t>
            </a:r>
            <a:r>
              <a:rPr lang="en-US" sz="1200" b="1" dirty="0">
                <a:solidFill>
                  <a:srgbClr val="1D4ED8"/>
                </a:solidFill>
                <a:latin typeface="Consolas" pitchFamily="34" charset="0"/>
                <a:ea typeface="Consolas" pitchFamily="34" charset="-122"/>
                <a:cs typeface="Consolas" pitchFamily="34" charset="-120"/>
              </a:rPr>
              <a:t>OFF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EVENT SESSION [lentas]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SERVER</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STATE = START;</a:t>
            </a:r>
            <a:endParaRPr lang="en-US" sz="1200" dirty="0"/>
          </a:p>
        </p:txBody>
      </p:sp>
      <p:sp>
        <p:nvSpPr>
          <p:cNvPr id="13" name="Shape 10"/>
          <p:cNvSpPr/>
          <p:nvPr/>
        </p:nvSpPr>
        <p:spPr>
          <a:xfrm>
            <a:off x="548640" y="4069080"/>
            <a:ext cx="4937760" cy="2103120"/>
          </a:xfrm>
          <a:prstGeom prst="roundRect">
            <a:avLst>
              <a:gd name="adj" fmla="val 5217"/>
            </a:avLst>
          </a:prstGeom>
          <a:solidFill>
            <a:srgbClr val="E8EEF5"/>
          </a:solidFill>
          <a:ln/>
        </p:spPr>
      </p:sp>
      <p:sp>
        <p:nvSpPr>
          <p:cNvPr id="14" name="Shape 11"/>
          <p:cNvSpPr/>
          <p:nvPr/>
        </p:nvSpPr>
        <p:spPr>
          <a:xfrm>
            <a:off x="731520" y="4892040"/>
            <a:ext cx="457200" cy="457200"/>
          </a:xfrm>
          <a:prstGeom prst="ellipse">
            <a:avLst/>
          </a:prstGeom>
          <a:solidFill>
            <a:srgbClr val="134074"/>
          </a:solidFill>
          <a:ln/>
        </p:spPr>
      </p:sp>
      <p:pic>
        <p:nvPicPr>
          <p:cNvPr id="15" name="Image 0" descr="preencoded.png">    </p:cNvPr>
          <p:cNvPicPr>
            <a:picLocks noChangeAspect="1"/>
          </p:cNvPicPr>
          <p:nvPr/>
        </p:nvPicPr>
        <p:blipFill>
          <a:blip r:embed="rId1"/>
          <a:stretch>
            <a:fillRect/>
          </a:stretch>
        </p:blipFill>
        <p:spPr>
          <a:xfrm>
            <a:off x="845820" y="5006340"/>
            <a:ext cx="228600" cy="228600"/>
          </a:xfrm>
          <a:prstGeom prst="rect">
            <a:avLst/>
          </a:prstGeom>
        </p:spPr>
      </p:pic>
      <p:sp>
        <p:nvSpPr>
          <p:cNvPr id="16" name="Text 12"/>
          <p:cNvSpPr/>
          <p:nvPr/>
        </p:nvSpPr>
        <p:spPr>
          <a:xfrm>
            <a:off x="1371600" y="4069080"/>
            <a:ext cx="3931920" cy="21031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system_health </a:t>
            </a:r>
            <a:r>
              <a:rPr lang="en-US" sz="1400" dirty="0">
                <a:solidFill>
                  <a:srgbClr val="1F2933"/>
                </a:solidFill>
                <a:latin typeface="Calibri" pitchFamily="34" charset="0"/>
                <a:ea typeface="Calibri" pitchFamily="34" charset="-122"/>
                <a:cs typeface="Calibri" pitchFamily="34" charset="-120"/>
              </a:rPr>
              <a:t>ya está activa por defecto y recoge deadlocks y errores graves. Mírala primero tras un incidente.</a:t>
            </a:r>
            <a:endParaRPr lang="en-US" sz="1400" dirty="0"/>
          </a:p>
        </p:txBody>
      </p:sp>
      <p:sp>
        <p:nvSpPr>
          <p:cNvPr id="17" name="Shape 13"/>
          <p:cNvSpPr/>
          <p:nvPr/>
        </p:nvSpPr>
        <p:spPr>
          <a:xfrm>
            <a:off x="5760720" y="5394960"/>
            <a:ext cx="5879592" cy="777240"/>
          </a:xfrm>
          <a:prstGeom prst="roundRect">
            <a:avLst>
              <a:gd name="adj" fmla="val 14118"/>
            </a:avLst>
          </a:prstGeom>
          <a:solidFill>
            <a:srgbClr val="FDEDE8"/>
          </a:solidFill>
          <a:ln/>
        </p:spPr>
      </p:sp>
      <p:sp>
        <p:nvSpPr>
          <p:cNvPr id="18" name="Shape 14"/>
          <p:cNvSpPr/>
          <p:nvPr/>
        </p:nvSpPr>
        <p:spPr>
          <a:xfrm>
            <a:off x="5943600" y="5554980"/>
            <a:ext cx="457200" cy="457200"/>
          </a:xfrm>
          <a:prstGeom prst="ellipse">
            <a:avLst/>
          </a:prstGeom>
          <a:solidFill>
            <a:srgbClr val="D95D39"/>
          </a:solidFill>
          <a:ln/>
        </p:spPr>
      </p:sp>
      <p:pic>
        <p:nvPicPr>
          <p:cNvPr id="19" name="Image 1" descr="preencoded.png">    </p:cNvPr>
          <p:cNvPicPr>
            <a:picLocks noChangeAspect="1"/>
          </p:cNvPicPr>
          <p:nvPr/>
        </p:nvPicPr>
        <p:blipFill>
          <a:blip r:embed="rId2"/>
          <a:stretch>
            <a:fillRect/>
          </a:stretch>
        </p:blipFill>
        <p:spPr>
          <a:xfrm>
            <a:off x="6057900" y="5669280"/>
            <a:ext cx="228600" cy="228600"/>
          </a:xfrm>
          <a:prstGeom prst="rect">
            <a:avLst/>
          </a:prstGeom>
        </p:spPr>
      </p:pic>
      <p:sp>
        <p:nvSpPr>
          <p:cNvPr id="20" name="Text 15"/>
          <p:cNvSpPr/>
          <p:nvPr/>
        </p:nvSpPr>
        <p:spPr>
          <a:xfrm>
            <a:off x="6583680" y="5394960"/>
            <a:ext cx="4873752" cy="7772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Filtra siempre con predicados para limitar la sobrecarga.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802636"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BASE DE DATOS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 1 (I): BD con ficheros y filegroups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19</a:t>
            </a:r>
            <a:endParaRPr lang="en-US" sz="1000" dirty="0"/>
          </a:p>
        </p:txBody>
      </p:sp>
      <p:sp>
        <p:nvSpPr>
          <p:cNvPr id="7" name="Shape 4"/>
          <p:cNvSpPr/>
          <p:nvPr/>
        </p:nvSpPr>
        <p:spPr>
          <a:xfrm>
            <a:off x="548640" y="1600200"/>
            <a:ext cx="694944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LABORATORIO 1</a:t>
            </a:r>
            <a:endParaRPr lang="en-US" sz="1000" dirty="0"/>
          </a:p>
        </p:txBody>
      </p:sp>
      <p:sp>
        <p:nvSpPr>
          <p:cNvPr id="9" name="Text 6"/>
          <p:cNvSpPr/>
          <p:nvPr/>
        </p:nvSpPr>
        <p:spPr>
          <a:xfrm>
            <a:off x="731520" y="1965960"/>
            <a:ext cx="6583680" cy="41148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PRIMARY</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 Ventas_sys, </a:t>
            </a:r>
            <a:r>
              <a:rPr lang="en-US" sz="1200" b="1" dirty="0">
                <a:solidFill>
                  <a:srgbClr val="1D4ED8"/>
                </a:solidFill>
                <a:latin typeface="Consolas" pitchFamily="34" charset="0"/>
                <a:ea typeface="Consolas" pitchFamily="34" charset="-122"/>
                <a:cs typeface="Consolas" pitchFamily="34" charset="-120"/>
              </a:rPr>
              <a:t>FILENAME</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'/var/opt/mssql/data/Ventas.mdf'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SIZE</a:t>
            </a:r>
            <a:r>
              <a:rPr lang="en-US" sz="1200" dirty="0">
                <a:solidFill>
                  <a:srgbClr val="1F2933"/>
                </a:solidFill>
                <a:latin typeface="Consolas" pitchFamily="34" charset="0"/>
                <a:ea typeface="Consolas" pitchFamily="34" charset="-122"/>
                <a:cs typeface="Consolas" pitchFamily="34" charset="-120"/>
              </a:rPr>
              <a:t> = 64MB,  </a:t>
            </a:r>
            <a:r>
              <a:rPr lang="en-US" sz="1200" b="1" dirty="0">
                <a:solidFill>
                  <a:srgbClr val="1D4ED8"/>
                </a:solidFill>
                <a:latin typeface="Consolas" pitchFamily="34" charset="0"/>
                <a:ea typeface="Consolas" pitchFamily="34" charset="-122"/>
                <a:cs typeface="Consolas" pitchFamily="34" charset="-120"/>
              </a:rPr>
              <a:t>FILEGROWTH</a:t>
            </a:r>
            <a:r>
              <a:rPr lang="en-US" sz="1200" dirty="0">
                <a:solidFill>
                  <a:srgbClr val="1F2933"/>
                </a:solidFill>
                <a:latin typeface="Consolas" pitchFamily="34" charset="0"/>
                <a:ea typeface="Consolas" pitchFamily="34" charset="-122"/>
                <a:cs typeface="Consolas" pitchFamily="34" charset="-120"/>
              </a:rPr>
              <a:t> = 64MB),</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FILEGROUP</a:t>
            </a:r>
            <a:r>
              <a:rPr lang="en-US" sz="1200" dirty="0">
                <a:solidFill>
                  <a:srgbClr val="1F2933"/>
                </a:solidFill>
                <a:latin typeface="Consolas" pitchFamily="34" charset="0"/>
                <a:ea typeface="Consolas" pitchFamily="34" charset="-122"/>
                <a:cs typeface="Consolas" pitchFamily="34" charset="-120"/>
              </a:rPr>
              <a:t> FG_DATOS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 Ventas_d1,  </a:t>
            </a:r>
            <a:r>
              <a:rPr lang="en-US" sz="1200" b="1" dirty="0">
                <a:solidFill>
                  <a:srgbClr val="1D4ED8"/>
                </a:solidFill>
                <a:latin typeface="Consolas" pitchFamily="34" charset="0"/>
                <a:ea typeface="Consolas" pitchFamily="34" charset="-122"/>
                <a:cs typeface="Consolas" pitchFamily="34" charset="-120"/>
              </a:rPr>
              <a:t>FILENAME</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'/var/opt/mssql/data/Ventas_d1.ndf'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SIZE</a:t>
            </a:r>
            <a:r>
              <a:rPr lang="en-US" sz="1200" dirty="0">
                <a:solidFill>
                  <a:srgbClr val="1F2933"/>
                </a:solidFill>
                <a:latin typeface="Consolas" pitchFamily="34" charset="0"/>
                <a:ea typeface="Consolas" pitchFamily="34" charset="-122"/>
                <a:cs typeface="Consolas" pitchFamily="34" charset="-120"/>
              </a:rPr>
              <a:t> = 256MB, </a:t>
            </a:r>
            <a:r>
              <a:rPr lang="en-US" sz="1200" b="1" dirty="0">
                <a:solidFill>
                  <a:srgbClr val="1D4ED8"/>
                </a:solidFill>
                <a:latin typeface="Consolas" pitchFamily="34" charset="0"/>
                <a:ea typeface="Consolas" pitchFamily="34" charset="-122"/>
                <a:cs typeface="Consolas" pitchFamily="34" charset="-120"/>
              </a:rPr>
              <a:t>FILEGROWTH</a:t>
            </a:r>
            <a:r>
              <a:rPr lang="en-US" sz="1200" dirty="0">
                <a:solidFill>
                  <a:srgbClr val="1F2933"/>
                </a:solidFill>
                <a:latin typeface="Consolas" pitchFamily="34" charset="0"/>
                <a:ea typeface="Consolas" pitchFamily="34" charset="-122"/>
                <a:cs typeface="Consolas" pitchFamily="34" charset="-120"/>
              </a:rPr>
              <a:t> = 128MB),</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 Ventas_d2,  </a:t>
            </a:r>
            <a:r>
              <a:rPr lang="en-US" sz="1200" b="1" dirty="0">
                <a:solidFill>
                  <a:srgbClr val="1D4ED8"/>
                </a:solidFill>
                <a:latin typeface="Consolas" pitchFamily="34" charset="0"/>
                <a:ea typeface="Consolas" pitchFamily="34" charset="-122"/>
                <a:cs typeface="Consolas" pitchFamily="34" charset="-120"/>
              </a:rPr>
              <a:t>FILENAME</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'/var/opt/mssql/data/Ventas_d2.ndf'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SIZE</a:t>
            </a:r>
            <a:r>
              <a:rPr lang="en-US" sz="1200" dirty="0">
                <a:solidFill>
                  <a:srgbClr val="1F2933"/>
                </a:solidFill>
                <a:latin typeface="Consolas" pitchFamily="34" charset="0"/>
                <a:ea typeface="Consolas" pitchFamily="34" charset="-122"/>
                <a:cs typeface="Consolas" pitchFamily="34" charset="-120"/>
              </a:rPr>
              <a:t> = 256MB, </a:t>
            </a:r>
            <a:r>
              <a:rPr lang="en-US" sz="1200" b="1" dirty="0">
                <a:solidFill>
                  <a:srgbClr val="1D4ED8"/>
                </a:solidFill>
                <a:latin typeface="Consolas" pitchFamily="34" charset="0"/>
                <a:ea typeface="Consolas" pitchFamily="34" charset="-122"/>
                <a:cs typeface="Consolas" pitchFamily="34" charset="-120"/>
              </a:rPr>
              <a:t>FILEGROWTH</a:t>
            </a:r>
            <a:r>
              <a:rPr lang="en-US" sz="1200" dirty="0">
                <a:solidFill>
                  <a:srgbClr val="1F2933"/>
                </a:solidFill>
                <a:latin typeface="Consolas" pitchFamily="34" charset="0"/>
                <a:ea typeface="Consolas" pitchFamily="34" charset="-122"/>
                <a:cs typeface="Consolas" pitchFamily="34" charset="-120"/>
              </a:rPr>
              <a:t> = 128MB)</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LOG </a:t>
            </a:r>
            <a:r>
              <a:rPr lang="en-US" sz="1200" b="1" dirty="0">
                <a:solidFill>
                  <a:srgbClr val="1D4ED8"/>
                </a:solidFill>
                <a:latin typeface="Consolas" pitchFamily="34" charset="0"/>
                <a:ea typeface="Consolas" pitchFamily="34" charset="-122"/>
                <a:cs typeface="Consolas" pitchFamily="34" charset="-120"/>
              </a:rPr>
              <a:t>ON</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 Ventas_log, </a:t>
            </a:r>
            <a:r>
              <a:rPr lang="en-US" sz="1200" b="1" dirty="0">
                <a:solidFill>
                  <a:srgbClr val="1D4ED8"/>
                </a:solidFill>
                <a:latin typeface="Consolas" pitchFamily="34" charset="0"/>
                <a:ea typeface="Consolas" pitchFamily="34" charset="-122"/>
                <a:cs typeface="Consolas" pitchFamily="34" charset="-120"/>
              </a:rPr>
              <a:t>FILENAME</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'/var/opt/mssql/log/Ventas.ldf'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SIZE</a:t>
            </a:r>
            <a:r>
              <a:rPr lang="en-US" sz="1200" dirty="0">
                <a:solidFill>
                  <a:srgbClr val="1F2933"/>
                </a:solidFill>
                <a:latin typeface="Consolas" pitchFamily="34" charset="0"/>
                <a:ea typeface="Consolas" pitchFamily="34" charset="-122"/>
                <a:cs typeface="Consolas" pitchFamily="34" charset="-120"/>
              </a:rPr>
              <a:t> = 128MB, </a:t>
            </a:r>
            <a:r>
              <a:rPr lang="en-US" sz="1200" b="1" dirty="0">
                <a:solidFill>
                  <a:srgbClr val="1D4ED8"/>
                </a:solidFill>
                <a:latin typeface="Consolas" pitchFamily="34" charset="0"/>
                <a:ea typeface="Consolas" pitchFamily="34" charset="-122"/>
                <a:cs typeface="Consolas" pitchFamily="34" charset="-120"/>
              </a:rPr>
              <a:t>FILEGROWTH</a:t>
            </a:r>
            <a:r>
              <a:rPr lang="en-US" sz="1200" dirty="0">
                <a:solidFill>
                  <a:srgbClr val="1F2933"/>
                </a:solidFill>
                <a:latin typeface="Consolas" pitchFamily="34" charset="0"/>
                <a:ea typeface="Consolas" pitchFamily="34" charset="-122"/>
                <a:cs typeface="Consolas" pitchFamily="34" charset="-120"/>
              </a:rPr>
              <a:t> = 64MB);</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GO</a:t>
            </a:r>
            <a:endParaRPr lang="en-US" sz="1200" dirty="0"/>
          </a:p>
        </p:txBody>
      </p:sp>
      <p:sp>
        <p:nvSpPr>
          <p:cNvPr id="10" name="Shape 7"/>
          <p:cNvSpPr/>
          <p:nvPr/>
        </p:nvSpPr>
        <p:spPr>
          <a:xfrm>
            <a:off x="7818120" y="1600200"/>
            <a:ext cx="3822192" cy="4572000"/>
          </a:xfrm>
          <a:prstGeom prst="roundRect">
            <a:avLst>
              <a:gd name="adj" fmla="val 2871"/>
            </a:avLst>
          </a:prstGeom>
          <a:solidFill>
            <a:srgbClr val="E8EEF5"/>
          </a:solidFill>
          <a:ln/>
        </p:spPr>
      </p:sp>
      <p:sp>
        <p:nvSpPr>
          <p:cNvPr id="11" name="Shape 8"/>
          <p:cNvSpPr/>
          <p:nvPr/>
        </p:nvSpPr>
        <p:spPr>
          <a:xfrm>
            <a:off x="8046720" y="1828800"/>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8183880" y="1965960"/>
            <a:ext cx="274320" cy="274320"/>
          </a:xfrm>
          <a:prstGeom prst="rect">
            <a:avLst/>
          </a:prstGeom>
        </p:spPr>
      </p:pic>
      <p:sp>
        <p:nvSpPr>
          <p:cNvPr id="13" name="Text 9"/>
          <p:cNvSpPr/>
          <p:nvPr/>
        </p:nvSpPr>
        <p:spPr>
          <a:xfrm>
            <a:off x="8732520" y="1828800"/>
            <a:ext cx="267919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Enunciado</a:t>
            </a:r>
            <a:endParaRPr lang="en-US" sz="1700" dirty="0"/>
          </a:p>
        </p:txBody>
      </p:sp>
      <p:sp>
        <p:nvSpPr>
          <p:cNvPr id="14" name="Text 10"/>
          <p:cNvSpPr/>
          <p:nvPr/>
        </p:nvSpPr>
        <p:spPr>
          <a:xfrm>
            <a:off x="8046720" y="2560320"/>
            <a:ext cx="3364992" cy="33832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Crea la BD Ventas con los ficheros indicados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Dos ficheros del mismo tamaño en FG_DATOS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Autogrowth en MB, nunca en %</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Comprueba el resultado en SSMS (Propiedades → Archivos)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802636"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BASE DE DATOS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 1 (II): verificar y hacer crecer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1   20</a:t>
            </a:r>
            <a:endParaRPr lang="en-US" sz="1000" dirty="0"/>
          </a:p>
        </p:txBody>
      </p:sp>
      <p:sp>
        <p:nvSpPr>
          <p:cNvPr id="7" name="Shape 4"/>
          <p:cNvSpPr/>
          <p:nvPr/>
        </p:nvSpPr>
        <p:spPr>
          <a:xfrm>
            <a:off x="548640" y="1600200"/>
            <a:ext cx="6766560" cy="2926080"/>
          </a:xfrm>
          <a:prstGeom prst="roundRect">
            <a:avLst>
              <a:gd name="adj" fmla="val 3125"/>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VERIFICACIÓN</a:t>
            </a:r>
            <a:endParaRPr lang="en-US" sz="1000" dirty="0"/>
          </a:p>
        </p:txBody>
      </p:sp>
      <p:sp>
        <p:nvSpPr>
          <p:cNvPr id="9" name="Text 6"/>
          <p:cNvSpPr/>
          <p:nvPr/>
        </p:nvSpPr>
        <p:spPr>
          <a:xfrm>
            <a:off x="731520" y="1965960"/>
            <a:ext cx="6400800" cy="246888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 MODIFY </a:t>
            </a:r>
            <a:r>
              <a:rPr lang="en-US" sz="1200" b="1" dirty="0">
                <a:solidFill>
                  <a:srgbClr val="1D4ED8"/>
                </a:solidFill>
                <a:latin typeface="Consolas" pitchFamily="34" charset="0"/>
                <a:ea typeface="Consolas" pitchFamily="34" charset="-122"/>
                <a:cs typeface="Consolas" pitchFamily="34" charset="-120"/>
              </a:rPr>
              <a:t>FILEGROUP</a:t>
            </a:r>
            <a:r>
              <a:rPr lang="en-US" sz="1200" dirty="0">
                <a:solidFill>
                  <a:srgbClr val="1F2933"/>
                </a:solidFill>
                <a:latin typeface="Consolas" pitchFamily="34" charset="0"/>
                <a:ea typeface="Consolas" pitchFamily="34" charset="-122"/>
                <a:cs typeface="Consolas" pitchFamily="34" charset="-120"/>
              </a:rPr>
              <a:t> FG_DATOS </a:t>
            </a:r>
            <a:r>
              <a:rPr lang="en-US" sz="1200" b="1" dirty="0">
                <a:solidFill>
                  <a:srgbClr val="1D4ED8"/>
                </a:solidFill>
                <a:latin typeface="Consolas" pitchFamily="34" charset="0"/>
                <a:ea typeface="Consolas" pitchFamily="34" charset="-122"/>
                <a:cs typeface="Consolas" pitchFamily="34" charset="-120"/>
              </a:rPr>
              <a:t>DEFAULT</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physical_name, </a:t>
            </a:r>
            <a:r>
              <a:rPr lang="en-US" sz="1200" b="1" dirty="0">
                <a:solidFill>
                  <a:srgbClr val="1D4ED8"/>
                </a:solidFill>
                <a:latin typeface="Consolas" pitchFamily="34" charset="0"/>
                <a:ea typeface="Consolas" pitchFamily="34" charset="-122"/>
                <a:cs typeface="Consolas" pitchFamily="34" charset="-120"/>
              </a:rPr>
              <a:t>size</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8</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1024</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size_mb,</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growth*</a:t>
            </a:r>
            <a:r>
              <a:rPr lang="en-US" sz="1200" dirty="0">
                <a:solidFill>
                  <a:srgbClr val="9A3412"/>
                </a:solidFill>
                <a:latin typeface="Consolas" pitchFamily="34" charset="0"/>
                <a:ea typeface="Consolas" pitchFamily="34" charset="-122"/>
                <a:cs typeface="Consolas" pitchFamily="34" charset="-120"/>
              </a:rPr>
              <a:t>8</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1024</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growth_mb, is_percent_growth</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Ventas.sys.database_files;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is_default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Ventas.sys.filegroups;</a:t>
            </a:r>
            <a:endParaRPr lang="en-US" sz="1200" dirty="0"/>
          </a:p>
        </p:txBody>
      </p:sp>
      <p:sp>
        <p:nvSpPr>
          <p:cNvPr id="10" name="Shape 7"/>
          <p:cNvSpPr/>
          <p:nvPr/>
        </p:nvSpPr>
        <p:spPr>
          <a:xfrm>
            <a:off x="7589520" y="1600200"/>
            <a:ext cx="1911096" cy="2926080"/>
          </a:xfrm>
          <a:prstGeom prst="roundRect">
            <a:avLst>
              <a:gd name="adj" fmla="val 574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7818120" y="1828800"/>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7955280" y="1965960"/>
            <a:ext cx="274320" cy="274320"/>
          </a:xfrm>
          <a:prstGeom prst="rect">
            <a:avLst/>
          </a:prstGeom>
        </p:spPr>
      </p:pic>
      <p:sp>
        <p:nvSpPr>
          <p:cNvPr id="13" name="Text 9"/>
          <p:cNvSpPr/>
          <p:nvPr/>
        </p:nvSpPr>
        <p:spPr>
          <a:xfrm>
            <a:off x="8503920" y="1828800"/>
            <a:ext cx="768096"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Comprueba</a:t>
            </a:r>
            <a:endParaRPr lang="en-US" sz="1600" dirty="0"/>
          </a:p>
        </p:txBody>
      </p:sp>
      <p:sp>
        <p:nvSpPr>
          <p:cNvPr id="14" name="Text 10"/>
          <p:cNvSpPr/>
          <p:nvPr/>
        </p:nvSpPr>
        <p:spPr>
          <a:xfrm>
            <a:off x="7818120" y="2560320"/>
            <a:ext cx="1453896" cy="17373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Cuatro ficheros, dos filegroups, FG_DATOS predeterminado.</a:t>
            </a:r>
            <a:endParaRPr lang="en-US" sz="1400" dirty="0"/>
          </a:p>
        </p:txBody>
      </p:sp>
      <p:sp>
        <p:nvSpPr>
          <p:cNvPr id="15" name="Shape 11"/>
          <p:cNvSpPr/>
          <p:nvPr/>
        </p:nvSpPr>
        <p:spPr>
          <a:xfrm>
            <a:off x="9729216" y="1600200"/>
            <a:ext cx="1911096" cy="2926080"/>
          </a:xfrm>
          <a:prstGeom prst="roundRect">
            <a:avLst>
              <a:gd name="adj" fmla="val 574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6" name="Shape 12"/>
          <p:cNvSpPr/>
          <p:nvPr/>
        </p:nvSpPr>
        <p:spPr>
          <a:xfrm>
            <a:off x="9957816" y="1828800"/>
            <a:ext cx="548640" cy="548640"/>
          </a:xfrm>
          <a:prstGeom prst="ellipse">
            <a:avLst/>
          </a:prstGeom>
          <a:solidFill>
            <a:srgbClr val="134074"/>
          </a:solidFill>
          <a:ln/>
        </p:spPr>
      </p:sp>
      <p:pic>
        <p:nvPicPr>
          <p:cNvPr id="17" name="Image 1" descr="preencoded.png">    </p:cNvPr>
          <p:cNvPicPr>
            <a:picLocks noChangeAspect="1"/>
          </p:cNvPicPr>
          <p:nvPr/>
        </p:nvPicPr>
        <p:blipFill>
          <a:blip r:embed="rId2"/>
          <a:stretch>
            <a:fillRect/>
          </a:stretch>
        </p:blipFill>
        <p:spPr>
          <a:xfrm>
            <a:off x="10094976" y="1965960"/>
            <a:ext cx="274320" cy="274320"/>
          </a:xfrm>
          <a:prstGeom prst="rect">
            <a:avLst/>
          </a:prstGeom>
        </p:spPr>
      </p:pic>
      <p:sp>
        <p:nvSpPr>
          <p:cNvPr id="18" name="Text 13"/>
          <p:cNvSpPr/>
          <p:nvPr/>
        </p:nvSpPr>
        <p:spPr>
          <a:xfrm>
            <a:off x="10643616" y="1828800"/>
            <a:ext cx="768096"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Vigila</a:t>
            </a:r>
            <a:endParaRPr lang="en-US" sz="1600" dirty="0"/>
          </a:p>
        </p:txBody>
      </p:sp>
      <p:sp>
        <p:nvSpPr>
          <p:cNvPr id="19" name="Text 14"/>
          <p:cNvSpPr/>
          <p:nvPr/>
        </p:nvSpPr>
        <p:spPr>
          <a:xfrm>
            <a:off x="9957816" y="2560320"/>
            <a:ext cx="1453896" cy="17373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is_percent_growth = 0 en todos los ficheros.</a:t>
            </a:r>
            <a:endParaRPr lang="en-US" sz="1400" dirty="0"/>
          </a:p>
        </p:txBody>
      </p:sp>
      <p:sp>
        <p:nvSpPr>
          <p:cNvPr id="20" name="Shape 15"/>
          <p:cNvSpPr/>
          <p:nvPr/>
        </p:nvSpPr>
        <p:spPr>
          <a:xfrm>
            <a:off x="548640" y="4754880"/>
            <a:ext cx="11094415" cy="1371600"/>
          </a:xfrm>
          <a:prstGeom prst="roundRect">
            <a:avLst>
              <a:gd name="adj" fmla="val 8000"/>
            </a:avLst>
          </a:prstGeom>
          <a:solidFill>
            <a:srgbClr val="E8EEF5"/>
          </a:solidFill>
          <a:ln/>
        </p:spPr>
      </p:sp>
      <p:sp>
        <p:nvSpPr>
          <p:cNvPr id="21" name="Shape 16"/>
          <p:cNvSpPr/>
          <p:nvPr/>
        </p:nvSpPr>
        <p:spPr>
          <a:xfrm>
            <a:off x="731520" y="5212080"/>
            <a:ext cx="457200" cy="457200"/>
          </a:xfrm>
          <a:prstGeom prst="ellipse">
            <a:avLst/>
          </a:prstGeom>
          <a:solidFill>
            <a:srgbClr val="134074"/>
          </a:solidFill>
          <a:ln/>
        </p:spPr>
      </p:sp>
      <p:pic>
        <p:nvPicPr>
          <p:cNvPr id="22" name="Image 2" descr="preencoded.png">    </p:cNvPr>
          <p:cNvPicPr>
            <a:picLocks noChangeAspect="1"/>
          </p:cNvPicPr>
          <p:nvPr/>
        </p:nvPicPr>
        <p:blipFill>
          <a:blip r:embed="rId3"/>
          <a:stretch>
            <a:fillRect/>
          </a:stretch>
        </p:blipFill>
        <p:spPr>
          <a:xfrm>
            <a:off x="845820" y="5326380"/>
            <a:ext cx="228600" cy="228600"/>
          </a:xfrm>
          <a:prstGeom prst="rect">
            <a:avLst/>
          </a:prstGeom>
        </p:spPr>
      </p:pic>
      <p:sp>
        <p:nvSpPr>
          <p:cNvPr id="23" name="Text 17"/>
          <p:cNvSpPr/>
          <p:nvPr/>
        </p:nvSpPr>
        <p:spPr>
          <a:xfrm>
            <a:off x="1371600" y="4754880"/>
            <a:ext cx="10088575" cy="13716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Cierre del módulo: </a:t>
            </a:r>
            <a:r>
              <a:rPr lang="en-US" sz="1400" dirty="0">
                <a:solidFill>
                  <a:srgbClr val="1F2933"/>
                </a:solidFill>
                <a:latin typeface="Calibri" pitchFamily="34" charset="0"/>
                <a:ea typeface="Calibri" pitchFamily="34" charset="-122"/>
                <a:cs typeface="Calibri" pitchFamily="34" charset="-120"/>
              </a:rPr>
              <a:t>Buffer Pool, páginas y extensiones, Transaction Log (WAL) y tempdb explican la mayoría de incidencias que veremos en los módulos siguientes.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1528"/>
        </a:solidFill>
      </p:bgPr>
    </p:bg>
    <p:spTree>
      <p:nvGrpSpPr>
        <p:cNvPr id="1" name=""/>
        <p:cNvGrpSpPr/>
        <p:nvPr/>
      </p:nvGrpSpPr>
      <p:grpSpPr>
        <a:xfrm>
          <a:off x="0" y="0"/>
          <a:ext cx="0" cy="0"/>
          <a:chOff x="0" y="0"/>
          <a:chExt cx="0" cy="0"/>
        </a:xfrm>
      </p:grpSpPr>
      <p:sp>
        <p:nvSpPr>
          <p:cNvPr id="2" name="Text 0"/>
          <p:cNvSpPr/>
          <p:nvPr/>
        </p:nvSpPr>
        <p:spPr>
          <a:xfrm>
            <a:off x="731520" y="822960"/>
            <a:ext cx="5029200" cy="1828800"/>
          </a:xfrm>
          <a:prstGeom prst="rect">
            <a:avLst/>
          </a:prstGeom>
          <a:noFill/>
          <a:ln/>
        </p:spPr>
        <p:txBody>
          <a:bodyPr wrap="square" lIns="0" tIns="0" rIns="0" bIns="0" rtlCol="0" anchor="t"/>
          <a:lstStyle/>
          <a:p>
            <a:pPr indent="0" marL="0">
              <a:buNone/>
            </a:pPr>
            <a:r>
              <a:rPr lang="en-US" sz="12000" b="1" dirty="0">
                <a:solidFill>
                  <a:srgbClr val="1E5AA8"/>
                </a:solidFill>
                <a:latin typeface="Calibri" pitchFamily="34" charset="0"/>
                <a:ea typeface="Calibri" pitchFamily="34" charset="-122"/>
                <a:cs typeface="Calibri" pitchFamily="34" charset="-120"/>
              </a:rPr>
              <a:t>02</a:t>
            </a:r>
            <a:endParaRPr lang="en-US" sz="12000" dirty="0"/>
          </a:p>
        </p:txBody>
      </p:sp>
      <p:sp>
        <p:nvSpPr>
          <p:cNvPr id="3" name="Text 1"/>
          <p:cNvSpPr/>
          <p:nvPr/>
        </p:nvSpPr>
        <p:spPr>
          <a:xfrm>
            <a:off x="731520" y="2880360"/>
            <a:ext cx="2651760" cy="329184"/>
          </a:xfrm>
          <a:prstGeom prst="roundRect">
            <a:avLst>
              <a:gd name="adj" fmla="val 50000"/>
            </a:avLst>
          </a:prstGeom>
          <a:solidFill>
            <a:srgbClr val="D95D39"/>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MÓDULO 2 · ~7 h</a:t>
            </a:r>
            <a:endParaRPr lang="en-US" sz="1100" dirty="0"/>
          </a:p>
        </p:txBody>
      </p:sp>
      <p:sp>
        <p:nvSpPr>
          <p:cNvPr id="4" name="Text 2"/>
          <p:cNvSpPr/>
          <p:nvPr/>
        </p:nvSpPr>
        <p:spPr>
          <a:xfrm>
            <a:off x="731520" y="3383280"/>
            <a:ext cx="5394960" cy="15544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Gestión y Seguridad</a:t>
            </a:r>
            <a:endParaRPr lang="en-US" sz="3800" dirty="0"/>
          </a:p>
        </p:txBody>
      </p:sp>
      <p:sp>
        <p:nvSpPr>
          <p:cNvPr id="5" name="Text 3"/>
          <p:cNvSpPr/>
          <p:nvPr/>
        </p:nvSpPr>
        <p:spPr>
          <a:xfrm>
            <a:off x="731520" y="4983480"/>
            <a:ext cx="5394960" cy="822960"/>
          </a:xfrm>
          <a:prstGeom prst="rect">
            <a:avLst/>
          </a:prstGeom>
          <a:noFill/>
          <a:ln/>
        </p:spPr>
        <p:txBody>
          <a:bodyPr wrap="square" lIns="0" tIns="0" rIns="0" bIns="0" rtlCol="0" anchor="t"/>
          <a:lstStyle/>
          <a:p>
            <a:pPr indent="0" marL="0">
              <a:buNone/>
            </a:pPr>
            <a:r>
              <a:rPr lang="en-US" sz="1600" dirty="0">
                <a:solidFill>
                  <a:srgbClr val="8DA9C4"/>
                </a:solidFill>
                <a:latin typeface="Calibri" pitchFamily="34" charset="0"/>
                <a:ea typeface="Calibri" pitchFamily="34" charset="-122"/>
                <a:cs typeface="Calibri" pitchFamily="34" charset="-120"/>
              </a:rPr>
              <a:t>DDL, DML y modelo de seguridad de SQL Server</a:t>
            </a:r>
            <a:endParaRPr lang="en-US" sz="1600" dirty="0"/>
          </a:p>
        </p:txBody>
      </p:sp>
      <p:sp>
        <p:nvSpPr>
          <p:cNvPr id="6" name="Shape 4"/>
          <p:cNvSpPr/>
          <p:nvPr/>
        </p:nvSpPr>
        <p:spPr>
          <a:xfrm>
            <a:off x="6675120" y="1051560"/>
            <a:ext cx="4937760" cy="667512"/>
          </a:xfrm>
          <a:prstGeom prst="roundRect">
            <a:avLst>
              <a:gd name="adj" fmla="val 13699"/>
            </a:avLst>
          </a:prstGeom>
          <a:solidFill>
            <a:srgbClr val="FFFFFF">
              <a:alpha val="8000"/>
            </a:srgbClr>
          </a:solidFill>
          <a:ln/>
        </p:spPr>
      </p:sp>
      <p:sp>
        <p:nvSpPr>
          <p:cNvPr id="7" name="Shape 5"/>
          <p:cNvSpPr/>
          <p:nvPr/>
        </p:nvSpPr>
        <p:spPr>
          <a:xfrm>
            <a:off x="6812280" y="1165860"/>
            <a:ext cx="457200" cy="457200"/>
          </a:xfrm>
          <a:prstGeom prst="ellipse">
            <a:avLst/>
          </a:prstGeom>
          <a:solidFill>
            <a:srgbClr val="D95D39"/>
          </a:solidFill>
          <a:ln/>
        </p:spPr>
      </p:sp>
      <p:pic>
        <p:nvPicPr>
          <p:cNvPr id="8" name="Image 0" descr="preencoded.png">    </p:cNvPr>
          <p:cNvPicPr>
            <a:picLocks noChangeAspect="1"/>
          </p:cNvPicPr>
          <p:nvPr/>
        </p:nvPicPr>
        <p:blipFill>
          <a:blip r:embed="rId1"/>
          <a:stretch>
            <a:fillRect/>
          </a:stretch>
        </p:blipFill>
        <p:spPr>
          <a:xfrm>
            <a:off x="6926580" y="1280160"/>
            <a:ext cx="228600" cy="228600"/>
          </a:xfrm>
          <a:prstGeom prst="rect">
            <a:avLst/>
          </a:prstGeom>
        </p:spPr>
      </p:pic>
      <p:sp>
        <p:nvSpPr>
          <p:cNvPr id="9" name="Text 6"/>
          <p:cNvSpPr/>
          <p:nvPr/>
        </p:nvSpPr>
        <p:spPr>
          <a:xfrm>
            <a:off x="7452360" y="10515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Tablas, restricciones y vistas</a:t>
            </a:r>
            <a:endParaRPr lang="en-US" sz="1600" dirty="0"/>
          </a:p>
        </p:txBody>
      </p:sp>
      <p:sp>
        <p:nvSpPr>
          <p:cNvPr id="10" name="Shape 7"/>
          <p:cNvSpPr/>
          <p:nvPr/>
        </p:nvSpPr>
        <p:spPr>
          <a:xfrm>
            <a:off x="6675120" y="1828800"/>
            <a:ext cx="4937760" cy="667512"/>
          </a:xfrm>
          <a:prstGeom prst="roundRect">
            <a:avLst>
              <a:gd name="adj" fmla="val 13699"/>
            </a:avLst>
          </a:prstGeom>
          <a:solidFill>
            <a:srgbClr val="FFFFFF">
              <a:alpha val="8000"/>
            </a:srgbClr>
          </a:solidFill>
          <a:ln/>
        </p:spPr>
      </p:sp>
      <p:sp>
        <p:nvSpPr>
          <p:cNvPr id="11" name="Shape 8"/>
          <p:cNvSpPr/>
          <p:nvPr/>
        </p:nvSpPr>
        <p:spPr>
          <a:xfrm>
            <a:off x="6812280" y="1943100"/>
            <a:ext cx="457200" cy="457200"/>
          </a:xfrm>
          <a:prstGeom prst="ellipse">
            <a:avLst/>
          </a:prstGeom>
          <a:solidFill>
            <a:srgbClr val="D95D39"/>
          </a:solidFill>
          <a:ln/>
        </p:spPr>
      </p:sp>
      <p:pic>
        <p:nvPicPr>
          <p:cNvPr id="12" name="Image 1" descr="preencoded.png">    </p:cNvPr>
          <p:cNvPicPr>
            <a:picLocks noChangeAspect="1"/>
          </p:cNvPicPr>
          <p:nvPr/>
        </p:nvPicPr>
        <p:blipFill>
          <a:blip r:embed="rId2"/>
          <a:stretch>
            <a:fillRect/>
          </a:stretch>
        </p:blipFill>
        <p:spPr>
          <a:xfrm>
            <a:off x="6926580" y="2057400"/>
            <a:ext cx="228600" cy="228600"/>
          </a:xfrm>
          <a:prstGeom prst="rect">
            <a:avLst/>
          </a:prstGeom>
        </p:spPr>
      </p:pic>
      <p:sp>
        <p:nvSpPr>
          <p:cNvPr id="13" name="Text 9"/>
          <p:cNvSpPr/>
          <p:nvPr/>
        </p:nvSpPr>
        <p:spPr>
          <a:xfrm>
            <a:off x="7452360" y="182880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Procedimientos almacenados y plan cache</a:t>
            </a:r>
            <a:endParaRPr lang="en-US" sz="1600" dirty="0"/>
          </a:p>
        </p:txBody>
      </p:sp>
      <p:sp>
        <p:nvSpPr>
          <p:cNvPr id="14" name="Shape 10"/>
          <p:cNvSpPr/>
          <p:nvPr/>
        </p:nvSpPr>
        <p:spPr>
          <a:xfrm>
            <a:off x="6675120" y="2606040"/>
            <a:ext cx="4937760" cy="667512"/>
          </a:xfrm>
          <a:prstGeom prst="roundRect">
            <a:avLst>
              <a:gd name="adj" fmla="val 13699"/>
            </a:avLst>
          </a:prstGeom>
          <a:solidFill>
            <a:srgbClr val="FFFFFF">
              <a:alpha val="8000"/>
            </a:srgbClr>
          </a:solidFill>
          <a:ln/>
        </p:spPr>
      </p:sp>
      <p:sp>
        <p:nvSpPr>
          <p:cNvPr id="15" name="Shape 11"/>
          <p:cNvSpPr/>
          <p:nvPr/>
        </p:nvSpPr>
        <p:spPr>
          <a:xfrm>
            <a:off x="6812280" y="2720340"/>
            <a:ext cx="457200" cy="457200"/>
          </a:xfrm>
          <a:prstGeom prst="ellipse">
            <a:avLst/>
          </a:prstGeom>
          <a:solidFill>
            <a:srgbClr val="D95D39"/>
          </a:solidFill>
          <a:ln/>
        </p:spPr>
      </p:sp>
      <p:pic>
        <p:nvPicPr>
          <p:cNvPr id="16" name="Image 2" descr="preencoded.png">    </p:cNvPr>
          <p:cNvPicPr>
            <a:picLocks noChangeAspect="1"/>
          </p:cNvPicPr>
          <p:nvPr/>
        </p:nvPicPr>
        <p:blipFill>
          <a:blip r:embed="rId3"/>
          <a:stretch>
            <a:fillRect/>
          </a:stretch>
        </p:blipFill>
        <p:spPr>
          <a:xfrm>
            <a:off x="6926580" y="2834640"/>
            <a:ext cx="228600" cy="228600"/>
          </a:xfrm>
          <a:prstGeom prst="rect">
            <a:avLst/>
          </a:prstGeom>
        </p:spPr>
      </p:pic>
      <p:sp>
        <p:nvSpPr>
          <p:cNvPr id="17" name="Text 12"/>
          <p:cNvSpPr/>
          <p:nvPr/>
        </p:nvSpPr>
        <p:spPr>
          <a:xfrm>
            <a:off x="7452360" y="260604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JOINs, subconsultas y window functions</a:t>
            </a:r>
            <a:endParaRPr lang="en-US" sz="1600" dirty="0"/>
          </a:p>
        </p:txBody>
      </p:sp>
      <p:sp>
        <p:nvSpPr>
          <p:cNvPr id="18" name="Shape 13"/>
          <p:cNvSpPr/>
          <p:nvPr/>
        </p:nvSpPr>
        <p:spPr>
          <a:xfrm>
            <a:off x="6675120" y="3383280"/>
            <a:ext cx="4937760" cy="667512"/>
          </a:xfrm>
          <a:prstGeom prst="roundRect">
            <a:avLst>
              <a:gd name="adj" fmla="val 13699"/>
            </a:avLst>
          </a:prstGeom>
          <a:solidFill>
            <a:srgbClr val="FFFFFF">
              <a:alpha val="8000"/>
            </a:srgbClr>
          </a:solidFill>
          <a:ln/>
        </p:spPr>
      </p:sp>
      <p:sp>
        <p:nvSpPr>
          <p:cNvPr id="19" name="Shape 14"/>
          <p:cNvSpPr/>
          <p:nvPr/>
        </p:nvSpPr>
        <p:spPr>
          <a:xfrm>
            <a:off x="6812280" y="3497580"/>
            <a:ext cx="457200" cy="457200"/>
          </a:xfrm>
          <a:prstGeom prst="ellipse">
            <a:avLst/>
          </a:prstGeom>
          <a:solidFill>
            <a:srgbClr val="D95D39"/>
          </a:solidFill>
          <a:ln/>
        </p:spPr>
      </p:sp>
      <p:pic>
        <p:nvPicPr>
          <p:cNvPr id="20" name="Image 3" descr="preencoded.png">    </p:cNvPr>
          <p:cNvPicPr>
            <a:picLocks noChangeAspect="1"/>
          </p:cNvPicPr>
          <p:nvPr/>
        </p:nvPicPr>
        <p:blipFill>
          <a:blip r:embed="rId4"/>
          <a:stretch>
            <a:fillRect/>
          </a:stretch>
        </p:blipFill>
        <p:spPr>
          <a:xfrm>
            <a:off x="6926580" y="3611880"/>
            <a:ext cx="228600" cy="228600"/>
          </a:xfrm>
          <a:prstGeom prst="rect">
            <a:avLst/>
          </a:prstGeom>
        </p:spPr>
      </p:pic>
      <p:sp>
        <p:nvSpPr>
          <p:cNvPr id="21" name="Text 15"/>
          <p:cNvSpPr/>
          <p:nvPr/>
        </p:nvSpPr>
        <p:spPr>
          <a:xfrm>
            <a:off x="7452360" y="338328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Logins, users, roles y permisos</a:t>
            </a:r>
            <a:endParaRPr lang="en-US" sz="1600" dirty="0"/>
          </a:p>
        </p:txBody>
      </p:sp>
      <p:sp>
        <p:nvSpPr>
          <p:cNvPr id="22" name="Shape 16"/>
          <p:cNvSpPr/>
          <p:nvPr/>
        </p:nvSpPr>
        <p:spPr>
          <a:xfrm>
            <a:off x="6675120" y="4160520"/>
            <a:ext cx="4937760" cy="667512"/>
          </a:xfrm>
          <a:prstGeom prst="roundRect">
            <a:avLst>
              <a:gd name="adj" fmla="val 13699"/>
            </a:avLst>
          </a:prstGeom>
          <a:solidFill>
            <a:srgbClr val="FFFFFF">
              <a:alpha val="8000"/>
            </a:srgbClr>
          </a:solidFill>
          <a:ln/>
        </p:spPr>
      </p:sp>
      <p:sp>
        <p:nvSpPr>
          <p:cNvPr id="23" name="Shape 17"/>
          <p:cNvSpPr/>
          <p:nvPr/>
        </p:nvSpPr>
        <p:spPr>
          <a:xfrm>
            <a:off x="6812280" y="4274820"/>
            <a:ext cx="457200" cy="457200"/>
          </a:xfrm>
          <a:prstGeom prst="ellipse">
            <a:avLst/>
          </a:prstGeom>
          <a:solidFill>
            <a:srgbClr val="D95D39"/>
          </a:solidFill>
          <a:ln/>
        </p:spPr>
      </p:sp>
      <p:pic>
        <p:nvPicPr>
          <p:cNvPr id="24" name="Image 4" descr="preencoded.png">    </p:cNvPr>
          <p:cNvPicPr>
            <a:picLocks noChangeAspect="1"/>
          </p:cNvPicPr>
          <p:nvPr/>
        </p:nvPicPr>
        <p:blipFill>
          <a:blip r:embed="rId5"/>
          <a:stretch>
            <a:fillRect/>
          </a:stretch>
        </p:blipFill>
        <p:spPr>
          <a:xfrm>
            <a:off x="6926580" y="4389120"/>
            <a:ext cx="228600" cy="228600"/>
          </a:xfrm>
          <a:prstGeom prst="rect">
            <a:avLst/>
          </a:prstGeom>
        </p:spPr>
      </p:pic>
      <p:sp>
        <p:nvSpPr>
          <p:cNvPr id="25" name="Text 18"/>
          <p:cNvSpPr/>
          <p:nvPr/>
        </p:nvSpPr>
        <p:spPr>
          <a:xfrm>
            <a:off x="7452360" y="416052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Ownership chaining y mínimo privilegio</a:t>
            </a:r>
            <a:endParaRPr lang="en-US" sz="1600" dirty="0"/>
          </a:p>
        </p:txBody>
      </p:sp>
      <p:sp>
        <p:nvSpPr>
          <p:cNvPr id="26" name="Shape 19"/>
          <p:cNvSpPr/>
          <p:nvPr/>
        </p:nvSpPr>
        <p:spPr>
          <a:xfrm>
            <a:off x="6675120" y="4937760"/>
            <a:ext cx="4937760" cy="667512"/>
          </a:xfrm>
          <a:prstGeom prst="roundRect">
            <a:avLst>
              <a:gd name="adj" fmla="val 13699"/>
            </a:avLst>
          </a:prstGeom>
          <a:solidFill>
            <a:srgbClr val="FFFFFF">
              <a:alpha val="8000"/>
            </a:srgbClr>
          </a:solidFill>
          <a:ln/>
        </p:spPr>
      </p:sp>
      <p:sp>
        <p:nvSpPr>
          <p:cNvPr id="27" name="Shape 20"/>
          <p:cNvSpPr/>
          <p:nvPr/>
        </p:nvSpPr>
        <p:spPr>
          <a:xfrm>
            <a:off x="6812280" y="5052060"/>
            <a:ext cx="457200" cy="457200"/>
          </a:xfrm>
          <a:prstGeom prst="ellipse">
            <a:avLst/>
          </a:prstGeom>
          <a:solidFill>
            <a:srgbClr val="D95D39"/>
          </a:solidFill>
          <a:ln/>
        </p:spPr>
      </p:sp>
      <p:pic>
        <p:nvPicPr>
          <p:cNvPr id="28" name="Image 5" descr="preencoded.png">    </p:cNvPr>
          <p:cNvPicPr>
            <a:picLocks noChangeAspect="1"/>
          </p:cNvPicPr>
          <p:nvPr/>
        </p:nvPicPr>
        <p:blipFill>
          <a:blip r:embed="rId6"/>
          <a:stretch>
            <a:fillRect/>
          </a:stretch>
        </p:blipFill>
        <p:spPr>
          <a:xfrm>
            <a:off x="6926580" y="5166360"/>
            <a:ext cx="228600" cy="228600"/>
          </a:xfrm>
          <a:prstGeom prst="rect">
            <a:avLst/>
          </a:prstGeom>
        </p:spPr>
      </p:pic>
      <p:sp>
        <p:nvSpPr>
          <p:cNvPr id="29" name="Text 21"/>
          <p:cNvSpPr/>
          <p:nvPr/>
        </p:nvSpPr>
        <p:spPr>
          <a:xfrm>
            <a:off x="7452360" y="49377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Laboratorio 2: consultas y permisos</a:t>
            </a:r>
            <a:endParaRPr lang="en-US" sz="1600" dirty="0"/>
          </a:p>
        </p:txBody>
      </p:sp>
      <p:sp>
        <p:nvSpPr>
          <p:cNvPr id="30" name="Text 2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31" name="Text 2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2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DDL</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Creación de tablas y restricciones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22</a:t>
            </a:r>
            <a:endParaRPr lang="en-US" sz="1000" dirty="0"/>
          </a:p>
        </p:txBody>
      </p:sp>
      <p:sp>
        <p:nvSpPr>
          <p:cNvPr id="7" name="Shape 4"/>
          <p:cNvSpPr/>
          <p:nvPr/>
        </p:nvSpPr>
        <p:spPr>
          <a:xfrm>
            <a:off x="548640" y="1600200"/>
            <a:ext cx="676656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BD Ventas</a:t>
            </a:r>
            <a:endParaRPr lang="en-US" sz="1000" dirty="0"/>
          </a:p>
        </p:txBody>
      </p:sp>
      <p:sp>
        <p:nvSpPr>
          <p:cNvPr id="9" name="Text 6"/>
          <p:cNvSpPr/>
          <p:nvPr/>
        </p:nvSpPr>
        <p:spPr>
          <a:xfrm>
            <a:off x="731520" y="1965960"/>
            <a:ext cx="6400800" cy="41148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TABLE</a:t>
            </a:r>
            <a:r>
              <a:rPr lang="en-US" sz="1200" dirty="0">
                <a:solidFill>
                  <a:srgbClr val="1F2933"/>
                </a:solidFill>
                <a:latin typeface="Consolas" pitchFamily="34" charset="0"/>
                <a:ea typeface="Consolas" pitchFamily="34" charset="-122"/>
                <a:cs typeface="Consolas" pitchFamily="34" charset="-120"/>
              </a:rPr>
              <a:t> dbo.Cliente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ClienteId </a:t>
            </a:r>
            <a:r>
              <a:rPr lang="en-US" sz="1200" dirty="0">
                <a:solidFill>
                  <a:srgbClr val="7C3AED"/>
                </a:solidFill>
                <a:latin typeface="Consolas" pitchFamily="34" charset="0"/>
                <a:ea typeface="Consolas" pitchFamily="34" charset="-122"/>
                <a:cs typeface="Consolas" pitchFamily="34" charset="-120"/>
              </a:rPr>
              <a:t>INT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IDENTITY</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Email     </a:t>
            </a:r>
            <a:r>
              <a:rPr lang="en-US" sz="1200" dirty="0">
                <a:solidFill>
                  <a:srgbClr val="7C3AED"/>
                </a:solidFill>
                <a:latin typeface="Consolas" pitchFamily="34" charset="0"/>
                <a:ea typeface="Consolas" pitchFamily="34" charset="-122"/>
                <a:cs typeface="Consolas" pitchFamily="34" charset="-120"/>
              </a:rPr>
              <a:t>NVARCHAR</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150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Nombre    </a:t>
            </a:r>
            <a:r>
              <a:rPr lang="en-US" sz="1200" dirty="0">
                <a:solidFill>
                  <a:srgbClr val="7C3AED"/>
                </a:solidFill>
                <a:latin typeface="Consolas" pitchFamily="34" charset="0"/>
                <a:ea typeface="Consolas" pitchFamily="34" charset="-122"/>
                <a:cs typeface="Consolas" pitchFamily="34" charset="-120"/>
              </a:rPr>
              <a:t>NVARCHAR</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100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Alta      </a:t>
            </a:r>
            <a:r>
              <a:rPr lang="en-US" sz="1200" dirty="0">
                <a:solidFill>
                  <a:srgbClr val="7C3AED"/>
                </a:solidFill>
                <a:latin typeface="Consolas" pitchFamily="34" charset="0"/>
                <a:ea typeface="Consolas" pitchFamily="34" charset="-122"/>
                <a:cs typeface="Consolas" pitchFamily="34" charset="-120"/>
              </a:rPr>
              <a:t>DATETIME2</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CONSTRAINT</a:t>
            </a:r>
            <a:r>
              <a:rPr lang="en-US" sz="1200" dirty="0">
                <a:solidFill>
                  <a:srgbClr val="1F2933"/>
                </a:solidFill>
                <a:latin typeface="Consolas" pitchFamily="34" charset="0"/>
                <a:ea typeface="Consolas" pitchFamily="34" charset="-122"/>
                <a:cs typeface="Consolas" pitchFamily="34" charset="-120"/>
              </a:rPr>
              <a:t> DF_Cliente_Alta </a:t>
            </a:r>
            <a:r>
              <a:rPr lang="en-US" sz="1200" b="1" dirty="0">
                <a:solidFill>
                  <a:srgbClr val="1D4ED8"/>
                </a:solidFill>
                <a:latin typeface="Consolas" pitchFamily="34" charset="0"/>
                <a:ea typeface="Consolas" pitchFamily="34" charset="-122"/>
                <a:cs typeface="Consolas" pitchFamily="34" charset="-120"/>
              </a:rPr>
              <a:t>DEFAULT</a:t>
            </a:r>
            <a:r>
              <a:rPr lang="en-US" sz="1200" dirty="0">
                <a:solidFill>
                  <a:srgbClr val="1F2933"/>
                </a:solidFill>
                <a:latin typeface="Consolas" pitchFamily="34" charset="0"/>
                <a:ea typeface="Consolas" pitchFamily="34" charset="-122"/>
                <a:cs typeface="Consolas" pitchFamily="34" charset="-120"/>
              </a:rPr>
              <a:t> SYSDATETIME(),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CONSTRAINT</a:t>
            </a:r>
            <a:r>
              <a:rPr lang="en-US" sz="1200" dirty="0">
                <a:solidFill>
                  <a:srgbClr val="1F2933"/>
                </a:solidFill>
                <a:latin typeface="Consolas" pitchFamily="34" charset="0"/>
                <a:ea typeface="Consolas" pitchFamily="34" charset="-122"/>
                <a:cs typeface="Consolas" pitchFamily="34" charset="-120"/>
              </a:rPr>
              <a:t> PK_Cliente </a:t>
            </a:r>
            <a:r>
              <a:rPr lang="en-US" sz="1200" b="1" dirty="0">
                <a:solidFill>
                  <a:srgbClr val="1D4ED8"/>
                </a:solidFill>
                <a:latin typeface="Consolas" pitchFamily="34" charset="0"/>
                <a:ea typeface="Consolas" pitchFamily="34" charset="-122"/>
                <a:cs typeface="Consolas" pitchFamily="34" charset="-120"/>
              </a:rPr>
              <a:t>PRIMARY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KEY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CONSTRAINT</a:t>
            </a:r>
            <a:r>
              <a:rPr lang="en-US" sz="1200" dirty="0">
                <a:solidFill>
                  <a:srgbClr val="1F2933"/>
                </a:solidFill>
                <a:latin typeface="Consolas" pitchFamily="34" charset="0"/>
                <a:ea typeface="Consolas" pitchFamily="34" charset="-122"/>
                <a:cs typeface="Consolas" pitchFamily="34" charset="-120"/>
              </a:rPr>
              <a:t> UQ_Cliente_Email </a:t>
            </a:r>
            <a:r>
              <a:rPr lang="en-US" sz="1200" b="1" dirty="0">
                <a:solidFill>
                  <a:srgbClr val="1D4ED8"/>
                </a:solidFill>
                <a:latin typeface="Consolas" pitchFamily="34" charset="0"/>
                <a:ea typeface="Consolas" pitchFamily="34" charset="-122"/>
                <a:cs typeface="Consolas" pitchFamily="34" charset="-120"/>
              </a:rPr>
              <a:t>UNIQUE</a:t>
            </a:r>
            <a:r>
              <a:rPr lang="en-US" sz="1200" dirty="0">
                <a:solidFill>
                  <a:srgbClr val="1F2933"/>
                </a:solidFill>
                <a:latin typeface="Consolas" pitchFamily="34" charset="0"/>
                <a:ea typeface="Consolas" pitchFamily="34" charset="-122"/>
                <a:cs typeface="Consolas" pitchFamily="34" charset="-120"/>
              </a:rPr>
              <a:t> (Email)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TABLE</a:t>
            </a:r>
            <a:r>
              <a:rPr lang="en-US" sz="1200" dirty="0">
                <a:solidFill>
                  <a:srgbClr val="1F2933"/>
                </a:solidFill>
                <a:latin typeface="Consolas" pitchFamily="34" charset="0"/>
                <a:ea typeface="Consolas" pitchFamily="34" charset="-122"/>
                <a:cs typeface="Consolas" pitchFamily="34" charset="-120"/>
              </a:rPr>
              <a:t> dbo.Pedido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PedidoId  </a:t>
            </a:r>
            <a:r>
              <a:rPr lang="en-US" sz="1200" dirty="0">
                <a:solidFill>
                  <a:srgbClr val="7C3AED"/>
                </a:solidFill>
                <a:latin typeface="Consolas" pitchFamily="34" charset="0"/>
                <a:ea typeface="Consolas" pitchFamily="34" charset="-122"/>
                <a:cs typeface="Consolas" pitchFamily="34" charset="-120"/>
              </a:rPr>
              <a:t>INT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IDENTITY</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ClienteId </a:t>
            </a:r>
            <a:r>
              <a:rPr lang="en-US" sz="1200" dirty="0">
                <a:solidFill>
                  <a:srgbClr val="7C3AED"/>
                </a:solidFill>
                <a:latin typeface="Consolas" pitchFamily="34" charset="0"/>
                <a:ea typeface="Consolas" pitchFamily="34" charset="-122"/>
                <a:cs typeface="Consolas" pitchFamily="34" charset="-120"/>
              </a:rPr>
              <a:t>INT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Fecha     </a:t>
            </a:r>
            <a:r>
              <a:rPr lang="en-US" sz="1200" dirty="0">
                <a:solidFill>
                  <a:srgbClr val="7C3AED"/>
                </a:solidFill>
                <a:latin typeface="Consolas" pitchFamily="34" charset="0"/>
                <a:ea typeface="Consolas" pitchFamily="34" charset="-122"/>
                <a:cs typeface="Consolas" pitchFamily="34" charset="-120"/>
              </a:rPr>
              <a:t>DATE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Total     </a:t>
            </a:r>
            <a:r>
              <a:rPr lang="en-US" sz="1200" dirty="0">
                <a:solidFill>
                  <a:srgbClr val="7C3AED"/>
                </a:solidFill>
                <a:latin typeface="Consolas" pitchFamily="34" charset="0"/>
                <a:ea typeface="Consolas" pitchFamily="34" charset="-122"/>
                <a:cs typeface="Consolas" pitchFamily="34" charset="-120"/>
              </a:rPr>
              <a:t>DECIMAL</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12</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2</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CONSTRAINT</a:t>
            </a:r>
            <a:r>
              <a:rPr lang="en-US" sz="1200" dirty="0">
                <a:solidFill>
                  <a:srgbClr val="1F2933"/>
                </a:solidFill>
                <a:latin typeface="Consolas" pitchFamily="34" charset="0"/>
                <a:ea typeface="Consolas" pitchFamily="34" charset="-122"/>
                <a:cs typeface="Consolas" pitchFamily="34" charset="-120"/>
              </a:rPr>
              <a:t> PK_Pedido </a:t>
            </a:r>
            <a:r>
              <a:rPr lang="en-US" sz="1200" b="1" dirty="0">
                <a:solidFill>
                  <a:srgbClr val="1D4ED8"/>
                </a:solidFill>
                <a:latin typeface="Consolas" pitchFamily="34" charset="0"/>
                <a:ea typeface="Consolas" pitchFamily="34" charset="-122"/>
                <a:cs typeface="Consolas" pitchFamily="34" charset="-120"/>
              </a:rPr>
              <a:t>PRIMARY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KEY</a:t>
            </a:r>
            <a:r>
              <a:rPr lang="en-US" sz="1200" dirty="0">
                <a:solidFill>
                  <a:srgbClr val="1F2933"/>
                </a:solidFill>
                <a:latin typeface="Consolas" pitchFamily="34" charset="0"/>
                <a:ea typeface="Consolas" pitchFamily="34" charset="-122"/>
                <a:cs typeface="Consolas" pitchFamily="34" charset="-120"/>
              </a:rPr>
              <a:t> (PedidoId),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CONSTRAINT</a:t>
            </a:r>
            <a:r>
              <a:rPr lang="en-US" sz="1200" dirty="0">
                <a:solidFill>
                  <a:srgbClr val="1F2933"/>
                </a:solidFill>
                <a:latin typeface="Consolas" pitchFamily="34" charset="0"/>
                <a:ea typeface="Consolas" pitchFamily="34" charset="-122"/>
                <a:cs typeface="Consolas" pitchFamily="34" charset="-120"/>
              </a:rPr>
              <a:t> FK_Pedido_Cliente </a:t>
            </a:r>
            <a:r>
              <a:rPr lang="en-US" sz="1200" b="1" dirty="0">
                <a:solidFill>
                  <a:srgbClr val="1D4ED8"/>
                </a:solidFill>
                <a:latin typeface="Consolas" pitchFamily="34" charset="0"/>
                <a:ea typeface="Consolas" pitchFamily="34" charset="-122"/>
                <a:cs typeface="Consolas" pitchFamily="34" charset="-120"/>
              </a:rPr>
              <a:t>FOREIGN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KEY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REFERENCES</a:t>
            </a:r>
            <a:r>
              <a:rPr lang="en-US" sz="1200" dirty="0">
                <a:solidFill>
                  <a:srgbClr val="1F2933"/>
                </a:solidFill>
                <a:latin typeface="Consolas" pitchFamily="34" charset="0"/>
                <a:ea typeface="Consolas" pitchFamily="34" charset="-122"/>
                <a:cs typeface="Consolas" pitchFamily="34" charset="-120"/>
              </a:rPr>
              <a:t> dbo.Cliente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CONSTRAINT</a:t>
            </a:r>
            <a:r>
              <a:rPr lang="en-US" sz="1200" dirty="0">
                <a:solidFill>
                  <a:srgbClr val="1F2933"/>
                </a:solidFill>
                <a:latin typeface="Consolas" pitchFamily="34" charset="0"/>
                <a:ea typeface="Consolas" pitchFamily="34" charset="-122"/>
                <a:cs typeface="Consolas" pitchFamily="34" charset="-120"/>
              </a:rPr>
              <a:t> CK_Pedido_Total </a:t>
            </a:r>
            <a:r>
              <a:rPr lang="en-US" sz="1200" b="1" dirty="0">
                <a:solidFill>
                  <a:srgbClr val="1D4ED8"/>
                </a:solidFill>
                <a:latin typeface="Consolas" pitchFamily="34" charset="0"/>
                <a:ea typeface="Consolas" pitchFamily="34" charset="-122"/>
                <a:cs typeface="Consolas" pitchFamily="34" charset="-120"/>
              </a:rPr>
              <a:t>CHECK</a:t>
            </a:r>
            <a:r>
              <a:rPr lang="en-US" sz="1200" dirty="0">
                <a:solidFill>
                  <a:srgbClr val="1F2933"/>
                </a:solidFill>
                <a:latin typeface="Consolas" pitchFamily="34" charset="0"/>
                <a:ea typeface="Consolas" pitchFamily="34" charset="-122"/>
                <a:cs typeface="Consolas" pitchFamily="34" charset="-120"/>
              </a:rPr>
              <a:t> (Total &gt;= </a:t>
            </a:r>
            <a:r>
              <a:rPr lang="en-US" sz="1200" dirty="0">
                <a:solidFill>
                  <a:srgbClr val="9A3412"/>
                </a:solidFill>
                <a:latin typeface="Consolas" pitchFamily="34" charset="0"/>
                <a:ea typeface="Consolas" pitchFamily="34" charset="-122"/>
                <a:cs typeface="Consolas" pitchFamily="34" charset="-120"/>
              </a:rPr>
              <a:t>0</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7589520" y="1600200"/>
            <a:ext cx="4050792" cy="4572000"/>
          </a:xfrm>
          <a:prstGeom prst="roundRect">
            <a:avLst>
              <a:gd name="adj" fmla="val 270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7818120" y="1828800"/>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7955280" y="1965960"/>
            <a:ext cx="274320" cy="274320"/>
          </a:xfrm>
          <a:prstGeom prst="rect">
            <a:avLst/>
          </a:prstGeom>
        </p:spPr>
      </p:pic>
      <p:sp>
        <p:nvSpPr>
          <p:cNvPr id="13" name="Text 9"/>
          <p:cNvSpPr/>
          <p:nvPr/>
        </p:nvSpPr>
        <p:spPr>
          <a:xfrm>
            <a:off x="8503920" y="1828800"/>
            <a:ext cx="290779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Las cinco restricciones</a:t>
            </a:r>
            <a:endParaRPr lang="en-US" sz="1700" dirty="0"/>
          </a:p>
        </p:txBody>
      </p:sp>
      <p:sp>
        <p:nvSpPr>
          <p:cNvPr id="14" name="Text 10"/>
          <p:cNvSpPr/>
          <p:nvPr/>
        </p:nvSpPr>
        <p:spPr>
          <a:xfrm>
            <a:off x="7818120" y="2560320"/>
            <a:ext cx="3593592" cy="33832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PK: </a:t>
            </a:r>
            <a:r>
              <a:rPr lang="en-US" sz="1400" dirty="0">
                <a:solidFill>
                  <a:srgbClr val="1F2933"/>
                </a:solidFill>
                <a:latin typeface="Calibri" pitchFamily="34" charset="0"/>
                <a:ea typeface="Calibri" pitchFamily="34" charset="-122"/>
                <a:cs typeface="Calibri" pitchFamily="34" charset="-120"/>
              </a:rPr>
              <a:t>identifica la fila; crea índice clustered</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FK: </a:t>
            </a:r>
            <a:r>
              <a:rPr lang="en-US" sz="1400" dirty="0">
                <a:solidFill>
                  <a:srgbClr val="1F2933"/>
                </a:solidFill>
                <a:latin typeface="Calibri" pitchFamily="34" charset="0"/>
                <a:ea typeface="Calibri" pitchFamily="34" charset="-122"/>
                <a:cs typeface="Calibri" pitchFamily="34" charset="-120"/>
              </a:rPr>
              <a:t>integridad referencial; sin índice automático</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UNIQUE: </a:t>
            </a:r>
            <a:r>
              <a:rPr lang="en-US" sz="1400" dirty="0">
                <a:solidFill>
                  <a:srgbClr val="1F2933"/>
                </a:solidFill>
                <a:latin typeface="Calibri" pitchFamily="34" charset="0"/>
                <a:ea typeface="Calibri" pitchFamily="34" charset="-122"/>
                <a:cs typeface="Calibri" pitchFamily="34" charset="-120"/>
              </a:rPr>
              <a:t>valores no repetidos (índice único)</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CHECK: </a:t>
            </a:r>
            <a:r>
              <a:rPr lang="en-US" sz="1400" dirty="0">
                <a:solidFill>
                  <a:srgbClr val="1F2933"/>
                </a:solidFill>
                <a:latin typeface="Calibri" pitchFamily="34" charset="0"/>
                <a:ea typeface="Calibri" pitchFamily="34" charset="-122"/>
                <a:cs typeface="Calibri" pitchFamily="34" charset="-120"/>
              </a:rPr>
              <a:t>regla de dominio por fila</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DEFAULT: </a:t>
            </a:r>
            <a:r>
              <a:rPr lang="en-US" sz="1400" dirty="0">
                <a:solidFill>
                  <a:srgbClr val="1F2933"/>
                </a:solidFill>
                <a:latin typeface="Calibri" pitchFamily="34" charset="0"/>
                <a:ea typeface="Calibri" pitchFamily="34" charset="-122"/>
                <a:cs typeface="Calibri" pitchFamily="34" charset="-120"/>
              </a:rPr>
              <a:t>valor si se omite la columna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847088"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BUENAS PRÁCTICAS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Errores comunes en el diseño DDL</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23</a:t>
            </a:r>
            <a:endParaRPr lang="en-US" sz="1000" dirty="0"/>
          </a:p>
        </p:txBody>
      </p:sp>
      <p:sp>
        <p:nvSpPr>
          <p:cNvPr id="7" name="Shape 4"/>
          <p:cNvSpPr/>
          <p:nvPr/>
        </p:nvSpPr>
        <p:spPr>
          <a:xfrm>
            <a:off x="548640" y="160020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2258"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Tabla sin clave primaria</a:t>
            </a:r>
            <a:endParaRPr lang="en-US" sz="1600" dirty="0"/>
          </a:p>
        </p:txBody>
      </p:sp>
      <p:sp>
        <p:nvSpPr>
          <p:cNvPr id="11" name="Text 7"/>
          <p:cNvSpPr/>
          <p:nvPr/>
        </p:nvSpPr>
        <p:spPr>
          <a:xfrm>
            <a:off x="777240" y="256032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 heap sin PK admite duplicados y complica replicación y CDC. Define siempre una PK.</a:t>
            </a:r>
            <a:endParaRPr lang="en-US" sz="1400" dirty="0"/>
          </a:p>
        </p:txBody>
      </p:sp>
      <p:sp>
        <p:nvSpPr>
          <p:cNvPr id="12" name="Shape 8"/>
          <p:cNvSpPr/>
          <p:nvPr/>
        </p:nvSpPr>
        <p:spPr>
          <a:xfrm>
            <a:off x="4338218" y="160020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681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978" y="1965960"/>
            <a:ext cx="274320" cy="274320"/>
          </a:xfrm>
          <a:prstGeom prst="rect">
            <a:avLst/>
          </a:prstGeom>
        </p:spPr>
      </p:pic>
      <p:sp>
        <p:nvSpPr>
          <p:cNvPr id="15" name="Text 10"/>
          <p:cNvSpPr/>
          <p:nvPr/>
        </p:nvSpPr>
        <p:spPr>
          <a:xfrm>
            <a:off x="5252618" y="1828800"/>
            <a:ext cx="2372258"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FK sin índice de apoyo</a:t>
            </a:r>
            <a:endParaRPr lang="en-US" sz="1600" dirty="0"/>
          </a:p>
        </p:txBody>
      </p:sp>
      <p:sp>
        <p:nvSpPr>
          <p:cNvPr id="16" name="Text 11"/>
          <p:cNvSpPr/>
          <p:nvPr/>
        </p:nvSpPr>
        <p:spPr>
          <a:xfrm>
            <a:off x="4566818" y="256032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SQL Server no indexa la FK: un DELETE en el padre escanea la tabla hija y bloquea.</a:t>
            </a:r>
            <a:endParaRPr lang="en-US" sz="1400" dirty="0"/>
          </a:p>
        </p:txBody>
      </p:sp>
      <p:sp>
        <p:nvSpPr>
          <p:cNvPr id="17" name="Shape 12"/>
          <p:cNvSpPr/>
          <p:nvPr/>
        </p:nvSpPr>
        <p:spPr>
          <a:xfrm>
            <a:off x="8127797" y="160020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6397"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3557" y="1965960"/>
            <a:ext cx="274320" cy="274320"/>
          </a:xfrm>
          <a:prstGeom prst="rect">
            <a:avLst/>
          </a:prstGeom>
        </p:spPr>
      </p:pic>
      <p:sp>
        <p:nvSpPr>
          <p:cNvPr id="20" name="Text 14"/>
          <p:cNvSpPr/>
          <p:nvPr/>
        </p:nvSpPr>
        <p:spPr>
          <a:xfrm>
            <a:off x="9042197" y="1828800"/>
            <a:ext cx="2372258"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Restricciones WITH NOCHECK</a:t>
            </a:r>
            <a:endParaRPr lang="en-US" sz="1600" dirty="0"/>
          </a:p>
        </p:txBody>
      </p:sp>
      <p:sp>
        <p:nvSpPr>
          <p:cNvPr id="21" name="Text 15"/>
          <p:cNvSpPr/>
          <p:nvPr/>
        </p:nvSpPr>
        <p:spPr>
          <a:xfrm>
            <a:off x="8356397" y="256032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 restricción queda «no confiable» y el optimizador deja de aprovecharla.</a:t>
            </a:r>
            <a:endParaRPr lang="en-US" sz="1400" dirty="0"/>
          </a:p>
        </p:txBody>
      </p:sp>
      <p:sp>
        <p:nvSpPr>
          <p:cNvPr id="22" name="Shape 16"/>
          <p:cNvSpPr/>
          <p:nvPr/>
        </p:nvSpPr>
        <p:spPr>
          <a:xfrm>
            <a:off x="548640" y="402336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Shape 17"/>
          <p:cNvSpPr/>
          <p:nvPr/>
        </p:nvSpPr>
        <p:spPr>
          <a:xfrm>
            <a:off x="777240" y="4251960"/>
            <a:ext cx="548640" cy="54864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914400" y="4389120"/>
            <a:ext cx="274320" cy="274320"/>
          </a:xfrm>
          <a:prstGeom prst="rect">
            <a:avLst/>
          </a:prstGeom>
        </p:spPr>
      </p:pic>
      <p:sp>
        <p:nvSpPr>
          <p:cNvPr id="25" name="Text 18"/>
          <p:cNvSpPr/>
          <p:nvPr/>
        </p:nvSpPr>
        <p:spPr>
          <a:xfrm>
            <a:off x="1463040" y="4251960"/>
            <a:ext cx="2372258"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VARCHAR mezclado con NVARCHAR</a:t>
            </a:r>
            <a:endParaRPr lang="en-US" sz="1600" dirty="0"/>
          </a:p>
        </p:txBody>
      </p:sp>
      <p:sp>
        <p:nvSpPr>
          <p:cNvPr id="26" name="Text 19"/>
          <p:cNvSpPr/>
          <p:nvPr/>
        </p:nvSpPr>
        <p:spPr>
          <a:xfrm>
            <a:off x="777240" y="498348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 conversión implícita puede impedir un Index Seek y dispara la CPU.</a:t>
            </a:r>
            <a:endParaRPr lang="en-US" sz="1400" dirty="0"/>
          </a:p>
        </p:txBody>
      </p:sp>
      <p:sp>
        <p:nvSpPr>
          <p:cNvPr id="27" name="Shape 20"/>
          <p:cNvSpPr/>
          <p:nvPr/>
        </p:nvSpPr>
        <p:spPr>
          <a:xfrm>
            <a:off x="4338218" y="402336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8" name="Shape 21"/>
          <p:cNvSpPr/>
          <p:nvPr/>
        </p:nvSpPr>
        <p:spPr>
          <a:xfrm>
            <a:off x="4566818" y="4251960"/>
            <a:ext cx="548640" cy="548640"/>
          </a:xfrm>
          <a:prstGeom prst="ellipse">
            <a:avLst/>
          </a:prstGeom>
          <a:solidFill>
            <a:srgbClr val="134074"/>
          </a:solidFill>
          <a:ln/>
        </p:spPr>
      </p:sp>
      <p:pic>
        <p:nvPicPr>
          <p:cNvPr id="29" name="Image 4" descr="preencoded.png">    </p:cNvPr>
          <p:cNvPicPr>
            <a:picLocks noChangeAspect="1"/>
          </p:cNvPicPr>
          <p:nvPr/>
        </p:nvPicPr>
        <p:blipFill>
          <a:blip r:embed="rId5"/>
          <a:stretch>
            <a:fillRect/>
          </a:stretch>
        </p:blipFill>
        <p:spPr>
          <a:xfrm>
            <a:off x="4703978" y="4389120"/>
            <a:ext cx="274320" cy="274320"/>
          </a:xfrm>
          <a:prstGeom prst="rect">
            <a:avLst/>
          </a:prstGeom>
        </p:spPr>
      </p:pic>
      <p:sp>
        <p:nvSpPr>
          <p:cNvPr id="30" name="Text 22"/>
          <p:cNvSpPr/>
          <p:nvPr/>
        </p:nvSpPr>
        <p:spPr>
          <a:xfrm>
            <a:off x="5252618" y="4251960"/>
            <a:ext cx="2372258"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GUID aleatorio como clustered</a:t>
            </a:r>
            <a:endParaRPr lang="en-US" sz="1600" dirty="0"/>
          </a:p>
        </p:txBody>
      </p:sp>
      <p:sp>
        <p:nvSpPr>
          <p:cNvPr id="31" name="Text 23"/>
          <p:cNvSpPr/>
          <p:nvPr/>
        </p:nvSpPr>
        <p:spPr>
          <a:xfrm>
            <a:off x="4566818" y="498348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NEWID() fragmenta el índice con Page Splits. Prefiere IDENTITY o NEWSEQUENTIALID().</a:t>
            </a:r>
            <a:endParaRPr lang="en-US" sz="1400" dirty="0"/>
          </a:p>
        </p:txBody>
      </p:sp>
      <p:sp>
        <p:nvSpPr>
          <p:cNvPr id="32" name="Shape 24"/>
          <p:cNvSpPr/>
          <p:nvPr/>
        </p:nvSpPr>
        <p:spPr>
          <a:xfrm>
            <a:off x="8127797" y="4023360"/>
            <a:ext cx="3515258"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3" name="Shape 25"/>
          <p:cNvSpPr/>
          <p:nvPr/>
        </p:nvSpPr>
        <p:spPr>
          <a:xfrm>
            <a:off x="8356397" y="4251960"/>
            <a:ext cx="548640" cy="548640"/>
          </a:xfrm>
          <a:prstGeom prst="ellipse">
            <a:avLst/>
          </a:prstGeom>
          <a:solidFill>
            <a:srgbClr val="134074"/>
          </a:solidFill>
          <a:ln/>
        </p:spPr>
      </p:sp>
      <p:pic>
        <p:nvPicPr>
          <p:cNvPr id="34" name="Image 5" descr="preencoded.png">    </p:cNvPr>
          <p:cNvPicPr>
            <a:picLocks noChangeAspect="1"/>
          </p:cNvPicPr>
          <p:nvPr/>
        </p:nvPicPr>
        <p:blipFill>
          <a:blip r:embed="rId6"/>
          <a:stretch>
            <a:fillRect/>
          </a:stretch>
        </p:blipFill>
        <p:spPr>
          <a:xfrm>
            <a:off x="8493557" y="4389120"/>
            <a:ext cx="274320" cy="274320"/>
          </a:xfrm>
          <a:prstGeom prst="rect">
            <a:avLst/>
          </a:prstGeom>
        </p:spPr>
      </p:pic>
      <p:sp>
        <p:nvSpPr>
          <p:cNvPr id="35" name="Text 26"/>
          <p:cNvSpPr/>
          <p:nvPr/>
        </p:nvSpPr>
        <p:spPr>
          <a:xfrm>
            <a:off x="9042197" y="4251960"/>
            <a:ext cx="2372258"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Tipos sobredimensionados</a:t>
            </a:r>
            <a:endParaRPr lang="en-US" sz="1600" dirty="0"/>
          </a:p>
        </p:txBody>
      </p:sp>
      <p:sp>
        <p:nvSpPr>
          <p:cNvPr id="36" name="Text 27"/>
          <p:cNvSpPr/>
          <p:nvPr/>
        </p:nvSpPr>
        <p:spPr>
          <a:xfrm>
            <a:off x="8356397" y="4983480"/>
            <a:ext cx="3058058"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Más páginas, más I/O y más memoria en el Buffer Pool para el mismo dato.</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VISTAS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Vistas estándar frente a vistas indexadas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24</a:t>
            </a:r>
            <a:endParaRPr lang="en-US" sz="1000" dirty="0"/>
          </a:p>
        </p:txBody>
      </p:sp>
      <p:sp>
        <p:nvSpPr>
          <p:cNvPr id="7" name="Shape 4"/>
          <p:cNvSpPr/>
          <p:nvPr/>
        </p:nvSpPr>
        <p:spPr>
          <a:xfrm>
            <a:off x="548640" y="1600200"/>
            <a:ext cx="5394960" cy="2926080"/>
          </a:xfrm>
          <a:prstGeom prst="roundRect">
            <a:avLst>
              <a:gd name="adj" fmla="val 375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51960"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Vista estándar</a:t>
            </a:r>
            <a:endParaRPr lang="en-US" sz="1700" dirty="0"/>
          </a:p>
        </p:txBody>
      </p:sp>
      <p:sp>
        <p:nvSpPr>
          <p:cNvPr id="11" name="Text 7"/>
          <p:cNvSpPr/>
          <p:nvPr/>
        </p:nvSpPr>
        <p:spPr>
          <a:xfrm>
            <a:off x="777240" y="2560320"/>
            <a:ext cx="4937760" cy="17373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Consulta guardada, sin datos propios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Se expande dentro de la consulta externa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Simplifica joins y centraliza permisos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Coste = el de la consulta subyacente</a:t>
            </a:r>
            <a:endParaRPr lang="en-US" sz="1400" dirty="0"/>
          </a:p>
        </p:txBody>
      </p:sp>
      <p:sp>
        <p:nvSpPr>
          <p:cNvPr id="12" name="Shape 8"/>
          <p:cNvSpPr/>
          <p:nvPr/>
        </p:nvSpPr>
        <p:spPr>
          <a:xfrm>
            <a:off x="6245352" y="1600200"/>
            <a:ext cx="5394960" cy="2926080"/>
          </a:xfrm>
          <a:prstGeom prst="roundRect">
            <a:avLst>
              <a:gd name="adj" fmla="val 3750"/>
            </a:avLst>
          </a:prstGeom>
          <a:solidFill>
            <a:srgbClr val="134074"/>
          </a:solidFill>
          <a:ln/>
        </p:spPr>
      </p:sp>
      <p:sp>
        <p:nvSpPr>
          <p:cNvPr id="13" name="Shape 9"/>
          <p:cNvSpPr/>
          <p:nvPr/>
        </p:nvSpPr>
        <p:spPr>
          <a:xfrm>
            <a:off x="6473952" y="1828800"/>
            <a:ext cx="548640" cy="548640"/>
          </a:xfrm>
          <a:prstGeom prst="ellipse">
            <a:avLst/>
          </a:prstGeom>
          <a:solidFill>
            <a:srgbClr val="D95D39"/>
          </a:solidFill>
          <a:ln/>
        </p:spPr>
      </p:sp>
      <p:pic>
        <p:nvPicPr>
          <p:cNvPr id="14" name="Image 1" descr="preencoded.png">    </p:cNvPr>
          <p:cNvPicPr>
            <a:picLocks noChangeAspect="1"/>
          </p:cNvPicPr>
          <p:nvPr/>
        </p:nvPicPr>
        <p:blipFill>
          <a:blip r:embed="rId2"/>
          <a:stretch>
            <a:fillRect/>
          </a:stretch>
        </p:blipFill>
        <p:spPr>
          <a:xfrm>
            <a:off x="6611112" y="1965960"/>
            <a:ext cx="274320" cy="274320"/>
          </a:xfrm>
          <a:prstGeom prst="rect">
            <a:avLst/>
          </a:prstGeom>
        </p:spPr>
      </p:pic>
      <p:sp>
        <p:nvSpPr>
          <p:cNvPr id="15" name="Text 10"/>
          <p:cNvSpPr/>
          <p:nvPr/>
        </p:nvSpPr>
        <p:spPr>
          <a:xfrm>
            <a:off x="7159752" y="1828800"/>
            <a:ext cx="42519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Vista indexada</a:t>
            </a:r>
            <a:endParaRPr lang="en-US" sz="1700" dirty="0"/>
          </a:p>
        </p:txBody>
      </p:sp>
      <p:sp>
        <p:nvSpPr>
          <p:cNvPr id="16" name="Text 11"/>
          <p:cNvSpPr/>
          <p:nvPr/>
        </p:nvSpPr>
        <p:spPr>
          <a:xfrm>
            <a:off x="6473952" y="2560320"/>
            <a:ext cx="4937760" cy="17373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Resultado materializado en un índice</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Se mantiene en cada INSERT, UPDATE y DELETE</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Acelera agregaciones repetitivas</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Exige SCHEMABINDING y penaliza escrituras</a:t>
            </a:r>
            <a:endParaRPr lang="en-US" sz="1400" dirty="0"/>
          </a:p>
        </p:txBody>
      </p:sp>
      <p:sp>
        <p:nvSpPr>
          <p:cNvPr id="17" name="Shape 12"/>
          <p:cNvSpPr/>
          <p:nvPr/>
        </p:nvSpPr>
        <p:spPr>
          <a:xfrm>
            <a:off x="548640" y="4800600"/>
            <a:ext cx="11091672" cy="1371600"/>
          </a:xfrm>
          <a:prstGeom prst="roundRect">
            <a:avLst>
              <a:gd name="adj" fmla="val 6667"/>
            </a:avLst>
          </a:prstGeom>
          <a:solidFill>
            <a:srgbClr val="ECEFF3"/>
          </a:solidFill>
          <a:ln w="9525">
            <a:solidFill>
              <a:srgbClr val="D0D7DE"/>
            </a:solidFill>
            <a:prstDash val="solid"/>
          </a:ln>
        </p:spPr>
      </p:sp>
      <p:sp>
        <p:nvSpPr>
          <p:cNvPr id="18" name="Text 13"/>
          <p:cNvSpPr/>
          <p:nvPr/>
        </p:nvSpPr>
        <p:spPr>
          <a:xfrm>
            <a:off x="731520" y="48920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vista estándar</a:t>
            </a:r>
            <a:endParaRPr lang="en-US" sz="1000" dirty="0"/>
          </a:p>
        </p:txBody>
      </p:sp>
      <p:sp>
        <p:nvSpPr>
          <p:cNvPr id="19" name="Text 14"/>
          <p:cNvSpPr/>
          <p:nvPr/>
        </p:nvSpPr>
        <p:spPr>
          <a:xfrm>
            <a:off x="731520" y="5166360"/>
            <a:ext cx="10725912" cy="9144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VIEW</a:t>
            </a:r>
            <a:r>
              <a:rPr lang="en-US" sz="1200" dirty="0">
                <a:solidFill>
                  <a:srgbClr val="1F2933"/>
                </a:solidFill>
                <a:latin typeface="Consolas" pitchFamily="34" charset="0"/>
                <a:ea typeface="Consolas" pitchFamily="34" charset="-122"/>
                <a:cs typeface="Consolas" pitchFamily="34" charset="-120"/>
              </a:rPr>
              <a:t> dbo.vPedidoCliente </a:t>
            </a:r>
            <a:r>
              <a:rPr lang="en-US" sz="1200" b="1" dirty="0">
                <a:solidFill>
                  <a:srgbClr val="1D4ED8"/>
                </a:solidFill>
                <a:latin typeface="Consolas" pitchFamily="34" charset="0"/>
                <a:ea typeface="Consolas" pitchFamily="34" charset="-122"/>
                <a:cs typeface="Consolas" pitchFamily="34" charset="-120"/>
              </a:rPr>
              <a: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c.ClienteId, c.Nombre, p.PedidoId, p.Fecha, p.Total</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dbo.Cliente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c </a:t>
            </a: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p.ClienteId = c.ClienteId;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VISTAS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Vistas indexadas: SCHEMABINDING y requisitos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25</a:t>
            </a:r>
            <a:endParaRPr lang="en-US" sz="1000" dirty="0"/>
          </a:p>
        </p:txBody>
      </p:sp>
      <p:sp>
        <p:nvSpPr>
          <p:cNvPr id="7" name="Shape 4"/>
          <p:cNvSpPr/>
          <p:nvPr/>
        </p:nvSpPr>
        <p:spPr>
          <a:xfrm>
            <a:off x="548640" y="1600200"/>
            <a:ext cx="6309360" cy="3429000"/>
          </a:xfrm>
          <a:prstGeom prst="roundRect">
            <a:avLst>
              <a:gd name="adj" fmla="val 2667"/>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vista indexada</a:t>
            </a:r>
            <a:endParaRPr lang="en-US" sz="1000" dirty="0"/>
          </a:p>
        </p:txBody>
      </p:sp>
      <p:sp>
        <p:nvSpPr>
          <p:cNvPr id="9" name="Text 6"/>
          <p:cNvSpPr/>
          <p:nvPr/>
        </p:nvSpPr>
        <p:spPr>
          <a:xfrm>
            <a:off x="731520" y="1965960"/>
            <a:ext cx="5943600" cy="2971800"/>
          </a:xfrm>
          <a:prstGeom prst="rect">
            <a:avLst/>
          </a:prstGeom>
          <a:noFill/>
          <a:ln/>
        </p:spPr>
        <p:txBody>
          <a:bodyPr wrap="none" lIns="0" tIns="0" rIns="0" bIns="0" rtlCol="0" anchor="t"/>
          <a:lstStyle/>
          <a:p>
            <a:pPr indent="0" marL="0">
              <a:buNone/>
            </a:pPr>
            <a:r>
              <a:rPr lang="en-US" sz="1300" b="1" dirty="0">
                <a:solidFill>
                  <a:srgbClr val="1D4ED8"/>
                </a:solidFill>
                <a:latin typeface="Consolas" pitchFamily="34" charset="0"/>
                <a:ea typeface="Consolas" pitchFamily="34" charset="-122"/>
                <a:cs typeface="Consolas" pitchFamily="34" charset="-120"/>
              </a:rPr>
              <a:t>CREATE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VIEW</a:t>
            </a:r>
            <a:r>
              <a:rPr lang="en-US" sz="1300" dirty="0">
                <a:solidFill>
                  <a:srgbClr val="1F2933"/>
                </a:solidFill>
                <a:latin typeface="Consolas" pitchFamily="34" charset="0"/>
                <a:ea typeface="Consolas" pitchFamily="34" charset="-122"/>
                <a:cs typeface="Consolas" pitchFamily="34" charset="-120"/>
              </a:rPr>
              <a:t> dbo.vVentasCliente</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WITH</a:t>
            </a:r>
            <a:r>
              <a:rPr lang="en-US" sz="1300" dirty="0">
                <a:solidFill>
                  <a:srgbClr val="1F2933"/>
                </a:solidFill>
                <a:latin typeface="Consolas" pitchFamily="34" charset="0"/>
                <a:ea typeface="Consolas" pitchFamily="34" charset="-122"/>
                <a:cs typeface="Consolas" pitchFamily="34" charset="-120"/>
              </a:rPr>
              <a:t> SCHEMABINDING</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AS</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p.ClienteId,</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COUNT_BIG(*)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NumPedidos,</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SUM(p.Total)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TotalVentas</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dbo.Pedido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p</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GROUP</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BY</a:t>
            </a:r>
            <a:r>
              <a:rPr lang="en-US" sz="1300" dirty="0">
                <a:solidFill>
                  <a:srgbClr val="1F2933"/>
                </a:solidFill>
                <a:latin typeface="Consolas" pitchFamily="34" charset="0"/>
                <a:ea typeface="Consolas" pitchFamily="34" charset="-122"/>
                <a:cs typeface="Consolas" pitchFamily="34" charset="-120"/>
              </a:rPr>
              <a:t> p.ClienteId;</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GO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CREATE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UNIQUE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CLUSTERED</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INDEX</a:t>
            </a:r>
            <a:r>
              <a:rPr lang="en-US" sz="1300" dirty="0">
                <a:solidFill>
                  <a:srgbClr val="1F2933"/>
                </a:solidFill>
                <a:latin typeface="Consolas" pitchFamily="34" charset="0"/>
                <a:ea typeface="Consolas" pitchFamily="34" charset="-122"/>
                <a:cs typeface="Consolas" pitchFamily="34" charset="-120"/>
              </a:rPr>
              <a:t> IX_vVentasCliente</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 dbo.vVentasCliente (ClienteId);</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GO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 </a:t>
            </a: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dbo.vVentasCliente </a:t>
            </a:r>
            <a:r>
              <a:rPr lang="en-US" sz="1300" b="1" dirty="0">
                <a:solidFill>
                  <a:srgbClr val="1D4ED8"/>
                </a:solidFill>
                <a:latin typeface="Consolas" pitchFamily="34" charset="0"/>
                <a:ea typeface="Consolas" pitchFamily="34" charset="-122"/>
                <a:cs typeface="Consolas" pitchFamily="34" charset="-120"/>
              </a:rPr>
              <a:t>WITH</a:t>
            </a:r>
            <a:r>
              <a:rPr lang="en-US" sz="1300" dirty="0">
                <a:solidFill>
                  <a:srgbClr val="1F2933"/>
                </a:solidFill>
                <a:latin typeface="Consolas" pitchFamily="34" charset="0"/>
                <a:ea typeface="Consolas" pitchFamily="34" charset="-122"/>
                <a:cs typeface="Consolas" pitchFamily="34" charset="-120"/>
              </a:rPr>
              <a:t> (NOEXPAND);</a:t>
            </a:r>
            <a:endParaRPr lang="en-US" sz="1300" dirty="0"/>
          </a:p>
        </p:txBody>
      </p:sp>
      <p:sp>
        <p:nvSpPr>
          <p:cNvPr id="10" name="Shape 7"/>
          <p:cNvSpPr/>
          <p:nvPr/>
        </p:nvSpPr>
        <p:spPr>
          <a:xfrm>
            <a:off x="548640" y="5303520"/>
            <a:ext cx="6309360" cy="868680"/>
          </a:xfrm>
          <a:prstGeom prst="roundRect">
            <a:avLst>
              <a:gd name="adj" fmla="val 12632"/>
            </a:avLst>
          </a:prstGeom>
          <a:solidFill>
            <a:srgbClr val="FDEDE8"/>
          </a:solidFill>
          <a:ln/>
        </p:spPr>
      </p:sp>
      <p:sp>
        <p:nvSpPr>
          <p:cNvPr id="11" name="Shape 8"/>
          <p:cNvSpPr/>
          <p:nvPr/>
        </p:nvSpPr>
        <p:spPr>
          <a:xfrm>
            <a:off x="731520" y="5509260"/>
            <a:ext cx="457200" cy="457200"/>
          </a:xfrm>
          <a:prstGeom prst="ellipse">
            <a:avLst/>
          </a:prstGeom>
          <a:solidFill>
            <a:srgbClr val="D95D39"/>
          </a:solidFill>
          <a:ln/>
        </p:spPr>
      </p:sp>
      <p:pic>
        <p:nvPicPr>
          <p:cNvPr id="12" name="Image 0" descr="preencoded.png">    </p:cNvPr>
          <p:cNvPicPr>
            <a:picLocks noChangeAspect="1"/>
          </p:cNvPicPr>
          <p:nvPr/>
        </p:nvPicPr>
        <p:blipFill>
          <a:blip r:embed="rId1"/>
          <a:stretch>
            <a:fillRect/>
          </a:stretch>
        </p:blipFill>
        <p:spPr>
          <a:xfrm>
            <a:off x="845820" y="5623560"/>
            <a:ext cx="228600" cy="228600"/>
          </a:xfrm>
          <a:prstGeom prst="rect">
            <a:avLst/>
          </a:prstGeom>
        </p:spPr>
      </p:pic>
      <p:sp>
        <p:nvSpPr>
          <p:cNvPr id="13" name="Text 9"/>
          <p:cNvSpPr/>
          <p:nvPr/>
        </p:nvSpPr>
        <p:spPr>
          <a:xfrm>
            <a:off x="1371600" y="5303520"/>
            <a:ext cx="5303520" cy="86868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Coste: </a:t>
            </a:r>
            <a:r>
              <a:rPr lang="en-US" sz="1400" dirty="0">
                <a:solidFill>
                  <a:srgbClr val="1F2933"/>
                </a:solidFill>
                <a:latin typeface="Calibri" pitchFamily="34" charset="0"/>
                <a:ea typeface="Calibri" pitchFamily="34" charset="-122"/>
                <a:cs typeface="Calibri" pitchFamily="34" charset="-120"/>
              </a:rPr>
              <a:t>cada DML sobre dbo.Pedido también actualiza la vista.</a:t>
            </a:r>
            <a:endParaRPr lang="en-US" sz="1400" dirty="0"/>
          </a:p>
        </p:txBody>
      </p:sp>
      <p:sp>
        <p:nvSpPr>
          <p:cNvPr id="14" name="Shape 10"/>
          <p:cNvSpPr/>
          <p:nvPr/>
        </p:nvSpPr>
        <p:spPr>
          <a:xfrm>
            <a:off x="7132320" y="1600200"/>
            <a:ext cx="4507992" cy="4572000"/>
          </a:xfrm>
          <a:prstGeom prst="roundRect">
            <a:avLst>
              <a:gd name="adj" fmla="val 2434"/>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Shape 11"/>
          <p:cNvSpPr/>
          <p:nvPr/>
        </p:nvSpPr>
        <p:spPr>
          <a:xfrm>
            <a:off x="7360920" y="1828800"/>
            <a:ext cx="548640" cy="548640"/>
          </a:xfrm>
          <a:prstGeom prst="ellipse">
            <a:avLst/>
          </a:prstGeom>
          <a:solidFill>
            <a:srgbClr val="134074"/>
          </a:solidFill>
          <a:ln/>
        </p:spPr>
      </p:sp>
      <p:pic>
        <p:nvPicPr>
          <p:cNvPr id="16" name="Image 1" descr="preencoded.png">    </p:cNvPr>
          <p:cNvPicPr>
            <a:picLocks noChangeAspect="1"/>
          </p:cNvPicPr>
          <p:nvPr/>
        </p:nvPicPr>
        <p:blipFill>
          <a:blip r:embed="rId2"/>
          <a:stretch>
            <a:fillRect/>
          </a:stretch>
        </p:blipFill>
        <p:spPr>
          <a:xfrm>
            <a:off x="7498080" y="1965960"/>
            <a:ext cx="274320" cy="274320"/>
          </a:xfrm>
          <a:prstGeom prst="rect">
            <a:avLst/>
          </a:prstGeom>
        </p:spPr>
      </p:pic>
      <p:sp>
        <p:nvSpPr>
          <p:cNvPr id="17" name="Text 12"/>
          <p:cNvSpPr/>
          <p:nvPr/>
        </p:nvSpPr>
        <p:spPr>
          <a:xfrm>
            <a:off x="8046720" y="1828800"/>
            <a:ext cx="336499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Requisitos principales</a:t>
            </a:r>
            <a:endParaRPr lang="en-US" sz="1700" dirty="0"/>
          </a:p>
        </p:txBody>
      </p:sp>
      <p:sp>
        <p:nvSpPr>
          <p:cNvPr id="18" name="Text 13"/>
          <p:cNvSpPr/>
          <p:nvPr/>
        </p:nvSpPr>
        <p:spPr>
          <a:xfrm>
            <a:off x="7360920" y="2560320"/>
            <a:ext cx="4050792" cy="33832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SCHEMABINDING </a:t>
            </a:r>
            <a:r>
              <a:rPr lang="en-US" sz="1400" dirty="0">
                <a:solidFill>
                  <a:srgbClr val="1F2933"/>
                </a:solidFill>
                <a:latin typeface="Calibri" pitchFamily="34" charset="0"/>
                <a:ea typeface="Calibri" pitchFamily="34" charset="-122"/>
                <a:cs typeface="Calibri" pitchFamily="34" charset="-120"/>
              </a:rPr>
              <a:t>y nombres de dos partes</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COUNT_BIG(*) </a:t>
            </a:r>
            <a:r>
              <a:rPr lang="en-US" sz="1400" dirty="0">
                <a:solidFill>
                  <a:srgbClr val="1F2933"/>
                </a:solidFill>
                <a:latin typeface="Calibri" pitchFamily="34" charset="0"/>
                <a:ea typeface="Calibri" pitchFamily="34" charset="-122"/>
                <a:cs typeface="Calibri" pitchFamily="34" charset="-120"/>
              </a:rPr>
              <a:t>si hay GROUP BY</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Sin OUTER JOIN, subconsultas, DISTINCT, TOP, UNION ni MIN/MAX</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Primer índice: </a:t>
            </a:r>
            <a:r>
              <a:rPr lang="en-US" sz="1400" dirty="0">
                <a:solidFill>
                  <a:srgbClr val="1F2933"/>
                </a:solidFill>
                <a:latin typeface="Calibri" pitchFamily="34" charset="0"/>
                <a:ea typeface="Calibri" pitchFamily="34" charset="-122"/>
                <a:cs typeface="Calibri" pitchFamily="34" charset="-120"/>
              </a:rPr>
              <a:t>UNIQUE CLUSTERED</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Opciones SET: ARITHABORT, ANSI_NULLS y QUOTED_IDENTIFIER en ON</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Standard: </a:t>
            </a:r>
            <a:r>
              <a:rPr lang="en-US" sz="1400" dirty="0">
                <a:solidFill>
                  <a:srgbClr val="1F2933"/>
                </a:solidFill>
                <a:latin typeface="Calibri" pitchFamily="34" charset="0"/>
                <a:ea typeface="Calibri" pitchFamily="34" charset="-122"/>
                <a:cs typeface="Calibri" pitchFamily="34" charset="-120"/>
              </a:rPr>
              <a:t>usar NOEXPAND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76022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PROGRAMABILIDAD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Procedimientos almacenados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26</a:t>
            </a:r>
            <a:endParaRPr lang="en-US" sz="1000" dirty="0"/>
          </a:p>
        </p:txBody>
      </p:sp>
      <p:sp>
        <p:nvSpPr>
          <p:cNvPr id="7" name="Shape 4"/>
          <p:cNvSpPr/>
          <p:nvPr/>
        </p:nvSpPr>
        <p:spPr>
          <a:xfrm>
            <a:off x="548640" y="1600200"/>
            <a:ext cx="676656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procedimiento</a:t>
            </a:r>
            <a:endParaRPr lang="en-US" sz="1000" dirty="0"/>
          </a:p>
        </p:txBody>
      </p:sp>
      <p:sp>
        <p:nvSpPr>
          <p:cNvPr id="9" name="Text 6"/>
          <p:cNvSpPr/>
          <p:nvPr/>
        </p:nvSpPr>
        <p:spPr>
          <a:xfrm>
            <a:off x="731520" y="1965960"/>
            <a:ext cx="6400800" cy="4114800"/>
          </a:xfrm>
          <a:prstGeom prst="rect">
            <a:avLst/>
          </a:prstGeom>
          <a:noFill/>
          <a:ln/>
        </p:spPr>
        <p:txBody>
          <a:bodyPr wrap="none" lIns="0" tIns="0" rIns="0" bIns="0" rtlCol="0" anchor="t"/>
          <a:lstStyle/>
          <a:p>
            <a:pPr indent="0" marL="0">
              <a:buNone/>
            </a:pPr>
            <a:r>
              <a:rPr lang="en-US" sz="1400" b="1" dirty="0">
                <a:solidFill>
                  <a:srgbClr val="1D4ED8"/>
                </a:solidFill>
                <a:latin typeface="Consolas" pitchFamily="34" charset="0"/>
                <a:ea typeface="Consolas" pitchFamily="34" charset="-122"/>
                <a:cs typeface="Consolas" pitchFamily="34" charset="-120"/>
              </a:rPr>
              <a:t>CREATE</a:t>
            </a: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OR</a:t>
            </a: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ALTER</a:t>
            </a: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PROCEDURE</a:t>
            </a:r>
            <a:r>
              <a:rPr lang="en-US" sz="1400" dirty="0">
                <a:solidFill>
                  <a:srgbClr val="1F2933"/>
                </a:solidFill>
                <a:latin typeface="Consolas" pitchFamily="34" charset="0"/>
                <a:ea typeface="Consolas" pitchFamily="34" charset="-122"/>
                <a:cs typeface="Consolas" pitchFamily="34" charset="-120"/>
              </a:rPr>
              <a:t> dbo.usp_PedidosPorCliente</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dirty="0">
                <a:solidFill>
                  <a:srgbClr val="0F766E"/>
                </a:solidFill>
                <a:latin typeface="Consolas" pitchFamily="34" charset="0"/>
                <a:ea typeface="Consolas" pitchFamily="34" charset="-122"/>
                <a:cs typeface="Consolas" pitchFamily="34" charset="-120"/>
              </a:rPr>
              <a:t>@ClienteId</a:t>
            </a:r>
            <a:r>
              <a:rPr lang="en-US" sz="1400" dirty="0">
                <a:solidFill>
                  <a:srgbClr val="1F2933"/>
                </a:solidFill>
                <a:latin typeface="Consolas" pitchFamily="34" charset="0"/>
                <a:ea typeface="Consolas" pitchFamily="34" charset="-122"/>
                <a:cs typeface="Consolas" pitchFamily="34" charset="-120"/>
              </a:rPr>
              <a:t> </a:t>
            </a:r>
            <a:r>
              <a:rPr lang="en-US" sz="1400" dirty="0">
                <a:solidFill>
                  <a:srgbClr val="7C3AED"/>
                </a:solidFill>
                <a:latin typeface="Consolas" pitchFamily="34" charset="0"/>
                <a:ea typeface="Consolas" pitchFamily="34" charset="-122"/>
                <a:cs typeface="Consolas" pitchFamily="34" charset="-120"/>
              </a:rPr>
              <a:t>INT</a:t>
            </a:r>
            <a:r>
              <a:rPr lang="en-US" sz="1400" dirty="0">
                <a:solidFill>
                  <a:srgbClr val="1F2933"/>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dirty="0">
                <a:solidFill>
                  <a:srgbClr val="0F766E"/>
                </a:solidFill>
                <a:latin typeface="Consolas" pitchFamily="34" charset="0"/>
                <a:ea typeface="Consolas" pitchFamily="34" charset="-122"/>
                <a:cs typeface="Consolas" pitchFamily="34" charset="-120"/>
              </a:rPr>
              <a:t>@Desde</a:t>
            </a:r>
            <a:r>
              <a:rPr lang="en-US" sz="1400" dirty="0">
                <a:solidFill>
                  <a:srgbClr val="1F2933"/>
                </a:solidFill>
                <a:latin typeface="Consolas" pitchFamily="34" charset="0"/>
                <a:ea typeface="Consolas" pitchFamily="34" charset="-122"/>
                <a:cs typeface="Consolas" pitchFamily="34" charset="-120"/>
              </a:rPr>
              <a:t>     </a:t>
            </a:r>
            <a:r>
              <a:rPr lang="en-US" sz="1400" dirty="0">
                <a:solidFill>
                  <a:srgbClr val="7C3AED"/>
                </a:solidFill>
                <a:latin typeface="Consolas" pitchFamily="34" charset="0"/>
                <a:ea typeface="Consolas" pitchFamily="34" charset="-122"/>
                <a:cs typeface="Consolas" pitchFamily="34" charset="-120"/>
              </a:rPr>
              <a:t>DATE</a:t>
            </a:r>
            <a:r>
              <a:rPr lang="en-US" sz="1400" dirty="0">
                <a:solidFill>
                  <a:srgbClr val="1F2933"/>
                </a:solidFill>
                <a:latin typeface="Consolas" pitchFamily="34" charset="0"/>
                <a:ea typeface="Consolas" pitchFamily="34" charset="-122"/>
                <a:cs typeface="Consolas" pitchFamily="34" charset="-120"/>
              </a:rPr>
              <a:t> = </a:t>
            </a:r>
            <a:r>
              <a:rPr lang="en-US" sz="1400" dirty="0">
                <a:solidFill>
                  <a:srgbClr val="B4441F"/>
                </a:solidFill>
                <a:latin typeface="Consolas" pitchFamily="34" charset="0"/>
                <a:ea typeface="Consolas" pitchFamily="34" charset="-122"/>
                <a:cs typeface="Consolas" pitchFamily="34" charset="-120"/>
              </a:rPr>
              <a:t>'19000101'</a:t>
            </a:r>
            <a:endParaRPr lang="en-US" sz="1400" dirty="0"/>
          </a:p>
          <a:p>
            <a:pPr indent="0" marL="0">
              <a:buNone/>
            </a:pPr>
            <a:r>
              <a:rPr lang="en-US" sz="1400" b="1" dirty="0">
                <a:solidFill>
                  <a:srgbClr val="1D4ED8"/>
                </a:solidFill>
                <a:latin typeface="Consolas" pitchFamily="34" charset="0"/>
                <a:ea typeface="Consolas" pitchFamily="34" charset="-122"/>
                <a:cs typeface="Consolas" pitchFamily="34" charset="-120"/>
              </a:rPr>
              <a:t>AS</a:t>
            </a:r>
            <a:endParaRPr lang="en-US" sz="1400" dirty="0"/>
          </a:p>
          <a:p>
            <a:pPr indent="0" marL="0">
              <a:buNone/>
            </a:pPr>
            <a:r>
              <a:rPr lang="en-US" sz="1400" b="1" dirty="0">
                <a:solidFill>
                  <a:srgbClr val="1D4ED8"/>
                </a:solidFill>
                <a:latin typeface="Consolas" pitchFamily="34" charset="0"/>
                <a:ea typeface="Consolas" pitchFamily="34" charset="-122"/>
                <a:cs typeface="Consolas" pitchFamily="34" charset="-120"/>
              </a:rPr>
              <a:t>BEGIN</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SET</a:t>
            </a:r>
            <a:r>
              <a:rPr lang="en-US" sz="1400" dirty="0">
                <a:solidFill>
                  <a:srgbClr val="1F2933"/>
                </a:solidFill>
                <a:latin typeface="Consolas" pitchFamily="34" charset="0"/>
                <a:ea typeface="Consolas" pitchFamily="34" charset="-122"/>
                <a:cs typeface="Consolas" pitchFamily="34" charset="-120"/>
              </a:rPr>
              <a:t> NOCOUNT </a:t>
            </a:r>
            <a:r>
              <a:rPr lang="en-US" sz="1400" b="1" dirty="0">
                <a:solidFill>
                  <a:srgbClr val="1D4ED8"/>
                </a:solidFill>
                <a:latin typeface="Consolas" pitchFamily="34" charset="0"/>
                <a:ea typeface="Consolas" pitchFamily="34" charset="-122"/>
                <a:cs typeface="Consolas" pitchFamily="34" charset="-120"/>
              </a:rPr>
              <a:t>ON</a:t>
            </a:r>
            <a:r>
              <a:rPr lang="en-US" sz="1400" dirty="0">
                <a:solidFill>
                  <a:srgbClr val="1F2933"/>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SELECT</a:t>
            </a:r>
            <a:r>
              <a:rPr lang="en-US" sz="1400" dirty="0">
                <a:solidFill>
                  <a:srgbClr val="1F2933"/>
                </a:solidFill>
                <a:latin typeface="Consolas" pitchFamily="34" charset="0"/>
                <a:ea typeface="Consolas" pitchFamily="34" charset="-122"/>
                <a:cs typeface="Consolas" pitchFamily="34" charset="-120"/>
              </a:rPr>
              <a:t> p.PedidoId, p.Fecha, p.Total</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FROM</a:t>
            </a:r>
            <a:r>
              <a:rPr lang="en-US" sz="1400" dirty="0">
                <a:solidFill>
                  <a:srgbClr val="1F2933"/>
                </a:solidFill>
                <a:latin typeface="Consolas" pitchFamily="34" charset="0"/>
                <a:ea typeface="Consolas" pitchFamily="34" charset="-122"/>
                <a:cs typeface="Consolas" pitchFamily="34" charset="-120"/>
              </a:rPr>
              <a:t>   dbo.Pedido </a:t>
            </a:r>
            <a:r>
              <a:rPr lang="en-US" sz="1400" b="1" dirty="0">
                <a:solidFill>
                  <a:srgbClr val="1D4ED8"/>
                </a:solidFill>
                <a:latin typeface="Consolas" pitchFamily="34" charset="0"/>
                <a:ea typeface="Consolas" pitchFamily="34" charset="-122"/>
                <a:cs typeface="Consolas" pitchFamily="34" charset="-120"/>
              </a:rPr>
              <a:t>AS</a:t>
            </a:r>
            <a:r>
              <a:rPr lang="en-US" sz="1400" dirty="0">
                <a:solidFill>
                  <a:srgbClr val="1F2933"/>
                </a:solidFill>
                <a:latin typeface="Consolas" pitchFamily="34" charset="0"/>
                <a:ea typeface="Consolas" pitchFamily="34" charset="-122"/>
                <a:cs typeface="Consolas" pitchFamily="34" charset="-120"/>
              </a:rPr>
              <a:t> p</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WHERE</a:t>
            </a:r>
            <a:r>
              <a:rPr lang="en-US" sz="1400" dirty="0">
                <a:solidFill>
                  <a:srgbClr val="1F2933"/>
                </a:solidFill>
                <a:latin typeface="Consolas" pitchFamily="34" charset="0"/>
                <a:ea typeface="Consolas" pitchFamily="34" charset="-122"/>
                <a:cs typeface="Consolas" pitchFamily="34" charset="-120"/>
              </a:rPr>
              <a:t>  p.ClienteId = </a:t>
            </a:r>
            <a:r>
              <a:rPr lang="en-US" sz="1400" dirty="0">
                <a:solidFill>
                  <a:srgbClr val="0F766E"/>
                </a:solidFill>
                <a:latin typeface="Consolas" pitchFamily="34" charset="0"/>
                <a:ea typeface="Consolas" pitchFamily="34" charset="-122"/>
                <a:cs typeface="Consolas" pitchFamily="34" charset="-120"/>
              </a:rPr>
              <a:t>@ClienteId</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AND</a:t>
            </a:r>
            <a:r>
              <a:rPr lang="en-US" sz="1400" dirty="0">
                <a:solidFill>
                  <a:srgbClr val="1F2933"/>
                </a:solidFill>
                <a:latin typeface="Consolas" pitchFamily="34" charset="0"/>
                <a:ea typeface="Consolas" pitchFamily="34" charset="-122"/>
                <a:cs typeface="Consolas" pitchFamily="34" charset="-120"/>
              </a:rPr>
              <a:t>  p.Fecha &gt;= </a:t>
            </a:r>
            <a:r>
              <a:rPr lang="en-US" sz="1400" dirty="0">
                <a:solidFill>
                  <a:srgbClr val="0F766E"/>
                </a:solidFill>
                <a:latin typeface="Consolas" pitchFamily="34" charset="0"/>
                <a:ea typeface="Consolas" pitchFamily="34" charset="-122"/>
                <a:cs typeface="Consolas" pitchFamily="34" charset="-120"/>
              </a:rPr>
              <a:t>@Desde</a:t>
            </a:r>
            <a:endParaRPr lang="en-US" sz="1400" dirty="0"/>
          </a:p>
          <a:p>
            <a:pPr indent="0" marL="0">
              <a:buNone/>
            </a:pP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ORDER</a:t>
            </a:r>
            <a:r>
              <a:rPr lang="en-US" sz="1400" dirty="0">
                <a:solidFill>
                  <a:srgbClr val="1F2933"/>
                </a:solidFill>
                <a:latin typeface="Consolas" pitchFamily="34" charset="0"/>
                <a:ea typeface="Consolas" pitchFamily="34" charset="-122"/>
                <a:cs typeface="Consolas" pitchFamily="34" charset="-120"/>
              </a:rPr>
              <a:t> </a:t>
            </a:r>
            <a:r>
              <a:rPr lang="en-US" sz="1400" b="1" dirty="0">
                <a:solidFill>
                  <a:srgbClr val="1D4ED8"/>
                </a:solidFill>
                <a:latin typeface="Consolas" pitchFamily="34" charset="0"/>
                <a:ea typeface="Consolas" pitchFamily="34" charset="-122"/>
                <a:cs typeface="Consolas" pitchFamily="34" charset="-120"/>
              </a:rPr>
              <a:t>BY</a:t>
            </a:r>
            <a:r>
              <a:rPr lang="en-US" sz="1400" dirty="0">
                <a:solidFill>
                  <a:srgbClr val="1F2933"/>
                </a:solidFill>
                <a:latin typeface="Consolas" pitchFamily="34" charset="0"/>
                <a:ea typeface="Consolas" pitchFamily="34" charset="-122"/>
                <a:cs typeface="Consolas" pitchFamily="34" charset="-120"/>
              </a:rPr>
              <a:t> p.Fecha </a:t>
            </a:r>
            <a:r>
              <a:rPr lang="en-US" sz="1400" b="1" dirty="0">
                <a:solidFill>
                  <a:srgbClr val="1D4ED8"/>
                </a:solidFill>
                <a:latin typeface="Consolas" pitchFamily="34" charset="0"/>
                <a:ea typeface="Consolas" pitchFamily="34" charset="-122"/>
                <a:cs typeface="Consolas" pitchFamily="34" charset="-120"/>
              </a:rPr>
              <a:t>DESC</a:t>
            </a:r>
            <a:r>
              <a:rPr lang="en-US" sz="1400" dirty="0">
                <a:solidFill>
                  <a:srgbClr val="1F2933"/>
                </a:solidFill>
                <a:latin typeface="Consolas" pitchFamily="34" charset="0"/>
                <a:ea typeface="Consolas" pitchFamily="34" charset="-122"/>
                <a:cs typeface="Consolas" pitchFamily="34" charset="-120"/>
              </a:rPr>
              <a:t>;</a:t>
            </a:r>
            <a:endParaRPr lang="en-US" sz="1400" dirty="0"/>
          </a:p>
          <a:p>
            <a:pPr indent="0" marL="0">
              <a:buNone/>
            </a:pPr>
            <a:r>
              <a:rPr lang="en-US" sz="1400" b="1" dirty="0">
                <a:solidFill>
                  <a:srgbClr val="1D4ED8"/>
                </a:solidFill>
                <a:latin typeface="Consolas" pitchFamily="34" charset="0"/>
                <a:ea typeface="Consolas" pitchFamily="34" charset="-122"/>
                <a:cs typeface="Consolas" pitchFamily="34" charset="-120"/>
              </a:rPr>
              <a:t>END</a:t>
            </a:r>
            <a:r>
              <a:rPr lang="en-US" sz="1400" dirty="0">
                <a:solidFill>
                  <a:srgbClr val="1F2933"/>
                </a:solidFill>
                <a:latin typeface="Consolas" pitchFamily="34" charset="0"/>
                <a:ea typeface="Consolas" pitchFamily="34" charset="-122"/>
                <a:cs typeface="Consolas" pitchFamily="34" charset="-120"/>
              </a:rPr>
              <a:t>;</a:t>
            </a:r>
            <a:endParaRPr lang="en-US" sz="1400" dirty="0"/>
          </a:p>
          <a:p>
            <a:pPr indent="0" marL="0">
              <a:buNone/>
            </a:pPr>
            <a:r>
              <a:rPr lang="en-US" sz="1400" b="1" dirty="0">
                <a:solidFill>
                  <a:srgbClr val="1D4ED8"/>
                </a:solidFill>
                <a:latin typeface="Consolas" pitchFamily="34" charset="0"/>
                <a:ea typeface="Consolas" pitchFamily="34" charset="-122"/>
                <a:cs typeface="Consolas" pitchFamily="34" charset="-120"/>
              </a:rPr>
              <a:t>GO</a:t>
            </a:r>
            <a:endParaRPr lang="en-US" sz="1400" dirty="0"/>
          </a:p>
          <a:p>
            <a:pPr indent="0" marL="0">
              <a:buNone/>
            </a:pPr>
            <a:r>
              <a:rPr lang="en-US" sz="1400" b="1" dirty="0">
                <a:solidFill>
                  <a:srgbClr val="1D4ED8"/>
                </a:solidFill>
                <a:latin typeface="Consolas" pitchFamily="34" charset="0"/>
                <a:ea typeface="Consolas" pitchFamily="34" charset="-122"/>
                <a:cs typeface="Consolas" pitchFamily="34" charset="-120"/>
              </a:rPr>
              <a:t>EXEC</a:t>
            </a:r>
            <a:r>
              <a:rPr lang="en-US" sz="1400" dirty="0">
                <a:solidFill>
                  <a:srgbClr val="1F2933"/>
                </a:solidFill>
                <a:latin typeface="Consolas" pitchFamily="34" charset="0"/>
                <a:ea typeface="Consolas" pitchFamily="34" charset="-122"/>
                <a:cs typeface="Consolas" pitchFamily="34" charset="-120"/>
              </a:rPr>
              <a:t> dbo.usp_PedidosPorCliente </a:t>
            </a:r>
            <a:r>
              <a:rPr lang="en-US" sz="1400" dirty="0">
                <a:solidFill>
                  <a:srgbClr val="0F766E"/>
                </a:solidFill>
                <a:latin typeface="Consolas" pitchFamily="34" charset="0"/>
                <a:ea typeface="Consolas" pitchFamily="34" charset="-122"/>
                <a:cs typeface="Consolas" pitchFamily="34" charset="-120"/>
              </a:rPr>
              <a:t>@ClienteId</a:t>
            </a:r>
            <a:r>
              <a:rPr lang="en-US" sz="1400" dirty="0">
                <a:solidFill>
                  <a:srgbClr val="1F2933"/>
                </a:solidFill>
                <a:latin typeface="Consolas" pitchFamily="34" charset="0"/>
                <a:ea typeface="Consolas" pitchFamily="34" charset="-122"/>
                <a:cs typeface="Consolas" pitchFamily="34" charset="-120"/>
              </a:rPr>
              <a:t> = </a:t>
            </a:r>
            <a:r>
              <a:rPr lang="en-US" sz="1400" dirty="0">
                <a:solidFill>
                  <a:srgbClr val="9A3412"/>
                </a:solidFill>
                <a:latin typeface="Consolas" pitchFamily="34" charset="0"/>
                <a:ea typeface="Consolas" pitchFamily="34" charset="-122"/>
                <a:cs typeface="Consolas" pitchFamily="34" charset="-120"/>
              </a:rPr>
              <a:t>42</a:t>
            </a:r>
            <a:r>
              <a:rPr lang="en-US" sz="1400" dirty="0">
                <a:solidFill>
                  <a:srgbClr val="1F2933"/>
                </a:solidFill>
                <a:latin typeface="Consolas" pitchFamily="34" charset="0"/>
                <a:ea typeface="Consolas" pitchFamily="34" charset="-122"/>
                <a:cs typeface="Consolas" pitchFamily="34" charset="-120"/>
              </a:rPr>
              <a:t>;</a:t>
            </a:r>
            <a:endParaRPr lang="en-US" sz="1400" dirty="0"/>
          </a:p>
        </p:txBody>
      </p:sp>
      <p:sp>
        <p:nvSpPr>
          <p:cNvPr id="10" name="Shape 7"/>
          <p:cNvSpPr/>
          <p:nvPr/>
        </p:nvSpPr>
        <p:spPr>
          <a:xfrm>
            <a:off x="7589520" y="1600200"/>
            <a:ext cx="4050792" cy="4572000"/>
          </a:xfrm>
          <a:prstGeom prst="roundRect">
            <a:avLst>
              <a:gd name="adj" fmla="val 270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7818120" y="1828800"/>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7955280" y="1965960"/>
            <a:ext cx="274320" cy="274320"/>
          </a:xfrm>
          <a:prstGeom prst="rect">
            <a:avLst/>
          </a:prstGeom>
        </p:spPr>
      </p:pic>
      <p:sp>
        <p:nvSpPr>
          <p:cNvPr id="13" name="Text 9"/>
          <p:cNvSpPr/>
          <p:nvPr/>
        </p:nvSpPr>
        <p:spPr>
          <a:xfrm>
            <a:off x="8503920" y="1828800"/>
            <a:ext cx="290779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Por qué usarlos</a:t>
            </a:r>
            <a:endParaRPr lang="en-US" sz="1700" dirty="0"/>
          </a:p>
        </p:txBody>
      </p:sp>
      <p:sp>
        <p:nvSpPr>
          <p:cNvPr id="14" name="Text 10"/>
          <p:cNvSpPr/>
          <p:nvPr/>
        </p:nvSpPr>
        <p:spPr>
          <a:xfrm>
            <a:off x="7818120" y="2560320"/>
            <a:ext cx="3593592" cy="33832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Plan reutilizable en el Plan Cache</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EXECUTE sin dar acceso a las tablas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Lógica encapsulada con TRY...CATCH</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SET NOCOUNT ON reduce tráfico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Parámetros tipados frente a SQL concatenado</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76022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PROGRAMABILIDAD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Plan caching, sniffing y recompilaciones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27</a:t>
            </a:r>
            <a:endParaRPr lang="en-US" sz="1000" dirty="0"/>
          </a:p>
        </p:txBody>
      </p:sp>
      <p:sp>
        <p:nvSpPr>
          <p:cNvPr id="7" name="Shape 4"/>
          <p:cNvSpPr/>
          <p:nvPr/>
        </p:nvSpPr>
        <p:spPr>
          <a:xfrm>
            <a:off x="548640"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Compilar</a:t>
            </a:r>
            <a:endParaRPr lang="en-US" sz="1600" dirty="0"/>
          </a:p>
        </p:txBody>
      </p:sp>
      <p:sp>
        <p:nvSpPr>
          <p:cNvPr id="11" name="Text 8"/>
          <p:cNvSpPr/>
          <p:nvPr/>
        </p:nvSpPr>
        <p:spPr>
          <a:xfrm>
            <a:off x="777240"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El optimizador crea el plan con estadísticas y el valor del parámetro.</a:t>
            </a:r>
            <a:endParaRPr lang="en-US" sz="1400" dirty="0"/>
          </a:p>
        </p:txBody>
      </p:sp>
      <p:sp>
        <p:nvSpPr>
          <p:cNvPr id="12" name="Shape 9"/>
          <p:cNvSpPr/>
          <p:nvPr/>
        </p:nvSpPr>
        <p:spPr>
          <a:xfrm>
            <a:off x="3118104" y="1947672"/>
            <a:ext cx="246888" cy="274320"/>
          </a:xfrm>
          <a:prstGeom prst="rightArrow">
            <a:avLst/>
          </a:prstGeom>
          <a:solidFill>
            <a:srgbClr val="D95D39"/>
          </a:solidFill>
          <a:ln/>
        </p:spPr>
      </p:sp>
      <p:sp>
        <p:nvSpPr>
          <p:cNvPr id="13" name="Shape 10"/>
          <p:cNvSpPr/>
          <p:nvPr/>
        </p:nvSpPr>
        <p:spPr>
          <a:xfrm>
            <a:off x="3401568"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3630168" y="1828800"/>
            <a:ext cx="502920" cy="502920"/>
          </a:xfrm>
          <a:prstGeom prst="ellipse">
            <a:avLst/>
          </a:prstGeom>
          <a:solidFill>
            <a:srgbClr val="134074"/>
          </a:solidFill>
          <a:ln/>
        </p:spPr>
      </p:sp>
      <p:sp>
        <p:nvSpPr>
          <p:cNvPr id="15" name="Text 12"/>
          <p:cNvSpPr/>
          <p:nvPr/>
        </p:nvSpPr>
        <p:spPr>
          <a:xfrm>
            <a:off x="36301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3630168"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Cachear</a:t>
            </a:r>
            <a:endParaRPr lang="en-US" sz="1600" dirty="0"/>
          </a:p>
        </p:txBody>
      </p:sp>
      <p:sp>
        <p:nvSpPr>
          <p:cNvPr id="17" name="Text 14"/>
          <p:cNvSpPr/>
          <p:nvPr/>
        </p:nvSpPr>
        <p:spPr>
          <a:xfrm>
            <a:off x="3630168"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El plan se guarda en el Plan Cache, localizado por hash del texto.</a:t>
            </a:r>
            <a:endParaRPr lang="en-US" sz="1400" dirty="0"/>
          </a:p>
        </p:txBody>
      </p:sp>
      <p:sp>
        <p:nvSpPr>
          <p:cNvPr id="18" name="Shape 15"/>
          <p:cNvSpPr/>
          <p:nvPr/>
        </p:nvSpPr>
        <p:spPr>
          <a:xfrm>
            <a:off x="5971032" y="1947672"/>
            <a:ext cx="246888" cy="274320"/>
          </a:xfrm>
          <a:prstGeom prst="rightArrow">
            <a:avLst/>
          </a:prstGeom>
          <a:solidFill>
            <a:srgbClr val="D95D39"/>
          </a:solidFill>
          <a:ln/>
        </p:spPr>
      </p:sp>
      <p:sp>
        <p:nvSpPr>
          <p:cNvPr id="19" name="Shape 16"/>
          <p:cNvSpPr/>
          <p:nvPr/>
        </p:nvSpPr>
        <p:spPr>
          <a:xfrm>
            <a:off x="6254496"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6483096" y="1828800"/>
            <a:ext cx="502920" cy="502920"/>
          </a:xfrm>
          <a:prstGeom prst="ellipse">
            <a:avLst/>
          </a:prstGeom>
          <a:solidFill>
            <a:srgbClr val="134074"/>
          </a:solidFill>
          <a:ln/>
        </p:spPr>
      </p:sp>
      <p:sp>
        <p:nvSpPr>
          <p:cNvPr id="21" name="Text 18"/>
          <p:cNvSpPr/>
          <p:nvPr/>
        </p:nvSpPr>
        <p:spPr>
          <a:xfrm>
            <a:off x="6483096"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6483096"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Reutilizar</a:t>
            </a:r>
            <a:endParaRPr lang="en-US" sz="1600" dirty="0"/>
          </a:p>
        </p:txBody>
      </p:sp>
      <p:sp>
        <p:nvSpPr>
          <p:cNvPr id="23" name="Text 20"/>
          <p:cNvSpPr/>
          <p:nvPr/>
        </p:nvSpPr>
        <p:spPr>
          <a:xfrm>
            <a:off x="6483096"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Las siguientes ejecuciones se saltan la compilación.</a:t>
            </a:r>
            <a:endParaRPr lang="en-US" sz="1400" dirty="0"/>
          </a:p>
        </p:txBody>
      </p:sp>
      <p:sp>
        <p:nvSpPr>
          <p:cNvPr id="24" name="Shape 21"/>
          <p:cNvSpPr/>
          <p:nvPr/>
        </p:nvSpPr>
        <p:spPr>
          <a:xfrm>
            <a:off x="8823960" y="1947672"/>
            <a:ext cx="246888" cy="274320"/>
          </a:xfrm>
          <a:prstGeom prst="rightArrow">
            <a:avLst/>
          </a:prstGeom>
          <a:solidFill>
            <a:srgbClr val="D95D39"/>
          </a:solidFill>
          <a:ln/>
        </p:spPr>
      </p:sp>
      <p:sp>
        <p:nvSpPr>
          <p:cNvPr id="25" name="Shape 22"/>
          <p:cNvSpPr/>
          <p:nvPr/>
        </p:nvSpPr>
        <p:spPr>
          <a:xfrm>
            <a:off x="9107424"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9336024" y="1828800"/>
            <a:ext cx="502920" cy="502920"/>
          </a:xfrm>
          <a:prstGeom prst="ellipse">
            <a:avLst/>
          </a:prstGeom>
          <a:solidFill>
            <a:srgbClr val="134074"/>
          </a:solidFill>
          <a:ln/>
        </p:spPr>
      </p:sp>
      <p:sp>
        <p:nvSpPr>
          <p:cNvPr id="27" name="Text 24"/>
          <p:cNvSpPr/>
          <p:nvPr/>
        </p:nvSpPr>
        <p:spPr>
          <a:xfrm>
            <a:off x="933602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9336024"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Recompilar</a:t>
            </a:r>
            <a:endParaRPr lang="en-US" sz="1600" dirty="0"/>
          </a:p>
        </p:txBody>
      </p:sp>
      <p:sp>
        <p:nvSpPr>
          <p:cNvPr id="29" name="Text 26"/>
          <p:cNvSpPr/>
          <p:nvPr/>
        </p:nvSpPr>
        <p:spPr>
          <a:xfrm>
            <a:off x="9336024"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Cambios de esquema, estadísticas o SET options lo invalidan.</a:t>
            </a:r>
            <a:endParaRPr lang="en-US" sz="1400" dirty="0"/>
          </a:p>
        </p:txBody>
      </p:sp>
      <p:sp>
        <p:nvSpPr>
          <p:cNvPr id="30" name="Shape 27"/>
          <p:cNvSpPr/>
          <p:nvPr/>
        </p:nvSpPr>
        <p:spPr>
          <a:xfrm>
            <a:off x="548640" y="4572000"/>
            <a:ext cx="6858000" cy="1600200"/>
          </a:xfrm>
          <a:prstGeom prst="roundRect">
            <a:avLst>
              <a:gd name="adj" fmla="val 5714"/>
            </a:avLst>
          </a:prstGeom>
          <a:solidFill>
            <a:srgbClr val="ECEFF3"/>
          </a:solidFill>
          <a:ln w="9525">
            <a:solidFill>
              <a:srgbClr val="D0D7DE"/>
            </a:solidFill>
            <a:prstDash val="solid"/>
          </a:ln>
        </p:spPr>
      </p:sp>
      <p:sp>
        <p:nvSpPr>
          <p:cNvPr id="31" name="Text 28"/>
          <p:cNvSpPr/>
          <p:nvPr/>
        </p:nvSpPr>
        <p:spPr>
          <a:xfrm>
            <a:off x="731520" y="46634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mitigaciones y DMV</a:t>
            </a:r>
            <a:endParaRPr lang="en-US" sz="1000" dirty="0"/>
          </a:p>
        </p:txBody>
      </p:sp>
      <p:sp>
        <p:nvSpPr>
          <p:cNvPr id="32" name="Text 29"/>
          <p:cNvSpPr/>
          <p:nvPr/>
        </p:nvSpPr>
        <p:spPr>
          <a:xfrm>
            <a:off x="731520" y="4937760"/>
            <a:ext cx="6492240" cy="114300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Mitigaciones de parameter sniffing</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EXEC</a:t>
            </a:r>
            <a:r>
              <a:rPr lang="en-US" sz="1200" dirty="0">
                <a:solidFill>
                  <a:srgbClr val="1F2933"/>
                </a:solidFill>
                <a:latin typeface="Consolas" pitchFamily="34" charset="0"/>
                <a:ea typeface="Consolas" pitchFamily="34" charset="-122"/>
                <a:cs typeface="Consolas" pitchFamily="34" charset="-120"/>
              </a:rPr>
              <a:t> dbo.usp_PedidosPorCliente </a:t>
            </a:r>
            <a:r>
              <a:rPr lang="en-US" sz="1200" dirty="0">
                <a:solidFill>
                  <a:srgbClr val="0F766E"/>
                </a:solidFill>
                <a:latin typeface="Consolas" pitchFamily="34" charset="0"/>
                <a:ea typeface="Consolas" pitchFamily="34" charset="-122"/>
                <a:cs typeface="Consolas" pitchFamily="34" charset="-120"/>
              </a:rPr>
              <a:t>@ClienteId</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9A3412"/>
                </a:solidFill>
                <a:latin typeface="Consolas" pitchFamily="34" charset="0"/>
                <a:ea typeface="Consolas" pitchFamily="34" charset="-122"/>
                <a:cs typeface="Consolas" pitchFamily="34" charset="-120"/>
              </a:rPr>
              <a:t>42</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RECOMPILE</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En la consulta: OPTION (RECOMPILE) / OPTION (OPTIMIZE FOR UNKNOWN)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5</a:t>
            </a:r>
            <a:r>
              <a:rPr lang="en-US" sz="1200" dirty="0">
                <a:solidFill>
                  <a:srgbClr val="1F2933"/>
                </a:solidFill>
                <a:latin typeface="Consolas" pitchFamily="34" charset="0"/>
                <a:ea typeface="Consolas" pitchFamily="34" charset="-122"/>
                <a:cs typeface="Consolas" pitchFamily="34" charset="-120"/>
              </a:rPr>
              <a:t>) usecounts, size_in_bytes, objtype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sys.dm_exec_cached_plans </a:t>
            </a: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usecounts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33" name="Shape 30"/>
          <p:cNvSpPr/>
          <p:nvPr/>
        </p:nvSpPr>
        <p:spPr>
          <a:xfrm>
            <a:off x="7680960" y="4572000"/>
            <a:ext cx="3959352" cy="1600200"/>
          </a:xfrm>
          <a:prstGeom prst="roundRect">
            <a:avLst>
              <a:gd name="adj" fmla="val 6857"/>
            </a:avLst>
          </a:prstGeom>
          <a:solidFill>
            <a:srgbClr val="FDEDE8"/>
          </a:solidFill>
          <a:ln/>
        </p:spPr>
      </p:sp>
      <p:sp>
        <p:nvSpPr>
          <p:cNvPr id="34" name="Shape 31"/>
          <p:cNvSpPr/>
          <p:nvPr/>
        </p:nvSpPr>
        <p:spPr>
          <a:xfrm>
            <a:off x="7863840" y="5143500"/>
            <a:ext cx="457200" cy="457200"/>
          </a:xfrm>
          <a:prstGeom prst="ellipse">
            <a:avLst/>
          </a:prstGeom>
          <a:solidFill>
            <a:srgbClr val="D95D39"/>
          </a:solidFill>
          <a:ln/>
        </p:spPr>
      </p:sp>
      <p:pic>
        <p:nvPicPr>
          <p:cNvPr id="35" name="Image 0" descr="preencoded.png">    </p:cNvPr>
          <p:cNvPicPr>
            <a:picLocks noChangeAspect="1"/>
          </p:cNvPicPr>
          <p:nvPr/>
        </p:nvPicPr>
        <p:blipFill>
          <a:blip r:embed="rId1"/>
          <a:stretch>
            <a:fillRect/>
          </a:stretch>
        </p:blipFill>
        <p:spPr>
          <a:xfrm>
            <a:off x="7978140" y="5257800"/>
            <a:ext cx="228600" cy="228600"/>
          </a:xfrm>
          <a:prstGeom prst="rect">
            <a:avLst/>
          </a:prstGeom>
        </p:spPr>
      </p:pic>
      <p:sp>
        <p:nvSpPr>
          <p:cNvPr id="36" name="Text 32"/>
          <p:cNvSpPr/>
          <p:nvPr/>
        </p:nvSpPr>
        <p:spPr>
          <a:xfrm>
            <a:off x="8503920" y="4572000"/>
            <a:ext cx="2953512" cy="16002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Sniffing: </a:t>
            </a:r>
            <a:r>
              <a:rPr lang="en-US" sz="1400" dirty="0">
                <a:solidFill>
                  <a:srgbClr val="1F2933"/>
                </a:solidFill>
                <a:latin typeface="Calibri" pitchFamily="34" charset="0"/>
                <a:ea typeface="Calibri" pitchFamily="34" charset="-122"/>
                <a:cs typeface="Calibri" pitchFamily="34" charset="-120"/>
              </a:rPr>
              <a:t>el primer valor compilado fija el plan para todos los demás.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DML AVANZADO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SELECT complejos: orden lógico de ejecución</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28</a:t>
            </a:r>
            <a:endParaRPr lang="en-US" sz="1000" dirty="0"/>
          </a:p>
        </p:txBody>
      </p:sp>
      <p:sp>
        <p:nvSpPr>
          <p:cNvPr id="7" name="Shape 4"/>
          <p:cNvSpPr/>
          <p:nvPr/>
        </p:nvSpPr>
        <p:spPr>
          <a:xfrm>
            <a:off x="548640" y="1600200"/>
            <a:ext cx="1620012" cy="2331720"/>
          </a:xfrm>
          <a:prstGeom prst="roundRect">
            <a:avLst>
              <a:gd name="adj" fmla="val 67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1162812"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FROM</a:t>
            </a:r>
            <a:endParaRPr lang="en-US" sz="1600" dirty="0"/>
          </a:p>
        </p:txBody>
      </p:sp>
      <p:sp>
        <p:nvSpPr>
          <p:cNvPr id="11" name="Text 8"/>
          <p:cNvSpPr/>
          <p:nvPr/>
        </p:nvSpPr>
        <p:spPr>
          <a:xfrm>
            <a:off x="777240" y="3154680"/>
            <a:ext cx="1162812"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Origen y JOINs</a:t>
            </a:r>
            <a:endParaRPr lang="en-US" sz="1400" dirty="0"/>
          </a:p>
        </p:txBody>
      </p:sp>
      <p:sp>
        <p:nvSpPr>
          <p:cNvPr id="12" name="Shape 9"/>
          <p:cNvSpPr/>
          <p:nvPr/>
        </p:nvSpPr>
        <p:spPr>
          <a:xfrm>
            <a:off x="2205228" y="1947672"/>
            <a:ext cx="201168" cy="274320"/>
          </a:xfrm>
          <a:prstGeom prst="rightArrow">
            <a:avLst/>
          </a:prstGeom>
          <a:solidFill>
            <a:srgbClr val="D95D39"/>
          </a:solidFill>
          <a:ln/>
        </p:spPr>
      </p:sp>
      <p:sp>
        <p:nvSpPr>
          <p:cNvPr id="13" name="Shape 10"/>
          <p:cNvSpPr/>
          <p:nvPr/>
        </p:nvSpPr>
        <p:spPr>
          <a:xfrm>
            <a:off x="2442972" y="1600200"/>
            <a:ext cx="1620012" cy="2331720"/>
          </a:xfrm>
          <a:prstGeom prst="roundRect">
            <a:avLst>
              <a:gd name="adj" fmla="val 67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2671572" y="1828800"/>
            <a:ext cx="502920" cy="502920"/>
          </a:xfrm>
          <a:prstGeom prst="ellipse">
            <a:avLst/>
          </a:prstGeom>
          <a:solidFill>
            <a:srgbClr val="134074"/>
          </a:solidFill>
          <a:ln/>
        </p:spPr>
      </p:sp>
      <p:sp>
        <p:nvSpPr>
          <p:cNvPr id="15" name="Text 12"/>
          <p:cNvSpPr/>
          <p:nvPr/>
        </p:nvSpPr>
        <p:spPr>
          <a:xfrm>
            <a:off x="2671572"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2671572" y="2468880"/>
            <a:ext cx="1162812"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WHERE</a:t>
            </a:r>
            <a:endParaRPr lang="en-US" sz="1600" dirty="0"/>
          </a:p>
        </p:txBody>
      </p:sp>
      <p:sp>
        <p:nvSpPr>
          <p:cNvPr id="17" name="Text 14"/>
          <p:cNvSpPr/>
          <p:nvPr/>
        </p:nvSpPr>
        <p:spPr>
          <a:xfrm>
            <a:off x="2671572" y="3154680"/>
            <a:ext cx="1162812"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Filtra filas</a:t>
            </a:r>
            <a:endParaRPr lang="en-US" sz="1400" dirty="0"/>
          </a:p>
        </p:txBody>
      </p:sp>
      <p:sp>
        <p:nvSpPr>
          <p:cNvPr id="18" name="Shape 15"/>
          <p:cNvSpPr/>
          <p:nvPr/>
        </p:nvSpPr>
        <p:spPr>
          <a:xfrm>
            <a:off x="4099560" y="1947672"/>
            <a:ext cx="201168" cy="274320"/>
          </a:xfrm>
          <a:prstGeom prst="rightArrow">
            <a:avLst/>
          </a:prstGeom>
          <a:solidFill>
            <a:srgbClr val="D95D39"/>
          </a:solidFill>
          <a:ln/>
        </p:spPr>
      </p:sp>
      <p:sp>
        <p:nvSpPr>
          <p:cNvPr id="19" name="Shape 16"/>
          <p:cNvSpPr/>
          <p:nvPr/>
        </p:nvSpPr>
        <p:spPr>
          <a:xfrm>
            <a:off x="4337304" y="1600200"/>
            <a:ext cx="1620012" cy="2331720"/>
          </a:xfrm>
          <a:prstGeom prst="roundRect">
            <a:avLst>
              <a:gd name="adj" fmla="val 67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4565904" y="1828800"/>
            <a:ext cx="502920" cy="502920"/>
          </a:xfrm>
          <a:prstGeom prst="ellipse">
            <a:avLst/>
          </a:prstGeom>
          <a:solidFill>
            <a:srgbClr val="134074"/>
          </a:solidFill>
          <a:ln/>
        </p:spPr>
      </p:sp>
      <p:sp>
        <p:nvSpPr>
          <p:cNvPr id="21" name="Text 18"/>
          <p:cNvSpPr/>
          <p:nvPr/>
        </p:nvSpPr>
        <p:spPr>
          <a:xfrm>
            <a:off x="456590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4565904" y="2468880"/>
            <a:ext cx="1162812"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GROUP BY</a:t>
            </a:r>
            <a:endParaRPr lang="en-US" sz="1600" dirty="0"/>
          </a:p>
        </p:txBody>
      </p:sp>
      <p:sp>
        <p:nvSpPr>
          <p:cNvPr id="23" name="Text 20"/>
          <p:cNvSpPr/>
          <p:nvPr/>
        </p:nvSpPr>
        <p:spPr>
          <a:xfrm>
            <a:off x="4565904" y="3154680"/>
            <a:ext cx="1162812"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Agrupa filas</a:t>
            </a:r>
            <a:endParaRPr lang="en-US" sz="1400" dirty="0"/>
          </a:p>
        </p:txBody>
      </p:sp>
      <p:sp>
        <p:nvSpPr>
          <p:cNvPr id="24" name="Shape 21"/>
          <p:cNvSpPr/>
          <p:nvPr/>
        </p:nvSpPr>
        <p:spPr>
          <a:xfrm>
            <a:off x="5993892" y="1947672"/>
            <a:ext cx="201168" cy="274320"/>
          </a:xfrm>
          <a:prstGeom prst="rightArrow">
            <a:avLst/>
          </a:prstGeom>
          <a:solidFill>
            <a:srgbClr val="D95D39"/>
          </a:solidFill>
          <a:ln/>
        </p:spPr>
      </p:sp>
      <p:sp>
        <p:nvSpPr>
          <p:cNvPr id="25" name="Shape 22"/>
          <p:cNvSpPr/>
          <p:nvPr/>
        </p:nvSpPr>
        <p:spPr>
          <a:xfrm>
            <a:off x="6231636" y="1600200"/>
            <a:ext cx="1620012" cy="2331720"/>
          </a:xfrm>
          <a:prstGeom prst="roundRect">
            <a:avLst>
              <a:gd name="adj" fmla="val 67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6460236" y="1828800"/>
            <a:ext cx="502920" cy="502920"/>
          </a:xfrm>
          <a:prstGeom prst="ellipse">
            <a:avLst/>
          </a:prstGeom>
          <a:solidFill>
            <a:srgbClr val="134074"/>
          </a:solidFill>
          <a:ln/>
        </p:spPr>
      </p:sp>
      <p:sp>
        <p:nvSpPr>
          <p:cNvPr id="27" name="Text 24"/>
          <p:cNvSpPr/>
          <p:nvPr/>
        </p:nvSpPr>
        <p:spPr>
          <a:xfrm>
            <a:off x="6460236"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6460236" y="2468880"/>
            <a:ext cx="1162812"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HAVING</a:t>
            </a:r>
            <a:endParaRPr lang="en-US" sz="1600" dirty="0"/>
          </a:p>
        </p:txBody>
      </p:sp>
      <p:sp>
        <p:nvSpPr>
          <p:cNvPr id="29" name="Text 26"/>
          <p:cNvSpPr/>
          <p:nvPr/>
        </p:nvSpPr>
        <p:spPr>
          <a:xfrm>
            <a:off x="6460236" y="3154680"/>
            <a:ext cx="1162812"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Filtra grupos</a:t>
            </a:r>
            <a:endParaRPr lang="en-US" sz="1400" dirty="0"/>
          </a:p>
        </p:txBody>
      </p:sp>
      <p:sp>
        <p:nvSpPr>
          <p:cNvPr id="30" name="Shape 27"/>
          <p:cNvSpPr/>
          <p:nvPr/>
        </p:nvSpPr>
        <p:spPr>
          <a:xfrm>
            <a:off x="7888224" y="1947672"/>
            <a:ext cx="201168" cy="274320"/>
          </a:xfrm>
          <a:prstGeom prst="rightArrow">
            <a:avLst/>
          </a:prstGeom>
          <a:solidFill>
            <a:srgbClr val="D95D39"/>
          </a:solidFill>
          <a:ln/>
        </p:spPr>
      </p:sp>
      <p:sp>
        <p:nvSpPr>
          <p:cNvPr id="31" name="Shape 28"/>
          <p:cNvSpPr/>
          <p:nvPr/>
        </p:nvSpPr>
        <p:spPr>
          <a:xfrm>
            <a:off x="8125968" y="1600200"/>
            <a:ext cx="1620012" cy="2331720"/>
          </a:xfrm>
          <a:prstGeom prst="roundRect">
            <a:avLst>
              <a:gd name="adj" fmla="val 67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2" name="Shape 29"/>
          <p:cNvSpPr/>
          <p:nvPr/>
        </p:nvSpPr>
        <p:spPr>
          <a:xfrm>
            <a:off x="8354568" y="1828800"/>
            <a:ext cx="502920" cy="502920"/>
          </a:xfrm>
          <a:prstGeom prst="ellipse">
            <a:avLst/>
          </a:prstGeom>
          <a:solidFill>
            <a:srgbClr val="134074"/>
          </a:solidFill>
          <a:ln/>
        </p:spPr>
      </p:sp>
      <p:sp>
        <p:nvSpPr>
          <p:cNvPr id="33" name="Text 30"/>
          <p:cNvSpPr/>
          <p:nvPr/>
        </p:nvSpPr>
        <p:spPr>
          <a:xfrm>
            <a:off x="83545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4" name="Text 31"/>
          <p:cNvSpPr/>
          <p:nvPr/>
        </p:nvSpPr>
        <p:spPr>
          <a:xfrm>
            <a:off x="8354568" y="2468880"/>
            <a:ext cx="1162812"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SELECT</a:t>
            </a:r>
            <a:endParaRPr lang="en-US" sz="1600" dirty="0"/>
          </a:p>
        </p:txBody>
      </p:sp>
      <p:sp>
        <p:nvSpPr>
          <p:cNvPr id="35" name="Text 32"/>
          <p:cNvSpPr/>
          <p:nvPr/>
        </p:nvSpPr>
        <p:spPr>
          <a:xfrm>
            <a:off x="8354568" y="3154680"/>
            <a:ext cx="1162812"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Columnas y OVER</a:t>
            </a:r>
            <a:endParaRPr lang="en-US" sz="1400" dirty="0"/>
          </a:p>
        </p:txBody>
      </p:sp>
      <p:sp>
        <p:nvSpPr>
          <p:cNvPr id="36" name="Shape 33"/>
          <p:cNvSpPr/>
          <p:nvPr/>
        </p:nvSpPr>
        <p:spPr>
          <a:xfrm>
            <a:off x="9782556" y="1947672"/>
            <a:ext cx="201168" cy="274320"/>
          </a:xfrm>
          <a:prstGeom prst="rightArrow">
            <a:avLst/>
          </a:prstGeom>
          <a:solidFill>
            <a:srgbClr val="D95D39"/>
          </a:solidFill>
          <a:ln/>
        </p:spPr>
      </p:sp>
      <p:sp>
        <p:nvSpPr>
          <p:cNvPr id="37" name="Shape 34"/>
          <p:cNvSpPr/>
          <p:nvPr/>
        </p:nvSpPr>
        <p:spPr>
          <a:xfrm>
            <a:off x="10020300" y="1600200"/>
            <a:ext cx="1620012" cy="2331720"/>
          </a:xfrm>
          <a:prstGeom prst="roundRect">
            <a:avLst>
              <a:gd name="adj" fmla="val 67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8" name="Shape 35"/>
          <p:cNvSpPr/>
          <p:nvPr/>
        </p:nvSpPr>
        <p:spPr>
          <a:xfrm>
            <a:off x="10248900" y="1828800"/>
            <a:ext cx="502920" cy="502920"/>
          </a:xfrm>
          <a:prstGeom prst="ellipse">
            <a:avLst/>
          </a:prstGeom>
          <a:solidFill>
            <a:srgbClr val="134074"/>
          </a:solidFill>
          <a:ln/>
        </p:spPr>
      </p:sp>
      <p:sp>
        <p:nvSpPr>
          <p:cNvPr id="39" name="Text 36"/>
          <p:cNvSpPr/>
          <p:nvPr/>
        </p:nvSpPr>
        <p:spPr>
          <a:xfrm>
            <a:off x="1024890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0" name="Text 37"/>
          <p:cNvSpPr/>
          <p:nvPr/>
        </p:nvSpPr>
        <p:spPr>
          <a:xfrm>
            <a:off x="10248900" y="2468880"/>
            <a:ext cx="1162812"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ORDER BY</a:t>
            </a:r>
            <a:endParaRPr lang="en-US" sz="1600" dirty="0"/>
          </a:p>
        </p:txBody>
      </p:sp>
      <p:sp>
        <p:nvSpPr>
          <p:cNvPr id="41" name="Text 38"/>
          <p:cNvSpPr/>
          <p:nvPr/>
        </p:nvSpPr>
        <p:spPr>
          <a:xfrm>
            <a:off x="10248900" y="3154680"/>
            <a:ext cx="1162812"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Ordena y TOP</a:t>
            </a:r>
            <a:endParaRPr lang="en-US" sz="1400" dirty="0"/>
          </a:p>
        </p:txBody>
      </p:sp>
      <p:sp>
        <p:nvSpPr>
          <p:cNvPr id="42" name="Shape 39"/>
          <p:cNvSpPr/>
          <p:nvPr/>
        </p:nvSpPr>
        <p:spPr>
          <a:xfrm>
            <a:off x="548640" y="4206240"/>
            <a:ext cx="7040880" cy="1965960"/>
          </a:xfrm>
          <a:prstGeom prst="roundRect">
            <a:avLst>
              <a:gd name="adj" fmla="val 4651"/>
            </a:avLst>
          </a:prstGeom>
          <a:solidFill>
            <a:srgbClr val="ECEFF3"/>
          </a:solidFill>
          <a:ln w="9525">
            <a:solidFill>
              <a:srgbClr val="D0D7DE"/>
            </a:solidFill>
            <a:prstDash val="solid"/>
          </a:ln>
        </p:spPr>
      </p:sp>
      <p:sp>
        <p:nvSpPr>
          <p:cNvPr id="43" name="Text 40"/>
          <p:cNvSpPr/>
          <p:nvPr/>
        </p:nvSpPr>
        <p:spPr>
          <a:xfrm>
            <a:off x="731520" y="429768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ventas por cliente y año</a:t>
            </a:r>
            <a:endParaRPr lang="en-US" sz="1000" dirty="0"/>
          </a:p>
        </p:txBody>
      </p:sp>
      <p:sp>
        <p:nvSpPr>
          <p:cNvPr id="44" name="Text 41"/>
          <p:cNvSpPr/>
          <p:nvPr/>
        </p:nvSpPr>
        <p:spPr>
          <a:xfrm>
            <a:off x="731520" y="4572000"/>
            <a:ext cx="6675120" cy="150876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c.Nombre, YEAR(p.Fecha)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Anio, SUM(p.Total)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dbo.Cliente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c</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p.ClienteId = c.ClienteId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p.Fecha &gt;= </a:t>
            </a:r>
            <a:r>
              <a:rPr lang="en-US" sz="1200" dirty="0">
                <a:solidFill>
                  <a:srgbClr val="B4441F"/>
                </a:solidFill>
                <a:latin typeface="Consolas" pitchFamily="34" charset="0"/>
                <a:ea typeface="Consolas" pitchFamily="34" charset="-122"/>
                <a:cs typeface="Consolas" pitchFamily="34" charset="-120"/>
              </a:rPr>
              <a:t>'20240101'</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GROUP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c.Nombre, YEAR(p.Fecha)</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HAVING</a:t>
            </a:r>
            <a:r>
              <a:rPr lang="en-US" sz="1200" dirty="0">
                <a:solidFill>
                  <a:srgbClr val="1F2933"/>
                </a:solidFill>
                <a:latin typeface="Consolas" pitchFamily="34" charset="0"/>
                <a:ea typeface="Consolas" pitchFamily="34" charset="-122"/>
                <a:cs typeface="Consolas" pitchFamily="34" charset="-120"/>
              </a:rPr>
              <a:t>   SUM(p.Total) &gt; </a:t>
            </a:r>
            <a:r>
              <a:rPr lang="en-US" sz="1200" dirty="0">
                <a:solidFill>
                  <a:srgbClr val="9A3412"/>
                </a:solidFill>
                <a:latin typeface="Consolas" pitchFamily="34" charset="0"/>
                <a:ea typeface="Consolas" pitchFamily="34" charset="-122"/>
                <a:cs typeface="Consolas" pitchFamily="34" charset="-120"/>
              </a:rPr>
              <a:t>1000</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Ventas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45" name="Shape 42"/>
          <p:cNvSpPr/>
          <p:nvPr/>
        </p:nvSpPr>
        <p:spPr>
          <a:xfrm>
            <a:off x="7863840" y="4206240"/>
            <a:ext cx="3776472" cy="1965960"/>
          </a:xfrm>
          <a:prstGeom prst="roundRect">
            <a:avLst>
              <a:gd name="adj" fmla="val 5581"/>
            </a:avLst>
          </a:prstGeom>
          <a:solidFill>
            <a:srgbClr val="E8EEF5"/>
          </a:solidFill>
          <a:ln/>
        </p:spPr>
      </p:sp>
      <p:sp>
        <p:nvSpPr>
          <p:cNvPr id="46" name="Shape 43"/>
          <p:cNvSpPr/>
          <p:nvPr/>
        </p:nvSpPr>
        <p:spPr>
          <a:xfrm>
            <a:off x="8046720" y="4960620"/>
            <a:ext cx="457200" cy="457200"/>
          </a:xfrm>
          <a:prstGeom prst="ellipse">
            <a:avLst/>
          </a:prstGeom>
          <a:solidFill>
            <a:srgbClr val="134074"/>
          </a:solidFill>
          <a:ln/>
        </p:spPr>
      </p:sp>
      <p:pic>
        <p:nvPicPr>
          <p:cNvPr id="47" name="Image 0" descr="preencoded.png">    </p:cNvPr>
          <p:cNvPicPr>
            <a:picLocks noChangeAspect="1"/>
          </p:cNvPicPr>
          <p:nvPr/>
        </p:nvPicPr>
        <p:blipFill>
          <a:blip r:embed="rId1"/>
          <a:stretch>
            <a:fillRect/>
          </a:stretch>
        </p:blipFill>
        <p:spPr>
          <a:xfrm>
            <a:off x="8161020" y="5074920"/>
            <a:ext cx="228600" cy="228600"/>
          </a:xfrm>
          <a:prstGeom prst="rect">
            <a:avLst/>
          </a:prstGeom>
        </p:spPr>
      </p:pic>
      <p:sp>
        <p:nvSpPr>
          <p:cNvPr id="48" name="Text 44"/>
          <p:cNvSpPr/>
          <p:nvPr/>
        </p:nvSpPr>
        <p:spPr>
          <a:xfrm>
            <a:off x="8686800" y="4206240"/>
            <a:ext cx="2770632" cy="19659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Alias: </a:t>
            </a:r>
            <a:r>
              <a:rPr lang="en-US" sz="1400" dirty="0">
                <a:solidFill>
                  <a:srgbClr val="1F2933"/>
                </a:solidFill>
                <a:latin typeface="Calibri" pitchFamily="34" charset="0"/>
                <a:ea typeface="Calibri" pitchFamily="34" charset="-122"/>
                <a:cs typeface="Calibri" pitchFamily="34" charset="-120"/>
              </a:rPr>
              <a:t>ORDER BY puede usar alias de SELECT porque se evalúa después; WHERE no.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DML AVANZADO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JOINs: tipos lógicos y trampas habituales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217920" cy="914400"/>
        </p:xfrm>
        <a:graphic>
          <a:graphicData uri="http://schemas.openxmlformats.org/drawingml/2006/table">
            <a:tbl>
              <a:tblPr/>
              <a:tblGrid>
                <a:gridCol w="1097280"/>
                <a:gridCol w="2468880"/>
                <a:gridCol w="2651760"/>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Tipo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Devuelve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Uso típico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INNER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Sólo coincidencias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Pedidos con su cliente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LEFT</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Toda la izquierda + NULL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Clientes sin pedidos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RIGHT</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Toda la derecha + NULL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Poco usado (invertir)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FULL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Ambos lados completos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Conciliaciones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CROSS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Producto cartesiano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Calendarios, combinaciones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074920"/>
            <a:ext cx="6217920" cy="1097280"/>
          </a:xfrm>
          <a:prstGeom prst="roundRect">
            <a:avLst>
              <a:gd name="adj" fmla="val 10000"/>
            </a:avLst>
          </a:prstGeom>
          <a:solidFill>
            <a:srgbClr val="FDEDE8"/>
          </a:solidFill>
          <a:ln/>
        </p:spPr>
      </p:sp>
      <p:sp>
        <p:nvSpPr>
          <p:cNvPr id="9" name="Shape 5"/>
          <p:cNvSpPr/>
          <p:nvPr/>
        </p:nvSpPr>
        <p:spPr>
          <a:xfrm>
            <a:off x="731520" y="5394960"/>
            <a:ext cx="457200" cy="457200"/>
          </a:xfrm>
          <a:prstGeom prst="ellipse">
            <a:avLst/>
          </a:prstGeom>
          <a:solidFill>
            <a:srgbClr val="D95D39"/>
          </a:solidFill>
          <a:ln/>
        </p:spPr>
      </p:sp>
      <p:pic>
        <p:nvPicPr>
          <p:cNvPr id="10" name="Image 0" descr="preencoded.png">    </p:cNvPr>
          <p:cNvPicPr>
            <a:picLocks noChangeAspect="1"/>
          </p:cNvPicPr>
          <p:nvPr/>
        </p:nvPicPr>
        <p:blipFill>
          <a:blip r:embed="rId1"/>
          <a:stretch>
            <a:fillRect/>
          </a:stretch>
        </p:blipFill>
        <p:spPr>
          <a:xfrm>
            <a:off x="845820" y="5509260"/>
            <a:ext cx="228600" cy="228600"/>
          </a:xfrm>
          <a:prstGeom prst="rect">
            <a:avLst/>
          </a:prstGeom>
        </p:spPr>
      </p:pic>
      <p:sp>
        <p:nvSpPr>
          <p:cNvPr id="11" name="Text 6"/>
          <p:cNvSpPr/>
          <p:nvPr/>
        </p:nvSpPr>
        <p:spPr>
          <a:xfrm>
            <a:off x="1371600" y="5074920"/>
            <a:ext cx="5212080" cy="109728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a:t>
            </a:r>
            <a:r>
              <a:rPr lang="en-US" sz="1400" dirty="0">
                <a:solidFill>
                  <a:srgbClr val="1F2933"/>
                </a:solidFill>
                <a:latin typeface="Calibri" pitchFamily="34" charset="0"/>
                <a:ea typeface="Calibri" pitchFamily="34" charset="-122"/>
                <a:cs typeface="Calibri" pitchFamily="34" charset="-120"/>
              </a:rPr>
              <a:t>filtrar la tabla derecha en el WHERE convierte el LEFT JOIN en INNER.</a:t>
            </a:r>
            <a:endParaRPr lang="en-US" sz="1400" dirty="0"/>
          </a:p>
        </p:txBody>
      </p:sp>
      <p:sp>
        <p:nvSpPr>
          <p:cNvPr id="12" name="Shape 7"/>
          <p:cNvSpPr/>
          <p:nvPr/>
        </p:nvSpPr>
        <p:spPr>
          <a:xfrm>
            <a:off x="7040880" y="1600200"/>
            <a:ext cx="4599432" cy="4572000"/>
          </a:xfrm>
          <a:prstGeom prst="roundRect">
            <a:avLst>
              <a:gd name="adj" fmla="val 2000"/>
            </a:avLst>
          </a:prstGeom>
          <a:solidFill>
            <a:srgbClr val="ECEFF3"/>
          </a:solidFill>
          <a:ln w="9525">
            <a:solidFill>
              <a:srgbClr val="D0D7DE"/>
            </a:solidFill>
            <a:prstDash val="solid"/>
          </a:ln>
        </p:spPr>
      </p:sp>
      <p:sp>
        <p:nvSpPr>
          <p:cNvPr id="13" name="Text 8"/>
          <p:cNvSpPr/>
          <p:nvPr/>
        </p:nvSpPr>
        <p:spPr>
          <a:xfrm>
            <a:off x="722376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LEFT JOIN</a:t>
            </a:r>
            <a:endParaRPr lang="en-US" sz="1000" dirty="0"/>
          </a:p>
        </p:txBody>
      </p:sp>
      <p:sp>
        <p:nvSpPr>
          <p:cNvPr id="14" name="Text 9"/>
          <p:cNvSpPr/>
          <p:nvPr/>
        </p:nvSpPr>
        <p:spPr>
          <a:xfrm>
            <a:off x="7223760" y="1965960"/>
            <a:ext cx="4233672" cy="4114800"/>
          </a:xfrm>
          <a:prstGeom prst="rect">
            <a:avLst/>
          </a:prstGeom>
          <a:noFill/>
          <a:ln/>
        </p:spPr>
        <p:txBody>
          <a:bodyPr wrap="none" lIns="0" tIns="0" rIns="0" bIns="0" rtlCol="0" anchor="t"/>
          <a:lstStyle/>
          <a:p>
            <a:pPr indent="0" marL="0">
              <a:buNone/>
            </a:pPr>
            <a:r>
              <a:rPr lang="en-US" sz="1300" i="1" dirty="0">
                <a:solidFill>
                  <a:srgbClr val="6B7280"/>
                </a:solidFill>
                <a:latin typeface="Consolas" pitchFamily="34" charset="0"/>
                <a:ea typeface="Consolas" pitchFamily="34" charset="-122"/>
                <a:cs typeface="Consolas" pitchFamily="34" charset="-120"/>
              </a:rPr>
              <a:t>-- 1) Anti-join: clientes sin pedidos</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c.ClienteId, c.Nombre</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dbo.Cliente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c</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LEFT</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JOIN</a:t>
            </a:r>
            <a:r>
              <a:rPr lang="en-US" sz="1300" dirty="0">
                <a:solidFill>
                  <a:srgbClr val="1F2933"/>
                </a:solidFill>
                <a:latin typeface="Consolas" pitchFamily="34" charset="0"/>
                <a:ea typeface="Consolas" pitchFamily="34" charset="-122"/>
                <a:cs typeface="Consolas" pitchFamily="34" charset="-120"/>
              </a:rPr>
              <a:t> dbo.Pedido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p</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 p.ClienteId = c.ClienteId</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p.PedidoId </a:t>
            </a:r>
            <a:r>
              <a:rPr lang="en-US" sz="1300" b="1" dirty="0">
                <a:solidFill>
                  <a:srgbClr val="1D4ED8"/>
                </a:solidFill>
                <a:latin typeface="Consolas" pitchFamily="34" charset="0"/>
                <a:ea typeface="Consolas" pitchFamily="34" charset="-122"/>
                <a:cs typeface="Consolas" pitchFamily="34" charset="-120"/>
              </a:rPr>
              <a:t>IS</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NULL</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-- 2) Filtra la tabla derecha en el ON</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c.Nombre, p.PedidoId</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dbo.Cliente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c</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LEFT</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JOIN</a:t>
            </a:r>
            <a:r>
              <a:rPr lang="en-US" sz="1300" dirty="0">
                <a:solidFill>
                  <a:srgbClr val="1F2933"/>
                </a:solidFill>
                <a:latin typeface="Consolas" pitchFamily="34" charset="0"/>
                <a:ea typeface="Consolas" pitchFamily="34" charset="-122"/>
                <a:cs typeface="Consolas" pitchFamily="34" charset="-120"/>
              </a:rPr>
              <a:t> dbo.Pedido </a:t>
            </a:r>
            <a:r>
              <a:rPr lang="en-US" sz="1300" b="1" dirty="0">
                <a:solidFill>
                  <a:srgbClr val="1D4ED8"/>
                </a:solidFill>
                <a:latin typeface="Consolas" pitchFamily="34" charset="0"/>
                <a:ea typeface="Consolas" pitchFamily="34" charset="-122"/>
                <a:cs typeface="Consolas" pitchFamily="34" charset="-120"/>
              </a:rPr>
              <a:t>AS</a:t>
            </a:r>
            <a:r>
              <a:rPr lang="en-US" sz="1300" dirty="0">
                <a:solidFill>
                  <a:srgbClr val="1F2933"/>
                </a:solidFill>
                <a:latin typeface="Consolas" pitchFamily="34" charset="0"/>
                <a:ea typeface="Consolas" pitchFamily="34" charset="-122"/>
                <a:cs typeface="Consolas" pitchFamily="34" charset="-120"/>
              </a:rPr>
              <a:t> p</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 p.ClienteId = c.ClienteId</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AND</a:t>
            </a:r>
            <a:r>
              <a:rPr lang="en-US" sz="1300" dirty="0">
                <a:solidFill>
                  <a:srgbClr val="1F2933"/>
                </a:solidFill>
                <a:latin typeface="Consolas" pitchFamily="34" charset="0"/>
                <a:ea typeface="Consolas" pitchFamily="34" charset="-122"/>
                <a:cs typeface="Consolas" pitchFamily="34" charset="-120"/>
              </a:rPr>
              <a:t> p.Fecha &gt;= </a:t>
            </a:r>
            <a:r>
              <a:rPr lang="en-US" sz="1300" dirty="0">
                <a:solidFill>
                  <a:srgbClr val="B4441F"/>
                </a:solidFill>
                <a:latin typeface="Consolas" pitchFamily="34" charset="0"/>
                <a:ea typeface="Consolas" pitchFamily="34" charset="-122"/>
                <a:cs typeface="Consolas" pitchFamily="34" charset="-120"/>
              </a:rPr>
              <a:t>'20240101'</a:t>
            </a:r>
            <a:r>
              <a:rPr lang="en-US" sz="1300" dirty="0">
                <a:solidFill>
                  <a:srgbClr val="1F2933"/>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DML AVANZADO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JOINs: algoritmos físicos del optimizador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30</a:t>
            </a:r>
            <a:endParaRPr lang="en-US" sz="1000" dirty="0"/>
          </a:p>
        </p:txBody>
      </p:sp>
      <p:sp>
        <p:nvSpPr>
          <p:cNvPr id="7" name="Shape 4"/>
          <p:cNvSpPr/>
          <p:nvPr/>
        </p:nvSpPr>
        <p:spPr>
          <a:xfrm>
            <a:off x="548640" y="1600200"/>
            <a:ext cx="3514344" cy="3474720"/>
          </a:xfrm>
          <a:prstGeom prst="roundRect">
            <a:avLst>
              <a:gd name="adj" fmla="val 315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134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Nested Loops</a:t>
            </a:r>
            <a:endParaRPr lang="en-US" sz="1700" dirty="0"/>
          </a:p>
        </p:txBody>
      </p:sp>
      <p:sp>
        <p:nvSpPr>
          <p:cNvPr id="11" name="Text 7"/>
          <p:cNvSpPr/>
          <p:nvPr/>
        </p:nvSpPr>
        <p:spPr>
          <a:xfrm>
            <a:off x="777240" y="2560320"/>
            <a:ext cx="3057144" cy="22860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Por cada fila externa busca en la interna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Ideal: externa pequeña + Index Seek</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Típico en OLTP</a:t>
            </a:r>
            <a:endParaRPr lang="en-US" sz="1400" dirty="0"/>
          </a:p>
        </p:txBody>
      </p:sp>
      <p:sp>
        <p:nvSpPr>
          <p:cNvPr id="12" name="Shape 8"/>
          <p:cNvSpPr/>
          <p:nvPr/>
        </p:nvSpPr>
        <p:spPr>
          <a:xfrm>
            <a:off x="4337304" y="1600200"/>
            <a:ext cx="3514344" cy="3474720"/>
          </a:xfrm>
          <a:prstGeom prst="roundRect">
            <a:avLst>
              <a:gd name="adj" fmla="val 315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5904"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064" y="1965960"/>
            <a:ext cx="274320" cy="274320"/>
          </a:xfrm>
          <a:prstGeom prst="rect">
            <a:avLst/>
          </a:prstGeom>
        </p:spPr>
      </p:pic>
      <p:sp>
        <p:nvSpPr>
          <p:cNvPr id="15" name="Text 10"/>
          <p:cNvSpPr/>
          <p:nvPr/>
        </p:nvSpPr>
        <p:spPr>
          <a:xfrm>
            <a:off x="5251704" y="1828800"/>
            <a:ext cx="237134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Merge Join</a:t>
            </a:r>
            <a:endParaRPr lang="en-US" sz="1700" dirty="0"/>
          </a:p>
        </p:txBody>
      </p:sp>
      <p:sp>
        <p:nvSpPr>
          <p:cNvPr id="16" name="Text 11"/>
          <p:cNvSpPr/>
          <p:nvPr/>
        </p:nvSpPr>
        <p:spPr>
          <a:xfrm>
            <a:off x="4565904" y="2560320"/>
            <a:ext cx="3057144" cy="22860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Recorre dos entradas ordenadas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Exige igualdad y orden (índice o Sort)</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Eficiente con grandes volúmenes</a:t>
            </a:r>
            <a:endParaRPr lang="en-US" sz="1400" dirty="0"/>
          </a:p>
        </p:txBody>
      </p:sp>
      <p:sp>
        <p:nvSpPr>
          <p:cNvPr id="17" name="Shape 12"/>
          <p:cNvSpPr/>
          <p:nvPr/>
        </p:nvSpPr>
        <p:spPr>
          <a:xfrm>
            <a:off x="8125968" y="1600200"/>
            <a:ext cx="3514344" cy="3474720"/>
          </a:xfrm>
          <a:prstGeom prst="roundRect">
            <a:avLst>
              <a:gd name="adj" fmla="val 315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4568"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1728" y="1965960"/>
            <a:ext cx="274320" cy="274320"/>
          </a:xfrm>
          <a:prstGeom prst="rect">
            <a:avLst/>
          </a:prstGeom>
        </p:spPr>
      </p:pic>
      <p:sp>
        <p:nvSpPr>
          <p:cNvPr id="20" name="Text 14"/>
          <p:cNvSpPr/>
          <p:nvPr/>
        </p:nvSpPr>
        <p:spPr>
          <a:xfrm>
            <a:off x="9040368" y="1828800"/>
            <a:ext cx="237134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Hash Match</a:t>
            </a:r>
            <a:endParaRPr lang="en-US" sz="1700" dirty="0"/>
          </a:p>
        </p:txBody>
      </p:sp>
      <p:sp>
        <p:nvSpPr>
          <p:cNvPr id="21" name="Text 15"/>
          <p:cNvSpPr/>
          <p:nvPr/>
        </p:nvSpPr>
        <p:spPr>
          <a:xfrm>
            <a:off x="8354568" y="2560320"/>
            <a:ext cx="3057144" cy="22860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Tabla hash con la entrada pequeña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No exige índices ni orden</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Usa memory grant; puede derramar a tempdb</a:t>
            </a:r>
            <a:endParaRPr lang="en-US" sz="1400" dirty="0"/>
          </a:p>
        </p:txBody>
      </p:sp>
      <p:sp>
        <p:nvSpPr>
          <p:cNvPr id="22" name="Shape 16"/>
          <p:cNvSpPr/>
          <p:nvPr/>
        </p:nvSpPr>
        <p:spPr>
          <a:xfrm>
            <a:off x="548640" y="5349240"/>
            <a:ext cx="11091672" cy="822960"/>
          </a:xfrm>
          <a:prstGeom prst="roundRect">
            <a:avLst>
              <a:gd name="adj" fmla="val 13333"/>
            </a:avLst>
          </a:prstGeom>
          <a:solidFill>
            <a:srgbClr val="E8EEF5"/>
          </a:solidFill>
          <a:ln/>
        </p:spPr>
      </p:sp>
      <p:sp>
        <p:nvSpPr>
          <p:cNvPr id="23" name="Shape 17"/>
          <p:cNvSpPr/>
          <p:nvPr/>
        </p:nvSpPr>
        <p:spPr>
          <a:xfrm>
            <a:off x="731520" y="5532120"/>
            <a:ext cx="457200" cy="45720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845820" y="5646420"/>
            <a:ext cx="228600" cy="228600"/>
          </a:xfrm>
          <a:prstGeom prst="rect">
            <a:avLst/>
          </a:prstGeom>
        </p:spPr>
      </p:pic>
      <p:sp>
        <p:nvSpPr>
          <p:cNvPr id="25" name="Text 18"/>
          <p:cNvSpPr/>
          <p:nvPr/>
        </p:nvSpPr>
        <p:spPr>
          <a:xfrm>
            <a:off x="1371600" y="5349240"/>
            <a:ext cx="10085832" cy="8229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En el plan: </a:t>
            </a:r>
            <a:r>
              <a:rPr lang="en-US" sz="1400" dirty="0">
                <a:solidFill>
                  <a:srgbClr val="1F2933"/>
                </a:solidFill>
                <a:latin typeface="Calibri" pitchFamily="34" charset="0"/>
                <a:ea typeface="Calibri" pitchFamily="34" charset="-122"/>
                <a:cs typeface="Calibri" pitchFamily="34" charset="-120"/>
              </a:rPr>
              <a:t>compara Estimated frente a Actual Rows. Estadísticas obsoletas provocan joins inadecuados.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DML AVANZADO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Subconsultas, EXISTS y CTE</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31</a:t>
            </a:r>
            <a:endParaRPr lang="en-US" sz="1000" dirty="0"/>
          </a:p>
        </p:txBody>
      </p:sp>
      <p:sp>
        <p:nvSpPr>
          <p:cNvPr id="7" name="Shape 4"/>
          <p:cNvSpPr/>
          <p:nvPr/>
        </p:nvSpPr>
        <p:spPr>
          <a:xfrm>
            <a:off x="548640" y="1600200"/>
            <a:ext cx="5394960" cy="3246120"/>
          </a:xfrm>
          <a:prstGeom prst="roundRect">
            <a:avLst>
              <a:gd name="adj" fmla="val 2817"/>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subconsulta y EXISTS</a:t>
            </a:r>
            <a:endParaRPr lang="en-US" sz="1000" dirty="0"/>
          </a:p>
        </p:txBody>
      </p:sp>
      <p:sp>
        <p:nvSpPr>
          <p:cNvPr id="9" name="Text 6"/>
          <p:cNvSpPr/>
          <p:nvPr/>
        </p:nvSpPr>
        <p:spPr>
          <a:xfrm>
            <a:off x="731520" y="1965960"/>
            <a:ext cx="5029200" cy="278892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Subconsulta escalar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PedidoId, Total</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Total &gt;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AVG(Total)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EXISTS (correlacionada)</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c.Nombre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dbo.Cliente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c</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EXISTS</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p.ClienteId = c.ClienteId);</a:t>
            </a:r>
            <a:endParaRPr lang="en-US" sz="1200" dirty="0"/>
          </a:p>
        </p:txBody>
      </p:sp>
      <p:sp>
        <p:nvSpPr>
          <p:cNvPr id="10" name="Shape 7"/>
          <p:cNvSpPr/>
          <p:nvPr/>
        </p:nvSpPr>
        <p:spPr>
          <a:xfrm>
            <a:off x="6245352" y="1600200"/>
            <a:ext cx="5394960" cy="3246120"/>
          </a:xfrm>
          <a:prstGeom prst="roundRect">
            <a:avLst>
              <a:gd name="adj" fmla="val 2817"/>
            </a:avLst>
          </a:prstGeom>
          <a:solidFill>
            <a:srgbClr val="ECEFF3"/>
          </a:solidFill>
          <a:ln w="9525">
            <a:solidFill>
              <a:srgbClr val="D0D7DE"/>
            </a:solidFill>
            <a:prstDash val="solid"/>
          </a:ln>
        </p:spPr>
      </p:sp>
      <p:sp>
        <p:nvSpPr>
          <p:cNvPr id="11" name="Text 8"/>
          <p:cNvSpPr/>
          <p:nvPr/>
        </p:nvSpPr>
        <p:spPr>
          <a:xfrm>
            <a:off x="6428232"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CTE</a:t>
            </a:r>
            <a:endParaRPr lang="en-US" sz="1000" dirty="0"/>
          </a:p>
        </p:txBody>
      </p:sp>
      <p:sp>
        <p:nvSpPr>
          <p:cNvPr id="12" name="Text 9"/>
          <p:cNvSpPr/>
          <p:nvPr/>
        </p:nvSpPr>
        <p:spPr>
          <a:xfrm>
            <a:off x="6428232" y="1965960"/>
            <a:ext cx="5029200" cy="27889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VentasCliente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ClienteId, SUM(Total)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GROUP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5</a:t>
            </a:r>
            <a:r>
              <a:rPr lang="en-US" sz="1200" dirty="0">
                <a:solidFill>
                  <a:srgbClr val="1F2933"/>
                </a:solidFill>
                <a:latin typeface="Consolas" pitchFamily="34" charset="0"/>
                <a:ea typeface="Consolas" pitchFamily="34" charset="-122"/>
                <a:cs typeface="Consolas" pitchFamily="34" charset="-120"/>
              </a:rPr>
              <a:t>) c.Nombre, v.Ventas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VentasCliente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v</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dbo.Cliente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c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c.ClienteId = v.ClienteId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v.Ventas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3" name="Shape 10"/>
          <p:cNvSpPr/>
          <p:nvPr/>
        </p:nvSpPr>
        <p:spPr>
          <a:xfrm>
            <a:off x="548640" y="5120640"/>
            <a:ext cx="11091672" cy="1051560"/>
          </a:xfrm>
          <a:prstGeom prst="roundRect">
            <a:avLst>
              <a:gd name="adj" fmla="val 10435"/>
            </a:avLst>
          </a:prstGeom>
          <a:solidFill>
            <a:srgbClr val="E8EEF5"/>
          </a:solidFill>
          <a:ln/>
        </p:spPr>
      </p:sp>
      <p:sp>
        <p:nvSpPr>
          <p:cNvPr id="14" name="Shape 11"/>
          <p:cNvSpPr/>
          <p:nvPr/>
        </p:nvSpPr>
        <p:spPr>
          <a:xfrm>
            <a:off x="731520" y="5417820"/>
            <a:ext cx="457200" cy="457200"/>
          </a:xfrm>
          <a:prstGeom prst="ellipse">
            <a:avLst/>
          </a:prstGeom>
          <a:solidFill>
            <a:srgbClr val="134074"/>
          </a:solidFill>
          <a:ln/>
        </p:spPr>
      </p:sp>
      <p:pic>
        <p:nvPicPr>
          <p:cNvPr id="15" name="Image 0" descr="preencoded.png">    </p:cNvPr>
          <p:cNvPicPr>
            <a:picLocks noChangeAspect="1"/>
          </p:cNvPicPr>
          <p:nvPr/>
        </p:nvPicPr>
        <p:blipFill>
          <a:blip r:embed="rId1"/>
          <a:stretch>
            <a:fillRect/>
          </a:stretch>
        </p:blipFill>
        <p:spPr>
          <a:xfrm>
            <a:off x="845820" y="5532120"/>
            <a:ext cx="228600" cy="228600"/>
          </a:xfrm>
          <a:prstGeom prst="rect">
            <a:avLst/>
          </a:prstGeom>
        </p:spPr>
      </p:pic>
      <p:sp>
        <p:nvSpPr>
          <p:cNvPr id="16" name="Text 12"/>
          <p:cNvSpPr/>
          <p:nvPr/>
        </p:nvSpPr>
        <p:spPr>
          <a:xfrm>
            <a:off x="1371600" y="5120640"/>
            <a:ext cx="10085832" cy="10515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Recuerda: </a:t>
            </a:r>
            <a:r>
              <a:rPr lang="en-US" sz="1400" dirty="0">
                <a:solidFill>
                  <a:srgbClr val="1F2933"/>
                </a:solidFill>
                <a:latin typeface="Calibri" pitchFamily="34" charset="0"/>
                <a:ea typeface="Calibri" pitchFamily="34" charset="-122"/>
                <a:cs typeface="Calibri" pitchFamily="34" charset="-120"/>
              </a:rPr>
              <a:t>NOT IN con algún NULL devuelve cero filas: usa NOT EXISTS. Una CTE no materializa datos: se expande como una vista en línea.</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DML AVANZADO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Agregados y window functions básicas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32</a:t>
            </a:r>
            <a:endParaRPr lang="en-US" sz="1000" dirty="0"/>
          </a:p>
        </p:txBody>
      </p:sp>
      <p:sp>
        <p:nvSpPr>
          <p:cNvPr id="7" name="Shape 4"/>
          <p:cNvSpPr/>
          <p:nvPr/>
        </p:nvSpPr>
        <p:spPr>
          <a:xfrm>
            <a:off x="548640" y="1600200"/>
            <a:ext cx="6675120" cy="3291840"/>
          </a:xfrm>
          <a:prstGeom prst="roundRect">
            <a:avLst>
              <a:gd name="adj" fmla="val 2778"/>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window functions</a:t>
            </a:r>
            <a:endParaRPr lang="en-US" sz="1000" dirty="0"/>
          </a:p>
        </p:txBody>
      </p:sp>
      <p:sp>
        <p:nvSpPr>
          <p:cNvPr id="9" name="Text 6"/>
          <p:cNvSpPr/>
          <p:nvPr/>
        </p:nvSpPr>
        <p:spPr>
          <a:xfrm>
            <a:off x="731520" y="1965960"/>
            <a:ext cx="6309360" cy="283464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ClienteId, Fecha, Total,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ROW_NUMBER() </a:t>
            </a:r>
            <a:r>
              <a:rPr lang="en-US" sz="1200" b="1" dirty="0">
                <a:solidFill>
                  <a:srgbClr val="1D4ED8"/>
                </a:solidFill>
                <a:latin typeface="Consolas" pitchFamily="34" charset="0"/>
                <a:ea typeface="Consolas" pitchFamily="34" charset="-122"/>
                <a:cs typeface="Consolas" pitchFamily="34" charset="-120"/>
              </a:rPr>
              <a:t>OVER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PARTITION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Fecha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rn,</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RANK()       </a:t>
            </a:r>
            <a:r>
              <a:rPr lang="en-US" sz="1200" b="1" dirty="0">
                <a:solidFill>
                  <a:srgbClr val="1D4ED8"/>
                </a:solidFill>
                <a:latin typeface="Consolas" pitchFamily="34" charset="0"/>
                <a:ea typeface="Consolas" pitchFamily="34" charset="-122"/>
                <a:cs typeface="Consolas" pitchFamily="34" charset="-120"/>
              </a:rPr>
              <a:t>OVER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Total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ranking,</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SUM(Total)   </a:t>
            </a:r>
            <a:r>
              <a:rPr lang="en-US" sz="1200" b="1" dirty="0">
                <a:solidFill>
                  <a:srgbClr val="1D4ED8"/>
                </a:solidFill>
                <a:latin typeface="Consolas" pitchFamily="34" charset="0"/>
                <a:ea typeface="Consolas" pitchFamily="34" charset="-122"/>
                <a:cs typeface="Consolas" pitchFamily="34" charset="-120"/>
              </a:rPr>
              <a:t>OVER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PARTITION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Fecha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ROWS</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UNBOUNDED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PRECEDING</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acumulado,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LAG(Total)   </a:t>
            </a:r>
            <a:r>
              <a:rPr lang="en-US" sz="1200" b="1" dirty="0">
                <a:solidFill>
                  <a:srgbClr val="1D4ED8"/>
                </a:solidFill>
                <a:latin typeface="Consolas" pitchFamily="34" charset="0"/>
                <a:ea typeface="Consolas" pitchFamily="34" charset="-122"/>
                <a:cs typeface="Consolas" pitchFamily="34" charset="-120"/>
              </a:rPr>
              <a:t>OVER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PARTITION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Fecha)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anterior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498080" y="1600200"/>
          <a:ext cx="4142232" cy="914400"/>
        </p:xfrm>
        <a:graphic>
          <a:graphicData uri="http://schemas.openxmlformats.org/drawingml/2006/table">
            <a:tbl>
              <a:tblPr/>
              <a:tblGrid>
                <a:gridCol w="1371600"/>
                <a:gridCol w="2770632"/>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Función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Resultado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ROW_NUMBER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 2, 3 sin empates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Empates comparten puesto; hay huecos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SUM OVER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Total acumulado por cliente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LAG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Valor de la fila anterior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
        <p:nvSpPr>
          <p:cNvPr id="11" name="Shape 7"/>
          <p:cNvSpPr/>
          <p:nvPr/>
        </p:nvSpPr>
        <p:spPr>
          <a:xfrm>
            <a:off x="548640" y="5166360"/>
            <a:ext cx="11091672" cy="1005840"/>
          </a:xfrm>
          <a:prstGeom prst="roundRect">
            <a:avLst>
              <a:gd name="adj" fmla="val 10909"/>
            </a:avLst>
          </a:prstGeom>
          <a:solidFill>
            <a:srgbClr val="E8EEF5"/>
          </a:solidFill>
          <a:ln/>
        </p:spPr>
      </p:sp>
      <p:sp>
        <p:nvSpPr>
          <p:cNvPr id="12" name="Shape 8"/>
          <p:cNvSpPr/>
          <p:nvPr/>
        </p:nvSpPr>
        <p:spPr>
          <a:xfrm>
            <a:off x="731520" y="5440680"/>
            <a:ext cx="457200" cy="457200"/>
          </a:xfrm>
          <a:prstGeom prst="ellipse">
            <a:avLst/>
          </a:prstGeom>
          <a:solidFill>
            <a:srgbClr val="134074"/>
          </a:solidFill>
          <a:ln/>
        </p:spPr>
      </p:sp>
      <p:pic>
        <p:nvPicPr>
          <p:cNvPr id="13" name="Image 0" descr="preencoded.png">    </p:cNvPr>
          <p:cNvPicPr>
            <a:picLocks noChangeAspect="1"/>
          </p:cNvPicPr>
          <p:nvPr/>
        </p:nvPicPr>
        <p:blipFill>
          <a:blip r:embed="rId1"/>
          <a:stretch>
            <a:fillRect/>
          </a:stretch>
        </p:blipFill>
        <p:spPr>
          <a:xfrm>
            <a:off x="845820" y="5554980"/>
            <a:ext cx="228600" cy="228600"/>
          </a:xfrm>
          <a:prstGeom prst="rect">
            <a:avLst/>
          </a:prstGeom>
        </p:spPr>
      </p:pic>
      <p:sp>
        <p:nvSpPr>
          <p:cNvPr id="14" name="Text 9"/>
          <p:cNvSpPr/>
          <p:nvPr/>
        </p:nvSpPr>
        <p:spPr>
          <a:xfrm>
            <a:off x="1371600" y="5166360"/>
            <a:ext cx="10085832" cy="10058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GROUP BY vs OVER: </a:t>
            </a:r>
            <a:r>
              <a:rPr lang="en-US" sz="1400" dirty="0">
                <a:solidFill>
                  <a:srgbClr val="1F2933"/>
                </a:solidFill>
                <a:latin typeface="Calibri" pitchFamily="34" charset="0"/>
                <a:ea typeface="Calibri" pitchFamily="34" charset="-122"/>
                <a:cs typeface="Calibri" pitchFamily="34" charset="-120"/>
              </a:rPr>
              <a:t>GROUP BY colapsa filas; OVER mantiene el detalle. Indica ROWS en el frame para evitar el worktable de RANGE.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889504"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CONSULTAS Y SP</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Laboratorio 2A: consultas y procedimientos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33</a:t>
            </a:r>
            <a:endParaRPr lang="en-US" sz="1000" dirty="0"/>
          </a:p>
        </p:txBody>
      </p:sp>
      <p:sp>
        <p:nvSpPr>
          <p:cNvPr id="7" name="Shape 4"/>
          <p:cNvSpPr/>
          <p:nvPr/>
        </p:nvSpPr>
        <p:spPr>
          <a:xfrm>
            <a:off x="548640"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Preparar datos</a:t>
            </a:r>
            <a:endParaRPr lang="en-US" sz="1600" dirty="0"/>
          </a:p>
        </p:txBody>
      </p:sp>
      <p:sp>
        <p:nvSpPr>
          <p:cNvPr id="11" name="Text 8"/>
          <p:cNvSpPr/>
          <p:nvPr/>
        </p:nvSpPr>
        <p:spPr>
          <a:xfrm>
            <a:off x="777240"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Crea Ventas con Cliente y Pedido y carga 50 000 pedidos sesgados.</a:t>
            </a:r>
            <a:endParaRPr lang="en-US" sz="1400" dirty="0"/>
          </a:p>
        </p:txBody>
      </p:sp>
      <p:sp>
        <p:nvSpPr>
          <p:cNvPr id="12" name="Shape 9"/>
          <p:cNvSpPr/>
          <p:nvPr/>
        </p:nvSpPr>
        <p:spPr>
          <a:xfrm>
            <a:off x="3118104" y="1947672"/>
            <a:ext cx="246888" cy="274320"/>
          </a:xfrm>
          <a:prstGeom prst="rightArrow">
            <a:avLst/>
          </a:prstGeom>
          <a:solidFill>
            <a:srgbClr val="D95D39"/>
          </a:solidFill>
          <a:ln/>
        </p:spPr>
      </p:sp>
      <p:sp>
        <p:nvSpPr>
          <p:cNvPr id="13" name="Shape 10"/>
          <p:cNvSpPr/>
          <p:nvPr/>
        </p:nvSpPr>
        <p:spPr>
          <a:xfrm>
            <a:off x="3401568"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3630168" y="1828800"/>
            <a:ext cx="502920" cy="502920"/>
          </a:xfrm>
          <a:prstGeom prst="ellipse">
            <a:avLst/>
          </a:prstGeom>
          <a:solidFill>
            <a:srgbClr val="134074"/>
          </a:solidFill>
          <a:ln/>
        </p:spPr>
      </p:sp>
      <p:sp>
        <p:nvSpPr>
          <p:cNvPr id="15" name="Text 12"/>
          <p:cNvSpPr/>
          <p:nvPr/>
        </p:nvSpPr>
        <p:spPr>
          <a:xfrm>
            <a:off x="36301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3630168"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Consulta analítica</a:t>
            </a:r>
            <a:endParaRPr lang="en-US" sz="1600" dirty="0"/>
          </a:p>
        </p:txBody>
      </p:sp>
      <p:sp>
        <p:nvSpPr>
          <p:cNvPr id="17" name="Text 14"/>
          <p:cNvSpPr/>
          <p:nvPr/>
        </p:nvSpPr>
        <p:spPr>
          <a:xfrm>
            <a:off x="3630168"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Top 3 pedidos por cliente con ROW_NUMBER y SUM OVER.</a:t>
            </a:r>
            <a:endParaRPr lang="en-US" sz="1400" dirty="0"/>
          </a:p>
        </p:txBody>
      </p:sp>
      <p:sp>
        <p:nvSpPr>
          <p:cNvPr id="18" name="Shape 15"/>
          <p:cNvSpPr/>
          <p:nvPr/>
        </p:nvSpPr>
        <p:spPr>
          <a:xfrm>
            <a:off x="5971032" y="1947672"/>
            <a:ext cx="246888" cy="274320"/>
          </a:xfrm>
          <a:prstGeom prst="rightArrow">
            <a:avLst/>
          </a:prstGeom>
          <a:solidFill>
            <a:srgbClr val="D95D39"/>
          </a:solidFill>
          <a:ln/>
        </p:spPr>
      </p:sp>
      <p:sp>
        <p:nvSpPr>
          <p:cNvPr id="19" name="Shape 16"/>
          <p:cNvSpPr/>
          <p:nvPr/>
        </p:nvSpPr>
        <p:spPr>
          <a:xfrm>
            <a:off x="6254496"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6483096" y="1828800"/>
            <a:ext cx="502920" cy="502920"/>
          </a:xfrm>
          <a:prstGeom prst="ellipse">
            <a:avLst/>
          </a:prstGeom>
          <a:solidFill>
            <a:srgbClr val="134074"/>
          </a:solidFill>
          <a:ln/>
        </p:spPr>
      </p:sp>
      <p:sp>
        <p:nvSpPr>
          <p:cNvPr id="21" name="Text 18"/>
          <p:cNvSpPr/>
          <p:nvPr/>
        </p:nvSpPr>
        <p:spPr>
          <a:xfrm>
            <a:off x="6483096"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6483096"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Procedimiento</a:t>
            </a:r>
            <a:endParaRPr lang="en-US" sz="1600" dirty="0"/>
          </a:p>
        </p:txBody>
      </p:sp>
      <p:sp>
        <p:nvSpPr>
          <p:cNvPr id="23" name="Text 20"/>
          <p:cNvSpPr/>
          <p:nvPr/>
        </p:nvSpPr>
        <p:spPr>
          <a:xfrm>
            <a:off x="6483096"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Crea usp_TopPedidosCliente con parámetros y SET NOCOUNT ON.</a:t>
            </a:r>
            <a:endParaRPr lang="en-US" sz="1400" dirty="0"/>
          </a:p>
        </p:txBody>
      </p:sp>
      <p:sp>
        <p:nvSpPr>
          <p:cNvPr id="24" name="Shape 21"/>
          <p:cNvSpPr/>
          <p:nvPr/>
        </p:nvSpPr>
        <p:spPr>
          <a:xfrm>
            <a:off x="8823960" y="1947672"/>
            <a:ext cx="246888" cy="274320"/>
          </a:xfrm>
          <a:prstGeom prst="rightArrow">
            <a:avLst/>
          </a:prstGeom>
          <a:solidFill>
            <a:srgbClr val="D95D39"/>
          </a:solidFill>
          <a:ln/>
        </p:spPr>
      </p:sp>
      <p:sp>
        <p:nvSpPr>
          <p:cNvPr id="25" name="Shape 22"/>
          <p:cNvSpPr/>
          <p:nvPr/>
        </p:nvSpPr>
        <p:spPr>
          <a:xfrm>
            <a:off x="9107424"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9336024" y="1828800"/>
            <a:ext cx="502920" cy="502920"/>
          </a:xfrm>
          <a:prstGeom prst="ellipse">
            <a:avLst/>
          </a:prstGeom>
          <a:solidFill>
            <a:srgbClr val="134074"/>
          </a:solidFill>
          <a:ln/>
        </p:spPr>
      </p:sp>
      <p:sp>
        <p:nvSpPr>
          <p:cNvPr id="27" name="Text 24"/>
          <p:cNvSpPr/>
          <p:nvPr/>
        </p:nvSpPr>
        <p:spPr>
          <a:xfrm>
            <a:off x="933602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9336024"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Plan y sniffing</a:t>
            </a:r>
            <a:endParaRPr lang="en-US" sz="1600" dirty="0"/>
          </a:p>
        </p:txBody>
      </p:sp>
      <p:sp>
        <p:nvSpPr>
          <p:cNvPr id="29" name="Text 26"/>
          <p:cNvSpPr/>
          <p:nvPr/>
        </p:nvSpPr>
        <p:spPr>
          <a:xfrm>
            <a:off x="9336024"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Ejecuta con cliente 1 y con otro; compara planes con Ctrl+M.</a:t>
            </a:r>
            <a:endParaRPr lang="en-US" sz="1400" dirty="0"/>
          </a:p>
        </p:txBody>
      </p:sp>
      <p:sp>
        <p:nvSpPr>
          <p:cNvPr id="30" name="Shape 27"/>
          <p:cNvSpPr/>
          <p:nvPr/>
        </p:nvSpPr>
        <p:spPr>
          <a:xfrm>
            <a:off x="548640" y="4572000"/>
            <a:ext cx="6858000" cy="1600200"/>
          </a:xfrm>
          <a:prstGeom prst="roundRect">
            <a:avLst>
              <a:gd name="adj" fmla="val 5714"/>
            </a:avLst>
          </a:prstGeom>
          <a:solidFill>
            <a:srgbClr val="ECEFF3"/>
          </a:solidFill>
          <a:ln w="9525">
            <a:solidFill>
              <a:srgbClr val="D0D7DE"/>
            </a:solidFill>
            <a:prstDash val="solid"/>
          </a:ln>
        </p:spPr>
      </p:sp>
      <p:sp>
        <p:nvSpPr>
          <p:cNvPr id="31" name="Text 28"/>
          <p:cNvSpPr/>
          <p:nvPr/>
        </p:nvSpPr>
        <p:spPr>
          <a:xfrm>
            <a:off x="731520" y="46634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punto de partida del paso 2</a:t>
            </a:r>
            <a:endParaRPr lang="en-US" sz="1000" dirty="0"/>
          </a:p>
        </p:txBody>
      </p:sp>
      <p:sp>
        <p:nvSpPr>
          <p:cNvPr id="32" name="Text 29"/>
          <p:cNvSpPr/>
          <p:nvPr/>
        </p:nvSpPr>
        <p:spPr>
          <a:xfrm>
            <a:off x="731520" y="4937760"/>
            <a:ext cx="6492240" cy="11430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R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ClienteId, PedidoId, Total,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ROW_NUMBER() </a:t>
            </a:r>
            <a:r>
              <a:rPr lang="en-US" sz="1200" b="1" dirty="0">
                <a:solidFill>
                  <a:srgbClr val="1D4ED8"/>
                </a:solidFill>
                <a:latin typeface="Consolas" pitchFamily="34" charset="0"/>
                <a:ea typeface="Consolas" pitchFamily="34" charset="-122"/>
                <a:cs typeface="Consolas" pitchFamily="34" charset="-120"/>
              </a:rPr>
              <a:t>OVER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PARTITION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ClienteId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Total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rn</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R </a:t>
            </a: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rn &lt;= </a:t>
            </a:r>
            <a:r>
              <a:rPr lang="en-US" sz="1200" dirty="0">
                <a:solidFill>
                  <a:srgbClr val="9A3412"/>
                </a:solidFill>
                <a:latin typeface="Consolas" pitchFamily="34" charset="0"/>
                <a:ea typeface="Consolas" pitchFamily="34" charset="-122"/>
                <a:cs typeface="Consolas" pitchFamily="34" charset="-120"/>
              </a:rPr>
              <a:t>3</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33" name="Shape 30"/>
          <p:cNvSpPr/>
          <p:nvPr/>
        </p:nvSpPr>
        <p:spPr>
          <a:xfrm>
            <a:off x="7680960" y="4572000"/>
            <a:ext cx="3959352" cy="1600200"/>
          </a:xfrm>
          <a:prstGeom prst="roundRect">
            <a:avLst>
              <a:gd name="adj" fmla="val 6857"/>
            </a:avLst>
          </a:prstGeom>
          <a:solidFill>
            <a:srgbClr val="FDEDE8"/>
          </a:solidFill>
          <a:ln/>
        </p:spPr>
      </p:sp>
      <p:sp>
        <p:nvSpPr>
          <p:cNvPr id="34" name="Shape 31"/>
          <p:cNvSpPr/>
          <p:nvPr/>
        </p:nvSpPr>
        <p:spPr>
          <a:xfrm>
            <a:off x="7863840" y="5143500"/>
            <a:ext cx="457200" cy="457200"/>
          </a:xfrm>
          <a:prstGeom prst="ellipse">
            <a:avLst/>
          </a:prstGeom>
          <a:solidFill>
            <a:srgbClr val="D95D39"/>
          </a:solidFill>
          <a:ln/>
        </p:spPr>
      </p:sp>
      <p:pic>
        <p:nvPicPr>
          <p:cNvPr id="35" name="Image 0" descr="preencoded.png">    </p:cNvPr>
          <p:cNvPicPr>
            <a:picLocks noChangeAspect="1"/>
          </p:cNvPicPr>
          <p:nvPr/>
        </p:nvPicPr>
        <p:blipFill>
          <a:blip r:embed="rId1"/>
          <a:stretch>
            <a:fillRect/>
          </a:stretch>
        </p:blipFill>
        <p:spPr>
          <a:xfrm>
            <a:off x="7978140" y="5257800"/>
            <a:ext cx="228600" cy="228600"/>
          </a:xfrm>
          <a:prstGeom prst="rect">
            <a:avLst/>
          </a:prstGeom>
        </p:spPr>
      </p:pic>
      <p:sp>
        <p:nvSpPr>
          <p:cNvPr id="36" name="Text 32"/>
          <p:cNvSpPr/>
          <p:nvPr/>
        </p:nvSpPr>
        <p:spPr>
          <a:xfrm>
            <a:off x="8503920" y="4572000"/>
            <a:ext cx="2953512" cy="16002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a:t>
            </a:r>
            <a:r>
              <a:rPr lang="en-US" sz="1400" dirty="0">
                <a:solidFill>
                  <a:srgbClr val="1F2933"/>
                </a:solidFill>
                <a:latin typeface="Calibri" pitchFamily="34" charset="0"/>
                <a:ea typeface="Calibri" pitchFamily="34" charset="-122"/>
                <a:cs typeface="Calibri" pitchFamily="34" charset="-120"/>
              </a:rPr>
              <a:t>no puedes filtrar rn en el mismo SELECT; envuélvelo en una CTE.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SEGURIDAD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Modelo de seguridad de SQL Server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34</a:t>
            </a:r>
            <a:endParaRPr lang="en-US" sz="1000" dirty="0"/>
          </a:p>
        </p:txBody>
      </p:sp>
      <p:sp>
        <p:nvSpPr>
          <p:cNvPr id="7" name="Shape 4"/>
          <p:cNvSpPr/>
          <p:nvPr/>
        </p:nvSpPr>
        <p:spPr>
          <a:xfrm>
            <a:off x="548640" y="2103120"/>
            <a:ext cx="4299509" cy="3337560"/>
          </a:xfrm>
          <a:prstGeom prst="roundRect">
            <a:avLst>
              <a:gd name="adj" fmla="val 3288"/>
            </a:avLst>
          </a:prstGeom>
          <a:solidFill>
            <a:srgbClr val="E8EEF5"/>
          </a:solidFill>
          <a:ln/>
        </p:spPr>
      </p:sp>
      <p:sp>
        <p:nvSpPr>
          <p:cNvPr id="8" name="Shape 5"/>
          <p:cNvSpPr/>
          <p:nvPr/>
        </p:nvSpPr>
        <p:spPr>
          <a:xfrm>
            <a:off x="5213909" y="2103120"/>
            <a:ext cx="6426403" cy="3337560"/>
          </a:xfrm>
          <a:prstGeom prst="roundRect">
            <a:avLst>
              <a:gd name="adj" fmla="val 3288"/>
            </a:avLst>
          </a:prstGeom>
          <a:solidFill>
            <a:srgbClr val="DDE7F3"/>
          </a:solidFill>
          <a:ln/>
        </p:spPr>
      </p:sp>
      <p:sp>
        <p:nvSpPr>
          <p:cNvPr id="9" name="Text 6"/>
          <p:cNvSpPr/>
          <p:nvPr/>
        </p:nvSpPr>
        <p:spPr>
          <a:xfrm>
            <a:off x="548640" y="1600200"/>
            <a:ext cx="4299509" cy="36576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NIVEL DE INSTANCIA (servidor)</a:t>
            </a:r>
            <a:endParaRPr lang="en-US" sz="1300" dirty="0"/>
          </a:p>
        </p:txBody>
      </p:sp>
      <p:sp>
        <p:nvSpPr>
          <p:cNvPr id="10" name="Text 7"/>
          <p:cNvSpPr/>
          <p:nvPr/>
        </p:nvSpPr>
        <p:spPr>
          <a:xfrm>
            <a:off x="5213909" y="1600200"/>
            <a:ext cx="6426403" cy="36576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NIVEL DE BASE DE DATOS</a:t>
            </a:r>
            <a:endParaRPr lang="en-US" sz="1300" dirty="0"/>
          </a:p>
        </p:txBody>
      </p:sp>
      <p:sp>
        <p:nvSpPr>
          <p:cNvPr id="11" name="Shape 8"/>
          <p:cNvSpPr/>
          <p:nvPr/>
        </p:nvSpPr>
        <p:spPr>
          <a:xfrm>
            <a:off x="731520" y="2377440"/>
            <a:ext cx="1806854" cy="2788920"/>
          </a:xfrm>
          <a:prstGeom prst="roundRect">
            <a:avLst>
              <a:gd name="adj" fmla="val 60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2" name="Shape 9"/>
          <p:cNvSpPr/>
          <p:nvPr/>
        </p:nvSpPr>
        <p:spPr>
          <a:xfrm>
            <a:off x="1314907" y="2560320"/>
            <a:ext cx="640080" cy="640080"/>
          </a:xfrm>
          <a:prstGeom prst="ellipse">
            <a:avLst/>
          </a:prstGeom>
          <a:solidFill>
            <a:srgbClr val="134074"/>
          </a:solidFill>
          <a:ln/>
        </p:spPr>
      </p:sp>
      <p:pic>
        <p:nvPicPr>
          <p:cNvPr id="13" name="Image 0" descr="preencoded.png">    </p:cNvPr>
          <p:cNvPicPr>
            <a:picLocks noChangeAspect="1"/>
          </p:cNvPicPr>
          <p:nvPr/>
        </p:nvPicPr>
        <p:blipFill>
          <a:blip r:embed="rId1"/>
          <a:stretch>
            <a:fillRect/>
          </a:stretch>
        </p:blipFill>
        <p:spPr>
          <a:xfrm>
            <a:off x="1474927" y="2720340"/>
            <a:ext cx="320040" cy="320040"/>
          </a:xfrm>
          <a:prstGeom prst="rect">
            <a:avLst/>
          </a:prstGeom>
        </p:spPr>
      </p:pic>
      <p:sp>
        <p:nvSpPr>
          <p:cNvPr id="14" name="Text 10"/>
          <p:cNvSpPr/>
          <p:nvPr/>
        </p:nvSpPr>
        <p:spPr>
          <a:xfrm>
            <a:off x="822960" y="3337560"/>
            <a:ext cx="1623974" cy="594360"/>
          </a:xfrm>
          <a:prstGeom prst="rect">
            <a:avLst/>
          </a:prstGeom>
          <a:noFill/>
          <a:ln/>
        </p:spPr>
        <p:txBody>
          <a:bodyPr wrap="square" lIns="0" tIns="0" rIns="0" bIns="0" rtlCol="0" anchor="t"/>
          <a:lstStyle/>
          <a:p>
            <a:pPr algn="ctr" indent="0" marL="0">
              <a:buNone/>
            </a:pPr>
            <a:r>
              <a:rPr lang="en-US" sz="1600" b="1" dirty="0">
                <a:solidFill>
                  <a:srgbClr val="0B2545"/>
                </a:solidFill>
                <a:latin typeface="Calibri" pitchFamily="34" charset="0"/>
                <a:ea typeface="Calibri" pitchFamily="34" charset="-122"/>
                <a:cs typeface="Calibri" pitchFamily="34" charset="-120"/>
              </a:rPr>
              <a:t>Autenticación</a:t>
            </a:r>
            <a:endParaRPr lang="en-US" sz="1600" dirty="0"/>
          </a:p>
        </p:txBody>
      </p:sp>
      <p:sp>
        <p:nvSpPr>
          <p:cNvPr id="15" name="Text 11"/>
          <p:cNvSpPr/>
          <p:nvPr/>
        </p:nvSpPr>
        <p:spPr>
          <a:xfrm>
            <a:off x="822960" y="3977640"/>
            <a:ext cx="1623974" cy="82296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Windows o SQL Server</a:t>
            </a:r>
            <a:endParaRPr lang="en-US" sz="1300" dirty="0"/>
          </a:p>
        </p:txBody>
      </p:sp>
      <p:sp>
        <p:nvSpPr>
          <p:cNvPr id="16" name="Shape 12"/>
          <p:cNvSpPr/>
          <p:nvPr/>
        </p:nvSpPr>
        <p:spPr>
          <a:xfrm>
            <a:off x="2561234" y="2697480"/>
            <a:ext cx="274320" cy="274320"/>
          </a:xfrm>
          <a:prstGeom prst="rightArrow">
            <a:avLst/>
          </a:prstGeom>
          <a:solidFill>
            <a:srgbClr val="D95D39"/>
          </a:solidFill>
          <a:ln/>
        </p:spPr>
      </p:sp>
      <p:sp>
        <p:nvSpPr>
          <p:cNvPr id="17" name="Shape 13"/>
          <p:cNvSpPr/>
          <p:nvPr/>
        </p:nvSpPr>
        <p:spPr>
          <a:xfrm>
            <a:off x="2858414" y="2377440"/>
            <a:ext cx="1806854" cy="2788920"/>
          </a:xfrm>
          <a:prstGeom prst="roundRect">
            <a:avLst>
              <a:gd name="adj" fmla="val 60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4"/>
          <p:cNvSpPr/>
          <p:nvPr/>
        </p:nvSpPr>
        <p:spPr>
          <a:xfrm>
            <a:off x="3441802" y="2560320"/>
            <a:ext cx="640080" cy="640080"/>
          </a:xfrm>
          <a:prstGeom prst="ellipse">
            <a:avLst/>
          </a:prstGeom>
          <a:solidFill>
            <a:srgbClr val="134074"/>
          </a:solidFill>
          <a:ln/>
        </p:spPr>
      </p:sp>
      <p:pic>
        <p:nvPicPr>
          <p:cNvPr id="19" name="Image 1" descr="preencoded.png">    </p:cNvPr>
          <p:cNvPicPr>
            <a:picLocks noChangeAspect="1"/>
          </p:cNvPicPr>
          <p:nvPr/>
        </p:nvPicPr>
        <p:blipFill>
          <a:blip r:embed="rId2"/>
          <a:stretch>
            <a:fillRect/>
          </a:stretch>
        </p:blipFill>
        <p:spPr>
          <a:xfrm>
            <a:off x="3601822" y="2720340"/>
            <a:ext cx="320040" cy="320040"/>
          </a:xfrm>
          <a:prstGeom prst="rect">
            <a:avLst/>
          </a:prstGeom>
        </p:spPr>
      </p:pic>
      <p:sp>
        <p:nvSpPr>
          <p:cNvPr id="20" name="Text 15"/>
          <p:cNvSpPr/>
          <p:nvPr/>
        </p:nvSpPr>
        <p:spPr>
          <a:xfrm>
            <a:off x="2949854" y="3337560"/>
            <a:ext cx="1623974" cy="594360"/>
          </a:xfrm>
          <a:prstGeom prst="rect">
            <a:avLst/>
          </a:prstGeom>
          <a:noFill/>
          <a:ln/>
        </p:spPr>
        <p:txBody>
          <a:bodyPr wrap="square" lIns="0" tIns="0" rIns="0" bIns="0" rtlCol="0" anchor="t"/>
          <a:lstStyle/>
          <a:p>
            <a:pPr algn="ctr" indent="0" marL="0">
              <a:buNone/>
            </a:pPr>
            <a:r>
              <a:rPr lang="en-US" sz="1600" b="1" dirty="0">
                <a:solidFill>
                  <a:srgbClr val="0B2545"/>
                </a:solidFill>
                <a:latin typeface="Calibri" pitchFamily="34" charset="0"/>
                <a:ea typeface="Calibri" pitchFamily="34" charset="-122"/>
                <a:cs typeface="Calibri" pitchFamily="34" charset="-120"/>
              </a:rPr>
              <a:t>Login</a:t>
            </a:r>
            <a:endParaRPr lang="en-US" sz="1600" dirty="0"/>
          </a:p>
        </p:txBody>
      </p:sp>
      <p:sp>
        <p:nvSpPr>
          <p:cNvPr id="21" name="Text 16"/>
          <p:cNvSpPr/>
          <p:nvPr/>
        </p:nvSpPr>
        <p:spPr>
          <a:xfrm>
            <a:off x="2949854" y="3977640"/>
            <a:ext cx="1623974" cy="82296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Principal de servidor</a:t>
            </a:r>
            <a:endParaRPr lang="en-US" sz="1300" dirty="0"/>
          </a:p>
        </p:txBody>
      </p:sp>
      <p:sp>
        <p:nvSpPr>
          <p:cNvPr id="22" name="Shape 17"/>
          <p:cNvSpPr/>
          <p:nvPr/>
        </p:nvSpPr>
        <p:spPr>
          <a:xfrm>
            <a:off x="4893869" y="2697480"/>
            <a:ext cx="274320" cy="274320"/>
          </a:xfrm>
          <a:prstGeom prst="rightArrow">
            <a:avLst/>
          </a:prstGeom>
          <a:solidFill>
            <a:srgbClr val="D95D39"/>
          </a:solidFill>
          <a:ln/>
        </p:spPr>
      </p:sp>
      <p:sp>
        <p:nvSpPr>
          <p:cNvPr id="23" name="Shape 18"/>
          <p:cNvSpPr/>
          <p:nvPr/>
        </p:nvSpPr>
        <p:spPr>
          <a:xfrm>
            <a:off x="5396789" y="2377440"/>
            <a:ext cx="1806854" cy="2788920"/>
          </a:xfrm>
          <a:prstGeom prst="roundRect">
            <a:avLst>
              <a:gd name="adj" fmla="val 60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4" name="Shape 19"/>
          <p:cNvSpPr/>
          <p:nvPr/>
        </p:nvSpPr>
        <p:spPr>
          <a:xfrm>
            <a:off x="5980176" y="2560320"/>
            <a:ext cx="640080" cy="640080"/>
          </a:xfrm>
          <a:prstGeom prst="ellipse">
            <a:avLst/>
          </a:prstGeom>
          <a:solidFill>
            <a:srgbClr val="0B2545"/>
          </a:solidFill>
          <a:ln/>
        </p:spPr>
      </p:sp>
      <p:pic>
        <p:nvPicPr>
          <p:cNvPr id="25" name="Image 2" descr="preencoded.png">    </p:cNvPr>
          <p:cNvPicPr>
            <a:picLocks noChangeAspect="1"/>
          </p:cNvPicPr>
          <p:nvPr/>
        </p:nvPicPr>
        <p:blipFill>
          <a:blip r:embed="rId3"/>
          <a:stretch>
            <a:fillRect/>
          </a:stretch>
        </p:blipFill>
        <p:spPr>
          <a:xfrm>
            <a:off x="6140196" y="2720340"/>
            <a:ext cx="320040" cy="320040"/>
          </a:xfrm>
          <a:prstGeom prst="rect">
            <a:avLst/>
          </a:prstGeom>
        </p:spPr>
      </p:pic>
      <p:sp>
        <p:nvSpPr>
          <p:cNvPr id="26" name="Text 20"/>
          <p:cNvSpPr/>
          <p:nvPr/>
        </p:nvSpPr>
        <p:spPr>
          <a:xfrm>
            <a:off x="5488229" y="3337560"/>
            <a:ext cx="1623974" cy="594360"/>
          </a:xfrm>
          <a:prstGeom prst="rect">
            <a:avLst/>
          </a:prstGeom>
          <a:noFill/>
          <a:ln/>
        </p:spPr>
        <p:txBody>
          <a:bodyPr wrap="square" lIns="0" tIns="0" rIns="0" bIns="0" rtlCol="0" anchor="t"/>
          <a:lstStyle/>
          <a:p>
            <a:pPr algn="ctr" indent="0" marL="0">
              <a:buNone/>
            </a:pPr>
            <a:r>
              <a:rPr lang="en-US" sz="1600" b="1" dirty="0">
                <a:solidFill>
                  <a:srgbClr val="0B2545"/>
                </a:solidFill>
                <a:latin typeface="Calibri" pitchFamily="34" charset="0"/>
                <a:ea typeface="Calibri" pitchFamily="34" charset="-122"/>
                <a:cs typeface="Calibri" pitchFamily="34" charset="-120"/>
              </a:rPr>
              <a:t>User</a:t>
            </a:r>
            <a:endParaRPr lang="en-US" sz="1600" dirty="0"/>
          </a:p>
        </p:txBody>
      </p:sp>
      <p:sp>
        <p:nvSpPr>
          <p:cNvPr id="27" name="Text 21"/>
          <p:cNvSpPr/>
          <p:nvPr/>
        </p:nvSpPr>
        <p:spPr>
          <a:xfrm>
            <a:off x="5488229" y="3977640"/>
            <a:ext cx="1623974" cy="82296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Principal de base de datos</a:t>
            </a:r>
            <a:endParaRPr lang="en-US" sz="1300" dirty="0"/>
          </a:p>
        </p:txBody>
      </p:sp>
      <p:sp>
        <p:nvSpPr>
          <p:cNvPr id="28" name="Shape 22"/>
          <p:cNvSpPr/>
          <p:nvPr/>
        </p:nvSpPr>
        <p:spPr>
          <a:xfrm>
            <a:off x="7226503" y="2697480"/>
            <a:ext cx="274320" cy="274320"/>
          </a:xfrm>
          <a:prstGeom prst="rightArrow">
            <a:avLst/>
          </a:prstGeom>
          <a:solidFill>
            <a:srgbClr val="D95D39"/>
          </a:solidFill>
          <a:ln/>
        </p:spPr>
      </p:sp>
      <p:sp>
        <p:nvSpPr>
          <p:cNvPr id="29" name="Shape 23"/>
          <p:cNvSpPr/>
          <p:nvPr/>
        </p:nvSpPr>
        <p:spPr>
          <a:xfrm>
            <a:off x="7523683" y="2377440"/>
            <a:ext cx="1806854" cy="2788920"/>
          </a:xfrm>
          <a:prstGeom prst="roundRect">
            <a:avLst>
              <a:gd name="adj" fmla="val 60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0" name="Shape 24"/>
          <p:cNvSpPr/>
          <p:nvPr/>
        </p:nvSpPr>
        <p:spPr>
          <a:xfrm>
            <a:off x="8107070" y="2560320"/>
            <a:ext cx="640080" cy="640080"/>
          </a:xfrm>
          <a:prstGeom prst="ellipse">
            <a:avLst/>
          </a:prstGeom>
          <a:solidFill>
            <a:srgbClr val="0B2545"/>
          </a:solidFill>
          <a:ln/>
        </p:spPr>
      </p:sp>
      <p:pic>
        <p:nvPicPr>
          <p:cNvPr id="31" name="Image 3" descr="preencoded.png">    </p:cNvPr>
          <p:cNvPicPr>
            <a:picLocks noChangeAspect="1"/>
          </p:cNvPicPr>
          <p:nvPr/>
        </p:nvPicPr>
        <p:blipFill>
          <a:blip r:embed="rId4"/>
          <a:stretch>
            <a:fillRect/>
          </a:stretch>
        </p:blipFill>
        <p:spPr>
          <a:xfrm>
            <a:off x="8267090" y="2720340"/>
            <a:ext cx="320040" cy="320040"/>
          </a:xfrm>
          <a:prstGeom prst="rect">
            <a:avLst/>
          </a:prstGeom>
        </p:spPr>
      </p:pic>
      <p:sp>
        <p:nvSpPr>
          <p:cNvPr id="32" name="Text 25"/>
          <p:cNvSpPr/>
          <p:nvPr/>
        </p:nvSpPr>
        <p:spPr>
          <a:xfrm>
            <a:off x="7615123" y="3337560"/>
            <a:ext cx="1623974" cy="594360"/>
          </a:xfrm>
          <a:prstGeom prst="rect">
            <a:avLst/>
          </a:prstGeom>
          <a:noFill/>
          <a:ln/>
        </p:spPr>
        <p:txBody>
          <a:bodyPr wrap="square" lIns="0" tIns="0" rIns="0" bIns="0" rtlCol="0" anchor="t"/>
          <a:lstStyle/>
          <a:p>
            <a:pPr algn="ctr" indent="0" marL="0">
              <a:buNone/>
            </a:pPr>
            <a:r>
              <a:rPr lang="en-US" sz="1600" b="1" dirty="0">
                <a:solidFill>
                  <a:srgbClr val="0B2545"/>
                </a:solidFill>
                <a:latin typeface="Calibri" pitchFamily="34" charset="0"/>
                <a:ea typeface="Calibri" pitchFamily="34" charset="-122"/>
                <a:cs typeface="Calibri" pitchFamily="34" charset="-120"/>
              </a:rPr>
              <a:t>Roles y permisos</a:t>
            </a:r>
            <a:endParaRPr lang="en-US" sz="1600" dirty="0"/>
          </a:p>
        </p:txBody>
      </p:sp>
      <p:sp>
        <p:nvSpPr>
          <p:cNvPr id="33" name="Text 26"/>
          <p:cNvSpPr/>
          <p:nvPr/>
        </p:nvSpPr>
        <p:spPr>
          <a:xfrm>
            <a:off x="7615123" y="3977640"/>
            <a:ext cx="1623974" cy="82296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GRANT · DENY · REVOKE</a:t>
            </a:r>
            <a:endParaRPr lang="en-US" sz="1300" dirty="0"/>
          </a:p>
        </p:txBody>
      </p:sp>
      <p:sp>
        <p:nvSpPr>
          <p:cNvPr id="34" name="Shape 27"/>
          <p:cNvSpPr/>
          <p:nvPr/>
        </p:nvSpPr>
        <p:spPr>
          <a:xfrm>
            <a:off x="9353398" y="2697480"/>
            <a:ext cx="274320" cy="274320"/>
          </a:xfrm>
          <a:prstGeom prst="rightArrow">
            <a:avLst/>
          </a:prstGeom>
          <a:solidFill>
            <a:srgbClr val="D95D39"/>
          </a:solidFill>
          <a:ln/>
        </p:spPr>
      </p:sp>
      <p:sp>
        <p:nvSpPr>
          <p:cNvPr id="35" name="Shape 28"/>
          <p:cNvSpPr/>
          <p:nvPr/>
        </p:nvSpPr>
        <p:spPr>
          <a:xfrm>
            <a:off x="9650578" y="2377440"/>
            <a:ext cx="1806854" cy="2788920"/>
          </a:xfrm>
          <a:prstGeom prst="roundRect">
            <a:avLst>
              <a:gd name="adj" fmla="val 6073"/>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6" name="Shape 29"/>
          <p:cNvSpPr/>
          <p:nvPr/>
        </p:nvSpPr>
        <p:spPr>
          <a:xfrm>
            <a:off x="10233965" y="2560320"/>
            <a:ext cx="640080" cy="640080"/>
          </a:xfrm>
          <a:prstGeom prst="ellipse">
            <a:avLst/>
          </a:prstGeom>
          <a:solidFill>
            <a:srgbClr val="0B2545"/>
          </a:solidFill>
          <a:ln/>
        </p:spPr>
      </p:sp>
      <p:pic>
        <p:nvPicPr>
          <p:cNvPr id="37" name="Image 4" descr="preencoded.png">    </p:cNvPr>
          <p:cNvPicPr>
            <a:picLocks noChangeAspect="1"/>
          </p:cNvPicPr>
          <p:nvPr/>
        </p:nvPicPr>
        <p:blipFill>
          <a:blip r:embed="rId5"/>
          <a:stretch>
            <a:fillRect/>
          </a:stretch>
        </p:blipFill>
        <p:spPr>
          <a:xfrm>
            <a:off x="10393985" y="2720340"/>
            <a:ext cx="320040" cy="320040"/>
          </a:xfrm>
          <a:prstGeom prst="rect">
            <a:avLst/>
          </a:prstGeom>
        </p:spPr>
      </p:pic>
      <p:sp>
        <p:nvSpPr>
          <p:cNvPr id="38" name="Text 30"/>
          <p:cNvSpPr/>
          <p:nvPr/>
        </p:nvSpPr>
        <p:spPr>
          <a:xfrm>
            <a:off x="9742018" y="3337560"/>
            <a:ext cx="1623974" cy="594360"/>
          </a:xfrm>
          <a:prstGeom prst="rect">
            <a:avLst/>
          </a:prstGeom>
          <a:noFill/>
          <a:ln/>
        </p:spPr>
        <p:txBody>
          <a:bodyPr wrap="square" lIns="0" tIns="0" rIns="0" bIns="0" rtlCol="0" anchor="t"/>
          <a:lstStyle/>
          <a:p>
            <a:pPr algn="ctr" indent="0" marL="0">
              <a:buNone/>
            </a:pPr>
            <a:r>
              <a:rPr lang="en-US" sz="1600" b="1" dirty="0">
                <a:solidFill>
                  <a:srgbClr val="0B2545"/>
                </a:solidFill>
                <a:latin typeface="Calibri" pitchFamily="34" charset="0"/>
                <a:ea typeface="Calibri" pitchFamily="34" charset="-122"/>
                <a:cs typeface="Calibri" pitchFamily="34" charset="-120"/>
              </a:rPr>
              <a:t>Objetos</a:t>
            </a:r>
            <a:endParaRPr lang="en-US" sz="1600" dirty="0"/>
          </a:p>
        </p:txBody>
      </p:sp>
      <p:sp>
        <p:nvSpPr>
          <p:cNvPr id="39" name="Text 31"/>
          <p:cNvSpPr/>
          <p:nvPr/>
        </p:nvSpPr>
        <p:spPr>
          <a:xfrm>
            <a:off x="9742018" y="3977640"/>
            <a:ext cx="1623974" cy="82296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Schemas, tablas, SP, vistas</a:t>
            </a:r>
            <a:endParaRPr lang="en-US" sz="1300" dirty="0"/>
          </a:p>
        </p:txBody>
      </p:sp>
      <p:sp>
        <p:nvSpPr>
          <p:cNvPr id="40" name="Shape 32"/>
          <p:cNvSpPr/>
          <p:nvPr/>
        </p:nvSpPr>
        <p:spPr>
          <a:xfrm>
            <a:off x="548640" y="5486400"/>
            <a:ext cx="11091672" cy="685800"/>
          </a:xfrm>
          <a:prstGeom prst="roundRect">
            <a:avLst>
              <a:gd name="adj" fmla="val 16000"/>
            </a:avLst>
          </a:prstGeom>
          <a:solidFill>
            <a:srgbClr val="E8EEF5"/>
          </a:solidFill>
          <a:ln/>
        </p:spPr>
      </p:sp>
      <p:sp>
        <p:nvSpPr>
          <p:cNvPr id="41" name="Shape 33"/>
          <p:cNvSpPr/>
          <p:nvPr/>
        </p:nvSpPr>
        <p:spPr>
          <a:xfrm>
            <a:off x="731520" y="5600700"/>
            <a:ext cx="457200" cy="457200"/>
          </a:xfrm>
          <a:prstGeom prst="ellipse">
            <a:avLst/>
          </a:prstGeom>
          <a:solidFill>
            <a:srgbClr val="134074"/>
          </a:solidFill>
          <a:ln/>
        </p:spPr>
      </p:sp>
      <p:pic>
        <p:nvPicPr>
          <p:cNvPr id="42" name="Image 5" descr="preencoded.png">    </p:cNvPr>
          <p:cNvPicPr>
            <a:picLocks noChangeAspect="1"/>
          </p:cNvPicPr>
          <p:nvPr/>
        </p:nvPicPr>
        <p:blipFill>
          <a:blip r:embed="rId6"/>
          <a:stretch>
            <a:fillRect/>
          </a:stretch>
        </p:blipFill>
        <p:spPr>
          <a:xfrm>
            <a:off x="845820" y="5715000"/>
            <a:ext cx="228600" cy="228600"/>
          </a:xfrm>
          <a:prstGeom prst="rect">
            <a:avLst/>
          </a:prstGeom>
        </p:spPr>
      </p:pic>
      <p:sp>
        <p:nvSpPr>
          <p:cNvPr id="43" name="Text 34"/>
          <p:cNvSpPr/>
          <p:nvPr/>
        </p:nvSpPr>
        <p:spPr>
          <a:xfrm>
            <a:off x="1371600" y="5486400"/>
            <a:ext cx="10085832" cy="6858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Recuerda: </a:t>
            </a:r>
            <a:r>
              <a:rPr lang="en-US" sz="1400" dirty="0">
                <a:solidFill>
                  <a:srgbClr val="1F2933"/>
                </a:solidFill>
                <a:latin typeface="Calibri" pitchFamily="34" charset="0"/>
                <a:ea typeface="Calibri" pitchFamily="34" charset="-122"/>
                <a:cs typeface="Calibri" pitchFamily="34" charset="-120"/>
              </a:rPr>
              <a:t>un login abre la puerta de la instancia; los permisos los decide el user en cada base de datos.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SEGURIDAD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Autenticación: Windows frente a SQL Server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35</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650001"/>
                <a:gridCol w="4675002"/>
                <a:gridCol w="4766669"/>
              </a:tblGrid>
              <a:tr h="3962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Autenticación de Windows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Autenticación de SQL Server</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Identidad</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Cuenta o grupo de Active Directory</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Login y contraseña guardados en master</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Seguridad</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Kerberos/NTLM, caducidad y MFA en AD</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CHECK_POLICY; riesgo de fuerza bruta (sa)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Recomendado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Opción preferida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Apps heredadas, Linux/Docker, fuera de dominio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526280"/>
            <a:ext cx="6675120" cy="1645920"/>
          </a:xfrm>
          <a:prstGeom prst="roundRect">
            <a:avLst>
              <a:gd name="adj" fmla="val 5556"/>
            </a:avLst>
          </a:prstGeom>
          <a:solidFill>
            <a:srgbClr val="ECEFF3"/>
          </a:solidFill>
          <a:ln w="9525">
            <a:solidFill>
              <a:srgbClr val="D0D7DE"/>
            </a:solidFill>
            <a:prstDash val="solid"/>
          </a:ln>
        </p:spPr>
      </p:sp>
      <p:sp>
        <p:nvSpPr>
          <p:cNvPr id="9" name="Text 5"/>
          <p:cNvSpPr/>
          <p:nvPr/>
        </p:nvSpPr>
        <p:spPr>
          <a:xfrm>
            <a:off x="731520" y="461772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modo y política</a:t>
            </a:r>
            <a:endParaRPr lang="en-US" sz="1000" dirty="0"/>
          </a:p>
        </p:txBody>
      </p:sp>
      <p:sp>
        <p:nvSpPr>
          <p:cNvPr id="10" name="Text 6"/>
          <p:cNvSpPr/>
          <p:nvPr/>
        </p:nvSpPr>
        <p:spPr>
          <a:xfrm>
            <a:off x="731520" y="4892040"/>
            <a:ext cx="6309360" cy="118872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-- 1 = sólo Windows, 0 = modo mixto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SERVERPROPERTY(</a:t>
            </a:r>
            <a:r>
              <a:rPr lang="en-US" sz="1200" dirty="0">
                <a:solidFill>
                  <a:srgbClr val="B4441F"/>
                </a:solidFill>
                <a:latin typeface="Consolas" pitchFamily="34" charset="0"/>
                <a:ea typeface="Consolas" pitchFamily="34" charset="-122"/>
                <a:cs typeface="Consolas" pitchFamily="34" charset="-120"/>
              </a:rPr>
              <a:t>'IsIntegratedSecurityOnly'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SoloWindows;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is_policy_checked, is_expiration_checked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sys.sql_logins;</a:t>
            </a:r>
            <a:endParaRPr lang="en-US" sz="1200" dirty="0"/>
          </a:p>
        </p:txBody>
      </p:sp>
      <p:sp>
        <p:nvSpPr>
          <p:cNvPr id="11" name="Shape 7"/>
          <p:cNvSpPr/>
          <p:nvPr/>
        </p:nvSpPr>
        <p:spPr>
          <a:xfrm>
            <a:off x="7498080" y="4526280"/>
            <a:ext cx="4142232" cy="1645920"/>
          </a:xfrm>
          <a:prstGeom prst="roundRect">
            <a:avLst>
              <a:gd name="adj" fmla="val 6667"/>
            </a:avLst>
          </a:prstGeom>
          <a:solidFill>
            <a:srgbClr val="FDEDE8"/>
          </a:solidFill>
          <a:ln/>
        </p:spPr>
      </p:sp>
      <p:sp>
        <p:nvSpPr>
          <p:cNvPr id="12" name="Shape 8"/>
          <p:cNvSpPr/>
          <p:nvPr/>
        </p:nvSpPr>
        <p:spPr>
          <a:xfrm>
            <a:off x="7680960" y="5120640"/>
            <a:ext cx="457200" cy="457200"/>
          </a:xfrm>
          <a:prstGeom prst="ellipse">
            <a:avLst/>
          </a:prstGeom>
          <a:solidFill>
            <a:srgbClr val="D95D39"/>
          </a:solidFill>
          <a:ln/>
        </p:spPr>
      </p:sp>
      <p:pic>
        <p:nvPicPr>
          <p:cNvPr id="13" name="Image 0" descr="preencoded.png">    </p:cNvPr>
          <p:cNvPicPr>
            <a:picLocks noChangeAspect="1"/>
          </p:cNvPicPr>
          <p:nvPr/>
        </p:nvPicPr>
        <p:blipFill>
          <a:blip r:embed="rId1"/>
          <a:stretch>
            <a:fillRect/>
          </a:stretch>
        </p:blipFill>
        <p:spPr>
          <a:xfrm>
            <a:off x="7795260" y="5234940"/>
            <a:ext cx="228600" cy="228600"/>
          </a:xfrm>
          <a:prstGeom prst="rect">
            <a:avLst/>
          </a:prstGeom>
        </p:spPr>
      </p:pic>
      <p:sp>
        <p:nvSpPr>
          <p:cNvPr id="14" name="Text 9"/>
          <p:cNvSpPr/>
          <p:nvPr/>
        </p:nvSpPr>
        <p:spPr>
          <a:xfrm>
            <a:off x="8321040" y="4526280"/>
            <a:ext cx="3136392" cy="164592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Modo mixto: </a:t>
            </a:r>
            <a:r>
              <a:rPr lang="en-US" sz="1400" dirty="0">
                <a:solidFill>
                  <a:srgbClr val="1F2933"/>
                </a:solidFill>
                <a:latin typeface="Calibri" pitchFamily="34" charset="0"/>
                <a:ea typeface="Calibri" pitchFamily="34" charset="-122"/>
                <a:cs typeface="Calibri" pitchFamily="34" charset="-120"/>
              </a:rPr>
              <a:t>requiere reiniciar el servicio y deja sa expuesta: deshabilítala.</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SEGURIDAD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Logins, Users y Schemas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36</a:t>
            </a:r>
            <a:endParaRPr lang="en-US" sz="1000" dirty="0"/>
          </a:p>
        </p:txBody>
      </p:sp>
      <p:sp>
        <p:nvSpPr>
          <p:cNvPr id="7" name="Text 4"/>
          <p:cNvSpPr/>
          <p:nvPr/>
        </p:nvSpPr>
        <p:spPr>
          <a:xfrm>
            <a:off x="548640" y="1600200"/>
            <a:ext cx="4480560" cy="822960"/>
          </a:xfrm>
          <a:prstGeom prst="roundRect">
            <a:avLst>
              <a:gd name="adj" fmla="val 8889"/>
            </a:avLst>
          </a:prstGeom>
          <a:solidFill>
            <a:srgbClr val="134074"/>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LOGIN lg_analista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Nivel de instancia (master)</a:t>
            </a:r>
            <a:endParaRPr lang="en-US" sz="1400" dirty="0"/>
          </a:p>
        </p:txBody>
      </p:sp>
      <p:sp>
        <p:nvSpPr>
          <p:cNvPr id="8" name="Shape 5"/>
          <p:cNvSpPr/>
          <p:nvPr/>
        </p:nvSpPr>
        <p:spPr>
          <a:xfrm>
            <a:off x="2788920" y="2423160"/>
            <a:ext cx="0" cy="365760"/>
          </a:xfrm>
          <a:prstGeom prst="line">
            <a:avLst/>
          </a:prstGeom>
          <a:noFill/>
          <a:ln w="28575">
            <a:solidFill>
              <a:srgbClr val="D95D39"/>
            </a:solidFill>
            <a:prstDash val="solid"/>
            <a:tailEnd type="triangle"/>
          </a:ln>
        </p:spPr>
      </p:sp>
      <p:sp>
        <p:nvSpPr>
          <p:cNvPr id="9" name="Text 6"/>
          <p:cNvSpPr/>
          <p:nvPr/>
        </p:nvSpPr>
        <p:spPr>
          <a:xfrm>
            <a:off x="548640" y="2788920"/>
            <a:ext cx="4480560" cy="822960"/>
          </a:xfrm>
          <a:prstGeom prst="roundRect">
            <a:avLst>
              <a:gd name="adj" fmla="val 8889"/>
            </a:avLst>
          </a:prstGeom>
          <a:solidFill>
            <a:srgbClr val="0B2545"/>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 analista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Nivel de BD: Ventas, mismo SID</a:t>
            </a:r>
            <a:endParaRPr lang="en-US" sz="1400" dirty="0"/>
          </a:p>
        </p:txBody>
      </p:sp>
      <p:sp>
        <p:nvSpPr>
          <p:cNvPr id="10" name="Shape 7"/>
          <p:cNvSpPr/>
          <p:nvPr/>
        </p:nvSpPr>
        <p:spPr>
          <a:xfrm>
            <a:off x="2788920" y="3611880"/>
            <a:ext cx="0" cy="365760"/>
          </a:xfrm>
          <a:prstGeom prst="line">
            <a:avLst/>
          </a:prstGeom>
          <a:noFill/>
          <a:ln w="28575">
            <a:solidFill>
              <a:srgbClr val="D95D39"/>
            </a:solidFill>
            <a:prstDash val="solid"/>
            <a:tailEnd type="triangle"/>
          </a:ln>
        </p:spPr>
      </p:sp>
      <p:sp>
        <p:nvSpPr>
          <p:cNvPr id="11" name="Text 8"/>
          <p:cNvSpPr/>
          <p:nvPr/>
        </p:nvSpPr>
        <p:spPr>
          <a:xfrm>
            <a:off x="548640" y="3977640"/>
            <a:ext cx="4480560" cy="822960"/>
          </a:xfrm>
          <a:prstGeom prst="roundRect">
            <a:avLst>
              <a:gd name="adj" fmla="val 8889"/>
            </a:avLst>
          </a:prstGeom>
          <a:solidFill>
            <a:srgbClr val="0B2545"/>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ROL rol_lectura_rpt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Agrupa permisos</a:t>
            </a:r>
            <a:endParaRPr lang="en-US" sz="1400" dirty="0"/>
          </a:p>
        </p:txBody>
      </p:sp>
      <p:sp>
        <p:nvSpPr>
          <p:cNvPr id="12" name="Shape 9"/>
          <p:cNvSpPr/>
          <p:nvPr/>
        </p:nvSpPr>
        <p:spPr>
          <a:xfrm>
            <a:off x="2788920" y="4800600"/>
            <a:ext cx="0" cy="365760"/>
          </a:xfrm>
          <a:prstGeom prst="line">
            <a:avLst/>
          </a:prstGeom>
          <a:noFill/>
          <a:ln w="28575">
            <a:solidFill>
              <a:srgbClr val="D95D39"/>
            </a:solidFill>
            <a:prstDash val="solid"/>
            <a:tailEnd type="triangle"/>
          </a:ln>
        </p:spPr>
      </p:sp>
      <p:sp>
        <p:nvSpPr>
          <p:cNvPr id="13" name="Text 10"/>
          <p:cNvSpPr/>
          <p:nvPr/>
        </p:nvSpPr>
        <p:spPr>
          <a:xfrm>
            <a:off x="548640" y="5166360"/>
            <a:ext cx="4480560" cy="822960"/>
          </a:xfrm>
          <a:prstGeom prst="roundRect">
            <a:avLst>
              <a:gd name="adj" fmla="val 8889"/>
            </a:avLst>
          </a:prstGeom>
          <a:solidFill>
            <a:srgbClr val="134074"/>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SCHEMA rpt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Objetos y permisos</a:t>
            </a:r>
            <a:endParaRPr lang="en-US" sz="1400" dirty="0"/>
          </a:p>
        </p:txBody>
      </p:sp>
      <p:sp>
        <p:nvSpPr>
          <p:cNvPr id="14" name="Shape 11"/>
          <p:cNvSpPr/>
          <p:nvPr/>
        </p:nvSpPr>
        <p:spPr>
          <a:xfrm>
            <a:off x="5303520" y="1600200"/>
            <a:ext cx="6336792" cy="3429000"/>
          </a:xfrm>
          <a:prstGeom prst="roundRect">
            <a:avLst>
              <a:gd name="adj" fmla="val 2667"/>
            </a:avLst>
          </a:prstGeom>
          <a:solidFill>
            <a:srgbClr val="ECEFF3"/>
          </a:solidFill>
          <a:ln w="9525">
            <a:solidFill>
              <a:srgbClr val="D0D7DE"/>
            </a:solidFill>
            <a:prstDash val="solid"/>
          </a:ln>
        </p:spPr>
      </p:sp>
      <p:sp>
        <p:nvSpPr>
          <p:cNvPr id="15" name="Text 12"/>
          <p:cNvSpPr/>
          <p:nvPr/>
        </p:nvSpPr>
        <p:spPr>
          <a:xfrm>
            <a:off x="548640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login, schema y user</a:t>
            </a:r>
            <a:endParaRPr lang="en-US" sz="1000" dirty="0"/>
          </a:p>
        </p:txBody>
      </p:sp>
      <p:sp>
        <p:nvSpPr>
          <p:cNvPr id="16" name="Text 13"/>
          <p:cNvSpPr/>
          <p:nvPr/>
        </p:nvSpPr>
        <p:spPr>
          <a:xfrm>
            <a:off x="5486400" y="1965960"/>
            <a:ext cx="5971032" cy="297180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-- 1) Instancia: el login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LOGIN</a:t>
            </a:r>
            <a:r>
              <a:rPr lang="en-US" sz="1200" dirty="0">
                <a:solidFill>
                  <a:srgbClr val="1F2933"/>
                </a:solidFill>
                <a:latin typeface="Consolas" pitchFamily="34" charset="0"/>
                <a:ea typeface="Consolas" pitchFamily="34" charset="-122"/>
                <a:cs typeface="Consolas" pitchFamily="34" charset="-120"/>
              </a:rPr>
              <a:t> lg_analista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PASSWORD = </a:t>
            </a:r>
            <a:r>
              <a:rPr lang="en-US" sz="1200" dirty="0">
                <a:solidFill>
                  <a:srgbClr val="B4441F"/>
                </a:solidFill>
                <a:latin typeface="Consolas" pitchFamily="34" charset="0"/>
                <a:ea typeface="Consolas" pitchFamily="34" charset="-122"/>
                <a:cs typeface="Consolas" pitchFamily="34" charset="-120"/>
              </a:rPr>
              <a:t>N'C0mpl3ja!2024'</a:t>
            </a:r>
            <a:r>
              <a:rPr lang="en-US" sz="1200" dirty="0">
                <a:solidFill>
                  <a:srgbClr val="1F2933"/>
                </a:solidFill>
                <a:latin typeface="Consolas" pitchFamily="34" charset="0"/>
                <a:ea typeface="Consolas" pitchFamily="34" charset="-122"/>
                <a:cs typeface="Consolas" pitchFamily="34" charset="-120"/>
              </a:rPr>
              <a:t>, CHECK_POLICY =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-- 2) Base de datos: schema y user mapeado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SCHEMA</a:t>
            </a:r>
            <a:r>
              <a:rPr lang="en-US" sz="1200" dirty="0">
                <a:solidFill>
                  <a:srgbClr val="1F2933"/>
                </a:solidFill>
                <a:latin typeface="Consolas" pitchFamily="34" charset="0"/>
                <a:ea typeface="Consolas" pitchFamily="34" charset="-122"/>
                <a:cs typeface="Consolas" pitchFamily="34" charset="-120"/>
              </a:rPr>
              <a:t> rpt </a:t>
            </a:r>
            <a:r>
              <a:rPr lang="en-US" sz="1200" b="1" dirty="0">
                <a:solidFill>
                  <a:srgbClr val="1D4ED8"/>
                </a:solidFill>
                <a:latin typeface="Consolas" pitchFamily="34" charset="0"/>
                <a:ea typeface="Consolas" pitchFamily="34" charset="-122"/>
                <a:cs typeface="Consolas" pitchFamily="34" charset="-120"/>
              </a:rPr>
              <a:t>AUTHORIZATION</a:t>
            </a:r>
            <a:r>
              <a:rPr lang="en-US" sz="1200" dirty="0">
                <a:solidFill>
                  <a:srgbClr val="1F2933"/>
                </a:solidFill>
                <a:latin typeface="Consolas" pitchFamily="34" charset="0"/>
                <a:ea typeface="Consolas" pitchFamily="34" charset="-122"/>
                <a:cs typeface="Consolas" pitchFamily="34" charset="-120"/>
              </a:rPr>
              <a:t> dbo;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USER</a:t>
            </a:r>
            <a:r>
              <a:rPr lang="en-US" sz="1200" dirty="0">
                <a:solidFill>
                  <a:srgbClr val="1F2933"/>
                </a:solidFill>
                <a:latin typeface="Consolas" pitchFamily="34" charset="0"/>
                <a:ea typeface="Consolas" pitchFamily="34" charset="-122"/>
                <a:cs typeface="Consolas" pitchFamily="34" charset="-120"/>
              </a:rPr>
              <a:t> analista </a:t>
            </a:r>
            <a:r>
              <a:rPr lang="en-US" sz="1200" b="1" dirty="0">
                <a:solidFill>
                  <a:srgbClr val="1D4ED8"/>
                </a:solidFill>
                <a:latin typeface="Consolas" pitchFamily="34" charset="0"/>
                <a:ea typeface="Consolas" pitchFamily="34" charset="-122"/>
                <a:cs typeface="Consolas" pitchFamily="34" charset="-120"/>
              </a:rPr>
              <a:t>FOR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LOGIN</a:t>
            </a:r>
            <a:r>
              <a:rPr lang="en-US" sz="1200" dirty="0">
                <a:solidFill>
                  <a:srgbClr val="1F2933"/>
                </a:solidFill>
                <a:latin typeface="Consolas" pitchFamily="34" charset="0"/>
                <a:ea typeface="Consolas" pitchFamily="34" charset="-122"/>
                <a:cs typeface="Consolas" pitchFamily="34" charset="-120"/>
              </a:rPr>
              <a:t> lg_analista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DEFAULT_SCHEMA = rpt;</a:t>
            </a:r>
            <a:endParaRPr lang="en-US" sz="1200" dirty="0"/>
          </a:p>
        </p:txBody>
      </p:sp>
      <p:sp>
        <p:nvSpPr>
          <p:cNvPr id="17" name="Shape 14"/>
          <p:cNvSpPr/>
          <p:nvPr/>
        </p:nvSpPr>
        <p:spPr>
          <a:xfrm>
            <a:off x="5303520" y="5303520"/>
            <a:ext cx="6336792" cy="868680"/>
          </a:xfrm>
          <a:prstGeom prst="roundRect">
            <a:avLst>
              <a:gd name="adj" fmla="val 12632"/>
            </a:avLst>
          </a:prstGeom>
          <a:solidFill>
            <a:srgbClr val="FDEDE8"/>
          </a:solidFill>
          <a:ln/>
        </p:spPr>
      </p:sp>
      <p:sp>
        <p:nvSpPr>
          <p:cNvPr id="18" name="Shape 15"/>
          <p:cNvSpPr/>
          <p:nvPr/>
        </p:nvSpPr>
        <p:spPr>
          <a:xfrm>
            <a:off x="5486400" y="5509260"/>
            <a:ext cx="457200" cy="457200"/>
          </a:xfrm>
          <a:prstGeom prst="ellipse">
            <a:avLst/>
          </a:prstGeom>
          <a:solidFill>
            <a:srgbClr val="D95D39"/>
          </a:solidFill>
          <a:ln/>
        </p:spPr>
      </p:sp>
      <p:pic>
        <p:nvPicPr>
          <p:cNvPr id="19" name="Image 0" descr="preencoded.png">    </p:cNvPr>
          <p:cNvPicPr>
            <a:picLocks noChangeAspect="1"/>
          </p:cNvPicPr>
          <p:nvPr/>
        </p:nvPicPr>
        <p:blipFill>
          <a:blip r:embed="rId1"/>
          <a:stretch>
            <a:fillRect/>
          </a:stretch>
        </p:blipFill>
        <p:spPr>
          <a:xfrm>
            <a:off x="5600700" y="5623560"/>
            <a:ext cx="228600" cy="228600"/>
          </a:xfrm>
          <a:prstGeom prst="rect">
            <a:avLst/>
          </a:prstGeom>
        </p:spPr>
      </p:pic>
      <p:sp>
        <p:nvSpPr>
          <p:cNvPr id="20" name="Text 16"/>
          <p:cNvSpPr/>
          <p:nvPr/>
        </p:nvSpPr>
        <p:spPr>
          <a:xfrm>
            <a:off x="6126480" y="5303520"/>
            <a:ext cx="5330952" cy="86868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Huérfano: </a:t>
            </a:r>
            <a:r>
              <a:rPr lang="en-US" sz="1400" dirty="0">
                <a:solidFill>
                  <a:srgbClr val="1F2933"/>
                </a:solidFill>
                <a:latin typeface="Calibri" pitchFamily="34" charset="0"/>
                <a:ea typeface="Calibri" pitchFamily="34" charset="-122"/>
                <a:cs typeface="Calibri" pitchFamily="34" charset="-120"/>
              </a:rPr>
              <a:t>tras un restore, ALTER USER ... WITH LOGIN = ... repara el SID.</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SEGURIDAD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Roles fijos y roles personalizados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37</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858000" cy="914400"/>
        </p:xfrm>
        <a:graphic>
          <a:graphicData uri="http://schemas.openxmlformats.org/drawingml/2006/table">
            <a:tbl>
              <a:tblPr/>
              <a:tblGrid>
                <a:gridCol w="2651760"/>
                <a:gridCol w="1463040"/>
                <a:gridCol w="2743200"/>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Rol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Ámbito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Capacidad</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sysadmin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Servidor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Control total de la instancia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securityadmin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Servidor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Gestiona logins y permisos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dbcreator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Servidor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Crea y restaura bases de datos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db_owner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Base de datos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Control total sobre la BD</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db_datareader / db_datawriter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Base de datos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SELECT / DML en todas las tablas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db_ddladmin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Base de datos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Ejecuta DDL (CREATE, ALTER)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
        <p:nvSpPr>
          <p:cNvPr id="8" name="Shape 4"/>
          <p:cNvSpPr/>
          <p:nvPr/>
        </p:nvSpPr>
        <p:spPr>
          <a:xfrm>
            <a:off x="7680960" y="1600200"/>
            <a:ext cx="3959352" cy="3474720"/>
          </a:xfrm>
          <a:prstGeom prst="roundRect">
            <a:avLst>
              <a:gd name="adj" fmla="val 2632"/>
            </a:avLst>
          </a:prstGeom>
          <a:solidFill>
            <a:srgbClr val="ECEFF3"/>
          </a:solidFill>
          <a:ln w="9525">
            <a:solidFill>
              <a:srgbClr val="D0D7DE"/>
            </a:solidFill>
            <a:prstDash val="solid"/>
          </a:ln>
        </p:spPr>
      </p:sp>
      <p:sp>
        <p:nvSpPr>
          <p:cNvPr id="9" name="Text 5"/>
          <p:cNvSpPr/>
          <p:nvPr/>
        </p:nvSpPr>
        <p:spPr>
          <a:xfrm>
            <a:off x="786384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rol personalizado</a:t>
            </a:r>
            <a:endParaRPr lang="en-US" sz="1000" dirty="0"/>
          </a:p>
        </p:txBody>
      </p:sp>
      <p:sp>
        <p:nvSpPr>
          <p:cNvPr id="10" name="Text 6"/>
          <p:cNvSpPr/>
          <p:nvPr/>
        </p:nvSpPr>
        <p:spPr>
          <a:xfrm>
            <a:off x="7863840" y="1965960"/>
            <a:ext cx="3593592" cy="30175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ROLE</a:t>
            </a:r>
            <a:r>
              <a:rPr lang="en-US" sz="1200" dirty="0">
                <a:solidFill>
                  <a:srgbClr val="1F2933"/>
                </a:solidFill>
                <a:latin typeface="Consolas" pitchFamily="34" charset="0"/>
                <a:ea typeface="Consolas" pitchFamily="34" charset="-122"/>
                <a:cs typeface="Consolas" pitchFamily="34" charset="-120"/>
              </a:rPr>
              <a:t> rol_lectura_rpt;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GRANT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SCHEMA</a:t>
            </a:r>
            <a:r>
              <a:rPr lang="en-US" sz="1200" dirty="0">
                <a:solidFill>
                  <a:srgbClr val="1F2933"/>
                </a:solidFill>
                <a:latin typeface="Consolas" pitchFamily="34" charset="0"/>
                <a:ea typeface="Consolas" pitchFamily="34" charset="-122"/>
                <a:cs typeface="Consolas" pitchFamily="34" charset="-120"/>
              </a:rPr>
              <a:t>::rpt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TO rol_lectura_rpt;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ROLE</a:t>
            </a:r>
            <a:r>
              <a:rPr lang="en-US" sz="1200" dirty="0">
                <a:solidFill>
                  <a:srgbClr val="1F2933"/>
                </a:solidFill>
                <a:latin typeface="Consolas" pitchFamily="34" charset="0"/>
                <a:ea typeface="Consolas" pitchFamily="34" charset="-122"/>
                <a:cs typeface="Consolas" pitchFamily="34" charset="-120"/>
              </a:rPr>
              <a:t> rol_operador;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GRANT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EXECUTE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SCHEMA</a:t>
            </a:r>
            <a:r>
              <a:rPr lang="en-US" sz="1200" dirty="0">
                <a:solidFill>
                  <a:srgbClr val="1F2933"/>
                </a:solidFill>
                <a:latin typeface="Consolas" pitchFamily="34" charset="0"/>
                <a:ea typeface="Consolas" pitchFamily="34" charset="-122"/>
                <a:cs typeface="Consolas" pitchFamily="34" charset="-120"/>
              </a:rPr>
              <a:t>::app</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TO rol_operador;</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ROLE</a:t>
            </a:r>
            <a:r>
              <a:rPr lang="en-US" sz="1200" dirty="0">
                <a:solidFill>
                  <a:srgbClr val="1F2933"/>
                </a:solidFill>
                <a:latin typeface="Consolas" pitchFamily="34" charset="0"/>
                <a:ea typeface="Consolas" pitchFamily="34" charset="-122"/>
                <a:cs typeface="Consolas" pitchFamily="34" charset="-120"/>
              </a:rPr>
              <a:t> rol_lectura_rpt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ADD</a:t>
            </a:r>
            <a:r>
              <a:rPr lang="en-US" sz="1200" dirty="0">
                <a:solidFill>
                  <a:srgbClr val="1F2933"/>
                </a:solidFill>
                <a:latin typeface="Consolas" pitchFamily="34" charset="0"/>
                <a:ea typeface="Consolas" pitchFamily="34" charset="-122"/>
                <a:cs typeface="Consolas" pitchFamily="34" charset="-120"/>
              </a:rPr>
              <a:t> MEMBER analista;</a:t>
            </a:r>
            <a:endParaRPr lang="en-US" sz="1200" dirty="0"/>
          </a:p>
        </p:txBody>
      </p:sp>
      <p:sp>
        <p:nvSpPr>
          <p:cNvPr id="11" name="Shape 7"/>
          <p:cNvSpPr/>
          <p:nvPr/>
        </p:nvSpPr>
        <p:spPr>
          <a:xfrm>
            <a:off x="548640" y="5349240"/>
            <a:ext cx="11091672" cy="822960"/>
          </a:xfrm>
          <a:prstGeom prst="roundRect">
            <a:avLst>
              <a:gd name="adj" fmla="val 13333"/>
            </a:avLst>
          </a:prstGeom>
          <a:solidFill>
            <a:srgbClr val="E8EEF5"/>
          </a:solidFill>
          <a:ln/>
        </p:spPr>
      </p:sp>
      <p:sp>
        <p:nvSpPr>
          <p:cNvPr id="12" name="Shape 8"/>
          <p:cNvSpPr/>
          <p:nvPr/>
        </p:nvSpPr>
        <p:spPr>
          <a:xfrm>
            <a:off x="731520" y="5532120"/>
            <a:ext cx="457200" cy="457200"/>
          </a:xfrm>
          <a:prstGeom prst="ellipse">
            <a:avLst/>
          </a:prstGeom>
          <a:solidFill>
            <a:srgbClr val="134074"/>
          </a:solidFill>
          <a:ln/>
        </p:spPr>
      </p:sp>
      <p:pic>
        <p:nvPicPr>
          <p:cNvPr id="13" name="Image 0" descr="preencoded.png">    </p:cNvPr>
          <p:cNvPicPr>
            <a:picLocks noChangeAspect="1"/>
          </p:cNvPicPr>
          <p:nvPr/>
        </p:nvPicPr>
        <p:blipFill>
          <a:blip r:embed="rId1"/>
          <a:stretch>
            <a:fillRect/>
          </a:stretch>
        </p:blipFill>
        <p:spPr>
          <a:xfrm>
            <a:off x="845820" y="5646420"/>
            <a:ext cx="228600" cy="228600"/>
          </a:xfrm>
          <a:prstGeom prst="rect">
            <a:avLst/>
          </a:prstGeom>
        </p:spPr>
      </p:pic>
      <p:sp>
        <p:nvSpPr>
          <p:cNvPr id="14" name="Text 9"/>
          <p:cNvSpPr/>
          <p:nvPr/>
        </p:nvSpPr>
        <p:spPr>
          <a:xfrm>
            <a:off x="1371600" y="5349240"/>
            <a:ext cx="10085832" cy="8229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Mejor práctica: </a:t>
            </a:r>
            <a:r>
              <a:rPr lang="en-US" sz="1400" dirty="0">
                <a:solidFill>
                  <a:srgbClr val="1F2933"/>
                </a:solidFill>
                <a:latin typeface="Calibri" pitchFamily="34" charset="0"/>
                <a:ea typeface="Calibri" pitchFamily="34" charset="-122"/>
                <a:cs typeface="Calibri" pitchFamily="34" charset="-120"/>
              </a:rPr>
              <a:t>evita db_owner y sysadmin en aplicaciones; usa roles personalizados con permisos sobre un schema.</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SEGURIDAD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GRANT, DENY y REVOKE</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38</a:t>
            </a:r>
            <a:endParaRPr lang="en-US" sz="1000" dirty="0"/>
          </a:p>
        </p:txBody>
      </p:sp>
      <p:sp>
        <p:nvSpPr>
          <p:cNvPr id="7" name="Shape 4"/>
          <p:cNvSpPr/>
          <p:nvPr/>
        </p:nvSpPr>
        <p:spPr>
          <a:xfrm>
            <a:off x="548640" y="1600200"/>
            <a:ext cx="3514344" cy="2331720"/>
          </a:xfrm>
          <a:prstGeom prst="roundRect">
            <a:avLst>
              <a:gd name="adj" fmla="val 47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1344" cy="54864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GRANT</a:t>
            </a:r>
            <a:endParaRPr lang="en-US" sz="1800" dirty="0"/>
          </a:p>
        </p:txBody>
      </p:sp>
      <p:sp>
        <p:nvSpPr>
          <p:cNvPr id="11" name="Text 7"/>
          <p:cNvSpPr/>
          <p:nvPr/>
        </p:nvSpPr>
        <p:spPr>
          <a:xfrm>
            <a:off x="777240" y="2560320"/>
            <a:ext cx="3057144"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Concede un permiso; WITH GRANT OPTION permite delegarlo.</a:t>
            </a:r>
            <a:endParaRPr lang="en-US" sz="1400" dirty="0"/>
          </a:p>
        </p:txBody>
      </p:sp>
      <p:sp>
        <p:nvSpPr>
          <p:cNvPr id="12" name="Shape 8"/>
          <p:cNvSpPr/>
          <p:nvPr/>
        </p:nvSpPr>
        <p:spPr>
          <a:xfrm>
            <a:off x="4337304" y="1600200"/>
            <a:ext cx="3514344" cy="2331720"/>
          </a:xfrm>
          <a:prstGeom prst="roundRect">
            <a:avLst>
              <a:gd name="adj" fmla="val 4706"/>
            </a:avLst>
          </a:prstGeom>
          <a:solidFill>
            <a:srgbClr val="134074"/>
          </a:solidFill>
          <a:ln/>
        </p:spPr>
      </p:sp>
      <p:sp>
        <p:nvSpPr>
          <p:cNvPr id="13" name="Shape 9"/>
          <p:cNvSpPr/>
          <p:nvPr/>
        </p:nvSpPr>
        <p:spPr>
          <a:xfrm>
            <a:off x="4565904" y="1828800"/>
            <a:ext cx="548640" cy="548640"/>
          </a:xfrm>
          <a:prstGeom prst="ellipse">
            <a:avLst/>
          </a:prstGeom>
          <a:solidFill>
            <a:srgbClr val="D95D39"/>
          </a:solidFill>
          <a:ln/>
        </p:spPr>
      </p:sp>
      <p:pic>
        <p:nvPicPr>
          <p:cNvPr id="14" name="Image 1" descr="preencoded.png">    </p:cNvPr>
          <p:cNvPicPr>
            <a:picLocks noChangeAspect="1"/>
          </p:cNvPicPr>
          <p:nvPr/>
        </p:nvPicPr>
        <p:blipFill>
          <a:blip r:embed="rId2"/>
          <a:stretch>
            <a:fillRect/>
          </a:stretch>
        </p:blipFill>
        <p:spPr>
          <a:xfrm>
            <a:off x="4703064" y="1965960"/>
            <a:ext cx="274320" cy="274320"/>
          </a:xfrm>
          <a:prstGeom prst="rect">
            <a:avLst/>
          </a:prstGeom>
        </p:spPr>
      </p:pic>
      <p:sp>
        <p:nvSpPr>
          <p:cNvPr id="15" name="Text 10"/>
          <p:cNvSpPr/>
          <p:nvPr/>
        </p:nvSpPr>
        <p:spPr>
          <a:xfrm>
            <a:off x="5251704" y="1828800"/>
            <a:ext cx="2371344"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DENY</a:t>
            </a:r>
            <a:endParaRPr lang="en-US" sz="1800" dirty="0"/>
          </a:p>
        </p:txBody>
      </p:sp>
      <p:sp>
        <p:nvSpPr>
          <p:cNvPr id="16" name="Text 11"/>
          <p:cNvSpPr/>
          <p:nvPr/>
        </p:nvSpPr>
        <p:spPr>
          <a:xfrm>
            <a:off x="4565904" y="2560320"/>
            <a:ext cx="3057144" cy="1143000"/>
          </a:xfrm>
          <a:prstGeom prst="rect">
            <a:avLst/>
          </a:prstGeom>
          <a:noFill/>
          <a:ln/>
        </p:spPr>
        <p:txBody>
          <a:bodyPr wrap="square" lIns="0" tIns="0" rIns="0" bIns="0" rtlCol="0" anchor="t"/>
          <a:lstStyle/>
          <a:p>
            <a:pPr indent="0" marL="0">
              <a:buNone/>
            </a:pPr>
            <a:r>
              <a:rPr lang="en-US" sz="1400" dirty="0">
                <a:solidFill>
                  <a:srgbClr val="E6EEF8"/>
                </a:solidFill>
                <a:latin typeface="Calibri" pitchFamily="34" charset="0"/>
                <a:ea typeface="Calibri" pitchFamily="34" charset="-122"/>
                <a:cs typeface="Calibri" pitchFamily="34" charset="-120"/>
              </a:rPr>
              <a:t>Prohíbe el permiso y gana siempre al GRANT, también el heredado.</a:t>
            </a:r>
            <a:endParaRPr lang="en-US" sz="1400" dirty="0"/>
          </a:p>
        </p:txBody>
      </p:sp>
      <p:sp>
        <p:nvSpPr>
          <p:cNvPr id="17" name="Shape 12"/>
          <p:cNvSpPr/>
          <p:nvPr/>
        </p:nvSpPr>
        <p:spPr>
          <a:xfrm>
            <a:off x="8125968" y="1600200"/>
            <a:ext cx="3514344" cy="2331720"/>
          </a:xfrm>
          <a:prstGeom prst="roundRect">
            <a:avLst>
              <a:gd name="adj" fmla="val 47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4568"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1728" y="1965960"/>
            <a:ext cx="274320" cy="274320"/>
          </a:xfrm>
          <a:prstGeom prst="rect">
            <a:avLst/>
          </a:prstGeom>
        </p:spPr>
      </p:pic>
      <p:sp>
        <p:nvSpPr>
          <p:cNvPr id="20" name="Text 14"/>
          <p:cNvSpPr/>
          <p:nvPr/>
        </p:nvSpPr>
        <p:spPr>
          <a:xfrm>
            <a:off x="9040368" y="1828800"/>
            <a:ext cx="2371344" cy="54864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REVOKE</a:t>
            </a:r>
            <a:endParaRPr lang="en-US" sz="1800" dirty="0"/>
          </a:p>
        </p:txBody>
      </p:sp>
      <p:sp>
        <p:nvSpPr>
          <p:cNvPr id="21" name="Text 15"/>
          <p:cNvSpPr/>
          <p:nvPr/>
        </p:nvSpPr>
        <p:spPr>
          <a:xfrm>
            <a:off x="8354568" y="2560320"/>
            <a:ext cx="3057144"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Quita un GRANT o un DENY previo; no equivale a denegar.</a:t>
            </a:r>
            <a:endParaRPr lang="en-US" sz="1400" dirty="0"/>
          </a:p>
        </p:txBody>
      </p:sp>
      <p:sp>
        <p:nvSpPr>
          <p:cNvPr id="22" name="Shape 16"/>
          <p:cNvSpPr/>
          <p:nvPr/>
        </p:nvSpPr>
        <p:spPr>
          <a:xfrm>
            <a:off x="548640" y="4206240"/>
            <a:ext cx="6949440" cy="1965960"/>
          </a:xfrm>
          <a:prstGeom prst="roundRect">
            <a:avLst>
              <a:gd name="adj" fmla="val 4651"/>
            </a:avLst>
          </a:prstGeom>
          <a:solidFill>
            <a:srgbClr val="ECEFF3"/>
          </a:solidFill>
          <a:ln w="9525">
            <a:solidFill>
              <a:srgbClr val="D0D7DE"/>
            </a:solidFill>
            <a:prstDash val="solid"/>
          </a:ln>
        </p:spPr>
      </p:sp>
      <p:sp>
        <p:nvSpPr>
          <p:cNvPr id="23" name="Text 17"/>
          <p:cNvSpPr/>
          <p:nvPr/>
        </p:nvSpPr>
        <p:spPr>
          <a:xfrm>
            <a:off x="731520" y="429768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permisos sobre dbo.Pedido</a:t>
            </a:r>
            <a:endParaRPr lang="en-US" sz="1000" dirty="0"/>
          </a:p>
        </p:txBody>
      </p:sp>
      <p:sp>
        <p:nvSpPr>
          <p:cNvPr id="24" name="Text 18"/>
          <p:cNvSpPr/>
          <p:nvPr/>
        </p:nvSpPr>
        <p:spPr>
          <a:xfrm>
            <a:off x="731520" y="4572000"/>
            <a:ext cx="6583680" cy="150876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GRANT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INSERT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TO rol_operador;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DENY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DELETE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TO rol_operador;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REVOKE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INSERT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rol_operador;</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Permisos efectivos del contexto actual</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sys.fn_my_permissions(</a:t>
            </a:r>
            <a:r>
              <a:rPr lang="en-US" sz="1200" dirty="0">
                <a:solidFill>
                  <a:srgbClr val="B4441F"/>
                </a:solidFill>
                <a:latin typeface="Consolas" pitchFamily="34" charset="0"/>
                <a:ea typeface="Consolas" pitchFamily="34" charset="-122"/>
                <a:cs typeface="Consolas" pitchFamily="34" charset="-120"/>
              </a:rPr>
              <a:t>N'dbo.Pedido'</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N'OBJECT'</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25" name="Shape 19"/>
          <p:cNvSpPr/>
          <p:nvPr/>
        </p:nvSpPr>
        <p:spPr>
          <a:xfrm>
            <a:off x="7772400" y="4206240"/>
            <a:ext cx="3867912" cy="1965960"/>
          </a:xfrm>
          <a:prstGeom prst="roundRect">
            <a:avLst>
              <a:gd name="adj" fmla="val 5581"/>
            </a:avLst>
          </a:prstGeom>
          <a:solidFill>
            <a:srgbClr val="E8EEF5"/>
          </a:solidFill>
          <a:ln/>
        </p:spPr>
      </p:sp>
      <p:sp>
        <p:nvSpPr>
          <p:cNvPr id="26" name="Shape 20"/>
          <p:cNvSpPr/>
          <p:nvPr/>
        </p:nvSpPr>
        <p:spPr>
          <a:xfrm>
            <a:off x="7955280" y="4960620"/>
            <a:ext cx="457200" cy="457200"/>
          </a:xfrm>
          <a:prstGeom prst="ellipse">
            <a:avLst/>
          </a:prstGeom>
          <a:solidFill>
            <a:srgbClr val="134074"/>
          </a:solidFill>
          <a:ln/>
        </p:spPr>
      </p:sp>
      <p:pic>
        <p:nvPicPr>
          <p:cNvPr id="27" name="Image 3" descr="preencoded.png">    </p:cNvPr>
          <p:cNvPicPr>
            <a:picLocks noChangeAspect="1"/>
          </p:cNvPicPr>
          <p:nvPr/>
        </p:nvPicPr>
        <p:blipFill>
          <a:blip r:embed="rId4"/>
          <a:stretch>
            <a:fillRect/>
          </a:stretch>
        </p:blipFill>
        <p:spPr>
          <a:xfrm>
            <a:off x="8069580" y="5074920"/>
            <a:ext cx="228600" cy="228600"/>
          </a:xfrm>
          <a:prstGeom prst="rect">
            <a:avLst/>
          </a:prstGeom>
        </p:spPr>
      </p:pic>
      <p:sp>
        <p:nvSpPr>
          <p:cNvPr id="28" name="Text 21"/>
          <p:cNvSpPr/>
          <p:nvPr/>
        </p:nvSpPr>
        <p:spPr>
          <a:xfrm>
            <a:off x="8595360" y="4206240"/>
            <a:ext cx="2862072" cy="19659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Precedencia: </a:t>
            </a:r>
            <a:r>
              <a:rPr lang="en-US" sz="1400" dirty="0">
                <a:solidFill>
                  <a:srgbClr val="1F2933"/>
                </a:solidFill>
                <a:latin typeface="Calibri" pitchFamily="34" charset="0"/>
                <a:ea typeface="Calibri" pitchFamily="34" charset="-122"/>
                <a:cs typeface="Calibri" pitchFamily="34" charset="-120"/>
              </a:rPr>
              <a:t>DENY &gt; GRANT &gt; sin permiso. Los roles se acumulan, salvo DENY.</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SEGURIDAD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Ownership chaining (cadena de propiedad)</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39</a:t>
            </a:r>
            <a:endParaRPr lang="en-US" sz="1000" dirty="0"/>
          </a:p>
        </p:txBody>
      </p:sp>
      <p:sp>
        <p:nvSpPr>
          <p:cNvPr id="7" name="Text 4"/>
          <p:cNvSpPr/>
          <p:nvPr/>
        </p:nvSpPr>
        <p:spPr>
          <a:xfrm>
            <a:off x="548640" y="1600200"/>
            <a:ext cx="11091672" cy="365760"/>
          </a:xfrm>
          <a:prstGeom prst="rect">
            <a:avLst/>
          </a:prstGeom>
          <a:noFill/>
          <a:ln/>
        </p:spPr>
        <p:txBody>
          <a:bodyPr wrap="square" lIns="0" tIns="0" rIns="0" bIns="0" rtlCol="0" anchor="ctr"/>
          <a:lstStyle/>
          <a:p>
            <a:pPr algn="l" indent="0" marL="0">
              <a:buNone/>
            </a:pPr>
            <a:r>
              <a:rPr lang="en-US" sz="1600" b="1" dirty="0">
                <a:solidFill>
                  <a:srgbClr val="0B2545"/>
                </a:solidFill>
                <a:latin typeface="Calibri" pitchFamily="34" charset="0"/>
                <a:ea typeface="Calibri" pitchFamily="34" charset="-122"/>
                <a:cs typeface="Calibri" pitchFamily="34" charset="-120"/>
              </a:rPr>
              <a:t>Cadena intacta (mismo propietario)</a:t>
            </a:r>
            <a:endParaRPr lang="en-US" sz="1600" dirty="0"/>
          </a:p>
        </p:txBody>
      </p:sp>
      <p:sp>
        <p:nvSpPr>
          <p:cNvPr id="8" name="Text 5"/>
          <p:cNvSpPr/>
          <p:nvPr/>
        </p:nvSpPr>
        <p:spPr>
          <a:xfrm>
            <a:off x="548640" y="2057400"/>
            <a:ext cx="2286000" cy="914400"/>
          </a:xfrm>
          <a:prstGeom prst="roundRect">
            <a:avLst>
              <a:gd name="adj" fmla="val 8000"/>
            </a:avLst>
          </a:prstGeom>
          <a:solidFill>
            <a:srgbClr val="0B2545"/>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Usuario operador</a:t>
            </a:r>
            <a:endParaRPr lang="en-US" sz="1400" dirty="0"/>
          </a:p>
        </p:txBody>
      </p:sp>
      <p:sp>
        <p:nvSpPr>
          <p:cNvPr id="9" name="Shape 6"/>
          <p:cNvSpPr/>
          <p:nvPr/>
        </p:nvSpPr>
        <p:spPr>
          <a:xfrm>
            <a:off x="2871216" y="2514600"/>
            <a:ext cx="301752" cy="0"/>
          </a:xfrm>
          <a:prstGeom prst="line">
            <a:avLst/>
          </a:prstGeom>
          <a:noFill/>
          <a:ln w="28575">
            <a:solidFill>
              <a:srgbClr val="5C6B7A"/>
            </a:solidFill>
            <a:prstDash val="solid"/>
            <a:tailEnd type="triangle"/>
          </a:ln>
        </p:spPr>
      </p:sp>
      <p:sp>
        <p:nvSpPr>
          <p:cNvPr id="10" name="Text 7"/>
          <p:cNvSpPr/>
          <p:nvPr/>
        </p:nvSpPr>
        <p:spPr>
          <a:xfrm>
            <a:off x="3209544" y="2057400"/>
            <a:ext cx="3017520" cy="914400"/>
          </a:xfrm>
          <a:prstGeom prst="roundRect">
            <a:avLst>
              <a:gd name="adj" fmla="val 8000"/>
            </a:avLst>
          </a:prstGeom>
          <a:solidFill>
            <a:srgbClr val="134074"/>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app.usp_AltaPedido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owner: dbo</a:t>
            </a:r>
            <a:endParaRPr lang="en-US" sz="1400" dirty="0"/>
          </a:p>
        </p:txBody>
      </p:sp>
      <p:sp>
        <p:nvSpPr>
          <p:cNvPr id="11" name="Shape 8"/>
          <p:cNvSpPr/>
          <p:nvPr/>
        </p:nvSpPr>
        <p:spPr>
          <a:xfrm>
            <a:off x="6263640" y="2514600"/>
            <a:ext cx="301752" cy="0"/>
          </a:xfrm>
          <a:prstGeom prst="line">
            <a:avLst/>
          </a:prstGeom>
          <a:noFill/>
          <a:ln w="28575">
            <a:solidFill>
              <a:srgbClr val="5C6B7A"/>
            </a:solidFill>
            <a:prstDash val="solid"/>
            <a:tailEnd type="triangle"/>
          </a:ln>
        </p:spPr>
      </p:sp>
      <p:sp>
        <p:nvSpPr>
          <p:cNvPr id="12" name="Text 9"/>
          <p:cNvSpPr/>
          <p:nvPr/>
        </p:nvSpPr>
        <p:spPr>
          <a:xfrm>
            <a:off x="6601968" y="2057400"/>
            <a:ext cx="2377440" cy="914400"/>
          </a:xfrm>
          <a:prstGeom prst="roundRect">
            <a:avLst>
              <a:gd name="adj" fmla="val 8000"/>
            </a:avLst>
          </a:prstGeom>
          <a:solidFill>
            <a:srgbClr val="134074"/>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dbo.Pedido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owner: dbo</a:t>
            </a:r>
            <a:endParaRPr lang="en-US" sz="1400" dirty="0"/>
          </a:p>
        </p:txBody>
      </p:sp>
      <p:sp>
        <p:nvSpPr>
          <p:cNvPr id="13" name="Shape 10"/>
          <p:cNvSpPr/>
          <p:nvPr/>
        </p:nvSpPr>
        <p:spPr>
          <a:xfrm>
            <a:off x="9015984" y="2514600"/>
            <a:ext cx="301752" cy="0"/>
          </a:xfrm>
          <a:prstGeom prst="line">
            <a:avLst/>
          </a:prstGeom>
          <a:noFill/>
          <a:ln w="28575">
            <a:solidFill>
              <a:srgbClr val="5C6B7A"/>
            </a:solidFill>
            <a:prstDash val="solid"/>
            <a:tailEnd type="triangle"/>
          </a:ln>
        </p:spPr>
      </p:sp>
      <p:sp>
        <p:nvSpPr>
          <p:cNvPr id="14" name="Text 11"/>
          <p:cNvSpPr/>
          <p:nvPr/>
        </p:nvSpPr>
        <p:spPr>
          <a:xfrm>
            <a:off x="9354312" y="2057400"/>
            <a:ext cx="2286000" cy="914400"/>
          </a:xfrm>
          <a:prstGeom prst="roundRect">
            <a:avLst>
              <a:gd name="adj" fmla="val 8000"/>
            </a:avLst>
          </a:prstGeom>
          <a:solidFill>
            <a:srgbClr val="2A7F62"/>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Sólo se valida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EXECUTE</a:t>
            </a:r>
            <a:endParaRPr lang="en-US" sz="1400" dirty="0"/>
          </a:p>
        </p:txBody>
      </p:sp>
      <p:sp>
        <p:nvSpPr>
          <p:cNvPr id="15" name="Text 12"/>
          <p:cNvSpPr/>
          <p:nvPr/>
        </p:nvSpPr>
        <p:spPr>
          <a:xfrm>
            <a:off x="548640" y="3246120"/>
            <a:ext cx="11091672" cy="365760"/>
          </a:xfrm>
          <a:prstGeom prst="rect">
            <a:avLst/>
          </a:prstGeom>
          <a:noFill/>
          <a:ln/>
        </p:spPr>
        <p:txBody>
          <a:bodyPr wrap="square" lIns="0" tIns="0" rIns="0" bIns="0" rtlCol="0" anchor="ctr"/>
          <a:lstStyle/>
          <a:p>
            <a:pPr algn="l" indent="0" marL="0">
              <a:buNone/>
            </a:pPr>
            <a:r>
              <a:rPr lang="en-US" sz="1600" b="1" dirty="0">
                <a:solidFill>
                  <a:srgbClr val="0B2545"/>
                </a:solidFill>
                <a:latin typeface="Calibri" pitchFamily="34" charset="0"/>
                <a:ea typeface="Calibri" pitchFamily="34" charset="-122"/>
                <a:cs typeface="Calibri" pitchFamily="34" charset="-120"/>
              </a:rPr>
              <a:t>Cadena rota (propietarios distintos)</a:t>
            </a:r>
            <a:endParaRPr lang="en-US" sz="1600" dirty="0"/>
          </a:p>
        </p:txBody>
      </p:sp>
      <p:sp>
        <p:nvSpPr>
          <p:cNvPr id="16" name="Text 13"/>
          <p:cNvSpPr/>
          <p:nvPr/>
        </p:nvSpPr>
        <p:spPr>
          <a:xfrm>
            <a:off x="548640" y="3703320"/>
            <a:ext cx="2286000" cy="914400"/>
          </a:xfrm>
          <a:prstGeom prst="roundRect">
            <a:avLst>
              <a:gd name="adj" fmla="val 8000"/>
            </a:avLst>
          </a:prstGeom>
          <a:solidFill>
            <a:srgbClr val="0B2545"/>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Usuario operador</a:t>
            </a:r>
            <a:endParaRPr lang="en-US" sz="1400" dirty="0"/>
          </a:p>
        </p:txBody>
      </p:sp>
      <p:sp>
        <p:nvSpPr>
          <p:cNvPr id="17" name="Shape 14"/>
          <p:cNvSpPr/>
          <p:nvPr/>
        </p:nvSpPr>
        <p:spPr>
          <a:xfrm>
            <a:off x="2871216" y="4160520"/>
            <a:ext cx="301752" cy="0"/>
          </a:xfrm>
          <a:prstGeom prst="line">
            <a:avLst/>
          </a:prstGeom>
          <a:noFill/>
          <a:ln w="28575">
            <a:solidFill>
              <a:srgbClr val="5C6B7A"/>
            </a:solidFill>
            <a:prstDash val="solid"/>
            <a:tailEnd type="triangle"/>
          </a:ln>
        </p:spPr>
      </p:sp>
      <p:sp>
        <p:nvSpPr>
          <p:cNvPr id="18" name="Text 15"/>
          <p:cNvSpPr/>
          <p:nvPr/>
        </p:nvSpPr>
        <p:spPr>
          <a:xfrm>
            <a:off x="3209544" y="3703320"/>
            <a:ext cx="3017520" cy="914400"/>
          </a:xfrm>
          <a:prstGeom prst="roundRect">
            <a:avLst>
              <a:gd name="adj" fmla="val 8000"/>
            </a:avLst>
          </a:prstGeom>
          <a:solidFill>
            <a:srgbClr val="134074"/>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app.usp_Otro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owner: usr_app</a:t>
            </a:r>
            <a:endParaRPr lang="en-US" sz="1400" dirty="0"/>
          </a:p>
        </p:txBody>
      </p:sp>
      <p:sp>
        <p:nvSpPr>
          <p:cNvPr id="19" name="Shape 16"/>
          <p:cNvSpPr/>
          <p:nvPr/>
        </p:nvSpPr>
        <p:spPr>
          <a:xfrm>
            <a:off x="6263640" y="4160520"/>
            <a:ext cx="301752" cy="0"/>
          </a:xfrm>
          <a:prstGeom prst="line">
            <a:avLst/>
          </a:prstGeom>
          <a:noFill/>
          <a:ln w="28575">
            <a:solidFill>
              <a:srgbClr val="5C6B7A"/>
            </a:solidFill>
            <a:prstDash val="solid"/>
            <a:tailEnd type="triangle"/>
          </a:ln>
        </p:spPr>
      </p:sp>
      <p:sp>
        <p:nvSpPr>
          <p:cNvPr id="20" name="Text 17"/>
          <p:cNvSpPr/>
          <p:nvPr/>
        </p:nvSpPr>
        <p:spPr>
          <a:xfrm>
            <a:off x="6601968" y="3703320"/>
            <a:ext cx="2377440" cy="914400"/>
          </a:xfrm>
          <a:prstGeom prst="roundRect">
            <a:avLst>
              <a:gd name="adj" fmla="val 8000"/>
            </a:avLst>
          </a:prstGeom>
          <a:solidFill>
            <a:srgbClr val="134074"/>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dbo.Pedido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owner: dbo</a:t>
            </a:r>
            <a:endParaRPr lang="en-US" sz="1400" dirty="0"/>
          </a:p>
        </p:txBody>
      </p:sp>
      <p:sp>
        <p:nvSpPr>
          <p:cNvPr id="21" name="Shape 18"/>
          <p:cNvSpPr/>
          <p:nvPr/>
        </p:nvSpPr>
        <p:spPr>
          <a:xfrm>
            <a:off x="9015984" y="4160520"/>
            <a:ext cx="301752" cy="0"/>
          </a:xfrm>
          <a:prstGeom prst="line">
            <a:avLst/>
          </a:prstGeom>
          <a:noFill/>
          <a:ln w="28575">
            <a:solidFill>
              <a:srgbClr val="5C6B7A"/>
            </a:solidFill>
            <a:prstDash val="solid"/>
            <a:tailEnd type="triangle"/>
          </a:ln>
        </p:spPr>
      </p:sp>
      <p:sp>
        <p:nvSpPr>
          <p:cNvPr id="22" name="Text 19"/>
          <p:cNvSpPr/>
          <p:nvPr/>
        </p:nvSpPr>
        <p:spPr>
          <a:xfrm>
            <a:off x="9354312" y="3703320"/>
            <a:ext cx="2286000" cy="914400"/>
          </a:xfrm>
          <a:prstGeom prst="roundRect">
            <a:avLst>
              <a:gd name="adj" fmla="val 8000"/>
            </a:avLst>
          </a:prstGeom>
          <a:solidFill>
            <a:srgbClr val="D95D39"/>
          </a:solidFill>
          <a:ln/>
          <a:effectLst>
            <a:outerShdw sx="100000" sy="100000" kx="0" ky="0" algn="bl" rotWithShape="0" blurRad="101600" dist="25400" dir="5400000">
              <a:srgbClr val="000000">
                <a:alpha val="14000"/>
              </a:srgbClr>
            </a:outerShdw>
          </a:effectLst>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 exige permiso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sobre la tabla</a:t>
            </a:r>
            <a:endParaRPr lang="en-US" sz="1400" dirty="0"/>
          </a:p>
        </p:txBody>
      </p:sp>
      <p:sp>
        <p:nvSpPr>
          <p:cNvPr id="23" name="Shape 20"/>
          <p:cNvSpPr/>
          <p:nvPr/>
        </p:nvSpPr>
        <p:spPr>
          <a:xfrm>
            <a:off x="548640" y="5029200"/>
            <a:ext cx="5394960" cy="1143000"/>
          </a:xfrm>
          <a:prstGeom prst="roundRect">
            <a:avLst>
              <a:gd name="adj" fmla="val 9600"/>
            </a:avLst>
          </a:prstGeom>
          <a:solidFill>
            <a:srgbClr val="E8EEF5"/>
          </a:solidFill>
          <a:ln/>
        </p:spPr>
      </p:sp>
      <p:sp>
        <p:nvSpPr>
          <p:cNvPr id="24" name="Shape 21"/>
          <p:cNvSpPr/>
          <p:nvPr/>
        </p:nvSpPr>
        <p:spPr>
          <a:xfrm>
            <a:off x="731520" y="5372100"/>
            <a:ext cx="457200" cy="457200"/>
          </a:xfrm>
          <a:prstGeom prst="ellipse">
            <a:avLst/>
          </a:prstGeom>
          <a:solidFill>
            <a:srgbClr val="134074"/>
          </a:solidFill>
          <a:ln/>
        </p:spPr>
      </p:sp>
      <p:pic>
        <p:nvPicPr>
          <p:cNvPr id="25" name="Image 0" descr="preencoded.png">    </p:cNvPr>
          <p:cNvPicPr>
            <a:picLocks noChangeAspect="1"/>
          </p:cNvPicPr>
          <p:nvPr/>
        </p:nvPicPr>
        <p:blipFill>
          <a:blip r:embed="rId1"/>
          <a:stretch>
            <a:fillRect/>
          </a:stretch>
        </p:blipFill>
        <p:spPr>
          <a:xfrm>
            <a:off x="845820" y="5486400"/>
            <a:ext cx="228600" cy="228600"/>
          </a:xfrm>
          <a:prstGeom prst="rect">
            <a:avLst/>
          </a:prstGeom>
        </p:spPr>
      </p:pic>
      <p:sp>
        <p:nvSpPr>
          <p:cNvPr id="26" name="Text 22"/>
          <p:cNvSpPr/>
          <p:nvPr/>
        </p:nvSpPr>
        <p:spPr>
          <a:xfrm>
            <a:off x="1371600" y="5029200"/>
            <a:ext cx="4389120" cy="11430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Utilidad: </a:t>
            </a:r>
            <a:r>
              <a:rPr lang="en-US" sz="1400" dirty="0">
                <a:solidFill>
                  <a:srgbClr val="1F2933"/>
                </a:solidFill>
                <a:latin typeface="Calibri" pitchFamily="34" charset="0"/>
                <a:ea typeface="Calibri" pitchFamily="34" charset="-122"/>
                <a:cs typeface="Calibri" pitchFamily="34" charset="-120"/>
              </a:rPr>
              <a:t>da EXECUTE sobre el procedimiento, no acceso a las tablas: es una API controlada.</a:t>
            </a:r>
            <a:endParaRPr lang="en-US" sz="1400" dirty="0"/>
          </a:p>
        </p:txBody>
      </p:sp>
      <p:sp>
        <p:nvSpPr>
          <p:cNvPr id="27" name="Shape 23"/>
          <p:cNvSpPr/>
          <p:nvPr/>
        </p:nvSpPr>
        <p:spPr>
          <a:xfrm>
            <a:off x="6245352" y="5029200"/>
            <a:ext cx="5394960" cy="1143000"/>
          </a:xfrm>
          <a:prstGeom prst="roundRect">
            <a:avLst>
              <a:gd name="adj" fmla="val 9600"/>
            </a:avLst>
          </a:prstGeom>
          <a:solidFill>
            <a:srgbClr val="FDEDE8"/>
          </a:solidFill>
          <a:ln/>
        </p:spPr>
      </p:sp>
      <p:sp>
        <p:nvSpPr>
          <p:cNvPr id="28" name="Shape 24"/>
          <p:cNvSpPr/>
          <p:nvPr/>
        </p:nvSpPr>
        <p:spPr>
          <a:xfrm>
            <a:off x="6428232" y="5372100"/>
            <a:ext cx="457200" cy="457200"/>
          </a:xfrm>
          <a:prstGeom prst="ellipse">
            <a:avLst/>
          </a:prstGeom>
          <a:solidFill>
            <a:srgbClr val="D95D39"/>
          </a:solidFill>
          <a:ln/>
        </p:spPr>
      </p:sp>
      <p:pic>
        <p:nvPicPr>
          <p:cNvPr id="29" name="Image 1" descr="preencoded.png">    </p:cNvPr>
          <p:cNvPicPr>
            <a:picLocks noChangeAspect="1"/>
          </p:cNvPicPr>
          <p:nvPr/>
        </p:nvPicPr>
        <p:blipFill>
          <a:blip r:embed="rId2"/>
          <a:stretch>
            <a:fillRect/>
          </a:stretch>
        </p:blipFill>
        <p:spPr>
          <a:xfrm>
            <a:off x="6542532" y="5486400"/>
            <a:ext cx="228600" cy="228600"/>
          </a:xfrm>
          <a:prstGeom prst="rect">
            <a:avLst/>
          </a:prstGeom>
        </p:spPr>
      </p:pic>
      <p:sp>
        <p:nvSpPr>
          <p:cNvPr id="30" name="Text 25"/>
          <p:cNvSpPr/>
          <p:nvPr/>
        </p:nvSpPr>
        <p:spPr>
          <a:xfrm>
            <a:off x="7068312" y="5029200"/>
            <a:ext cx="4389120" cy="11430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Límites: </a:t>
            </a:r>
            <a:r>
              <a:rPr lang="en-US" sz="1400" dirty="0">
                <a:solidFill>
                  <a:srgbClr val="1F2933"/>
                </a:solidFill>
                <a:latin typeface="Calibri" pitchFamily="34" charset="0"/>
                <a:ea typeface="Calibri" pitchFamily="34" charset="-122"/>
                <a:cs typeface="Calibri" pitchFamily="34" charset="-120"/>
              </a:rPr>
              <a:t>el SQL dinámico rompe la cadena; entre bases de datos exige DB_CHAINING.</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847088"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BUENAS PRÁCTICAS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Mínimo privilegio y auditoría básica</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40</a:t>
            </a:r>
            <a:endParaRPr lang="en-US" sz="1000" dirty="0"/>
          </a:p>
        </p:txBody>
      </p:sp>
      <p:sp>
        <p:nvSpPr>
          <p:cNvPr id="7" name="Shape 4"/>
          <p:cNvSpPr/>
          <p:nvPr/>
        </p:nvSpPr>
        <p:spPr>
          <a:xfrm>
            <a:off x="548640" y="1600200"/>
            <a:ext cx="5394960" cy="2743200"/>
          </a:xfrm>
          <a:prstGeom prst="roundRect">
            <a:avLst>
              <a:gd name="adj" fmla="val 4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51960"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Mínimo privilegio</a:t>
            </a:r>
            <a:endParaRPr lang="en-US" sz="1700" dirty="0"/>
          </a:p>
        </p:txBody>
      </p:sp>
      <p:sp>
        <p:nvSpPr>
          <p:cNvPr id="11" name="Text 7"/>
          <p:cNvSpPr/>
          <p:nvPr/>
        </p:nvSpPr>
        <p:spPr>
          <a:xfrm>
            <a:off x="777240" y="2560320"/>
            <a:ext cx="4937760" cy="15544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Permisos a roles, no a usuarios sueltos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GRANT sobre schemas o procedimientos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Cuentas de aplicación ≠ administración</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sa deshabilitada y sysadmin revisado</a:t>
            </a:r>
            <a:endParaRPr lang="en-US" sz="1400" dirty="0"/>
          </a:p>
        </p:txBody>
      </p:sp>
      <p:sp>
        <p:nvSpPr>
          <p:cNvPr id="12" name="Shape 8"/>
          <p:cNvSpPr/>
          <p:nvPr/>
        </p:nvSpPr>
        <p:spPr>
          <a:xfrm>
            <a:off x="6245352" y="1600200"/>
            <a:ext cx="5394960" cy="2743200"/>
          </a:xfrm>
          <a:prstGeom prst="roundRect">
            <a:avLst>
              <a:gd name="adj" fmla="val 4000"/>
            </a:avLst>
          </a:prstGeom>
          <a:solidFill>
            <a:srgbClr val="134074"/>
          </a:solidFill>
          <a:ln/>
        </p:spPr>
      </p:sp>
      <p:sp>
        <p:nvSpPr>
          <p:cNvPr id="13" name="Shape 9"/>
          <p:cNvSpPr/>
          <p:nvPr/>
        </p:nvSpPr>
        <p:spPr>
          <a:xfrm>
            <a:off x="6473952" y="1828800"/>
            <a:ext cx="548640" cy="548640"/>
          </a:xfrm>
          <a:prstGeom prst="ellipse">
            <a:avLst/>
          </a:prstGeom>
          <a:solidFill>
            <a:srgbClr val="D95D39"/>
          </a:solidFill>
          <a:ln/>
        </p:spPr>
      </p:sp>
      <p:pic>
        <p:nvPicPr>
          <p:cNvPr id="14" name="Image 1" descr="preencoded.png">    </p:cNvPr>
          <p:cNvPicPr>
            <a:picLocks noChangeAspect="1"/>
          </p:cNvPicPr>
          <p:nvPr/>
        </p:nvPicPr>
        <p:blipFill>
          <a:blip r:embed="rId2"/>
          <a:stretch>
            <a:fillRect/>
          </a:stretch>
        </p:blipFill>
        <p:spPr>
          <a:xfrm>
            <a:off x="6611112" y="1965960"/>
            <a:ext cx="274320" cy="274320"/>
          </a:xfrm>
          <a:prstGeom prst="rect">
            <a:avLst/>
          </a:prstGeom>
        </p:spPr>
      </p:pic>
      <p:sp>
        <p:nvSpPr>
          <p:cNvPr id="15" name="Text 10"/>
          <p:cNvSpPr/>
          <p:nvPr/>
        </p:nvSpPr>
        <p:spPr>
          <a:xfrm>
            <a:off x="7159752" y="1828800"/>
            <a:ext cx="42519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Auditoría básica</a:t>
            </a:r>
            <a:endParaRPr lang="en-US" sz="1700" dirty="0"/>
          </a:p>
        </p:txBody>
      </p:sp>
      <p:sp>
        <p:nvSpPr>
          <p:cNvPr id="16" name="Text 11"/>
          <p:cNvSpPr/>
          <p:nvPr/>
        </p:nvSpPr>
        <p:spPr>
          <a:xfrm>
            <a:off x="6473952" y="2560320"/>
            <a:ext cx="4937760" cy="15544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SQL Server Audit a archivo o Event Log</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Login auditing: fallos y éxitos</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DMVs: sys.dm_exec_sessions, sys.server_principals</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Triggers DDL / Extended Events</a:t>
            </a:r>
            <a:endParaRPr lang="en-US" sz="1400" dirty="0"/>
          </a:p>
        </p:txBody>
      </p:sp>
      <p:sp>
        <p:nvSpPr>
          <p:cNvPr id="17" name="Shape 12"/>
          <p:cNvSpPr/>
          <p:nvPr/>
        </p:nvSpPr>
        <p:spPr>
          <a:xfrm>
            <a:off x="548640" y="4617720"/>
            <a:ext cx="7223760" cy="1554480"/>
          </a:xfrm>
          <a:prstGeom prst="roundRect">
            <a:avLst>
              <a:gd name="adj" fmla="val 5882"/>
            </a:avLst>
          </a:prstGeom>
          <a:solidFill>
            <a:srgbClr val="ECEFF3"/>
          </a:solidFill>
          <a:ln w="9525">
            <a:solidFill>
              <a:srgbClr val="D0D7DE"/>
            </a:solidFill>
            <a:prstDash val="solid"/>
          </a:ln>
        </p:spPr>
      </p:sp>
      <p:sp>
        <p:nvSpPr>
          <p:cNvPr id="18" name="Text 13"/>
          <p:cNvSpPr/>
          <p:nvPr/>
        </p:nvSpPr>
        <p:spPr>
          <a:xfrm>
            <a:off x="731520" y="470916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SQL Server Audit</a:t>
            </a:r>
            <a:endParaRPr lang="en-US" sz="1000" dirty="0"/>
          </a:p>
        </p:txBody>
      </p:sp>
      <p:sp>
        <p:nvSpPr>
          <p:cNvPr id="19" name="Text 14"/>
          <p:cNvSpPr/>
          <p:nvPr/>
        </p:nvSpPr>
        <p:spPr>
          <a:xfrm>
            <a:off x="731520" y="4983480"/>
            <a:ext cx="6858000" cy="109728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SERVER AUDIT Aud_Seguridad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TO </a:t>
            </a:r>
            <a:r>
              <a:rPr lang="en-US" sz="1200" b="1" dirty="0">
                <a:solidFill>
                  <a:srgbClr val="1D4ED8"/>
                </a:solidFill>
                <a:latin typeface="Consolas" pitchFamily="34" charset="0"/>
                <a:ea typeface="Consolas" pitchFamily="34" charset="-122"/>
                <a:cs typeface="Consolas" pitchFamily="34" charset="-120"/>
              </a:rPr>
              <a:t>FILE</a:t>
            </a:r>
            <a:r>
              <a:rPr lang="en-US" sz="1200" dirty="0">
                <a:solidFill>
                  <a:srgbClr val="1F2933"/>
                </a:solidFill>
                <a:latin typeface="Consolas" pitchFamily="34" charset="0"/>
                <a:ea typeface="Consolas" pitchFamily="34" charset="-122"/>
                <a:cs typeface="Consolas" pitchFamily="34" charset="-120"/>
              </a:rPr>
              <a:t> (FILEPATH = </a:t>
            </a:r>
            <a:r>
              <a:rPr lang="en-US" sz="1200" dirty="0">
                <a:solidFill>
                  <a:srgbClr val="B4441F"/>
                </a:solidFill>
                <a:latin typeface="Consolas" pitchFamily="34" charset="0"/>
                <a:ea typeface="Consolas" pitchFamily="34" charset="-122"/>
                <a:cs typeface="Consolas" pitchFamily="34" charset="-120"/>
              </a:rPr>
              <a:t>N'/var/opt/mssql/audit/'</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SERVER AUDIT SPECIFICATION Aud_Seg_Spec</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FOR</a:t>
            </a:r>
            <a:r>
              <a:rPr lang="en-US" sz="1200" dirty="0">
                <a:solidFill>
                  <a:srgbClr val="1F2933"/>
                </a:solidFill>
                <a:latin typeface="Consolas" pitchFamily="34" charset="0"/>
                <a:ea typeface="Consolas" pitchFamily="34" charset="-122"/>
                <a:cs typeface="Consolas" pitchFamily="34" charset="-120"/>
              </a:rPr>
              <a:t> SERVER AUDIT Aud_Seguridad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ADD</a:t>
            </a:r>
            <a:r>
              <a:rPr lang="en-US" sz="1200" dirty="0">
                <a:solidFill>
                  <a:srgbClr val="1F2933"/>
                </a:solidFill>
                <a:latin typeface="Consolas" pitchFamily="34" charset="0"/>
                <a:ea typeface="Consolas" pitchFamily="34" charset="-122"/>
                <a:cs typeface="Consolas" pitchFamily="34" charset="-120"/>
              </a:rPr>
              <a:t> (FAILED_LOGIN_GROUP)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(STATE =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SERVER AUDIT Aud_Seguridad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(STATE =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20" name="Shape 15"/>
          <p:cNvSpPr/>
          <p:nvPr/>
        </p:nvSpPr>
        <p:spPr>
          <a:xfrm>
            <a:off x="8046720" y="4617720"/>
            <a:ext cx="3593592" cy="1554480"/>
          </a:xfrm>
          <a:prstGeom prst="roundRect">
            <a:avLst>
              <a:gd name="adj" fmla="val 7059"/>
            </a:avLst>
          </a:prstGeom>
          <a:solidFill>
            <a:srgbClr val="E8EEF5"/>
          </a:solidFill>
          <a:ln/>
        </p:spPr>
      </p:sp>
      <p:sp>
        <p:nvSpPr>
          <p:cNvPr id="21" name="Shape 16"/>
          <p:cNvSpPr/>
          <p:nvPr/>
        </p:nvSpPr>
        <p:spPr>
          <a:xfrm>
            <a:off x="8229600" y="5166360"/>
            <a:ext cx="457200" cy="457200"/>
          </a:xfrm>
          <a:prstGeom prst="ellipse">
            <a:avLst/>
          </a:prstGeom>
          <a:solidFill>
            <a:srgbClr val="134074"/>
          </a:solidFill>
          <a:ln/>
        </p:spPr>
      </p:sp>
      <p:pic>
        <p:nvPicPr>
          <p:cNvPr id="22" name="Image 2" descr="preencoded.png">    </p:cNvPr>
          <p:cNvPicPr>
            <a:picLocks noChangeAspect="1"/>
          </p:cNvPicPr>
          <p:nvPr/>
        </p:nvPicPr>
        <p:blipFill>
          <a:blip r:embed="rId3"/>
          <a:stretch>
            <a:fillRect/>
          </a:stretch>
        </p:blipFill>
        <p:spPr>
          <a:xfrm>
            <a:off x="8343900" y="5280660"/>
            <a:ext cx="228600" cy="228600"/>
          </a:xfrm>
          <a:prstGeom prst="rect">
            <a:avLst/>
          </a:prstGeom>
        </p:spPr>
      </p:pic>
      <p:sp>
        <p:nvSpPr>
          <p:cNvPr id="23" name="Text 17"/>
          <p:cNvSpPr/>
          <p:nvPr/>
        </p:nvSpPr>
        <p:spPr>
          <a:xfrm>
            <a:off x="8869680" y="4617720"/>
            <a:ext cx="2587752" cy="155448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Lectura: </a:t>
            </a:r>
            <a:r>
              <a:rPr lang="en-US" sz="1400" dirty="0">
                <a:solidFill>
                  <a:srgbClr val="1F2933"/>
                </a:solidFill>
                <a:latin typeface="Calibri" pitchFamily="34" charset="0"/>
                <a:ea typeface="Calibri" pitchFamily="34" charset="-122"/>
                <a:cs typeface="Calibri" pitchFamily="34" charset="-120"/>
              </a:rPr>
              <a:t>consulta los eventos con sys.fn_get_audit_file.</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368296"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PERMISOS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Laboratorio 2B: permisos segregados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41</a:t>
            </a:r>
            <a:endParaRPr lang="en-US" sz="1000" dirty="0"/>
          </a:p>
        </p:txBody>
      </p:sp>
      <p:sp>
        <p:nvSpPr>
          <p:cNvPr id="7" name="Shape 4"/>
          <p:cNvSpPr/>
          <p:nvPr/>
        </p:nvSpPr>
        <p:spPr>
          <a:xfrm>
            <a:off x="548640"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Crear principals</a:t>
            </a:r>
            <a:endParaRPr lang="en-US" sz="1600" dirty="0"/>
          </a:p>
        </p:txBody>
      </p:sp>
      <p:sp>
        <p:nvSpPr>
          <p:cNvPr id="11" name="Text 8"/>
          <p:cNvSpPr/>
          <p:nvPr/>
        </p:nvSpPr>
        <p:spPr>
          <a:xfrm>
            <a:off x="777240"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Dos logins, sus users en Ventas y los schemas rpt y app.</a:t>
            </a:r>
            <a:endParaRPr lang="en-US" sz="1400" dirty="0"/>
          </a:p>
        </p:txBody>
      </p:sp>
      <p:sp>
        <p:nvSpPr>
          <p:cNvPr id="12" name="Shape 9"/>
          <p:cNvSpPr/>
          <p:nvPr/>
        </p:nvSpPr>
        <p:spPr>
          <a:xfrm>
            <a:off x="3118104" y="1947672"/>
            <a:ext cx="246888" cy="274320"/>
          </a:xfrm>
          <a:prstGeom prst="rightArrow">
            <a:avLst/>
          </a:prstGeom>
          <a:solidFill>
            <a:srgbClr val="D95D39"/>
          </a:solidFill>
          <a:ln/>
        </p:spPr>
      </p:sp>
      <p:sp>
        <p:nvSpPr>
          <p:cNvPr id="13" name="Shape 10"/>
          <p:cNvSpPr/>
          <p:nvPr/>
        </p:nvSpPr>
        <p:spPr>
          <a:xfrm>
            <a:off x="3401568"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3630168" y="1828800"/>
            <a:ext cx="502920" cy="502920"/>
          </a:xfrm>
          <a:prstGeom prst="ellipse">
            <a:avLst/>
          </a:prstGeom>
          <a:solidFill>
            <a:srgbClr val="134074"/>
          </a:solidFill>
          <a:ln/>
        </p:spPr>
      </p:sp>
      <p:sp>
        <p:nvSpPr>
          <p:cNvPr id="15" name="Text 12"/>
          <p:cNvSpPr/>
          <p:nvPr/>
        </p:nvSpPr>
        <p:spPr>
          <a:xfrm>
            <a:off x="36301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3630168"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Definir roles</a:t>
            </a:r>
            <a:endParaRPr lang="en-US" sz="1600" dirty="0"/>
          </a:p>
        </p:txBody>
      </p:sp>
      <p:sp>
        <p:nvSpPr>
          <p:cNvPr id="17" name="Text 14"/>
          <p:cNvSpPr/>
          <p:nvPr/>
        </p:nvSpPr>
        <p:spPr>
          <a:xfrm>
            <a:off x="3630168"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rol_lectura_rpt sobre rpt y rol_operador con EXECUTE sobre app.</a:t>
            </a:r>
            <a:endParaRPr lang="en-US" sz="1400" dirty="0"/>
          </a:p>
        </p:txBody>
      </p:sp>
      <p:sp>
        <p:nvSpPr>
          <p:cNvPr id="18" name="Shape 15"/>
          <p:cNvSpPr/>
          <p:nvPr/>
        </p:nvSpPr>
        <p:spPr>
          <a:xfrm>
            <a:off x="5971032" y="1947672"/>
            <a:ext cx="246888" cy="274320"/>
          </a:xfrm>
          <a:prstGeom prst="rightArrow">
            <a:avLst/>
          </a:prstGeom>
          <a:solidFill>
            <a:srgbClr val="D95D39"/>
          </a:solidFill>
          <a:ln/>
        </p:spPr>
      </p:sp>
      <p:sp>
        <p:nvSpPr>
          <p:cNvPr id="19" name="Shape 16"/>
          <p:cNvSpPr/>
          <p:nvPr/>
        </p:nvSpPr>
        <p:spPr>
          <a:xfrm>
            <a:off x="6254496"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6483096" y="1828800"/>
            <a:ext cx="502920" cy="502920"/>
          </a:xfrm>
          <a:prstGeom prst="ellipse">
            <a:avLst/>
          </a:prstGeom>
          <a:solidFill>
            <a:srgbClr val="134074"/>
          </a:solidFill>
          <a:ln/>
        </p:spPr>
      </p:sp>
      <p:sp>
        <p:nvSpPr>
          <p:cNvPr id="21" name="Text 18"/>
          <p:cNvSpPr/>
          <p:nvPr/>
        </p:nvSpPr>
        <p:spPr>
          <a:xfrm>
            <a:off x="6483096"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6483096"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Asignar y denegar</a:t>
            </a:r>
            <a:endParaRPr lang="en-US" sz="1600" dirty="0"/>
          </a:p>
        </p:txBody>
      </p:sp>
      <p:sp>
        <p:nvSpPr>
          <p:cNvPr id="23" name="Text 20"/>
          <p:cNvSpPr/>
          <p:nvPr/>
        </p:nvSpPr>
        <p:spPr>
          <a:xfrm>
            <a:off x="6483096"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Añade miembros y un DENY SELECT sobre dbo.Pedido al operador.</a:t>
            </a:r>
            <a:endParaRPr lang="en-US" sz="1400" dirty="0"/>
          </a:p>
        </p:txBody>
      </p:sp>
      <p:sp>
        <p:nvSpPr>
          <p:cNvPr id="24" name="Shape 21"/>
          <p:cNvSpPr/>
          <p:nvPr/>
        </p:nvSpPr>
        <p:spPr>
          <a:xfrm>
            <a:off x="8823960" y="1947672"/>
            <a:ext cx="246888" cy="274320"/>
          </a:xfrm>
          <a:prstGeom prst="rightArrow">
            <a:avLst/>
          </a:prstGeom>
          <a:solidFill>
            <a:srgbClr val="D95D39"/>
          </a:solidFill>
          <a:ln/>
        </p:spPr>
      </p:sp>
      <p:sp>
        <p:nvSpPr>
          <p:cNvPr id="25" name="Shape 22"/>
          <p:cNvSpPr/>
          <p:nvPr/>
        </p:nvSpPr>
        <p:spPr>
          <a:xfrm>
            <a:off x="9107424" y="1600200"/>
            <a:ext cx="2532888" cy="2697480"/>
          </a:xfrm>
          <a:prstGeom prst="roundRect">
            <a:avLst>
              <a:gd name="adj" fmla="val 433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9336024" y="1828800"/>
            <a:ext cx="502920" cy="502920"/>
          </a:xfrm>
          <a:prstGeom prst="ellipse">
            <a:avLst/>
          </a:prstGeom>
          <a:solidFill>
            <a:srgbClr val="134074"/>
          </a:solidFill>
          <a:ln/>
        </p:spPr>
      </p:sp>
      <p:sp>
        <p:nvSpPr>
          <p:cNvPr id="27" name="Text 24"/>
          <p:cNvSpPr/>
          <p:nvPr/>
        </p:nvSpPr>
        <p:spPr>
          <a:xfrm>
            <a:off x="933602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9336024"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Probar</a:t>
            </a:r>
            <a:endParaRPr lang="en-US" sz="1600" dirty="0"/>
          </a:p>
        </p:txBody>
      </p:sp>
      <p:sp>
        <p:nvSpPr>
          <p:cNvPr id="29" name="Text 26"/>
          <p:cNvSpPr/>
          <p:nvPr/>
        </p:nvSpPr>
        <p:spPr>
          <a:xfrm>
            <a:off x="9336024" y="3154680"/>
            <a:ext cx="2075688"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EXECUTE AS USER, REVERT y sys.fn_my_permissions.</a:t>
            </a:r>
            <a:endParaRPr lang="en-US" sz="1400" dirty="0"/>
          </a:p>
        </p:txBody>
      </p:sp>
      <p:sp>
        <p:nvSpPr>
          <p:cNvPr id="30" name="Shape 27"/>
          <p:cNvSpPr/>
          <p:nvPr/>
        </p:nvSpPr>
        <p:spPr>
          <a:xfrm>
            <a:off x="548640" y="4572000"/>
            <a:ext cx="7498080" cy="1600200"/>
          </a:xfrm>
          <a:prstGeom prst="roundRect">
            <a:avLst>
              <a:gd name="adj" fmla="val 5714"/>
            </a:avLst>
          </a:prstGeom>
          <a:solidFill>
            <a:srgbClr val="ECEFF3"/>
          </a:solidFill>
          <a:ln w="9525">
            <a:solidFill>
              <a:srgbClr val="D0D7DE"/>
            </a:solidFill>
            <a:prstDash val="solid"/>
          </a:ln>
        </p:spPr>
      </p:sp>
      <p:sp>
        <p:nvSpPr>
          <p:cNvPr id="31" name="Text 28"/>
          <p:cNvSpPr/>
          <p:nvPr/>
        </p:nvSpPr>
        <p:spPr>
          <a:xfrm>
            <a:off x="731520" y="46634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verificación</a:t>
            </a:r>
            <a:endParaRPr lang="en-US" sz="1000" dirty="0"/>
          </a:p>
        </p:txBody>
      </p:sp>
      <p:sp>
        <p:nvSpPr>
          <p:cNvPr id="32" name="Text 29"/>
          <p:cNvSpPr/>
          <p:nvPr/>
        </p:nvSpPr>
        <p:spPr>
          <a:xfrm>
            <a:off x="731520" y="4937760"/>
            <a:ext cx="7132320" cy="11430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EXECUTE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USER</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'operador'</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EXEC</a:t>
            </a:r>
            <a:r>
              <a:rPr lang="en-US" sz="1200" dirty="0">
                <a:solidFill>
                  <a:srgbClr val="1F2933"/>
                </a:solidFill>
                <a:latin typeface="Consolas" pitchFamily="34" charset="0"/>
                <a:ea typeface="Consolas" pitchFamily="34" charset="-122"/>
                <a:cs typeface="Consolas" pitchFamily="34" charset="-120"/>
              </a:rPr>
              <a:t> app.usp_AltaPedido </a:t>
            </a:r>
            <a:r>
              <a:rPr lang="en-US" sz="1200" dirty="0">
                <a:solidFill>
                  <a:srgbClr val="0F766E"/>
                </a:solidFill>
                <a:latin typeface="Consolas" pitchFamily="34" charset="0"/>
                <a:ea typeface="Consolas" pitchFamily="34" charset="-122"/>
                <a:cs typeface="Consolas" pitchFamily="34" charset="-120"/>
              </a:rPr>
              <a:t>@ClienteId</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0F766E"/>
                </a:solidFill>
                <a:latin typeface="Consolas" pitchFamily="34" charset="0"/>
                <a:ea typeface="Consolas" pitchFamily="34" charset="-122"/>
                <a:cs typeface="Consolas" pitchFamily="34" charset="-120"/>
              </a:rPr>
              <a:t>@Total</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9A3412"/>
                </a:solidFill>
                <a:latin typeface="Consolas" pitchFamily="34" charset="0"/>
                <a:ea typeface="Consolas" pitchFamily="34" charset="-122"/>
                <a:cs typeface="Consolas" pitchFamily="34" charset="-120"/>
              </a:rPr>
              <a:t>99.90</a:t>
            </a:r>
            <a:r>
              <a:rPr lang="en-US" sz="1200" dirty="0">
                <a:solidFill>
                  <a:srgbClr val="1F2933"/>
                </a:solidFill>
                <a:latin typeface="Consolas" pitchFamily="34" charset="0"/>
                <a:ea typeface="Consolas" pitchFamily="34" charset="-122"/>
                <a:cs typeface="Consolas" pitchFamily="34" charset="-120"/>
              </a:rPr>
              <a:t>; </a:t>
            </a:r>
            <a:r>
              <a:rPr lang="en-US" sz="1200" i="1" dirty="0">
                <a:solidFill>
                  <a:srgbClr val="6B7280"/>
                </a:solidFill>
                <a:latin typeface="Consolas" pitchFamily="34" charset="0"/>
                <a:ea typeface="Consolas" pitchFamily="34" charset="-122"/>
                <a:cs typeface="Consolas" pitchFamily="34" charset="-120"/>
              </a:rPr>
              <a:t>-- OK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 *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                       </a:t>
            </a:r>
            <a:r>
              <a:rPr lang="en-US" sz="1200" i="1" dirty="0">
                <a:solidFill>
                  <a:srgbClr val="6B7280"/>
                </a:solidFill>
                <a:latin typeface="Consolas" pitchFamily="34" charset="0"/>
                <a:ea typeface="Consolas" pitchFamily="34" charset="-122"/>
                <a:cs typeface="Consolas" pitchFamily="34" charset="-120"/>
              </a:rPr>
              <a:t>-- error 229</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REVERT;</a:t>
            </a:r>
            <a:endParaRPr lang="en-US" sz="1200" dirty="0"/>
          </a:p>
        </p:txBody>
      </p:sp>
      <p:sp>
        <p:nvSpPr>
          <p:cNvPr id="33" name="Shape 30"/>
          <p:cNvSpPr/>
          <p:nvPr/>
        </p:nvSpPr>
        <p:spPr>
          <a:xfrm>
            <a:off x="8321040" y="4572000"/>
            <a:ext cx="3319272" cy="1600200"/>
          </a:xfrm>
          <a:prstGeom prst="roundRect">
            <a:avLst>
              <a:gd name="adj" fmla="val 6857"/>
            </a:avLst>
          </a:prstGeom>
          <a:solidFill>
            <a:srgbClr val="FDEDE8"/>
          </a:solidFill>
          <a:ln/>
        </p:spPr>
      </p:sp>
      <p:sp>
        <p:nvSpPr>
          <p:cNvPr id="34" name="Shape 31"/>
          <p:cNvSpPr/>
          <p:nvPr/>
        </p:nvSpPr>
        <p:spPr>
          <a:xfrm>
            <a:off x="8503920" y="5143500"/>
            <a:ext cx="457200" cy="457200"/>
          </a:xfrm>
          <a:prstGeom prst="ellipse">
            <a:avLst/>
          </a:prstGeom>
          <a:solidFill>
            <a:srgbClr val="D95D39"/>
          </a:solidFill>
          <a:ln/>
        </p:spPr>
      </p:sp>
      <p:pic>
        <p:nvPicPr>
          <p:cNvPr id="35" name="Image 0" descr="preencoded.png">    </p:cNvPr>
          <p:cNvPicPr>
            <a:picLocks noChangeAspect="1"/>
          </p:cNvPicPr>
          <p:nvPr/>
        </p:nvPicPr>
        <p:blipFill>
          <a:blip r:embed="rId1"/>
          <a:stretch>
            <a:fillRect/>
          </a:stretch>
        </p:blipFill>
        <p:spPr>
          <a:xfrm>
            <a:off x="8618220" y="5257800"/>
            <a:ext cx="228600" cy="228600"/>
          </a:xfrm>
          <a:prstGeom prst="rect">
            <a:avLst/>
          </a:prstGeom>
        </p:spPr>
      </p:pic>
      <p:sp>
        <p:nvSpPr>
          <p:cNvPr id="36" name="Text 32"/>
          <p:cNvSpPr/>
          <p:nvPr/>
        </p:nvSpPr>
        <p:spPr>
          <a:xfrm>
            <a:off x="9144000" y="4572000"/>
            <a:ext cx="2313432" cy="16002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a:t>
            </a:r>
            <a:r>
              <a:rPr lang="en-US" sz="1400" dirty="0">
                <a:solidFill>
                  <a:srgbClr val="1F2933"/>
                </a:solidFill>
                <a:latin typeface="Calibri" pitchFamily="34" charset="0"/>
                <a:ea typeface="Calibri" pitchFamily="34" charset="-122"/>
                <a:cs typeface="Calibri" pitchFamily="34" charset="-120"/>
              </a:rPr>
              <a:t>olvidar REVERT deja la sesión suplantada.</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RESUMEN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Resumen del Módulo 2: puntos clave</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2   42</a:t>
            </a:r>
            <a:endParaRPr lang="en-US" sz="1000" dirty="0"/>
          </a:p>
        </p:txBody>
      </p:sp>
      <p:sp>
        <p:nvSpPr>
          <p:cNvPr id="7" name="Shape 4"/>
          <p:cNvSpPr/>
          <p:nvPr/>
        </p:nvSpPr>
        <p:spPr>
          <a:xfrm>
            <a:off x="548640" y="1600200"/>
            <a:ext cx="2567178" cy="3383280"/>
          </a:xfrm>
          <a:prstGeom prst="roundRect">
            <a:avLst>
              <a:gd name="adj" fmla="val 4274"/>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14241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DDL e integridad</a:t>
            </a:r>
            <a:endParaRPr lang="en-US" sz="1700" dirty="0"/>
          </a:p>
        </p:txBody>
      </p:sp>
      <p:sp>
        <p:nvSpPr>
          <p:cNvPr id="11" name="Text 7"/>
          <p:cNvSpPr/>
          <p:nvPr/>
        </p:nvSpPr>
        <p:spPr>
          <a:xfrm>
            <a:off x="777240" y="2560320"/>
            <a:ext cx="2109978" cy="2194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PK, FK, CHECK, UNIQUE, DEFAULT</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FK con índice de apoyo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Tipos ajustados al dato</a:t>
            </a:r>
            <a:endParaRPr lang="en-US" sz="1400" dirty="0"/>
          </a:p>
        </p:txBody>
      </p:sp>
      <p:sp>
        <p:nvSpPr>
          <p:cNvPr id="12" name="Shape 8"/>
          <p:cNvSpPr/>
          <p:nvPr/>
        </p:nvSpPr>
        <p:spPr>
          <a:xfrm>
            <a:off x="3390138" y="1600200"/>
            <a:ext cx="2567178" cy="3383280"/>
          </a:xfrm>
          <a:prstGeom prst="roundRect">
            <a:avLst>
              <a:gd name="adj" fmla="val 4274"/>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3618738"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3755898" y="1965960"/>
            <a:ext cx="274320" cy="274320"/>
          </a:xfrm>
          <a:prstGeom prst="rect">
            <a:avLst/>
          </a:prstGeom>
        </p:spPr>
      </p:pic>
      <p:sp>
        <p:nvSpPr>
          <p:cNvPr id="15" name="Text 10"/>
          <p:cNvSpPr/>
          <p:nvPr/>
        </p:nvSpPr>
        <p:spPr>
          <a:xfrm>
            <a:off x="4304538" y="1828800"/>
            <a:ext cx="14241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Vistas y SP</a:t>
            </a:r>
            <a:endParaRPr lang="en-US" sz="1700" dirty="0"/>
          </a:p>
        </p:txBody>
      </p:sp>
      <p:sp>
        <p:nvSpPr>
          <p:cNvPr id="16" name="Text 11"/>
          <p:cNvSpPr/>
          <p:nvPr/>
        </p:nvSpPr>
        <p:spPr>
          <a:xfrm>
            <a:off x="3618738" y="2560320"/>
            <a:ext cx="2109978" cy="2194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Vistas indexadas con SCHEMABINDING</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Plan cache y sniffing</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SP como API segura</a:t>
            </a:r>
            <a:endParaRPr lang="en-US" sz="1400" dirty="0"/>
          </a:p>
        </p:txBody>
      </p:sp>
      <p:sp>
        <p:nvSpPr>
          <p:cNvPr id="17" name="Shape 12"/>
          <p:cNvSpPr/>
          <p:nvPr/>
        </p:nvSpPr>
        <p:spPr>
          <a:xfrm>
            <a:off x="6231636" y="1600200"/>
            <a:ext cx="2567178" cy="3383280"/>
          </a:xfrm>
          <a:prstGeom prst="roundRect">
            <a:avLst>
              <a:gd name="adj" fmla="val 4274"/>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6460236"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6597396" y="1965960"/>
            <a:ext cx="274320" cy="274320"/>
          </a:xfrm>
          <a:prstGeom prst="rect">
            <a:avLst/>
          </a:prstGeom>
        </p:spPr>
      </p:pic>
      <p:sp>
        <p:nvSpPr>
          <p:cNvPr id="20" name="Text 14"/>
          <p:cNvSpPr/>
          <p:nvPr/>
        </p:nvSpPr>
        <p:spPr>
          <a:xfrm>
            <a:off x="7146036" y="1828800"/>
            <a:ext cx="14241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DML analítico</a:t>
            </a:r>
            <a:endParaRPr lang="en-US" sz="1700" dirty="0"/>
          </a:p>
        </p:txBody>
      </p:sp>
      <p:sp>
        <p:nvSpPr>
          <p:cNvPr id="21" name="Text 15"/>
          <p:cNvSpPr/>
          <p:nvPr/>
        </p:nvSpPr>
        <p:spPr>
          <a:xfrm>
            <a:off x="6460236" y="2560320"/>
            <a:ext cx="2109978" cy="2194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Orden lógico del SELECT</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Nested, Merge y Hash</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OVER, RANK y LAG</a:t>
            </a:r>
            <a:endParaRPr lang="en-US" sz="1400" dirty="0"/>
          </a:p>
        </p:txBody>
      </p:sp>
      <p:sp>
        <p:nvSpPr>
          <p:cNvPr id="22" name="Shape 16"/>
          <p:cNvSpPr/>
          <p:nvPr/>
        </p:nvSpPr>
        <p:spPr>
          <a:xfrm>
            <a:off x="9073134" y="1600200"/>
            <a:ext cx="2567178" cy="3383280"/>
          </a:xfrm>
          <a:prstGeom prst="roundRect">
            <a:avLst>
              <a:gd name="adj" fmla="val 4274"/>
            </a:avLst>
          </a:prstGeom>
          <a:solidFill>
            <a:srgbClr val="134074"/>
          </a:solidFill>
          <a:ln/>
        </p:spPr>
      </p:sp>
      <p:sp>
        <p:nvSpPr>
          <p:cNvPr id="23" name="Shape 17"/>
          <p:cNvSpPr/>
          <p:nvPr/>
        </p:nvSpPr>
        <p:spPr>
          <a:xfrm>
            <a:off x="9301734" y="1828800"/>
            <a:ext cx="548640" cy="548640"/>
          </a:xfrm>
          <a:prstGeom prst="ellipse">
            <a:avLst/>
          </a:prstGeom>
          <a:solidFill>
            <a:srgbClr val="D95D39"/>
          </a:solidFill>
          <a:ln/>
        </p:spPr>
      </p:sp>
      <p:pic>
        <p:nvPicPr>
          <p:cNvPr id="24" name="Image 3" descr="preencoded.png">    </p:cNvPr>
          <p:cNvPicPr>
            <a:picLocks noChangeAspect="1"/>
          </p:cNvPicPr>
          <p:nvPr/>
        </p:nvPicPr>
        <p:blipFill>
          <a:blip r:embed="rId4"/>
          <a:stretch>
            <a:fillRect/>
          </a:stretch>
        </p:blipFill>
        <p:spPr>
          <a:xfrm>
            <a:off x="9438894" y="1965960"/>
            <a:ext cx="274320" cy="274320"/>
          </a:xfrm>
          <a:prstGeom prst="rect">
            <a:avLst/>
          </a:prstGeom>
        </p:spPr>
      </p:pic>
      <p:sp>
        <p:nvSpPr>
          <p:cNvPr id="25" name="Text 18"/>
          <p:cNvSpPr/>
          <p:nvPr/>
        </p:nvSpPr>
        <p:spPr>
          <a:xfrm>
            <a:off x="9987534" y="1828800"/>
            <a:ext cx="1424178"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Seguridad</a:t>
            </a:r>
            <a:endParaRPr lang="en-US" sz="1700" dirty="0"/>
          </a:p>
        </p:txBody>
      </p:sp>
      <p:sp>
        <p:nvSpPr>
          <p:cNvPr id="26" name="Text 19"/>
          <p:cNvSpPr/>
          <p:nvPr/>
        </p:nvSpPr>
        <p:spPr>
          <a:xfrm>
            <a:off x="9301734" y="2560320"/>
            <a:ext cx="2109978" cy="2194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Login, user, rol, permiso</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DENY gana a GRANT</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Mínimo privilegio y auditoría</a:t>
            </a:r>
            <a:endParaRPr lang="en-US" sz="1400" dirty="0"/>
          </a:p>
        </p:txBody>
      </p:sp>
      <p:sp>
        <p:nvSpPr>
          <p:cNvPr id="27" name="Shape 20"/>
          <p:cNvSpPr/>
          <p:nvPr/>
        </p:nvSpPr>
        <p:spPr>
          <a:xfrm>
            <a:off x="548640" y="5257800"/>
            <a:ext cx="11091672" cy="914400"/>
          </a:xfrm>
          <a:prstGeom prst="roundRect">
            <a:avLst>
              <a:gd name="adj" fmla="val 12000"/>
            </a:avLst>
          </a:prstGeom>
          <a:solidFill>
            <a:srgbClr val="E8EEF5"/>
          </a:solidFill>
          <a:ln/>
        </p:spPr>
      </p:sp>
      <p:sp>
        <p:nvSpPr>
          <p:cNvPr id="28" name="Shape 21"/>
          <p:cNvSpPr/>
          <p:nvPr/>
        </p:nvSpPr>
        <p:spPr>
          <a:xfrm>
            <a:off x="731520" y="5486400"/>
            <a:ext cx="457200" cy="457200"/>
          </a:xfrm>
          <a:prstGeom prst="ellipse">
            <a:avLst/>
          </a:prstGeom>
          <a:solidFill>
            <a:srgbClr val="134074"/>
          </a:solidFill>
          <a:ln/>
        </p:spPr>
      </p:sp>
      <p:pic>
        <p:nvPicPr>
          <p:cNvPr id="29" name="Image 4" descr="preencoded.png">    </p:cNvPr>
          <p:cNvPicPr>
            <a:picLocks noChangeAspect="1"/>
          </p:cNvPicPr>
          <p:nvPr/>
        </p:nvPicPr>
        <p:blipFill>
          <a:blip r:embed="rId5"/>
          <a:stretch>
            <a:fillRect/>
          </a:stretch>
        </p:blipFill>
        <p:spPr>
          <a:xfrm>
            <a:off x="845820" y="5600700"/>
            <a:ext cx="228600" cy="228600"/>
          </a:xfrm>
          <a:prstGeom prst="rect">
            <a:avLst/>
          </a:prstGeom>
        </p:spPr>
      </p:pic>
      <p:sp>
        <p:nvSpPr>
          <p:cNvPr id="30" name="Text 22"/>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Siguiente módulo: </a:t>
            </a:r>
            <a:r>
              <a:rPr lang="en-US" sz="1400" dirty="0">
                <a:solidFill>
                  <a:srgbClr val="1F2933"/>
                </a:solidFill>
                <a:latin typeface="Calibri" pitchFamily="34" charset="0"/>
                <a:ea typeface="Calibri" pitchFamily="34" charset="-122"/>
                <a:cs typeface="Calibri" pitchFamily="34" charset="-120"/>
              </a:rPr>
              <a:t>índices y B-Tree, planes de ejecución, DMVs de rendimiento y alta disponibilidad (RTO/RPO).</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81528"/>
        </a:solidFill>
      </p:bgPr>
    </p:bg>
    <p:spTree>
      <p:nvGrpSpPr>
        <p:cNvPr id="1" name=""/>
        <p:cNvGrpSpPr/>
        <p:nvPr/>
      </p:nvGrpSpPr>
      <p:grpSpPr>
        <a:xfrm>
          <a:off x="0" y="0"/>
          <a:ext cx="0" cy="0"/>
          <a:chOff x="0" y="0"/>
          <a:chExt cx="0" cy="0"/>
        </a:xfrm>
      </p:grpSpPr>
      <p:sp>
        <p:nvSpPr>
          <p:cNvPr id="2" name="Text 0"/>
          <p:cNvSpPr/>
          <p:nvPr/>
        </p:nvSpPr>
        <p:spPr>
          <a:xfrm>
            <a:off x="731520" y="822960"/>
            <a:ext cx="5029200" cy="1828800"/>
          </a:xfrm>
          <a:prstGeom prst="rect">
            <a:avLst/>
          </a:prstGeom>
          <a:noFill/>
          <a:ln/>
        </p:spPr>
        <p:txBody>
          <a:bodyPr wrap="square" lIns="0" tIns="0" rIns="0" bIns="0" rtlCol="0" anchor="t"/>
          <a:lstStyle/>
          <a:p>
            <a:pPr indent="0" marL="0">
              <a:buNone/>
            </a:pPr>
            <a:r>
              <a:rPr lang="en-US" sz="12000" b="1" dirty="0">
                <a:solidFill>
                  <a:srgbClr val="1E5AA8"/>
                </a:solidFill>
                <a:latin typeface="Calibri" pitchFamily="34" charset="0"/>
                <a:ea typeface="Calibri" pitchFamily="34" charset="-122"/>
                <a:cs typeface="Calibri" pitchFamily="34" charset="-120"/>
              </a:rPr>
              <a:t>03</a:t>
            </a:r>
            <a:endParaRPr lang="en-US" sz="12000" dirty="0"/>
          </a:p>
        </p:txBody>
      </p:sp>
      <p:sp>
        <p:nvSpPr>
          <p:cNvPr id="3" name="Text 1"/>
          <p:cNvSpPr/>
          <p:nvPr/>
        </p:nvSpPr>
        <p:spPr>
          <a:xfrm>
            <a:off x="731520" y="2880360"/>
            <a:ext cx="2651760" cy="329184"/>
          </a:xfrm>
          <a:prstGeom prst="roundRect">
            <a:avLst>
              <a:gd name="adj" fmla="val 50000"/>
            </a:avLst>
          </a:prstGeom>
          <a:solidFill>
            <a:srgbClr val="D95D39"/>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MÓDULO 3 · 6 h</a:t>
            </a:r>
            <a:endParaRPr lang="en-US" sz="1100" dirty="0"/>
          </a:p>
        </p:txBody>
      </p:sp>
      <p:sp>
        <p:nvSpPr>
          <p:cNvPr id="4" name="Text 2"/>
          <p:cNvSpPr/>
          <p:nvPr/>
        </p:nvSpPr>
        <p:spPr>
          <a:xfrm>
            <a:off x="731520" y="3383280"/>
            <a:ext cx="5394960" cy="15544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Optimización y Alta Disponibilidad</a:t>
            </a:r>
            <a:endParaRPr lang="en-US" sz="3800" dirty="0"/>
          </a:p>
        </p:txBody>
      </p:sp>
      <p:sp>
        <p:nvSpPr>
          <p:cNvPr id="5" name="Text 3"/>
          <p:cNvSpPr/>
          <p:nvPr/>
        </p:nvSpPr>
        <p:spPr>
          <a:xfrm>
            <a:off x="731520" y="4983480"/>
            <a:ext cx="5394960" cy="822960"/>
          </a:xfrm>
          <a:prstGeom prst="rect">
            <a:avLst/>
          </a:prstGeom>
          <a:noFill/>
          <a:ln/>
        </p:spPr>
        <p:txBody>
          <a:bodyPr wrap="square" lIns="0" tIns="0" rIns="0" bIns="0" rtlCol="0" anchor="t"/>
          <a:lstStyle/>
          <a:p>
            <a:pPr indent="0" marL="0">
              <a:buNone/>
            </a:pPr>
            <a:r>
              <a:rPr lang="en-US" sz="1600" dirty="0">
                <a:solidFill>
                  <a:srgbClr val="8DA9C4"/>
                </a:solidFill>
                <a:latin typeface="Calibri" pitchFamily="34" charset="0"/>
                <a:ea typeface="Calibri" pitchFamily="34" charset="-122"/>
                <a:cs typeface="Calibri" pitchFamily="34" charset="-120"/>
              </a:rPr>
              <a:t>Índices, planes de ejecución, DMVs y fundamentos de HA/DR</a:t>
            </a:r>
            <a:endParaRPr lang="en-US" sz="1600" dirty="0"/>
          </a:p>
        </p:txBody>
      </p:sp>
      <p:sp>
        <p:nvSpPr>
          <p:cNvPr id="6" name="Shape 4"/>
          <p:cNvSpPr/>
          <p:nvPr/>
        </p:nvSpPr>
        <p:spPr>
          <a:xfrm>
            <a:off x="6675120" y="1051560"/>
            <a:ext cx="4937760" cy="667512"/>
          </a:xfrm>
          <a:prstGeom prst="roundRect">
            <a:avLst>
              <a:gd name="adj" fmla="val 13699"/>
            </a:avLst>
          </a:prstGeom>
          <a:solidFill>
            <a:srgbClr val="FFFFFF">
              <a:alpha val="8000"/>
            </a:srgbClr>
          </a:solidFill>
          <a:ln/>
        </p:spPr>
      </p:sp>
      <p:sp>
        <p:nvSpPr>
          <p:cNvPr id="7" name="Shape 5"/>
          <p:cNvSpPr/>
          <p:nvPr/>
        </p:nvSpPr>
        <p:spPr>
          <a:xfrm>
            <a:off x="6812280" y="1165860"/>
            <a:ext cx="457200" cy="457200"/>
          </a:xfrm>
          <a:prstGeom prst="ellipse">
            <a:avLst/>
          </a:prstGeom>
          <a:solidFill>
            <a:srgbClr val="D95D39"/>
          </a:solidFill>
          <a:ln/>
        </p:spPr>
      </p:sp>
      <p:pic>
        <p:nvPicPr>
          <p:cNvPr id="8" name="Image 0" descr="preencoded.png">    </p:cNvPr>
          <p:cNvPicPr>
            <a:picLocks noChangeAspect="1"/>
          </p:cNvPicPr>
          <p:nvPr/>
        </p:nvPicPr>
        <p:blipFill>
          <a:blip r:embed="rId1"/>
          <a:stretch>
            <a:fillRect/>
          </a:stretch>
        </p:blipFill>
        <p:spPr>
          <a:xfrm>
            <a:off x="6926580" y="1280160"/>
            <a:ext cx="228600" cy="228600"/>
          </a:xfrm>
          <a:prstGeom prst="rect">
            <a:avLst/>
          </a:prstGeom>
        </p:spPr>
      </p:pic>
      <p:sp>
        <p:nvSpPr>
          <p:cNvPr id="9" name="Text 6"/>
          <p:cNvSpPr/>
          <p:nvPr/>
        </p:nvSpPr>
        <p:spPr>
          <a:xfrm>
            <a:off x="7452360" y="10515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Arquitectura de índices y B-Tree</a:t>
            </a:r>
            <a:endParaRPr lang="en-US" sz="1600" dirty="0"/>
          </a:p>
        </p:txBody>
      </p:sp>
      <p:sp>
        <p:nvSpPr>
          <p:cNvPr id="10" name="Shape 7"/>
          <p:cNvSpPr/>
          <p:nvPr/>
        </p:nvSpPr>
        <p:spPr>
          <a:xfrm>
            <a:off x="6675120" y="1828800"/>
            <a:ext cx="4937760" cy="667512"/>
          </a:xfrm>
          <a:prstGeom prst="roundRect">
            <a:avLst>
              <a:gd name="adj" fmla="val 13699"/>
            </a:avLst>
          </a:prstGeom>
          <a:solidFill>
            <a:srgbClr val="FFFFFF">
              <a:alpha val="8000"/>
            </a:srgbClr>
          </a:solidFill>
          <a:ln/>
        </p:spPr>
      </p:sp>
      <p:sp>
        <p:nvSpPr>
          <p:cNvPr id="11" name="Shape 8"/>
          <p:cNvSpPr/>
          <p:nvPr/>
        </p:nvSpPr>
        <p:spPr>
          <a:xfrm>
            <a:off x="6812280" y="1943100"/>
            <a:ext cx="457200" cy="457200"/>
          </a:xfrm>
          <a:prstGeom prst="ellipse">
            <a:avLst/>
          </a:prstGeom>
          <a:solidFill>
            <a:srgbClr val="D95D39"/>
          </a:solidFill>
          <a:ln/>
        </p:spPr>
      </p:sp>
      <p:pic>
        <p:nvPicPr>
          <p:cNvPr id="12" name="Image 1" descr="preencoded.png">    </p:cNvPr>
          <p:cNvPicPr>
            <a:picLocks noChangeAspect="1"/>
          </p:cNvPicPr>
          <p:nvPr/>
        </p:nvPicPr>
        <p:blipFill>
          <a:blip r:embed="rId2"/>
          <a:stretch>
            <a:fillRect/>
          </a:stretch>
        </p:blipFill>
        <p:spPr>
          <a:xfrm>
            <a:off x="6926580" y="2057400"/>
            <a:ext cx="228600" cy="228600"/>
          </a:xfrm>
          <a:prstGeom prst="rect">
            <a:avLst/>
          </a:prstGeom>
        </p:spPr>
      </p:pic>
      <p:sp>
        <p:nvSpPr>
          <p:cNvPr id="13" name="Text 9"/>
          <p:cNvSpPr/>
          <p:nvPr/>
        </p:nvSpPr>
        <p:spPr>
          <a:xfrm>
            <a:off x="7452360" y="182880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Fragmentación y estadísticas</a:t>
            </a:r>
            <a:endParaRPr lang="en-US" sz="1600" dirty="0"/>
          </a:p>
        </p:txBody>
      </p:sp>
      <p:sp>
        <p:nvSpPr>
          <p:cNvPr id="14" name="Shape 10"/>
          <p:cNvSpPr/>
          <p:nvPr/>
        </p:nvSpPr>
        <p:spPr>
          <a:xfrm>
            <a:off x="6675120" y="2606040"/>
            <a:ext cx="4937760" cy="667512"/>
          </a:xfrm>
          <a:prstGeom prst="roundRect">
            <a:avLst>
              <a:gd name="adj" fmla="val 13699"/>
            </a:avLst>
          </a:prstGeom>
          <a:solidFill>
            <a:srgbClr val="FFFFFF">
              <a:alpha val="8000"/>
            </a:srgbClr>
          </a:solidFill>
          <a:ln/>
        </p:spPr>
      </p:sp>
      <p:sp>
        <p:nvSpPr>
          <p:cNvPr id="15" name="Shape 11"/>
          <p:cNvSpPr/>
          <p:nvPr/>
        </p:nvSpPr>
        <p:spPr>
          <a:xfrm>
            <a:off x="6812280" y="2720340"/>
            <a:ext cx="457200" cy="457200"/>
          </a:xfrm>
          <a:prstGeom prst="ellipse">
            <a:avLst/>
          </a:prstGeom>
          <a:solidFill>
            <a:srgbClr val="D95D39"/>
          </a:solidFill>
          <a:ln/>
        </p:spPr>
      </p:sp>
      <p:pic>
        <p:nvPicPr>
          <p:cNvPr id="16" name="Image 2" descr="preencoded.png">    </p:cNvPr>
          <p:cNvPicPr>
            <a:picLocks noChangeAspect="1"/>
          </p:cNvPicPr>
          <p:nvPr/>
        </p:nvPicPr>
        <p:blipFill>
          <a:blip r:embed="rId3"/>
          <a:stretch>
            <a:fillRect/>
          </a:stretch>
        </p:blipFill>
        <p:spPr>
          <a:xfrm>
            <a:off x="6926580" y="2834640"/>
            <a:ext cx="228600" cy="228600"/>
          </a:xfrm>
          <a:prstGeom prst="rect">
            <a:avLst/>
          </a:prstGeom>
        </p:spPr>
      </p:pic>
      <p:sp>
        <p:nvSpPr>
          <p:cNvPr id="17" name="Text 12"/>
          <p:cNvSpPr/>
          <p:nvPr/>
        </p:nvSpPr>
        <p:spPr>
          <a:xfrm>
            <a:off x="7452360" y="260604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Lectura de planes de ejecución</a:t>
            </a:r>
            <a:endParaRPr lang="en-US" sz="1600" dirty="0"/>
          </a:p>
        </p:txBody>
      </p:sp>
      <p:sp>
        <p:nvSpPr>
          <p:cNvPr id="18" name="Shape 13"/>
          <p:cNvSpPr/>
          <p:nvPr/>
        </p:nvSpPr>
        <p:spPr>
          <a:xfrm>
            <a:off x="6675120" y="3383280"/>
            <a:ext cx="4937760" cy="667512"/>
          </a:xfrm>
          <a:prstGeom prst="roundRect">
            <a:avLst>
              <a:gd name="adj" fmla="val 13699"/>
            </a:avLst>
          </a:prstGeom>
          <a:solidFill>
            <a:srgbClr val="FFFFFF">
              <a:alpha val="8000"/>
            </a:srgbClr>
          </a:solidFill>
          <a:ln/>
        </p:spPr>
      </p:sp>
      <p:sp>
        <p:nvSpPr>
          <p:cNvPr id="19" name="Shape 14"/>
          <p:cNvSpPr/>
          <p:nvPr/>
        </p:nvSpPr>
        <p:spPr>
          <a:xfrm>
            <a:off x="6812280" y="3497580"/>
            <a:ext cx="457200" cy="457200"/>
          </a:xfrm>
          <a:prstGeom prst="ellipse">
            <a:avLst/>
          </a:prstGeom>
          <a:solidFill>
            <a:srgbClr val="D95D39"/>
          </a:solidFill>
          <a:ln/>
        </p:spPr>
      </p:sp>
      <p:pic>
        <p:nvPicPr>
          <p:cNvPr id="20" name="Image 3" descr="preencoded.png">    </p:cNvPr>
          <p:cNvPicPr>
            <a:picLocks noChangeAspect="1"/>
          </p:cNvPicPr>
          <p:nvPr/>
        </p:nvPicPr>
        <p:blipFill>
          <a:blip r:embed="rId4"/>
          <a:stretch>
            <a:fillRect/>
          </a:stretch>
        </p:blipFill>
        <p:spPr>
          <a:xfrm>
            <a:off x="6926580" y="3611880"/>
            <a:ext cx="228600" cy="228600"/>
          </a:xfrm>
          <a:prstGeom prst="rect">
            <a:avLst/>
          </a:prstGeom>
        </p:spPr>
      </p:pic>
      <p:sp>
        <p:nvSpPr>
          <p:cNvPr id="21" name="Text 15"/>
          <p:cNvSpPr/>
          <p:nvPr/>
        </p:nvSpPr>
        <p:spPr>
          <a:xfrm>
            <a:off x="7452360" y="338328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Monitorización con DMVs</a:t>
            </a:r>
            <a:endParaRPr lang="en-US" sz="1600" dirty="0"/>
          </a:p>
        </p:txBody>
      </p:sp>
      <p:sp>
        <p:nvSpPr>
          <p:cNvPr id="22" name="Shape 16"/>
          <p:cNvSpPr/>
          <p:nvPr/>
        </p:nvSpPr>
        <p:spPr>
          <a:xfrm>
            <a:off x="6675120" y="4160520"/>
            <a:ext cx="4937760" cy="667512"/>
          </a:xfrm>
          <a:prstGeom prst="roundRect">
            <a:avLst>
              <a:gd name="adj" fmla="val 13699"/>
            </a:avLst>
          </a:prstGeom>
          <a:solidFill>
            <a:srgbClr val="FFFFFF">
              <a:alpha val="8000"/>
            </a:srgbClr>
          </a:solidFill>
          <a:ln/>
        </p:spPr>
      </p:sp>
      <p:sp>
        <p:nvSpPr>
          <p:cNvPr id="23" name="Shape 17"/>
          <p:cNvSpPr/>
          <p:nvPr/>
        </p:nvSpPr>
        <p:spPr>
          <a:xfrm>
            <a:off x="6812280" y="4274820"/>
            <a:ext cx="457200" cy="457200"/>
          </a:xfrm>
          <a:prstGeom prst="ellipse">
            <a:avLst/>
          </a:prstGeom>
          <a:solidFill>
            <a:srgbClr val="D95D39"/>
          </a:solidFill>
          <a:ln/>
        </p:spPr>
      </p:sp>
      <p:pic>
        <p:nvPicPr>
          <p:cNvPr id="24" name="Image 4" descr="preencoded.png">    </p:cNvPr>
          <p:cNvPicPr>
            <a:picLocks noChangeAspect="1"/>
          </p:cNvPicPr>
          <p:nvPr/>
        </p:nvPicPr>
        <p:blipFill>
          <a:blip r:embed="rId5"/>
          <a:stretch>
            <a:fillRect/>
          </a:stretch>
        </p:blipFill>
        <p:spPr>
          <a:xfrm>
            <a:off x="6926580" y="4389120"/>
            <a:ext cx="228600" cy="228600"/>
          </a:xfrm>
          <a:prstGeom prst="rect">
            <a:avLst/>
          </a:prstGeom>
        </p:spPr>
      </p:pic>
      <p:sp>
        <p:nvSpPr>
          <p:cNvPr id="25" name="Text 18"/>
          <p:cNvSpPr/>
          <p:nvPr/>
        </p:nvSpPr>
        <p:spPr>
          <a:xfrm>
            <a:off x="7452360" y="416052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RTO, RPO y comparativa HA/DR</a:t>
            </a:r>
            <a:endParaRPr lang="en-US" sz="1600" dirty="0"/>
          </a:p>
        </p:txBody>
      </p:sp>
      <p:sp>
        <p:nvSpPr>
          <p:cNvPr id="26" name="Shape 19"/>
          <p:cNvSpPr/>
          <p:nvPr/>
        </p:nvSpPr>
        <p:spPr>
          <a:xfrm>
            <a:off x="6675120" y="4937760"/>
            <a:ext cx="4937760" cy="667512"/>
          </a:xfrm>
          <a:prstGeom prst="roundRect">
            <a:avLst>
              <a:gd name="adj" fmla="val 13699"/>
            </a:avLst>
          </a:prstGeom>
          <a:solidFill>
            <a:srgbClr val="FFFFFF">
              <a:alpha val="8000"/>
            </a:srgbClr>
          </a:solidFill>
          <a:ln/>
        </p:spPr>
      </p:sp>
      <p:sp>
        <p:nvSpPr>
          <p:cNvPr id="27" name="Shape 20"/>
          <p:cNvSpPr/>
          <p:nvPr/>
        </p:nvSpPr>
        <p:spPr>
          <a:xfrm>
            <a:off x="6812280" y="5052060"/>
            <a:ext cx="457200" cy="457200"/>
          </a:xfrm>
          <a:prstGeom prst="ellipse">
            <a:avLst/>
          </a:prstGeom>
          <a:solidFill>
            <a:srgbClr val="D95D39"/>
          </a:solidFill>
          <a:ln/>
        </p:spPr>
      </p:sp>
      <p:pic>
        <p:nvPicPr>
          <p:cNvPr id="28" name="Image 5" descr="preencoded.png">    </p:cNvPr>
          <p:cNvPicPr>
            <a:picLocks noChangeAspect="1"/>
          </p:cNvPicPr>
          <p:nvPr/>
        </p:nvPicPr>
        <p:blipFill>
          <a:blip r:embed="rId6"/>
          <a:stretch>
            <a:fillRect/>
          </a:stretch>
        </p:blipFill>
        <p:spPr>
          <a:xfrm>
            <a:off x="6926580" y="5166360"/>
            <a:ext cx="228600" cy="228600"/>
          </a:xfrm>
          <a:prstGeom prst="rect">
            <a:avLst/>
          </a:prstGeom>
        </p:spPr>
      </p:pic>
      <p:sp>
        <p:nvSpPr>
          <p:cNvPr id="29" name="Text 21"/>
          <p:cNvSpPr/>
          <p:nvPr/>
        </p:nvSpPr>
        <p:spPr>
          <a:xfrm>
            <a:off x="7452360" y="49377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Laboratorio 3</a:t>
            </a:r>
            <a:endParaRPr lang="en-US" sz="1600" dirty="0"/>
          </a:p>
        </p:txBody>
      </p:sp>
      <p:sp>
        <p:nvSpPr>
          <p:cNvPr id="30" name="Text 2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31" name="Text 2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3   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ÍNDICES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Heap vs Clustered Index</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44</a:t>
            </a:r>
            <a:endParaRPr lang="en-US" sz="1000" dirty="0"/>
          </a:p>
        </p:txBody>
      </p:sp>
      <p:sp>
        <p:nvSpPr>
          <p:cNvPr id="7" name="Shape 4"/>
          <p:cNvSpPr/>
          <p:nvPr/>
        </p:nvSpPr>
        <p:spPr>
          <a:xfrm>
            <a:off x="548640" y="1600200"/>
            <a:ext cx="5408676" cy="3154680"/>
          </a:xfrm>
          <a:prstGeom prst="roundRect">
            <a:avLst>
              <a:gd name="adj" fmla="val 3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65676"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Heap (sin índice clustered)</a:t>
            </a:r>
            <a:endParaRPr lang="en-US" sz="1700" dirty="0"/>
          </a:p>
        </p:txBody>
      </p:sp>
      <p:sp>
        <p:nvSpPr>
          <p:cNvPr id="11" name="Text 7"/>
          <p:cNvSpPr/>
          <p:nvPr/>
        </p:nvSpPr>
        <p:spPr>
          <a:xfrm>
            <a:off x="777240" y="2560320"/>
            <a:ext cx="4951476" cy="19659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Filas en páginas sin orden lógico (se localizan por IAM)</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Lectura completa = Table Scan; búsqueda por RID</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Forwarded Records tras UPDATE que hace crecer la fila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Útil en staging y cargas masivas puntuales</a:t>
            </a:r>
            <a:endParaRPr lang="en-US" sz="1400" dirty="0"/>
          </a:p>
        </p:txBody>
      </p:sp>
      <p:sp>
        <p:nvSpPr>
          <p:cNvPr id="12" name="Shape 8"/>
          <p:cNvSpPr/>
          <p:nvPr/>
        </p:nvSpPr>
        <p:spPr>
          <a:xfrm>
            <a:off x="6231636" y="1600200"/>
            <a:ext cx="5408676" cy="3154680"/>
          </a:xfrm>
          <a:prstGeom prst="roundRect">
            <a:avLst>
              <a:gd name="adj" fmla="val 3478"/>
            </a:avLst>
          </a:prstGeom>
          <a:solidFill>
            <a:srgbClr val="134074"/>
          </a:solidFill>
          <a:ln/>
        </p:spPr>
      </p:sp>
      <p:sp>
        <p:nvSpPr>
          <p:cNvPr id="13" name="Shape 9"/>
          <p:cNvSpPr/>
          <p:nvPr/>
        </p:nvSpPr>
        <p:spPr>
          <a:xfrm>
            <a:off x="6460236" y="1828800"/>
            <a:ext cx="548640" cy="548640"/>
          </a:xfrm>
          <a:prstGeom prst="ellipse">
            <a:avLst/>
          </a:prstGeom>
          <a:solidFill>
            <a:srgbClr val="D95D39"/>
          </a:solidFill>
          <a:ln/>
        </p:spPr>
      </p:sp>
      <p:pic>
        <p:nvPicPr>
          <p:cNvPr id="14" name="Image 1" descr="preencoded.png">    </p:cNvPr>
          <p:cNvPicPr>
            <a:picLocks noChangeAspect="1"/>
          </p:cNvPicPr>
          <p:nvPr/>
        </p:nvPicPr>
        <p:blipFill>
          <a:blip r:embed="rId2"/>
          <a:stretch>
            <a:fillRect/>
          </a:stretch>
        </p:blipFill>
        <p:spPr>
          <a:xfrm>
            <a:off x="6597396" y="1965960"/>
            <a:ext cx="274320" cy="274320"/>
          </a:xfrm>
          <a:prstGeom prst="rect">
            <a:avLst/>
          </a:prstGeom>
        </p:spPr>
      </p:pic>
      <p:sp>
        <p:nvSpPr>
          <p:cNvPr id="15" name="Text 10"/>
          <p:cNvSpPr/>
          <p:nvPr/>
        </p:nvSpPr>
        <p:spPr>
          <a:xfrm>
            <a:off x="7146036" y="1828800"/>
            <a:ext cx="4265676"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Clustered Index</a:t>
            </a:r>
            <a:endParaRPr lang="en-US" sz="1700" dirty="0"/>
          </a:p>
        </p:txBody>
      </p:sp>
      <p:sp>
        <p:nvSpPr>
          <p:cNvPr id="16" name="Text 11"/>
          <p:cNvSpPr/>
          <p:nvPr/>
        </p:nvSpPr>
        <p:spPr>
          <a:xfrm>
            <a:off x="6460236" y="2560320"/>
            <a:ext cx="4951476" cy="19659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La hoja del B-Tree contiene las filas, ordenadas por la clave</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Sólo uno por tabla (la PRIMARY KEY lo crea por defecto)</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Clave ideal: estrecha, única, estática y creciente</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Sin Forwarded Records, pero con posibles Page Splits</a:t>
            </a:r>
            <a:endParaRPr lang="en-US" sz="1400" dirty="0"/>
          </a:p>
        </p:txBody>
      </p:sp>
      <p:sp>
        <p:nvSpPr>
          <p:cNvPr id="17" name="Shape 12"/>
          <p:cNvSpPr/>
          <p:nvPr/>
        </p:nvSpPr>
        <p:spPr>
          <a:xfrm>
            <a:off x="548640" y="5029200"/>
            <a:ext cx="11091672" cy="1143000"/>
          </a:xfrm>
          <a:prstGeom prst="roundRect">
            <a:avLst>
              <a:gd name="adj" fmla="val 9600"/>
            </a:avLst>
          </a:prstGeom>
          <a:solidFill>
            <a:srgbClr val="E8EEF5"/>
          </a:solidFill>
          <a:ln/>
        </p:spPr>
      </p:sp>
      <p:sp>
        <p:nvSpPr>
          <p:cNvPr id="18" name="Shape 13"/>
          <p:cNvSpPr/>
          <p:nvPr/>
        </p:nvSpPr>
        <p:spPr>
          <a:xfrm>
            <a:off x="731520" y="5372100"/>
            <a:ext cx="457200" cy="45720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5820" y="5486400"/>
            <a:ext cx="228600" cy="228600"/>
          </a:xfrm>
          <a:prstGeom prst="rect">
            <a:avLst/>
          </a:prstGeom>
        </p:spPr>
      </p:pic>
      <p:sp>
        <p:nvSpPr>
          <p:cNvPr id="20" name="Text 14"/>
          <p:cNvSpPr/>
          <p:nvPr/>
        </p:nvSpPr>
        <p:spPr>
          <a:xfrm>
            <a:off x="1371600" y="5029200"/>
            <a:ext cx="10085832" cy="114300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Regla práctica: </a:t>
            </a:r>
            <a:r>
              <a:rPr lang="en-US" sz="1500" dirty="0">
                <a:solidFill>
                  <a:srgbClr val="1F2933"/>
                </a:solidFill>
                <a:latin typeface="Calibri" pitchFamily="34" charset="0"/>
                <a:ea typeface="Calibri" pitchFamily="34" charset="-122"/>
                <a:cs typeface="Calibri" pitchFamily="34" charset="-120"/>
              </a:rPr>
              <a:t>en OLTP casi toda tabla debe tener un Clustered Index estrecho y creciente (por ejemplo INT IDENTITY). Cada columna de esa clave se copia en todos los índices no clustered.</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ÍNDICES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Estructura B-Tree de un índice</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45</a:t>
            </a:r>
            <a:endParaRPr lang="en-US" sz="1000" dirty="0"/>
          </a:p>
        </p:txBody>
      </p:sp>
      <p:sp>
        <p:nvSpPr>
          <p:cNvPr id="7" name="Text 4"/>
          <p:cNvSpPr/>
          <p:nvPr/>
        </p:nvSpPr>
        <p:spPr>
          <a:xfrm>
            <a:off x="548640" y="2103120"/>
            <a:ext cx="1234440" cy="457200"/>
          </a:xfrm>
          <a:prstGeom prst="rect">
            <a:avLst/>
          </a:prstGeom>
          <a:noFill/>
          <a:ln/>
        </p:spPr>
        <p:txBody>
          <a:bodyPr wrap="square" lIns="0" tIns="0" rIns="0" bIns="0" rtlCol="0" anchor="ctr"/>
          <a:lstStyle/>
          <a:p>
            <a:pPr algn="l" indent="0" marL="0">
              <a:buNone/>
            </a:pPr>
            <a:r>
              <a:rPr lang="en-US" sz="1200" b="1" dirty="0">
                <a:solidFill>
                  <a:srgbClr val="5C6B7A"/>
                </a:solidFill>
                <a:latin typeface="Calibri" pitchFamily="34" charset="0"/>
                <a:ea typeface="Calibri" pitchFamily="34" charset="-122"/>
                <a:cs typeface="Calibri" pitchFamily="34" charset="-120"/>
              </a:rPr>
              <a:t>Raíz (Root)</a:t>
            </a:r>
            <a:endParaRPr lang="en-US" sz="1200" dirty="0"/>
          </a:p>
        </p:txBody>
      </p:sp>
      <p:sp>
        <p:nvSpPr>
          <p:cNvPr id="8" name="Text 5"/>
          <p:cNvSpPr/>
          <p:nvPr/>
        </p:nvSpPr>
        <p:spPr>
          <a:xfrm>
            <a:off x="548640" y="3291840"/>
            <a:ext cx="1234440" cy="457200"/>
          </a:xfrm>
          <a:prstGeom prst="rect">
            <a:avLst/>
          </a:prstGeom>
          <a:noFill/>
          <a:ln/>
        </p:spPr>
        <p:txBody>
          <a:bodyPr wrap="square" lIns="0" tIns="0" rIns="0" bIns="0" rtlCol="0" anchor="ctr"/>
          <a:lstStyle/>
          <a:p>
            <a:pPr algn="l" indent="0" marL="0">
              <a:buNone/>
            </a:pPr>
            <a:r>
              <a:rPr lang="en-US" sz="1200" b="1" dirty="0">
                <a:solidFill>
                  <a:srgbClr val="5C6B7A"/>
                </a:solidFill>
                <a:latin typeface="Calibri" pitchFamily="34" charset="0"/>
                <a:ea typeface="Calibri" pitchFamily="34" charset="-122"/>
                <a:cs typeface="Calibri" pitchFamily="34" charset="-120"/>
              </a:rPr>
              <a:t>Nivel intermedio</a:t>
            </a:r>
            <a:endParaRPr lang="en-US" sz="1200" dirty="0"/>
          </a:p>
        </p:txBody>
      </p:sp>
      <p:sp>
        <p:nvSpPr>
          <p:cNvPr id="9" name="Text 6"/>
          <p:cNvSpPr/>
          <p:nvPr/>
        </p:nvSpPr>
        <p:spPr>
          <a:xfrm>
            <a:off x="548640" y="4480560"/>
            <a:ext cx="1234440" cy="822960"/>
          </a:xfrm>
          <a:prstGeom prst="rect">
            <a:avLst/>
          </a:prstGeom>
          <a:noFill/>
          <a:ln/>
        </p:spPr>
        <p:txBody>
          <a:bodyPr wrap="square" lIns="0" tIns="0" rIns="0" bIns="0" rtlCol="0" anchor="ctr"/>
          <a:lstStyle/>
          <a:p>
            <a:pPr algn="l" indent="0" marL="0">
              <a:buNone/>
            </a:pPr>
            <a:r>
              <a:rPr lang="en-US" sz="1200" b="1" dirty="0">
                <a:solidFill>
                  <a:srgbClr val="5C6B7A"/>
                </a:solidFill>
                <a:latin typeface="Calibri" pitchFamily="34" charset="0"/>
                <a:ea typeface="Calibri" pitchFamily="34" charset="-122"/>
                <a:cs typeface="Calibri" pitchFamily="34" charset="-120"/>
              </a:rPr>
              <a:t>Nivel hoja (Leaf)</a:t>
            </a:r>
            <a:endParaRPr lang="en-US" sz="1200" dirty="0"/>
          </a:p>
        </p:txBody>
      </p:sp>
      <p:sp>
        <p:nvSpPr>
          <p:cNvPr id="10" name="Text 7"/>
          <p:cNvSpPr/>
          <p:nvPr/>
        </p:nvSpPr>
        <p:spPr>
          <a:xfrm>
            <a:off x="1783080" y="1600200"/>
            <a:ext cx="4700016"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Clustered Index</a:t>
            </a:r>
            <a:endParaRPr lang="en-US" sz="1500" dirty="0"/>
          </a:p>
        </p:txBody>
      </p:sp>
      <p:sp>
        <p:nvSpPr>
          <p:cNvPr id="11" name="Text 8"/>
          <p:cNvSpPr/>
          <p:nvPr/>
        </p:nvSpPr>
        <p:spPr>
          <a:xfrm>
            <a:off x="3493008" y="2103120"/>
            <a:ext cx="1280160" cy="457200"/>
          </a:xfrm>
          <a:prstGeom prst="roundRect">
            <a:avLst>
              <a:gd name="adj" fmla="val 16000"/>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 | 100</a:t>
            </a:r>
            <a:endParaRPr lang="en-US" sz="1300" dirty="0"/>
          </a:p>
        </p:txBody>
      </p:sp>
      <p:sp>
        <p:nvSpPr>
          <p:cNvPr id="12" name="Text 9"/>
          <p:cNvSpPr/>
          <p:nvPr/>
        </p:nvSpPr>
        <p:spPr>
          <a:xfrm>
            <a:off x="1783080" y="3291840"/>
            <a:ext cx="1371600" cy="457200"/>
          </a:xfrm>
          <a:prstGeom prst="roundRect">
            <a:avLst>
              <a:gd name="adj" fmla="val 16000"/>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 | 30</a:t>
            </a:r>
            <a:endParaRPr lang="en-US" sz="1300" dirty="0"/>
          </a:p>
        </p:txBody>
      </p:sp>
      <p:sp>
        <p:nvSpPr>
          <p:cNvPr id="13" name="Shape 10"/>
          <p:cNvSpPr/>
          <p:nvPr/>
        </p:nvSpPr>
        <p:spPr>
          <a:xfrm flipH="1">
            <a:off x="2468880" y="2560320"/>
            <a:ext cx="1664208" cy="731520"/>
          </a:xfrm>
          <a:prstGeom prst="line">
            <a:avLst/>
          </a:prstGeom>
          <a:noFill/>
          <a:ln w="15875">
            <a:solidFill>
              <a:srgbClr val="5C6B7A"/>
            </a:solidFill>
            <a:prstDash val="solid"/>
          </a:ln>
        </p:spPr>
      </p:sp>
      <p:sp>
        <p:nvSpPr>
          <p:cNvPr id="14" name="Text 11"/>
          <p:cNvSpPr/>
          <p:nvPr/>
        </p:nvSpPr>
        <p:spPr>
          <a:xfrm>
            <a:off x="3447288" y="3291840"/>
            <a:ext cx="1371600" cy="457200"/>
          </a:xfrm>
          <a:prstGeom prst="roundRect">
            <a:avLst>
              <a:gd name="adj" fmla="val 16000"/>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 | 80</a:t>
            </a:r>
            <a:endParaRPr lang="en-US" sz="1300" dirty="0"/>
          </a:p>
        </p:txBody>
      </p:sp>
      <p:sp>
        <p:nvSpPr>
          <p:cNvPr id="15" name="Shape 12"/>
          <p:cNvSpPr/>
          <p:nvPr/>
        </p:nvSpPr>
        <p:spPr>
          <a:xfrm>
            <a:off x="4133088" y="2560320"/>
            <a:ext cx="0" cy="731520"/>
          </a:xfrm>
          <a:prstGeom prst="line">
            <a:avLst/>
          </a:prstGeom>
          <a:noFill/>
          <a:ln w="15875">
            <a:solidFill>
              <a:srgbClr val="5C6B7A"/>
            </a:solidFill>
            <a:prstDash val="solid"/>
          </a:ln>
        </p:spPr>
      </p:sp>
      <p:sp>
        <p:nvSpPr>
          <p:cNvPr id="16" name="Text 13"/>
          <p:cNvSpPr/>
          <p:nvPr/>
        </p:nvSpPr>
        <p:spPr>
          <a:xfrm>
            <a:off x="5111496" y="3291840"/>
            <a:ext cx="1371600" cy="457200"/>
          </a:xfrm>
          <a:prstGeom prst="roundRect">
            <a:avLst>
              <a:gd name="adj" fmla="val 16000"/>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110 | 130</a:t>
            </a:r>
            <a:endParaRPr lang="en-US" sz="1300" dirty="0"/>
          </a:p>
        </p:txBody>
      </p:sp>
      <p:sp>
        <p:nvSpPr>
          <p:cNvPr id="17" name="Shape 14"/>
          <p:cNvSpPr/>
          <p:nvPr/>
        </p:nvSpPr>
        <p:spPr>
          <a:xfrm>
            <a:off x="4133088" y="2560320"/>
            <a:ext cx="1664208" cy="731520"/>
          </a:xfrm>
          <a:prstGeom prst="line">
            <a:avLst/>
          </a:prstGeom>
          <a:noFill/>
          <a:ln w="15875">
            <a:solidFill>
              <a:srgbClr val="5C6B7A"/>
            </a:solidFill>
            <a:prstDash val="solid"/>
          </a:ln>
        </p:spPr>
      </p:sp>
      <p:sp>
        <p:nvSpPr>
          <p:cNvPr id="18" name="Text 15"/>
          <p:cNvSpPr/>
          <p:nvPr/>
        </p:nvSpPr>
        <p:spPr>
          <a:xfrm>
            <a:off x="1783080" y="4480560"/>
            <a:ext cx="1024128" cy="822960"/>
          </a:xfrm>
          <a:prstGeom prst="roundRect">
            <a:avLst>
              <a:gd name="adj" fmla="val 6667"/>
            </a:avLst>
          </a:prstGeom>
          <a:solidFill>
            <a:srgbClr val="D95D39"/>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Filas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1–9</a:t>
            </a:r>
            <a:endParaRPr lang="en-US" sz="1200" dirty="0"/>
          </a:p>
        </p:txBody>
      </p:sp>
      <p:sp>
        <p:nvSpPr>
          <p:cNvPr id="19" name="Shape 16"/>
          <p:cNvSpPr/>
          <p:nvPr/>
        </p:nvSpPr>
        <p:spPr>
          <a:xfrm flipH="1">
            <a:off x="2295144" y="3749040"/>
            <a:ext cx="173736" cy="731520"/>
          </a:xfrm>
          <a:prstGeom prst="line">
            <a:avLst/>
          </a:prstGeom>
          <a:noFill/>
          <a:ln w="15875">
            <a:solidFill>
              <a:srgbClr val="5C6B7A"/>
            </a:solidFill>
            <a:prstDash val="solid"/>
          </a:ln>
        </p:spPr>
      </p:sp>
      <p:sp>
        <p:nvSpPr>
          <p:cNvPr id="20" name="Shape 17"/>
          <p:cNvSpPr/>
          <p:nvPr/>
        </p:nvSpPr>
        <p:spPr>
          <a:xfrm>
            <a:off x="2807208" y="4892040"/>
            <a:ext cx="201168" cy="0"/>
          </a:xfrm>
          <a:prstGeom prst="line">
            <a:avLst/>
          </a:prstGeom>
          <a:noFill/>
          <a:ln w="19050">
            <a:solidFill>
              <a:srgbClr val="D95D39"/>
            </a:solidFill>
            <a:prstDash val="solid"/>
            <a:headEnd type="triangle"/>
            <a:tailEnd type="triangle"/>
          </a:ln>
        </p:spPr>
      </p:sp>
      <p:sp>
        <p:nvSpPr>
          <p:cNvPr id="21" name="Text 18"/>
          <p:cNvSpPr/>
          <p:nvPr/>
        </p:nvSpPr>
        <p:spPr>
          <a:xfrm>
            <a:off x="3008376" y="4480560"/>
            <a:ext cx="1024128" cy="822960"/>
          </a:xfrm>
          <a:prstGeom prst="roundRect">
            <a:avLst>
              <a:gd name="adj" fmla="val 6667"/>
            </a:avLst>
          </a:prstGeom>
          <a:solidFill>
            <a:srgbClr val="D95D39"/>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Filas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10–49</a:t>
            </a:r>
            <a:endParaRPr lang="en-US" sz="1200" dirty="0"/>
          </a:p>
        </p:txBody>
      </p:sp>
      <p:sp>
        <p:nvSpPr>
          <p:cNvPr id="22" name="Shape 19"/>
          <p:cNvSpPr/>
          <p:nvPr/>
        </p:nvSpPr>
        <p:spPr>
          <a:xfrm>
            <a:off x="2468880" y="3749040"/>
            <a:ext cx="1051560" cy="731520"/>
          </a:xfrm>
          <a:prstGeom prst="line">
            <a:avLst/>
          </a:prstGeom>
          <a:noFill/>
          <a:ln w="15875">
            <a:solidFill>
              <a:srgbClr val="5C6B7A"/>
            </a:solidFill>
            <a:prstDash val="solid"/>
          </a:ln>
        </p:spPr>
      </p:sp>
      <p:sp>
        <p:nvSpPr>
          <p:cNvPr id="23" name="Shape 20"/>
          <p:cNvSpPr/>
          <p:nvPr/>
        </p:nvSpPr>
        <p:spPr>
          <a:xfrm>
            <a:off x="4032504" y="4892040"/>
            <a:ext cx="201168" cy="0"/>
          </a:xfrm>
          <a:prstGeom prst="line">
            <a:avLst/>
          </a:prstGeom>
          <a:noFill/>
          <a:ln w="19050">
            <a:solidFill>
              <a:srgbClr val="D95D39"/>
            </a:solidFill>
            <a:prstDash val="solid"/>
            <a:headEnd type="triangle"/>
            <a:tailEnd type="triangle"/>
          </a:ln>
        </p:spPr>
      </p:sp>
      <p:sp>
        <p:nvSpPr>
          <p:cNvPr id="24" name="Text 21"/>
          <p:cNvSpPr/>
          <p:nvPr/>
        </p:nvSpPr>
        <p:spPr>
          <a:xfrm>
            <a:off x="4233672" y="4480560"/>
            <a:ext cx="1024128" cy="822960"/>
          </a:xfrm>
          <a:prstGeom prst="roundRect">
            <a:avLst>
              <a:gd name="adj" fmla="val 6667"/>
            </a:avLst>
          </a:prstGeom>
          <a:solidFill>
            <a:srgbClr val="D95D39"/>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Filas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50–99</a:t>
            </a:r>
            <a:endParaRPr lang="en-US" sz="1200" dirty="0"/>
          </a:p>
        </p:txBody>
      </p:sp>
      <p:sp>
        <p:nvSpPr>
          <p:cNvPr id="25" name="Shape 22"/>
          <p:cNvSpPr/>
          <p:nvPr/>
        </p:nvSpPr>
        <p:spPr>
          <a:xfrm>
            <a:off x="4133088" y="3749040"/>
            <a:ext cx="612648" cy="731520"/>
          </a:xfrm>
          <a:prstGeom prst="line">
            <a:avLst/>
          </a:prstGeom>
          <a:noFill/>
          <a:ln w="15875">
            <a:solidFill>
              <a:srgbClr val="5C6B7A"/>
            </a:solidFill>
            <a:prstDash val="solid"/>
          </a:ln>
        </p:spPr>
      </p:sp>
      <p:sp>
        <p:nvSpPr>
          <p:cNvPr id="26" name="Shape 23"/>
          <p:cNvSpPr/>
          <p:nvPr/>
        </p:nvSpPr>
        <p:spPr>
          <a:xfrm>
            <a:off x="5257800" y="4892040"/>
            <a:ext cx="201168" cy="0"/>
          </a:xfrm>
          <a:prstGeom prst="line">
            <a:avLst/>
          </a:prstGeom>
          <a:noFill/>
          <a:ln w="19050">
            <a:solidFill>
              <a:srgbClr val="D95D39"/>
            </a:solidFill>
            <a:prstDash val="solid"/>
            <a:headEnd type="triangle"/>
            <a:tailEnd type="triangle"/>
          </a:ln>
        </p:spPr>
      </p:sp>
      <p:sp>
        <p:nvSpPr>
          <p:cNvPr id="27" name="Text 24"/>
          <p:cNvSpPr/>
          <p:nvPr/>
        </p:nvSpPr>
        <p:spPr>
          <a:xfrm>
            <a:off x="5458968" y="4480560"/>
            <a:ext cx="1024128" cy="822960"/>
          </a:xfrm>
          <a:prstGeom prst="roundRect">
            <a:avLst>
              <a:gd name="adj" fmla="val 6667"/>
            </a:avLst>
          </a:prstGeom>
          <a:solidFill>
            <a:srgbClr val="D95D39"/>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Filas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100+</a:t>
            </a:r>
            <a:endParaRPr lang="en-US" sz="1200" dirty="0"/>
          </a:p>
        </p:txBody>
      </p:sp>
      <p:sp>
        <p:nvSpPr>
          <p:cNvPr id="28" name="Shape 25"/>
          <p:cNvSpPr/>
          <p:nvPr/>
        </p:nvSpPr>
        <p:spPr>
          <a:xfrm>
            <a:off x="5797296" y="3749040"/>
            <a:ext cx="173736" cy="731520"/>
          </a:xfrm>
          <a:prstGeom prst="line">
            <a:avLst/>
          </a:prstGeom>
          <a:noFill/>
          <a:ln w="15875">
            <a:solidFill>
              <a:srgbClr val="5C6B7A"/>
            </a:solidFill>
            <a:prstDash val="solid"/>
          </a:ln>
        </p:spPr>
      </p:sp>
      <p:sp>
        <p:nvSpPr>
          <p:cNvPr id="29" name="Text 26"/>
          <p:cNvSpPr/>
          <p:nvPr/>
        </p:nvSpPr>
        <p:spPr>
          <a:xfrm>
            <a:off x="6940296" y="1600200"/>
            <a:ext cx="4700016"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Non-Clustered Index</a:t>
            </a:r>
            <a:endParaRPr lang="en-US" sz="1500" dirty="0"/>
          </a:p>
        </p:txBody>
      </p:sp>
      <p:sp>
        <p:nvSpPr>
          <p:cNvPr id="30" name="Text 27"/>
          <p:cNvSpPr/>
          <p:nvPr/>
        </p:nvSpPr>
        <p:spPr>
          <a:xfrm>
            <a:off x="8650224" y="2103120"/>
            <a:ext cx="1280160" cy="457200"/>
          </a:xfrm>
          <a:prstGeom prst="roundRect">
            <a:avLst>
              <a:gd name="adj" fmla="val 16000"/>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 | T</a:t>
            </a:r>
            <a:endParaRPr lang="en-US" sz="1300" dirty="0"/>
          </a:p>
        </p:txBody>
      </p:sp>
      <p:sp>
        <p:nvSpPr>
          <p:cNvPr id="31" name="Text 28"/>
          <p:cNvSpPr/>
          <p:nvPr/>
        </p:nvSpPr>
        <p:spPr>
          <a:xfrm>
            <a:off x="6940296" y="3291840"/>
            <a:ext cx="1371600" cy="457200"/>
          </a:xfrm>
          <a:prstGeom prst="roundRect">
            <a:avLst>
              <a:gd name="adj" fmla="val 16000"/>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 | F</a:t>
            </a:r>
            <a:endParaRPr lang="en-US" sz="1300" dirty="0"/>
          </a:p>
        </p:txBody>
      </p:sp>
      <p:sp>
        <p:nvSpPr>
          <p:cNvPr id="32" name="Shape 29"/>
          <p:cNvSpPr/>
          <p:nvPr/>
        </p:nvSpPr>
        <p:spPr>
          <a:xfrm flipH="1">
            <a:off x="7626096" y="2560320"/>
            <a:ext cx="1664208" cy="731520"/>
          </a:xfrm>
          <a:prstGeom prst="line">
            <a:avLst/>
          </a:prstGeom>
          <a:noFill/>
          <a:ln w="15875">
            <a:solidFill>
              <a:srgbClr val="5C6B7A"/>
            </a:solidFill>
            <a:prstDash val="solid"/>
          </a:ln>
        </p:spPr>
      </p:sp>
      <p:sp>
        <p:nvSpPr>
          <p:cNvPr id="33" name="Text 30"/>
          <p:cNvSpPr/>
          <p:nvPr/>
        </p:nvSpPr>
        <p:spPr>
          <a:xfrm>
            <a:off x="8604504" y="3291840"/>
            <a:ext cx="1371600" cy="457200"/>
          </a:xfrm>
          <a:prstGeom prst="roundRect">
            <a:avLst>
              <a:gd name="adj" fmla="val 16000"/>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 | P</a:t>
            </a:r>
            <a:endParaRPr lang="en-US" sz="1300" dirty="0"/>
          </a:p>
        </p:txBody>
      </p:sp>
      <p:sp>
        <p:nvSpPr>
          <p:cNvPr id="34" name="Shape 31"/>
          <p:cNvSpPr/>
          <p:nvPr/>
        </p:nvSpPr>
        <p:spPr>
          <a:xfrm>
            <a:off x="9290304" y="2560320"/>
            <a:ext cx="0" cy="731520"/>
          </a:xfrm>
          <a:prstGeom prst="line">
            <a:avLst/>
          </a:prstGeom>
          <a:noFill/>
          <a:ln w="15875">
            <a:solidFill>
              <a:srgbClr val="5C6B7A"/>
            </a:solidFill>
            <a:prstDash val="solid"/>
          </a:ln>
        </p:spPr>
      </p:sp>
      <p:sp>
        <p:nvSpPr>
          <p:cNvPr id="35" name="Text 32"/>
          <p:cNvSpPr/>
          <p:nvPr/>
        </p:nvSpPr>
        <p:spPr>
          <a:xfrm>
            <a:off x="10268712" y="3291840"/>
            <a:ext cx="1371600" cy="457200"/>
          </a:xfrm>
          <a:prstGeom prst="roundRect">
            <a:avLst>
              <a:gd name="adj" fmla="val 16000"/>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 | W</a:t>
            </a:r>
            <a:endParaRPr lang="en-US" sz="1300" dirty="0"/>
          </a:p>
        </p:txBody>
      </p:sp>
      <p:sp>
        <p:nvSpPr>
          <p:cNvPr id="36" name="Shape 33"/>
          <p:cNvSpPr/>
          <p:nvPr/>
        </p:nvSpPr>
        <p:spPr>
          <a:xfrm>
            <a:off x="9290304" y="2560320"/>
            <a:ext cx="1664208" cy="731520"/>
          </a:xfrm>
          <a:prstGeom prst="line">
            <a:avLst/>
          </a:prstGeom>
          <a:noFill/>
          <a:ln w="15875">
            <a:solidFill>
              <a:srgbClr val="5C6B7A"/>
            </a:solidFill>
            <a:prstDash val="solid"/>
          </a:ln>
        </p:spPr>
      </p:sp>
      <p:sp>
        <p:nvSpPr>
          <p:cNvPr id="37" name="Text 34"/>
          <p:cNvSpPr/>
          <p:nvPr/>
        </p:nvSpPr>
        <p:spPr>
          <a:xfrm>
            <a:off x="6940296" y="4480560"/>
            <a:ext cx="1024128" cy="822960"/>
          </a:xfrm>
          <a:prstGeom prst="roundRect">
            <a:avLst>
              <a:gd name="adj" fmla="val 6667"/>
            </a:avLst>
          </a:prstGeom>
          <a:solidFill>
            <a:srgbClr val="2A7F62"/>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Alonso→17</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Bravo→42</a:t>
            </a:r>
            <a:endParaRPr lang="en-US" sz="1200" dirty="0"/>
          </a:p>
        </p:txBody>
      </p:sp>
      <p:sp>
        <p:nvSpPr>
          <p:cNvPr id="38" name="Shape 35"/>
          <p:cNvSpPr/>
          <p:nvPr/>
        </p:nvSpPr>
        <p:spPr>
          <a:xfrm flipH="1">
            <a:off x="7452360" y="3749040"/>
            <a:ext cx="173736" cy="731520"/>
          </a:xfrm>
          <a:prstGeom prst="line">
            <a:avLst/>
          </a:prstGeom>
          <a:noFill/>
          <a:ln w="15875">
            <a:solidFill>
              <a:srgbClr val="5C6B7A"/>
            </a:solidFill>
            <a:prstDash val="solid"/>
          </a:ln>
        </p:spPr>
      </p:sp>
      <p:sp>
        <p:nvSpPr>
          <p:cNvPr id="39" name="Shape 36"/>
          <p:cNvSpPr/>
          <p:nvPr/>
        </p:nvSpPr>
        <p:spPr>
          <a:xfrm>
            <a:off x="7964424" y="4892040"/>
            <a:ext cx="201168" cy="0"/>
          </a:xfrm>
          <a:prstGeom prst="line">
            <a:avLst/>
          </a:prstGeom>
          <a:noFill/>
          <a:ln w="19050">
            <a:solidFill>
              <a:srgbClr val="D95D39"/>
            </a:solidFill>
            <a:prstDash val="solid"/>
            <a:headEnd type="triangle"/>
            <a:tailEnd type="triangle"/>
          </a:ln>
        </p:spPr>
      </p:sp>
      <p:sp>
        <p:nvSpPr>
          <p:cNvPr id="40" name="Text 37"/>
          <p:cNvSpPr/>
          <p:nvPr/>
        </p:nvSpPr>
        <p:spPr>
          <a:xfrm>
            <a:off x="8165592" y="4480560"/>
            <a:ext cx="1024128" cy="822960"/>
          </a:xfrm>
          <a:prstGeom prst="roundRect">
            <a:avLst>
              <a:gd name="adj" fmla="val 6667"/>
            </a:avLst>
          </a:prstGeom>
          <a:solidFill>
            <a:srgbClr val="2A7F62"/>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Casas→8</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Díaz→61</a:t>
            </a:r>
            <a:endParaRPr lang="en-US" sz="1200" dirty="0"/>
          </a:p>
        </p:txBody>
      </p:sp>
      <p:sp>
        <p:nvSpPr>
          <p:cNvPr id="41" name="Shape 38"/>
          <p:cNvSpPr/>
          <p:nvPr/>
        </p:nvSpPr>
        <p:spPr>
          <a:xfrm>
            <a:off x="7626096" y="3749040"/>
            <a:ext cx="1051560" cy="731520"/>
          </a:xfrm>
          <a:prstGeom prst="line">
            <a:avLst/>
          </a:prstGeom>
          <a:noFill/>
          <a:ln w="15875">
            <a:solidFill>
              <a:srgbClr val="5C6B7A"/>
            </a:solidFill>
            <a:prstDash val="solid"/>
          </a:ln>
        </p:spPr>
      </p:sp>
      <p:sp>
        <p:nvSpPr>
          <p:cNvPr id="42" name="Shape 39"/>
          <p:cNvSpPr/>
          <p:nvPr/>
        </p:nvSpPr>
        <p:spPr>
          <a:xfrm>
            <a:off x="9189720" y="4892040"/>
            <a:ext cx="201168" cy="0"/>
          </a:xfrm>
          <a:prstGeom prst="line">
            <a:avLst/>
          </a:prstGeom>
          <a:noFill/>
          <a:ln w="19050">
            <a:solidFill>
              <a:srgbClr val="D95D39"/>
            </a:solidFill>
            <a:prstDash val="solid"/>
            <a:headEnd type="triangle"/>
            <a:tailEnd type="triangle"/>
          </a:ln>
        </p:spPr>
      </p:sp>
      <p:sp>
        <p:nvSpPr>
          <p:cNvPr id="43" name="Text 40"/>
          <p:cNvSpPr/>
          <p:nvPr/>
        </p:nvSpPr>
        <p:spPr>
          <a:xfrm>
            <a:off x="9390888" y="4480560"/>
            <a:ext cx="1024128" cy="822960"/>
          </a:xfrm>
          <a:prstGeom prst="roundRect">
            <a:avLst>
              <a:gd name="adj" fmla="val 6667"/>
            </a:avLst>
          </a:prstGeom>
          <a:solidFill>
            <a:srgbClr val="2A7F62"/>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Mora→23</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Núñez→5</a:t>
            </a:r>
            <a:endParaRPr lang="en-US" sz="1200" dirty="0"/>
          </a:p>
        </p:txBody>
      </p:sp>
      <p:sp>
        <p:nvSpPr>
          <p:cNvPr id="44" name="Shape 41"/>
          <p:cNvSpPr/>
          <p:nvPr/>
        </p:nvSpPr>
        <p:spPr>
          <a:xfrm>
            <a:off x="9290304" y="3749040"/>
            <a:ext cx="612648" cy="731520"/>
          </a:xfrm>
          <a:prstGeom prst="line">
            <a:avLst/>
          </a:prstGeom>
          <a:noFill/>
          <a:ln w="15875">
            <a:solidFill>
              <a:srgbClr val="5C6B7A"/>
            </a:solidFill>
            <a:prstDash val="solid"/>
          </a:ln>
        </p:spPr>
      </p:sp>
      <p:sp>
        <p:nvSpPr>
          <p:cNvPr id="45" name="Shape 42"/>
          <p:cNvSpPr/>
          <p:nvPr/>
        </p:nvSpPr>
        <p:spPr>
          <a:xfrm>
            <a:off x="10415016" y="4892040"/>
            <a:ext cx="201168" cy="0"/>
          </a:xfrm>
          <a:prstGeom prst="line">
            <a:avLst/>
          </a:prstGeom>
          <a:noFill/>
          <a:ln w="19050">
            <a:solidFill>
              <a:srgbClr val="D95D39"/>
            </a:solidFill>
            <a:prstDash val="solid"/>
            <a:headEnd type="triangle"/>
            <a:tailEnd type="triangle"/>
          </a:ln>
        </p:spPr>
      </p:sp>
      <p:sp>
        <p:nvSpPr>
          <p:cNvPr id="46" name="Text 43"/>
          <p:cNvSpPr/>
          <p:nvPr/>
        </p:nvSpPr>
        <p:spPr>
          <a:xfrm>
            <a:off x="10616184" y="4480560"/>
            <a:ext cx="1024128" cy="822960"/>
          </a:xfrm>
          <a:prstGeom prst="roundRect">
            <a:avLst>
              <a:gd name="adj" fmla="val 6667"/>
            </a:avLst>
          </a:prstGeom>
          <a:solidFill>
            <a:srgbClr val="2A7F62"/>
          </a:solidFill>
          <a:ln/>
        </p:spPr>
        <p:txBody>
          <a:bodyPr wrap="square" lIns="508" tIns="1016" rIns="1016" bIns="508"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Torres→90</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Vega→33</a:t>
            </a:r>
            <a:endParaRPr lang="en-US" sz="1200" dirty="0"/>
          </a:p>
        </p:txBody>
      </p:sp>
      <p:sp>
        <p:nvSpPr>
          <p:cNvPr id="47" name="Shape 44"/>
          <p:cNvSpPr/>
          <p:nvPr/>
        </p:nvSpPr>
        <p:spPr>
          <a:xfrm>
            <a:off x="10954512" y="3749040"/>
            <a:ext cx="173736" cy="731520"/>
          </a:xfrm>
          <a:prstGeom prst="line">
            <a:avLst/>
          </a:prstGeom>
          <a:noFill/>
          <a:ln w="15875">
            <a:solidFill>
              <a:srgbClr val="5C6B7A"/>
            </a:solidFill>
            <a:prstDash val="solid"/>
          </a:ln>
        </p:spPr>
      </p:sp>
      <p:sp>
        <p:nvSpPr>
          <p:cNvPr id="48" name="Text 45"/>
          <p:cNvSpPr/>
          <p:nvPr/>
        </p:nvSpPr>
        <p:spPr>
          <a:xfrm>
            <a:off x="1783080" y="5440680"/>
            <a:ext cx="4700016" cy="502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La hoja = páginas de datos (la tabla ES el índice). Hojas enlazadas en lista doble.</a:t>
            </a:r>
            <a:endParaRPr lang="en-US" sz="1200" dirty="0"/>
          </a:p>
        </p:txBody>
      </p:sp>
      <p:sp>
        <p:nvSpPr>
          <p:cNvPr id="49" name="Text 46"/>
          <p:cNvSpPr/>
          <p:nvPr/>
        </p:nvSpPr>
        <p:spPr>
          <a:xfrm>
            <a:off x="6940296" y="5440680"/>
            <a:ext cx="4700016" cy="502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La hoja guarda clave + puntero (clave clustered o RID) → Key Lookup.</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ÍNDICES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Non-Clustered, Key Lookup y covering</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46</a:t>
            </a:r>
            <a:endParaRPr lang="en-US" sz="1000" dirty="0"/>
          </a:p>
        </p:txBody>
      </p:sp>
      <p:sp>
        <p:nvSpPr>
          <p:cNvPr id="7" name="Shape 4"/>
          <p:cNvSpPr/>
          <p:nvPr/>
        </p:nvSpPr>
        <p:spPr>
          <a:xfrm>
            <a:off x="548640" y="1600200"/>
            <a:ext cx="6583680" cy="3611880"/>
          </a:xfrm>
          <a:prstGeom prst="roundRect">
            <a:avLst>
              <a:gd name="adj" fmla="val 2532"/>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CREAR ÍNDICES</a:t>
            </a:r>
            <a:endParaRPr lang="en-US" sz="1000" dirty="0"/>
          </a:p>
        </p:txBody>
      </p:sp>
      <p:sp>
        <p:nvSpPr>
          <p:cNvPr id="9" name="Text 6"/>
          <p:cNvSpPr/>
          <p:nvPr/>
        </p:nvSpPr>
        <p:spPr>
          <a:xfrm>
            <a:off x="731520" y="1965960"/>
            <a:ext cx="6217920" cy="3154680"/>
          </a:xfrm>
          <a:prstGeom prst="rect">
            <a:avLst/>
          </a:prstGeom>
          <a:noFill/>
          <a:ln/>
        </p:spPr>
        <p:txBody>
          <a:bodyPr wrap="none" lIns="0" tIns="0" rIns="0" bIns="0" rtlCol="0" anchor="t"/>
          <a:lstStyle/>
          <a:p>
            <a:pPr indent="0" marL="0">
              <a:buNone/>
            </a:pPr>
            <a:r>
              <a:rPr lang="en-US" sz="1300" i="1" dirty="0">
                <a:solidFill>
                  <a:srgbClr val="6B7280"/>
                </a:solidFill>
                <a:latin typeface="Consolas" pitchFamily="34" charset="0"/>
                <a:ea typeface="Consolas" pitchFamily="34" charset="-122"/>
                <a:cs typeface="Consolas" pitchFamily="34" charset="-120"/>
              </a:rPr>
              <a:t>-- Consulta frecuente</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PedidoId, FechaPedido, Total</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dbo.Pedido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ClienteId = </a:t>
            </a:r>
            <a:r>
              <a:rPr lang="en-US" sz="1300" dirty="0">
                <a:solidFill>
                  <a:srgbClr val="9A3412"/>
                </a:solidFill>
                <a:latin typeface="Consolas" pitchFamily="34" charset="0"/>
                <a:ea typeface="Consolas" pitchFamily="34" charset="-122"/>
                <a:cs typeface="Consolas" pitchFamily="34" charset="-120"/>
              </a:rPr>
              <a:t>4217</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-- 1) Sólo clave: Seek + Key Lookup por fila</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CREATE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NONCLUSTERED</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INDEX</a:t>
            </a:r>
            <a:r>
              <a:rPr lang="en-US" sz="1300" dirty="0">
                <a:solidFill>
                  <a:srgbClr val="1F2933"/>
                </a:solidFill>
                <a:latin typeface="Consolas" pitchFamily="34" charset="0"/>
                <a:ea typeface="Consolas" pitchFamily="34" charset="-122"/>
                <a:cs typeface="Consolas" pitchFamily="34" charset="-120"/>
              </a:rPr>
              <a:t> IX_Pedido_Cliente</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 dbo.Pedido (ClienteId);</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-- 2) Covering: sin Key Lookup</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CREATE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NONCLUSTERED</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INDEX</a:t>
            </a:r>
            <a:r>
              <a:rPr lang="en-US" sz="1300" dirty="0">
                <a:solidFill>
                  <a:srgbClr val="1F2933"/>
                </a:solidFill>
                <a:latin typeface="Consolas" pitchFamily="34" charset="0"/>
                <a:ea typeface="Consolas" pitchFamily="34" charset="-122"/>
                <a:cs typeface="Consolas" pitchFamily="34" charset="-120"/>
              </a:rPr>
              <a:t> IX_Pedido_Cliente_Cov</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 dbo.Pedido (ClienteId)</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INCLUDE</a:t>
            </a:r>
            <a:r>
              <a:rPr lang="en-US" sz="1300" dirty="0">
                <a:solidFill>
                  <a:srgbClr val="1F2933"/>
                </a:solidFill>
                <a:latin typeface="Consolas" pitchFamily="34" charset="0"/>
                <a:ea typeface="Consolas" pitchFamily="34" charset="-122"/>
                <a:cs typeface="Consolas" pitchFamily="34" charset="-120"/>
              </a:rPr>
              <a:t> (FechaPedido, Total);</a:t>
            </a:r>
            <a:endParaRPr lang="en-US" sz="1300" dirty="0"/>
          </a:p>
        </p:txBody>
      </p:sp>
      <p:sp>
        <p:nvSpPr>
          <p:cNvPr id="10" name="Shape 7"/>
          <p:cNvSpPr/>
          <p:nvPr/>
        </p:nvSpPr>
        <p:spPr>
          <a:xfrm>
            <a:off x="7406640" y="1600200"/>
            <a:ext cx="4233672" cy="3611880"/>
          </a:xfrm>
          <a:prstGeom prst="roundRect">
            <a:avLst>
              <a:gd name="adj" fmla="val 303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7635240" y="1828800"/>
            <a:ext cx="3776472" cy="2590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Qué ocurre por dentro</a:t>
            </a:r>
            <a:endParaRPr lang="en-US" sz="1700" dirty="0"/>
          </a:p>
        </p:txBody>
      </p:sp>
      <p:sp>
        <p:nvSpPr>
          <p:cNvPr id="12" name="Text 9"/>
          <p:cNvSpPr/>
          <p:nvPr/>
        </p:nvSpPr>
        <p:spPr>
          <a:xfrm>
            <a:off x="7635240" y="2197608"/>
            <a:ext cx="3776472" cy="2785872"/>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La hoja del NCI guarda clave + puntero a la fila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Key Lookup: 1 lectura aleatoria por fila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INCLUDE: columnas sólo en la hoja, sin ordenar</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Más índices = más coste en INSERT/UPDATE/DELETE</a:t>
            </a:r>
            <a:endParaRPr lang="en-US" sz="1400" dirty="0"/>
          </a:p>
        </p:txBody>
      </p:sp>
      <p:sp>
        <p:nvSpPr>
          <p:cNvPr id="13" name="Shape 10"/>
          <p:cNvSpPr/>
          <p:nvPr/>
        </p:nvSpPr>
        <p:spPr>
          <a:xfrm>
            <a:off x="548640" y="5486400"/>
            <a:ext cx="11091672" cy="685800"/>
          </a:xfrm>
          <a:prstGeom prst="roundRect">
            <a:avLst>
              <a:gd name="adj" fmla="val 16000"/>
            </a:avLst>
          </a:prstGeom>
          <a:solidFill>
            <a:srgbClr val="E8EEF5"/>
          </a:solidFill>
          <a:ln/>
        </p:spPr>
      </p:sp>
      <p:sp>
        <p:nvSpPr>
          <p:cNvPr id="14" name="Shape 11"/>
          <p:cNvSpPr/>
          <p:nvPr/>
        </p:nvSpPr>
        <p:spPr>
          <a:xfrm>
            <a:off x="731520" y="5600700"/>
            <a:ext cx="457200" cy="457200"/>
          </a:xfrm>
          <a:prstGeom prst="ellipse">
            <a:avLst/>
          </a:prstGeom>
          <a:solidFill>
            <a:srgbClr val="134074"/>
          </a:solidFill>
          <a:ln/>
        </p:spPr>
      </p:sp>
      <p:pic>
        <p:nvPicPr>
          <p:cNvPr id="15" name="Image 0" descr="preencoded.png">    </p:cNvPr>
          <p:cNvPicPr>
            <a:picLocks noChangeAspect="1"/>
          </p:cNvPicPr>
          <p:nvPr/>
        </p:nvPicPr>
        <p:blipFill>
          <a:blip r:embed="rId1"/>
          <a:stretch>
            <a:fillRect/>
          </a:stretch>
        </p:blipFill>
        <p:spPr>
          <a:xfrm>
            <a:off x="845820" y="5715000"/>
            <a:ext cx="228600" cy="228600"/>
          </a:xfrm>
          <a:prstGeom prst="rect">
            <a:avLst/>
          </a:prstGeom>
        </p:spPr>
      </p:pic>
      <p:sp>
        <p:nvSpPr>
          <p:cNvPr id="16" name="Text 12"/>
          <p:cNvSpPr/>
          <p:nvPr/>
        </p:nvSpPr>
        <p:spPr>
          <a:xfrm>
            <a:off x="1371600" y="5486400"/>
            <a:ext cx="10085832" cy="6858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Orden de la clave: </a:t>
            </a:r>
            <a:r>
              <a:rPr lang="en-US" sz="1400" dirty="0">
                <a:solidFill>
                  <a:srgbClr val="1F2933"/>
                </a:solidFill>
                <a:latin typeface="Calibri" pitchFamily="34" charset="0"/>
                <a:ea typeface="Calibri" pitchFamily="34" charset="-122"/>
                <a:cs typeface="Calibri" pitchFamily="34" charset="-120"/>
              </a:rPr>
              <a:t>igualdad primero, rango después, y columnas de lectura en INCLUDE.</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ÍNDICES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Filtered, columnstore y missing indexes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47</a:t>
            </a:r>
            <a:endParaRPr lang="en-US" sz="1000" dirty="0"/>
          </a:p>
        </p:txBody>
      </p:sp>
      <p:sp>
        <p:nvSpPr>
          <p:cNvPr id="7" name="Shape 4"/>
          <p:cNvSpPr/>
          <p:nvPr/>
        </p:nvSpPr>
        <p:spPr>
          <a:xfrm>
            <a:off x="548640" y="1600200"/>
            <a:ext cx="5394960" cy="2331720"/>
          </a:xfrm>
          <a:prstGeom prst="roundRect">
            <a:avLst>
              <a:gd name="adj" fmla="val 3922"/>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FILTERED Y COLUMNSTORE</a:t>
            </a:r>
            <a:endParaRPr lang="en-US" sz="1000" dirty="0"/>
          </a:p>
        </p:txBody>
      </p:sp>
      <p:sp>
        <p:nvSpPr>
          <p:cNvPr id="9" name="Text 6"/>
          <p:cNvSpPr/>
          <p:nvPr/>
        </p:nvSpPr>
        <p:spPr>
          <a:xfrm>
            <a:off x="731520" y="1965960"/>
            <a:ext cx="5029200" cy="187452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Filtered: sólo pedidos abiertos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NONCLUSTERED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IX_Pedido_Abierto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(FechaPedido)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INCLUDE</a:t>
            </a:r>
            <a:r>
              <a:rPr lang="en-US" sz="1200" dirty="0">
                <a:solidFill>
                  <a:srgbClr val="1F2933"/>
                </a:solidFill>
                <a:latin typeface="Consolas" pitchFamily="34" charset="0"/>
                <a:ea typeface="Consolas" pitchFamily="34" charset="-122"/>
                <a:cs typeface="Consolas" pitchFamily="34" charset="-120"/>
              </a:rPr>
              <a:t> (Total)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Estado =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Columnstore (analítica / DW)</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NONCLUSTERED</a:t>
            </a:r>
            <a:r>
              <a:rPr lang="en-US" sz="1200" dirty="0">
                <a:solidFill>
                  <a:srgbClr val="1F2933"/>
                </a:solidFill>
                <a:latin typeface="Consolas" pitchFamily="34" charset="0"/>
                <a:ea typeface="Consolas" pitchFamily="34" charset="-122"/>
                <a:cs typeface="Consolas" pitchFamily="34" charset="-120"/>
              </a:rPr>
              <a:t> COLUMNSTORE </a:t>
            </a:r>
            <a:r>
              <a:rPr lang="en-US" sz="1200" b="1" dirty="0">
                <a:solidFill>
                  <a:srgbClr val="1D4ED8"/>
                </a:solidFill>
                <a:latin typeface="Consolas" pitchFamily="34" charset="0"/>
                <a:ea typeface="Consolas" pitchFamily="34" charset="-122"/>
                <a:cs typeface="Consolas" pitchFamily="34" charset="-120"/>
              </a:rPr>
              <a:t>INDEX</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NCCI_Pedido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(ClienteId, Total);</a:t>
            </a:r>
            <a:endParaRPr lang="en-US" sz="1200" dirty="0"/>
          </a:p>
        </p:txBody>
      </p:sp>
      <p:sp>
        <p:nvSpPr>
          <p:cNvPr id="10" name="Shape 7"/>
          <p:cNvSpPr/>
          <p:nvPr/>
        </p:nvSpPr>
        <p:spPr>
          <a:xfrm>
            <a:off x="548640" y="4206240"/>
            <a:ext cx="5394960" cy="1965960"/>
          </a:xfrm>
          <a:prstGeom prst="roundRect">
            <a:avLst>
              <a:gd name="adj" fmla="val 558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777240" y="4434840"/>
            <a:ext cx="4937760" cy="2590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Cuándo usar cada uno</a:t>
            </a:r>
            <a:endParaRPr lang="en-US" sz="1700" dirty="0"/>
          </a:p>
        </p:txBody>
      </p:sp>
      <p:sp>
        <p:nvSpPr>
          <p:cNvPr id="12" name="Text 9"/>
          <p:cNvSpPr/>
          <p:nvPr/>
        </p:nvSpPr>
        <p:spPr>
          <a:xfrm>
            <a:off x="777240" y="4803648"/>
            <a:ext cx="4937760" cy="1139952"/>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Filtered: subconjuntos pequeños, predicado fijo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Columnstore: agregaciones sobre millones de filas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Filtered + parámetros: puede ignorarse sin RECOMPILE</a:t>
            </a:r>
            <a:endParaRPr lang="en-US" sz="1400" dirty="0"/>
          </a:p>
        </p:txBody>
      </p:sp>
      <p:sp>
        <p:nvSpPr>
          <p:cNvPr id="13" name="Shape 10"/>
          <p:cNvSpPr/>
          <p:nvPr/>
        </p:nvSpPr>
        <p:spPr>
          <a:xfrm>
            <a:off x="6217920" y="1600200"/>
            <a:ext cx="5422392" cy="2926080"/>
          </a:xfrm>
          <a:prstGeom prst="roundRect">
            <a:avLst>
              <a:gd name="adj" fmla="val 3125"/>
            </a:avLst>
          </a:prstGeom>
          <a:solidFill>
            <a:srgbClr val="ECEFF3"/>
          </a:solidFill>
          <a:ln w="9525">
            <a:solidFill>
              <a:srgbClr val="D0D7DE"/>
            </a:solidFill>
            <a:prstDash val="solid"/>
          </a:ln>
        </p:spPr>
      </p:sp>
      <p:sp>
        <p:nvSpPr>
          <p:cNvPr id="14" name="Text 11"/>
          <p:cNvSpPr/>
          <p:nvPr/>
        </p:nvSpPr>
        <p:spPr>
          <a:xfrm>
            <a:off x="640080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MISSING INDEX DMVS</a:t>
            </a:r>
            <a:endParaRPr lang="en-US" sz="1000" dirty="0"/>
          </a:p>
        </p:txBody>
      </p:sp>
      <p:sp>
        <p:nvSpPr>
          <p:cNvPr id="15" name="Text 12"/>
          <p:cNvSpPr/>
          <p:nvPr/>
        </p:nvSpPr>
        <p:spPr>
          <a:xfrm>
            <a:off x="6400800" y="1965960"/>
            <a:ext cx="5056632" cy="246888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5</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d.statement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tabla,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d.equality_columns, d.inequality_columns,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d.included_columns,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s.user_seeks, s.avg_user_impact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sys.dm_db_missing_index_details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sys.dm_db_missing_index_groups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g</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g.index_handle = d.index_handle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sys.dm_db_missing_index_group_stats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s.group_handle = g.index_group_handle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s.user_seeks * s.avg_user_impact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6" name="Shape 13"/>
          <p:cNvSpPr/>
          <p:nvPr/>
        </p:nvSpPr>
        <p:spPr>
          <a:xfrm>
            <a:off x="6217920" y="4800600"/>
            <a:ext cx="5422392" cy="1371600"/>
          </a:xfrm>
          <a:prstGeom prst="roundRect">
            <a:avLst>
              <a:gd name="adj" fmla="val 8000"/>
            </a:avLst>
          </a:prstGeom>
          <a:solidFill>
            <a:srgbClr val="FDEDE8"/>
          </a:solidFill>
          <a:ln/>
        </p:spPr>
      </p:sp>
      <p:sp>
        <p:nvSpPr>
          <p:cNvPr id="17" name="Shape 14"/>
          <p:cNvSpPr/>
          <p:nvPr/>
        </p:nvSpPr>
        <p:spPr>
          <a:xfrm>
            <a:off x="6400800" y="5257800"/>
            <a:ext cx="457200" cy="457200"/>
          </a:xfrm>
          <a:prstGeom prst="ellipse">
            <a:avLst/>
          </a:prstGeom>
          <a:solidFill>
            <a:srgbClr val="D95D39"/>
          </a:solidFill>
          <a:ln/>
        </p:spPr>
      </p:sp>
      <p:pic>
        <p:nvPicPr>
          <p:cNvPr id="18" name="Image 0" descr="preencoded.png">    </p:cNvPr>
          <p:cNvPicPr>
            <a:picLocks noChangeAspect="1"/>
          </p:cNvPicPr>
          <p:nvPr/>
        </p:nvPicPr>
        <p:blipFill>
          <a:blip r:embed="rId1"/>
          <a:stretch>
            <a:fillRect/>
          </a:stretch>
        </p:blipFill>
        <p:spPr>
          <a:xfrm>
            <a:off x="6515100" y="5372100"/>
            <a:ext cx="228600" cy="228600"/>
          </a:xfrm>
          <a:prstGeom prst="rect">
            <a:avLst/>
          </a:prstGeom>
        </p:spPr>
      </p:pic>
      <p:sp>
        <p:nvSpPr>
          <p:cNvPr id="19" name="Text 15"/>
          <p:cNvSpPr/>
          <p:nvPr/>
        </p:nvSpPr>
        <p:spPr>
          <a:xfrm>
            <a:off x="7040880" y="4800600"/>
            <a:ext cx="4416552" cy="13716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Con cautela: </a:t>
            </a:r>
            <a:r>
              <a:rPr lang="en-US" sz="1400" dirty="0">
                <a:solidFill>
                  <a:srgbClr val="1F2933"/>
                </a:solidFill>
                <a:latin typeface="Calibri" pitchFamily="34" charset="0"/>
                <a:ea typeface="Calibri" pitchFamily="34" charset="-122"/>
                <a:cs typeface="Calibri" pitchFamily="34" charset="-120"/>
              </a:rPr>
              <a:t>son sugerencias, no órdenes. Pueden duplicar índices y se reinician con el servicio. Valídalas con el plan real.</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586484"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MANTENIMIENTO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Fragmentación, Page Splits y fillfactor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48</a:t>
            </a:r>
            <a:endParaRPr lang="en-US" sz="1000" dirty="0"/>
          </a:p>
        </p:txBody>
      </p:sp>
      <p:sp>
        <p:nvSpPr>
          <p:cNvPr id="7" name="Shape 4"/>
          <p:cNvSpPr/>
          <p:nvPr/>
        </p:nvSpPr>
        <p:spPr>
          <a:xfrm>
            <a:off x="548640" y="1600200"/>
            <a:ext cx="6583680" cy="3017520"/>
          </a:xfrm>
          <a:prstGeom prst="roundRect">
            <a:avLst>
              <a:gd name="adj" fmla="val 303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MEDIR FRAGMENTACIÓN</a:t>
            </a:r>
            <a:endParaRPr lang="en-US" sz="1000" dirty="0"/>
          </a:p>
        </p:txBody>
      </p:sp>
      <p:sp>
        <p:nvSpPr>
          <p:cNvPr id="9" name="Text 6"/>
          <p:cNvSpPr/>
          <p:nvPr/>
        </p:nvSpPr>
        <p:spPr>
          <a:xfrm>
            <a:off x="731520" y="1965960"/>
            <a:ext cx="6217920" cy="25603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OBJECT_NAME(ips.object_id)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Tabla,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i.</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Indice,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ips.avg_fragmentation_in_percent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Frag,</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ips.page_count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sys.dm_db_index_physical_stats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(DB_ID(),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N'LIMITED'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ips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sys.indexes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i</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i.object_id = ips.object_id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i.index_id = ips.index_id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ips.page_count &gt; </a:t>
            </a:r>
            <a:r>
              <a:rPr lang="en-US" sz="1200" dirty="0">
                <a:solidFill>
                  <a:srgbClr val="9A3412"/>
                </a:solidFill>
                <a:latin typeface="Consolas" pitchFamily="34" charset="0"/>
                <a:ea typeface="Consolas" pitchFamily="34" charset="-122"/>
                <a:cs typeface="Consolas" pitchFamily="34" charset="-120"/>
              </a:rPr>
              <a:t>1000</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ips.avg_fragmentation_in_percent &gt; </a:t>
            </a:r>
            <a:r>
              <a:rPr lang="en-US" sz="1200" dirty="0">
                <a:solidFill>
                  <a:srgbClr val="9A3412"/>
                </a:solidFill>
                <a:latin typeface="Consolas" pitchFamily="34" charset="0"/>
                <a:ea typeface="Consolas" pitchFamily="34" charset="-122"/>
                <a:cs typeface="Consolas" pitchFamily="34" charset="-120"/>
              </a:rPr>
              <a:t>5</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Frag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548640" y="4892040"/>
            <a:ext cx="6583680" cy="1280160"/>
          </a:xfrm>
          <a:prstGeom prst="roundRect">
            <a:avLst>
              <a:gd name="adj" fmla="val 7143"/>
            </a:avLst>
          </a:prstGeom>
          <a:solidFill>
            <a:srgbClr val="ECEFF3"/>
          </a:solidFill>
          <a:ln w="9525">
            <a:solidFill>
              <a:srgbClr val="D0D7DE"/>
            </a:solidFill>
            <a:prstDash val="solid"/>
          </a:ln>
        </p:spPr>
      </p:sp>
      <p:sp>
        <p:nvSpPr>
          <p:cNvPr id="11" name="Text 8"/>
          <p:cNvSpPr/>
          <p:nvPr/>
        </p:nvSpPr>
        <p:spPr>
          <a:xfrm>
            <a:off x="731520" y="498348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REORGANIZE / REBUILD</a:t>
            </a:r>
            <a:endParaRPr lang="en-US" sz="1000" dirty="0"/>
          </a:p>
        </p:txBody>
      </p:sp>
      <p:sp>
        <p:nvSpPr>
          <p:cNvPr id="12" name="Text 9"/>
          <p:cNvSpPr/>
          <p:nvPr/>
        </p:nvSpPr>
        <p:spPr>
          <a:xfrm>
            <a:off x="731520" y="5257800"/>
            <a:ext cx="6217920" cy="82296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IX_Pedido_Cliente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REORGANIZE</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IX_Pedido_Cliente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REBUILD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(FILLFACTOR = </a:t>
            </a:r>
            <a:r>
              <a:rPr lang="en-US" sz="1200" dirty="0">
                <a:solidFill>
                  <a:srgbClr val="9A3412"/>
                </a:solidFill>
                <a:latin typeface="Consolas" pitchFamily="34" charset="0"/>
                <a:ea typeface="Consolas" pitchFamily="34" charset="-122"/>
                <a:cs typeface="Consolas" pitchFamily="34" charset="-120"/>
              </a:rPr>
              <a:t>90</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406640" y="1600200"/>
          <a:ext cx="4233672" cy="914400"/>
        </p:xfrm>
        <a:graphic>
          <a:graphicData uri="http://schemas.openxmlformats.org/drawingml/2006/table">
            <a:tbl>
              <a:tblPr/>
              <a:tblGrid>
                <a:gridCol w="1840727"/>
                <a:gridCol w="2392945"/>
              </a:tblGrid>
              <a:tr h="3962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Fragmentación</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Acción</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&lt; 5 %</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No hacer nada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5 – 30 %</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REORGANIZE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&gt; 30 %</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REBUILD</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14" name="Shape 10"/>
          <p:cNvSpPr/>
          <p:nvPr/>
        </p:nvSpPr>
        <p:spPr>
          <a:xfrm>
            <a:off x="7406640" y="3794760"/>
            <a:ext cx="4233672" cy="2377440"/>
          </a:xfrm>
          <a:prstGeom prst="roundRect">
            <a:avLst>
              <a:gd name="adj" fmla="val 4615"/>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Text 11"/>
          <p:cNvSpPr/>
          <p:nvPr/>
        </p:nvSpPr>
        <p:spPr>
          <a:xfrm>
            <a:off x="7635240" y="4023360"/>
            <a:ext cx="3776472" cy="2590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Page Split</a:t>
            </a:r>
            <a:endParaRPr lang="en-US" sz="1700" dirty="0"/>
          </a:p>
        </p:txBody>
      </p:sp>
      <p:sp>
        <p:nvSpPr>
          <p:cNvPr id="16" name="Text 12"/>
          <p:cNvSpPr/>
          <p:nvPr/>
        </p:nvSpPr>
        <p:spPr>
          <a:xfrm>
            <a:off x="7635240" y="4392168"/>
            <a:ext cx="3776472" cy="1551432"/>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Página llena + inserción en medio: se parte en dos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Deja páginas a medias y genera log extra</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Claves aleatorias (GUID) lo agravan</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OPTIMIZADOR</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Estadísticas y cardinality estimator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49</a:t>
            </a:r>
            <a:endParaRPr lang="en-US" sz="1000" dirty="0"/>
          </a:p>
        </p:txBody>
      </p:sp>
      <p:sp>
        <p:nvSpPr>
          <p:cNvPr id="7" name="Shape 4"/>
          <p:cNvSpPr/>
          <p:nvPr/>
        </p:nvSpPr>
        <p:spPr>
          <a:xfrm>
            <a:off x="548640" y="1600200"/>
            <a:ext cx="630936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INSPECCIONAR ESTADÍSTICAS</a:t>
            </a:r>
            <a:endParaRPr lang="en-US" sz="1000" dirty="0"/>
          </a:p>
        </p:txBody>
      </p:sp>
      <p:sp>
        <p:nvSpPr>
          <p:cNvPr id="9" name="Text 6"/>
          <p:cNvSpPr/>
          <p:nvPr/>
        </p:nvSpPr>
        <p:spPr>
          <a:xfrm>
            <a:off x="731520" y="1965960"/>
            <a:ext cx="5943600" cy="4114800"/>
          </a:xfrm>
          <a:prstGeom prst="rect">
            <a:avLst/>
          </a:prstGeom>
          <a:noFill/>
          <a:ln/>
        </p:spPr>
        <p:txBody>
          <a:bodyPr wrap="none" lIns="0" tIns="0" rIns="0" bIns="0" rtlCol="0" anchor="t"/>
          <a:lstStyle/>
          <a:p>
            <a:pPr indent="0" marL="0">
              <a:buNone/>
            </a:pPr>
            <a:r>
              <a:rPr lang="en-US" sz="1300" i="1" dirty="0">
                <a:solidFill>
                  <a:srgbClr val="6B7280"/>
                </a:solidFill>
                <a:latin typeface="Consolas" pitchFamily="34" charset="0"/>
                <a:ea typeface="Consolas" pitchFamily="34" charset="-122"/>
                <a:cs typeface="Consolas" pitchFamily="34" charset="-120"/>
              </a:rPr>
              <a:t>-- Opciones a nivel de base de datos</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name</a:t>
            </a:r>
            <a:r>
              <a:rPr lang="en-US" sz="1300" dirty="0">
                <a:solidFill>
                  <a:srgbClr val="1F2933"/>
                </a:solidFill>
                <a:latin typeface="Consolas" pitchFamily="34" charset="0"/>
                <a:ea typeface="Consolas" pitchFamily="34" charset="-122"/>
                <a:cs typeface="Consolas" pitchFamily="34" charset="-120"/>
              </a:rPr>
              <a:t>, is_auto_create_stats_on,</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is_auto_update_stats_on,</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is_auto_update_stats_async_on</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sys.databases </a:t>
            </a: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name</a:t>
            </a:r>
            <a:r>
              <a:rPr lang="en-US" sz="1300" dirty="0">
                <a:solidFill>
                  <a:srgbClr val="1F2933"/>
                </a:solidFill>
                <a:latin typeface="Consolas" pitchFamily="34" charset="0"/>
                <a:ea typeface="Consolas" pitchFamily="34" charset="-122"/>
                <a:cs typeface="Consolas" pitchFamily="34" charset="-120"/>
              </a:rPr>
              <a:t> = </a:t>
            </a:r>
            <a:r>
              <a:rPr lang="en-US" sz="1300" dirty="0">
                <a:solidFill>
                  <a:srgbClr val="B4441F"/>
                </a:solidFill>
                <a:latin typeface="Consolas" pitchFamily="34" charset="0"/>
                <a:ea typeface="Consolas" pitchFamily="34" charset="-122"/>
                <a:cs typeface="Consolas" pitchFamily="34" charset="-120"/>
              </a:rPr>
              <a:t>N'Ventas'</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Encabezado, densidad e histograma</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DBCC</a:t>
            </a:r>
            <a:r>
              <a:rPr lang="en-US" sz="1300" dirty="0">
                <a:solidFill>
                  <a:srgbClr val="1F2933"/>
                </a:solidFill>
                <a:latin typeface="Consolas" pitchFamily="34" charset="0"/>
                <a:ea typeface="Consolas" pitchFamily="34" charset="-122"/>
                <a:cs typeface="Consolas" pitchFamily="34" charset="-120"/>
              </a:rPr>
              <a:t> SHOW_STATISTICS (</a:t>
            </a:r>
            <a:r>
              <a:rPr lang="en-US" sz="1300" dirty="0">
                <a:solidFill>
                  <a:srgbClr val="B4441F"/>
                </a:solidFill>
                <a:latin typeface="Consolas" pitchFamily="34" charset="0"/>
                <a:ea typeface="Consolas" pitchFamily="34" charset="-122"/>
                <a:cs typeface="Consolas" pitchFamily="34" charset="-120"/>
              </a:rPr>
              <a:t>N'dbo.Pedido'</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dirty="0">
                <a:solidFill>
                  <a:srgbClr val="B4441F"/>
                </a:solidFill>
                <a:latin typeface="Consolas" pitchFamily="34" charset="0"/>
                <a:ea typeface="Consolas" pitchFamily="34" charset="-122"/>
                <a:cs typeface="Consolas" pitchFamily="34" charset="-120"/>
              </a:rPr>
              <a:t>N'IX_Pedido_Cliente'</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Actualización manual</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UPDATE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STATISTICS</a:t>
            </a:r>
            <a:r>
              <a:rPr lang="en-US" sz="1300" dirty="0">
                <a:solidFill>
                  <a:srgbClr val="1F2933"/>
                </a:solidFill>
                <a:latin typeface="Consolas" pitchFamily="34" charset="0"/>
                <a:ea typeface="Consolas" pitchFamily="34" charset="-122"/>
                <a:cs typeface="Consolas" pitchFamily="34" charset="-120"/>
              </a:rPr>
              <a:t> dbo.Pedido IX_Pedido_Cliente</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WITH</a:t>
            </a:r>
            <a:r>
              <a:rPr lang="en-US" sz="1300" dirty="0">
                <a:solidFill>
                  <a:srgbClr val="1F2933"/>
                </a:solidFill>
                <a:latin typeface="Consolas" pitchFamily="34" charset="0"/>
                <a:ea typeface="Consolas" pitchFamily="34" charset="-122"/>
                <a:cs typeface="Consolas" pitchFamily="34" charset="-120"/>
              </a:rPr>
              <a:t> FULLSCAN;</a:t>
            </a:r>
            <a:endParaRPr lang="en-US" sz="1300" dirty="0"/>
          </a:p>
        </p:txBody>
      </p:sp>
      <p:sp>
        <p:nvSpPr>
          <p:cNvPr id="10" name="Shape 7"/>
          <p:cNvSpPr/>
          <p:nvPr/>
        </p:nvSpPr>
        <p:spPr>
          <a:xfrm>
            <a:off x="7132320" y="1600200"/>
            <a:ext cx="4507992"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7360920" y="1828800"/>
            <a:ext cx="4050792" cy="2590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Auto-create / Auto-update</a:t>
            </a:r>
            <a:endParaRPr lang="en-US" sz="1700" dirty="0"/>
          </a:p>
        </p:txBody>
      </p:sp>
      <p:sp>
        <p:nvSpPr>
          <p:cNvPr id="12" name="Text 9"/>
          <p:cNvSpPr/>
          <p:nvPr/>
        </p:nvSpPr>
        <p:spPr>
          <a:xfrm>
            <a:off x="7360920" y="2197608"/>
            <a:ext cx="4050792" cy="545592"/>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Se refrescan tras muchos cambios: umbral dinámico √(1000·filas) con compat. 130+.</a:t>
            </a:r>
            <a:endParaRPr lang="en-US" sz="1400" dirty="0"/>
          </a:p>
        </p:txBody>
      </p:sp>
      <p:sp>
        <p:nvSpPr>
          <p:cNvPr id="13" name="Shape 10"/>
          <p:cNvSpPr/>
          <p:nvPr/>
        </p:nvSpPr>
        <p:spPr>
          <a:xfrm>
            <a:off x="7132320" y="3200400"/>
            <a:ext cx="4507992"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Text 11"/>
          <p:cNvSpPr/>
          <p:nvPr/>
        </p:nvSpPr>
        <p:spPr>
          <a:xfrm>
            <a:off x="7360920" y="3429000"/>
            <a:ext cx="4050792" cy="2590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Histograma</a:t>
            </a:r>
            <a:endParaRPr lang="en-US" sz="1700" dirty="0"/>
          </a:p>
        </p:txBody>
      </p:sp>
      <p:sp>
        <p:nvSpPr>
          <p:cNvPr id="15" name="Text 12"/>
          <p:cNvSpPr/>
          <p:nvPr/>
        </p:nvSpPr>
        <p:spPr>
          <a:xfrm>
            <a:off x="7360920" y="3797808"/>
            <a:ext cx="4050792" cy="545592"/>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Hasta 200 pasos sobre la 1.ª columna de la clave: filas estimadas por valor.</a:t>
            </a:r>
            <a:endParaRPr lang="en-US" sz="1400" dirty="0"/>
          </a:p>
        </p:txBody>
      </p:sp>
      <p:sp>
        <p:nvSpPr>
          <p:cNvPr id="16" name="Shape 13"/>
          <p:cNvSpPr/>
          <p:nvPr/>
        </p:nvSpPr>
        <p:spPr>
          <a:xfrm>
            <a:off x="7132320" y="4800600"/>
            <a:ext cx="4507992"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7" name="Text 14"/>
          <p:cNvSpPr/>
          <p:nvPr/>
        </p:nvSpPr>
        <p:spPr>
          <a:xfrm>
            <a:off x="7360920" y="5029200"/>
            <a:ext cx="4050792" cy="2590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Cardinality Estimator</a:t>
            </a:r>
            <a:endParaRPr lang="en-US" sz="1700" dirty="0"/>
          </a:p>
        </p:txBody>
      </p:sp>
      <p:sp>
        <p:nvSpPr>
          <p:cNvPr id="18" name="Text 15"/>
          <p:cNvSpPr/>
          <p:nvPr/>
        </p:nvSpPr>
        <p:spPr>
          <a:xfrm>
            <a:off x="7360920" y="5398008"/>
            <a:ext cx="4050792" cy="545592"/>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El CE nuevo (compat. 120+) cambia estimaciones; compara con el Legacy CE.</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10769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PLANES DE EJECUCIÓN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Planes: Scan, Seek y Key Lookup</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50</a:t>
            </a:r>
            <a:endParaRPr lang="en-US" sz="1000" dirty="0"/>
          </a:p>
        </p:txBody>
      </p:sp>
      <p:sp>
        <p:nvSpPr>
          <p:cNvPr id="7" name="Shape 4"/>
          <p:cNvSpPr/>
          <p:nvPr/>
        </p:nvSpPr>
        <p:spPr>
          <a:xfrm>
            <a:off x="548640" y="1600200"/>
            <a:ext cx="3514344" cy="3154680"/>
          </a:xfrm>
          <a:prstGeom prst="roundRect">
            <a:avLst>
              <a:gd name="adj" fmla="val 3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134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Scan</a:t>
            </a:r>
            <a:endParaRPr lang="en-US" sz="1700" dirty="0"/>
          </a:p>
        </p:txBody>
      </p:sp>
      <p:sp>
        <p:nvSpPr>
          <p:cNvPr id="11" name="Text 7"/>
          <p:cNvSpPr/>
          <p:nvPr/>
        </p:nvSpPr>
        <p:spPr>
          <a:xfrm>
            <a:off x="777240" y="2560320"/>
            <a:ext cx="3057144" cy="19659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Lee todas las páginas del objeto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Coste proporcional al tamaño (E/S)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Correcto en tablas pequeñas o lecturas masivas</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Sospechoso: predicado no SARGable</a:t>
            </a:r>
            <a:endParaRPr lang="en-US" sz="1400" dirty="0"/>
          </a:p>
        </p:txBody>
      </p:sp>
      <p:sp>
        <p:nvSpPr>
          <p:cNvPr id="12" name="Shape 8"/>
          <p:cNvSpPr/>
          <p:nvPr/>
        </p:nvSpPr>
        <p:spPr>
          <a:xfrm>
            <a:off x="4337304" y="1600200"/>
            <a:ext cx="3514344" cy="3154680"/>
          </a:xfrm>
          <a:prstGeom prst="roundRect">
            <a:avLst>
              <a:gd name="adj" fmla="val 3478"/>
            </a:avLst>
          </a:prstGeom>
          <a:solidFill>
            <a:srgbClr val="134074"/>
          </a:solidFill>
          <a:ln/>
        </p:spPr>
      </p:sp>
      <p:sp>
        <p:nvSpPr>
          <p:cNvPr id="13" name="Shape 9"/>
          <p:cNvSpPr/>
          <p:nvPr/>
        </p:nvSpPr>
        <p:spPr>
          <a:xfrm>
            <a:off x="4565904" y="1828800"/>
            <a:ext cx="548640" cy="548640"/>
          </a:xfrm>
          <a:prstGeom prst="ellipse">
            <a:avLst/>
          </a:prstGeom>
          <a:solidFill>
            <a:srgbClr val="D95D39"/>
          </a:solidFill>
          <a:ln/>
        </p:spPr>
      </p:sp>
      <p:pic>
        <p:nvPicPr>
          <p:cNvPr id="14" name="Image 1" descr="preencoded.png">    </p:cNvPr>
          <p:cNvPicPr>
            <a:picLocks noChangeAspect="1"/>
          </p:cNvPicPr>
          <p:nvPr/>
        </p:nvPicPr>
        <p:blipFill>
          <a:blip r:embed="rId2"/>
          <a:stretch>
            <a:fillRect/>
          </a:stretch>
        </p:blipFill>
        <p:spPr>
          <a:xfrm>
            <a:off x="4703064" y="1965960"/>
            <a:ext cx="274320" cy="274320"/>
          </a:xfrm>
          <a:prstGeom prst="rect">
            <a:avLst/>
          </a:prstGeom>
        </p:spPr>
      </p:pic>
      <p:sp>
        <p:nvSpPr>
          <p:cNvPr id="15" name="Text 10"/>
          <p:cNvSpPr/>
          <p:nvPr/>
        </p:nvSpPr>
        <p:spPr>
          <a:xfrm>
            <a:off x="5251704" y="1828800"/>
            <a:ext cx="2371344"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Seek</a:t>
            </a:r>
            <a:endParaRPr lang="en-US" sz="1700" dirty="0"/>
          </a:p>
        </p:txBody>
      </p:sp>
      <p:sp>
        <p:nvSpPr>
          <p:cNvPr id="16" name="Text 11"/>
          <p:cNvSpPr/>
          <p:nvPr/>
        </p:nvSpPr>
        <p:spPr>
          <a:xfrm>
            <a:off x="4565904" y="2560320"/>
            <a:ext cx="3057144" cy="19659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Navega el B-Tree hasta la clave</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Pocas lecturas lógicas</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Ideal con predicados selectivos</a:t>
            </a:r>
            <a:endParaRPr lang="en-US" sz="1400" dirty="0"/>
          </a:p>
          <a:p>
            <a:pPr marL="203200" indent="-203200">
              <a:spcAft>
                <a:spcPts val="400"/>
              </a:spcAft>
              <a:buSzPct val="100000"/>
              <a:buChar char="•"/>
            </a:pPr>
            <a:r>
              <a:rPr lang="en-US" sz="1400" dirty="0">
                <a:solidFill>
                  <a:srgbClr val="E6EEF8"/>
                </a:solidFill>
                <a:latin typeface="Calibri" pitchFamily="34" charset="0"/>
                <a:ea typeface="Calibri" pitchFamily="34" charset="-122"/>
                <a:cs typeface="Calibri" pitchFamily="34" charset="-120"/>
              </a:rPr>
              <a:t>Ojo: devolver millones de filas no es barato</a:t>
            </a:r>
            <a:endParaRPr lang="en-US" sz="1400" dirty="0"/>
          </a:p>
        </p:txBody>
      </p:sp>
      <p:sp>
        <p:nvSpPr>
          <p:cNvPr id="17" name="Shape 12"/>
          <p:cNvSpPr/>
          <p:nvPr/>
        </p:nvSpPr>
        <p:spPr>
          <a:xfrm>
            <a:off x="8125968" y="1600200"/>
            <a:ext cx="3514344" cy="3154680"/>
          </a:xfrm>
          <a:prstGeom prst="roundRect">
            <a:avLst>
              <a:gd name="adj" fmla="val 347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4568"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1728" y="1965960"/>
            <a:ext cx="274320" cy="274320"/>
          </a:xfrm>
          <a:prstGeom prst="rect">
            <a:avLst/>
          </a:prstGeom>
        </p:spPr>
      </p:pic>
      <p:sp>
        <p:nvSpPr>
          <p:cNvPr id="20" name="Text 14"/>
          <p:cNvSpPr/>
          <p:nvPr/>
        </p:nvSpPr>
        <p:spPr>
          <a:xfrm>
            <a:off x="9040368" y="1828800"/>
            <a:ext cx="237134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Key Lookup</a:t>
            </a:r>
            <a:endParaRPr lang="en-US" sz="1700" dirty="0"/>
          </a:p>
        </p:txBody>
      </p:sp>
      <p:sp>
        <p:nvSpPr>
          <p:cNvPr id="21" name="Text 15"/>
          <p:cNvSpPr/>
          <p:nvPr/>
        </p:nvSpPr>
        <p:spPr>
          <a:xfrm>
            <a:off x="8354568" y="2560320"/>
            <a:ext cx="3057144" cy="19659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Un acceso al clustered por fila del NCI</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Lecturas aleatorias que se multiplican</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Plan típico: Nested Loops + Lookup</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Solución: INCLUDE o reescribir la consulta</a:t>
            </a:r>
            <a:endParaRPr lang="en-US" sz="1400" dirty="0"/>
          </a:p>
        </p:txBody>
      </p:sp>
      <p:sp>
        <p:nvSpPr>
          <p:cNvPr id="22" name="Shape 16"/>
          <p:cNvSpPr/>
          <p:nvPr/>
        </p:nvSpPr>
        <p:spPr>
          <a:xfrm>
            <a:off x="548640" y="4892040"/>
            <a:ext cx="11091672" cy="1234440"/>
          </a:xfrm>
          <a:prstGeom prst="roundRect">
            <a:avLst>
              <a:gd name="adj" fmla="val 8889"/>
            </a:avLst>
          </a:prstGeom>
          <a:solidFill>
            <a:srgbClr val="E8EEF5"/>
          </a:solidFill>
          <a:ln/>
        </p:spPr>
      </p:sp>
      <p:sp>
        <p:nvSpPr>
          <p:cNvPr id="23" name="Shape 17"/>
          <p:cNvSpPr/>
          <p:nvPr/>
        </p:nvSpPr>
        <p:spPr>
          <a:xfrm>
            <a:off x="731520" y="5280660"/>
            <a:ext cx="457200" cy="45720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845820" y="5394960"/>
            <a:ext cx="228600" cy="228600"/>
          </a:xfrm>
          <a:prstGeom prst="rect">
            <a:avLst/>
          </a:prstGeom>
        </p:spPr>
      </p:pic>
      <p:sp>
        <p:nvSpPr>
          <p:cNvPr id="25" name="Text 18"/>
          <p:cNvSpPr/>
          <p:nvPr/>
        </p:nvSpPr>
        <p:spPr>
          <a:xfrm>
            <a:off x="1371600" y="4892040"/>
            <a:ext cx="10085832" cy="12344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Un Scan no es siempre un problema: </a:t>
            </a:r>
            <a:r>
              <a:rPr lang="en-US" sz="1500" dirty="0">
                <a:solidFill>
                  <a:srgbClr val="1F2933"/>
                </a:solidFill>
                <a:latin typeface="Calibri" pitchFamily="34" charset="0"/>
                <a:ea typeface="Calibri" pitchFamily="34" charset="-122"/>
                <a:cs typeface="Calibri" pitchFamily="34" charset="-120"/>
              </a:rPr>
              <a:t>hay que cruzarlo con el nº de filas, el tamaño de la tabla y las lecturas lógicas reales antes de decidir crear un índice.</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10769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PLANES DE EJECUCIÓN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Leer un plan: coste, warnings y estimados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51</a:t>
            </a:r>
            <a:endParaRPr lang="en-US" sz="1000" dirty="0"/>
          </a:p>
        </p:txBody>
      </p:sp>
      <p:sp>
        <p:nvSpPr>
          <p:cNvPr id="7" name="Shape 4"/>
          <p:cNvSpPr/>
          <p:nvPr/>
        </p:nvSpPr>
        <p:spPr>
          <a:xfrm>
            <a:off x="548640" y="1600200"/>
            <a:ext cx="6035040" cy="3017520"/>
          </a:xfrm>
          <a:prstGeom prst="roundRect">
            <a:avLst>
              <a:gd name="adj" fmla="val 303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MEDIR E/S Y TIEMPO</a:t>
            </a:r>
            <a:endParaRPr lang="en-US" sz="1000" dirty="0"/>
          </a:p>
        </p:txBody>
      </p:sp>
      <p:sp>
        <p:nvSpPr>
          <p:cNvPr id="9" name="Text 6"/>
          <p:cNvSpPr/>
          <p:nvPr/>
        </p:nvSpPr>
        <p:spPr>
          <a:xfrm>
            <a:off x="731520" y="1965960"/>
            <a:ext cx="5669280" cy="2560320"/>
          </a:xfrm>
          <a:prstGeom prst="rect">
            <a:avLst/>
          </a:prstGeom>
          <a:noFill/>
          <a:ln/>
        </p:spPr>
        <p:txBody>
          <a:bodyPr wrap="none" lIns="0" tIns="0" rIns="0" bIns="0" rtlCol="0" anchor="t"/>
          <a:lstStyle/>
          <a:p>
            <a:pPr indent="0" marL="0">
              <a:buNone/>
            </a:pPr>
            <a:r>
              <a:rPr lang="en-US" sz="1300" b="1" dirty="0">
                <a:solidFill>
                  <a:srgbClr val="1D4ED8"/>
                </a:solidFill>
                <a:latin typeface="Consolas" pitchFamily="34" charset="0"/>
                <a:ea typeface="Consolas" pitchFamily="34" charset="-122"/>
                <a:cs typeface="Consolas" pitchFamily="34" charset="-120"/>
              </a:rPr>
              <a:t>SET</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STATISTICS</a:t>
            </a:r>
            <a:r>
              <a:rPr lang="en-US" sz="1300" dirty="0">
                <a:solidFill>
                  <a:srgbClr val="1F2933"/>
                </a:solidFill>
                <a:latin typeface="Consolas" pitchFamily="34" charset="0"/>
                <a:ea typeface="Consolas" pitchFamily="34" charset="-122"/>
                <a:cs typeface="Consolas" pitchFamily="34" charset="-120"/>
              </a:rPr>
              <a:t> IO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SET</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STATISTICS</a:t>
            </a:r>
            <a:r>
              <a:rPr lang="en-US" sz="1300" dirty="0">
                <a:solidFill>
                  <a:srgbClr val="1F2933"/>
                </a:solidFill>
                <a:latin typeface="Consolas" pitchFamily="34" charset="0"/>
                <a:ea typeface="Consolas" pitchFamily="34" charset="-122"/>
                <a:cs typeface="Consolas" pitchFamily="34" charset="-120"/>
              </a:rPr>
              <a:t> </a:t>
            </a:r>
            <a:r>
              <a:rPr lang="en-US" sz="1300" dirty="0">
                <a:solidFill>
                  <a:srgbClr val="7C3AED"/>
                </a:solidFill>
                <a:latin typeface="Consolas" pitchFamily="34" charset="0"/>
                <a:ea typeface="Consolas" pitchFamily="34" charset="-122"/>
                <a:cs typeface="Consolas" pitchFamily="34" charset="-120"/>
              </a:rPr>
              <a:t>TIME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PedidoId, Total</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dbo.Pedido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ClienteId = </a:t>
            </a:r>
            <a:r>
              <a:rPr lang="en-US" sz="1300" dirty="0">
                <a:solidFill>
                  <a:srgbClr val="9A3412"/>
                </a:solidFill>
                <a:latin typeface="Consolas" pitchFamily="34" charset="0"/>
                <a:ea typeface="Consolas" pitchFamily="34" charset="-122"/>
                <a:cs typeface="Consolas" pitchFamily="34" charset="-120"/>
              </a:rPr>
              <a:t>4217</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Messages: Table 'Pedido'. Scan count 1,</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logical reads 3, physical reads 0</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CPU time = 0 ms, elapsed time = 1 ms</a:t>
            </a:r>
            <a:endParaRPr lang="en-US" sz="1300" dirty="0"/>
          </a:p>
        </p:txBody>
      </p:sp>
      <p:sp>
        <p:nvSpPr>
          <p:cNvPr id="10" name="Shape 7"/>
          <p:cNvSpPr/>
          <p:nvPr/>
        </p:nvSpPr>
        <p:spPr>
          <a:xfrm>
            <a:off x="548640" y="4892040"/>
            <a:ext cx="6035040" cy="1280160"/>
          </a:xfrm>
          <a:prstGeom prst="roundRect">
            <a:avLst>
              <a:gd name="adj" fmla="val 8571"/>
            </a:avLst>
          </a:prstGeom>
          <a:solidFill>
            <a:srgbClr val="E8EEF5"/>
          </a:solidFill>
          <a:ln/>
        </p:spPr>
      </p:sp>
      <p:sp>
        <p:nvSpPr>
          <p:cNvPr id="11" name="Shape 8"/>
          <p:cNvSpPr/>
          <p:nvPr/>
        </p:nvSpPr>
        <p:spPr>
          <a:xfrm>
            <a:off x="731520" y="5303520"/>
            <a:ext cx="457200" cy="45720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845820" y="5417820"/>
            <a:ext cx="228600" cy="228600"/>
          </a:xfrm>
          <a:prstGeom prst="rect">
            <a:avLst/>
          </a:prstGeom>
        </p:spPr>
      </p:pic>
      <p:sp>
        <p:nvSpPr>
          <p:cNvPr id="13" name="Text 9"/>
          <p:cNvSpPr/>
          <p:nvPr/>
        </p:nvSpPr>
        <p:spPr>
          <a:xfrm>
            <a:off x="1371600" y="4892040"/>
            <a:ext cx="5029200" cy="12801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Métrica clave: </a:t>
            </a:r>
            <a:r>
              <a:rPr lang="en-US" sz="1400" dirty="0">
                <a:solidFill>
                  <a:srgbClr val="1F2933"/>
                </a:solidFill>
                <a:latin typeface="Calibri" pitchFamily="34" charset="0"/>
                <a:ea typeface="Calibri" pitchFamily="34" charset="-122"/>
                <a:cs typeface="Calibri" pitchFamily="34" charset="-120"/>
              </a:rPr>
              <a:t>las lecturas lógicas son estables; el tiempo varía con la caché y la carga.</a:t>
            </a:r>
            <a:endParaRPr lang="en-US" sz="1400" dirty="0"/>
          </a:p>
        </p:txBody>
      </p:sp>
      <p:sp>
        <p:nvSpPr>
          <p:cNvPr id="14" name="Shape 10"/>
          <p:cNvSpPr/>
          <p:nvPr/>
        </p:nvSpPr>
        <p:spPr>
          <a:xfrm>
            <a:off x="6858000" y="1600200"/>
            <a:ext cx="4782312" cy="4572000"/>
          </a:xfrm>
          <a:prstGeom prst="roundRect">
            <a:avLst>
              <a:gd name="adj" fmla="val 24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Shape 11"/>
          <p:cNvSpPr/>
          <p:nvPr/>
        </p:nvSpPr>
        <p:spPr>
          <a:xfrm>
            <a:off x="7086600" y="1828800"/>
            <a:ext cx="548640" cy="548640"/>
          </a:xfrm>
          <a:prstGeom prst="ellipse">
            <a:avLst/>
          </a:prstGeom>
          <a:solidFill>
            <a:srgbClr val="134074"/>
          </a:solidFill>
          <a:ln/>
        </p:spPr>
      </p:sp>
      <p:pic>
        <p:nvPicPr>
          <p:cNvPr id="16" name="Image 1" descr="preencoded.png">    </p:cNvPr>
          <p:cNvPicPr>
            <a:picLocks noChangeAspect="1"/>
          </p:cNvPicPr>
          <p:nvPr/>
        </p:nvPicPr>
        <p:blipFill>
          <a:blip r:embed="rId2"/>
          <a:stretch>
            <a:fillRect/>
          </a:stretch>
        </p:blipFill>
        <p:spPr>
          <a:xfrm>
            <a:off x="7223760" y="1965960"/>
            <a:ext cx="274320" cy="274320"/>
          </a:xfrm>
          <a:prstGeom prst="rect">
            <a:avLst/>
          </a:prstGeom>
        </p:spPr>
      </p:pic>
      <p:sp>
        <p:nvSpPr>
          <p:cNvPr id="17" name="Text 12"/>
          <p:cNvSpPr/>
          <p:nvPr/>
        </p:nvSpPr>
        <p:spPr>
          <a:xfrm>
            <a:off x="7772400" y="1828800"/>
            <a:ext cx="363931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Qué mirar en el plan</a:t>
            </a:r>
            <a:endParaRPr lang="en-US" sz="1700" dirty="0"/>
          </a:p>
        </p:txBody>
      </p:sp>
      <p:sp>
        <p:nvSpPr>
          <p:cNvPr id="18" name="Text 13"/>
          <p:cNvSpPr/>
          <p:nvPr/>
        </p:nvSpPr>
        <p:spPr>
          <a:xfrm>
            <a:off x="7086600" y="2560320"/>
            <a:ext cx="4325112" cy="33832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Estimated vs Actual: </a:t>
            </a:r>
            <a:r>
              <a:rPr lang="en-US" sz="1400" dirty="0">
                <a:solidFill>
                  <a:srgbClr val="1F2933"/>
                </a:solidFill>
                <a:latin typeface="Calibri" pitchFamily="34" charset="0"/>
                <a:ea typeface="Calibri" pitchFamily="34" charset="-122"/>
                <a:cs typeface="Calibri" pitchFamily="34" charset="-120"/>
              </a:rPr>
              <a:t>gran diferencia = estadísticas obsoletas o parameter sniffing</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Warnings: </a:t>
            </a:r>
            <a:r>
              <a:rPr lang="en-US" sz="1400" dirty="0">
                <a:solidFill>
                  <a:srgbClr val="1F2933"/>
                </a:solidFill>
                <a:latin typeface="Calibri" pitchFamily="34" charset="0"/>
                <a:ea typeface="Calibri" pitchFamily="34" charset="-122"/>
                <a:cs typeface="Calibri" pitchFamily="34" charset="-120"/>
              </a:rPr>
              <a:t>spill a tempdb, conversión implícita, falta de estadísticas</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Coste %: </a:t>
            </a:r>
            <a:r>
              <a:rPr lang="en-US" sz="1400" dirty="0">
                <a:solidFill>
                  <a:srgbClr val="1F2933"/>
                </a:solidFill>
                <a:latin typeface="Calibri" pitchFamily="34" charset="0"/>
                <a:ea typeface="Calibri" pitchFamily="34" charset="-122"/>
                <a:cs typeface="Calibri" pitchFamily="34" charset="-120"/>
              </a:rPr>
              <a:t>estimación relativa, no tiempo real</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Query Store: </a:t>
            </a:r>
            <a:r>
              <a:rPr lang="en-US" sz="1400" dirty="0">
                <a:solidFill>
                  <a:srgbClr val="1F2933"/>
                </a:solidFill>
                <a:latin typeface="Calibri" pitchFamily="34" charset="0"/>
                <a:ea typeface="Calibri" pitchFamily="34" charset="-122"/>
                <a:cs typeface="Calibri" pitchFamily="34" charset="-120"/>
              </a:rPr>
              <a:t>planes e historial para detectar regresiones (2016+)</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MONITORIZACIÓN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DMVs: consultas costosas y sesiones activas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52</a:t>
            </a:r>
            <a:endParaRPr lang="en-US" sz="1000" dirty="0"/>
          </a:p>
        </p:txBody>
      </p:sp>
      <p:sp>
        <p:nvSpPr>
          <p:cNvPr id="7" name="Shape 4"/>
          <p:cNvSpPr/>
          <p:nvPr/>
        </p:nvSpPr>
        <p:spPr>
          <a:xfrm>
            <a:off x="548640" y="1600200"/>
            <a:ext cx="5394960" cy="3246120"/>
          </a:xfrm>
          <a:prstGeom prst="roundRect">
            <a:avLst>
              <a:gd name="adj" fmla="val 2817"/>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TOP CONSULTAS POR CPU</a:t>
            </a:r>
            <a:endParaRPr lang="en-US" sz="1000" dirty="0"/>
          </a:p>
        </p:txBody>
      </p:sp>
      <p:sp>
        <p:nvSpPr>
          <p:cNvPr id="9" name="Text 6"/>
          <p:cNvSpPr/>
          <p:nvPr/>
        </p:nvSpPr>
        <p:spPr>
          <a:xfrm>
            <a:off x="731520" y="1965960"/>
            <a:ext cx="5029200" cy="27889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5</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qs.execution_count,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qs.total_worker_time/qs.execution_count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cpu_us,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qs.total_logical_reads,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LEFT</a:t>
            </a:r>
            <a:r>
              <a:rPr lang="en-US" sz="1200" dirty="0">
                <a:solidFill>
                  <a:srgbClr val="1F2933"/>
                </a:solidFill>
                <a:latin typeface="Consolas" pitchFamily="34" charset="0"/>
                <a:ea typeface="Consolas" pitchFamily="34" charset="-122"/>
                <a:cs typeface="Consolas" pitchFamily="34" charset="-120"/>
              </a:rPr>
              <a:t>(st.</a:t>
            </a:r>
            <a:r>
              <a:rPr lang="en-US" sz="1200" dirty="0">
                <a:solidFill>
                  <a:srgbClr val="7C3AED"/>
                </a:solidFill>
                <a:latin typeface="Consolas" pitchFamily="34" charset="0"/>
                <a:ea typeface="Consolas" pitchFamily="34" charset="-122"/>
                <a:cs typeface="Consolas" pitchFamily="34" charset="-120"/>
              </a:rPr>
              <a:t>text</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100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batch_text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sys.dm_exec_query_stats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qs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CROSS</a:t>
            </a:r>
            <a:r>
              <a:rPr lang="en-US" sz="1200" dirty="0">
                <a:solidFill>
                  <a:srgbClr val="1F2933"/>
                </a:solidFill>
                <a:latin typeface="Consolas" pitchFamily="34" charset="0"/>
                <a:ea typeface="Consolas" pitchFamily="34" charset="-122"/>
                <a:cs typeface="Consolas" pitchFamily="34" charset="-120"/>
              </a:rPr>
              <a:t> APPLY sys.dm_exec_sql_text(qs.sql_handle) st</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Plan: sys.dm_exec_query_plan(qs.plan_handle)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qs.total_worker_time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6245352" y="1600200"/>
            <a:ext cx="5394960" cy="3246120"/>
          </a:xfrm>
          <a:prstGeom prst="roundRect">
            <a:avLst>
              <a:gd name="adj" fmla="val 2817"/>
            </a:avLst>
          </a:prstGeom>
          <a:solidFill>
            <a:srgbClr val="ECEFF3"/>
          </a:solidFill>
          <a:ln w="9525">
            <a:solidFill>
              <a:srgbClr val="D0D7DE"/>
            </a:solidFill>
            <a:prstDash val="solid"/>
          </a:ln>
        </p:spPr>
      </p:sp>
      <p:sp>
        <p:nvSpPr>
          <p:cNvPr id="11" name="Text 8"/>
          <p:cNvSpPr/>
          <p:nvPr/>
        </p:nvSpPr>
        <p:spPr>
          <a:xfrm>
            <a:off x="6428232"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PETICIONES ACTIVAS</a:t>
            </a:r>
            <a:endParaRPr lang="en-US" sz="1000" dirty="0"/>
          </a:p>
        </p:txBody>
      </p:sp>
      <p:sp>
        <p:nvSpPr>
          <p:cNvPr id="12" name="Text 9"/>
          <p:cNvSpPr/>
          <p:nvPr/>
        </p:nvSpPr>
        <p:spPr>
          <a:xfrm>
            <a:off x="6428232" y="1965960"/>
            <a:ext cx="5029200" cy="27889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r.session_id, r.status, r.command,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r.wait_type, r.wait_time,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r.blocking_session_id,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r.cpu_time, r.logical_reads,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DB_NAME(r.database_id)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bd,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LEFT</a:t>
            </a:r>
            <a:r>
              <a:rPr lang="en-US" sz="1200" dirty="0">
                <a:solidFill>
                  <a:srgbClr val="1F2933"/>
                </a:solidFill>
                <a:latin typeface="Consolas" pitchFamily="34" charset="0"/>
                <a:ea typeface="Consolas" pitchFamily="34" charset="-122"/>
                <a:cs typeface="Consolas" pitchFamily="34" charset="-120"/>
              </a:rPr>
              <a:t>(t.</a:t>
            </a:r>
            <a:r>
              <a:rPr lang="en-US" sz="1200" dirty="0">
                <a:solidFill>
                  <a:srgbClr val="7C3AED"/>
                </a:solidFill>
                <a:latin typeface="Consolas" pitchFamily="34" charset="0"/>
                <a:ea typeface="Consolas" pitchFamily="34" charset="-122"/>
                <a:cs typeface="Consolas" pitchFamily="34" charset="-120"/>
              </a:rPr>
              <a:t>text</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100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sql_text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sys.dm_exec_requests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CROSS</a:t>
            </a:r>
            <a:r>
              <a:rPr lang="en-US" sz="1200" dirty="0">
                <a:solidFill>
                  <a:srgbClr val="1F2933"/>
                </a:solidFill>
                <a:latin typeface="Consolas" pitchFamily="34" charset="0"/>
                <a:ea typeface="Consolas" pitchFamily="34" charset="-122"/>
                <a:cs typeface="Consolas" pitchFamily="34" charset="-120"/>
              </a:rPr>
              <a:t> APPLY sys.dm_exec_sql_text(r.sql_handle) 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r.session_id &lt;&gt; </a:t>
            </a:r>
            <a:r>
              <a:rPr lang="en-US" sz="1200" dirty="0">
                <a:solidFill>
                  <a:srgbClr val="0F766E"/>
                </a:solidFill>
                <a:latin typeface="Consolas" pitchFamily="34" charset="0"/>
                <a:ea typeface="Consolas" pitchFamily="34" charset="-122"/>
                <a:cs typeface="Consolas" pitchFamily="34" charset="-120"/>
              </a:rPr>
              <a:t>@@SPID</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3" name="Shape 10"/>
          <p:cNvSpPr/>
          <p:nvPr/>
        </p:nvSpPr>
        <p:spPr>
          <a:xfrm>
            <a:off x="548640" y="5120640"/>
            <a:ext cx="11091672" cy="1051560"/>
          </a:xfrm>
          <a:prstGeom prst="roundRect">
            <a:avLst>
              <a:gd name="adj" fmla="val 10435"/>
            </a:avLst>
          </a:prstGeom>
          <a:solidFill>
            <a:srgbClr val="FDEDE8"/>
          </a:solidFill>
          <a:ln/>
        </p:spPr>
      </p:sp>
      <p:sp>
        <p:nvSpPr>
          <p:cNvPr id="14" name="Shape 11"/>
          <p:cNvSpPr/>
          <p:nvPr/>
        </p:nvSpPr>
        <p:spPr>
          <a:xfrm>
            <a:off x="731520" y="5417820"/>
            <a:ext cx="457200" cy="457200"/>
          </a:xfrm>
          <a:prstGeom prst="ellipse">
            <a:avLst/>
          </a:prstGeom>
          <a:solidFill>
            <a:srgbClr val="D95D39"/>
          </a:solidFill>
          <a:ln/>
        </p:spPr>
      </p:sp>
      <p:pic>
        <p:nvPicPr>
          <p:cNvPr id="15" name="Image 0" descr="preencoded.png">    </p:cNvPr>
          <p:cNvPicPr>
            <a:picLocks noChangeAspect="1"/>
          </p:cNvPicPr>
          <p:nvPr/>
        </p:nvPicPr>
        <p:blipFill>
          <a:blip r:embed="rId1"/>
          <a:stretch>
            <a:fillRect/>
          </a:stretch>
        </p:blipFill>
        <p:spPr>
          <a:xfrm>
            <a:off x="845820" y="5532120"/>
            <a:ext cx="228600" cy="228600"/>
          </a:xfrm>
          <a:prstGeom prst="rect">
            <a:avLst/>
          </a:prstGeom>
        </p:spPr>
      </p:pic>
      <p:sp>
        <p:nvSpPr>
          <p:cNvPr id="16" name="Text 12"/>
          <p:cNvSpPr/>
          <p:nvPr/>
        </p:nvSpPr>
        <p:spPr>
          <a:xfrm>
            <a:off x="1371600" y="5120640"/>
            <a:ext cx="10085832" cy="105156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Datos volátiles: </a:t>
            </a:r>
            <a:r>
              <a:rPr lang="en-US" sz="1400" dirty="0">
                <a:solidFill>
                  <a:srgbClr val="1F2933"/>
                </a:solidFill>
                <a:latin typeface="Calibri" pitchFamily="34" charset="0"/>
                <a:ea typeface="Calibri" pitchFamily="34" charset="-122"/>
                <a:cs typeface="Calibri" pitchFamily="34" charset="-120"/>
              </a:rPr>
              <a:t>las DMVs acumulan desde el último reinicio y query_stats sólo ve planes en caché. Necesitas VIEW SERVER STATE (VIEW SERVER PERFORMANCE STATE en 2022).</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673352"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MONITORIZACIÓN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DMVs: esperas y bloqueos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53</a:t>
            </a:r>
            <a:endParaRPr lang="en-US" sz="1000" dirty="0"/>
          </a:p>
        </p:txBody>
      </p:sp>
      <p:sp>
        <p:nvSpPr>
          <p:cNvPr id="7" name="Shape 4"/>
          <p:cNvSpPr/>
          <p:nvPr/>
        </p:nvSpPr>
        <p:spPr>
          <a:xfrm>
            <a:off x="548640" y="1600200"/>
            <a:ext cx="5394960" cy="3291840"/>
          </a:xfrm>
          <a:prstGeom prst="roundRect">
            <a:avLst>
              <a:gd name="adj" fmla="val 2778"/>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TOP WAITS ACUMULADOS</a:t>
            </a:r>
            <a:endParaRPr lang="en-US" sz="1000" dirty="0"/>
          </a:p>
        </p:txBody>
      </p:sp>
      <p:sp>
        <p:nvSpPr>
          <p:cNvPr id="9" name="Text 6"/>
          <p:cNvSpPr/>
          <p:nvPr/>
        </p:nvSpPr>
        <p:spPr>
          <a:xfrm>
            <a:off x="731520" y="1965960"/>
            <a:ext cx="5029200" cy="283464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10</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wait_type,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waiting_tasks_count,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wait_time_ms,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signal_wait_time_ms,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CAST(</a:t>
            </a:r>
            <a:r>
              <a:rPr lang="en-US" sz="1200" dirty="0">
                <a:solidFill>
                  <a:srgbClr val="9A3412"/>
                </a:solidFill>
                <a:latin typeface="Consolas" pitchFamily="34" charset="0"/>
                <a:ea typeface="Consolas" pitchFamily="34" charset="-122"/>
                <a:cs typeface="Consolas" pitchFamily="34" charset="-120"/>
              </a:rPr>
              <a:t>100.0</a:t>
            </a:r>
            <a:r>
              <a:rPr lang="en-US" sz="1200" dirty="0">
                <a:solidFill>
                  <a:srgbClr val="1F2933"/>
                </a:solidFill>
                <a:latin typeface="Consolas" pitchFamily="34" charset="0"/>
                <a:ea typeface="Consolas" pitchFamily="34" charset="-122"/>
                <a:cs typeface="Consolas" pitchFamily="34" charset="-120"/>
              </a:rPr>
              <a:t> * wait_time_ms /</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SUM(wait_time_ms) </a:t>
            </a:r>
            <a:r>
              <a:rPr lang="en-US" sz="1200" b="1" dirty="0">
                <a:solidFill>
                  <a:srgbClr val="1D4ED8"/>
                </a:solidFill>
                <a:latin typeface="Consolas" pitchFamily="34" charset="0"/>
                <a:ea typeface="Consolas" pitchFamily="34" charset="-122"/>
                <a:cs typeface="Consolas" pitchFamily="34" charset="-120"/>
              </a:rPr>
              <a:t>OVER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7C3AED"/>
                </a:solidFill>
                <a:latin typeface="Consolas" pitchFamily="34" charset="0"/>
                <a:ea typeface="Consolas" pitchFamily="34" charset="-122"/>
                <a:cs typeface="Consolas" pitchFamily="34" charset="-120"/>
              </a:rPr>
              <a:t>DECIMAL</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5</a:t>
            </a:r>
            <a:r>
              <a:rPr lang="en-US" sz="1200" dirty="0">
                <a:solidFill>
                  <a:srgbClr val="1F2933"/>
                </a:solidFill>
                <a:latin typeface="Consolas" pitchFamily="34" charset="0"/>
                <a:ea typeface="Consolas" pitchFamily="34" charset="-122"/>
                <a:cs typeface="Consolas" pitchFamily="34" charset="-120"/>
              </a:rPr>
              <a:t>,</a:t>
            </a:r>
            <a:r>
              <a:rPr lang="en-US" sz="1200" dirty="0">
                <a:solidFill>
                  <a:srgbClr val="9A3412"/>
                </a:solidFill>
                <a:latin typeface="Consolas" pitchFamily="34" charset="0"/>
                <a:ea typeface="Consolas" pitchFamily="34" charset="-122"/>
                <a:cs typeface="Consolas" pitchFamily="34" charset="-120"/>
              </a:rPr>
              <a:t>2</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pct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sys.dm_os_wait_stats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wait_type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LIKE</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N'SLEEP%'</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wait_type </a:t>
            </a:r>
            <a:r>
              <a:rPr lang="en-US" sz="1200" b="1" dirty="0">
                <a:solidFill>
                  <a:srgbClr val="1D4ED8"/>
                </a:solidFill>
                <a:latin typeface="Consolas" pitchFamily="34" charset="0"/>
                <a:ea typeface="Consolas" pitchFamily="34" charset="-122"/>
                <a:cs typeface="Consolas" pitchFamily="34" charset="-120"/>
              </a:rPr>
              <a:t>NOT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N'LAZYWRITER_SLEEP'</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N'XE_TIMER_EVENT'</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wait_time_ms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548640" y="5166360"/>
            <a:ext cx="5394960" cy="1005840"/>
          </a:xfrm>
          <a:prstGeom prst="roundRect">
            <a:avLst>
              <a:gd name="adj" fmla="val 10909"/>
            </a:avLst>
          </a:prstGeom>
          <a:solidFill>
            <a:srgbClr val="E8EEF5"/>
          </a:solidFill>
          <a:ln/>
        </p:spPr>
      </p:sp>
      <p:sp>
        <p:nvSpPr>
          <p:cNvPr id="11" name="Shape 8"/>
          <p:cNvSpPr/>
          <p:nvPr/>
        </p:nvSpPr>
        <p:spPr>
          <a:xfrm>
            <a:off x="731520" y="5440680"/>
            <a:ext cx="457200" cy="45720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845820" y="5554980"/>
            <a:ext cx="228600" cy="228600"/>
          </a:xfrm>
          <a:prstGeom prst="rect">
            <a:avLst/>
          </a:prstGeom>
        </p:spPr>
      </p:pic>
      <p:sp>
        <p:nvSpPr>
          <p:cNvPr id="13" name="Text 9"/>
          <p:cNvSpPr/>
          <p:nvPr/>
        </p:nvSpPr>
        <p:spPr>
          <a:xfrm>
            <a:off x="1371600" y="5166360"/>
            <a:ext cx="4389120" cy="10058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Consejo: </a:t>
            </a:r>
            <a:r>
              <a:rPr lang="en-US" sz="1400" dirty="0">
                <a:solidFill>
                  <a:srgbClr val="1F2933"/>
                </a:solidFill>
                <a:latin typeface="Calibri" pitchFamily="34" charset="0"/>
                <a:ea typeface="Calibri" pitchFamily="34" charset="-122"/>
                <a:cs typeface="Calibri" pitchFamily="34" charset="-120"/>
              </a:rPr>
              <a:t>toma dos snapshots y calcula la diferencia.</a:t>
            </a:r>
            <a:endParaRPr lang="en-US" sz="1400" dirty="0"/>
          </a:p>
        </p:txBody>
      </p:sp>
      <p:sp>
        <p:nvSpPr>
          <p:cNvPr id="14" name="Shape 10"/>
          <p:cNvSpPr/>
          <p:nvPr/>
        </p:nvSpPr>
        <p:spPr>
          <a:xfrm>
            <a:off x="6245352" y="1600200"/>
            <a:ext cx="5394960" cy="2286000"/>
          </a:xfrm>
          <a:prstGeom prst="roundRect">
            <a:avLst>
              <a:gd name="adj" fmla="val 4000"/>
            </a:avLst>
          </a:prstGeom>
          <a:solidFill>
            <a:srgbClr val="ECEFF3"/>
          </a:solidFill>
          <a:ln w="9525">
            <a:solidFill>
              <a:srgbClr val="D0D7DE"/>
            </a:solidFill>
            <a:prstDash val="solid"/>
          </a:ln>
        </p:spPr>
      </p:sp>
      <p:sp>
        <p:nvSpPr>
          <p:cNvPr id="15" name="Text 11"/>
          <p:cNvSpPr/>
          <p:nvPr/>
        </p:nvSpPr>
        <p:spPr>
          <a:xfrm>
            <a:off x="6428232"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TAREAS EN ESPERA AHORA</a:t>
            </a:r>
            <a:endParaRPr lang="en-US" sz="1000" dirty="0"/>
          </a:p>
        </p:txBody>
      </p:sp>
      <p:sp>
        <p:nvSpPr>
          <p:cNvPr id="16" name="Text 12"/>
          <p:cNvSpPr/>
          <p:nvPr/>
        </p:nvSpPr>
        <p:spPr>
          <a:xfrm>
            <a:off x="6428232" y="1965960"/>
            <a:ext cx="5029200" cy="18288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wt.session_id, wt.wait_type,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wt.wait_duration_ms,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wt.blocking_session_id,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wt.resource_description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sys.dm_os_waiting_tasks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wt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wt.session_id &gt; </a:t>
            </a:r>
            <a:r>
              <a:rPr lang="en-US" sz="1200" dirty="0">
                <a:solidFill>
                  <a:srgbClr val="9A3412"/>
                </a:solidFill>
                <a:latin typeface="Consolas" pitchFamily="34" charset="0"/>
                <a:ea typeface="Consolas" pitchFamily="34" charset="-122"/>
                <a:cs typeface="Consolas" pitchFamily="34" charset="-120"/>
              </a:rPr>
              <a:t>50</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wt.wait_duration_ms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245352" y="4160520"/>
          <a:ext cx="5394960" cy="914400"/>
        </p:xfrm>
        <a:graphic>
          <a:graphicData uri="http://schemas.openxmlformats.org/drawingml/2006/table">
            <a:tbl>
              <a:tblPr/>
              <a:tblGrid>
                <a:gridCol w="2377440"/>
                <a:gridCol w="3017520"/>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Wait type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Suele indicar</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PAGEIOLATCH_*</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Lecturas de disco lentas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LCK_M_*</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Bloqueos entre sesiones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SOS_SCHEDULER_YIELD</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Presión de CPU</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WRITELOG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Latencia del disco de log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HA / DR</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RTO y RPO: tiempo y datos en juego</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54</a:t>
            </a:r>
            <a:endParaRPr lang="en-US" sz="1000" dirty="0"/>
          </a:p>
        </p:txBody>
      </p:sp>
      <p:sp>
        <p:nvSpPr>
          <p:cNvPr id="7" name="Shape 4"/>
          <p:cNvSpPr/>
          <p:nvPr/>
        </p:nvSpPr>
        <p:spPr>
          <a:xfrm>
            <a:off x="822960" y="2788920"/>
            <a:ext cx="10561320" cy="0"/>
          </a:xfrm>
          <a:prstGeom prst="line">
            <a:avLst/>
          </a:prstGeom>
          <a:noFill/>
          <a:ln w="25400">
            <a:solidFill>
              <a:srgbClr val="5C6B7A"/>
            </a:solidFill>
            <a:prstDash val="solid"/>
          </a:ln>
        </p:spPr>
      </p:sp>
      <p:sp>
        <p:nvSpPr>
          <p:cNvPr id="8" name="Shape 5"/>
          <p:cNvSpPr/>
          <p:nvPr/>
        </p:nvSpPr>
        <p:spPr>
          <a:xfrm>
            <a:off x="2194560" y="2194560"/>
            <a:ext cx="3749040" cy="0"/>
          </a:xfrm>
          <a:prstGeom prst="line">
            <a:avLst/>
          </a:prstGeom>
          <a:noFill/>
          <a:ln w="31750">
            <a:solidFill>
              <a:srgbClr val="D95D39"/>
            </a:solidFill>
            <a:prstDash val="solid"/>
            <a:headEnd type="triangle"/>
            <a:tailEnd type="triangle"/>
          </a:ln>
        </p:spPr>
      </p:sp>
      <p:sp>
        <p:nvSpPr>
          <p:cNvPr id="9" name="Shape 6"/>
          <p:cNvSpPr/>
          <p:nvPr/>
        </p:nvSpPr>
        <p:spPr>
          <a:xfrm>
            <a:off x="5943600" y="2194560"/>
            <a:ext cx="3749040" cy="0"/>
          </a:xfrm>
          <a:prstGeom prst="line">
            <a:avLst/>
          </a:prstGeom>
          <a:noFill/>
          <a:ln w="31750">
            <a:solidFill>
              <a:srgbClr val="134074"/>
            </a:solidFill>
            <a:prstDash val="solid"/>
            <a:headEnd type="triangle"/>
            <a:tailEnd type="triangle"/>
          </a:ln>
        </p:spPr>
      </p:sp>
      <p:sp>
        <p:nvSpPr>
          <p:cNvPr id="10" name="Text 7"/>
          <p:cNvSpPr/>
          <p:nvPr/>
        </p:nvSpPr>
        <p:spPr>
          <a:xfrm>
            <a:off x="2194560" y="1691640"/>
            <a:ext cx="3749040" cy="365760"/>
          </a:xfrm>
          <a:prstGeom prst="rect">
            <a:avLst/>
          </a:prstGeom>
          <a:noFill/>
          <a:ln/>
        </p:spPr>
        <p:txBody>
          <a:bodyPr wrap="square" lIns="0" tIns="0" rIns="0" bIns="0" rtlCol="0" anchor="ctr"/>
          <a:lstStyle/>
          <a:p>
            <a:pPr algn="ctr" indent="0" marL="0">
              <a:buNone/>
            </a:pPr>
            <a:r>
              <a:rPr lang="en-US" sz="1600" b="1" dirty="0">
                <a:solidFill>
                  <a:srgbClr val="D95D39"/>
                </a:solidFill>
                <a:latin typeface="Calibri" pitchFamily="34" charset="0"/>
                <a:ea typeface="Calibri" pitchFamily="34" charset="-122"/>
                <a:cs typeface="Calibri" pitchFamily="34" charset="-120"/>
              </a:rPr>
              <a:t>RPO: datos que puedes perder</a:t>
            </a:r>
            <a:endParaRPr lang="en-US" sz="1600" dirty="0"/>
          </a:p>
        </p:txBody>
      </p:sp>
      <p:sp>
        <p:nvSpPr>
          <p:cNvPr id="11" name="Text 8"/>
          <p:cNvSpPr/>
          <p:nvPr/>
        </p:nvSpPr>
        <p:spPr>
          <a:xfrm>
            <a:off x="5943600" y="1691640"/>
            <a:ext cx="3749040" cy="365760"/>
          </a:xfrm>
          <a:prstGeom prst="rect">
            <a:avLst/>
          </a:prstGeom>
          <a:noFill/>
          <a:ln/>
        </p:spPr>
        <p:txBody>
          <a:bodyPr wrap="square" lIns="0" tIns="0" rIns="0" bIns="0" rtlCol="0" anchor="ctr"/>
          <a:lstStyle/>
          <a:p>
            <a:pPr algn="ctr" indent="0" marL="0">
              <a:buNone/>
            </a:pPr>
            <a:r>
              <a:rPr lang="en-US" sz="1600" b="1" dirty="0">
                <a:solidFill>
                  <a:srgbClr val="134074"/>
                </a:solidFill>
                <a:latin typeface="Calibri" pitchFamily="34" charset="0"/>
                <a:ea typeface="Calibri" pitchFamily="34" charset="-122"/>
                <a:cs typeface="Calibri" pitchFamily="34" charset="-120"/>
              </a:rPr>
              <a:t>RTO: tiempo hasta restablecer</a:t>
            </a:r>
            <a:endParaRPr lang="en-US" sz="1600" dirty="0"/>
          </a:p>
        </p:txBody>
      </p:sp>
      <p:sp>
        <p:nvSpPr>
          <p:cNvPr id="12" name="Shape 9"/>
          <p:cNvSpPr/>
          <p:nvPr/>
        </p:nvSpPr>
        <p:spPr>
          <a:xfrm>
            <a:off x="2039112" y="2633472"/>
            <a:ext cx="310896" cy="310896"/>
          </a:xfrm>
          <a:prstGeom prst="ellipse">
            <a:avLst/>
          </a:prstGeom>
          <a:solidFill>
            <a:srgbClr val="134074"/>
          </a:solidFill>
          <a:ln/>
        </p:spPr>
      </p:sp>
      <p:sp>
        <p:nvSpPr>
          <p:cNvPr id="13" name="Text 10"/>
          <p:cNvSpPr/>
          <p:nvPr/>
        </p:nvSpPr>
        <p:spPr>
          <a:xfrm>
            <a:off x="731520" y="3063240"/>
            <a:ext cx="2926080" cy="640080"/>
          </a:xfrm>
          <a:prstGeom prst="rect">
            <a:avLst/>
          </a:prstGeom>
          <a:noFill/>
          <a:ln/>
        </p:spPr>
        <p:txBody>
          <a:bodyPr wrap="square" lIns="0" tIns="0" rIns="0" bIns="0" rtlCol="0" anchor="t"/>
          <a:lstStyle/>
          <a:p>
            <a:pPr algn="ctr" indent="0" marL="0">
              <a:buNone/>
            </a:pPr>
            <a:r>
              <a:rPr lang="en-US" sz="1400" dirty="0">
                <a:solidFill>
                  <a:srgbClr val="1F2933"/>
                </a:solidFill>
                <a:latin typeface="Calibri" pitchFamily="34" charset="0"/>
                <a:ea typeface="Calibri" pitchFamily="34" charset="-122"/>
                <a:cs typeface="Calibri" pitchFamily="34" charset="-120"/>
              </a:rPr>
              <a:t>Último punto recuperable</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(commit replicado o backup)</a:t>
            </a:r>
            <a:endParaRPr lang="en-US" sz="1400" dirty="0"/>
          </a:p>
        </p:txBody>
      </p:sp>
      <p:sp>
        <p:nvSpPr>
          <p:cNvPr id="14" name="Shape 11"/>
          <p:cNvSpPr/>
          <p:nvPr/>
        </p:nvSpPr>
        <p:spPr>
          <a:xfrm>
            <a:off x="5788152" y="2633472"/>
            <a:ext cx="310896" cy="310896"/>
          </a:xfrm>
          <a:prstGeom prst="ellipse">
            <a:avLst/>
          </a:prstGeom>
          <a:solidFill>
            <a:srgbClr val="D95D39"/>
          </a:solidFill>
          <a:ln/>
        </p:spPr>
      </p:sp>
      <p:sp>
        <p:nvSpPr>
          <p:cNvPr id="15" name="Text 12"/>
          <p:cNvSpPr/>
          <p:nvPr/>
        </p:nvSpPr>
        <p:spPr>
          <a:xfrm>
            <a:off x="4480560" y="3063240"/>
            <a:ext cx="2926080" cy="640080"/>
          </a:xfrm>
          <a:prstGeom prst="rect">
            <a:avLst/>
          </a:prstGeom>
          <a:noFill/>
          <a:ln/>
        </p:spPr>
        <p:txBody>
          <a:bodyPr wrap="square" lIns="0" tIns="0" rIns="0" bIns="0" rtlCol="0" anchor="t"/>
          <a:lstStyle/>
          <a:p>
            <a:pPr algn="ctr" indent="0" marL="0">
              <a:buNone/>
            </a:pPr>
            <a:r>
              <a:rPr lang="en-US" sz="1400" dirty="0">
                <a:solidFill>
                  <a:srgbClr val="1F2933"/>
                </a:solidFill>
                <a:latin typeface="Calibri" pitchFamily="34" charset="0"/>
                <a:ea typeface="Calibri" pitchFamily="34" charset="-122"/>
                <a:cs typeface="Calibri" pitchFamily="34" charset="-120"/>
              </a:rPr>
              <a:t>Fallo</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(caída de nodo o sitio)</a:t>
            </a:r>
            <a:endParaRPr lang="en-US" sz="1400" dirty="0"/>
          </a:p>
        </p:txBody>
      </p:sp>
      <p:sp>
        <p:nvSpPr>
          <p:cNvPr id="16" name="Shape 13"/>
          <p:cNvSpPr/>
          <p:nvPr/>
        </p:nvSpPr>
        <p:spPr>
          <a:xfrm>
            <a:off x="9537192" y="2633472"/>
            <a:ext cx="310896" cy="310896"/>
          </a:xfrm>
          <a:prstGeom prst="ellipse">
            <a:avLst/>
          </a:prstGeom>
          <a:solidFill>
            <a:srgbClr val="134074"/>
          </a:solidFill>
          <a:ln/>
        </p:spPr>
      </p:sp>
      <p:sp>
        <p:nvSpPr>
          <p:cNvPr id="17" name="Text 14"/>
          <p:cNvSpPr/>
          <p:nvPr/>
        </p:nvSpPr>
        <p:spPr>
          <a:xfrm>
            <a:off x="8229600" y="3063240"/>
            <a:ext cx="2926080" cy="640080"/>
          </a:xfrm>
          <a:prstGeom prst="rect">
            <a:avLst/>
          </a:prstGeom>
          <a:noFill/>
          <a:ln/>
        </p:spPr>
        <p:txBody>
          <a:bodyPr wrap="square" lIns="0" tIns="0" rIns="0" bIns="0" rtlCol="0" anchor="t"/>
          <a:lstStyle/>
          <a:p>
            <a:pPr algn="ctr" indent="0" marL="0">
              <a:buNone/>
            </a:pPr>
            <a:r>
              <a:rPr lang="en-US" sz="1400" dirty="0">
                <a:solidFill>
                  <a:srgbClr val="1F2933"/>
                </a:solidFill>
                <a:latin typeface="Calibri" pitchFamily="34" charset="0"/>
                <a:ea typeface="Calibri" pitchFamily="34" charset="-122"/>
                <a:cs typeface="Calibri" pitchFamily="34" charset="-120"/>
              </a:rPr>
              <a:t>Servicio restablecido</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(aplicación operativa)</a:t>
            </a:r>
            <a:endParaRPr lang="en-US" sz="1400" dirty="0"/>
          </a:p>
        </p:txBody>
      </p:sp>
      <p:sp>
        <p:nvSpPr>
          <p:cNvPr id="18" name="Shape 15"/>
          <p:cNvSpPr/>
          <p:nvPr/>
        </p:nvSpPr>
        <p:spPr>
          <a:xfrm>
            <a:off x="548640" y="3977640"/>
            <a:ext cx="3511296" cy="2194560"/>
          </a:xfrm>
          <a:prstGeom prst="roundRect">
            <a:avLst>
              <a:gd name="adj" fmla="val 5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9" name="Text 16"/>
          <p:cNvSpPr/>
          <p:nvPr/>
        </p:nvSpPr>
        <p:spPr>
          <a:xfrm>
            <a:off x="731520" y="4114800"/>
            <a:ext cx="3145536" cy="1097280"/>
          </a:xfrm>
          <a:prstGeom prst="rect">
            <a:avLst/>
          </a:prstGeom>
          <a:noFill/>
          <a:ln/>
        </p:spPr>
        <p:txBody>
          <a:bodyPr wrap="square" lIns="0" tIns="0" rIns="0" bIns="0" rtlCol="0" anchor="ctr"/>
          <a:lstStyle/>
          <a:p>
            <a:pPr algn="ctr" indent="0" marL="0">
              <a:buNone/>
            </a:pPr>
            <a:r>
              <a:rPr lang="en-US" sz="3600" b="1" dirty="0">
                <a:solidFill>
                  <a:srgbClr val="D95D39"/>
                </a:solidFill>
                <a:latin typeface="Calibri" pitchFamily="34" charset="0"/>
                <a:ea typeface="Calibri" pitchFamily="34" charset="-122"/>
                <a:cs typeface="Calibri" pitchFamily="34" charset="-120"/>
              </a:rPr>
              <a:t>RPO ≈ 0</a:t>
            </a:r>
            <a:endParaRPr lang="en-US" sz="3600" dirty="0"/>
          </a:p>
        </p:txBody>
      </p:sp>
      <p:sp>
        <p:nvSpPr>
          <p:cNvPr id="20" name="Text 17"/>
          <p:cNvSpPr/>
          <p:nvPr/>
        </p:nvSpPr>
        <p:spPr>
          <a:xfrm>
            <a:off x="731520" y="5184648"/>
            <a:ext cx="3145536" cy="877824"/>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FCI o AG síncrono: ningún commit confirmado se pierde</a:t>
            </a:r>
            <a:endParaRPr lang="en-US" sz="1300" dirty="0"/>
          </a:p>
        </p:txBody>
      </p:sp>
      <p:sp>
        <p:nvSpPr>
          <p:cNvPr id="21" name="Shape 18"/>
          <p:cNvSpPr/>
          <p:nvPr/>
        </p:nvSpPr>
        <p:spPr>
          <a:xfrm>
            <a:off x="4338828" y="3977640"/>
            <a:ext cx="3511296" cy="2194560"/>
          </a:xfrm>
          <a:prstGeom prst="roundRect">
            <a:avLst>
              <a:gd name="adj" fmla="val 5000"/>
            </a:avLst>
          </a:prstGeom>
          <a:solidFill>
            <a:srgbClr val="0B2545"/>
          </a:solidFill>
          <a:ln/>
        </p:spPr>
      </p:sp>
      <p:sp>
        <p:nvSpPr>
          <p:cNvPr id="22" name="Text 19"/>
          <p:cNvSpPr/>
          <p:nvPr/>
        </p:nvSpPr>
        <p:spPr>
          <a:xfrm>
            <a:off x="4521708" y="4114800"/>
            <a:ext cx="3145536"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RTO: segundos</a:t>
            </a:r>
            <a:endParaRPr lang="en-US" sz="3600" dirty="0"/>
          </a:p>
        </p:txBody>
      </p:sp>
      <p:sp>
        <p:nvSpPr>
          <p:cNvPr id="23" name="Text 20"/>
          <p:cNvSpPr/>
          <p:nvPr/>
        </p:nvSpPr>
        <p:spPr>
          <a:xfrm>
            <a:off x="4521708" y="5184648"/>
            <a:ext cx="3145536" cy="877824"/>
          </a:xfrm>
          <a:prstGeom prst="rect">
            <a:avLst/>
          </a:prstGeom>
          <a:noFill/>
          <a:ln/>
        </p:spPr>
        <p:txBody>
          <a:bodyPr wrap="square" lIns="0" tIns="0" rIns="0" bIns="0" rtlCol="0" anchor="t"/>
          <a:lstStyle/>
          <a:p>
            <a:pPr algn="ctr" indent="0" marL="0">
              <a:buNone/>
            </a:pPr>
            <a:r>
              <a:rPr lang="en-US" sz="1300" dirty="0">
                <a:solidFill>
                  <a:srgbClr val="DCE6F2"/>
                </a:solidFill>
                <a:latin typeface="Calibri" pitchFamily="34" charset="0"/>
                <a:ea typeface="Calibri" pitchFamily="34" charset="-122"/>
                <a:cs typeface="Calibri" pitchFamily="34" charset="-120"/>
              </a:rPr>
              <a:t>Failover automático con FCI o AG síncrono y listener</a:t>
            </a:r>
            <a:endParaRPr lang="en-US" sz="1300" dirty="0"/>
          </a:p>
        </p:txBody>
      </p:sp>
      <p:sp>
        <p:nvSpPr>
          <p:cNvPr id="24" name="Shape 21"/>
          <p:cNvSpPr/>
          <p:nvPr/>
        </p:nvSpPr>
        <p:spPr>
          <a:xfrm>
            <a:off x="8129016" y="3977640"/>
            <a:ext cx="3511296" cy="2194560"/>
          </a:xfrm>
          <a:prstGeom prst="roundRect">
            <a:avLst>
              <a:gd name="adj" fmla="val 5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5" name="Text 22"/>
          <p:cNvSpPr/>
          <p:nvPr/>
        </p:nvSpPr>
        <p:spPr>
          <a:xfrm>
            <a:off x="8311896" y="4114800"/>
            <a:ext cx="3145536" cy="1097280"/>
          </a:xfrm>
          <a:prstGeom prst="rect">
            <a:avLst/>
          </a:prstGeom>
          <a:noFill/>
          <a:ln/>
        </p:spPr>
        <p:txBody>
          <a:bodyPr wrap="square" lIns="0" tIns="0" rIns="0" bIns="0" rtlCol="0" anchor="ctr"/>
          <a:lstStyle/>
          <a:p>
            <a:pPr algn="ctr" indent="0" marL="0">
              <a:buNone/>
            </a:pPr>
            <a:r>
              <a:rPr lang="en-US" sz="3600" b="1" dirty="0">
                <a:solidFill>
                  <a:srgbClr val="D95D39"/>
                </a:solidFill>
                <a:latin typeface="Calibri" pitchFamily="34" charset="0"/>
                <a:ea typeface="Calibri" pitchFamily="34" charset="-122"/>
                <a:cs typeface="Calibri" pitchFamily="34" charset="-120"/>
              </a:rPr>
              <a:t>RPO: minutos</a:t>
            </a:r>
            <a:endParaRPr lang="en-US" sz="3600" dirty="0"/>
          </a:p>
        </p:txBody>
      </p:sp>
      <p:sp>
        <p:nvSpPr>
          <p:cNvPr id="26" name="Text 23"/>
          <p:cNvSpPr/>
          <p:nvPr/>
        </p:nvSpPr>
        <p:spPr>
          <a:xfrm>
            <a:off x="8311896" y="5184648"/>
            <a:ext cx="3145536" cy="877824"/>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Log Shipping: pérdida = intervalo de backup del log</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HA / DR</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Comparativa de tecnologías HA/DR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55</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713348"/>
                <a:gridCol w="1893700"/>
                <a:gridCol w="2164229"/>
                <a:gridCol w="2615110"/>
                <a:gridCol w="2705286"/>
              </a:tblGrid>
              <a:tr h="3962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Tecnología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Alcance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Failover</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Pérdida de datos (RPO)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Punto clave</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60960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Log Shipping</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Base de datos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Manual</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Minutos (intervalo de log backup)</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Simple y barato; secundaria STANDBY</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0960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Replicación</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Tablas / artículos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Manual (no es HA)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Variable (latencia de los agentes)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Distribuye datos; no es DR completo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60960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FCI</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Instancia completa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Automático (WSFC)</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 0 (almacenamiento compartido)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Requiere SAN; el disco es punto único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0960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Always On AG</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Grupo de bases de datos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Automático (síncrona) o manual</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 0 síncrona · &gt; 0 asíncrona</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Sin disco compartido; réplicas legibles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
        <p:nvSpPr>
          <p:cNvPr id="8" name="Shape 4"/>
          <p:cNvSpPr/>
          <p:nvPr/>
        </p:nvSpPr>
        <p:spPr>
          <a:xfrm>
            <a:off x="548640" y="5257800"/>
            <a:ext cx="11091672" cy="914400"/>
          </a:xfrm>
          <a:prstGeom prst="roundRect">
            <a:avLst>
              <a:gd name="adj" fmla="val 12000"/>
            </a:avLst>
          </a:prstGeom>
          <a:solidFill>
            <a:srgbClr val="E8EEF5"/>
          </a:solidFill>
          <a:ln/>
        </p:spPr>
      </p:sp>
      <p:sp>
        <p:nvSpPr>
          <p:cNvPr id="9" name="Shape 5"/>
          <p:cNvSpPr/>
          <p:nvPr/>
        </p:nvSpPr>
        <p:spPr>
          <a:xfrm>
            <a:off x="731520" y="5486400"/>
            <a:ext cx="457200" cy="457200"/>
          </a:xfrm>
          <a:prstGeom prst="ellipse">
            <a:avLst/>
          </a:prstGeom>
          <a:solidFill>
            <a:srgbClr val="134074"/>
          </a:solidFill>
          <a:ln/>
        </p:spPr>
      </p:sp>
      <p:pic>
        <p:nvPicPr>
          <p:cNvPr id="10" name="Image 0" descr="preencoded.png">    </p:cNvPr>
          <p:cNvPicPr>
            <a:picLocks noChangeAspect="1"/>
          </p:cNvPicPr>
          <p:nvPr/>
        </p:nvPicPr>
        <p:blipFill>
          <a:blip r:embed="rId1"/>
          <a:stretch>
            <a:fillRect/>
          </a:stretch>
        </p:blipFill>
        <p:spPr>
          <a:xfrm>
            <a:off x="845820" y="5600700"/>
            <a:ext cx="228600" cy="228600"/>
          </a:xfrm>
          <a:prstGeom prst="rect">
            <a:avLst/>
          </a:prstGeom>
        </p:spPr>
      </p:pic>
      <p:sp>
        <p:nvSpPr>
          <p:cNvPr id="11" name="Text 6"/>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Elige por RTO/RPO, edición y presupuesto: </a:t>
            </a:r>
            <a:r>
              <a:rPr lang="en-US" sz="1400" dirty="0">
                <a:solidFill>
                  <a:srgbClr val="1F2933"/>
                </a:solidFill>
                <a:latin typeface="Calibri" pitchFamily="34" charset="0"/>
                <a:ea typeface="Calibri" pitchFamily="34" charset="-122"/>
                <a:cs typeface="Calibri" pitchFamily="34" charset="-120"/>
              </a:rPr>
              <a:t>Standard ofrece Basic AG, FCI de 2 nodos y Log Shipping; Enterprise añade AG completos.</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HA / DR</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Always On AG: topología y quorum</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56</a:t>
            </a:r>
            <a:endParaRPr lang="en-US" sz="1000" dirty="0"/>
          </a:p>
        </p:txBody>
      </p:sp>
      <p:sp>
        <p:nvSpPr>
          <p:cNvPr id="7" name="Text 4"/>
          <p:cNvSpPr/>
          <p:nvPr/>
        </p:nvSpPr>
        <p:spPr>
          <a:xfrm>
            <a:off x="2834640" y="1600200"/>
            <a:ext cx="2377440" cy="411480"/>
          </a:xfrm>
          <a:prstGeom prst="roundRect">
            <a:avLst>
              <a:gd name="adj" fmla="val 17778"/>
            </a:avLst>
          </a:prstGeom>
          <a:solidFill>
            <a:srgbClr val="E8EEF5"/>
          </a:solidFill>
          <a:ln w="12700">
            <a:solidFill>
              <a:srgbClr val="D0D7DE"/>
            </a:solidFill>
          </a:ln>
        </p:spPr>
        <p:txBody>
          <a:bodyPr wrap="square" lIns="508" tIns="1016" rIns="1016" bIns="508"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Aplicaciones cliente</a:t>
            </a:r>
            <a:endParaRPr lang="en-US" sz="1400" dirty="0"/>
          </a:p>
        </p:txBody>
      </p:sp>
      <p:sp>
        <p:nvSpPr>
          <p:cNvPr id="8" name="Shape 5"/>
          <p:cNvSpPr/>
          <p:nvPr/>
        </p:nvSpPr>
        <p:spPr>
          <a:xfrm>
            <a:off x="4023360" y="2011680"/>
            <a:ext cx="0" cy="320040"/>
          </a:xfrm>
          <a:prstGeom prst="line">
            <a:avLst/>
          </a:prstGeom>
          <a:noFill/>
          <a:ln w="22225">
            <a:solidFill>
              <a:srgbClr val="5C6B7A"/>
            </a:solidFill>
            <a:prstDash val="solid"/>
            <a:tailEnd type="triangle"/>
          </a:ln>
        </p:spPr>
      </p:sp>
      <p:sp>
        <p:nvSpPr>
          <p:cNvPr id="9" name="Text 6"/>
          <p:cNvSpPr/>
          <p:nvPr/>
        </p:nvSpPr>
        <p:spPr>
          <a:xfrm>
            <a:off x="2606040" y="2331720"/>
            <a:ext cx="2834640" cy="457200"/>
          </a:xfrm>
          <a:prstGeom prst="roundRect">
            <a:avLst>
              <a:gd name="adj" fmla="val 16000"/>
            </a:avLst>
          </a:prstGeom>
          <a:solidFill>
            <a:srgbClr val="0B2545"/>
          </a:solidFill>
          <a:ln/>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Listener (nombre virtual + IP)</a:t>
            </a:r>
            <a:endParaRPr lang="en-US" sz="1400" dirty="0"/>
          </a:p>
        </p:txBody>
      </p:sp>
      <p:sp>
        <p:nvSpPr>
          <p:cNvPr id="10" name="Shape 7"/>
          <p:cNvSpPr/>
          <p:nvPr/>
        </p:nvSpPr>
        <p:spPr>
          <a:xfrm>
            <a:off x="4023360" y="2788920"/>
            <a:ext cx="0" cy="411480"/>
          </a:xfrm>
          <a:prstGeom prst="line">
            <a:avLst/>
          </a:prstGeom>
          <a:noFill/>
          <a:ln w="22225">
            <a:solidFill>
              <a:srgbClr val="5C6B7A"/>
            </a:solidFill>
            <a:prstDash val="solid"/>
            <a:tailEnd type="triangle"/>
          </a:ln>
        </p:spPr>
      </p:sp>
      <p:sp>
        <p:nvSpPr>
          <p:cNvPr id="11" name="Text 8"/>
          <p:cNvSpPr/>
          <p:nvPr/>
        </p:nvSpPr>
        <p:spPr>
          <a:xfrm>
            <a:off x="548640" y="3200400"/>
            <a:ext cx="2011680" cy="1097280"/>
          </a:xfrm>
          <a:prstGeom prst="roundRect">
            <a:avLst>
              <a:gd name="adj" fmla="val 6667"/>
            </a:avLst>
          </a:prstGeom>
          <a:solidFill>
            <a:srgbClr val="134074"/>
          </a:solidFill>
          <a:ln/>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Secundaria síncrona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SQLNODE2 · legible</a:t>
            </a:r>
            <a:endParaRPr lang="en-US" sz="1400" dirty="0"/>
          </a:p>
        </p:txBody>
      </p:sp>
      <p:sp>
        <p:nvSpPr>
          <p:cNvPr id="12" name="Text 9"/>
          <p:cNvSpPr/>
          <p:nvPr/>
        </p:nvSpPr>
        <p:spPr>
          <a:xfrm>
            <a:off x="3017520" y="3200400"/>
            <a:ext cx="2011680" cy="1097280"/>
          </a:xfrm>
          <a:prstGeom prst="roundRect">
            <a:avLst>
              <a:gd name="adj" fmla="val 6667"/>
            </a:avLst>
          </a:prstGeom>
          <a:solidFill>
            <a:srgbClr val="D95D39"/>
          </a:solidFill>
          <a:ln/>
        </p:spPr>
        <p:txBody>
          <a:bodyPr wrap="square" lIns="508" tIns="1016" rIns="1016" bIns="50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Réplica primaria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SQLNODE1 · R/W</a:t>
            </a:r>
            <a:endParaRPr lang="en-US" sz="1400" dirty="0"/>
          </a:p>
        </p:txBody>
      </p:sp>
      <p:sp>
        <p:nvSpPr>
          <p:cNvPr id="13" name="Text 10"/>
          <p:cNvSpPr/>
          <p:nvPr/>
        </p:nvSpPr>
        <p:spPr>
          <a:xfrm>
            <a:off x="5486400" y="3200400"/>
            <a:ext cx="2011680" cy="1097280"/>
          </a:xfrm>
          <a:prstGeom prst="roundRect">
            <a:avLst>
              <a:gd name="adj" fmla="val 6667"/>
            </a:avLst>
          </a:prstGeom>
          <a:solidFill>
            <a:srgbClr val="8DA9C4"/>
          </a:solidFill>
          <a:ln/>
        </p:spPr>
        <p:txBody>
          <a:bodyPr wrap="square" lIns="508" tIns="1016" rIns="1016" bIns="508"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Secundaria asíncrona</a:t>
            </a:r>
            <a:endParaRPr lang="en-US" sz="1400" dirty="0"/>
          </a:p>
          <a:p>
            <a:pPr algn="ctr" indent="0" marL="0">
              <a:buNone/>
            </a:pPr>
            <a:r>
              <a:rPr lang="en-US" sz="1400" b="1" dirty="0">
                <a:solidFill>
                  <a:srgbClr val="0B2545"/>
                </a:solidFill>
                <a:latin typeface="Calibri" pitchFamily="34" charset="0"/>
                <a:ea typeface="Calibri" pitchFamily="34" charset="-122"/>
                <a:cs typeface="Calibri" pitchFamily="34" charset="-120"/>
              </a:rPr>
              <a:t>SQLNODE3 · DR</a:t>
            </a:r>
            <a:endParaRPr lang="en-US" sz="1400" dirty="0"/>
          </a:p>
        </p:txBody>
      </p:sp>
      <p:sp>
        <p:nvSpPr>
          <p:cNvPr id="14" name="Shape 11"/>
          <p:cNvSpPr/>
          <p:nvPr/>
        </p:nvSpPr>
        <p:spPr>
          <a:xfrm flipH="1">
            <a:off x="2560320" y="3749040"/>
            <a:ext cx="457200" cy="0"/>
          </a:xfrm>
          <a:prstGeom prst="line">
            <a:avLst/>
          </a:prstGeom>
          <a:noFill/>
          <a:ln w="31750">
            <a:solidFill>
              <a:srgbClr val="0B2545"/>
            </a:solidFill>
            <a:prstDash val="solid"/>
            <a:tailEnd type="triangle"/>
          </a:ln>
        </p:spPr>
      </p:sp>
      <p:sp>
        <p:nvSpPr>
          <p:cNvPr id="15" name="Shape 12"/>
          <p:cNvSpPr/>
          <p:nvPr/>
        </p:nvSpPr>
        <p:spPr>
          <a:xfrm>
            <a:off x="5029200" y="3749040"/>
            <a:ext cx="457200" cy="0"/>
          </a:xfrm>
          <a:prstGeom prst="line">
            <a:avLst/>
          </a:prstGeom>
          <a:noFill/>
          <a:ln w="31750">
            <a:solidFill>
              <a:srgbClr val="0B2545"/>
            </a:solidFill>
            <a:prstDash val="dash"/>
            <a:tailEnd type="triangle"/>
          </a:ln>
        </p:spPr>
      </p:sp>
      <p:sp>
        <p:nvSpPr>
          <p:cNvPr id="16" name="Text 13"/>
          <p:cNvSpPr/>
          <p:nvPr/>
        </p:nvSpPr>
        <p:spPr>
          <a:xfrm>
            <a:off x="548640" y="4434840"/>
            <a:ext cx="201168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Síncrona · RPO = 0</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Failover automático</a:t>
            </a:r>
            <a:endParaRPr lang="en-US" sz="1300" dirty="0"/>
          </a:p>
        </p:txBody>
      </p:sp>
      <p:sp>
        <p:nvSpPr>
          <p:cNvPr id="17" name="Text 14"/>
          <p:cNvSpPr/>
          <p:nvPr/>
        </p:nvSpPr>
        <p:spPr>
          <a:xfrm>
            <a:off x="3017520" y="4434840"/>
            <a:ext cx="2011680" cy="5486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Envía el log de</a:t>
            </a:r>
            <a:endParaRPr lang="en-US" sz="1300" dirty="0"/>
          </a:p>
          <a:p>
            <a:pPr algn="ctr" indent="0" marL="0">
              <a:buNone/>
            </a:pPr>
            <a:r>
              <a:rPr lang="en-US" sz="1300" dirty="0">
                <a:solidFill>
                  <a:srgbClr val="5C6B7A"/>
                </a:solidFill>
                <a:latin typeface="Calibri" pitchFamily="34" charset="0"/>
                <a:ea typeface="Calibri" pitchFamily="34" charset="-122"/>
                <a:cs typeface="Calibri" pitchFamily="34" charset="-120"/>
              </a:rPr>
              <a:t>transacciones</a:t>
            </a:r>
            <a:endParaRPr lang="en-US" sz="1300" dirty="0"/>
          </a:p>
        </p:txBody>
      </p:sp>
      <p:sp>
        <p:nvSpPr>
          <p:cNvPr id="18" name="Text 15"/>
          <p:cNvSpPr/>
          <p:nvPr/>
        </p:nvSpPr>
        <p:spPr>
          <a:xfrm>
            <a:off x="5486400" y="4434840"/>
            <a:ext cx="201168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Asíncrona · RPO &gt; 0</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Failover manual</a:t>
            </a:r>
            <a:endParaRPr lang="en-US" sz="1300" dirty="0"/>
          </a:p>
        </p:txBody>
      </p:sp>
      <p:sp>
        <p:nvSpPr>
          <p:cNvPr id="19" name="Text 16"/>
          <p:cNvSpPr/>
          <p:nvPr/>
        </p:nvSpPr>
        <p:spPr>
          <a:xfrm>
            <a:off x="548640" y="5257800"/>
            <a:ext cx="6949440" cy="914400"/>
          </a:xfrm>
          <a:prstGeom prst="roundRect">
            <a:avLst>
              <a:gd name="adj" fmla="val 8000"/>
            </a:avLst>
          </a:prstGeom>
          <a:solidFill>
            <a:srgbClr val="E8EEF5"/>
          </a:solidFill>
          <a:ln w="12700">
            <a:solidFill>
              <a:srgbClr val="D0D7DE"/>
            </a:solidFill>
          </a:ln>
        </p:spPr>
        <p:txBody>
          <a:bodyPr wrap="square" lIns="508" tIns="1016" rIns="1016" bIns="508"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Windows Server Failover Cluster (WSFC)</a:t>
            </a:r>
            <a:endParaRPr lang="en-US" sz="1400" dirty="0"/>
          </a:p>
          <a:p>
            <a:pPr algn="ctr" indent="0" marL="0">
              <a:buNone/>
            </a:pPr>
            <a:r>
              <a:rPr lang="en-US" sz="1400" b="1" dirty="0">
                <a:solidFill>
                  <a:srgbClr val="0B2545"/>
                </a:solidFill>
                <a:latin typeface="Calibri" pitchFamily="34" charset="0"/>
                <a:ea typeface="Calibri" pitchFamily="34" charset="-122"/>
                <a:cs typeface="Calibri" pitchFamily="34" charset="-120"/>
              </a:rPr>
              <a:t>Quorum: voto por nodo + Witness (File Share / Cloud / Disk)</a:t>
            </a:r>
            <a:endParaRPr lang="en-US" sz="1400" dirty="0"/>
          </a:p>
        </p:txBody>
      </p:sp>
      <p:sp>
        <p:nvSpPr>
          <p:cNvPr id="20" name="Shape 17"/>
          <p:cNvSpPr/>
          <p:nvPr/>
        </p:nvSpPr>
        <p:spPr>
          <a:xfrm>
            <a:off x="7818120" y="1600200"/>
            <a:ext cx="3822192"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1" name="Text 18"/>
          <p:cNvSpPr/>
          <p:nvPr/>
        </p:nvSpPr>
        <p:spPr>
          <a:xfrm>
            <a:off x="8046720" y="1828800"/>
            <a:ext cx="3364992" cy="24384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Basic AG (Standard)</a:t>
            </a:r>
            <a:endParaRPr lang="en-US" sz="1600" dirty="0"/>
          </a:p>
        </p:txBody>
      </p:sp>
      <p:sp>
        <p:nvSpPr>
          <p:cNvPr id="22" name="Text 19"/>
          <p:cNvSpPr/>
          <p:nvPr/>
        </p:nvSpPr>
        <p:spPr>
          <a:xfrm>
            <a:off x="8046720" y="2182368"/>
            <a:ext cx="3364992" cy="560832"/>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2 réplicas, 1 BD por AG, sin lectura en la secundaria.</a:t>
            </a:r>
            <a:endParaRPr lang="en-US" sz="1400" dirty="0"/>
          </a:p>
        </p:txBody>
      </p:sp>
      <p:sp>
        <p:nvSpPr>
          <p:cNvPr id="23" name="Shape 20"/>
          <p:cNvSpPr/>
          <p:nvPr/>
        </p:nvSpPr>
        <p:spPr>
          <a:xfrm>
            <a:off x="7818120" y="3200400"/>
            <a:ext cx="3822192"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4" name="Text 21"/>
          <p:cNvSpPr/>
          <p:nvPr/>
        </p:nvSpPr>
        <p:spPr>
          <a:xfrm>
            <a:off x="8046720" y="3429000"/>
            <a:ext cx="3364992" cy="24384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Distributed AG</a:t>
            </a:r>
            <a:endParaRPr lang="en-US" sz="1600" dirty="0"/>
          </a:p>
        </p:txBody>
      </p:sp>
      <p:sp>
        <p:nvSpPr>
          <p:cNvPr id="25" name="Text 22"/>
          <p:cNvSpPr/>
          <p:nvPr/>
        </p:nvSpPr>
        <p:spPr>
          <a:xfrm>
            <a:off x="8046720" y="3782568"/>
            <a:ext cx="3364992" cy="560832"/>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Une dos AG en clústeres distintos: DR entre sitios y migraciones.</a:t>
            </a:r>
            <a:endParaRPr lang="en-US" sz="1400" dirty="0"/>
          </a:p>
        </p:txBody>
      </p:sp>
      <p:sp>
        <p:nvSpPr>
          <p:cNvPr id="26" name="Shape 23"/>
          <p:cNvSpPr/>
          <p:nvPr/>
        </p:nvSpPr>
        <p:spPr>
          <a:xfrm>
            <a:off x="7818120" y="4800600"/>
            <a:ext cx="3822192"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7" name="Text 24"/>
          <p:cNvSpPr/>
          <p:nvPr/>
        </p:nvSpPr>
        <p:spPr>
          <a:xfrm>
            <a:off x="8046720" y="5029200"/>
            <a:ext cx="3364992" cy="24384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Quorum y Testigo</a:t>
            </a:r>
            <a:endParaRPr lang="en-US" sz="1600" dirty="0"/>
          </a:p>
        </p:txBody>
      </p:sp>
      <p:sp>
        <p:nvSpPr>
          <p:cNvPr id="28" name="Text 25"/>
          <p:cNvSpPr/>
          <p:nvPr/>
        </p:nvSpPr>
        <p:spPr>
          <a:xfrm>
            <a:off x="8046720" y="5382768"/>
            <a:ext cx="3364992" cy="560832"/>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Mayoría de votos contra split-brain; testigo en nodos pares.</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976372"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LABORATORIO 3.1</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 3.1 · Índices y medición de lecturas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57</a:t>
            </a:r>
            <a:endParaRPr lang="en-US" sz="1000" dirty="0"/>
          </a:p>
        </p:txBody>
      </p:sp>
      <p:sp>
        <p:nvSpPr>
          <p:cNvPr id="7" name="Shape 4"/>
          <p:cNvSpPr/>
          <p:nvPr/>
        </p:nvSpPr>
        <p:spPr>
          <a:xfrm>
            <a:off x="548640" y="1600200"/>
            <a:ext cx="2532888" cy="2377440"/>
          </a:xfrm>
          <a:prstGeom prst="roundRect">
            <a:avLst>
              <a:gd name="adj" fmla="val 4615"/>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Preparar datos</a:t>
            </a:r>
            <a:endParaRPr lang="en-US" sz="1600" dirty="0"/>
          </a:p>
        </p:txBody>
      </p:sp>
      <p:sp>
        <p:nvSpPr>
          <p:cNvPr id="11" name="Text 8"/>
          <p:cNvSpPr/>
          <p:nvPr/>
        </p:nvSpPr>
        <p:spPr>
          <a:xfrm>
            <a:off x="777240" y="3154680"/>
            <a:ext cx="2075688"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Genera 500 000 pedidos en la base de datos Ventas.</a:t>
            </a:r>
            <a:endParaRPr lang="en-US" sz="1400" dirty="0"/>
          </a:p>
        </p:txBody>
      </p:sp>
      <p:sp>
        <p:nvSpPr>
          <p:cNvPr id="12" name="Shape 9"/>
          <p:cNvSpPr/>
          <p:nvPr/>
        </p:nvSpPr>
        <p:spPr>
          <a:xfrm>
            <a:off x="3118104" y="1947672"/>
            <a:ext cx="246888" cy="274320"/>
          </a:xfrm>
          <a:prstGeom prst="rightArrow">
            <a:avLst/>
          </a:prstGeom>
          <a:solidFill>
            <a:srgbClr val="D95D39"/>
          </a:solidFill>
          <a:ln/>
        </p:spPr>
      </p:sp>
      <p:sp>
        <p:nvSpPr>
          <p:cNvPr id="13" name="Shape 10"/>
          <p:cNvSpPr/>
          <p:nvPr/>
        </p:nvSpPr>
        <p:spPr>
          <a:xfrm>
            <a:off x="3401568" y="1600200"/>
            <a:ext cx="2532888" cy="2377440"/>
          </a:xfrm>
          <a:prstGeom prst="roundRect">
            <a:avLst>
              <a:gd name="adj" fmla="val 4615"/>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3630168" y="1828800"/>
            <a:ext cx="502920" cy="502920"/>
          </a:xfrm>
          <a:prstGeom prst="ellipse">
            <a:avLst/>
          </a:prstGeom>
          <a:solidFill>
            <a:srgbClr val="134074"/>
          </a:solidFill>
          <a:ln/>
        </p:spPr>
      </p:sp>
      <p:sp>
        <p:nvSpPr>
          <p:cNvPr id="15" name="Text 12"/>
          <p:cNvSpPr/>
          <p:nvPr/>
        </p:nvSpPr>
        <p:spPr>
          <a:xfrm>
            <a:off x="36301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3630168"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Línea base</a:t>
            </a:r>
            <a:endParaRPr lang="en-US" sz="1600" dirty="0"/>
          </a:p>
        </p:txBody>
      </p:sp>
      <p:sp>
        <p:nvSpPr>
          <p:cNvPr id="17" name="Text 14"/>
          <p:cNvSpPr/>
          <p:nvPr/>
        </p:nvSpPr>
        <p:spPr>
          <a:xfrm>
            <a:off x="3630168" y="3154680"/>
            <a:ext cx="2075688"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Activa STATISTICS IO y plan real (Ctrl+M); anota las lecturas.</a:t>
            </a:r>
            <a:endParaRPr lang="en-US" sz="1400" dirty="0"/>
          </a:p>
        </p:txBody>
      </p:sp>
      <p:sp>
        <p:nvSpPr>
          <p:cNvPr id="18" name="Shape 15"/>
          <p:cNvSpPr/>
          <p:nvPr/>
        </p:nvSpPr>
        <p:spPr>
          <a:xfrm>
            <a:off x="5971032" y="1947672"/>
            <a:ext cx="246888" cy="274320"/>
          </a:xfrm>
          <a:prstGeom prst="rightArrow">
            <a:avLst/>
          </a:prstGeom>
          <a:solidFill>
            <a:srgbClr val="D95D39"/>
          </a:solidFill>
          <a:ln/>
        </p:spPr>
      </p:sp>
      <p:sp>
        <p:nvSpPr>
          <p:cNvPr id="19" name="Shape 16"/>
          <p:cNvSpPr/>
          <p:nvPr/>
        </p:nvSpPr>
        <p:spPr>
          <a:xfrm>
            <a:off x="6254496" y="1600200"/>
            <a:ext cx="2532888" cy="2377440"/>
          </a:xfrm>
          <a:prstGeom prst="roundRect">
            <a:avLst>
              <a:gd name="adj" fmla="val 4615"/>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6483096" y="1828800"/>
            <a:ext cx="502920" cy="502920"/>
          </a:xfrm>
          <a:prstGeom prst="ellipse">
            <a:avLst/>
          </a:prstGeom>
          <a:solidFill>
            <a:srgbClr val="134074"/>
          </a:solidFill>
          <a:ln/>
        </p:spPr>
      </p:sp>
      <p:sp>
        <p:nvSpPr>
          <p:cNvPr id="21" name="Text 18"/>
          <p:cNvSpPr/>
          <p:nvPr/>
        </p:nvSpPr>
        <p:spPr>
          <a:xfrm>
            <a:off x="6483096"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6483096"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Crear índices</a:t>
            </a:r>
            <a:endParaRPr lang="en-US" sz="1600" dirty="0"/>
          </a:p>
        </p:txBody>
      </p:sp>
      <p:sp>
        <p:nvSpPr>
          <p:cNvPr id="23" name="Text 20"/>
          <p:cNvSpPr/>
          <p:nvPr/>
        </p:nvSpPr>
        <p:spPr>
          <a:xfrm>
            <a:off x="6483096" y="3154680"/>
            <a:ext cx="2075688"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Crea el índice simple y luego la versión con INCLUDE.</a:t>
            </a:r>
            <a:endParaRPr lang="en-US" sz="1400" dirty="0"/>
          </a:p>
        </p:txBody>
      </p:sp>
      <p:sp>
        <p:nvSpPr>
          <p:cNvPr id="24" name="Shape 21"/>
          <p:cNvSpPr/>
          <p:nvPr/>
        </p:nvSpPr>
        <p:spPr>
          <a:xfrm>
            <a:off x="8823960" y="1947672"/>
            <a:ext cx="246888" cy="274320"/>
          </a:xfrm>
          <a:prstGeom prst="rightArrow">
            <a:avLst/>
          </a:prstGeom>
          <a:solidFill>
            <a:srgbClr val="D95D39"/>
          </a:solidFill>
          <a:ln/>
        </p:spPr>
      </p:sp>
      <p:sp>
        <p:nvSpPr>
          <p:cNvPr id="25" name="Shape 22"/>
          <p:cNvSpPr/>
          <p:nvPr/>
        </p:nvSpPr>
        <p:spPr>
          <a:xfrm>
            <a:off x="9107424" y="1600200"/>
            <a:ext cx="2532888" cy="2377440"/>
          </a:xfrm>
          <a:prstGeom prst="roundRect">
            <a:avLst>
              <a:gd name="adj" fmla="val 4615"/>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6" name="Shape 23"/>
          <p:cNvSpPr/>
          <p:nvPr/>
        </p:nvSpPr>
        <p:spPr>
          <a:xfrm>
            <a:off x="9336024" y="1828800"/>
            <a:ext cx="502920" cy="502920"/>
          </a:xfrm>
          <a:prstGeom prst="ellipse">
            <a:avLst/>
          </a:prstGeom>
          <a:solidFill>
            <a:srgbClr val="134074"/>
          </a:solidFill>
          <a:ln/>
        </p:spPr>
      </p:sp>
      <p:sp>
        <p:nvSpPr>
          <p:cNvPr id="27" name="Text 24"/>
          <p:cNvSpPr/>
          <p:nvPr/>
        </p:nvSpPr>
        <p:spPr>
          <a:xfrm>
            <a:off x="933602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9336024" y="2468880"/>
            <a:ext cx="2075688"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Comparar</a:t>
            </a:r>
            <a:endParaRPr lang="en-US" sz="1600" dirty="0"/>
          </a:p>
        </p:txBody>
      </p:sp>
      <p:sp>
        <p:nvSpPr>
          <p:cNvPr id="29" name="Text 26"/>
          <p:cNvSpPr/>
          <p:nvPr/>
        </p:nvSpPr>
        <p:spPr>
          <a:xfrm>
            <a:off x="9336024" y="3154680"/>
            <a:ext cx="2075688"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Repite la consulta y compara operador y lecturas lógicas.</a:t>
            </a:r>
            <a:endParaRPr lang="en-US" sz="1400" dirty="0"/>
          </a:p>
        </p:txBody>
      </p:sp>
      <p:sp>
        <p:nvSpPr>
          <p:cNvPr id="30" name="Shape 27"/>
          <p:cNvSpPr/>
          <p:nvPr/>
        </p:nvSpPr>
        <p:spPr>
          <a:xfrm>
            <a:off x="548640" y="4251960"/>
            <a:ext cx="5394960" cy="1920240"/>
          </a:xfrm>
          <a:prstGeom prst="roundRect">
            <a:avLst>
              <a:gd name="adj" fmla="val 4762"/>
            </a:avLst>
          </a:prstGeom>
          <a:solidFill>
            <a:srgbClr val="ECEFF3"/>
          </a:solidFill>
          <a:ln w="9525">
            <a:solidFill>
              <a:srgbClr val="D0D7DE"/>
            </a:solidFill>
            <a:prstDash val="solid"/>
          </a:ln>
        </p:spPr>
      </p:sp>
      <p:sp>
        <p:nvSpPr>
          <p:cNvPr id="31" name="Text 28"/>
          <p:cNvSpPr/>
          <p:nvPr/>
        </p:nvSpPr>
        <p:spPr>
          <a:xfrm>
            <a:off x="731520" y="434340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LÍNEA BASE</a:t>
            </a:r>
            <a:endParaRPr lang="en-US" sz="1000" dirty="0"/>
          </a:p>
        </p:txBody>
      </p:sp>
      <p:sp>
        <p:nvSpPr>
          <p:cNvPr id="32" name="Text 29"/>
          <p:cNvSpPr/>
          <p:nvPr/>
        </p:nvSpPr>
        <p:spPr>
          <a:xfrm>
            <a:off x="731520" y="4617720"/>
            <a:ext cx="5029200" cy="146304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STATISTICS</a:t>
            </a:r>
            <a:r>
              <a:rPr lang="en-US" sz="1200" dirty="0">
                <a:solidFill>
                  <a:srgbClr val="1F2933"/>
                </a:solidFill>
                <a:latin typeface="Consolas" pitchFamily="34" charset="0"/>
                <a:ea typeface="Consolas" pitchFamily="34" charset="-122"/>
                <a:cs typeface="Consolas" pitchFamily="34" charset="-120"/>
              </a:rPr>
              <a:t> IO, </a:t>
            </a:r>
            <a:r>
              <a:rPr lang="en-US" sz="1200" dirty="0">
                <a:solidFill>
                  <a:srgbClr val="7C3AED"/>
                </a:solidFill>
                <a:latin typeface="Consolas" pitchFamily="34" charset="0"/>
                <a:ea typeface="Consolas" pitchFamily="34" charset="-122"/>
                <a:cs typeface="Consolas" pitchFamily="34" charset="-120"/>
              </a:rPr>
              <a:t>TIME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PedidoId, FechaPedido, Total</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ClienteId = </a:t>
            </a:r>
            <a:r>
              <a:rPr lang="en-US" sz="1200" dirty="0">
                <a:solidFill>
                  <a:srgbClr val="9A3412"/>
                </a:solidFill>
                <a:latin typeface="Consolas" pitchFamily="34" charset="0"/>
                <a:ea typeface="Consolas" pitchFamily="34" charset="-122"/>
                <a:cs typeface="Consolas" pitchFamily="34" charset="-120"/>
              </a:rPr>
              <a:t>4217</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FechaPedido &gt;= </a:t>
            </a:r>
            <a:r>
              <a:rPr lang="en-US" sz="1200" dirty="0">
                <a:solidFill>
                  <a:srgbClr val="B4441F"/>
                </a:solidFill>
                <a:latin typeface="Consolas" pitchFamily="34" charset="0"/>
                <a:ea typeface="Consolas" pitchFamily="34" charset="-122"/>
                <a:cs typeface="Consolas" pitchFamily="34" charset="-120"/>
              </a:rPr>
              <a:t>'20240101'</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Anota: operador y logical reads</a:t>
            </a:r>
            <a:endParaRPr lang="en-US" sz="1200" dirty="0"/>
          </a:p>
        </p:txBody>
      </p:sp>
      <p:sp>
        <p:nvSpPr>
          <p:cNvPr id="33" name="Shape 30"/>
          <p:cNvSpPr/>
          <p:nvPr/>
        </p:nvSpPr>
        <p:spPr>
          <a:xfrm>
            <a:off x="6245352" y="4251960"/>
            <a:ext cx="5394960" cy="1920240"/>
          </a:xfrm>
          <a:prstGeom prst="roundRect">
            <a:avLst>
              <a:gd name="adj" fmla="val 4762"/>
            </a:avLst>
          </a:prstGeom>
          <a:solidFill>
            <a:srgbClr val="ECEFF3"/>
          </a:solidFill>
          <a:ln w="9525">
            <a:solidFill>
              <a:srgbClr val="D0D7DE"/>
            </a:solidFill>
            <a:prstDash val="solid"/>
          </a:ln>
        </p:spPr>
      </p:sp>
      <p:sp>
        <p:nvSpPr>
          <p:cNvPr id="34" name="Text 31"/>
          <p:cNvSpPr/>
          <p:nvPr/>
        </p:nvSpPr>
        <p:spPr>
          <a:xfrm>
            <a:off x="6428232" y="434340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CREAR Y MEJORAR EL ÍNDICE</a:t>
            </a:r>
            <a:endParaRPr lang="en-US" sz="1000" dirty="0"/>
          </a:p>
        </p:txBody>
      </p:sp>
      <p:sp>
        <p:nvSpPr>
          <p:cNvPr id="35" name="Text 32"/>
          <p:cNvSpPr/>
          <p:nvPr/>
        </p:nvSpPr>
        <p:spPr>
          <a:xfrm>
            <a:off x="6428232" y="4617720"/>
            <a:ext cx="5029200" cy="146304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NONCLUSTERED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IX_Pedido_Cli_Fecha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(ClienteId, FechaPedido);</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Lookup: añade INCLUDE y recrea</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CREATE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NONCLUSTERED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IX_Pedido_Cli_Fecha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(ClienteId, FechaPedido)</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INCLUDE</a:t>
            </a:r>
            <a:r>
              <a:rPr lang="en-US" sz="1200" dirty="0">
                <a:solidFill>
                  <a:srgbClr val="1F2933"/>
                </a:solidFill>
                <a:latin typeface="Consolas" pitchFamily="34" charset="0"/>
                <a:ea typeface="Consolas" pitchFamily="34" charset="-122"/>
                <a:cs typeface="Consolas" pitchFamily="34" charset="-120"/>
              </a:rPr>
              <a:t> (Total)</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(DROP_EXISTING =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976372"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LABORATORIO 3.2</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 3.2 · Analizar planes de ejecución</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58</a:t>
            </a:r>
            <a:endParaRPr lang="en-US" sz="1000" dirty="0"/>
          </a:p>
        </p:txBody>
      </p:sp>
      <p:sp>
        <p:nvSpPr>
          <p:cNvPr id="7" name="Shape 4"/>
          <p:cNvSpPr/>
          <p:nvPr/>
        </p:nvSpPr>
        <p:spPr>
          <a:xfrm>
            <a:off x="548640" y="1600200"/>
            <a:ext cx="6309360" cy="3611880"/>
          </a:xfrm>
          <a:prstGeom prst="roundRect">
            <a:avLst>
              <a:gd name="adj" fmla="val 2532"/>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TRES CONSULTAS, TRES PLANES</a:t>
            </a:r>
            <a:endParaRPr lang="en-US" sz="1000" dirty="0"/>
          </a:p>
        </p:txBody>
      </p:sp>
      <p:sp>
        <p:nvSpPr>
          <p:cNvPr id="9" name="Text 6"/>
          <p:cNvSpPr/>
          <p:nvPr/>
        </p:nvSpPr>
        <p:spPr>
          <a:xfrm>
            <a:off x="731520" y="1965960"/>
            <a:ext cx="5943600" cy="3154680"/>
          </a:xfrm>
          <a:prstGeom prst="rect">
            <a:avLst/>
          </a:prstGeom>
          <a:noFill/>
          <a:ln/>
        </p:spPr>
        <p:txBody>
          <a:bodyPr wrap="none" lIns="0" tIns="0" rIns="0" bIns="0" rtlCol="0" anchor="t"/>
          <a:lstStyle/>
          <a:p>
            <a:pPr indent="0" marL="0">
              <a:buNone/>
            </a:pPr>
            <a:r>
              <a:rPr lang="en-US" sz="1300" b="1" dirty="0">
                <a:solidFill>
                  <a:srgbClr val="1D4ED8"/>
                </a:solidFill>
                <a:latin typeface="Consolas" pitchFamily="34" charset="0"/>
                <a:ea typeface="Consolas" pitchFamily="34" charset="-122"/>
                <a:cs typeface="Consolas" pitchFamily="34" charset="-120"/>
              </a:rPr>
              <a:t>SET</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STATISTICS</a:t>
            </a:r>
            <a:r>
              <a:rPr lang="en-US" sz="1300" dirty="0">
                <a:solidFill>
                  <a:srgbClr val="1F2933"/>
                </a:solidFill>
                <a:latin typeface="Consolas" pitchFamily="34" charset="0"/>
                <a:ea typeface="Consolas" pitchFamily="34" charset="-122"/>
                <a:cs typeface="Consolas" pitchFamily="34" charset="-120"/>
              </a:rPr>
              <a:t> IO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CREATE</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NONCLUSTERED</a:t>
            </a: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INDEX</a:t>
            </a:r>
            <a:r>
              <a:rPr lang="en-US" sz="1300" dirty="0">
                <a:solidFill>
                  <a:srgbClr val="1F2933"/>
                </a:solidFill>
                <a:latin typeface="Consolas" pitchFamily="34" charset="0"/>
                <a:ea typeface="Consolas" pitchFamily="34" charset="-122"/>
                <a:cs typeface="Consolas" pitchFamily="34" charset="-120"/>
              </a:rPr>
              <a:t> IX_Pedido_Fecha</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ON</a:t>
            </a:r>
            <a:r>
              <a:rPr lang="en-US" sz="1300" dirty="0">
                <a:solidFill>
                  <a:srgbClr val="1F2933"/>
                </a:solidFill>
                <a:latin typeface="Consolas" pitchFamily="34" charset="0"/>
                <a:ea typeface="Consolas" pitchFamily="34" charset="-122"/>
                <a:cs typeface="Consolas" pitchFamily="34" charset="-120"/>
              </a:rPr>
              <a:t> dbo.Pedido (FechaPedido);</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A) No SARGable: función sobre la columna</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PedidoId </a:t>
            </a: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dbo.Pedido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YEAR(FechaPedido) = </a:t>
            </a:r>
            <a:r>
              <a:rPr lang="en-US" sz="1300" dirty="0">
                <a:solidFill>
                  <a:srgbClr val="9A3412"/>
                </a:solidFill>
                <a:latin typeface="Consolas" pitchFamily="34" charset="0"/>
                <a:ea typeface="Consolas" pitchFamily="34" charset="-122"/>
                <a:cs typeface="Consolas" pitchFamily="34" charset="-120"/>
              </a:rPr>
              <a:t>2024</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B) SARGable: rango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PedidoId </a:t>
            </a: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dbo.Pedido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FechaPedido &gt;= </a:t>
            </a:r>
            <a:r>
              <a:rPr lang="en-US" sz="1300" dirty="0">
                <a:solidFill>
                  <a:srgbClr val="B4441F"/>
                </a:solidFill>
                <a:latin typeface="Consolas" pitchFamily="34" charset="0"/>
                <a:ea typeface="Consolas" pitchFamily="34" charset="-122"/>
                <a:cs typeface="Consolas" pitchFamily="34" charset="-120"/>
              </a:rPr>
              <a:t>'20240101'</a:t>
            </a:r>
            <a:endParaRPr lang="en-US" sz="1300" dirty="0"/>
          </a:p>
          <a:p>
            <a:pPr indent="0" marL="0">
              <a:buNone/>
            </a:pPr>
            <a:r>
              <a:rPr lang="en-US" sz="1300" dirty="0">
                <a:solidFill>
                  <a:srgbClr val="1F2933"/>
                </a:solidFill>
                <a:latin typeface="Consolas" pitchFamily="34" charset="0"/>
                <a:ea typeface="Consolas" pitchFamily="34" charset="-122"/>
                <a:cs typeface="Consolas" pitchFamily="34" charset="-120"/>
              </a:rPr>
              <a:t>  </a:t>
            </a:r>
            <a:r>
              <a:rPr lang="en-US" sz="1300" b="1" dirty="0">
                <a:solidFill>
                  <a:srgbClr val="1D4ED8"/>
                </a:solidFill>
                <a:latin typeface="Consolas" pitchFamily="34" charset="0"/>
                <a:ea typeface="Consolas" pitchFamily="34" charset="-122"/>
                <a:cs typeface="Consolas" pitchFamily="34" charset="-120"/>
              </a:rPr>
              <a:t>AND</a:t>
            </a:r>
            <a:r>
              <a:rPr lang="en-US" sz="1300" dirty="0">
                <a:solidFill>
                  <a:srgbClr val="1F2933"/>
                </a:solidFill>
                <a:latin typeface="Consolas" pitchFamily="34" charset="0"/>
                <a:ea typeface="Consolas" pitchFamily="34" charset="-122"/>
                <a:cs typeface="Consolas" pitchFamily="34" charset="-120"/>
              </a:rPr>
              <a:t> FechaPedido &lt;  </a:t>
            </a:r>
            <a:r>
              <a:rPr lang="en-US" sz="1300" dirty="0">
                <a:solidFill>
                  <a:srgbClr val="B4441F"/>
                </a:solidFill>
                <a:latin typeface="Consolas" pitchFamily="34" charset="0"/>
                <a:ea typeface="Consolas" pitchFamily="34" charset="-122"/>
                <a:cs typeface="Consolas" pitchFamily="34" charset="-120"/>
              </a:rPr>
              <a:t>'20250101'</a:t>
            </a:r>
            <a:r>
              <a:rPr lang="en-US" sz="1300" dirty="0">
                <a:solidFill>
                  <a:srgbClr val="1F2933"/>
                </a:solidFill>
                <a:latin typeface="Consolas" pitchFamily="34" charset="0"/>
                <a:ea typeface="Consolas" pitchFamily="34" charset="-122"/>
                <a:cs typeface="Consolas" pitchFamily="34" charset="-120"/>
              </a:rPr>
              <a:t>;</a:t>
            </a:r>
            <a:endParaRPr lang="en-US" sz="1300" dirty="0"/>
          </a:p>
          <a:p>
            <a:pPr indent="0" marL="0">
              <a:buNone/>
            </a:pPr>
            <a:r>
              <a:rPr lang="en-US" sz="1300" i="1" dirty="0">
                <a:solidFill>
                  <a:srgbClr val="6B7280"/>
                </a:solidFill>
                <a:latin typeface="Consolas" pitchFamily="34" charset="0"/>
                <a:ea typeface="Consolas" pitchFamily="34" charset="-122"/>
                <a:cs typeface="Consolas" pitchFamily="34" charset="-120"/>
              </a:rPr>
              <a:t>-- C) Seek + Key Lookup (pide Total)</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SELECT</a:t>
            </a:r>
            <a:r>
              <a:rPr lang="en-US" sz="1300" dirty="0">
                <a:solidFill>
                  <a:srgbClr val="1F2933"/>
                </a:solidFill>
                <a:latin typeface="Consolas" pitchFamily="34" charset="0"/>
                <a:ea typeface="Consolas" pitchFamily="34" charset="-122"/>
                <a:cs typeface="Consolas" pitchFamily="34" charset="-120"/>
              </a:rPr>
              <a:t> PedidoId, Total </a:t>
            </a:r>
            <a:r>
              <a:rPr lang="en-US" sz="1300" b="1" dirty="0">
                <a:solidFill>
                  <a:srgbClr val="1D4ED8"/>
                </a:solidFill>
                <a:latin typeface="Consolas" pitchFamily="34" charset="0"/>
                <a:ea typeface="Consolas" pitchFamily="34" charset="-122"/>
                <a:cs typeface="Consolas" pitchFamily="34" charset="-120"/>
              </a:rPr>
              <a:t>FROM</a:t>
            </a:r>
            <a:r>
              <a:rPr lang="en-US" sz="1300" dirty="0">
                <a:solidFill>
                  <a:srgbClr val="1F2933"/>
                </a:solidFill>
                <a:latin typeface="Consolas" pitchFamily="34" charset="0"/>
                <a:ea typeface="Consolas" pitchFamily="34" charset="-122"/>
                <a:cs typeface="Consolas" pitchFamily="34" charset="-120"/>
              </a:rPr>
              <a:t> dbo.Pedido</a:t>
            </a:r>
            <a:endParaRPr lang="en-US" sz="1300" dirty="0"/>
          </a:p>
          <a:p>
            <a:pPr indent="0" marL="0">
              <a:buNone/>
            </a:pPr>
            <a:r>
              <a:rPr lang="en-US" sz="1300" b="1" dirty="0">
                <a:solidFill>
                  <a:srgbClr val="1D4ED8"/>
                </a:solidFill>
                <a:latin typeface="Consolas" pitchFamily="34" charset="0"/>
                <a:ea typeface="Consolas" pitchFamily="34" charset="-122"/>
                <a:cs typeface="Consolas" pitchFamily="34" charset="-120"/>
              </a:rPr>
              <a:t>WHERE</a:t>
            </a:r>
            <a:r>
              <a:rPr lang="en-US" sz="1300" dirty="0">
                <a:solidFill>
                  <a:srgbClr val="1F2933"/>
                </a:solidFill>
                <a:latin typeface="Consolas" pitchFamily="34" charset="0"/>
                <a:ea typeface="Consolas" pitchFamily="34" charset="-122"/>
                <a:cs typeface="Consolas" pitchFamily="34" charset="-120"/>
              </a:rPr>
              <a:t> FechaPedido = </a:t>
            </a:r>
            <a:r>
              <a:rPr lang="en-US" sz="1300" dirty="0">
                <a:solidFill>
                  <a:srgbClr val="B4441F"/>
                </a:solidFill>
                <a:latin typeface="Consolas" pitchFamily="34" charset="0"/>
                <a:ea typeface="Consolas" pitchFamily="34" charset="-122"/>
                <a:cs typeface="Consolas" pitchFamily="34" charset="-120"/>
              </a:rPr>
              <a:t>'20240315'</a:t>
            </a:r>
            <a:r>
              <a:rPr lang="en-US" sz="1300" dirty="0">
                <a:solidFill>
                  <a:srgbClr val="1F2933"/>
                </a:solidFill>
                <a:latin typeface="Consolas" pitchFamily="34" charset="0"/>
                <a:ea typeface="Consolas" pitchFamily="34" charset="-122"/>
                <a:cs typeface="Consolas" pitchFamily="34" charset="-120"/>
              </a:rPr>
              <a:t>;</a:t>
            </a:r>
            <a:endParaRPr lang="en-US" sz="13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132320" y="1600200"/>
          <a:ext cx="4507992" cy="914400"/>
        </p:xfrm>
        <a:graphic>
          <a:graphicData uri="http://schemas.openxmlformats.org/drawingml/2006/table">
            <a:tbl>
              <a:tblPr/>
              <a:tblGrid>
                <a:gridCol w="2286000"/>
                <a:gridCol w="2221992"/>
              </a:tblGrid>
              <a:tr h="3962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Qué anotar</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Dónde verlo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Operador (Scan/Seek)</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Plan real (Ctrl+M)</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Logical reads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Pestaña Messages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Estimated vs Actual</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Propiedades (F4)</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96240">
                <a:tc>
                  <a:txBody>
                    <a:bodyPr/>
                    <a:lstStyle/>
                    <a:p>
                      <a:pPr algn="l" indent="0" marL="0">
                        <a:buNone/>
                      </a:pPr>
                      <a:r>
                        <a:rPr lang="en-US" sz="1400" b="1" dirty="0">
                          <a:solidFill>
                            <a:srgbClr val="0B2545"/>
                          </a:solidFill>
                          <a:latin typeface="Calibri" pitchFamily="34" charset="0"/>
                          <a:ea typeface="Calibri" pitchFamily="34" charset="-122"/>
                          <a:cs typeface="Calibri" pitchFamily="34" charset="-120"/>
                        </a:rPr>
                        <a:t>Warnings</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Triángulo amarillo</a:t>
                      </a:r>
                      <a:endParaRPr lang="en-US" sz="14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
        <p:nvSpPr>
          <p:cNvPr id="11" name="Shape 7"/>
          <p:cNvSpPr/>
          <p:nvPr/>
        </p:nvSpPr>
        <p:spPr>
          <a:xfrm>
            <a:off x="7132320" y="4023360"/>
            <a:ext cx="4507992" cy="1188720"/>
          </a:xfrm>
          <a:prstGeom prst="roundRect">
            <a:avLst>
              <a:gd name="adj" fmla="val 9231"/>
            </a:avLst>
          </a:prstGeom>
          <a:solidFill>
            <a:srgbClr val="FDEDE8"/>
          </a:solidFill>
          <a:ln/>
        </p:spPr>
      </p:sp>
      <p:sp>
        <p:nvSpPr>
          <p:cNvPr id="12" name="Shape 8"/>
          <p:cNvSpPr/>
          <p:nvPr/>
        </p:nvSpPr>
        <p:spPr>
          <a:xfrm>
            <a:off x="7315200" y="4389120"/>
            <a:ext cx="457200" cy="457200"/>
          </a:xfrm>
          <a:prstGeom prst="ellipse">
            <a:avLst/>
          </a:prstGeom>
          <a:solidFill>
            <a:srgbClr val="D95D39"/>
          </a:solidFill>
          <a:ln/>
        </p:spPr>
      </p:sp>
      <p:pic>
        <p:nvPicPr>
          <p:cNvPr id="13" name="Image 0" descr="preencoded.png">    </p:cNvPr>
          <p:cNvPicPr>
            <a:picLocks noChangeAspect="1"/>
          </p:cNvPicPr>
          <p:nvPr/>
        </p:nvPicPr>
        <p:blipFill>
          <a:blip r:embed="rId1"/>
          <a:stretch>
            <a:fillRect/>
          </a:stretch>
        </p:blipFill>
        <p:spPr>
          <a:xfrm>
            <a:off x="7429500" y="4503420"/>
            <a:ext cx="228600" cy="228600"/>
          </a:xfrm>
          <a:prstGeom prst="rect">
            <a:avLst/>
          </a:prstGeom>
        </p:spPr>
      </p:pic>
      <p:sp>
        <p:nvSpPr>
          <p:cNvPr id="14" name="Text 9"/>
          <p:cNvSpPr/>
          <p:nvPr/>
        </p:nvSpPr>
        <p:spPr>
          <a:xfrm>
            <a:off x="7955280" y="4023360"/>
            <a:ext cx="3502152" cy="118872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a:t>
            </a:r>
            <a:r>
              <a:rPr lang="en-US" sz="1400" dirty="0">
                <a:solidFill>
                  <a:srgbClr val="1F2933"/>
                </a:solidFill>
                <a:latin typeface="Calibri" pitchFamily="34" charset="0"/>
                <a:ea typeface="Calibri" pitchFamily="34" charset="-122"/>
                <a:cs typeface="Calibri" pitchFamily="34" charset="-120"/>
              </a:rPr>
              <a:t>compara siempre planes reales y repite cada consulta 2–3 veces.</a:t>
            </a:r>
            <a:endParaRPr lang="en-US" sz="1400" dirty="0"/>
          </a:p>
        </p:txBody>
      </p:sp>
      <p:sp>
        <p:nvSpPr>
          <p:cNvPr id="15" name="Shape 10"/>
          <p:cNvSpPr/>
          <p:nvPr/>
        </p:nvSpPr>
        <p:spPr>
          <a:xfrm>
            <a:off x="548640" y="5486400"/>
            <a:ext cx="11091672" cy="685800"/>
          </a:xfrm>
          <a:prstGeom prst="roundRect">
            <a:avLst>
              <a:gd name="adj" fmla="val 16000"/>
            </a:avLst>
          </a:prstGeom>
          <a:solidFill>
            <a:srgbClr val="E8EEF5"/>
          </a:solidFill>
          <a:ln/>
        </p:spPr>
      </p:sp>
      <p:sp>
        <p:nvSpPr>
          <p:cNvPr id="16" name="Shape 11"/>
          <p:cNvSpPr/>
          <p:nvPr/>
        </p:nvSpPr>
        <p:spPr>
          <a:xfrm>
            <a:off x="731520" y="5600700"/>
            <a:ext cx="457200" cy="457200"/>
          </a:xfrm>
          <a:prstGeom prst="ellipse">
            <a:avLst/>
          </a:prstGeom>
          <a:solidFill>
            <a:srgbClr val="134074"/>
          </a:solidFill>
          <a:ln/>
        </p:spPr>
      </p:sp>
      <p:pic>
        <p:nvPicPr>
          <p:cNvPr id="17" name="Image 1" descr="preencoded.png">    </p:cNvPr>
          <p:cNvPicPr>
            <a:picLocks noChangeAspect="1"/>
          </p:cNvPicPr>
          <p:nvPr/>
        </p:nvPicPr>
        <p:blipFill>
          <a:blip r:embed="rId2"/>
          <a:stretch>
            <a:fillRect/>
          </a:stretch>
        </p:blipFill>
        <p:spPr>
          <a:xfrm>
            <a:off x="845820" y="5715000"/>
            <a:ext cx="228600" cy="228600"/>
          </a:xfrm>
          <a:prstGeom prst="rect">
            <a:avLst/>
          </a:prstGeom>
        </p:spPr>
      </p:pic>
      <p:sp>
        <p:nvSpPr>
          <p:cNvPr id="18" name="Text 12"/>
          <p:cNvSpPr/>
          <p:nvPr/>
        </p:nvSpPr>
        <p:spPr>
          <a:xfrm>
            <a:off x="1371600" y="5486400"/>
            <a:ext cx="10085832" cy="6858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Entrega: </a:t>
            </a:r>
            <a:r>
              <a:rPr lang="en-US" sz="1400" dirty="0">
                <a:solidFill>
                  <a:srgbClr val="1F2933"/>
                </a:solidFill>
                <a:latin typeface="Calibri" pitchFamily="34" charset="0"/>
                <a:ea typeface="Calibri" pitchFamily="34" charset="-122"/>
                <a:cs typeface="Calibri" pitchFamily="34" charset="-120"/>
              </a:rPr>
              <a:t>tabla con operador, lecturas lógicas y desviación estimado/real de A, B y C.</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976372"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LABORATORIO 3.3</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 3.3 · Cuellos de botella con DMVs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3   59</a:t>
            </a:r>
            <a:endParaRPr lang="en-US" sz="1000" dirty="0"/>
          </a:p>
        </p:txBody>
      </p:sp>
      <p:sp>
        <p:nvSpPr>
          <p:cNvPr id="7" name="Shape 4"/>
          <p:cNvSpPr/>
          <p:nvPr/>
        </p:nvSpPr>
        <p:spPr>
          <a:xfrm>
            <a:off x="548640" y="1600200"/>
            <a:ext cx="11091672" cy="701040"/>
          </a:xfrm>
          <a:prstGeom prst="roundRect">
            <a:avLst>
              <a:gd name="adj" fmla="val 1565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699260"/>
            <a:ext cx="502920" cy="502920"/>
          </a:xfrm>
          <a:prstGeom prst="ellipse">
            <a:avLst/>
          </a:prstGeom>
          <a:solidFill>
            <a:srgbClr val="134074"/>
          </a:solidFill>
          <a:ln/>
        </p:spPr>
      </p:sp>
      <p:sp>
        <p:nvSpPr>
          <p:cNvPr id="9" name="Text 6"/>
          <p:cNvSpPr/>
          <p:nvPr/>
        </p:nvSpPr>
        <p:spPr>
          <a:xfrm>
            <a:off x="777240" y="16992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1508760" y="1600200"/>
            <a:ext cx="2468880" cy="7010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Provocar un bloqueo</a:t>
            </a:r>
            <a:endParaRPr lang="en-US" sz="1600" dirty="0"/>
          </a:p>
        </p:txBody>
      </p:sp>
      <p:sp>
        <p:nvSpPr>
          <p:cNvPr id="11" name="Text 8"/>
          <p:cNvSpPr/>
          <p:nvPr/>
        </p:nvSpPr>
        <p:spPr>
          <a:xfrm>
            <a:off x="4114800" y="1600200"/>
            <a:ext cx="7296912" cy="7010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Sesión 1 abre una transacción con UPDATE sin COMMIT; Sesión 2 ejecuta un SELECT.</a:t>
            </a:r>
            <a:endParaRPr lang="en-US" sz="1400" dirty="0"/>
          </a:p>
        </p:txBody>
      </p:sp>
      <p:sp>
        <p:nvSpPr>
          <p:cNvPr id="12" name="Shape 9"/>
          <p:cNvSpPr/>
          <p:nvPr/>
        </p:nvSpPr>
        <p:spPr>
          <a:xfrm>
            <a:off x="548640" y="2484120"/>
            <a:ext cx="11091672" cy="701040"/>
          </a:xfrm>
          <a:prstGeom prst="roundRect">
            <a:avLst>
              <a:gd name="adj" fmla="val 1565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10"/>
          <p:cNvSpPr/>
          <p:nvPr/>
        </p:nvSpPr>
        <p:spPr>
          <a:xfrm>
            <a:off x="777240" y="2583180"/>
            <a:ext cx="502920" cy="502920"/>
          </a:xfrm>
          <a:prstGeom prst="ellipse">
            <a:avLst/>
          </a:prstGeom>
          <a:solidFill>
            <a:srgbClr val="134074"/>
          </a:solidFill>
          <a:ln/>
        </p:spPr>
      </p:sp>
      <p:sp>
        <p:nvSpPr>
          <p:cNvPr id="14" name="Text 11"/>
          <p:cNvSpPr/>
          <p:nvPr/>
        </p:nvSpPr>
        <p:spPr>
          <a:xfrm>
            <a:off x="777240" y="25831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p:nvPr/>
        </p:nvSpPr>
        <p:spPr>
          <a:xfrm>
            <a:off x="1508760" y="2484120"/>
            <a:ext cx="2468880" cy="7010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Localizar la espera</a:t>
            </a:r>
            <a:endParaRPr lang="en-US" sz="1600" dirty="0"/>
          </a:p>
        </p:txBody>
      </p:sp>
      <p:sp>
        <p:nvSpPr>
          <p:cNvPr id="16" name="Text 13"/>
          <p:cNvSpPr/>
          <p:nvPr/>
        </p:nvSpPr>
        <p:spPr>
          <a:xfrm>
            <a:off x="4114800" y="2484120"/>
            <a:ext cx="7296912" cy="7010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En Sesión 3 consulta sys.dm_exec_requests y sys.dm_os_waiting_tasks (LCK_M_S).</a:t>
            </a:r>
            <a:endParaRPr lang="en-US" sz="1400" dirty="0"/>
          </a:p>
        </p:txBody>
      </p:sp>
      <p:sp>
        <p:nvSpPr>
          <p:cNvPr id="17" name="Shape 14"/>
          <p:cNvSpPr/>
          <p:nvPr/>
        </p:nvSpPr>
        <p:spPr>
          <a:xfrm>
            <a:off x="548640" y="3368040"/>
            <a:ext cx="11091672" cy="701040"/>
          </a:xfrm>
          <a:prstGeom prst="roundRect">
            <a:avLst>
              <a:gd name="adj" fmla="val 1565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5"/>
          <p:cNvSpPr/>
          <p:nvPr/>
        </p:nvSpPr>
        <p:spPr>
          <a:xfrm>
            <a:off x="777240" y="3467100"/>
            <a:ext cx="502920" cy="502920"/>
          </a:xfrm>
          <a:prstGeom prst="ellipse">
            <a:avLst/>
          </a:prstGeom>
          <a:solidFill>
            <a:srgbClr val="134074"/>
          </a:solidFill>
          <a:ln/>
        </p:spPr>
      </p:sp>
      <p:sp>
        <p:nvSpPr>
          <p:cNvPr id="19" name="Text 16"/>
          <p:cNvSpPr/>
          <p:nvPr/>
        </p:nvSpPr>
        <p:spPr>
          <a:xfrm>
            <a:off x="777240" y="34671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508760" y="3368040"/>
            <a:ext cx="2468880" cy="7010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Resolver y revisar</a:t>
            </a:r>
            <a:endParaRPr lang="en-US" sz="1600" dirty="0"/>
          </a:p>
        </p:txBody>
      </p:sp>
      <p:sp>
        <p:nvSpPr>
          <p:cNvPr id="21" name="Text 18"/>
          <p:cNvSpPr/>
          <p:nvPr/>
        </p:nvSpPr>
        <p:spPr>
          <a:xfrm>
            <a:off x="4114800" y="3368040"/>
            <a:ext cx="7296912" cy="7010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Identifica al head blocker, haz ROLLBACK y revisa sys.dm_os_wait_stats.</a:t>
            </a:r>
            <a:endParaRPr lang="en-US" sz="1400" dirty="0"/>
          </a:p>
        </p:txBody>
      </p:sp>
      <p:sp>
        <p:nvSpPr>
          <p:cNvPr id="22" name="Shape 19"/>
          <p:cNvSpPr/>
          <p:nvPr/>
        </p:nvSpPr>
        <p:spPr>
          <a:xfrm>
            <a:off x="548640" y="4343400"/>
            <a:ext cx="5394960" cy="1828800"/>
          </a:xfrm>
          <a:prstGeom prst="roundRect">
            <a:avLst>
              <a:gd name="adj" fmla="val 5000"/>
            </a:avLst>
          </a:prstGeom>
          <a:solidFill>
            <a:srgbClr val="ECEFF3"/>
          </a:solidFill>
          <a:ln w="9525">
            <a:solidFill>
              <a:srgbClr val="D0D7DE"/>
            </a:solidFill>
            <a:prstDash val="solid"/>
          </a:ln>
        </p:spPr>
      </p:sp>
      <p:sp>
        <p:nvSpPr>
          <p:cNvPr id="23" name="Text 20"/>
          <p:cNvSpPr/>
          <p:nvPr/>
        </p:nvSpPr>
        <p:spPr>
          <a:xfrm>
            <a:off x="731520" y="44348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SESIONES 1 Y 2</a:t>
            </a:r>
            <a:endParaRPr lang="en-US" sz="1000" dirty="0"/>
          </a:p>
        </p:txBody>
      </p:sp>
      <p:sp>
        <p:nvSpPr>
          <p:cNvPr id="24" name="Text 21"/>
          <p:cNvSpPr/>
          <p:nvPr/>
        </p:nvSpPr>
        <p:spPr>
          <a:xfrm>
            <a:off x="731520" y="4709160"/>
            <a:ext cx="5029200" cy="137160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Sesión 1: transacción sin cerrar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BEGIN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TRAN</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UPDATE</a:t>
            </a:r>
            <a:r>
              <a:rPr lang="en-US" sz="1200" dirty="0">
                <a:solidFill>
                  <a:srgbClr val="1F2933"/>
                </a:solidFill>
                <a:latin typeface="Consolas" pitchFamily="34" charset="0"/>
                <a:ea typeface="Consolas" pitchFamily="34" charset="-122"/>
                <a:cs typeface="Consolas" pitchFamily="34" charset="-120"/>
              </a:rPr>
              <a:t> dbo.Cliente </a:t>
            </a:r>
            <a:r>
              <a:rPr lang="en-US" sz="1200" b="1" dirty="0">
                <a:solidFill>
                  <a:srgbClr val="1D4ED8"/>
                </a:solidFill>
                <a:latin typeface="Consolas" pitchFamily="34" charset="0"/>
                <a:ea typeface="Consolas" pitchFamily="34" charset="-122"/>
                <a:cs typeface="Consolas" pitchFamily="34" charset="-120"/>
              </a:rPr>
              <a:t>SET</a:t>
            </a:r>
            <a:r>
              <a:rPr lang="en-US" sz="1200" dirty="0">
                <a:solidFill>
                  <a:srgbClr val="1F2933"/>
                </a:solidFill>
                <a:latin typeface="Consolas" pitchFamily="34" charset="0"/>
                <a:ea typeface="Consolas" pitchFamily="34" charset="-122"/>
                <a:cs typeface="Consolas" pitchFamily="34" charset="-120"/>
              </a:rPr>
              <a:t> Activo = </a:t>
            </a:r>
            <a:r>
              <a:rPr lang="en-US" sz="1200" dirty="0">
                <a:solidFill>
                  <a:srgbClr val="9A3412"/>
                </a:solidFill>
                <a:latin typeface="Consolas" pitchFamily="34" charset="0"/>
                <a:ea typeface="Consolas" pitchFamily="34" charset="-122"/>
                <a:cs typeface="Consolas" pitchFamily="34" charset="-120"/>
              </a:rPr>
              <a:t>0</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ClienteId =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Sesión 2: queda bloqueada</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Nombre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dbo.Cliente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ClienteId = </a:t>
            </a:r>
            <a:r>
              <a:rPr lang="en-US" sz="1200" dirty="0">
                <a:solidFill>
                  <a:srgbClr val="9A3412"/>
                </a:solidFill>
                <a:latin typeface="Consolas" pitchFamily="34" charset="0"/>
                <a:ea typeface="Consolas" pitchFamily="34" charset="-122"/>
                <a:cs typeface="Consolas" pitchFamily="34" charset="-120"/>
              </a:rPr>
              <a:t>1</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25" name="Shape 22"/>
          <p:cNvSpPr/>
          <p:nvPr/>
        </p:nvSpPr>
        <p:spPr>
          <a:xfrm>
            <a:off x="6245352" y="4343400"/>
            <a:ext cx="5394960" cy="1828800"/>
          </a:xfrm>
          <a:prstGeom prst="roundRect">
            <a:avLst>
              <a:gd name="adj" fmla="val 5000"/>
            </a:avLst>
          </a:prstGeom>
          <a:solidFill>
            <a:srgbClr val="ECEFF3"/>
          </a:solidFill>
          <a:ln w="9525">
            <a:solidFill>
              <a:srgbClr val="D0D7DE"/>
            </a:solidFill>
            <a:prstDash val="solid"/>
          </a:ln>
        </p:spPr>
      </p:sp>
      <p:sp>
        <p:nvSpPr>
          <p:cNvPr id="26" name="Text 23"/>
          <p:cNvSpPr/>
          <p:nvPr/>
        </p:nvSpPr>
        <p:spPr>
          <a:xfrm>
            <a:off x="6428232" y="44348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SESIÓN 3 (DBA)</a:t>
            </a:r>
            <a:endParaRPr lang="en-US" sz="1000" dirty="0"/>
          </a:p>
        </p:txBody>
      </p:sp>
      <p:sp>
        <p:nvSpPr>
          <p:cNvPr id="27" name="Text 24"/>
          <p:cNvSpPr/>
          <p:nvPr/>
        </p:nvSpPr>
        <p:spPr>
          <a:xfrm>
            <a:off x="6428232" y="4709160"/>
            <a:ext cx="5029200" cy="13716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r.session_id, r.blocking_session_id,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r.wait_type, r.wait_time, t.</a:t>
            </a:r>
            <a:r>
              <a:rPr lang="en-US" sz="1200" dirty="0">
                <a:solidFill>
                  <a:srgbClr val="7C3AED"/>
                </a:solidFill>
                <a:latin typeface="Consolas" pitchFamily="34" charset="0"/>
                <a:ea typeface="Consolas" pitchFamily="34" charset="-122"/>
                <a:cs typeface="Consolas" pitchFamily="34" charset="-120"/>
              </a:rPr>
              <a:t>text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sys.dm_exec_requests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CROSS</a:t>
            </a:r>
            <a:r>
              <a:rPr lang="en-US" sz="1200" dirty="0">
                <a:solidFill>
                  <a:srgbClr val="1F2933"/>
                </a:solidFill>
                <a:latin typeface="Consolas" pitchFamily="34" charset="0"/>
                <a:ea typeface="Consolas" pitchFamily="34" charset="-122"/>
                <a:cs typeface="Consolas" pitchFamily="34" charset="-120"/>
              </a:rPr>
              <a:t> APPLY sys.dm_exec_sql_text(r.sql_handle) 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r.blocking_session_id &lt;&gt; </a:t>
            </a:r>
            <a:r>
              <a:rPr lang="en-US" sz="1200" dirty="0">
                <a:solidFill>
                  <a:srgbClr val="9A3412"/>
                </a:solidFill>
                <a:latin typeface="Consolas" pitchFamily="34" charset="0"/>
                <a:ea typeface="Consolas" pitchFamily="34" charset="-122"/>
                <a:cs typeface="Consolas" pitchFamily="34" charset="-120"/>
              </a:rPr>
              <a:t>0</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Resolver: ROLLBACK en la sesión 1</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81528"/>
        </a:solidFill>
      </p:bgPr>
    </p:bg>
    <p:spTree>
      <p:nvGrpSpPr>
        <p:cNvPr id="1" name=""/>
        <p:cNvGrpSpPr/>
        <p:nvPr/>
      </p:nvGrpSpPr>
      <p:grpSpPr>
        <a:xfrm>
          <a:off x="0" y="0"/>
          <a:ext cx="0" cy="0"/>
          <a:chOff x="0" y="0"/>
          <a:chExt cx="0" cy="0"/>
        </a:xfrm>
      </p:grpSpPr>
      <p:sp>
        <p:nvSpPr>
          <p:cNvPr id="2" name="Text 0"/>
          <p:cNvSpPr/>
          <p:nvPr/>
        </p:nvSpPr>
        <p:spPr>
          <a:xfrm>
            <a:off x="731520" y="73152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Módulo 3: puntos clave</a:t>
            </a:r>
            <a:endParaRPr lang="en-US" sz="4000" dirty="0"/>
          </a:p>
        </p:txBody>
      </p:sp>
      <p:sp>
        <p:nvSpPr>
          <p:cNvPr id="3" name="Shape 1"/>
          <p:cNvSpPr/>
          <p:nvPr/>
        </p:nvSpPr>
        <p:spPr>
          <a:xfrm>
            <a:off x="731520" y="2103120"/>
            <a:ext cx="2468880" cy="3108960"/>
          </a:xfrm>
          <a:prstGeom prst="roundRect">
            <a:avLst>
              <a:gd name="adj" fmla="val 4444"/>
            </a:avLst>
          </a:prstGeom>
          <a:solidFill>
            <a:srgbClr val="FFFFFF">
              <a:alpha val="10000"/>
            </a:srgbClr>
          </a:solidFill>
          <a:ln/>
        </p:spPr>
      </p:sp>
      <p:sp>
        <p:nvSpPr>
          <p:cNvPr id="4" name="Shape 2"/>
          <p:cNvSpPr/>
          <p:nvPr/>
        </p:nvSpPr>
        <p:spPr>
          <a:xfrm>
            <a:off x="1005840" y="2377440"/>
            <a:ext cx="640080" cy="640080"/>
          </a:xfrm>
          <a:prstGeom prst="ellipse">
            <a:avLst/>
          </a:prstGeom>
          <a:solidFill>
            <a:srgbClr val="D95D39"/>
          </a:solidFill>
          <a:ln/>
        </p:spPr>
      </p:sp>
      <p:pic>
        <p:nvPicPr>
          <p:cNvPr id="5" name="Image 0" descr="preencoded.png">    </p:cNvPr>
          <p:cNvPicPr>
            <a:picLocks noChangeAspect="1"/>
          </p:cNvPicPr>
          <p:nvPr/>
        </p:nvPicPr>
        <p:blipFill>
          <a:blip r:embed="rId1"/>
          <a:stretch>
            <a:fillRect/>
          </a:stretch>
        </p:blipFill>
        <p:spPr>
          <a:xfrm>
            <a:off x="1165860" y="2537460"/>
            <a:ext cx="320040" cy="320040"/>
          </a:xfrm>
          <a:prstGeom prst="rect">
            <a:avLst/>
          </a:prstGeom>
        </p:spPr>
      </p:pic>
      <p:sp>
        <p:nvSpPr>
          <p:cNvPr id="6" name="Text 3"/>
          <p:cNvSpPr/>
          <p:nvPr/>
        </p:nvSpPr>
        <p:spPr>
          <a:xfrm>
            <a:off x="10058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Diseño de índices</a:t>
            </a:r>
            <a:endParaRPr lang="en-US" sz="1800" dirty="0"/>
          </a:p>
        </p:txBody>
      </p:sp>
      <p:sp>
        <p:nvSpPr>
          <p:cNvPr id="7" name="Text 4"/>
          <p:cNvSpPr/>
          <p:nvPr/>
        </p:nvSpPr>
        <p:spPr>
          <a:xfrm>
            <a:off x="10058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Clustered estrecho y creciente; NCI con INCLUDE; vigila el coste de escritura.</a:t>
            </a:r>
            <a:endParaRPr lang="en-US" sz="1400" dirty="0"/>
          </a:p>
        </p:txBody>
      </p:sp>
      <p:sp>
        <p:nvSpPr>
          <p:cNvPr id="8" name="Shape 5"/>
          <p:cNvSpPr/>
          <p:nvPr/>
        </p:nvSpPr>
        <p:spPr>
          <a:xfrm>
            <a:off x="3474720" y="2103120"/>
            <a:ext cx="2468880" cy="3108960"/>
          </a:xfrm>
          <a:prstGeom prst="roundRect">
            <a:avLst>
              <a:gd name="adj" fmla="val 4444"/>
            </a:avLst>
          </a:prstGeom>
          <a:solidFill>
            <a:srgbClr val="FFFFFF">
              <a:alpha val="10000"/>
            </a:srgbClr>
          </a:solidFill>
          <a:ln/>
        </p:spPr>
      </p:sp>
      <p:sp>
        <p:nvSpPr>
          <p:cNvPr id="9" name="Shape 6"/>
          <p:cNvSpPr/>
          <p:nvPr/>
        </p:nvSpPr>
        <p:spPr>
          <a:xfrm>
            <a:off x="3749040" y="2377440"/>
            <a:ext cx="640080" cy="640080"/>
          </a:xfrm>
          <a:prstGeom prst="ellipse">
            <a:avLst/>
          </a:prstGeom>
          <a:solidFill>
            <a:srgbClr val="D95D39"/>
          </a:solidFill>
          <a:ln/>
        </p:spPr>
      </p:sp>
      <p:pic>
        <p:nvPicPr>
          <p:cNvPr id="10" name="Image 1" descr="preencoded.png">    </p:cNvPr>
          <p:cNvPicPr>
            <a:picLocks noChangeAspect="1"/>
          </p:cNvPicPr>
          <p:nvPr/>
        </p:nvPicPr>
        <p:blipFill>
          <a:blip r:embed="rId2"/>
          <a:stretch>
            <a:fillRect/>
          </a:stretch>
        </p:blipFill>
        <p:spPr>
          <a:xfrm>
            <a:off x="3909060" y="2537460"/>
            <a:ext cx="320040" cy="320040"/>
          </a:xfrm>
          <a:prstGeom prst="rect">
            <a:avLst/>
          </a:prstGeom>
        </p:spPr>
      </p:pic>
      <p:sp>
        <p:nvSpPr>
          <p:cNvPr id="11" name="Text 7"/>
          <p:cNvSpPr/>
          <p:nvPr/>
        </p:nvSpPr>
        <p:spPr>
          <a:xfrm>
            <a:off x="37490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Diagnóstico</a:t>
            </a:r>
            <a:endParaRPr lang="en-US" sz="1800" dirty="0"/>
          </a:p>
        </p:txBody>
      </p:sp>
      <p:sp>
        <p:nvSpPr>
          <p:cNvPr id="12" name="Text 8"/>
          <p:cNvSpPr/>
          <p:nvPr/>
        </p:nvSpPr>
        <p:spPr>
          <a:xfrm>
            <a:off x="37490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Plan real, STATISTICS IO y DMVs: mide antes de cambiar y compara después.</a:t>
            </a:r>
            <a:endParaRPr lang="en-US" sz="1400" dirty="0"/>
          </a:p>
        </p:txBody>
      </p:sp>
      <p:sp>
        <p:nvSpPr>
          <p:cNvPr id="13" name="Shape 9"/>
          <p:cNvSpPr/>
          <p:nvPr/>
        </p:nvSpPr>
        <p:spPr>
          <a:xfrm>
            <a:off x="6217920" y="2103120"/>
            <a:ext cx="2468880" cy="3108960"/>
          </a:xfrm>
          <a:prstGeom prst="roundRect">
            <a:avLst>
              <a:gd name="adj" fmla="val 4444"/>
            </a:avLst>
          </a:prstGeom>
          <a:solidFill>
            <a:srgbClr val="FFFFFF">
              <a:alpha val="10000"/>
            </a:srgbClr>
          </a:solidFill>
          <a:ln/>
        </p:spPr>
      </p:sp>
      <p:sp>
        <p:nvSpPr>
          <p:cNvPr id="14" name="Shape 10"/>
          <p:cNvSpPr/>
          <p:nvPr/>
        </p:nvSpPr>
        <p:spPr>
          <a:xfrm>
            <a:off x="6492240" y="2377440"/>
            <a:ext cx="640080" cy="640080"/>
          </a:xfrm>
          <a:prstGeom prst="ellipse">
            <a:avLst/>
          </a:prstGeom>
          <a:solidFill>
            <a:srgbClr val="D95D39"/>
          </a:solidFill>
          <a:ln/>
        </p:spPr>
      </p:sp>
      <p:pic>
        <p:nvPicPr>
          <p:cNvPr id="15" name="Image 2" descr="preencoded.png">    </p:cNvPr>
          <p:cNvPicPr>
            <a:picLocks noChangeAspect="1"/>
          </p:cNvPicPr>
          <p:nvPr/>
        </p:nvPicPr>
        <p:blipFill>
          <a:blip r:embed="rId3"/>
          <a:stretch>
            <a:fillRect/>
          </a:stretch>
        </p:blipFill>
        <p:spPr>
          <a:xfrm>
            <a:off x="6652260" y="2537460"/>
            <a:ext cx="320040" cy="320040"/>
          </a:xfrm>
          <a:prstGeom prst="rect">
            <a:avLst/>
          </a:prstGeom>
        </p:spPr>
      </p:pic>
      <p:sp>
        <p:nvSpPr>
          <p:cNvPr id="16" name="Text 11"/>
          <p:cNvSpPr/>
          <p:nvPr/>
        </p:nvSpPr>
        <p:spPr>
          <a:xfrm>
            <a:off x="64922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Mantenimiento</a:t>
            </a:r>
            <a:endParaRPr lang="en-US" sz="1800" dirty="0"/>
          </a:p>
        </p:txBody>
      </p:sp>
      <p:sp>
        <p:nvSpPr>
          <p:cNvPr id="17" name="Text 12"/>
          <p:cNvSpPr/>
          <p:nvPr/>
        </p:nvSpPr>
        <p:spPr>
          <a:xfrm>
            <a:off x="64922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Reorganize 5–30 %, Rebuild &gt; 30 %, estadísticas al día y fillfactor justificado.</a:t>
            </a:r>
            <a:endParaRPr lang="en-US" sz="1400" dirty="0"/>
          </a:p>
        </p:txBody>
      </p:sp>
      <p:sp>
        <p:nvSpPr>
          <p:cNvPr id="18" name="Shape 13"/>
          <p:cNvSpPr/>
          <p:nvPr/>
        </p:nvSpPr>
        <p:spPr>
          <a:xfrm>
            <a:off x="8961120" y="2103120"/>
            <a:ext cx="2468880" cy="3108960"/>
          </a:xfrm>
          <a:prstGeom prst="roundRect">
            <a:avLst>
              <a:gd name="adj" fmla="val 4444"/>
            </a:avLst>
          </a:prstGeom>
          <a:solidFill>
            <a:srgbClr val="FFFFFF">
              <a:alpha val="10000"/>
            </a:srgbClr>
          </a:solidFill>
          <a:ln/>
        </p:spPr>
      </p:sp>
      <p:sp>
        <p:nvSpPr>
          <p:cNvPr id="19" name="Shape 14"/>
          <p:cNvSpPr/>
          <p:nvPr/>
        </p:nvSpPr>
        <p:spPr>
          <a:xfrm>
            <a:off x="9235440" y="2377440"/>
            <a:ext cx="640080" cy="640080"/>
          </a:xfrm>
          <a:prstGeom prst="ellipse">
            <a:avLst/>
          </a:prstGeom>
          <a:solidFill>
            <a:srgbClr val="D95D39"/>
          </a:solidFill>
          <a:ln/>
        </p:spPr>
      </p:sp>
      <p:pic>
        <p:nvPicPr>
          <p:cNvPr id="20" name="Image 3" descr="preencoded.png">    </p:cNvPr>
          <p:cNvPicPr>
            <a:picLocks noChangeAspect="1"/>
          </p:cNvPicPr>
          <p:nvPr/>
        </p:nvPicPr>
        <p:blipFill>
          <a:blip r:embed="rId4"/>
          <a:stretch>
            <a:fillRect/>
          </a:stretch>
        </p:blipFill>
        <p:spPr>
          <a:xfrm>
            <a:off x="9395460" y="2537460"/>
            <a:ext cx="320040" cy="320040"/>
          </a:xfrm>
          <a:prstGeom prst="rect">
            <a:avLst/>
          </a:prstGeom>
        </p:spPr>
      </p:pic>
      <p:sp>
        <p:nvSpPr>
          <p:cNvPr id="21" name="Text 15"/>
          <p:cNvSpPr/>
          <p:nvPr/>
        </p:nvSpPr>
        <p:spPr>
          <a:xfrm>
            <a:off x="92354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HA/DR</a:t>
            </a:r>
            <a:endParaRPr lang="en-US" sz="1800" dirty="0"/>
          </a:p>
        </p:txBody>
      </p:sp>
      <p:sp>
        <p:nvSpPr>
          <p:cNvPr id="22" name="Text 16"/>
          <p:cNvSpPr/>
          <p:nvPr/>
        </p:nvSpPr>
        <p:spPr>
          <a:xfrm>
            <a:off x="92354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Define RTO y RPO primero; elige Log Shipping, FCI o AG según edición y coste.</a:t>
            </a:r>
            <a:endParaRPr lang="en-US" sz="1400" dirty="0"/>
          </a:p>
        </p:txBody>
      </p:sp>
      <p:sp>
        <p:nvSpPr>
          <p:cNvPr id="23" name="Text 17"/>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24" name="Text 18"/>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3   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81528"/>
        </a:solidFill>
      </p:bgPr>
    </p:bg>
    <p:spTree>
      <p:nvGrpSpPr>
        <p:cNvPr id="1" name=""/>
        <p:cNvGrpSpPr/>
        <p:nvPr/>
      </p:nvGrpSpPr>
      <p:grpSpPr>
        <a:xfrm>
          <a:off x="0" y="0"/>
          <a:ext cx="0" cy="0"/>
          <a:chOff x="0" y="0"/>
          <a:chExt cx="0" cy="0"/>
        </a:xfrm>
      </p:grpSpPr>
      <p:sp>
        <p:nvSpPr>
          <p:cNvPr id="2" name="Text 0"/>
          <p:cNvSpPr/>
          <p:nvPr/>
        </p:nvSpPr>
        <p:spPr>
          <a:xfrm>
            <a:off x="731520" y="822960"/>
            <a:ext cx="5029200" cy="1828800"/>
          </a:xfrm>
          <a:prstGeom prst="rect">
            <a:avLst/>
          </a:prstGeom>
          <a:noFill/>
          <a:ln/>
        </p:spPr>
        <p:txBody>
          <a:bodyPr wrap="square" lIns="0" tIns="0" rIns="0" bIns="0" rtlCol="0" anchor="t"/>
          <a:lstStyle/>
          <a:p>
            <a:pPr indent="0" marL="0">
              <a:buNone/>
            </a:pPr>
            <a:r>
              <a:rPr lang="en-US" sz="12000" b="1" dirty="0">
                <a:solidFill>
                  <a:srgbClr val="1E5AA8"/>
                </a:solidFill>
                <a:latin typeface="Calibri" pitchFamily="34" charset="0"/>
                <a:ea typeface="Calibri" pitchFamily="34" charset="-122"/>
                <a:cs typeface="Calibri" pitchFamily="34" charset="-120"/>
              </a:rPr>
              <a:t>04</a:t>
            </a:r>
            <a:endParaRPr lang="en-US" sz="12000" dirty="0"/>
          </a:p>
        </p:txBody>
      </p:sp>
      <p:sp>
        <p:nvSpPr>
          <p:cNvPr id="3" name="Text 1"/>
          <p:cNvSpPr/>
          <p:nvPr/>
        </p:nvSpPr>
        <p:spPr>
          <a:xfrm>
            <a:off x="731520" y="2880360"/>
            <a:ext cx="2651760" cy="329184"/>
          </a:xfrm>
          <a:prstGeom prst="roundRect">
            <a:avLst>
              <a:gd name="adj" fmla="val 50000"/>
            </a:avLst>
          </a:prstGeom>
          <a:solidFill>
            <a:srgbClr val="D95D39"/>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MÓDULO 4 · 6 h</a:t>
            </a:r>
            <a:endParaRPr lang="en-US" sz="1100" dirty="0"/>
          </a:p>
        </p:txBody>
      </p:sp>
      <p:sp>
        <p:nvSpPr>
          <p:cNvPr id="4" name="Text 2"/>
          <p:cNvSpPr/>
          <p:nvPr/>
        </p:nvSpPr>
        <p:spPr>
          <a:xfrm>
            <a:off x="731520" y="3383280"/>
            <a:ext cx="5394960" cy="15544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Mantenimiento y Buenas Prácticas</a:t>
            </a:r>
            <a:endParaRPr lang="en-US" sz="3800" dirty="0"/>
          </a:p>
        </p:txBody>
      </p:sp>
      <p:sp>
        <p:nvSpPr>
          <p:cNvPr id="5" name="Text 3"/>
          <p:cNvSpPr/>
          <p:nvPr/>
        </p:nvSpPr>
        <p:spPr>
          <a:xfrm>
            <a:off x="731520" y="4983480"/>
            <a:ext cx="5394960" cy="822960"/>
          </a:xfrm>
          <a:prstGeom prst="rect">
            <a:avLst/>
          </a:prstGeom>
          <a:noFill/>
          <a:ln/>
        </p:spPr>
        <p:txBody>
          <a:bodyPr wrap="square" lIns="0" tIns="0" rIns="0" bIns="0" rtlCol="0" anchor="t"/>
          <a:lstStyle/>
          <a:p>
            <a:pPr indent="0" marL="0">
              <a:buNone/>
            </a:pPr>
            <a:r>
              <a:rPr lang="en-US" sz="1600" dirty="0">
                <a:solidFill>
                  <a:srgbClr val="8DA9C4"/>
                </a:solidFill>
                <a:latin typeface="Calibri" pitchFamily="34" charset="0"/>
                <a:ea typeface="Calibri" pitchFamily="34" charset="-122"/>
                <a:cs typeface="Calibri" pitchFamily="34" charset="-120"/>
              </a:rPr>
              <a:t>Recuperación, integridad, automatización y resolución de incidencias</a:t>
            </a:r>
            <a:endParaRPr lang="en-US" sz="1600" dirty="0"/>
          </a:p>
        </p:txBody>
      </p:sp>
      <p:sp>
        <p:nvSpPr>
          <p:cNvPr id="6" name="Shape 4"/>
          <p:cNvSpPr/>
          <p:nvPr/>
        </p:nvSpPr>
        <p:spPr>
          <a:xfrm>
            <a:off x="6675120" y="1051560"/>
            <a:ext cx="4937760" cy="667512"/>
          </a:xfrm>
          <a:prstGeom prst="roundRect">
            <a:avLst>
              <a:gd name="adj" fmla="val 13699"/>
            </a:avLst>
          </a:prstGeom>
          <a:solidFill>
            <a:srgbClr val="FFFFFF">
              <a:alpha val="8000"/>
            </a:srgbClr>
          </a:solidFill>
          <a:ln/>
        </p:spPr>
      </p:sp>
      <p:sp>
        <p:nvSpPr>
          <p:cNvPr id="7" name="Shape 5"/>
          <p:cNvSpPr/>
          <p:nvPr/>
        </p:nvSpPr>
        <p:spPr>
          <a:xfrm>
            <a:off x="6812280" y="1165860"/>
            <a:ext cx="457200" cy="457200"/>
          </a:xfrm>
          <a:prstGeom prst="ellipse">
            <a:avLst/>
          </a:prstGeom>
          <a:solidFill>
            <a:srgbClr val="D95D39"/>
          </a:solidFill>
          <a:ln/>
        </p:spPr>
      </p:sp>
      <p:pic>
        <p:nvPicPr>
          <p:cNvPr id="8" name="Image 0" descr="preencoded.png">    </p:cNvPr>
          <p:cNvPicPr>
            <a:picLocks noChangeAspect="1"/>
          </p:cNvPicPr>
          <p:nvPr/>
        </p:nvPicPr>
        <p:blipFill>
          <a:blip r:embed="rId1"/>
          <a:stretch>
            <a:fillRect/>
          </a:stretch>
        </p:blipFill>
        <p:spPr>
          <a:xfrm>
            <a:off x="6926580" y="1280160"/>
            <a:ext cx="228600" cy="228600"/>
          </a:xfrm>
          <a:prstGeom prst="rect">
            <a:avLst/>
          </a:prstGeom>
        </p:spPr>
      </p:pic>
      <p:sp>
        <p:nvSpPr>
          <p:cNvPr id="9" name="Text 6"/>
          <p:cNvSpPr/>
          <p:nvPr/>
        </p:nvSpPr>
        <p:spPr>
          <a:xfrm>
            <a:off x="7452360" y="10515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Modelos de recuperación y backups</a:t>
            </a:r>
            <a:endParaRPr lang="en-US" sz="1600" dirty="0"/>
          </a:p>
        </p:txBody>
      </p:sp>
      <p:sp>
        <p:nvSpPr>
          <p:cNvPr id="10" name="Shape 7"/>
          <p:cNvSpPr/>
          <p:nvPr/>
        </p:nvSpPr>
        <p:spPr>
          <a:xfrm>
            <a:off x="6675120" y="1828800"/>
            <a:ext cx="4937760" cy="667512"/>
          </a:xfrm>
          <a:prstGeom prst="roundRect">
            <a:avLst>
              <a:gd name="adj" fmla="val 13699"/>
            </a:avLst>
          </a:prstGeom>
          <a:solidFill>
            <a:srgbClr val="FFFFFF">
              <a:alpha val="8000"/>
            </a:srgbClr>
          </a:solidFill>
          <a:ln/>
        </p:spPr>
      </p:sp>
      <p:sp>
        <p:nvSpPr>
          <p:cNvPr id="11" name="Shape 8"/>
          <p:cNvSpPr/>
          <p:nvPr/>
        </p:nvSpPr>
        <p:spPr>
          <a:xfrm>
            <a:off x="6812280" y="1943100"/>
            <a:ext cx="457200" cy="457200"/>
          </a:xfrm>
          <a:prstGeom prst="ellipse">
            <a:avLst/>
          </a:prstGeom>
          <a:solidFill>
            <a:srgbClr val="D95D39"/>
          </a:solidFill>
          <a:ln/>
        </p:spPr>
      </p:sp>
      <p:pic>
        <p:nvPicPr>
          <p:cNvPr id="12" name="Image 1" descr="preencoded.png">    </p:cNvPr>
          <p:cNvPicPr>
            <a:picLocks noChangeAspect="1"/>
          </p:cNvPicPr>
          <p:nvPr/>
        </p:nvPicPr>
        <p:blipFill>
          <a:blip r:embed="rId2"/>
          <a:stretch>
            <a:fillRect/>
          </a:stretch>
        </p:blipFill>
        <p:spPr>
          <a:xfrm>
            <a:off x="6926580" y="2057400"/>
            <a:ext cx="228600" cy="228600"/>
          </a:xfrm>
          <a:prstGeom prst="rect">
            <a:avLst/>
          </a:prstGeom>
        </p:spPr>
      </p:pic>
      <p:sp>
        <p:nvSpPr>
          <p:cNvPr id="13" name="Text 9"/>
          <p:cNvSpPr/>
          <p:nvPr/>
        </p:nvSpPr>
        <p:spPr>
          <a:xfrm>
            <a:off x="7452360" y="182880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Restauración point-in-time</a:t>
            </a:r>
            <a:endParaRPr lang="en-US" sz="1600" dirty="0"/>
          </a:p>
        </p:txBody>
      </p:sp>
      <p:sp>
        <p:nvSpPr>
          <p:cNvPr id="14" name="Shape 10"/>
          <p:cNvSpPr/>
          <p:nvPr/>
        </p:nvSpPr>
        <p:spPr>
          <a:xfrm>
            <a:off x="6675120" y="2606040"/>
            <a:ext cx="4937760" cy="667512"/>
          </a:xfrm>
          <a:prstGeom prst="roundRect">
            <a:avLst>
              <a:gd name="adj" fmla="val 13699"/>
            </a:avLst>
          </a:prstGeom>
          <a:solidFill>
            <a:srgbClr val="FFFFFF">
              <a:alpha val="8000"/>
            </a:srgbClr>
          </a:solidFill>
          <a:ln/>
        </p:spPr>
      </p:sp>
      <p:sp>
        <p:nvSpPr>
          <p:cNvPr id="15" name="Shape 11"/>
          <p:cNvSpPr/>
          <p:nvPr/>
        </p:nvSpPr>
        <p:spPr>
          <a:xfrm>
            <a:off x="6812280" y="2720340"/>
            <a:ext cx="457200" cy="457200"/>
          </a:xfrm>
          <a:prstGeom prst="ellipse">
            <a:avLst/>
          </a:prstGeom>
          <a:solidFill>
            <a:srgbClr val="D95D39"/>
          </a:solidFill>
          <a:ln/>
        </p:spPr>
      </p:sp>
      <p:pic>
        <p:nvPicPr>
          <p:cNvPr id="16" name="Image 2" descr="preencoded.png">    </p:cNvPr>
          <p:cNvPicPr>
            <a:picLocks noChangeAspect="1"/>
          </p:cNvPicPr>
          <p:nvPr/>
        </p:nvPicPr>
        <p:blipFill>
          <a:blip r:embed="rId3"/>
          <a:stretch>
            <a:fillRect/>
          </a:stretch>
        </p:blipFill>
        <p:spPr>
          <a:xfrm>
            <a:off x="6926580" y="2834640"/>
            <a:ext cx="228600" cy="228600"/>
          </a:xfrm>
          <a:prstGeom prst="rect">
            <a:avLst/>
          </a:prstGeom>
        </p:spPr>
      </p:pic>
      <p:sp>
        <p:nvSpPr>
          <p:cNvPr id="17" name="Text 12"/>
          <p:cNvSpPr/>
          <p:nvPr/>
        </p:nvSpPr>
        <p:spPr>
          <a:xfrm>
            <a:off x="7452360" y="260604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Integridad física: DBCC CHECKDB</a:t>
            </a:r>
            <a:endParaRPr lang="en-US" sz="1600" dirty="0"/>
          </a:p>
        </p:txBody>
      </p:sp>
      <p:sp>
        <p:nvSpPr>
          <p:cNvPr id="18" name="Shape 13"/>
          <p:cNvSpPr/>
          <p:nvPr/>
        </p:nvSpPr>
        <p:spPr>
          <a:xfrm>
            <a:off x="6675120" y="3383280"/>
            <a:ext cx="4937760" cy="667512"/>
          </a:xfrm>
          <a:prstGeom prst="roundRect">
            <a:avLst>
              <a:gd name="adj" fmla="val 13699"/>
            </a:avLst>
          </a:prstGeom>
          <a:solidFill>
            <a:srgbClr val="FFFFFF">
              <a:alpha val="8000"/>
            </a:srgbClr>
          </a:solidFill>
          <a:ln/>
        </p:spPr>
      </p:sp>
      <p:sp>
        <p:nvSpPr>
          <p:cNvPr id="19" name="Shape 14"/>
          <p:cNvSpPr/>
          <p:nvPr/>
        </p:nvSpPr>
        <p:spPr>
          <a:xfrm>
            <a:off x="6812280" y="3497580"/>
            <a:ext cx="457200" cy="457200"/>
          </a:xfrm>
          <a:prstGeom prst="ellipse">
            <a:avLst/>
          </a:prstGeom>
          <a:solidFill>
            <a:srgbClr val="D95D39"/>
          </a:solidFill>
          <a:ln/>
        </p:spPr>
      </p:sp>
      <p:pic>
        <p:nvPicPr>
          <p:cNvPr id="20" name="Image 3" descr="preencoded.png">    </p:cNvPr>
          <p:cNvPicPr>
            <a:picLocks noChangeAspect="1"/>
          </p:cNvPicPr>
          <p:nvPr/>
        </p:nvPicPr>
        <p:blipFill>
          <a:blip r:embed="rId4"/>
          <a:stretch>
            <a:fillRect/>
          </a:stretch>
        </p:blipFill>
        <p:spPr>
          <a:xfrm>
            <a:off x="6926580" y="3611880"/>
            <a:ext cx="228600" cy="228600"/>
          </a:xfrm>
          <a:prstGeom prst="rect">
            <a:avLst/>
          </a:prstGeom>
        </p:spPr>
      </p:pic>
      <p:sp>
        <p:nvSpPr>
          <p:cNvPr id="21" name="Text 15"/>
          <p:cNvSpPr/>
          <p:nvPr/>
        </p:nvSpPr>
        <p:spPr>
          <a:xfrm>
            <a:off x="7452360" y="338328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Mantenimiento automatizado</a:t>
            </a:r>
            <a:endParaRPr lang="en-US" sz="1600" dirty="0"/>
          </a:p>
        </p:txBody>
      </p:sp>
      <p:sp>
        <p:nvSpPr>
          <p:cNvPr id="22" name="Shape 16"/>
          <p:cNvSpPr/>
          <p:nvPr/>
        </p:nvSpPr>
        <p:spPr>
          <a:xfrm>
            <a:off x="6675120" y="4160520"/>
            <a:ext cx="4937760" cy="667512"/>
          </a:xfrm>
          <a:prstGeom prst="roundRect">
            <a:avLst>
              <a:gd name="adj" fmla="val 13699"/>
            </a:avLst>
          </a:prstGeom>
          <a:solidFill>
            <a:srgbClr val="FFFFFF">
              <a:alpha val="8000"/>
            </a:srgbClr>
          </a:solidFill>
          <a:ln/>
        </p:spPr>
      </p:sp>
      <p:sp>
        <p:nvSpPr>
          <p:cNvPr id="23" name="Shape 17"/>
          <p:cNvSpPr/>
          <p:nvPr/>
        </p:nvSpPr>
        <p:spPr>
          <a:xfrm>
            <a:off x="6812280" y="4274820"/>
            <a:ext cx="457200" cy="457200"/>
          </a:xfrm>
          <a:prstGeom prst="ellipse">
            <a:avLst/>
          </a:prstGeom>
          <a:solidFill>
            <a:srgbClr val="D95D39"/>
          </a:solidFill>
          <a:ln/>
        </p:spPr>
      </p:sp>
      <p:pic>
        <p:nvPicPr>
          <p:cNvPr id="24" name="Image 4" descr="preencoded.png">    </p:cNvPr>
          <p:cNvPicPr>
            <a:picLocks noChangeAspect="1"/>
          </p:cNvPicPr>
          <p:nvPr/>
        </p:nvPicPr>
        <p:blipFill>
          <a:blip r:embed="rId5"/>
          <a:stretch>
            <a:fillRect/>
          </a:stretch>
        </p:blipFill>
        <p:spPr>
          <a:xfrm>
            <a:off x="6926580" y="4389120"/>
            <a:ext cx="228600" cy="228600"/>
          </a:xfrm>
          <a:prstGeom prst="rect">
            <a:avLst/>
          </a:prstGeom>
        </p:spPr>
      </p:pic>
      <p:sp>
        <p:nvSpPr>
          <p:cNvPr id="25" name="Text 18"/>
          <p:cNvSpPr/>
          <p:nvPr/>
        </p:nvSpPr>
        <p:spPr>
          <a:xfrm>
            <a:off x="7452360" y="416052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Incidencias: LDF, TempDB, bloqueos</a:t>
            </a:r>
            <a:endParaRPr lang="en-US" sz="1600" dirty="0"/>
          </a:p>
        </p:txBody>
      </p:sp>
      <p:sp>
        <p:nvSpPr>
          <p:cNvPr id="26" name="Shape 19"/>
          <p:cNvSpPr/>
          <p:nvPr/>
        </p:nvSpPr>
        <p:spPr>
          <a:xfrm>
            <a:off x="6675120" y="4937760"/>
            <a:ext cx="4937760" cy="667512"/>
          </a:xfrm>
          <a:prstGeom prst="roundRect">
            <a:avLst>
              <a:gd name="adj" fmla="val 13699"/>
            </a:avLst>
          </a:prstGeom>
          <a:solidFill>
            <a:srgbClr val="FFFFFF">
              <a:alpha val="8000"/>
            </a:srgbClr>
          </a:solidFill>
          <a:ln/>
        </p:spPr>
      </p:sp>
      <p:sp>
        <p:nvSpPr>
          <p:cNvPr id="27" name="Shape 20"/>
          <p:cNvSpPr/>
          <p:nvPr/>
        </p:nvSpPr>
        <p:spPr>
          <a:xfrm>
            <a:off x="6812280" y="5052060"/>
            <a:ext cx="457200" cy="457200"/>
          </a:xfrm>
          <a:prstGeom prst="ellipse">
            <a:avLst/>
          </a:prstGeom>
          <a:solidFill>
            <a:srgbClr val="D95D39"/>
          </a:solidFill>
          <a:ln/>
        </p:spPr>
      </p:sp>
      <p:pic>
        <p:nvPicPr>
          <p:cNvPr id="28" name="Image 5" descr="preencoded.png">    </p:cNvPr>
          <p:cNvPicPr>
            <a:picLocks noChangeAspect="1"/>
          </p:cNvPicPr>
          <p:nvPr/>
        </p:nvPicPr>
        <p:blipFill>
          <a:blip r:embed="rId6"/>
          <a:stretch>
            <a:fillRect/>
          </a:stretch>
        </p:blipFill>
        <p:spPr>
          <a:xfrm>
            <a:off x="6926580" y="5166360"/>
            <a:ext cx="228600" cy="228600"/>
          </a:xfrm>
          <a:prstGeom prst="rect">
            <a:avLst/>
          </a:prstGeom>
        </p:spPr>
      </p:pic>
      <p:sp>
        <p:nvSpPr>
          <p:cNvPr id="29" name="Text 21"/>
          <p:cNvSpPr/>
          <p:nvPr/>
        </p:nvSpPr>
        <p:spPr>
          <a:xfrm>
            <a:off x="7452360" y="4937760"/>
            <a:ext cx="4023360" cy="66751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Laboratorio 4 y caso integrador</a:t>
            </a:r>
            <a:endParaRPr lang="en-US" sz="1600" dirty="0"/>
          </a:p>
        </p:txBody>
      </p:sp>
      <p:sp>
        <p:nvSpPr>
          <p:cNvPr id="30" name="Text 2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31" name="Text 2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4   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BACKUPS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Modelos de recuperación</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62</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920240"/>
                <a:gridCol w="2926080"/>
                <a:gridCol w="3108960"/>
                <a:gridCol w="3136392"/>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Aspecto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Simple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Full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Bulk-Logged</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Truncado del log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Automático en cada checkpoint</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Sólo tras BACKUP LOG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Sólo tras BACKUP LOG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Log chain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No existe; BACKUP LOG no permitido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Continua; log backups obligatorios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Continua; log backups obligatorios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Operaciones masivas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Minimal logging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Registro completo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Minimal logging (extents)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Restauración posible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Último Full o Diferencial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Cualquier instante (STOPAT)</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Cualquier instante, salvo dentro de logs con carga masiva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Uso típico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Desarrollo, DWH recargable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OLTP en producción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Ventanas ETL puntuales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120640"/>
            <a:ext cx="11091672" cy="1005840"/>
          </a:xfrm>
          <a:prstGeom prst="roundRect">
            <a:avLst>
              <a:gd name="adj" fmla="val 10909"/>
            </a:avLst>
          </a:prstGeom>
          <a:solidFill>
            <a:srgbClr val="FDEDE8"/>
          </a:solidFill>
          <a:ln/>
        </p:spPr>
      </p:sp>
      <p:sp>
        <p:nvSpPr>
          <p:cNvPr id="9" name="Shape 5"/>
          <p:cNvSpPr/>
          <p:nvPr/>
        </p:nvSpPr>
        <p:spPr>
          <a:xfrm>
            <a:off x="731520" y="5394960"/>
            <a:ext cx="457200" cy="457200"/>
          </a:xfrm>
          <a:prstGeom prst="ellipse">
            <a:avLst/>
          </a:prstGeom>
          <a:solidFill>
            <a:srgbClr val="D95D39"/>
          </a:solidFill>
          <a:ln/>
        </p:spPr>
      </p:sp>
      <p:pic>
        <p:nvPicPr>
          <p:cNvPr id="10" name="Image 0" descr="preencoded.png">    </p:cNvPr>
          <p:cNvPicPr>
            <a:picLocks noChangeAspect="1"/>
          </p:cNvPicPr>
          <p:nvPr/>
        </p:nvPicPr>
        <p:blipFill>
          <a:blip r:embed="rId1"/>
          <a:stretch>
            <a:fillRect/>
          </a:stretch>
        </p:blipFill>
        <p:spPr>
          <a:xfrm>
            <a:off x="845820" y="5509260"/>
            <a:ext cx="228600" cy="228600"/>
          </a:xfrm>
          <a:prstGeom prst="rect">
            <a:avLst/>
          </a:prstGeom>
        </p:spPr>
      </p:pic>
      <p:sp>
        <p:nvSpPr>
          <p:cNvPr id="11" name="Text 6"/>
          <p:cNvSpPr/>
          <p:nvPr/>
        </p:nvSpPr>
        <p:spPr>
          <a:xfrm>
            <a:off x="1371600" y="5120640"/>
            <a:ext cx="10085832" cy="100584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Minimal logging: </a:t>
            </a:r>
            <a:r>
              <a:rPr lang="en-US" sz="1400" dirty="0">
                <a:solidFill>
                  <a:srgbClr val="1F2933"/>
                </a:solidFill>
                <a:latin typeface="Calibri" pitchFamily="34" charset="0"/>
                <a:ea typeface="Calibri" pitchFamily="34" charset="-122"/>
                <a:cs typeface="Calibri" pitchFamily="34" charset="-120"/>
              </a:rPr>
              <a:t>registra sólo la asignación de extents, no cada fila. Es más rápido y genera menos log, pero un log backup con carga masiva no permite STOPAT en su interior.</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BACKUPS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Estrategia: Full + Diferencial + Log chain</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63</a:t>
            </a:r>
            <a:endParaRPr lang="en-US" sz="1000" dirty="0"/>
          </a:p>
        </p:txBody>
      </p:sp>
      <p:sp>
        <p:nvSpPr>
          <p:cNvPr id="7" name="Text 4"/>
          <p:cNvSpPr/>
          <p:nvPr/>
        </p:nvSpPr>
        <p:spPr>
          <a:xfrm>
            <a:off x="2286000" y="1600200"/>
            <a:ext cx="1834286" cy="347472"/>
          </a:xfrm>
          <a:prstGeom prst="rect">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Domingo</a:t>
            </a:r>
            <a:endParaRPr lang="en-US" sz="1300" dirty="0"/>
          </a:p>
        </p:txBody>
      </p:sp>
      <p:sp>
        <p:nvSpPr>
          <p:cNvPr id="8" name="Text 5"/>
          <p:cNvSpPr/>
          <p:nvPr/>
        </p:nvSpPr>
        <p:spPr>
          <a:xfrm>
            <a:off x="4156862" y="1600200"/>
            <a:ext cx="1834286" cy="347472"/>
          </a:xfrm>
          <a:prstGeom prst="rect">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Lunes</a:t>
            </a:r>
            <a:endParaRPr lang="en-US" sz="1300" dirty="0"/>
          </a:p>
        </p:txBody>
      </p:sp>
      <p:sp>
        <p:nvSpPr>
          <p:cNvPr id="9" name="Text 6"/>
          <p:cNvSpPr/>
          <p:nvPr/>
        </p:nvSpPr>
        <p:spPr>
          <a:xfrm>
            <a:off x="6027725" y="1600200"/>
            <a:ext cx="1834286" cy="347472"/>
          </a:xfrm>
          <a:prstGeom prst="rect">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Martes</a:t>
            </a:r>
            <a:endParaRPr lang="en-US" sz="1300" dirty="0"/>
          </a:p>
        </p:txBody>
      </p:sp>
      <p:sp>
        <p:nvSpPr>
          <p:cNvPr id="10" name="Text 7"/>
          <p:cNvSpPr/>
          <p:nvPr/>
        </p:nvSpPr>
        <p:spPr>
          <a:xfrm>
            <a:off x="7898587" y="1600200"/>
            <a:ext cx="1834286" cy="347472"/>
          </a:xfrm>
          <a:prstGeom prst="rect">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Miércoles</a:t>
            </a:r>
            <a:endParaRPr lang="en-US" sz="1300" dirty="0"/>
          </a:p>
        </p:txBody>
      </p:sp>
      <p:sp>
        <p:nvSpPr>
          <p:cNvPr id="11" name="Text 8"/>
          <p:cNvSpPr/>
          <p:nvPr/>
        </p:nvSpPr>
        <p:spPr>
          <a:xfrm>
            <a:off x="9769450" y="1600200"/>
            <a:ext cx="1834286" cy="347472"/>
          </a:xfrm>
          <a:prstGeom prst="rect">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Jueves</a:t>
            </a:r>
            <a:endParaRPr lang="en-US" sz="1300" dirty="0"/>
          </a:p>
        </p:txBody>
      </p:sp>
      <p:sp>
        <p:nvSpPr>
          <p:cNvPr id="12" name="Text 9"/>
          <p:cNvSpPr/>
          <p:nvPr/>
        </p:nvSpPr>
        <p:spPr>
          <a:xfrm>
            <a:off x="548640" y="2057400"/>
            <a:ext cx="1645920" cy="457200"/>
          </a:xfrm>
          <a:prstGeom prst="rect">
            <a:avLst/>
          </a:prstGeom>
          <a:noFill/>
          <a:ln/>
        </p:spPr>
        <p:txBody>
          <a:bodyPr wrap="square" lIns="0" tIns="0" rIns="0" bIns="0" rtlCol="0" anchor="ctr"/>
          <a:lstStyle/>
          <a:p>
            <a:pPr algn="l" indent="0" marL="0">
              <a:buNone/>
            </a:pPr>
            <a:r>
              <a:rPr lang="en-US" sz="1400" b="1" dirty="0">
                <a:solidFill>
                  <a:srgbClr val="D95D39"/>
                </a:solidFill>
                <a:latin typeface="Calibri" pitchFamily="34" charset="0"/>
                <a:ea typeface="Calibri" pitchFamily="34" charset="-122"/>
                <a:cs typeface="Calibri" pitchFamily="34" charset="-120"/>
              </a:rPr>
              <a:t>Full</a:t>
            </a:r>
            <a:endParaRPr lang="en-US" sz="1400" dirty="0"/>
          </a:p>
        </p:txBody>
      </p:sp>
      <p:sp>
        <p:nvSpPr>
          <p:cNvPr id="13" name="Shape 10"/>
          <p:cNvSpPr/>
          <p:nvPr/>
        </p:nvSpPr>
        <p:spPr>
          <a:xfrm>
            <a:off x="2286000" y="2276856"/>
            <a:ext cx="9354312" cy="18288"/>
          </a:xfrm>
          <a:prstGeom prst="rect">
            <a:avLst/>
          </a:prstGeom>
          <a:solidFill>
            <a:srgbClr val="D0D7DE"/>
          </a:solidFill>
          <a:ln/>
        </p:spPr>
      </p:sp>
      <p:sp>
        <p:nvSpPr>
          <p:cNvPr id="14" name="Text 11"/>
          <p:cNvSpPr/>
          <p:nvPr/>
        </p:nvSpPr>
        <p:spPr>
          <a:xfrm>
            <a:off x="548640" y="2651760"/>
            <a:ext cx="1645920" cy="457200"/>
          </a:xfrm>
          <a:prstGeom prst="rect">
            <a:avLst/>
          </a:prstGeom>
          <a:noFill/>
          <a:ln/>
        </p:spPr>
        <p:txBody>
          <a:bodyPr wrap="square" lIns="0" tIns="0" rIns="0" bIns="0" rtlCol="0" anchor="ctr"/>
          <a:lstStyle/>
          <a:p>
            <a:pPr algn="l" indent="0" marL="0">
              <a:buNone/>
            </a:pPr>
            <a:r>
              <a:rPr lang="en-US" sz="1400" b="1" dirty="0">
                <a:solidFill>
                  <a:srgbClr val="134074"/>
                </a:solidFill>
                <a:latin typeface="Calibri" pitchFamily="34" charset="0"/>
                <a:ea typeface="Calibri" pitchFamily="34" charset="-122"/>
                <a:cs typeface="Calibri" pitchFamily="34" charset="-120"/>
              </a:rPr>
              <a:t>Diferencial</a:t>
            </a:r>
            <a:endParaRPr lang="en-US" sz="1400" dirty="0"/>
          </a:p>
        </p:txBody>
      </p:sp>
      <p:sp>
        <p:nvSpPr>
          <p:cNvPr id="15" name="Shape 12"/>
          <p:cNvSpPr/>
          <p:nvPr/>
        </p:nvSpPr>
        <p:spPr>
          <a:xfrm>
            <a:off x="2286000" y="2871216"/>
            <a:ext cx="9354312" cy="18288"/>
          </a:xfrm>
          <a:prstGeom prst="rect">
            <a:avLst/>
          </a:prstGeom>
          <a:solidFill>
            <a:srgbClr val="D0D7DE"/>
          </a:solidFill>
          <a:ln/>
        </p:spPr>
      </p:sp>
      <p:sp>
        <p:nvSpPr>
          <p:cNvPr id="16" name="Text 13"/>
          <p:cNvSpPr/>
          <p:nvPr/>
        </p:nvSpPr>
        <p:spPr>
          <a:xfrm>
            <a:off x="548640" y="3246120"/>
            <a:ext cx="1645920" cy="457200"/>
          </a:xfrm>
          <a:prstGeom prst="rect">
            <a:avLst/>
          </a:prstGeom>
          <a:noFill/>
          <a:ln/>
        </p:spPr>
        <p:txBody>
          <a:bodyPr wrap="square" lIns="0" tIns="0" rIns="0" bIns="0" rtlCol="0" anchor="ctr"/>
          <a:lstStyle/>
          <a:p>
            <a:pPr algn="l" indent="0" marL="0">
              <a:buNone/>
            </a:pPr>
            <a:r>
              <a:rPr lang="en-US" sz="1400" b="1" dirty="0">
                <a:solidFill>
                  <a:srgbClr val="2A7F62"/>
                </a:solidFill>
                <a:latin typeface="Calibri" pitchFamily="34" charset="0"/>
                <a:ea typeface="Calibri" pitchFamily="34" charset="-122"/>
                <a:cs typeface="Calibri" pitchFamily="34" charset="-120"/>
              </a:rPr>
              <a:t>Log de transacciones</a:t>
            </a:r>
            <a:endParaRPr lang="en-US" sz="1400" dirty="0"/>
          </a:p>
        </p:txBody>
      </p:sp>
      <p:sp>
        <p:nvSpPr>
          <p:cNvPr id="17" name="Shape 14"/>
          <p:cNvSpPr/>
          <p:nvPr/>
        </p:nvSpPr>
        <p:spPr>
          <a:xfrm>
            <a:off x="2286000" y="3465576"/>
            <a:ext cx="9354312" cy="18288"/>
          </a:xfrm>
          <a:prstGeom prst="rect">
            <a:avLst/>
          </a:prstGeom>
          <a:solidFill>
            <a:srgbClr val="D0D7DE"/>
          </a:solidFill>
          <a:ln/>
        </p:spPr>
      </p:sp>
      <p:sp>
        <p:nvSpPr>
          <p:cNvPr id="18" name="Shape 15"/>
          <p:cNvSpPr/>
          <p:nvPr/>
        </p:nvSpPr>
        <p:spPr>
          <a:xfrm>
            <a:off x="3786896" y="2093976"/>
            <a:ext cx="365760" cy="365760"/>
          </a:xfrm>
          <a:prstGeom prst="roundRect">
            <a:avLst>
              <a:gd name="adj" fmla="val 15000"/>
            </a:avLst>
          </a:prstGeom>
          <a:solidFill>
            <a:srgbClr val="D95D39"/>
          </a:solidFill>
          <a:ln/>
        </p:spPr>
      </p:sp>
      <p:sp>
        <p:nvSpPr>
          <p:cNvPr id="19" name="Text 16"/>
          <p:cNvSpPr/>
          <p:nvPr/>
        </p:nvSpPr>
        <p:spPr>
          <a:xfrm>
            <a:off x="3466856" y="2478024"/>
            <a:ext cx="1005840" cy="182880"/>
          </a:xfrm>
          <a:prstGeom prst="rect">
            <a:avLst/>
          </a:prstGeom>
          <a:noFill/>
          <a:ln/>
        </p:spPr>
        <p:txBody>
          <a:bodyPr wrap="square" lIns="0" tIns="0" rIns="0" bIns="0" rtlCol="0" anchor="t"/>
          <a:lstStyle/>
          <a:p>
            <a:pPr algn="ctr" indent="0" marL="0">
              <a:buNone/>
            </a:pPr>
            <a:r>
              <a:rPr lang="en-US" sz="1000" dirty="0">
                <a:solidFill>
                  <a:srgbClr val="5C6B7A"/>
                </a:solidFill>
                <a:latin typeface="Calibri" pitchFamily="34" charset="0"/>
                <a:ea typeface="Calibri" pitchFamily="34" charset="-122"/>
                <a:cs typeface="Calibri" pitchFamily="34" charset="-120"/>
              </a:rPr>
              <a:t>Dom 22:00</a:t>
            </a:r>
            <a:endParaRPr lang="en-US" sz="1000" dirty="0"/>
          </a:p>
        </p:txBody>
      </p:sp>
      <p:sp>
        <p:nvSpPr>
          <p:cNvPr id="20" name="Shape 17"/>
          <p:cNvSpPr/>
          <p:nvPr/>
        </p:nvSpPr>
        <p:spPr>
          <a:xfrm>
            <a:off x="5657759" y="2688336"/>
            <a:ext cx="365760" cy="365760"/>
          </a:xfrm>
          <a:prstGeom prst="roundRect">
            <a:avLst>
              <a:gd name="adj" fmla="val 15000"/>
            </a:avLst>
          </a:prstGeom>
          <a:solidFill>
            <a:srgbClr val="134074"/>
          </a:solidFill>
          <a:ln/>
        </p:spPr>
      </p:sp>
      <p:sp>
        <p:nvSpPr>
          <p:cNvPr id="21" name="Text 18"/>
          <p:cNvSpPr/>
          <p:nvPr/>
        </p:nvSpPr>
        <p:spPr>
          <a:xfrm>
            <a:off x="5337719" y="3072384"/>
            <a:ext cx="1005840" cy="182880"/>
          </a:xfrm>
          <a:prstGeom prst="rect">
            <a:avLst/>
          </a:prstGeom>
          <a:noFill/>
          <a:ln/>
        </p:spPr>
        <p:txBody>
          <a:bodyPr wrap="square" lIns="0" tIns="0" rIns="0" bIns="0" rtlCol="0" anchor="t"/>
          <a:lstStyle/>
          <a:p>
            <a:pPr algn="ctr" indent="0" marL="0">
              <a:buNone/>
            </a:pPr>
            <a:r>
              <a:rPr lang="en-US" sz="1000" dirty="0">
                <a:solidFill>
                  <a:srgbClr val="5C6B7A"/>
                </a:solidFill>
                <a:latin typeface="Calibri" pitchFamily="34" charset="0"/>
                <a:ea typeface="Calibri" pitchFamily="34" charset="-122"/>
                <a:cs typeface="Calibri" pitchFamily="34" charset="-120"/>
              </a:rPr>
              <a:t>Lun 22:00</a:t>
            </a:r>
            <a:endParaRPr lang="en-US" sz="1000" dirty="0"/>
          </a:p>
        </p:txBody>
      </p:sp>
      <p:sp>
        <p:nvSpPr>
          <p:cNvPr id="22" name="Shape 19"/>
          <p:cNvSpPr/>
          <p:nvPr/>
        </p:nvSpPr>
        <p:spPr>
          <a:xfrm>
            <a:off x="7528621" y="2688336"/>
            <a:ext cx="365760" cy="365760"/>
          </a:xfrm>
          <a:prstGeom prst="roundRect">
            <a:avLst>
              <a:gd name="adj" fmla="val 15000"/>
            </a:avLst>
          </a:prstGeom>
          <a:solidFill>
            <a:srgbClr val="134074"/>
          </a:solidFill>
          <a:ln/>
        </p:spPr>
      </p:sp>
      <p:sp>
        <p:nvSpPr>
          <p:cNvPr id="23" name="Text 20"/>
          <p:cNvSpPr/>
          <p:nvPr/>
        </p:nvSpPr>
        <p:spPr>
          <a:xfrm>
            <a:off x="7208581" y="3072384"/>
            <a:ext cx="1005840" cy="182880"/>
          </a:xfrm>
          <a:prstGeom prst="rect">
            <a:avLst/>
          </a:prstGeom>
          <a:noFill/>
          <a:ln/>
        </p:spPr>
        <p:txBody>
          <a:bodyPr wrap="square" lIns="0" tIns="0" rIns="0" bIns="0" rtlCol="0" anchor="t"/>
          <a:lstStyle/>
          <a:p>
            <a:pPr algn="ctr" indent="0" marL="0">
              <a:buNone/>
            </a:pPr>
            <a:r>
              <a:rPr lang="en-US" sz="1000" dirty="0">
                <a:solidFill>
                  <a:srgbClr val="5C6B7A"/>
                </a:solidFill>
                <a:latin typeface="Calibri" pitchFamily="34" charset="0"/>
                <a:ea typeface="Calibri" pitchFamily="34" charset="-122"/>
                <a:cs typeface="Calibri" pitchFamily="34" charset="-120"/>
              </a:rPr>
              <a:t>Mar 22:00</a:t>
            </a:r>
            <a:endParaRPr lang="en-US" sz="1000" dirty="0"/>
          </a:p>
        </p:txBody>
      </p:sp>
      <p:sp>
        <p:nvSpPr>
          <p:cNvPr id="24" name="Shape 21"/>
          <p:cNvSpPr/>
          <p:nvPr/>
        </p:nvSpPr>
        <p:spPr>
          <a:xfrm>
            <a:off x="3988905" y="3355848"/>
            <a:ext cx="36576" cy="219456"/>
          </a:xfrm>
          <a:prstGeom prst="rect">
            <a:avLst/>
          </a:prstGeom>
          <a:solidFill>
            <a:srgbClr val="2A7F62"/>
          </a:solidFill>
          <a:ln/>
        </p:spPr>
      </p:sp>
      <p:sp>
        <p:nvSpPr>
          <p:cNvPr id="25" name="Shape 22"/>
          <p:cNvSpPr/>
          <p:nvPr/>
        </p:nvSpPr>
        <p:spPr>
          <a:xfrm>
            <a:off x="4063740" y="3355848"/>
            <a:ext cx="36576" cy="219456"/>
          </a:xfrm>
          <a:prstGeom prst="rect">
            <a:avLst/>
          </a:prstGeom>
          <a:solidFill>
            <a:srgbClr val="2A7F62"/>
          </a:solidFill>
          <a:ln/>
        </p:spPr>
      </p:sp>
      <p:sp>
        <p:nvSpPr>
          <p:cNvPr id="26" name="Shape 23"/>
          <p:cNvSpPr/>
          <p:nvPr/>
        </p:nvSpPr>
        <p:spPr>
          <a:xfrm>
            <a:off x="4138574" y="3355848"/>
            <a:ext cx="36576" cy="219456"/>
          </a:xfrm>
          <a:prstGeom prst="rect">
            <a:avLst/>
          </a:prstGeom>
          <a:solidFill>
            <a:srgbClr val="2A7F62"/>
          </a:solidFill>
          <a:ln/>
        </p:spPr>
      </p:sp>
      <p:sp>
        <p:nvSpPr>
          <p:cNvPr id="27" name="Shape 24"/>
          <p:cNvSpPr/>
          <p:nvPr/>
        </p:nvSpPr>
        <p:spPr>
          <a:xfrm>
            <a:off x="4213409" y="3355848"/>
            <a:ext cx="36576" cy="219456"/>
          </a:xfrm>
          <a:prstGeom prst="rect">
            <a:avLst/>
          </a:prstGeom>
          <a:solidFill>
            <a:srgbClr val="2A7F62"/>
          </a:solidFill>
          <a:ln/>
        </p:spPr>
      </p:sp>
      <p:sp>
        <p:nvSpPr>
          <p:cNvPr id="28" name="Shape 25"/>
          <p:cNvSpPr/>
          <p:nvPr/>
        </p:nvSpPr>
        <p:spPr>
          <a:xfrm>
            <a:off x="4288243" y="3355848"/>
            <a:ext cx="36576" cy="219456"/>
          </a:xfrm>
          <a:prstGeom prst="rect">
            <a:avLst/>
          </a:prstGeom>
          <a:solidFill>
            <a:srgbClr val="2A7F62"/>
          </a:solidFill>
          <a:ln/>
        </p:spPr>
      </p:sp>
      <p:sp>
        <p:nvSpPr>
          <p:cNvPr id="29" name="Shape 26"/>
          <p:cNvSpPr/>
          <p:nvPr/>
        </p:nvSpPr>
        <p:spPr>
          <a:xfrm>
            <a:off x="4363078" y="3355848"/>
            <a:ext cx="36576" cy="219456"/>
          </a:xfrm>
          <a:prstGeom prst="rect">
            <a:avLst/>
          </a:prstGeom>
          <a:solidFill>
            <a:srgbClr val="2A7F62"/>
          </a:solidFill>
          <a:ln/>
        </p:spPr>
      </p:sp>
      <p:sp>
        <p:nvSpPr>
          <p:cNvPr id="30" name="Shape 27"/>
          <p:cNvSpPr/>
          <p:nvPr/>
        </p:nvSpPr>
        <p:spPr>
          <a:xfrm>
            <a:off x="4437912" y="3355848"/>
            <a:ext cx="36576" cy="219456"/>
          </a:xfrm>
          <a:prstGeom prst="rect">
            <a:avLst/>
          </a:prstGeom>
          <a:solidFill>
            <a:srgbClr val="2A7F62"/>
          </a:solidFill>
          <a:ln/>
        </p:spPr>
      </p:sp>
      <p:sp>
        <p:nvSpPr>
          <p:cNvPr id="31" name="Shape 28"/>
          <p:cNvSpPr/>
          <p:nvPr/>
        </p:nvSpPr>
        <p:spPr>
          <a:xfrm>
            <a:off x="4512747" y="3355848"/>
            <a:ext cx="36576" cy="219456"/>
          </a:xfrm>
          <a:prstGeom prst="rect">
            <a:avLst/>
          </a:prstGeom>
          <a:solidFill>
            <a:srgbClr val="2A7F62"/>
          </a:solidFill>
          <a:ln/>
        </p:spPr>
      </p:sp>
      <p:sp>
        <p:nvSpPr>
          <p:cNvPr id="32" name="Shape 29"/>
          <p:cNvSpPr/>
          <p:nvPr/>
        </p:nvSpPr>
        <p:spPr>
          <a:xfrm>
            <a:off x="4587581" y="3355848"/>
            <a:ext cx="36576" cy="219456"/>
          </a:xfrm>
          <a:prstGeom prst="rect">
            <a:avLst/>
          </a:prstGeom>
          <a:solidFill>
            <a:srgbClr val="2A7F62"/>
          </a:solidFill>
          <a:ln/>
        </p:spPr>
      </p:sp>
      <p:sp>
        <p:nvSpPr>
          <p:cNvPr id="33" name="Shape 30"/>
          <p:cNvSpPr/>
          <p:nvPr/>
        </p:nvSpPr>
        <p:spPr>
          <a:xfrm>
            <a:off x="4662416" y="3355848"/>
            <a:ext cx="36576" cy="219456"/>
          </a:xfrm>
          <a:prstGeom prst="rect">
            <a:avLst/>
          </a:prstGeom>
          <a:solidFill>
            <a:srgbClr val="2A7F62"/>
          </a:solidFill>
          <a:ln/>
        </p:spPr>
      </p:sp>
      <p:sp>
        <p:nvSpPr>
          <p:cNvPr id="34" name="Shape 31"/>
          <p:cNvSpPr/>
          <p:nvPr/>
        </p:nvSpPr>
        <p:spPr>
          <a:xfrm>
            <a:off x="4737250" y="3355848"/>
            <a:ext cx="36576" cy="219456"/>
          </a:xfrm>
          <a:prstGeom prst="rect">
            <a:avLst/>
          </a:prstGeom>
          <a:solidFill>
            <a:srgbClr val="2A7F62"/>
          </a:solidFill>
          <a:ln/>
        </p:spPr>
      </p:sp>
      <p:sp>
        <p:nvSpPr>
          <p:cNvPr id="35" name="Shape 32"/>
          <p:cNvSpPr/>
          <p:nvPr/>
        </p:nvSpPr>
        <p:spPr>
          <a:xfrm>
            <a:off x="4812085" y="3355848"/>
            <a:ext cx="36576" cy="219456"/>
          </a:xfrm>
          <a:prstGeom prst="rect">
            <a:avLst/>
          </a:prstGeom>
          <a:solidFill>
            <a:srgbClr val="2A7F62"/>
          </a:solidFill>
          <a:ln/>
        </p:spPr>
      </p:sp>
      <p:sp>
        <p:nvSpPr>
          <p:cNvPr id="36" name="Shape 33"/>
          <p:cNvSpPr/>
          <p:nvPr/>
        </p:nvSpPr>
        <p:spPr>
          <a:xfrm>
            <a:off x="4886919" y="3355848"/>
            <a:ext cx="36576" cy="219456"/>
          </a:xfrm>
          <a:prstGeom prst="rect">
            <a:avLst/>
          </a:prstGeom>
          <a:solidFill>
            <a:srgbClr val="2A7F62"/>
          </a:solidFill>
          <a:ln/>
        </p:spPr>
      </p:sp>
      <p:sp>
        <p:nvSpPr>
          <p:cNvPr id="37" name="Shape 34"/>
          <p:cNvSpPr/>
          <p:nvPr/>
        </p:nvSpPr>
        <p:spPr>
          <a:xfrm>
            <a:off x="4961754" y="3355848"/>
            <a:ext cx="36576" cy="219456"/>
          </a:xfrm>
          <a:prstGeom prst="rect">
            <a:avLst/>
          </a:prstGeom>
          <a:solidFill>
            <a:srgbClr val="2A7F62"/>
          </a:solidFill>
          <a:ln/>
        </p:spPr>
      </p:sp>
      <p:sp>
        <p:nvSpPr>
          <p:cNvPr id="38" name="Shape 35"/>
          <p:cNvSpPr/>
          <p:nvPr/>
        </p:nvSpPr>
        <p:spPr>
          <a:xfrm>
            <a:off x="5036588" y="3355848"/>
            <a:ext cx="36576" cy="219456"/>
          </a:xfrm>
          <a:prstGeom prst="rect">
            <a:avLst/>
          </a:prstGeom>
          <a:solidFill>
            <a:srgbClr val="2A7F62"/>
          </a:solidFill>
          <a:ln/>
        </p:spPr>
      </p:sp>
      <p:sp>
        <p:nvSpPr>
          <p:cNvPr id="39" name="Shape 36"/>
          <p:cNvSpPr/>
          <p:nvPr/>
        </p:nvSpPr>
        <p:spPr>
          <a:xfrm>
            <a:off x="5111423" y="3355848"/>
            <a:ext cx="36576" cy="219456"/>
          </a:xfrm>
          <a:prstGeom prst="rect">
            <a:avLst/>
          </a:prstGeom>
          <a:solidFill>
            <a:srgbClr val="2A7F62"/>
          </a:solidFill>
          <a:ln/>
        </p:spPr>
      </p:sp>
      <p:sp>
        <p:nvSpPr>
          <p:cNvPr id="40" name="Shape 37"/>
          <p:cNvSpPr/>
          <p:nvPr/>
        </p:nvSpPr>
        <p:spPr>
          <a:xfrm>
            <a:off x="5186257" y="3355848"/>
            <a:ext cx="36576" cy="219456"/>
          </a:xfrm>
          <a:prstGeom prst="rect">
            <a:avLst/>
          </a:prstGeom>
          <a:solidFill>
            <a:srgbClr val="2A7F62"/>
          </a:solidFill>
          <a:ln/>
        </p:spPr>
      </p:sp>
      <p:sp>
        <p:nvSpPr>
          <p:cNvPr id="41" name="Shape 38"/>
          <p:cNvSpPr/>
          <p:nvPr/>
        </p:nvSpPr>
        <p:spPr>
          <a:xfrm>
            <a:off x="5261092" y="3355848"/>
            <a:ext cx="36576" cy="219456"/>
          </a:xfrm>
          <a:prstGeom prst="rect">
            <a:avLst/>
          </a:prstGeom>
          <a:solidFill>
            <a:srgbClr val="2A7F62"/>
          </a:solidFill>
          <a:ln/>
        </p:spPr>
      </p:sp>
      <p:sp>
        <p:nvSpPr>
          <p:cNvPr id="42" name="Shape 39"/>
          <p:cNvSpPr/>
          <p:nvPr/>
        </p:nvSpPr>
        <p:spPr>
          <a:xfrm>
            <a:off x="5335926" y="3355848"/>
            <a:ext cx="36576" cy="219456"/>
          </a:xfrm>
          <a:prstGeom prst="rect">
            <a:avLst/>
          </a:prstGeom>
          <a:solidFill>
            <a:srgbClr val="2A7F62"/>
          </a:solidFill>
          <a:ln/>
        </p:spPr>
      </p:sp>
      <p:sp>
        <p:nvSpPr>
          <p:cNvPr id="43" name="Shape 40"/>
          <p:cNvSpPr/>
          <p:nvPr/>
        </p:nvSpPr>
        <p:spPr>
          <a:xfrm>
            <a:off x="5410761" y="3355848"/>
            <a:ext cx="36576" cy="219456"/>
          </a:xfrm>
          <a:prstGeom prst="rect">
            <a:avLst/>
          </a:prstGeom>
          <a:solidFill>
            <a:srgbClr val="2A7F62"/>
          </a:solidFill>
          <a:ln/>
        </p:spPr>
      </p:sp>
      <p:sp>
        <p:nvSpPr>
          <p:cNvPr id="44" name="Shape 41"/>
          <p:cNvSpPr/>
          <p:nvPr/>
        </p:nvSpPr>
        <p:spPr>
          <a:xfrm>
            <a:off x="5485595" y="3355848"/>
            <a:ext cx="36576" cy="219456"/>
          </a:xfrm>
          <a:prstGeom prst="rect">
            <a:avLst/>
          </a:prstGeom>
          <a:solidFill>
            <a:srgbClr val="2A7F62"/>
          </a:solidFill>
          <a:ln/>
        </p:spPr>
      </p:sp>
      <p:sp>
        <p:nvSpPr>
          <p:cNvPr id="45" name="Shape 42"/>
          <p:cNvSpPr/>
          <p:nvPr/>
        </p:nvSpPr>
        <p:spPr>
          <a:xfrm>
            <a:off x="5560430" y="3355848"/>
            <a:ext cx="36576" cy="219456"/>
          </a:xfrm>
          <a:prstGeom prst="rect">
            <a:avLst/>
          </a:prstGeom>
          <a:solidFill>
            <a:srgbClr val="2A7F62"/>
          </a:solidFill>
          <a:ln/>
        </p:spPr>
      </p:sp>
      <p:sp>
        <p:nvSpPr>
          <p:cNvPr id="46" name="Shape 43"/>
          <p:cNvSpPr/>
          <p:nvPr/>
        </p:nvSpPr>
        <p:spPr>
          <a:xfrm>
            <a:off x="5635264" y="3355848"/>
            <a:ext cx="36576" cy="219456"/>
          </a:xfrm>
          <a:prstGeom prst="rect">
            <a:avLst/>
          </a:prstGeom>
          <a:solidFill>
            <a:srgbClr val="2A7F62"/>
          </a:solidFill>
          <a:ln/>
        </p:spPr>
      </p:sp>
      <p:sp>
        <p:nvSpPr>
          <p:cNvPr id="47" name="Shape 44"/>
          <p:cNvSpPr/>
          <p:nvPr/>
        </p:nvSpPr>
        <p:spPr>
          <a:xfrm>
            <a:off x="5710099" y="3355848"/>
            <a:ext cx="36576" cy="219456"/>
          </a:xfrm>
          <a:prstGeom prst="rect">
            <a:avLst/>
          </a:prstGeom>
          <a:solidFill>
            <a:srgbClr val="2A7F62"/>
          </a:solidFill>
          <a:ln/>
        </p:spPr>
      </p:sp>
      <p:sp>
        <p:nvSpPr>
          <p:cNvPr id="48" name="Shape 45"/>
          <p:cNvSpPr/>
          <p:nvPr/>
        </p:nvSpPr>
        <p:spPr>
          <a:xfrm>
            <a:off x="5784933" y="3355848"/>
            <a:ext cx="36576" cy="219456"/>
          </a:xfrm>
          <a:prstGeom prst="rect">
            <a:avLst/>
          </a:prstGeom>
          <a:solidFill>
            <a:srgbClr val="2A7F62"/>
          </a:solidFill>
          <a:ln/>
        </p:spPr>
      </p:sp>
      <p:sp>
        <p:nvSpPr>
          <p:cNvPr id="49" name="Shape 46"/>
          <p:cNvSpPr/>
          <p:nvPr/>
        </p:nvSpPr>
        <p:spPr>
          <a:xfrm>
            <a:off x="5859768" y="3355848"/>
            <a:ext cx="36576" cy="219456"/>
          </a:xfrm>
          <a:prstGeom prst="rect">
            <a:avLst/>
          </a:prstGeom>
          <a:solidFill>
            <a:srgbClr val="2A7F62"/>
          </a:solidFill>
          <a:ln/>
        </p:spPr>
      </p:sp>
      <p:sp>
        <p:nvSpPr>
          <p:cNvPr id="50" name="Shape 47"/>
          <p:cNvSpPr/>
          <p:nvPr/>
        </p:nvSpPr>
        <p:spPr>
          <a:xfrm>
            <a:off x="5934602" y="3355848"/>
            <a:ext cx="36576" cy="219456"/>
          </a:xfrm>
          <a:prstGeom prst="rect">
            <a:avLst/>
          </a:prstGeom>
          <a:solidFill>
            <a:srgbClr val="2A7F62"/>
          </a:solidFill>
          <a:ln/>
        </p:spPr>
      </p:sp>
      <p:sp>
        <p:nvSpPr>
          <p:cNvPr id="51" name="Shape 48"/>
          <p:cNvSpPr/>
          <p:nvPr/>
        </p:nvSpPr>
        <p:spPr>
          <a:xfrm>
            <a:off x="6009437" y="3355848"/>
            <a:ext cx="36576" cy="219456"/>
          </a:xfrm>
          <a:prstGeom prst="rect">
            <a:avLst/>
          </a:prstGeom>
          <a:solidFill>
            <a:srgbClr val="2A7F62"/>
          </a:solidFill>
          <a:ln/>
        </p:spPr>
      </p:sp>
      <p:sp>
        <p:nvSpPr>
          <p:cNvPr id="52" name="Shape 49"/>
          <p:cNvSpPr/>
          <p:nvPr/>
        </p:nvSpPr>
        <p:spPr>
          <a:xfrm>
            <a:off x="6084271" y="3355848"/>
            <a:ext cx="36576" cy="219456"/>
          </a:xfrm>
          <a:prstGeom prst="rect">
            <a:avLst/>
          </a:prstGeom>
          <a:solidFill>
            <a:srgbClr val="2A7F62"/>
          </a:solidFill>
          <a:ln/>
        </p:spPr>
      </p:sp>
      <p:sp>
        <p:nvSpPr>
          <p:cNvPr id="53" name="Shape 50"/>
          <p:cNvSpPr/>
          <p:nvPr/>
        </p:nvSpPr>
        <p:spPr>
          <a:xfrm>
            <a:off x="6159106" y="3355848"/>
            <a:ext cx="36576" cy="219456"/>
          </a:xfrm>
          <a:prstGeom prst="rect">
            <a:avLst/>
          </a:prstGeom>
          <a:solidFill>
            <a:srgbClr val="2A7F62"/>
          </a:solidFill>
          <a:ln/>
        </p:spPr>
      </p:sp>
      <p:sp>
        <p:nvSpPr>
          <p:cNvPr id="54" name="Shape 51"/>
          <p:cNvSpPr/>
          <p:nvPr/>
        </p:nvSpPr>
        <p:spPr>
          <a:xfrm>
            <a:off x="6233940" y="3355848"/>
            <a:ext cx="36576" cy="219456"/>
          </a:xfrm>
          <a:prstGeom prst="rect">
            <a:avLst/>
          </a:prstGeom>
          <a:solidFill>
            <a:srgbClr val="2A7F62"/>
          </a:solidFill>
          <a:ln/>
        </p:spPr>
      </p:sp>
      <p:sp>
        <p:nvSpPr>
          <p:cNvPr id="55" name="Shape 52"/>
          <p:cNvSpPr/>
          <p:nvPr/>
        </p:nvSpPr>
        <p:spPr>
          <a:xfrm>
            <a:off x="6308775" y="3355848"/>
            <a:ext cx="36576" cy="219456"/>
          </a:xfrm>
          <a:prstGeom prst="rect">
            <a:avLst/>
          </a:prstGeom>
          <a:solidFill>
            <a:srgbClr val="2A7F62"/>
          </a:solidFill>
          <a:ln/>
        </p:spPr>
      </p:sp>
      <p:sp>
        <p:nvSpPr>
          <p:cNvPr id="56" name="Shape 53"/>
          <p:cNvSpPr/>
          <p:nvPr/>
        </p:nvSpPr>
        <p:spPr>
          <a:xfrm>
            <a:off x="6383609" y="3355848"/>
            <a:ext cx="36576" cy="219456"/>
          </a:xfrm>
          <a:prstGeom prst="rect">
            <a:avLst/>
          </a:prstGeom>
          <a:solidFill>
            <a:srgbClr val="2A7F62"/>
          </a:solidFill>
          <a:ln/>
        </p:spPr>
      </p:sp>
      <p:sp>
        <p:nvSpPr>
          <p:cNvPr id="57" name="Shape 54"/>
          <p:cNvSpPr/>
          <p:nvPr/>
        </p:nvSpPr>
        <p:spPr>
          <a:xfrm>
            <a:off x="6458444" y="3355848"/>
            <a:ext cx="36576" cy="219456"/>
          </a:xfrm>
          <a:prstGeom prst="rect">
            <a:avLst/>
          </a:prstGeom>
          <a:solidFill>
            <a:srgbClr val="2A7F62"/>
          </a:solidFill>
          <a:ln/>
        </p:spPr>
      </p:sp>
      <p:sp>
        <p:nvSpPr>
          <p:cNvPr id="58" name="Shape 55"/>
          <p:cNvSpPr/>
          <p:nvPr/>
        </p:nvSpPr>
        <p:spPr>
          <a:xfrm>
            <a:off x="6533278" y="3355848"/>
            <a:ext cx="36576" cy="219456"/>
          </a:xfrm>
          <a:prstGeom prst="rect">
            <a:avLst/>
          </a:prstGeom>
          <a:solidFill>
            <a:srgbClr val="2A7F62"/>
          </a:solidFill>
          <a:ln/>
        </p:spPr>
      </p:sp>
      <p:sp>
        <p:nvSpPr>
          <p:cNvPr id="59" name="Shape 56"/>
          <p:cNvSpPr/>
          <p:nvPr/>
        </p:nvSpPr>
        <p:spPr>
          <a:xfrm>
            <a:off x="6608113" y="3355848"/>
            <a:ext cx="36576" cy="219456"/>
          </a:xfrm>
          <a:prstGeom prst="rect">
            <a:avLst/>
          </a:prstGeom>
          <a:solidFill>
            <a:srgbClr val="2A7F62"/>
          </a:solidFill>
          <a:ln/>
        </p:spPr>
      </p:sp>
      <p:sp>
        <p:nvSpPr>
          <p:cNvPr id="60" name="Shape 57"/>
          <p:cNvSpPr/>
          <p:nvPr/>
        </p:nvSpPr>
        <p:spPr>
          <a:xfrm>
            <a:off x="6682947" y="3355848"/>
            <a:ext cx="36576" cy="219456"/>
          </a:xfrm>
          <a:prstGeom prst="rect">
            <a:avLst/>
          </a:prstGeom>
          <a:solidFill>
            <a:srgbClr val="2A7F62"/>
          </a:solidFill>
          <a:ln/>
        </p:spPr>
      </p:sp>
      <p:sp>
        <p:nvSpPr>
          <p:cNvPr id="61" name="Shape 58"/>
          <p:cNvSpPr/>
          <p:nvPr/>
        </p:nvSpPr>
        <p:spPr>
          <a:xfrm>
            <a:off x="6757782" y="3355848"/>
            <a:ext cx="36576" cy="219456"/>
          </a:xfrm>
          <a:prstGeom prst="rect">
            <a:avLst/>
          </a:prstGeom>
          <a:solidFill>
            <a:srgbClr val="2A7F62"/>
          </a:solidFill>
          <a:ln/>
        </p:spPr>
      </p:sp>
      <p:sp>
        <p:nvSpPr>
          <p:cNvPr id="62" name="Shape 59"/>
          <p:cNvSpPr/>
          <p:nvPr/>
        </p:nvSpPr>
        <p:spPr>
          <a:xfrm>
            <a:off x="6832616" y="3355848"/>
            <a:ext cx="36576" cy="219456"/>
          </a:xfrm>
          <a:prstGeom prst="rect">
            <a:avLst/>
          </a:prstGeom>
          <a:solidFill>
            <a:srgbClr val="2A7F62"/>
          </a:solidFill>
          <a:ln/>
        </p:spPr>
      </p:sp>
      <p:sp>
        <p:nvSpPr>
          <p:cNvPr id="63" name="Shape 60"/>
          <p:cNvSpPr/>
          <p:nvPr/>
        </p:nvSpPr>
        <p:spPr>
          <a:xfrm>
            <a:off x="6907451" y="3355848"/>
            <a:ext cx="36576" cy="219456"/>
          </a:xfrm>
          <a:prstGeom prst="rect">
            <a:avLst/>
          </a:prstGeom>
          <a:solidFill>
            <a:srgbClr val="2A7F62"/>
          </a:solidFill>
          <a:ln/>
        </p:spPr>
      </p:sp>
      <p:sp>
        <p:nvSpPr>
          <p:cNvPr id="64" name="Shape 61"/>
          <p:cNvSpPr/>
          <p:nvPr/>
        </p:nvSpPr>
        <p:spPr>
          <a:xfrm>
            <a:off x="6982285" y="3355848"/>
            <a:ext cx="36576" cy="219456"/>
          </a:xfrm>
          <a:prstGeom prst="rect">
            <a:avLst/>
          </a:prstGeom>
          <a:solidFill>
            <a:srgbClr val="2A7F62"/>
          </a:solidFill>
          <a:ln/>
        </p:spPr>
      </p:sp>
      <p:sp>
        <p:nvSpPr>
          <p:cNvPr id="65" name="Shape 62"/>
          <p:cNvSpPr/>
          <p:nvPr/>
        </p:nvSpPr>
        <p:spPr>
          <a:xfrm>
            <a:off x="7057120" y="3355848"/>
            <a:ext cx="36576" cy="219456"/>
          </a:xfrm>
          <a:prstGeom prst="rect">
            <a:avLst/>
          </a:prstGeom>
          <a:solidFill>
            <a:srgbClr val="2A7F62"/>
          </a:solidFill>
          <a:ln/>
        </p:spPr>
      </p:sp>
      <p:sp>
        <p:nvSpPr>
          <p:cNvPr id="66" name="Shape 63"/>
          <p:cNvSpPr/>
          <p:nvPr/>
        </p:nvSpPr>
        <p:spPr>
          <a:xfrm>
            <a:off x="7131954" y="3355848"/>
            <a:ext cx="36576" cy="219456"/>
          </a:xfrm>
          <a:prstGeom prst="rect">
            <a:avLst/>
          </a:prstGeom>
          <a:solidFill>
            <a:srgbClr val="2A7F62"/>
          </a:solidFill>
          <a:ln/>
        </p:spPr>
      </p:sp>
      <p:sp>
        <p:nvSpPr>
          <p:cNvPr id="67" name="Shape 64"/>
          <p:cNvSpPr/>
          <p:nvPr/>
        </p:nvSpPr>
        <p:spPr>
          <a:xfrm>
            <a:off x="7206789" y="3355848"/>
            <a:ext cx="36576" cy="219456"/>
          </a:xfrm>
          <a:prstGeom prst="rect">
            <a:avLst/>
          </a:prstGeom>
          <a:solidFill>
            <a:srgbClr val="2A7F62"/>
          </a:solidFill>
          <a:ln/>
        </p:spPr>
      </p:sp>
      <p:sp>
        <p:nvSpPr>
          <p:cNvPr id="68" name="Shape 65"/>
          <p:cNvSpPr/>
          <p:nvPr/>
        </p:nvSpPr>
        <p:spPr>
          <a:xfrm>
            <a:off x="7281623" y="3355848"/>
            <a:ext cx="36576" cy="219456"/>
          </a:xfrm>
          <a:prstGeom prst="rect">
            <a:avLst/>
          </a:prstGeom>
          <a:solidFill>
            <a:srgbClr val="2A7F62"/>
          </a:solidFill>
          <a:ln/>
        </p:spPr>
      </p:sp>
      <p:sp>
        <p:nvSpPr>
          <p:cNvPr id="69" name="Shape 66"/>
          <p:cNvSpPr/>
          <p:nvPr/>
        </p:nvSpPr>
        <p:spPr>
          <a:xfrm>
            <a:off x="7356458" y="3355848"/>
            <a:ext cx="36576" cy="219456"/>
          </a:xfrm>
          <a:prstGeom prst="rect">
            <a:avLst/>
          </a:prstGeom>
          <a:solidFill>
            <a:srgbClr val="2A7F62"/>
          </a:solidFill>
          <a:ln/>
        </p:spPr>
      </p:sp>
      <p:sp>
        <p:nvSpPr>
          <p:cNvPr id="70" name="Shape 67"/>
          <p:cNvSpPr/>
          <p:nvPr/>
        </p:nvSpPr>
        <p:spPr>
          <a:xfrm>
            <a:off x="7431292" y="3355848"/>
            <a:ext cx="36576" cy="219456"/>
          </a:xfrm>
          <a:prstGeom prst="rect">
            <a:avLst/>
          </a:prstGeom>
          <a:solidFill>
            <a:srgbClr val="2A7F62"/>
          </a:solidFill>
          <a:ln/>
        </p:spPr>
      </p:sp>
      <p:sp>
        <p:nvSpPr>
          <p:cNvPr id="71" name="Shape 68"/>
          <p:cNvSpPr/>
          <p:nvPr/>
        </p:nvSpPr>
        <p:spPr>
          <a:xfrm>
            <a:off x="7506127" y="3355848"/>
            <a:ext cx="36576" cy="219456"/>
          </a:xfrm>
          <a:prstGeom prst="rect">
            <a:avLst/>
          </a:prstGeom>
          <a:solidFill>
            <a:srgbClr val="2A7F62"/>
          </a:solidFill>
          <a:ln/>
        </p:spPr>
      </p:sp>
      <p:sp>
        <p:nvSpPr>
          <p:cNvPr id="72" name="Shape 69"/>
          <p:cNvSpPr/>
          <p:nvPr/>
        </p:nvSpPr>
        <p:spPr>
          <a:xfrm>
            <a:off x="7580961" y="3355848"/>
            <a:ext cx="36576" cy="219456"/>
          </a:xfrm>
          <a:prstGeom prst="rect">
            <a:avLst/>
          </a:prstGeom>
          <a:solidFill>
            <a:srgbClr val="2A7F62"/>
          </a:solidFill>
          <a:ln/>
        </p:spPr>
      </p:sp>
      <p:sp>
        <p:nvSpPr>
          <p:cNvPr id="73" name="Shape 70"/>
          <p:cNvSpPr/>
          <p:nvPr/>
        </p:nvSpPr>
        <p:spPr>
          <a:xfrm>
            <a:off x="7655796" y="3355848"/>
            <a:ext cx="36576" cy="219456"/>
          </a:xfrm>
          <a:prstGeom prst="rect">
            <a:avLst/>
          </a:prstGeom>
          <a:solidFill>
            <a:srgbClr val="2A7F62"/>
          </a:solidFill>
          <a:ln/>
        </p:spPr>
      </p:sp>
      <p:sp>
        <p:nvSpPr>
          <p:cNvPr id="74" name="Shape 71"/>
          <p:cNvSpPr/>
          <p:nvPr/>
        </p:nvSpPr>
        <p:spPr>
          <a:xfrm>
            <a:off x="7730630" y="3355848"/>
            <a:ext cx="36576" cy="219456"/>
          </a:xfrm>
          <a:prstGeom prst="rect">
            <a:avLst/>
          </a:prstGeom>
          <a:solidFill>
            <a:srgbClr val="2A7F62"/>
          </a:solidFill>
          <a:ln/>
        </p:spPr>
      </p:sp>
      <p:sp>
        <p:nvSpPr>
          <p:cNvPr id="75" name="Shape 72"/>
          <p:cNvSpPr/>
          <p:nvPr/>
        </p:nvSpPr>
        <p:spPr>
          <a:xfrm>
            <a:off x="7805465" y="3355848"/>
            <a:ext cx="36576" cy="219456"/>
          </a:xfrm>
          <a:prstGeom prst="rect">
            <a:avLst/>
          </a:prstGeom>
          <a:solidFill>
            <a:srgbClr val="2A7F62"/>
          </a:solidFill>
          <a:ln/>
        </p:spPr>
      </p:sp>
      <p:sp>
        <p:nvSpPr>
          <p:cNvPr id="76" name="Shape 73"/>
          <p:cNvSpPr/>
          <p:nvPr/>
        </p:nvSpPr>
        <p:spPr>
          <a:xfrm>
            <a:off x="7880299" y="3355848"/>
            <a:ext cx="36576" cy="219456"/>
          </a:xfrm>
          <a:prstGeom prst="rect">
            <a:avLst/>
          </a:prstGeom>
          <a:solidFill>
            <a:srgbClr val="2A7F62"/>
          </a:solidFill>
          <a:ln/>
        </p:spPr>
      </p:sp>
      <p:sp>
        <p:nvSpPr>
          <p:cNvPr id="77" name="Shape 74"/>
          <p:cNvSpPr/>
          <p:nvPr/>
        </p:nvSpPr>
        <p:spPr>
          <a:xfrm>
            <a:off x="7955134" y="3355848"/>
            <a:ext cx="36576" cy="219456"/>
          </a:xfrm>
          <a:prstGeom prst="rect">
            <a:avLst/>
          </a:prstGeom>
          <a:solidFill>
            <a:srgbClr val="2A7F62"/>
          </a:solidFill>
          <a:ln/>
        </p:spPr>
      </p:sp>
      <p:sp>
        <p:nvSpPr>
          <p:cNvPr id="78" name="Shape 75"/>
          <p:cNvSpPr/>
          <p:nvPr/>
        </p:nvSpPr>
        <p:spPr>
          <a:xfrm>
            <a:off x="8029968" y="3355848"/>
            <a:ext cx="36576" cy="219456"/>
          </a:xfrm>
          <a:prstGeom prst="rect">
            <a:avLst/>
          </a:prstGeom>
          <a:solidFill>
            <a:srgbClr val="2A7F62"/>
          </a:solidFill>
          <a:ln/>
        </p:spPr>
      </p:sp>
      <p:sp>
        <p:nvSpPr>
          <p:cNvPr id="79" name="Shape 76"/>
          <p:cNvSpPr/>
          <p:nvPr/>
        </p:nvSpPr>
        <p:spPr>
          <a:xfrm>
            <a:off x="8104803" y="3355848"/>
            <a:ext cx="36576" cy="219456"/>
          </a:xfrm>
          <a:prstGeom prst="rect">
            <a:avLst/>
          </a:prstGeom>
          <a:solidFill>
            <a:srgbClr val="2A7F62"/>
          </a:solidFill>
          <a:ln/>
        </p:spPr>
      </p:sp>
      <p:sp>
        <p:nvSpPr>
          <p:cNvPr id="80" name="Shape 77"/>
          <p:cNvSpPr/>
          <p:nvPr/>
        </p:nvSpPr>
        <p:spPr>
          <a:xfrm>
            <a:off x="8179637" y="3355848"/>
            <a:ext cx="36576" cy="219456"/>
          </a:xfrm>
          <a:prstGeom prst="rect">
            <a:avLst/>
          </a:prstGeom>
          <a:solidFill>
            <a:srgbClr val="2A7F62"/>
          </a:solidFill>
          <a:ln/>
        </p:spPr>
      </p:sp>
      <p:sp>
        <p:nvSpPr>
          <p:cNvPr id="81" name="Shape 78"/>
          <p:cNvSpPr/>
          <p:nvPr/>
        </p:nvSpPr>
        <p:spPr>
          <a:xfrm>
            <a:off x="8254472" y="3355848"/>
            <a:ext cx="36576" cy="219456"/>
          </a:xfrm>
          <a:prstGeom prst="rect">
            <a:avLst/>
          </a:prstGeom>
          <a:solidFill>
            <a:srgbClr val="2A7F62"/>
          </a:solidFill>
          <a:ln/>
        </p:spPr>
      </p:sp>
      <p:sp>
        <p:nvSpPr>
          <p:cNvPr id="82" name="Shape 79"/>
          <p:cNvSpPr/>
          <p:nvPr/>
        </p:nvSpPr>
        <p:spPr>
          <a:xfrm>
            <a:off x="8329306" y="3355848"/>
            <a:ext cx="36576" cy="219456"/>
          </a:xfrm>
          <a:prstGeom prst="rect">
            <a:avLst/>
          </a:prstGeom>
          <a:solidFill>
            <a:srgbClr val="2A7F62"/>
          </a:solidFill>
          <a:ln/>
        </p:spPr>
      </p:sp>
      <p:sp>
        <p:nvSpPr>
          <p:cNvPr id="83" name="Shape 80"/>
          <p:cNvSpPr/>
          <p:nvPr/>
        </p:nvSpPr>
        <p:spPr>
          <a:xfrm>
            <a:off x="8404141" y="3355848"/>
            <a:ext cx="36576" cy="219456"/>
          </a:xfrm>
          <a:prstGeom prst="rect">
            <a:avLst/>
          </a:prstGeom>
          <a:solidFill>
            <a:srgbClr val="2A7F62"/>
          </a:solidFill>
          <a:ln/>
        </p:spPr>
      </p:sp>
      <p:sp>
        <p:nvSpPr>
          <p:cNvPr id="84" name="Shape 81"/>
          <p:cNvSpPr/>
          <p:nvPr/>
        </p:nvSpPr>
        <p:spPr>
          <a:xfrm>
            <a:off x="8478975" y="3355848"/>
            <a:ext cx="36576" cy="219456"/>
          </a:xfrm>
          <a:prstGeom prst="rect">
            <a:avLst/>
          </a:prstGeom>
          <a:solidFill>
            <a:srgbClr val="2A7F62"/>
          </a:solidFill>
          <a:ln/>
        </p:spPr>
      </p:sp>
      <p:sp>
        <p:nvSpPr>
          <p:cNvPr id="85" name="Shape 82"/>
          <p:cNvSpPr/>
          <p:nvPr/>
        </p:nvSpPr>
        <p:spPr>
          <a:xfrm>
            <a:off x="8553810" y="3355848"/>
            <a:ext cx="36576" cy="219456"/>
          </a:xfrm>
          <a:prstGeom prst="rect">
            <a:avLst/>
          </a:prstGeom>
          <a:solidFill>
            <a:srgbClr val="2A7F62"/>
          </a:solidFill>
          <a:ln/>
        </p:spPr>
      </p:sp>
      <p:sp>
        <p:nvSpPr>
          <p:cNvPr id="86" name="Shape 83"/>
          <p:cNvSpPr/>
          <p:nvPr/>
        </p:nvSpPr>
        <p:spPr>
          <a:xfrm>
            <a:off x="8628644" y="3355848"/>
            <a:ext cx="36576" cy="219456"/>
          </a:xfrm>
          <a:prstGeom prst="rect">
            <a:avLst/>
          </a:prstGeom>
          <a:solidFill>
            <a:srgbClr val="2A7F62"/>
          </a:solidFill>
          <a:ln/>
        </p:spPr>
      </p:sp>
      <p:sp>
        <p:nvSpPr>
          <p:cNvPr id="87" name="Shape 84"/>
          <p:cNvSpPr/>
          <p:nvPr/>
        </p:nvSpPr>
        <p:spPr>
          <a:xfrm>
            <a:off x="8703479" y="3355848"/>
            <a:ext cx="36576" cy="219456"/>
          </a:xfrm>
          <a:prstGeom prst="rect">
            <a:avLst/>
          </a:prstGeom>
          <a:solidFill>
            <a:srgbClr val="2A7F62"/>
          </a:solidFill>
          <a:ln/>
        </p:spPr>
      </p:sp>
      <p:sp>
        <p:nvSpPr>
          <p:cNvPr id="88" name="Text 85"/>
          <p:cNvSpPr/>
          <p:nvPr/>
        </p:nvSpPr>
        <p:spPr>
          <a:xfrm>
            <a:off x="5185837" y="3666744"/>
            <a:ext cx="1005840" cy="182880"/>
          </a:xfrm>
          <a:prstGeom prst="rect">
            <a:avLst/>
          </a:prstGeom>
          <a:noFill/>
          <a:ln/>
        </p:spPr>
        <p:txBody>
          <a:bodyPr wrap="square" lIns="0" tIns="0" rIns="0" bIns="0" rtlCol="0" anchor="t"/>
          <a:lstStyle/>
          <a:p>
            <a:pPr algn="ctr" indent="0" marL="0">
              <a:buNone/>
            </a:pPr>
            <a:r>
              <a:rPr lang="en-US" sz="1000" dirty="0">
                <a:solidFill>
                  <a:srgbClr val="5C6B7A"/>
                </a:solidFill>
                <a:latin typeface="Calibri" pitchFamily="34" charset="0"/>
                <a:ea typeface="Calibri" pitchFamily="34" charset="-122"/>
                <a:cs typeface="Calibri" pitchFamily="34" charset="-120"/>
              </a:rPr>
              <a:t>cada 15 min</a:t>
            </a:r>
            <a:endParaRPr lang="en-US" sz="1000" dirty="0"/>
          </a:p>
        </p:txBody>
      </p:sp>
      <p:sp>
        <p:nvSpPr>
          <p:cNvPr id="89" name="Shape 86"/>
          <p:cNvSpPr/>
          <p:nvPr/>
        </p:nvSpPr>
        <p:spPr>
          <a:xfrm>
            <a:off x="8721767" y="1965960"/>
            <a:ext cx="0" cy="1965960"/>
          </a:xfrm>
          <a:prstGeom prst="line">
            <a:avLst/>
          </a:prstGeom>
          <a:noFill/>
          <a:ln w="25400">
            <a:solidFill>
              <a:srgbClr val="D95D39"/>
            </a:solidFill>
            <a:prstDash val="dash"/>
          </a:ln>
        </p:spPr>
      </p:sp>
      <p:sp>
        <p:nvSpPr>
          <p:cNvPr id="90" name="Text 87"/>
          <p:cNvSpPr/>
          <p:nvPr/>
        </p:nvSpPr>
        <p:spPr>
          <a:xfrm>
            <a:off x="7578767" y="3959352"/>
            <a:ext cx="2286000" cy="384048"/>
          </a:xfrm>
          <a:prstGeom prst="roundRect">
            <a:avLst>
              <a:gd name="adj" fmla="val 19048"/>
            </a:avLst>
          </a:prstGeom>
          <a:solidFill>
            <a:srgbClr val="D95D39"/>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Incidente · Mié 10:37</a:t>
            </a:r>
            <a:endParaRPr lang="en-US" sz="1300" dirty="0"/>
          </a:p>
        </p:txBody>
      </p:sp>
      <p:sp>
        <p:nvSpPr>
          <p:cNvPr id="91" name="Text 88"/>
          <p:cNvSpPr/>
          <p:nvPr/>
        </p:nvSpPr>
        <p:spPr>
          <a:xfrm>
            <a:off x="548640" y="4617720"/>
            <a:ext cx="11091672" cy="292608"/>
          </a:xfrm>
          <a:prstGeom prst="rect">
            <a:avLst/>
          </a:prstGeom>
          <a:noFill/>
          <a:ln/>
        </p:spPr>
        <p:txBody>
          <a:bodyPr wrap="square" lIns="0" tIns="0" rIns="0" bIns="0" rtlCol="0" anchor="t"/>
          <a:lstStyle/>
          <a:p>
            <a:pPr algn="l" indent="0" marL="0">
              <a:buNone/>
            </a:pPr>
            <a:r>
              <a:rPr lang="en-US" sz="1500" b="1" dirty="0">
                <a:solidFill>
                  <a:srgbClr val="0B2545"/>
                </a:solidFill>
                <a:latin typeface="Calibri" pitchFamily="34" charset="0"/>
                <a:ea typeface="Calibri" pitchFamily="34" charset="-122"/>
                <a:cs typeface="Calibri" pitchFamily="34" charset="-120"/>
              </a:rPr>
              <a:t>Secuencia de restauración (STOPAT = 10:36)</a:t>
            </a:r>
            <a:endParaRPr lang="en-US" sz="1500" dirty="0"/>
          </a:p>
        </p:txBody>
      </p:sp>
      <p:sp>
        <p:nvSpPr>
          <p:cNvPr id="92" name="Shape 89"/>
          <p:cNvSpPr/>
          <p:nvPr/>
        </p:nvSpPr>
        <p:spPr>
          <a:xfrm>
            <a:off x="548640" y="5029200"/>
            <a:ext cx="2567178" cy="1005840"/>
          </a:xfrm>
          <a:prstGeom prst="roundRect">
            <a:avLst>
              <a:gd name="adj" fmla="val 909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93" name="Text 90"/>
          <p:cNvSpPr/>
          <p:nvPr/>
        </p:nvSpPr>
        <p:spPr>
          <a:xfrm>
            <a:off x="658368" y="5120640"/>
            <a:ext cx="2347722" cy="347472"/>
          </a:xfrm>
          <a:prstGeom prst="roundRect">
            <a:avLst>
              <a:gd name="adj" fmla="val 15789"/>
            </a:avLst>
          </a:prstGeom>
          <a:solidFill>
            <a:srgbClr val="D95D39"/>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 RESTORE FULL</a:t>
            </a:r>
            <a:endParaRPr lang="en-US" sz="1300" dirty="0"/>
          </a:p>
        </p:txBody>
      </p:sp>
      <p:sp>
        <p:nvSpPr>
          <p:cNvPr id="94" name="Text 91"/>
          <p:cNvSpPr/>
          <p:nvPr/>
        </p:nvSpPr>
        <p:spPr>
          <a:xfrm>
            <a:off x="658368" y="5513832"/>
            <a:ext cx="2347722" cy="45720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Domingo · NORECOVERY</a:t>
            </a:r>
            <a:endParaRPr lang="en-US" sz="1200" dirty="0"/>
          </a:p>
        </p:txBody>
      </p:sp>
      <p:sp>
        <p:nvSpPr>
          <p:cNvPr id="95" name="Shape 92"/>
          <p:cNvSpPr/>
          <p:nvPr/>
        </p:nvSpPr>
        <p:spPr>
          <a:xfrm>
            <a:off x="3143250" y="5394960"/>
            <a:ext cx="219456" cy="237744"/>
          </a:xfrm>
          <a:prstGeom prst="rightArrow">
            <a:avLst/>
          </a:prstGeom>
          <a:solidFill>
            <a:srgbClr val="D95D39"/>
          </a:solidFill>
          <a:ln/>
        </p:spPr>
      </p:sp>
      <p:sp>
        <p:nvSpPr>
          <p:cNvPr id="96" name="Shape 93"/>
          <p:cNvSpPr/>
          <p:nvPr/>
        </p:nvSpPr>
        <p:spPr>
          <a:xfrm>
            <a:off x="3390138" y="5029200"/>
            <a:ext cx="2567178" cy="1005840"/>
          </a:xfrm>
          <a:prstGeom prst="roundRect">
            <a:avLst>
              <a:gd name="adj" fmla="val 909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97" name="Text 94"/>
          <p:cNvSpPr/>
          <p:nvPr/>
        </p:nvSpPr>
        <p:spPr>
          <a:xfrm>
            <a:off x="3499866" y="5120640"/>
            <a:ext cx="2347722" cy="347472"/>
          </a:xfrm>
          <a:prstGeom prst="roundRect">
            <a:avLst>
              <a:gd name="adj" fmla="val 15789"/>
            </a:avLst>
          </a:prstGeom>
          <a:solidFill>
            <a:srgbClr val="134074"/>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 · RESTORE DIFF</a:t>
            </a:r>
            <a:endParaRPr lang="en-US" sz="1300" dirty="0"/>
          </a:p>
        </p:txBody>
      </p:sp>
      <p:sp>
        <p:nvSpPr>
          <p:cNvPr id="98" name="Text 95"/>
          <p:cNvSpPr/>
          <p:nvPr/>
        </p:nvSpPr>
        <p:spPr>
          <a:xfrm>
            <a:off x="3499866" y="5513832"/>
            <a:ext cx="2347722" cy="45720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Martes · NORECOVERY</a:t>
            </a:r>
            <a:endParaRPr lang="en-US" sz="1200" dirty="0"/>
          </a:p>
        </p:txBody>
      </p:sp>
      <p:sp>
        <p:nvSpPr>
          <p:cNvPr id="99" name="Shape 96"/>
          <p:cNvSpPr/>
          <p:nvPr/>
        </p:nvSpPr>
        <p:spPr>
          <a:xfrm>
            <a:off x="5984748" y="5394960"/>
            <a:ext cx="219456" cy="237744"/>
          </a:xfrm>
          <a:prstGeom prst="rightArrow">
            <a:avLst/>
          </a:prstGeom>
          <a:solidFill>
            <a:srgbClr val="D95D39"/>
          </a:solidFill>
          <a:ln/>
        </p:spPr>
      </p:sp>
      <p:sp>
        <p:nvSpPr>
          <p:cNvPr id="100" name="Shape 97"/>
          <p:cNvSpPr/>
          <p:nvPr/>
        </p:nvSpPr>
        <p:spPr>
          <a:xfrm>
            <a:off x="6231636" y="5029200"/>
            <a:ext cx="2567178" cy="1005840"/>
          </a:xfrm>
          <a:prstGeom prst="roundRect">
            <a:avLst>
              <a:gd name="adj" fmla="val 909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01" name="Text 98"/>
          <p:cNvSpPr/>
          <p:nvPr/>
        </p:nvSpPr>
        <p:spPr>
          <a:xfrm>
            <a:off x="6341364" y="5120640"/>
            <a:ext cx="2347722" cy="347472"/>
          </a:xfrm>
          <a:prstGeom prst="roundRect">
            <a:avLst>
              <a:gd name="adj" fmla="val 15789"/>
            </a:avLst>
          </a:prstGeom>
          <a:solidFill>
            <a:srgbClr val="2A7F62"/>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 RESTORE LOG(s)</a:t>
            </a:r>
            <a:endParaRPr lang="en-US" sz="1300" dirty="0"/>
          </a:p>
        </p:txBody>
      </p:sp>
      <p:sp>
        <p:nvSpPr>
          <p:cNvPr id="102" name="Text 99"/>
          <p:cNvSpPr/>
          <p:nvPr/>
        </p:nvSpPr>
        <p:spPr>
          <a:xfrm>
            <a:off x="6341364" y="5513832"/>
            <a:ext cx="2347722" cy="45720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Mar 22:15 → Mié 10:30 · NORECOVERY</a:t>
            </a:r>
            <a:endParaRPr lang="en-US" sz="1200" dirty="0"/>
          </a:p>
        </p:txBody>
      </p:sp>
      <p:sp>
        <p:nvSpPr>
          <p:cNvPr id="103" name="Shape 100"/>
          <p:cNvSpPr/>
          <p:nvPr/>
        </p:nvSpPr>
        <p:spPr>
          <a:xfrm>
            <a:off x="8826246" y="5394960"/>
            <a:ext cx="219456" cy="237744"/>
          </a:xfrm>
          <a:prstGeom prst="rightArrow">
            <a:avLst/>
          </a:prstGeom>
          <a:solidFill>
            <a:srgbClr val="D95D39"/>
          </a:solidFill>
          <a:ln/>
        </p:spPr>
      </p:sp>
      <p:sp>
        <p:nvSpPr>
          <p:cNvPr id="104" name="Shape 101"/>
          <p:cNvSpPr/>
          <p:nvPr/>
        </p:nvSpPr>
        <p:spPr>
          <a:xfrm>
            <a:off x="9073134" y="5029200"/>
            <a:ext cx="2567178" cy="1005840"/>
          </a:xfrm>
          <a:prstGeom prst="roundRect">
            <a:avLst>
              <a:gd name="adj" fmla="val 9091"/>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05" name="Text 102"/>
          <p:cNvSpPr/>
          <p:nvPr/>
        </p:nvSpPr>
        <p:spPr>
          <a:xfrm>
            <a:off x="9182862" y="5120640"/>
            <a:ext cx="2347722" cy="347472"/>
          </a:xfrm>
          <a:prstGeom prst="roundRect">
            <a:avLst>
              <a:gd name="adj" fmla="val 15789"/>
            </a:avLst>
          </a:prstGeom>
          <a:solidFill>
            <a:srgbClr val="0B2545"/>
          </a:solidFill>
          <a:ln/>
        </p:spPr>
        <p:txBody>
          <a:bodyPr wrap="square" lIns="508" tIns="1016" rIns="1016"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 LOG final</a:t>
            </a:r>
            <a:endParaRPr lang="en-US" sz="1300" dirty="0"/>
          </a:p>
        </p:txBody>
      </p:sp>
      <p:sp>
        <p:nvSpPr>
          <p:cNvPr id="106" name="Text 103"/>
          <p:cNvSpPr/>
          <p:nvPr/>
        </p:nvSpPr>
        <p:spPr>
          <a:xfrm>
            <a:off x="9182862" y="5513832"/>
            <a:ext cx="2347722" cy="45720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WITH STOPAT = 10:36, RECOVERY</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BACKUPS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T-SQL de backup: Full, Diff y Log</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64</a:t>
            </a:r>
            <a:endParaRPr lang="en-US" sz="1000" dirty="0"/>
          </a:p>
        </p:txBody>
      </p:sp>
      <p:sp>
        <p:nvSpPr>
          <p:cNvPr id="7" name="Shape 4"/>
          <p:cNvSpPr/>
          <p:nvPr/>
        </p:nvSpPr>
        <p:spPr>
          <a:xfrm>
            <a:off x="548640" y="1600200"/>
            <a:ext cx="704088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6675120" cy="411480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Full semanal con compresión y verificación de páginas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N'/var/opt/mssql/backup/Ventas_FULL.bak'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COMPRESSION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INIT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STATS</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9A3412"/>
                </a:solidFill>
                <a:latin typeface="Consolas" pitchFamily="34" charset="0"/>
                <a:ea typeface="Consolas" pitchFamily="34" charset="-122"/>
                <a:cs typeface="Consolas" pitchFamily="34" charset="-120"/>
              </a:rPr>
              <a:t>10</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Diferencial diario (cambios desde el último Full)</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N'/var/opt/mssql/backup/Ventas_DIFF.bak'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DIFFERENTIAL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COMPRESSION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Log cada 15 min (sólo Full / Bulk-Logged)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N'/var/opt/mssql/backup/Ventas_LOG_01.trn'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COMPRESSION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Copia puntual que no altera la cadena</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N'/var/opt/mssql/backup/Ventas_CO.bak'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COPY_ONLY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COMPRESSION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7863840" y="1600200"/>
            <a:ext cx="377647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8046720" y="1993392"/>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8183880" y="2130552"/>
            <a:ext cx="274320" cy="274320"/>
          </a:xfrm>
          <a:prstGeom prst="rect">
            <a:avLst/>
          </a:prstGeom>
        </p:spPr>
      </p:pic>
      <p:sp>
        <p:nvSpPr>
          <p:cNvPr id="13" name="Text 9"/>
          <p:cNvSpPr/>
          <p:nvPr/>
        </p:nvSpPr>
        <p:spPr>
          <a:xfrm>
            <a:off x="8778240" y="1600200"/>
            <a:ext cx="267919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COMPRESSION + CHECKSUM</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Menos E/S y tamaño; valida páginas al leer.</a:t>
            </a:r>
            <a:endParaRPr lang="en-US" sz="1600" dirty="0"/>
          </a:p>
        </p:txBody>
      </p:sp>
      <p:sp>
        <p:nvSpPr>
          <p:cNvPr id="14" name="Shape 10"/>
          <p:cNvSpPr/>
          <p:nvPr/>
        </p:nvSpPr>
        <p:spPr>
          <a:xfrm>
            <a:off x="7863840" y="3218688"/>
            <a:ext cx="377647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Shape 11"/>
          <p:cNvSpPr/>
          <p:nvPr/>
        </p:nvSpPr>
        <p:spPr>
          <a:xfrm>
            <a:off x="8046720" y="3611880"/>
            <a:ext cx="548640" cy="548640"/>
          </a:xfrm>
          <a:prstGeom prst="ellipse">
            <a:avLst/>
          </a:prstGeom>
          <a:solidFill>
            <a:srgbClr val="134074"/>
          </a:solidFill>
          <a:ln/>
        </p:spPr>
      </p:sp>
      <p:pic>
        <p:nvPicPr>
          <p:cNvPr id="16" name="Image 1" descr="preencoded.png">    </p:cNvPr>
          <p:cNvPicPr>
            <a:picLocks noChangeAspect="1"/>
          </p:cNvPicPr>
          <p:nvPr/>
        </p:nvPicPr>
        <p:blipFill>
          <a:blip r:embed="rId2"/>
          <a:stretch>
            <a:fillRect/>
          </a:stretch>
        </p:blipFill>
        <p:spPr>
          <a:xfrm>
            <a:off x="8183880" y="3749040"/>
            <a:ext cx="274320" cy="274320"/>
          </a:xfrm>
          <a:prstGeom prst="rect">
            <a:avLst/>
          </a:prstGeom>
        </p:spPr>
      </p:pic>
      <p:sp>
        <p:nvSpPr>
          <p:cNvPr id="17" name="Text 12"/>
          <p:cNvSpPr/>
          <p:nvPr/>
        </p:nvSpPr>
        <p:spPr>
          <a:xfrm>
            <a:off x="8778240" y="3218688"/>
            <a:ext cx="267919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COPY_ONLY</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Copia ad hoc sin alterar diferencial ni log chain.</a:t>
            </a:r>
            <a:endParaRPr lang="en-US" sz="1600" dirty="0"/>
          </a:p>
        </p:txBody>
      </p:sp>
      <p:sp>
        <p:nvSpPr>
          <p:cNvPr id="18" name="Shape 13"/>
          <p:cNvSpPr/>
          <p:nvPr/>
        </p:nvSpPr>
        <p:spPr>
          <a:xfrm>
            <a:off x="7863840" y="4837176"/>
            <a:ext cx="377647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9" name="Shape 14"/>
          <p:cNvSpPr/>
          <p:nvPr/>
        </p:nvSpPr>
        <p:spPr>
          <a:xfrm>
            <a:off x="8046720" y="5230368"/>
            <a:ext cx="548640" cy="548640"/>
          </a:xfrm>
          <a:prstGeom prst="ellipse">
            <a:avLst/>
          </a:prstGeom>
          <a:solidFill>
            <a:srgbClr val="134074"/>
          </a:solidFill>
          <a:ln/>
        </p:spPr>
      </p:sp>
      <p:pic>
        <p:nvPicPr>
          <p:cNvPr id="20" name="Image 2" descr="preencoded.png">    </p:cNvPr>
          <p:cNvPicPr>
            <a:picLocks noChangeAspect="1"/>
          </p:cNvPicPr>
          <p:nvPr/>
        </p:nvPicPr>
        <p:blipFill>
          <a:blip r:embed="rId3"/>
          <a:stretch>
            <a:fillRect/>
          </a:stretch>
        </p:blipFill>
        <p:spPr>
          <a:xfrm>
            <a:off x="8183880" y="5367528"/>
            <a:ext cx="274320" cy="274320"/>
          </a:xfrm>
          <a:prstGeom prst="rect">
            <a:avLst/>
          </a:prstGeom>
        </p:spPr>
      </p:pic>
      <p:sp>
        <p:nvSpPr>
          <p:cNvPr id="21" name="Text 15"/>
          <p:cNvSpPr/>
          <p:nvPr/>
        </p:nvSpPr>
        <p:spPr>
          <a:xfrm>
            <a:off x="8778240" y="4837176"/>
            <a:ext cx="267919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TO URL (Azure Blob)</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Copia externa en la nube con credencial SAS.</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BACKUPS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Tail-log, verificación e historial msdb</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65</a:t>
            </a:r>
            <a:endParaRPr lang="en-US" sz="1000" dirty="0"/>
          </a:p>
        </p:txBody>
      </p:sp>
      <p:sp>
        <p:nvSpPr>
          <p:cNvPr id="7" name="Shape 4"/>
          <p:cNvSpPr/>
          <p:nvPr/>
        </p:nvSpPr>
        <p:spPr>
          <a:xfrm>
            <a:off x="548640" y="1600200"/>
            <a:ext cx="5394960" cy="3063240"/>
          </a:xfrm>
          <a:prstGeom prst="roundRect">
            <a:avLst>
              <a:gd name="adj" fmla="val 2985"/>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5029200" cy="260604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Tail-log: salvar el final del log antes de restaurar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N'/var/opt/mssql/backup/Ventas_TAIL.trn'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NO_TRUNCATE,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Verificar el backup sin restaurarlo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VERIFYONLY</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N'/var/opt/mssql/backup/Ventas_FULL.bak'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6217920" y="1600200"/>
            <a:ext cx="5422392" cy="3063240"/>
          </a:xfrm>
          <a:prstGeom prst="roundRect">
            <a:avLst>
              <a:gd name="adj" fmla="val 2985"/>
            </a:avLst>
          </a:prstGeom>
          <a:solidFill>
            <a:srgbClr val="ECEFF3"/>
          </a:solidFill>
          <a:ln w="9525">
            <a:solidFill>
              <a:srgbClr val="D0D7DE"/>
            </a:solidFill>
            <a:prstDash val="solid"/>
          </a:ln>
        </p:spPr>
      </p:sp>
      <p:sp>
        <p:nvSpPr>
          <p:cNvPr id="11" name="Text 8"/>
          <p:cNvSpPr/>
          <p:nvPr/>
        </p:nvSpPr>
        <p:spPr>
          <a:xfrm>
            <a:off x="640080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 · HISTORIAL EN MSDB</a:t>
            </a:r>
            <a:endParaRPr lang="en-US" sz="1000" dirty="0"/>
          </a:p>
        </p:txBody>
      </p:sp>
      <p:sp>
        <p:nvSpPr>
          <p:cNvPr id="12" name="Text 9"/>
          <p:cNvSpPr/>
          <p:nvPr/>
        </p:nvSpPr>
        <p:spPr>
          <a:xfrm>
            <a:off x="6400800" y="1965960"/>
            <a:ext cx="5056632" cy="260604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10</a:t>
            </a:r>
            <a:r>
              <a:rPr lang="en-US" sz="1200" dirty="0">
                <a:solidFill>
                  <a:srgbClr val="1F2933"/>
                </a:solidFill>
                <a:latin typeface="Consolas" pitchFamily="34" charset="0"/>
                <a:ea typeface="Consolas" pitchFamily="34" charset="-122"/>
                <a:cs typeface="Consolas" pitchFamily="34" charset="-120"/>
              </a:rPr>
              <a:t>) bs.database_name,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bs.type,   </a:t>
            </a:r>
            <a:r>
              <a:rPr lang="en-US" sz="1200" i="1" dirty="0">
                <a:solidFill>
                  <a:srgbClr val="6B7280"/>
                </a:solidFill>
                <a:latin typeface="Consolas" pitchFamily="34" charset="0"/>
                <a:ea typeface="Consolas" pitchFamily="34" charset="-122"/>
                <a:cs typeface="Consolas" pitchFamily="34" charset="-120"/>
              </a:rPr>
              <a:t>-- D=Full I=Diff L=Log</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bs.backup_finish_date,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bs.is_copy_only,</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bmf.physical_device_name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msdb.dbo.backupset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bs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msdb.dbo.backupmediafamily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bmf</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bmf.media_set_id = bs.media_set_id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bs.database_name = </a:t>
            </a:r>
            <a:r>
              <a:rPr lang="en-US" sz="1200" dirty="0">
                <a:solidFill>
                  <a:srgbClr val="B4441F"/>
                </a:solidFill>
                <a:latin typeface="Consolas" pitchFamily="34" charset="0"/>
                <a:ea typeface="Consolas" pitchFamily="34" charset="-122"/>
                <a:cs typeface="Consolas" pitchFamily="34" charset="-120"/>
              </a:rPr>
              <a:t>N'Ventas'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bs.backup_finish_date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3" name="Shape 10"/>
          <p:cNvSpPr/>
          <p:nvPr/>
        </p:nvSpPr>
        <p:spPr>
          <a:xfrm>
            <a:off x="548640" y="4983480"/>
            <a:ext cx="11091672" cy="1143000"/>
          </a:xfrm>
          <a:prstGeom prst="roundRect">
            <a:avLst>
              <a:gd name="adj" fmla="val 9600"/>
            </a:avLst>
          </a:prstGeom>
          <a:solidFill>
            <a:srgbClr val="FDEDE8"/>
          </a:solidFill>
          <a:ln/>
        </p:spPr>
      </p:sp>
      <p:sp>
        <p:nvSpPr>
          <p:cNvPr id="14" name="Shape 11"/>
          <p:cNvSpPr/>
          <p:nvPr/>
        </p:nvSpPr>
        <p:spPr>
          <a:xfrm>
            <a:off x="731520" y="5326380"/>
            <a:ext cx="457200" cy="457200"/>
          </a:xfrm>
          <a:prstGeom prst="ellipse">
            <a:avLst/>
          </a:prstGeom>
          <a:solidFill>
            <a:srgbClr val="D95D39"/>
          </a:solidFill>
          <a:ln/>
        </p:spPr>
      </p:sp>
      <p:pic>
        <p:nvPicPr>
          <p:cNvPr id="15" name="Image 0" descr="preencoded.png">    </p:cNvPr>
          <p:cNvPicPr>
            <a:picLocks noChangeAspect="1"/>
          </p:cNvPicPr>
          <p:nvPr/>
        </p:nvPicPr>
        <p:blipFill>
          <a:blip r:embed="rId1"/>
          <a:stretch>
            <a:fillRect/>
          </a:stretch>
        </p:blipFill>
        <p:spPr>
          <a:xfrm>
            <a:off x="845820" y="5440680"/>
            <a:ext cx="228600" cy="228600"/>
          </a:xfrm>
          <a:prstGeom prst="rect">
            <a:avLst/>
          </a:prstGeom>
        </p:spPr>
      </p:pic>
      <p:sp>
        <p:nvSpPr>
          <p:cNvPr id="16" name="Text 12"/>
          <p:cNvSpPr/>
          <p:nvPr/>
        </p:nvSpPr>
        <p:spPr>
          <a:xfrm>
            <a:off x="1371600" y="4983480"/>
            <a:ext cx="10085832" cy="11430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VERIFYONLY no basta: </a:t>
            </a:r>
            <a:r>
              <a:rPr lang="en-US" sz="1400" dirty="0">
                <a:solidFill>
                  <a:srgbClr val="1F2933"/>
                </a:solidFill>
                <a:latin typeface="Calibri" pitchFamily="34" charset="0"/>
                <a:ea typeface="Calibri" pitchFamily="34" charset="-122"/>
                <a:cs typeface="Calibri" pitchFamily="34" charset="-120"/>
              </a:rPr>
              <a:t>sólo comprueba que el fichero es legible. La prueba real es restaurar en otro servidor y ejecutar DBCC CHECKDB; planifícala (p. ej. mensualmente).</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99616"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RESTAURACIÓN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Restauración point-in-time (STOPAT)</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66</a:t>
            </a:r>
            <a:endParaRPr lang="en-US" sz="1000" dirty="0"/>
          </a:p>
        </p:txBody>
      </p:sp>
      <p:sp>
        <p:nvSpPr>
          <p:cNvPr id="7" name="Shape 4"/>
          <p:cNvSpPr/>
          <p:nvPr/>
        </p:nvSpPr>
        <p:spPr>
          <a:xfrm>
            <a:off x="548640" y="1600200"/>
            <a:ext cx="717804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6812280" cy="411480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-- 1) Full. MOVE reubica los ficheros lógicos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N'/var/opt/mssql/backup/Ventas_FULL.bak'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MOVE</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N'Ventas'</a:t>
            </a:r>
            <a:r>
              <a:rPr lang="en-US" sz="1200" dirty="0">
                <a:solidFill>
                  <a:srgbClr val="1F2933"/>
                </a:solidFill>
                <a:latin typeface="Consolas" pitchFamily="34" charset="0"/>
                <a:ea typeface="Consolas" pitchFamily="34" charset="-122"/>
                <a:cs typeface="Consolas" pitchFamily="34" charset="-120"/>
              </a:rPr>
              <a:t> TO </a:t>
            </a:r>
            <a:r>
              <a:rPr lang="en-US" sz="1200" dirty="0">
                <a:solidFill>
                  <a:srgbClr val="B4441F"/>
                </a:solidFill>
                <a:latin typeface="Consolas" pitchFamily="34" charset="0"/>
                <a:ea typeface="Consolas" pitchFamily="34" charset="-122"/>
                <a:cs typeface="Consolas" pitchFamily="34" charset="-120"/>
              </a:rPr>
              <a:t>N'/var/opt/mssql/data/Ventas.mdf'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MOVE</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N'Ventas_log'</a:t>
            </a:r>
            <a:r>
              <a:rPr lang="en-US" sz="1200" dirty="0">
                <a:solidFill>
                  <a:srgbClr val="1F2933"/>
                </a:solidFill>
                <a:latin typeface="Consolas" pitchFamily="34" charset="0"/>
                <a:ea typeface="Consolas" pitchFamily="34" charset="-122"/>
                <a:cs typeface="Consolas" pitchFamily="34" charset="-120"/>
              </a:rPr>
              <a:t> TO </a:t>
            </a:r>
            <a:r>
              <a:rPr lang="en-US" sz="1200" dirty="0">
                <a:solidFill>
                  <a:srgbClr val="B4441F"/>
                </a:solidFill>
                <a:latin typeface="Consolas" pitchFamily="34" charset="0"/>
                <a:ea typeface="Consolas" pitchFamily="34" charset="-122"/>
                <a:cs typeface="Consolas" pitchFamily="34" charset="-120"/>
              </a:rPr>
              <a:t>N'/var/opt/mssql/data/Ventas.ldf'</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-- 2) Último diferencial</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N'/var/opt/mssql/backup/Ventas_DIFF.bak'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-- 3) Logs en orden; el último, con STOPAT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N'/var/opt/mssql/backup/Ventas_LOG_01.trn'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N'/var/opt/mssql/backup/Ventas_LOG_02.trn'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STOPAT</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N'2025-03-12T10:36:00'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RECOVERY</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8001000" y="1600200"/>
            <a:ext cx="363931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8183880" y="1993392"/>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8321040" y="2130552"/>
            <a:ext cx="274320" cy="274320"/>
          </a:xfrm>
          <a:prstGeom prst="rect">
            <a:avLst/>
          </a:prstGeom>
        </p:spPr>
      </p:pic>
      <p:sp>
        <p:nvSpPr>
          <p:cNvPr id="13" name="Text 9"/>
          <p:cNvSpPr/>
          <p:nvPr/>
        </p:nvSpPr>
        <p:spPr>
          <a:xfrm>
            <a:off x="8915400" y="1600200"/>
            <a:ext cx="254203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NORECOVERY</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Deja la BD en RESTORING; permite encadenar más backups.</a:t>
            </a:r>
            <a:endParaRPr lang="en-US" sz="1600" dirty="0"/>
          </a:p>
        </p:txBody>
      </p:sp>
      <p:sp>
        <p:nvSpPr>
          <p:cNvPr id="14" name="Shape 10"/>
          <p:cNvSpPr/>
          <p:nvPr/>
        </p:nvSpPr>
        <p:spPr>
          <a:xfrm>
            <a:off x="8001000" y="3218688"/>
            <a:ext cx="363931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Shape 11"/>
          <p:cNvSpPr/>
          <p:nvPr/>
        </p:nvSpPr>
        <p:spPr>
          <a:xfrm>
            <a:off x="8183880" y="3611880"/>
            <a:ext cx="548640" cy="548640"/>
          </a:xfrm>
          <a:prstGeom prst="ellipse">
            <a:avLst/>
          </a:prstGeom>
          <a:solidFill>
            <a:srgbClr val="134074"/>
          </a:solidFill>
          <a:ln/>
        </p:spPr>
      </p:sp>
      <p:pic>
        <p:nvPicPr>
          <p:cNvPr id="16" name="Image 1" descr="preencoded.png">    </p:cNvPr>
          <p:cNvPicPr>
            <a:picLocks noChangeAspect="1"/>
          </p:cNvPicPr>
          <p:nvPr/>
        </p:nvPicPr>
        <p:blipFill>
          <a:blip r:embed="rId2"/>
          <a:stretch>
            <a:fillRect/>
          </a:stretch>
        </p:blipFill>
        <p:spPr>
          <a:xfrm>
            <a:off x="8321040" y="3749040"/>
            <a:ext cx="274320" cy="274320"/>
          </a:xfrm>
          <a:prstGeom prst="rect">
            <a:avLst/>
          </a:prstGeom>
        </p:spPr>
      </p:pic>
      <p:sp>
        <p:nvSpPr>
          <p:cNvPr id="17" name="Text 12"/>
          <p:cNvSpPr/>
          <p:nvPr/>
        </p:nvSpPr>
        <p:spPr>
          <a:xfrm>
            <a:off x="8915400" y="3218688"/>
            <a:ext cx="254203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RECOVERY</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Deshace lo no confirmado y abre la BD (ONLINE).</a:t>
            </a:r>
            <a:endParaRPr lang="en-US" sz="1600" dirty="0"/>
          </a:p>
        </p:txBody>
      </p:sp>
      <p:sp>
        <p:nvSpPr>
          <p:cNvPr id="18" name="Shape 13"/>
          <p:cNvSpPr/>
          <p:nvPr/>
        </p:nvSpPr>
        <p:spPr>
          <a:xfrm>
            <a:off x="8001000" y="4837176"/>
            <a:ext cx="363931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9" name="Shape 14"/>
          <p:cNvSpPr/>
          <p:nvPr/>
        </p:nvSpPr>
        <p:spPr>
          <a:xfrm>
            <a:off x="8183880" y="5230368"/>
            <a:ext cx="548640" cy="548640"/>
          </a:xfrm>
          <a:prstGeom prst="ellipse">
            <a:avLst/>
          </a:prstGeom>
          <a:solidFill>
            <a:srgbClr val="134074"/>
          </a:solidFill>
          <a:ln/>
        </p:spPr>
      </p:sp>
      <p:pic>
        <p:nvPicPr>
          <p:cNvPr id="20" name="Image 2" descr="preencoded.png">    </p:cNvPr>
          <p:cNvPicPr>
            <a:picLocks noChangeAspect="1"/>
          </p:cNvPicPr>
          <p:nvPr/>
        </p:nvPicPr>
        <p:blipFill>
          <a:blip r:embed="rId3"/>
          <a:stretch>
            <a:fillRect/>
          </a:stretch>
        </p:blipFill>
        <p:spPr>
          <a:xfrm>
            <a:off x="8321040" y="5367528"/>
            <a:ext cx="274320" cy="274320"/>
          </a:xfrm>
          <a:prstGeom prst="rect">
            <a:avLst/>
          </a:prstGeom>
        </p:spPr>
      </p:pic>
      <p:sp>
        <p:nvSpPr>
          <p:cNvPr id="21" name="Text 15"/>
          <p:cNvSpPr/>
          <p:nvPr/>
        </p:nvSpPr>
        <p:spPr>
          <a:xfrm>
            <a:off x="8915400" y="4837176"/>
            <a:ext cx="254203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STANDBY</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Sólo lectura entre restauraciones; usa fichero undo.</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INTEGRIDAD</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Integridad física: DBCC CHECKDB</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67</a:t>
            </a:r>
            <a:endParaRPr lang="en-US" sz="1000" dirty="0"/>
          </a:p>
        </p:txBody>
      </p:sp>
      <p:sp>
        <p:nvSpPr>
          <p:cNvPr id="7" name="Shape 4"/>
          <p:cNvSpPr/>
          <p:nvPr/>
        </p:nvSpPr>
        <p:spPr>
          <a:xfrm>
            <a:off x="548640" y="1600200"/>
            <a:ext cx="3511296"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Text 5"/>
          <p:cNvSpPr/>
          <p:nvPr/>
        </p:nvSpPr>
        <p:spPr>
          <a:xfrm>
            <a:off x="731520" y="1737360"/>
            <a:ext cx="3145536" cy="685800"/>
          </a:xfrm>
          <a:prstGeom prst="rect">
            <a:avLst/>
          </a:prstGeom>
          <a:noFill/>
          <a:ln/>
        </p:spPr>
        <p:txBody>
          <a:bodyPr wrap="square" lIns="0" tIns="0" rIns="0" bIns="0" rtlCol="0" anchor="ctr"/>
          <a:lstStyle/>
          <a:p>
            <a:pPr algn="ctr" indent="0" marL="0">
              <a:buNone/>
            </a:pPr>
            <a:r>
              <a:rPr lang="en-US" sz="4400" b="1" dirty="0">
                <a:solidFill>
                  <a:srgbClr val="D95D39"/>
                </a:solidFill>
                <a:latin typeface="Calibri" pitchFamily="34" charset="0"/>
                <a:ea typeface="Calibri" pitchFamily="34" charset="-122"/>
                <a:cs typeface="Calibri" pitchFamily="34" charset="-120"/>
              </a:rPr>
              <a:t>823</a:t>
            </a:r>
            <a:endParaRPr lang="en-US" sz="4400" dirty="0"/>
          </a:p>
        </p:txBody>
      </p:sp>
      <p:sp>
        <p:nvSpPr>
          <p:cNvPr id="9" name="Text 6"/>
          <p:cNvSpPr/>
          <p:nvPr/>
        </p:nvSpPr>
        <p:spPr>
          <a:xfrm>
            <a:off x="731520" y="2354580"/>
            <a:ext cx="3145536" cy="5486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Error de E/S del sistema operativo</a:t>
            </a:r>
            <a:endParaRPr lang="en-US" sz="1300" dirty="0"/>
          </a:p>
        </p:txBody>
      </p:sp>
      <p:sp>
        <p:nvSpPr>
          <p:cNvPr id="10" name="Shape 7"/>
          <p:cNvSpPr/>
          <p:nvPr/>
        </p:nvSpPr>
        <p:spPr>
          <a:xfrm>
            <a:off x="4334256" y="1600200"/>
            <a:ext cx="3511296"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4517136" y="1737360"/>
            <a:ext cx="3145536" cy="685800"/>
          </a:xfrm>
          <a:prstGeom prst="rect">
            <a:avLst/>
          </a:prstGeom>
          <a:noFill/>
          <a:ln/>
        </p:spPr>
        <p:txBody>
          <a:bodyPr wrap="square" lIns="0" tIns="0" rIns="0" bIns="0" rtlCol="0" anchor="ctr"/>
          <a:lstStyle/>
          <a:p>
            <a:pPr algn="ctr" indent="0" marL="0">
              <a:buNone/>
            </a:pPr>
            <a:r>
              <a:rPr lang="en-US" sz="4400" b="1" dirty="0">
                <a:solidFill>
                  <a:srgbClr val="D95D39"/>
                </a:solidFill>
                <a:latin typeface="Calibri" pitchFamily="34" charset="0"/>
                <a:ea typeface="Calibri" pitchFamily="34" charset="-122"/>
                <a:cs typeface="Calibri" pitchFamily="34" charset="-120"/>
              </a:rPr>
              <a:t>824</a:t>
            </a:r>
            <a:endParaRPr lang="en-US" sz="4400" dirty="0"/>
          </a:p>
        </p:txBody>
      </p:sp>
      <p:sp>
        <p:nvSpPr>
          <p:cNvPr id="12" name="Text 9"/>
          <p:cNvSpPr/>
          <p:nvPr/>
        </p:nvSpPr>
        <p:spPr>
          <a:xfrm>
            <a:off x="4517136" y="2354580"/>
            <a:ext cx="3145536" cy="5486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Error lógico: checksum o página rota</a:t>
            </a:r>
            <a:endParaRPr lang="en-US" sz="1300" dirty="0"/>
          </a:p>
        </p:txBody>
      </p:sp>
      <p:sp>
        <p:nvSpPr>
          <p:cNvPr id="13" name="Shape 10"/>
          <p:cNvSpPr/>
          <p:nvPr/>
        </p:nvSpPr>
        <p:spPr>
          <a:xfrm>
            <a:off x="8119872" y="1600200"/>
            <a:ext cx="3511296" cy="1371600"/>
          </a:xfrm>
          <a:prstGeom prst="roundRect">
            <a:avLst>
              <a:gd name="adj" fmla="val 8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Text 11"/>
          <p:cNvSpPr/>
          <p:nvPr/>
        </p:nvSpPr>
        <p:spPr>
          <a:xfrm>
            <a:off x="8302752" y="1737360"/>
            <a:ext cx="3145536" cy="685800"/>
          </a:xfrm>
          <a:prstGeom prst="rect">
            <a:avLst/>
          </a:prstGeom>
          <a:noFill/>
          <a:ln/>
        </p:spPr>
        <p:txBody>
          <a:bodyPr wrap="square" lIns="0" tIns="0" rIns="0" bIns="0" rtlCol="0" anchor="ctr"/>
          <a:lstStyle/>
          <a:p>
            <a:pPr algn="ctr" indent="0" marL="0">
              <a:buNone/>
            </a:pPr>
            <a:r>
              <a:rPr lang="en-US" sz="4400" b="1" dirty="0">
                <a:solidFill>
                  <a:srgbClr val="D95D39"/>
                </a:solidFill>
                <a:latin typeface="Calibri" pitchFamily="34" charset="0"/>
                <a:ea typeface="Calibri" pitchFamily="34" charset="-122"/>
                <a:cs typeface="Calibri" pitchFamily="34" charset="-120"/>
              </a:rPr>
              <a:t>825</a:t>
            </a:r>
            <a:endParaRPr lang="en-US" sz="4400" dirty="0"/>
          </a:p>
        </p:txBody>
      </p:sp>
      <p:sp>
        <p:nvSpPr>
          <p:cNvPr id="15" name="Text 12"/>
          <p:cNvSpPr/>
          <p:nvPr/>
        </p:nvSpPr>
        <p:spPr>
          <a:xfrm>
            <a:off x="8302752" y="2354580"/>
            <a:ext cx="3145536" cy="5486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Lectura con éxito tras reintentos: disco en riesgo</a:t>
            </a:r>
            <a:endParaRPr lang="en-US" sz="1300" dirty="0"/>
          </a:p>
        </p:txBody>
      </p:sp>
      <p:sp>
        <p:nvSpPr>
          <p:cNvPr id="16" name="Shape 13"/>
          <p:cNvSpPr/>
          <p:nvPr/>
        </p:nvSpPr>
        <p:spPr>
          <a:xfrm>
            <a:off x="548640" y="3246120"/>
            <a:ext cx="6309360" cy="2926080"/>
          </a:xfrm>
          <a:prstGeom prst="roundRect">
            <a:avLst>
              <a:gd name="adj" fmla="val 3125"/>
            </a:avLst>
          </a:prstGeom>
          <a:solidFill>
            <a:srgbClr val="ECEFF3"/>
          </a:solidFill>
          <a:ln w="9525">
            <a:solidFill>
              <a:srgbClr val="D0D7DE"/>
            </a:solidFill>
            <a:prstDash val="solid"/>
          </a:ln>
        </p:spPr>
      </p:sp>
      <p:sp>
        <p:nvSpPr>
          <p:cNvPr id="17" name="Text 14"/>
          <p:cNvSpPr/>
          <p:nvPr/>
        </p:nvSpPr>
        <p:spPr>
          <a:xfrm>
            <a:off x="731520" y="333756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18" name="Text 15"/>
          <p:cNvSpPr/>
          <p:nvPr/>
        </p:nvSpPr>
        <p:spPr>
          <a:xfrm>
            <a:off x="731520" y="3611880"/>
            <a:ext cx="5943600" cy="246888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Verificación de páginas a nivel de BD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 </a:t>
            </a:r>
            <a:r>
              <a:rPr lang="en-US" sz="1200" b="1" dirty="0">
                <a:solidFill>
                  <a:srgbClr val="1D4ED8"/>
                </a:solidFill>
                <a:latin typeface="Consolas" pitchFamily="34" charset="0"/>
                <a:ea typeface="Consolas" pitchFamily="34" charset="-122"/>
                <a:cs typeface="Consolas" pitchFamily="34" charset="-120"/>
              </a:rPr>
              <a:t>SET</a:t>
            </a:r>
            <a:r>
              <a:rPr lang="en-US" sz="1200" dirty="0">
                <a:solidFill>
                  <a:srgbClr val="1F2933"/>
                </a:solidFill>
                <a:latin typeface="Consolas" pitchFamily="34" charset="0"/>
                <a:ea typeface="Consolas" pitchFamily="34" charset="-122"/>
                <a:cs typeface="Consolas" pitchFamily="34" charset="-120"/>
              </a:rPr>
              <a:t> PAGE_VERIFY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DBCC</a:t>
            </a:r>
            <a:r>
              <a:rPr lang="en-US" sz="1200" dirty="0">
                <a:solidFill>
                  <a:srgbClr val="1F2933"/>
                </a:solidFill>
                <a:latin typeface="Consolas" pitchFamily="34" charset="0"/>
                <a:ea typeface="Consolas" pitchFamily="34" charset="-122"/>
                <a:cs typeface="Consolas" pitchFamily="34" charset="-120"/>
              </a:rPr>
              <a:t> CHECKDB (</a:t>
            </a:r>
            <a:r>
              <a:rPr lang="en-US" sz="1200" dirty="0">
                <a:solidFill>
                  <a:srgbClr val="B4441F"/>
                </a:solidFill>
                <a:latin typeface="Consolas" pitchFamily="34" charset="0"/>
                <a:ea typeface="Consolas" pitchFamily="34" charset="-122"/>
                <a:cs typeface="Consolas" pitchFamily="34" charset="-120"/>
              </a:rPr>
              <a:t>N'Ventas'</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NO_INFOMSGS, ALL_ERRORMSGS;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Páginas dañadas registradas por el motor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database_id, file_id, page_id, event_type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msdb.dbo.suspect_pages;</a:t>
            </a:r>
            <a:endParaRPr lang="en-US" sz="1200" dirty="0"/>
          </a:p>
        </p:txBody>
      </p:sp>
      <p:sp>
        <p:nvSpPr>
          <p:cNvPr id="19" name="Shape 16"/>
          <p:cNvSpPr/>
          <p:nvPr/>
        </p:nvSpPr>
        <p:spPr>
          <a:xfrm>
            <a:off x="7132320" y="3246120"/>
            <a:ext cx="4507992" cy="2926080"/>
          </a:xfrm>
          <a:prstGeom prst="roundRect">
            <a:avLst>
              <a:gd name="adj" fmla="val 375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7360920" y="3474720"/>
            <a:ext cx="548640" cy="548640"/>
          </a:xfrm>
          <a:prstGeom prst="ellipse">
            <a:avLst/>
          </a:prstGeom>
          <a:solidFill>
            <a:srgbClr val="D95D39"/>
          </a:solidFill>
          <a:ln/>
        </p:spPr>
      </p:sp>
      <p:pic>
        <p:nvPicPr>
          <p:cNvPr id="21" name="Image 0" descr="preencoded.png">    </p:cNvPr>
          <p:cNvPicPr>
            <a:picLocks noChangeAspect="1"/>
          </p:cNvPicPr>
          <p:nvPr/>
        </p:nvPicPr>
        <p:blipFill>
          <a:blip r:embed="rId1"/>
          <a:stretch>
            <a:fillRect/>
          </a:stretch>
        </p:blipFill>
        <p:spPr>
          <a:xfrm>
            <a:off x="7498080" y="3611880"/>
            <a:ext cx="274320" cy="274320"/>
          </a:xfrm>
          <a:prstGeom prst="rect">
            <a:avLst/>
          </a:prstGeom>
        </p:spPr>
      </p:pic>
      <p:sp>
        <p:nvSpPr>
          <p:cNvPr id="22" name="Text 18"/>
          <p:cNvSpPr/>
          <p:nvPr/>
        </p:nvSpPr>
        <p:spPr>
          <a:xfrm>
            <a:off x="8046720" y="3474720"/>
            <a:ext cx="336499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Opciones de reparación</a:t>
            </a:r>
            <a:endParaRPr lang="en-US" sz="1700" dirty="0"/>
          </a:p>
        </p:txBody>
      </p:sp>
      <p:sp>
        <p:nvSpPr>
          <p:cNvPr id="23" name="Text 19"/>
          <p:cNvSpPr/>
          <p:nvPr/>
        </p:nvSpPr>
        <p:spPr>
          <a:xfrm>
            <a:off x="7360920" y="4206240"/>
            <a:ext cx="4050792" cy="173736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REPAIR_REBUILD: </a:t>
            </a:r>
            <a:r>
              <a:rPr lang="en-US" sz="1400" dirty="0">
                <a:solidFill>
                  <a:srgbClr val="1F2933"/>
                </a:solidFill>
                <a:latin typeface="Calibri" pitchFamily="34" charset="0"/>
                <a:ea typeface="Calibri" pitchFamily="34" charset="-122"/>
                <a:cs typeface="Calibri" pitchFamily="34" charset="-120"/>
              </a:rPr>
              <a:t>sin pérdida de datos.</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ALLOW_DATA_LOSS: </a:t>
            </a:r>
            <a:r>
              <a:rPr lang="en-US" sz="1400" dirty="0">
                <a:solidFill>
                  <a:srgbClr val="1F2933"/>
                </a:solidFill>
                <a:latin typeface="Calibri" pitchFamily="34" charset="0"/>
                <a:ea typeface="Calibri" pitchFamily="34" charset="-122"/>
                <a:cs typeface="Calibri" pitchFamily="34" charset="-120"/>
              </a:rPr>
              <a:t>último recurso, tras backup.</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Antes: restaurar desde backup.</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586484"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MANTENIMIENTO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Reorganize vs Rebuild y estadísticas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68</a:t>
            </a:r>
            <a:endParaRPr lang="en-US" sz="1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212080" cy="914400"/>
        </p:xfrm>
        <a:graphic>
          <a:graphicData uri="http://schemas.openxmlformats.org/drawingml/2006/table">
            <a:tbl>
              <a:tblPr/>
              <a:tblGrid>
                <a:gridCol w="1371600"/>
                <a:gridCol w="1828800"/>
                <a:gridCol w="2011680"/>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Criterio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REORGANIZE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REBUILD</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Fragmentación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5 – 30 %</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&gt; 30 %</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Modo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Siempre online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Offline (online en Enterprise)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Interrumpible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Sí, sin perder avance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No (salvo RESUMABLE)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Estadísticas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No las actualiza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Actualiza con FULLSCAN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Log</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Moderado y sostenido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Mucho en recovery Full</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Shape 4"/>
          <p:cNvSpPr/>
          <p:nvPr/>
        </p:nvSpPr>
        <p:spPr>
          <a:xfrm>
            <a:off x="6035040" y="1600200"/>
            <a:ext cx="5605272" cy="3383280"/>
          </a:xfrm>
          <a:prstGeom prst="roundRect">
            <a:avLst>
              <a:gd name="adj" fmla="val 2703"/>
            </a:avLst>
          </a:prstGeom>
          <a:solidFill>
            <a:srgbClr val="ECEFF3"/>
          </a:solidFill>
          <a:ln w="9525">
            <a:solidFill>
              <a:srgbClr val="D0D7DE"/>
            </a:solidFill>
            <a:prstDash val="solid"/>
          </a:ln>
        </p:spPr>
      </p:sp>
      <p:sp>
        <p:nvSpPr>
          <p:cNvPr id="9" name="Text 5"/>
          <p:cNvSpPr/>
          <p:nvPr/>
        </p:nvSpPr>
        <p:spPr>
          <a:xfrm>
            <a:off x="62179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10" name="Text 6"/>
          <p:cNvSpPr/>
          <p:nvPr/>
        </p:nvSpPr>
        <p:spPr>
          <a:xfrm>
            <a:off x="6217920" y="1965960"/>
            <a:ext cx="5239512" cy="292608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OBJECT_NAME(ips.object_id)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Tabla, i.</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ips.avg_fragmentation_in_percent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Frag</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sys.dm_db_index_physical_stats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(DB_ID(),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'LIMITED'</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ips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JOIN</a:t>
            </a:r>
            <a:r>
              <a:rPr lang="en-US" sz="1200" dirty="0">
                <a:solidFill>
                  <a:srgbClr val="1F2933"/>
                </a:solidFill>
                <a:latin typeface="Consolas" pitchFamily="34" charset="0"/>
                <a:ea typeface="Consolas" pitchFamily="34" charset="-122"/>
                <a:cs typeface="Consolas" pitchFamily="34" charset="-120"/>
              </a:rPr>
              <a:t> sys.indexes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i</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i.object_id = ips.object_id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i.index_id = ips.index_id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ips.page_count &gt; </a:t>
            </a:r>
            <a:r>
              <a:rPr lang="en-US" sz="1200" dirty="0">
                <a:solidFill>
                  <a:srgbClr val="9A3412"/>
                </a:solidFill>
                <a:latin typeface="Consolas" pitchFamily="34" charset="0"/>
                <a:ea typeface="Consolas" pitchFamily="34" charset="-122"/>
                <a:cs typeface="Consolas" pitchFamily="34" charset="-120"/>
              </a:rPr>
              <a:t>1000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i.index_id &gt; </a:t>
            </a:r>
            <a:r>
              <a:rPr lang="en-US" sz="1200" dirty="0">
                <a:solidFill>
                  <a:srgbClr val="9A3412"/>
                </a:solidFill>
                <a:latin typeface="Consolas" pitchFamily="34" charset="0"/>
                <a:ea typeface="Consolas" pitchFamily="34" charset="-122"/>
                <a:cs typeface="Consolas" pitchFamily="34" charset="-120"/>
              </a:rPr>
              <a:t>0</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IX_Pedido_Fecha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REORGANIZE</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INDEX</a:t>
            </a:r>
            <a:r>
              <a:rPr lang="en-US" sz="1200" dirty="0">
                <a:solidFill>
                  <a:srgbClr val="1F2933"/>
                </a:solidFill>
                <a:latin typeface="Consolas" pitchFamily="34" charset="0"/>
                <a:ea typeface="Consolas" pitchFamily="34" charset="-122"/>
                <a:cs typeface="Consolas" pitchFamily="34" charset="-120"/>
              </a:rPr>
              <a:t> IX_Pedido_Fecha </a:t>
            </a:r>
            <a:r>
              <a:rPr lang="en-US" sz="1200" b="1" dirty="0">
                <a:solidFill>
                  <a:srgbClr val="1D4ED8"/>
                </a:solidFill>
                <a:latin typeface="Consolas" pitchFamily="34" charset="0"/>
                <a:ea typeface="Consolas" pitchFamily="34" charset="-122"/>
                <a:cs typeface="Consolas" pitchFamily="34" charset="-120"/>
              </a:rPr>
              <a:t>ON</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REBUILD</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UPDATE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STATISTICS</a:t>
            </a:r>
            <a:r>
              <a:rPr lang="en-US" sz="1200" dirty="0">
                <a:solidFill>
                  <a:srgbClr val="1F2933"/>
                </a:solidFill>
                <a:latin typeface="Consolas" pitchFamily="34" charset="0"/>
                <a:ea typeface="Consolas" pitchFamily="34" charset="-122"/>
                <a:cs typeface="Consolas" pitchFamily="34" charset="-120"/>
              </a:rPr>
              <a:t> dbo.Pedido </a:t>
            </a: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FULLSCAN;</a:t>
            </a:r>
            <a:endParaRPr lang="en-US" sz="1200" dirty="0"/>
          </a:p>
        </p:txBody>
      </p:sp>
      <p:sp>
        <p:nvSpPr>
          <p:cNvPr id="11" name="Shape 7"/>
          <p:cNvSpPr/>
          <p:nvPr/>
        </p:nvSpPr>
        <p:spPr>
          <a:xfrm>
            <a:off x="548640" y="5257800"/>
            <a:ext cx="11091672" cy="914400"/>
          </a:xfrm>
          <a:prstGeom prst="roundRect">
            <a:avLst>
              <a:gd name="adj" fmla="val 12000"/>
            </a:avLst>
          </a:prstGeom>
          <a:solidFill>
            <a:srgbClr val="E8EEF5"/>
          </a:solidFill>
          <a:ln/>
        </p:spPr>
      </p:sp>
      <p:sp>
        <p:nvSpPr>
          <p:cNvPr id="12" name="Shape 8"/>
          <p:cNvSpPr/>
          <p:nvPr/>
        </p:nvSpPr>
        <p:spPr>
          <a:xfrm>
            <a:off x="731520" y="5486400"/>
            <a:ext cx="457200" cy="457200"/>
          </a:xfrm>
          <a:prstGeom prst="ellipse">
            <a:avLst/>
          </a:prstGeom>
          <a:solidFill>
            <a:srgbClr val="134074"/>
          </a:solidFill>
          <a:ln/>
        </p:spPr>
      </p:sp>
      <p:pic>
        <p:nvPicPr>
          <p:cNvPr id="13" name="Image 0" descr="preencoded.png">    </p:cNvPr>
          <p:cNvPicPr>
            <a:picLocks noChangeAspect="1"/>
          </p:cNvPicPr>
          <p:nvPr/>
        </p:nvPicPr>
        <p:blipFill>
          <a:blip r:embed="rId1"/>
          <a:stretch>
            <a:fillRect/>
          </a:stretch>
        </p:blipFill>
        <p:spPr>
          <a:xfrm>
            <a:off x="845820" y="5600700"/>
            <a:ext cx="228600" cy="228600"/>
          </a:xfrm>
          <a:prstGeom prst="rect">
            <a:avLst/>
          </a:prstGeom>
        </p:spPr>
      </p:pic>
      <p:sp>
        <p:nvSpPr>
          <p:cNvPr id="14" name="Text 9"/>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Estadísticas primero: </a:t>
            </a:r>
            <a:r>
              <a:rPr lang="en-US" sz="1400" dirty="0">
                <a:solidFill>
                  <a:srgbClr val="1F2933"/>
                </a:solidFill>
                <a:latin typeface="Calibri" pitchFamily="34" charset="0"/>
                <a:ea typeface="Calibri" pitchFamily="34" charset="-122"/>
                <a:cs typeface="Calibri" pitchFamily="34" charset="-120"/>
              </a:rPr>
              <a:t>actualízalas por umbral de cambios (dm_db_stats_properties) y en horas valle; suelen aportar más que reconstruir índices.</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586484"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MANTENIMIENTO</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Mantenimiento automatizado con Agent</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69</a:t>
            </a:r>
            <a:endParaRPr lang="en-US" sz="1000" dirty="0"/>
          </a:p>
        </p:txBody>
      </p:sp>
      <p:sp>
        <p:nvSpPr>
          <p:cNvPr id="7" name="Shape 4"/>
          <p:cNvSpPr/>
          <p:nvPr/>
        </p:nvSpPr>
        <p:spPr>
          <a:xfrm>
            <a:off x="548640" y="1600200"/>
            <a:ext cx="3514344"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2371344"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SQL Server Agent jobs</a:t>
            </a:r>
            <a:endParaRPr lang="en-US" sz="1600" dirty="0"/>
          </a:p>
        </p:txBody>
      </p:sp>
      <p:sp>
        <p:nvSpPr>
          <p:cNvPr id="11" name="Text 7"/>
          <p:cNvSpPr/>
          <p:nvPr/>
        </p:nvSpPr>
        <p:spPr>
          <a:xfrm>
            <a:off x="777240" y="2560320"/>
            <a:ext cx="3057144"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Pasos T-SQL o CmdExec, schedules e historial en msdb.</a:t>
            </a:r>
            <a:endParaRPr lang="en-US" sz="1400" dirty="0"/>
          </a:p>
        </p:txBody>
      </p:sp>
      <p:sp>
        <p:nvSpPr>
          <p:cNvPr id="12" name="Shape 8"/>
          <p:cNvSpPr/>
          <p:nvPr/>
        </p:nvSpPr>
        <p:spPr>
          <a:xfrm>
            <a:off x="4337304" y="1600200"/>
            <a:ext cx="3514344"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565904"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703064" y="1965960"/>
            <a:ext cx="274320" cy="274320"/>
          </a:xfrm>
          <a:prstGeom prst="rect">
            <a:avLst/>
          </a:prstGeom>
        </p:spPr>
      </p:pic>
      <p:sp>
        <p:nvSpPr>
          <p:cNvPr id="15" name="Text 10"/>
          <p:cNvSpPr/>
          <p:nvPr/>
        </p:nvSpPr>
        <p:spPr>
          <a:xfrm>
            <a:off x="5251704" y="1828800"/>
            <a:ext cx="2371344"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Maintenance Plans</a:t>
            </a:r>
            <a:endParaRPr lang="en-US" sz="1600" dirty="0"/>
          </a:p>
        </p:txBody>
      </p:sp>
      <p:sp>
        <p:nvSpPr>
          <p:cNvPr id="16" name="Text 11"/>
          <p:cNvSpPr/>
          <p:nvPr/>
        </p:nvSpPr>
        <p:spPr>
          <a:xfrm>
            <a:off x="4565904" y="2560320"/>
            <a:ext cx="3057144"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Asistente gráfico (SSIS): simple, pero poco flexible.</a:t>
            </a:r>
            <a:endParaRPr lang="en-US" sz="1400" dirty="0"/>
          </a:p>
        </p:txBody>
      </p:sp>
      <p:sp>
        <p:nvSpPr>
          <p:cNvPr id="17" name="Shape 12"/>
          <p:cNvSpPr/>
          <p:nvPr/>
        </p:nvSpPr>
        <p:spPr>
          <a:xfrm>
            <a:off x="8125968" y="1600200"/>
            <a:ext cx="3514344"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8354568" y="182880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91728" y="1965960"/>
            <a:ext cx="274320" cy="274320"/>
          </a:xfrm>
          <a:prstGeom prst="rect">
            <a:avLst/>
          </a:prstGeom>
        </p:spPr>
      </p:pic>
      <p:sp>
        <p:nvSpPr>
          <p:cNvPr id="20" name="Text 14"/>
          <p:cNvSpPr/>
          <p:nvPr/>
        </p:nvSpPr>
        <p:spPr>
          <a:xfrm>
            <a:off x="9040368" y="1828800"/>
            <a:ext cx="2371344"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Scripts Ola Hallengren</a:t>
            </a:r>
            <a:endParaRPr lang="en-US" sz="1600" dirty="0"/>
          </a:p>
        </p:txBody>
      </p:sp>
      <p:sp>
        <p:nvSpPr>
          <p:cNvPr id="21" name="Text 15"/>
          <p:cNvSpPr/>
          <p:nvPr/>
        </p:nvSpPr>
        <p:spPr>
          <a:xfrm>
            <a:off x="8354568" y="2560320"/>
            <a:ext cx="3057144"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DatabaseBackup, IntegrityCheck e IndexOptimize por umbrales.</a:t>
            </a:r>
            <a:endParaRPr lang="en-US" sz="1400" dirty="0"/>
          </a:p>
        </p:txBody>
      </p:sp>
      <p:sp>
        <p:nvSpPr>
          <p:cNvPr id="22" name="Shape 16"/>
          <p:cNvSpPr/>
          <p:nvPr/>
        </p:nvSpPr>
        <p:spPr>
          <a:xfrm>
            <a:off x="548640" y="4023360"/>
            <a:ext cx="3514344"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Shape 17"/>
          <p:cNvSpPr/>
          <p:nvPr/>
        </p:nvSpPr>
        <p:spPr>
          <a:xfrm>
            <a:off x="777240" y="4251960"/>
            <a:ext cx="548640" cy="54864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914400" y="4389120"/>
            <a:ext cx="274320" cy="274320"/>
          </a:xfrm>
          <a:prstGeom prst="rect">
            <a:avLst/>
          </a:prstGeom>
        </p:spPr>
      </p:pic>
      <p:sp>
        <p:nvSpPr>
          <p:cNvPr id="25" name="Text 18"/>
          <p:cNvSpPr/>
          <p:nvPr/>
        </p:nvSpPr>
        <p:spPr>
          <a:xfrm>
            <a:off x="1463040" y="4251960"/>
            <a:ext cx="2371344"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Limpieza de msdb</a:t>
            </a:r>
            <a:endParaRPr lang="en-US" sz="1600" dirty="0"/>
          </a:p>
        </p:txBody>
      </p:sp>
      <p:sp>
        <p:nvSpPr>
          <p:cNvPr id="26" name="Text 19"/>
          <p:cNvSpPr/>
          <p:nvPr/>
        </p:nvSpPr>
        <p:spPr>
          <a:xfrm>
            <a:off x="777240" y="4983480"/>
            <a:ext cx="3057144"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sp_delete_backuphistory y sp_purge_jobhistory semanales.</a:t>
            </a:r>
            <a:endParaRPr lang="en-US" sz="1400" dirty="0"/>
          </a:p>
        </p:txBody>
      </p:sp>
      <p:sp>
        <p:nvSpPr>
          <p:cNvPr id="27" name="Shape 20"/>
          <p:cNvSpPr/>
          <p:nvPr/>
        </p:nvSpPr>
        <p:spPr>
          <a:xfrm>
            <a:off x="4337304" y="4023360"/>
            <a:ext cx="3514344"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8" name="Shape 21"/>
          <p:cNvSpPr/>
          <p:nvPr/>
        </p:nvSpPr>
        <p:spPr>
          <a:xfrm>
            <a:off x="4565904" y="4251960"/>
            <a:ext cx="548640" cy="548640"/>
          </a:xfrm>
          <a:prstGeom prst="ellipse">
            <a:avLst/>
          </a:prstGeom>
          <a:solidFill>
            <a:srgbClr val="134074"/>
          </a:solidFill>
          <a:ln/>
        </p:spPr>
      </p:sp>
      <p:pic>
        <p:nvPicPr>
          <p:cNvPr id="29" name="Image 4" descr="preencoded.png">    </p:cNvPr>
          <p:cNvPicPr>
            <a:picLocks noChangeAspect="1"/>
          </p:cNvPicPr>
          <p:nvPr/>
        </p:nvPicPr>
        <p:blipFill>
          <a:blip r:embed="rId5"/>
          <a:stretch>
            <a:fillRect/>
          </a:stretch>
        </p:blipFill>
        <p:spPr>
          <a:xfrm>
            <a:off x="4703064" y="4389120"/>
            <a:ext cx="274320" cy="274320"/>
          </a:xfrm>
          <a:prstGeom prst="rect">
            <a:avLst/>
          </a:prstGeom>
        </p:spPr>
      </p:pic>
      <p:sp>
        <p:nvSpPr>
          <p:cNvPr id="30" name="Text 22"/>
          <p:cNvSpPr/>
          <p:nvPr/>
        </p:nvSpPr>
        <p:spPr>
          <a:xfrm>
            <a:off x="5251704" y="4251960"/>
            <a:ext cx="2371344"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Database Mail y operadores</a:t>
            </a:r>
            <a:endParaRPr lang="en-US" sz="1600" dirty="0"/>
          </a:p>
        </p:txBody>
      </p:sp>
      <p:sp>
        <p:nvSpPr>
          <p:cNvPr id="31" name="Text 23"/>
          <p:cNvSpPr/>
          <p:nvPr/>
        </p:nvSpPr>
        <p:spPr>
          <a:xfrm>
            <a:off x="4565904" y="4983480"/>
            <a:ext cx="3057144"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El operador recibe el correo cuando un job falla.</a:t>
            </a:r>
            <a:endParaRPr lang="en-US" sz="1400" dirty="0"/>
          </a:p>
        </p:txBody>
      </p:sp>
      <p:sp>
        <p:nvSpPr>
          <p:cNvPr id="32" name="Shape 24"/>
          <p:cNvSpPr/>
          <p:nvPr/>
        </p:nvSpPr>
        <p:spPr>
          <a:xfrm>
            <a:off x="8125968" y="4023360"/>
            <a:ext cx="3514344"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3" name="Shape 25"/>
          <p:cNvSpPr/>
          <p:nvPr/>
        </p:nvSpPr>
        <p:spPr>
          <a:xfrm>
            <a:off x="8354568" y="4251960"/>
            <a:ext cx="548640" cy="548640"/>
          </a:xfrm>
          <a:prstGeom prst="ellipse">
            <a:avLst/>
          </a:prstGeom>
          <a:solidFill>
            <a:srgbClr val="134074"/>
          </a:solidFill>
          <a:ln/>
        </p:spPr>
      </p:sp>
      <p:pic>
        <p:nvPicPr>
          <p:cNvPr id="34" name="Image 5" descr="preencoded.png">    </p:cNvPr>
          <p:cNvPicPr>
            <a:picLocks noChangeAspect="1"/>
          </p:cNvPicPr>
          <p:nvPr/>
        </p:nvPicPr>
        <p:blipFill>
          <a:blip r:embed="rId6"/>
          <a:stretch>
            <a:fillRect/>
          </a:stretch>
        </p:blipFill>
        <p:spPr>
          <a:xfrm>
            <a:off x="8491728" y="4389120"/>
            <a:ext cx="274320" cy="274320"/>
          </a:xfrm>
          <a:prstGeom prst="rect">
            <a:avLst/>
          </a:prstGeom>
        </p:spPr>
      </p:pic>
      <p:sp>
        <p:nvSpPr>
          <p:cNvPr id="35" name="Text 26"/>
          <p:cNvSpPr/>
          <p:nvPr/>
        </p:nvSpPr>
        <p:spPr>
          <a:xfrm>
            <a:off x="9040368" y="4251960"/>
            <a:ext cx="2371344"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Alertas del Agent</a:t>
            </a:r>
            <a:endParaRPr lang="en-US" sz="1600" dirty="0"/>
          </a:p>
        </p:txBody>
      </p:sp>
      <p:sp>
        <p:nvSpPr>
          <p:cNvPr id="36" name="Text 27"/>
          <p:cNvSpPr/>
          <p:nvPr/>
        </p:nvSpPr>
        <p:spPr>
          <a:xfrm>
            <a:off x="8354568" y="4983480"/>
            <a:ext cx="3057144"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Gravedad 19–25 y errores 823, 824, 825 y 9002.</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INCIDENCIAS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Incidencia: log de transacciones lleno</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70</a:t>
            </a:r>
            <a:endParaRPr lang="en-US" sz="1000" dirty="0"/>
          </a:p>
        </p:txBody>
      </p:sp>
      <p:sp>
        <p:nvSpPr>
          <p:cNvPr id="7" name="Shape 4"/>
          <p:cNvSpPr/>
          <p:nvPr/>
        </p:nvSpPr>
        <p:spPr>
          <a:xfrm>
            <a:off x="548640" y="1600200"/>
            <a:ext cx="4754880" cy="3017520"/>
          </a:xfrm>
          <a:prstGeom prst="roundRect">
            <a:avLst>
              <a:gd name="adj" fmla="val 303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4389120" cy="256032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recovery_model_desc,</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log_reuse_wait_desc</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sys.databases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name</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N'Ventas'</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DBCC</a:t>
            </a:r>
            <a:r>
              <a:rPr lang="en-US" sz="1200" dirty="0">
                <a:solidFill>
                  <a:srgbClr val="1F2933"/>
                </a:solidFill>
                <a:latin typeface="Consolas" pitchFamily="34" charset="0"/>
                <a:ea typeface="Consolas" pitchFamily="34" charset="-122"/>
                <a:cs typeface="Consolas" pitchFamily="34" charset="-120"/>
              </a:rPr>
              <a:t> SQLPERF (LOGSPACE);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DBCC</a:t>
            </a:r>
            <a:r>
              <a:rPr lang="en-US" sz="1200" dirty="0">
                <a:solidFill>
                  <a:srgbClr val="1F2933"/>
                </a:solidFill>
                <a:latin typeface="Consolas" pitchFamily="34" charset="0"/>
                <a:ea typeface="Consolas" pitchFamily="34" charset="-122"/>
                <a:cs typeface="Consolas" pitchFamily="34" charset="-120"/>
              </a:rPr>
              <a:t> OPENTRAN (</a:t>
            </a:r>
            <a:r>
              <a:rPr lang="en-US" sz="1200" dirty="0">
                <a:solidFill>
                  <a:srgbClr val="B4441F"/>
                </a:solidFill>
                <a:latin typeface="Consolas" pitchFamily="34" charset="0"/>
                <a:ea typeface="Consolas" pitchFamily="34" charset="-122"/>
                <a:cs typeface="Consolas" pitchFamily="34" charset="-120"/>
              </a:rPr>
              <a:t>N'Ventas'</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N'/var/opt/mssql/backup/Log2.trn'</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577840" y="1600200"/>
          <a:ext cx="6062472" cy="914400"/>
        </p:xfrm>
        <a:graphic>
          <a:graphicData uri="http://schemas.openxmlformats.org/drawingml/2006/table">
            <a:tbl>
              <a:tblPr/>
              <a:tblGrid>
                <a:gridCol w="2081147"/>
                <a:gridCol w="1990662"/>
                <a:gridCol w="1990662"/>
              </a:tblGrid>
              <a:tr h="3810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log_reuse_wait_desc</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Causa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Acción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2545"/>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LOG_BACKUP</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Sin log backups</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BACKUP LOG y programarlo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7912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ACTIVE_TRANSACTION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Transacción larga abierta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DBCC OPENTRAN; cerrarla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AVAILABILITY_REPLICA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Réplica AG atrasada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Revisar red y réplica</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10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REPLICATION</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Log Reader parado</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Reiniciar el agente</a:t>
                      </a:r>
                      <a:endParaRPr lang="en-US" sz="13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8EEF5"/>
                    </a:solidFill>
                  </a:tcPr>
                </a:tc>
              </a:tr>
            </a:tbl>
          </a:graphicData>
        </a:graphic>
      </p:graphicFrame>
      <p:sp>
        <p:nvSpPr>
          <p:cNvPr id="11" name="Shape 7"/>
          <p:cNvSpPr/>
          <p:nvPr/>
        </p:nvSpPr>
        <p:spPr>
          <a:xfrm>
            <a:off x="548640" y="4937760"/>
            <a:ext cx="11091672" cy="1188720"/>
          </a:xfrm>
          <a:prstGeom prst="roundRect">
            <a:avLst>
              <a:gd name="adj" fmla="val 9231"/>
            </a:avLst>
          </a:prstGeom>
          <a:solidFill>
            <a:srgbClr val="FDEDE8"/>
          </a:solidFill>
          <a:ln/>
        </p:spPr>
      </p:sp>
      <p:sp>
        <p:nvSpPr>
          <p:cNvPr id="12" name="Shape 8"/>
          <p:cNvSpPr/>
          <p:nvPr/>
        </p:nvSpPr>
        <p:spPr>
          <a:xfrm>
            <a:off x="731520" y="5303520"/>
            <a:ext cx="457200" cy="457200"/>
          </a:xfrm>
          <a:prstGeom prst="ellipse">
            <a:avLst/>
          </a:prstGeom>
          <a:solidFill>
            <a:srgbClr val="D95D39"/>
          </a:solidFill>
          <a:ln/>
        </p:spPr>
      </p:sp>
      <p:pic>
        <p:nvPicPr>
          <p:cNvPr id="13" name="Image 0" descr="preencoded.png">    </p:cNvPr>
          <p:cNvPicPr>
            <a:picLocks noChangeAspect="1"/>
          </p:cNvPicPr>
          <p:nvPr/>
        </p:nvPicPr>
        <p:blipFill>
          <a:blip r:embed="rId1"/>
          <a:stretch>
            <a:fillRect/>
          </a:stretch>
        </p:blipFill>
        <p:spPr>
          <a:xfrm>
            <a:off x="845820" y="5417820"/>
            <a:ext cx="228600" cy="228600"/>
          </a:xfrm>
          <a:prstGeom prst="rect">
            <a:avLst/>
          </a:prstGeom>
        </p:spPr>
      </p:pic>
      <p:sp>
        <p:nvSpPr>
          <p:cNvPr id="14" name="Text 9"/>
          <p:cNvSpPr/>
          <p:nvPr/>
        </p:nvSpPr>
        <p:spPr>
          <a:xfrm>
            <a:off x="1371600" y="4937760"/>
            <a:ext cx="10085832" cy="118872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Nunca borres el .ldf: </a:t>
            </a:r>
            <a:r>
              <a:rPr lang="en-US" sz="1400" dirty="0">
                <a:solidFill>
                  <a:srgbClr val="1F2933"/>
                </a:solidFill>
                <a:latin typeface="Calibri" pitchFamily="34" charset="0"/>
                <a:ea typeface="Calibri" pitchFamily="34" charset="-122"/>
                <a:cs typeface="Calibri" pitchFamily="34" charset="-120"/>
              </a:rPr>
              <a:t>la base puede quedar sin recuperar. Resuelve la causa raíz (log_reuse_wait_desc) y reduce el fichero sólo una vez, después.</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INCIDENCIAS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Incidencia: TempDB saturada</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71</a:t>
            </a:r>
            <a:endParaRPr lang="en-US" sz="1000" dirty="0"/>
          </a:p>
        </p:txBody>
      </p:sp>
      <p:sp>
        <p:nvSpPr>
          <p:cNvPr id="7" name="Shape 4"/>
          <p:cNvSpPr/>
          <p:nvPr/>
        </p:nvSpPr>
        <p:spPr>
          <a:xfrm>
            <a:off x="548640" y="1600200"/>
            <a:ext cx="3017520"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1874520"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Version store</a:t>
            </a:r>
            <a:endParaRPr lang="en-US" sz="1600" dirty="0"/>
          </a:p>
        </p:txBody>
      </p:sp>
      <p:sp>
        <p:nvSpPr>
          <p:cNvPr id="11" name="Text 7"/>
          <p:cNvSpPr/>
          <p:nvPr/>
        </p:nvSpPr>
        <p:spPr>
          <a:xfrm>
            <a:off x="777240" y="2560320"/>
            <a:ext cx="256032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RCSI y snapshot guardan versiones; una transacción larga las retiene.</a:t>
            </a:r>
            <a:endParaRPr lang="en-US" sz="1400" dirty="0"/>
          </a:p>
        </p:txBody>
      </p:sp>
      <p:sp>
        <p:nvSpPr>
          <p:cNvPr id="12" name="Shape 8"/>
          <p:cNvSpPr/>
          <p:nvPr/>
        </p:nvSpPr>
        <p:spPr>
          <a:xfrm>
            <a:off x="3840480" y="1600200"/>
            <a:ext cx="3017520"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069080"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4206240" y="1965960"/>
            <a:ext cx="274320" cy="274320"/>
          </a:xfrm>
          <a:prstGeom prst="rect">
            <a:avLst/>
          </a:prstGeom>
        </p:spPr>
      </p:pic>
      <p:sp>
        <p:nvSpPr>
          <p:cNvPr id="15" name="Text 10"/>
          <p:cNvSpPr/>
          <p:nvPr/>
        </p:nvSpPr>
        <p:spPr>
          <a:xfrm>
            <a:off x="4754880" y="1828800"/>
            <a:ext cx="1874520"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Spills y temporales</a:t>
            </a:r>
            <a:endParaRPr lang="en-US" sz="1600" dirty="0"/>
          </a:p>
        </p:txBody>
      </p:sp>
      <p:sp>
        <p:nvSpPr>
          <p:cNvPr id="16" name="Text 11"/>
          <p:cNvSpPr/>
          <p:nvPr/>
        </p:nvSpPr>
        <p:spPr>
          <a:xfrm>
            <a:off x="4069080" y="2560320"/>
            <a:ext cx="256032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Sort/hash sin memoria suficiente y #tablas grandes.</a:t>
            </a:r>
            <a:endParaRPr lang="en-US" sz="1400" dirty="0"/>
          </a:p>
        </p:txBody>
      </p:sp>
      <p:sp>
        <p:nvSpPr>
          <p:cNvPr id="17" name="Shape 12"/>
          <p:cNvSpPr/>
          <p:nvPr/>
        </p:nvSpPr>
        <p:spPr>
          <a:xfrm>
            <a:off x="548640" y="4023360"/>
            <a:ext cx="3017520"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777240" y="4251960"/>
            <a:ext cx="548640" cy="54864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914400" y="4389120"/>
            <a:ext cx="274320" cy="274320"/>
          </a:xfrm>
          <a:prstGeom prst="rect">
            <a:avLst/>
          </a:prstGeom>
        </p:spPr>
      </p:pic>
      <p:sp>
        <p:nvSpPr>
          <p:cNvPr id="20" name="Text 14"/>
          <p:cNvSpPr/>
          <p:nvPr/>
        </p:nvSpPr>
        <p:spPr>
          <a:xfrm>
            <a:off x="1463040" y="4251960"/>
            <a:ext cx="1874520"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PFS / GAM / SGAM</a:t>
            </a:r>
            <a:endParaRPr lang="en-US" sz="1600" dirty="0"/>
          </a:p>
        </p:txBody>
      </p:sp>
      <p:sp>
        <p:nvSpPr>
          <p:cNvPr id="21" name="Text 15"/>
          <p:cNvSpPr/>
          <p:nvPr/>
        </p:nvSpPr>
        <p:spPr>
          <a:xfrm>
            <a:off x="777240" y="4983480"/>
            <a:ext cx="256032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Contención PAGELATCH en páginas de asignación.</a:t>
            </a:r>
            <a:endParaRPr lang="en-US" sz="1400" dirty="0"/>
          </a:p>
        </p:txBody>
      </p:sp>
      <p:sp>
        <p:nvSpPr>
          <p:cNvPr id="22" name="Shape 16"/>
          <p:cNvSpPr/>
          <p:nvPr/>
        </p:nvSpPr>
        <p:spPr>
          <a:xfrm>
            <a:off x="3840480" y="4023360"/>
            <a:ext cx="3017520" cy="2148840"/>
          </a:xfrm>
          <a:prstGeom prst="roundRect">
            <a:avLst>
              <a:gd name="adj" fmla="val 510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Shape 17"/>
          <p:cNvSpPr/>
          <p:nvPr/>
        </p:nvSpPr>
        <p:spPr>
          <a:xfrm>
            <a:off x="4069080" y="4251960"/>
            <a:ext cx="548640" cy="548640"/>
          </a:xfrm>
          <a:prstGeom prst="ellipse">
            <a:avLst/>
          </a:prstGeom>
          <a:solidFill>
            <a:srgbClr val="134074"/>
          </a:solidFill>
          <a:ln/>
        </p:spPr>
      </p:sp>
      <p:pic>
        <p:nvPicPr>
          <p:cNvPr id="24" name="Image 3" descr="preencoded.png">    </p:cNvPr>
          <p:cNvPicPr>
            <a:picLocks noChangeAspect="1"/>
          </p:cNvPicPr>
          <p:nvPr/>
        </p:nvPicPr>
        <p:blipFill>
          <a:blip r:embed="rId4"/>
          <a:stretch>
            <a:fillRect/>
          </a:stretch>
        </p:blipFill>
        <p:spPr>
          <a:xfrm>
            <a:off x="4206240" y="4389120"/>
            <a:ext cx="274320" cy="274320"/>
          </a:xfrm>
          <a:prstGeom prst="rect">
            <a:avLst/>
          </a:prstGeom>
        </p:spPr>
      </p:pic>
      <p:sp>
        <p:nvSpPr>
          <p:cNvPr id="25" name="Text 18"/>
          <p:cNvSpPr/>
          <p:nvPr/>
        </p:nvSpPr>
        <p:spPr>
          <a:xfrm>
            <a:off x="4754880" y="4251960"/>
            <a:ext cx="1874520" cy="5486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Varios ficheros</a:t>
            </a:r>
            <a:endParaRPr lang="en-US" sz="1600" dirty="0"/>
          </a:p>
        </p:txBody>
      </p:sp>
      <p:sp>
        <p:nvSpPr>
          <p:cNvPr id="26" name="Text 19"/>
          <p:cNvSpPr/>
          <p:nvPr/>
        </p:nvSpPr>
        <p:spPr>
          <a:xfrm>
            <a:off x="4069080" y="4983480"/>
            <a:ext cx="256032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Ficheros de igual tamaño: 1 por core, hasta 8.</a:t>
            </a:r>
            <a:endParaRPr lang="en-US" sz="1400" dirty="0"/>
          </a:p>
        </p:txBody>
      </p:sp>
      <p:sp>
        <p:nvSpPr>
          <p:cNvPr id="27" name="Shape 20"/>
          <p:cNvSpPr/>
          <p:nvPr/>
        </p:nvSpPr>
        <p:spPr>
          <a:xfrm>
            <a:off x="7132320" y="1600200"/>
            <a:ext cx="4507992" cy="3154680"/>
          </a:xfrm>
          <a:prstGeom prst="roundRect">
            <a:avLst>
              <a:gd name="adj" fmla="val 2899"/>
            </a:avLst>
          </a:prstGeom>
          <a:solidFill>
            <a:srgbClr val="ECEFF3"/>
          </a:solidFill>
          <a:ln w="9525">
            <a:solidFill>
              <a:srgbClr val="D0D7DE"/>
            </a:solidFill>
            <a:prstDash val="solid"/>
          </a:ln>
        </p:spPr>
      </p:sp>
      <p:sp>
        <p:nvSpPr>
          <p:cNvPr id="28" name="Text 21"/>
          <p:cNvSpPr/>
          <p:nvPr/>
        </p:nvSpPr>
        <p:spPr>
          <a:xfrm>
            <a:off x="731520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29" name="Text 22"/>
          <p:cNvSpPr/>
          <p:nvPr/>
        </p:nvSpPr>
        <p:spPr>
          <a:xfrm>
            <a:off x="7315200" y="1965960"/>
            <a:ext cx="4142232" cy="269748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¿Quién consume TempDB?</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TOP</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9A3412"/>
                </a:solidFill>
                <a:latin typeface="Consolas" pitchFamily="34" charset="0"/>
                <a:ea typeface="Consolas" pitchFamily="34" charset="-122"/>
                <a:cs typeface="Consolas" pitchFamily="34" charset="-120"/>
              </a:rPr>
              <a:t>5</a:t>
            </a:r>
            <a:r>
              <a:rPr lang="en-US" sz="1200" dirty="0">
                <a:solidFill>
                  <a:srgbClr val="1F2933"/>
                </a:solidFill>
                <a:latin typeface="Consolas" pitchFamily="34" charset="0"/>
                <a:ea typeface="Consolas" pitchFamily="34" charset="-122"/>
                <a:cs typeface="Consolas" pitchFamily="34" charset="-120"/>
              </a:rPr>
              <a:t>) session_id,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internal_objects_alloc_page_count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p_int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sys.dm_db_session_space_usage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ORDER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BY</a:t>
            </a:r>
            <a:r>
              <a:rPr lang="en-US" sz="1200" dirty="0">
                <a:solidFill>
                  <a:srgbClr val="1F2933"/>
                </a:solidFill>
                <a:latin typeface="Consolas" pitchFamily="34" charset="0"/>
                <a:ea typeface="Consolas" pitchFamily="34" charset="-122"/>
                <a:cs typeface="Consolas" pitchFamily="34" charset="-120"/>
              </a:rPr>
              <a:t> p_int </a:t>
            </a:r>
            <a:r>
              <a:rPr lang="en-US" sz="1200" b="1" dirty="0">
                <a:solidFill>
                  <a:srgbClr val="1D4ED8"/>
                </a:solidFill>
                <a:latin typeface="Consolas" pitchFamily="34" charset="0"/>
                <a:ea typeface="Consolas" pitchFamily="34" charset="-122"/>
                <a:cs typeface="Consolas" pitchFamily="34" charset="-120"/>
              </a:rPr>
              <a:t>DESC</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¿Contención de asignación?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session_id, wait_type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sys.dm_os_waiting_tasks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wait_type </a:t>
            </a:r>
            <a:r>
              <a:rPr lang="en-US" sz="1200" b="1" dirty="0">
                <a:solidFill>
                  <a:srgbClr val="1D4ED8"/>
                </a:solidFill>
                <a:latin typeface="Consolas" pitchFamily="34" charset="0"/>
                <a:ea typeface="Consolas" pitchFamily="34" charset="-122"/>
                <a:cs typeface="Consolas" pitchFamily="34" charset="-120"/>
              </a:rPr>
              <a:t>LIKE</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N'PAGELATCH%'</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AND</a:t>
            </a:r>
            <a:r>
              <a:rPr lang="en-US" sz="1200" dirty="0">
                <a:solidFill>
                  <a:srgbClr val="1F2933"/>
                </a:solidFill>
                <a:latin typeface="Consolas" pitchFamily="34" charset="0"/>
                <a:ea typeface="Consolas" pitchFamily="34" charset="-122"/>
                <a:cs typeface="Consolas" pitchFamily="34" charset="-120"/>
              </a:rPr>
              <a:t> resource_description </a:t>
            </a:r>
            <a:r>
              <a:rPr lang="en-US" sz="1200" b="1" dirty="0">
                <a:solidFill>
                  <a:srgbClr val="1D4ED8"/>
                </a:solidFill>
                <a:latin typeface="Consolas" pitchFamily="34" charset="0"/>
                <a:ea typeface="Consolas" pitchFamily="34" charset="-122"/>
                <a:cs typeface="Consolas" pitchFamily="34" charset="-120"/>
              </a:rPr>
              <a:t>LIKE</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N'2:%'</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30" name="Shape 23"/>
          <p:cNvSpPr/>
          <p:nvPr/>
        </p:nvSpPr>
        <p:spPr>
          <a:xfrm>
            <a:off x="7132320" y="5029200"/>
            <a:ext cx="4507992" cy="1143000"/>
          </a:xfrm>
          <a:prstGeom prst="roundRect">
            <a:avLst>
              <a:gd name="adj" fmla="val 9600"/>
            </a:avLst>
          </a:prstGeom>
          <a:solidFill>
            <a:srgbClr val="E8EEF5"/>
          </a:solidFill>
          <a:ln/>
        </p:spPr>
      </p:sp>
      <p:sp>
        <p:nvSpPr>
          <p:cNvPr id="31" name="Shape 24"/>
          <p:cNvSpPr/>
          <p:nvPr/>
        </p:nvSpPr>
        <p:spPr>
          <a:xfrm>
            <a:off x="7315200" y="5372100"/>
            <a:ext cx="457200" cy="457200"/>
          </a:xfrm>
          <a:prstGeom prst="ellipse">
            <a:avLst/>
          </a:prstGeom>
          <a:solidFill>
            <a:srgbClr val="134074"/>
          </a:solidFill>
          <a:ln/>
        </p:spPr>
      </p:sp>
      <p:pic>
        <p:nvPicPr>
          <p:cNvPr id="32" name="Image 4" descr="preencoded.png">    </p:cNvPr>
          <p:cNvPicPr>
            <a:picLocks noChangeAspect="1"/>
          </p:cNvPicPr>
          <p:nvPr/>
        </p:nvPicPr>
        <p:blipFill>
          <a:blip r:embed="rId5"/>
          <a:stretch>
            <a:fillRect/>
          </a:stretch>
        </p:blipFill>
        <p:spPr>
          <a:xfrm>
            <a:off x="7429500" y="5486400"/>
            <a:ext cx="228600" cy="228600"/>
          </a:xfrm>
          <a:prstGeom prst="rect">
            <a:avLst/>
          </a:prstGeom>
        </p:spPr>
      </p:pic>
      <p:sp>
        <p:nvSpPr>
          <p:cNvPr id="33" name="Text 25"/>
          <p:cNvSpPr/>
          <p:nvPr/>
        </p:nvSpPr>
        <p:spPr>
          <a:xfrm>
            <a:off x="7955280" y="5029200"/>
            <a:ext cx="3502152" cy="11430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Ficheros iguales y pre-dimensionados; no hagas shrink rutinario.</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INCIDENCIAS</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Bloqueos prolongados y deadlocks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72</a:t>
            </a:r>
            <a:endParaRPr lang="en-US" sz="1000" dirty="0"/>
          </a:p>
        </p:txBody>
      </p:sp>
      <p:sp>
        <p:nvSpPr>
          <p:cNvPr id="7" name="Shape 4"/>
          <p:cNvSpPr/>
          <p:nvPr/>
        </p:nvSpPr>
        <p:spPr>
          <a:xfrm>
            <a:off x="548640" y="1600200"/>
            <a:ext cx="630936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5943600" cy="4114800"/>
          </a:xfrm>
          <a:prstGeom prst="rect">
            <a:avLst/>
          </a:prstGeom>
          <a:noFill/>
          <a:ln/>
        </p:spPr>
        <p:txBody>
          <a:bodyPr wrap="none" lIns="0" tIns="0" rIns="0" bIns="0" rtlCol="0" anchor="t"/>
          <a:lstStyle/>
          <a:p>
            <a:pPr indent="0" marL="0">
              <a:buNone/>
            </a:pPr>
            <a:r>
              <a:rPr lang="en-US" sz="1200" i="1" dirty="0">
                <a:solidFill>
                  <a:srgbClr val="6B7280"/>
                </a:solidFill>
                <a:latin typeface="Consolas" pitchFamily="34" charset="0"/>
                <a:ea typeface="Consolas" pitchFamily="34" charset="-122"/>
                <a:cs typeface="Consolas" pitchFamily="34" charset="-120"/>
              </a:rPr>
              <a:t>-- Peticiones bloqueadas y su bloqueador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r.session_id, r.blocking_session_id,</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r.wait_type, r.wait_time, t.</a:t>
            </a:r>
            <a:r>
              <a:rPr lang="en-US" sz="1200" dirty="0">
                <a:solidFill>
                  <a:srgbClr val="7C3AED"/>
                </a:solidFill>
                <a:latin typeface="Consolas" pitchFamily="34" charset="0"/>
                <a:ea typeface="Consolas" pitchFamily="34" charset="-122"/>
                <a:cs typeface="Consolas" pitchFamily="34" charset="-120"/>
              </a:rPr>
              <a:t>text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sys.dm_exec_requests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CROSS</a:t>
            </a:r>
            <a:r>
              <a:rPr lang="en-US" sz="1200" dirty="0">
                <a:solidFill>
                  <a:srgbClr val="1F2933"/>
                </a:solidFill>
                <a:latin typeface="Consolas" pitchFamily="34" charset="0"/>
                <a:ea typeface="Consolas" pitchFamily="34" charset="-122"/>
                <a:cs typeface="Consolas" pitchFamily="34" charset="-120"/>
              </a:rPr>
              <a:t> APPLY sys.dm_exec_sql_text(r.sql_handle)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r.blocking_session_id &lt;&gt; </a:t>
            </a:r>
            <a:r>
              <a:rPr lang="en-US" sz="1200" dirty="0">
                <a:solidFill>
                  <a:srgbClr val="9A3412"/>
                </a:solidFill>
                <a:latin typeface="Consolas" pitchFamily="34" charset="0"/>
                <a:ea typeface="Consolas" pitchFamily="34" charset="-122"/>
                <a:cs typeface="Consolas" pitchFamily="34" charset="-120"/>
              </a:rPr>
              <a:t>0</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Locks en espera</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resource_type, request_mode,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request_status, request_session_id</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sys.dm_tran_locks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request_status = </a:t>
            </a:r>
            <a:r>
              <a:rPr lang="en-US" sz="1200" dirty="0">
                <a:solidFill>
                  <a:srgbClr val="B4441F"/>
                </a:solidFill>
                <a:latin typeface="Consolas" pitchFamily="34" charset="0"/>
                <a:ea typeface="Consolas" pitchFamily="34" charset="-122"/>
                <a:cs typeface="Consolas" pitchFamily="34" charset="-120"/>
              </a:rPr>
              <a:t>N'WAIT'</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i="1" dirty="0">
                <a:solidFill>
                  <a:srgbClr val="6B7280"/>
                </a:solidFill>
                <a:latin typeface="Consolas" pitchFamily="34" charset="0"/>
                <a:ea typeface="Consolas" pitchFamily="34" charset="-122"/>
                <a:cs typeface="Consolas" pitchFamily="34" charset="-120"/>
              </a:rPr>
              <a:t>-- Grafo de deadlock (system_health)</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CAST(xe.event_data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7C3AED"/>
                </a:solidFill>
                <a:latin typeface="Consolas" pitchFamily="34" charset="0"/>
                <a:ea typeface="Consolas" pitchFamily="34" charset="-122"/>
                <a:cs typeface="Consolas" pitchFamily="34" charset="-120"/>
              </a:rPr>
              <a:t>XML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grafo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sys.fn_xe_file_target_read_file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N'system_health*.xel'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NULL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xe</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WHERE</a:t>
            </a:r>
            <a:r>
              <a:rPr lang="en-US" sz="1200" dirty="0">
                <a:solidFill>
                  <a:srgbClr val="1F2933"/>
                </a:solidFill>
                <a:latin typeface="Consolas" pitchFamily="34" charset="0"/>
                <a:ea typeface="Consolas" pitchFamily="34" charset="-122"/>
                <a:cs typeface="Consolas" pitchFamily="34" charset="-120"/>
              </a:rPr>
              <a:t> xe.object_name = </a:t>
            </a:r>
            <a:r>
              <a:rPr lang="en-US" sz="1200" dirty="0">
                <a:solidFill>
                  <a:srgbClr val="B4441F"/>
                </a:solidFill>
                <a:latin typeface="Consolas" pitchFamily="34" charset="0"/>
                <a:ea typeface="Consolas" pitchFamily="34" charset="-122"/>
                <a:cs typeface="Consolas" pitchFamily="34" charset="-120"/>
              </a:rPr>
              <a:t>N'xml_deadlock_report'</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7132320" y="1600200"/>
            <a:ext cx="450799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7315200" y="1993392"/>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7452360" y="2130552"/>
            <a:ext cx="274320" cy="274320"/>
          </a:xfrm>
          <a:prstGeom prst="rect">
            <a:avLst/>
          </a:prstGeom>
        </p:spPr>
      </p:pic>
      <p:sp>
        <p:nvSpPr>
          <p:cNvPr id="13" name="Text 9"/>
          <p:cNvSpPr/>
          <p:nvPr/>
        </p:nvSpPr>
        <p:spPr>
          <a:xfrm>
            <a:off x="8046720" y="1600200"/>
            <a:ext cx="341071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Bloqueo prolongado</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Transacción abierta sin COMMIT: el resto espera.</a:t>
            </a:r>
            <a:endParaRPr lang="en-US" sz="1600" dirty="0"/>
          </a:p>
        </p:txBody>
      </p:sp>
      <p:sp>
        <p:nvSpPr>
          <p:cNvPr id="14" name="Shape 10"/>
          <p:cNvSpPr/>
          <p:nvPr/>
        </p:nvSpPr>
        <p:spPr>
          <a:xfrm>
            <a:off x="7132320" y="3218688"/>
            <a:ext cx="450799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Shape 11"/>
          <p:cNvSpPr/>
          <p:nvPr/>
        </p:nvSpPr>
        <p:spPr>
          <a:xfrm>
            <a:off x="7315200" y="3611880"/>
            <a:ext cx="548640" cy="548640"/>
          </a:xfrm>
          <a:prstGeom prst="ellipse">
            <a:avLst/>
          </a:prstGeom>
          <a:solidFill>
            <a:srgbClr val="134074"/>
          </a:solidFill>
          <a:ln/>
        </p:spPr>
      </p:sp>
      <p:pic>
        <p:nvPicPr>
          <p:cNvPr id="16" name="Image 1" descr="preencoded.png">    </p:cNvPr>
          <p:cNvPicPr>
            <a:picLocks noChangeAspect="1"/>
          </p:cNvPicPr>
          <p:nvPr/>
        </p:nvPicPr>
        <p:blipFill>
          <a:blip r:embed="rId2"/>
          <a:stretch>
            <a:fillRect/>
          </a:stretch>
        </p:blipFill>
        <p:spPr>
          <a:xfrm>
            <a:off x="7452360" y="3749040"/>
            <a:ext cx="274320" cy="274320"/>
          </a:xfrm>
          <a:prstGeom prst="rect">
            <a:avLst/>
          </a:prstGeom>
        </p:spPr>
      </p:pic>
      <p:sp>
        <p:nvSpPr>
          <p:cNvPr id="17" name="Text 12"/>
          <p:cNvSpPr/>
          <p:nvPr/>
        </p:nvSpPr>
        <p:spPr>
          <a:xfrm>
            <a:off x="8046720" y="3218688"/>
            <a:ext cx="341071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Deadlock (error 1205)</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Ciclo de esperas; el Lock Monitor elige víctima.</a:t>
            </a:r>
            <a:endParaRPr lang="en-US" sz="1600" dirty="0"/>
          </a:p>
        </p:txBody>
      </p:sp>
      <p:sp>
        <p:nvSpPr>
          <p:cNvPr id="18" name="Shape 13"/>
          <p:cNvSpPr/>
          <p:nvPr/>
        </p:nvSpPr>
        <p:spPr>
          <a:xfrm>
            <a:off x="7132320" y="4837176"/>
            <a:ext cx="4507992" cy="1335024"/>
          </a:xfrm>
          <a:prstGeom prst="roundRect">
            <a:avLst>
              <a:gd name="adj" fmla="val 821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9" name="Shape 14"/>
          <p:cNvSpPr/>
          <p:nvPr/>
        </p:nvSpPr>
        <p:spPr>
          <a:xfrm>
            <a:off x="7315200" y="5230368"/>
            <a:ext cx="548640" cy="548640"/>
          </a:xfrm>
          <a:prstGeom prst="ellipse">
            <a:avLst/>
          </a:prstGeom>
          <a:solidFill>
            <a:srgbClr val="134074"/>
          </a:solidFill>
          <a:ln/>
        </p:spPr>
      </p:sp>
      <p:pic>
        <p:nvPicPr>
          <p:cNvPr id="20" name="Image 2" descr="preencoded.png">    </p:cNvPr>
          <p:cNvPicPr>
            <a:picLocks noChangeAspect="1"/>
          </p:cNvPicPr>
          <p:nvPr/>
        </p:nvPicPr>
        <p:blipFill>
          <a:blip r:embed="rId3"/>
          <a:stretch>
            <a:fillRect/>
          </a:stretch>
        </p:blipFill>
        <p:spPr>
          <a:xfrm>
            <a:off x="7452360" y="5367528"/>
            <a:ext cx="274320" cy="274320"/>
          </a:xfrm>
          <a:prstGeom prst="rect">
            <a:avLst/>
          </a:prstGeom>
        </p:spPr>
      </p:pic>
      <p:sp>
        <p:nvSpPr>
          <p:cNvPr id="21" name="Text 15"/>
          <p:cNvSpPr/>
          <p:nvPr/>
        </p:nvSpPr>
        <p:spPr>
          <a:xfrm>
            <a:off x="8046720" y="4837176"/>
            <a:ext cx="3410712" cy="1335024"/>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RCSI y KILL con cautela</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Los lectores no bloquean; KILL, el último recurso.</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19456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AUTOMATIZACIÓN Y ETL</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SSIS: arquitectura, motor y herramientas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73</a:t>
            </a:r>
            <a:endParaRPr lang="en-US" sz="1000" dirty="0"/>
          </a:p>
        </p:txBody>
      </p:sp>
      <p:sp>
        <p:nvSpPr>
          <p:cNvPr id="7" name="Shape 4"/>
          <p:cNvSpPr/>
          <p:nvPr/>
        </p:nvSpPr>
        <p:spPr>
          <a:xfrm>
            <a:off x="548640" y="1600200"/>
            <a:ext cx="5408676" cy="3429000"/>
          </a:xfrm>
          <a:prstGeom prst="roundRect">
            <a:avLst>
              <a:gd name="adj" fmla="val 32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10" name="Text 6"/>
          <p:cNvSpPr/>
          <p:nvPr/>
        </p:nvSpPr>
        <p:spPr>
          <a:xfrm>
            <a:off x="1463040" y="1828800"/>
            <a:ext cx="4265676"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Motor en el Servidor (Setup)</a:t>
            </a:r>
            <a:endParaRPr lang="en-US" sz="1700" dirty="0"/>
          </a:p>
        </p:txBody>
      </p:sp>
      <p:sp>
        <p:nvSpPr>
          <p:cNvPr id="11" name="Text 7"/>
          <p:cNvSpPr/>
          <p:nvPr/>
        </p:nvSpPr>
        <p:spPr>
          <a:xfrm>
            <a:off x="777240" y="2560320"/>
            <a:ext cx="4951476" cy="22402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Feature en Setup: </a:t>
            </a:r>
            <a:r>
              <a:rPr lang="en-US" sz="1400" dirty="0">
                <a:solidFill>
                  <a:srgbClr val="1F2933"/>
                </a:solidFill>
                <a:latin typeface="Calibri" pitchFamily="34" charset="0"/>
                <a:ea typeface="Calibri" pitchFamily="34" charset="-122"/>
                <a:cs typeface="Calibri" pitchFamily="34" charset="-120"/>
              </a:rPr>
              <a:t>marcar «Integration Services» en el instalador oficial de SQL Server.</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Servicio de Windows: </a:t>
            </a:r>
            <a:r>
              <a:rPr lang="en-US" sz="1400" dirty="0">
                <a:solidFill>
                  <a:srgbClr val="1F2933"/>
                </a:solidFill>
                <a:latin typeface="Calibri" pitchFamily="34" charset="0"/>
                <a:ea typeface="Calibri" pitchFamily="34" charset="-122"/>
                <a:cs typeface="Calibri" pitchFamily="34" charset="-120"/>
              </a:rPr>
              <a:t>registra MsDtsSrvr.exe para gestión y ejecución de paquetes.</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Requisito CLR: </a:t>
            </a:r>
            <a:r>
              <a:rPr lang="en-US" sz="1400" dirty="0">
                <a:solidFill>
                  <a:srgbClr val="1F2933"/>
                </a:solidFill>
                <a:latin typeface="Calibri" pitchFamily="34" charset="0"/>
                <a:ea typeface="Calibri" pitchFamily="34" charset="-122"/>
                <a:cs typeface="Calibri" pitchFamily="34" charset="-120"/>
              </a:rPr>
              <a:t>habilitar sp_configure 'clr enabled', 1; RECONFIGURE en la instancia.</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Catálogo SSISDB: </a:t>
            </a:r>
            <a:r>
              <a:rPr lang="en-US" sz="1400" dirty="0">
                <a:solidFill>
                  <a:srgbClr val="1F2933"/>
                </a:solidFill>
                <a:latin typeface="Calibri" pitchFamily="34" charset="0"/>
                <a:ea typeface="Calibri" pitchFamily="34" charset="-122"/>
                <a:cs typeface="Calibri" pitchFamily="34" charset="-120"/>
              </a:rPr>
              <a:t>crear catálogo en SSMS; protegido por Database Master Key y contraseña.</a:t>
            </a:r>
            <a:endParaRPr lang="en-US" sz="1400" dirty="0"/>
          </a:p>
        </p:txBody>
      </p:sp>
      <p:sp>
        <p:nvSpPr>
          <p:cNvPr id="12" name="Shape 8"/>
          <p:cNvSpPr/>
          <p:nvPr/>
        </p:nvSpPr>
        <p:spPr>
          <a:xfrm>
            <a:off x="6231636" y="1600200"/>
            <a:ext cx="5408676" cy="3429000"/>
          </a:xfrm>
          <a:prstGeom prst="roundRect">
            <a:avLst>
              <a:gd name="adj" fmla="val 3200"/>
            </a:avLst>
          </a:prstGeom>
          <a:solidFill>
            <a:srgbClr val="E8EEF5"/>
          </a:solidFill>
          <a:ln/>
        </p:spPr>
      </p:sp>
      <p:sp>
        <p:nvSpPr>
          <p:cNvPr id="13" name="Shape 9"/>
          <p:cNvSpPr/>
          <p:nvPr/>
        </p:nvSpPr>
        <p:spPr>
          <a:xfrm>
            <a:off x="6460236" y="1828800"/>
            <a:ext cx="548640" cy="548640"/>
          </a:xfrm>
          <a:prstGeom prst="ellipse">
            <a:avLst/>
          </a:prstGeom>
          <a:solidFill>
            <a:srgbClr val="134074"/>
          </a:solidFill>
          <a:ln/>
        </p:spPr>
      </p:sp>
      <p:pic>
        <p:nvPicPr>
          <p:cNvPr id="14" name="Image 1" descr="preencoded.png">    </p:cNvPr>
          <p:cNvPicPr>
            <a:picLocks noChangeAspect="1"/>
          </p:cNvPicPr>
          <p:nvPr/>
        </p:nvPicPr>
        <p:blipFill>
          <a:blip r:embed="rId2"/>
          <a:stretch>
            <a:fillRect/>
          </a:stretch>
        </p:blipFill>
        <p:spPr>
          <a:xfrm>
            <a:off x="6597396" y="1965960"/>
            <a:ext cx="274320" cy="274320"/>
          </a:xfrm>
          <a:prstGeom prst="rect">
            <a:avLst/>
          </a:prstGeom>
        </p:spPr>
      </p:pic>
      <p:sp>
        <p:nvSpPr>
          <p:cNvPr id="15" name="Text 10"/>
          <p:cNvSpPr/>
          <p:nvPr/>
        </p:nvSpPr>
        <p:spPr>
          <a:xfrm>
            <a:off x="7146036" y="1828800"/>
            <a:ext cx="4265676"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Entorno de Diseño (Visual Studio)</a:t>
            </a:r>
            <a:endParaRPr lang="en-US" sz="1700" dirty="0"/>
          </a:p>
        </p:txBody>
      </p:sp>
      <p:sp>
        <p:nvSpPr>
          <p:cNvPr id="16" name="Text 11"/>
          <p:cNvSpPr/>
          <p:nvPr/>
        </p:nvSpPr>
        <p:spPr>
          <a:xfrm>
            <a:off x="6460236" y="2560320"/>
            <a:ext cx="4951476" cy="22402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Herramienta IDE: </a:t>
            </a:r>
            <a:r>
              <a:rPr lang="en-US" sz="1400" dirty="0">
                <a:solidFill>
                  <a:srgbClr val="1F2933"/>
                </a:solidFill>
                <a:latin typeface="Calibri" pitchFamily="34" charset="0"/>
                <a:ea typeface="Calibri" pitchFamily="34" charset="-122"/>
                <a:cs typeface="Calibri" pitchFamily="34" charset="-120"/>
              </a:rPr>
              <a:t>Visual Studio 2019 o 2022 (Community gratuita, Pro o Enterprise).</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Extensión oficial: </a:t>
            </a:r>
            <a:r>
              <a:rPr lang="en-US" sz="1400" dirty="0">
                <a:solidFill>
                  <a:srgbClr val="1F2933"/>
                </a:solidFill>
                <a:latin typeface="Calibri" pitchFamily="34" charset="0"/>
                <a:ea typeface="Calibri" pitchFamily="34" charset="-122"/>
                <a:cs typeface="Calibri" pitchFamily="34" charset="-120"/>
              </a:rPr>
              <a:t>«SQL Server Integration Services Projects» desde VS Marketplace.</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Proyectos y artefactos: </a:t>
            </a:r>
            <a:r>
              <a:rPr lang="en-US" sz="1400" dirty="0">
                <a:solidFill>
                  <a:srgbClr val="1F2933"/>
                </a:solidFill>
                <a:latin typeface="Calibri" pitchFamily="34" charset="0"/>
                <a:ea typeface="Calibri" pitchFamily="34" charset="-122"/>
                <a:cs typeface="Calibri" pitchFamily="34" charset="-120"/>
              </a:rPr>
              <a:t>soluciones con proyectos .dtproj y paquetes de integración .dtsx.</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Desacoplamiento: </a:t>
            </a:r>
            <a:r>
              <a:rPr lang="en-US" sz="1400" dirty="0">
                <a:solidFill>
                  <a:srgbClr val="1F2933"/>
                </a:solidFill>
                <a:latin typeface="Calibri" pitchFamily="34" charset="0"/>
                <a:ea typeface="Calibri" pitchFamily="34" charset="-122"/>
                <a:cs typeface="Calibri" pitchFamily="34" charset="-120"/>
              </a:rPr>
              <a:t>SSDT ya no viene en la ISO de SQL Server; ciclo de vida independiente.</a:t>
            </a:r>
            <a:endParaRPr lang="en-US" sz="1400" dirty="0"/>
          </a:p>
        </p:txBody>
      </p:sp>
      <p:sp>
        <p:nvSpPr>
          <p:cNvPr id="17" name="Shape 12"/>
          <p:cNvSpPr/>
          <p:nvPr/>
        </p:nvSpPr>
        <p:spPr>
          <a:xfrm>
            <a:off x="548640" y="5257800"/>
            <a:ext cx="11091672" cy="914400"/>
          </a:xfrm>
          <a:prstGeom prst="roundRect">
            <a:avLst>
              <a:gd name="adj" fmla="val 12000"/>
            </a:avLst>
          </a:prstGeom>
          <a:solidFill>
            <a:srgbClr val="E8EEF5"/>
          </a:solidFill>
          <a:ln/>
        </p:spPr>
      </p:sp>
      <p:sp>
        <p:nvSpPr>
          <p:cNvPr id="18" name="Shape 13"/>
          <p:cNvSpPr/>
          <p:nvPr/>
        </p:nvSpPr>
        <p:spPr>
          <a:xfrm>
            <a:off x="731520" y="5486400"/>
            <a:ext cx="457200" cy="457200"/>
          </a:xfrm>
          <a:prstGeom prst="ellipse">
            <a:avLst/>
          </a:prstGeom>
          <a:solidFill>
            <a:srgbClr val="134074"/>
          </a:solidFill>
          <a:ln/>
        </p:spPr>
      </p:sp>
      <p:pic>
        <p:nvPicPr>
          <p:cNvPr id="19" name="Image 2" descr="preencoded.png">    </p:cNvPr>
          <p:cNvPicPr>
            <a:picLocks noChangeAspect="1"/>
          </p:cNvPicPr>
          <p:nvPr/>
        </p:nvPicPr>
        <p:blipFill>
          <a:blip r:embed="rId3"/>
          <a:stretch>
            <a:fillRect/>
          </a:stretch>
        </p:blipFill>
        <p:spPr>
          <a:xfrm>
            <a:off x="845820" y="5600700"/>
            <a:ext cx="228600" cy="228600"/>
          </a:xfrm>
          <a:prstGeom prst="rect">
            <a:avLst/>
          </a:prstGeom>
        </p:spPr>
      </p:pic>
      <p:sp>
        <p:nvSpPr>
          <p:cNvPr id="20" name="Text 14"/>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Desacoplamiento clave: </a:t>
            </a:r>
            <a:r>
              <a:rPr lang="en-US" sz="1400" dirty="0">
                <a:solidFill>
                  <a:srgbClr val="1F2933"/>
                </a:solidFill>
                <a:latin typeface="Calibri" pitchFamily="34" charset="0"/>
                <a:ea typeface="Calibri" pitchFamily="34" charset="-122"/>
                <a:cs typeface="Calibri" pitchFamily="34" charset="-120"/>
              </a:rPr>
              <a:t>SSDT ya no se incluye en la ISO de SQL Server. El desarrollador diseña paquetes en Visual Studio (.ispac); el DBA gestiona el servicio SSIS, provisiona SSISDB y asegura la ejecución en el servidor.</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76022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ETL Y DATA FLOW</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Pipeline ETL: ingesta de CSV a SQL Server</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74</a:t>
            </a:r>
            <a:endParaRPr lang="en-US" sz="1000" dirty="0"/>
          </a:p>
        </p:txBody>
      </p:sp>
      <p:sp>
        <p:nvSpPr>
          <p:cNvPr id="7" name="Shape 4"/>
          <p:cNvSpPr/>
          <p:nvPr/>
        </p:nvSpPr>
        <p:spPr>
          <a:xfrm>
            <a:off x="548640" y="1600200"/>
            <a:ext cx="3483864" cy="3429000"/>
          </a:xfrm>
          <a:prstGeom prst="roundRect">
            <a:avLst>
              <a:gd name="adj" fmla="val 32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77240" y="1828800"/>
            <a:ext cx="502920" cy="502920"/>
          </a:xfrm>
          <a:prstGeom prst="ellipse">
            <a:avLst/>
          </a:prstGeom>
          <a:solidFill>
            <a:srgbClr val="134074"/>
          </a:solidFill>
          <a:ln/>
        </p:spPr>
      </p:sp>
      <p:sp>
        <p:nvSpPr>
          <p:cNvPr id="9" name="Text 6"/>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77240" y="2468880"/>
            <a:ext cx="302666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Flat File Source (CSV)</a:t>
            </a:r>
            <a:endParaRPr lang="en-US" sz="1600" dirty="0"/>
          </a:p>
        </p:txBody>
      </p:sp>
      <p:sp>
        <p:nvSpPr>
          <p:cNvPr id="11" name="Text 8"/>
          <p:cNvSpPr/>
          <p:nvPr/>
        </p:nvSpPr>
        <p:spPr>
          <a:xfrm>
            <a:off x="777240" y="3154680"/>
            <a:ext cx="3026664" cy="1783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Conexión al fichero .csv: delimitador de columnas (coma o punto y coma), calificador de texto entre comillas, codificación UTF-8 y salto de línea CRLF. Los datos entran al pipeline como cadenas DT_STR o DT_WSTR.</a:t>
            </a:r>
            <a:endParaRPr lang="en-US" sz="1400" dirty="0"/>
          </a:p>
        </p:txBody>
      </p:sp>
      <p:sp>
        <p:nvSpPr>
          <p:cNvPr id="12" name="Shape 9"/>
          <p:cNvSpPr/>
          <p:nvPr/>
        </p:nvSpPr>
        <p:spPr>
          <a:xfrm>
            <a:off x="4069080" y="1947672"/>
            <a:ext cx="246888" cy="274320"/>
          </a:xfrm>
          <a:prstGeom prst="rightArrow">
            <a:avLst/>
          </a:prstGeom>
          <a:solidFill>
            <a:srgbClr val="D95D39"/>
          </a:solidFill>
          <a:ln/>
        </p:spPr>
      </p:sp>
      <p:sp>
        <p:nvSpPr>
          <p:cNvPr id="13" name="Shape 10"/>
          <p:cNvSpPr/>
          <p:nvPr/>
        </p:nvSpPr>
        <p:spPr>
          <a:xfrm>
            <a:off x="4352544" y="1600200"/>
            <a:ext cx="3483864" cy="3429000"/>
          </a:xfrm>
          <a:prstGeom prst="roundRect">
            <a:avLst>
              <a:gd name="adj" fmla="val 32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Shape 11"/>
          <p:cNvSpPr/>
          <p:nvPr/>
        </p:nvSpPr>
        <p:spPr>
          <a:xfrm>
            <a:off x="4581144" y="1828800"/>
            <a:ext cx="502920" cy="502920"/>
          </a:xfrm>
          <a:prstGeom prst="ellipse">
            <a:avLst/>
          </a:prstGeom>
          <a:solidFill>
            <a:srgbClr val="134074"/>
          </a:solidFill>
          <a:ln/>
        </p:spPr>
      </p:sp>
      <p:sp>
        <p:nvSpPr>
          <p:cNvPr id="15" name="Text 12"/>
          <p:cNvSpPr/>
          <p:nvPr/>
        </p:nvSpPr>
        <p:spPr>
          <a:xfrm>
            <a:off x="458114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4581144" y="2468880"/>
            <a:ext cx="302666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Data Conversion (RAM)</a:t>
            </a:r>
            <a:endParaRPr lang="en-US" sz="1600" dirty="0"/>
          </a:p>
        </p:txBody>
      </p:sp>
      <p:sp>
        <p:nvSpPr>
          <p:cNvPr id="17" name="Text 14"/>
          <p:cNvSpPr/>
          <p:nvPr/>
        </p:nvSpPr>
        <p:spPr>
          <a:xfrm>
            <a:off x="4581144" y="3154680"/>
            <a:ext cx="3026664" cy="1783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Transformación en memoria: convierte las cadenas de texto del CSV a los tipos de datos relacionales de destino (DT_I4 para enteros, DT_NUMERIC para importes o DT_DATE para fechas). Permite redirigir filas erróneas.</a:t>
            </a:r>
            <a:endParaRPr lang="en-US" sz="1400" dirty="0"/>
          </a:p>
        </p:txBody>
      </p:sp>
      <p:sp>
        <p:nvSpPr>
          <p:cNvPr id="18" name="Shape 15"/>
          <p:cNvSpPr/>
          <p:nvPr/>
        </p:nvSpPr>
        <p:spPr>
          <a:xfrm>
            <a:off x="7872984" y="1947672"/>
            <a:ext cx="246888" cy="274320"/>
          </a:xfrm>
          <a:prstGeom prst="rightArrow">
            <a:avLst/>
          </a:prstGeom>
          <a:solidFill>
            <a:srgbClr val="D95D39"/>
          </a:solidFill>
          <a:ln/>
        </p:spPr>
      </p:sp>
      <p:sp>
        <p:nvSpPr>
          <p:cNvPr id="19" name="Shape 16"/>
          <p:cNvSpPr/>
          <p:nvPr/>
        </p:nvSpPr>
        <p:spPr>
          <a:xfrm>
            <a:off x="8156448" y="1600200"/>
            <a:ext cx="3483864" cy="3429000"/>
          </a:xfrm>
          <a:prstGeom prst="roundRect">
            <a:avLst>
              <a:gd name="adj" fmla="val 32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8385048" y="1828800"/>
            <a:ext cx="502920" cy="502920"/>
          </a:xfrm>
          <a:prstGeom prst="ellipse">
            <a:avLst/>
          </a:prstGeom>
          <a:solidFill>
            <a:srgbClr val="134074"/>
          </a:solidFill>
          <a:ln/>
        </p:spPr>
      </p:sp>
      <p:sp>
        <p:nvSpPr>
          <p:cNvPr id="21" name="Text 18"/>
          <p:cNvSpPr/>
          <p:nvPr/>
        </p:nvSpPr>
        <p:spPr>
          <a:xfrm>
            <a:off x="838504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p:nvPr/>
        </p:nvSpPr>
        <p:spPr>
          <a:xfrm>
            <a:off x="8385048" y="2468880"/>
            <a:ext cx="3026664" cy="64008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OLE DB Destination</a:t>
            </a:r>
            <a:endParaRPr lang="en-US" sz="1600" dirty="0"/>
          </a:p>
        </p:txBody>
      </p:sp>
      <p:sp>
        <p:nvSpPr>
          <p:cNvPr id="23" name="Text 20"/>
          <p:cNvSpPr/>
          <p:nvPr/>
        </p:nvSpPr>
        <p:spPr>
          <a:xfrm>
            <a:off x="8385048" y="3154680"/>
            <a:ext cx="3026664" cy="1783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Inserción masiva en la tabla de destino de SQL Server. Configuración en modo «Table or view - fast load»: ejecuta un BULK INSERT con TABLOCK, evitando registrar cada fila individualmente en el log de transacciones.</a:t>
            </a:r>
            <a:endParaRPr lang="en-US" sz="1400" dirty="0"/>
          </a:p>
        </p:txBody>
      </p:sp>
      <p:sp>
        <p:nvSpPr>
          <p:cNvPr id="24" name="Shape 21"/>
          <p:cNvSpPr/>
          <p:nvPr/>
        </p:nvSpPr>
        <p:spPr>
          <a:xfrm>
            <a:off x="548640" y="5257800"/>
            <a:ext cx="11091672" cy="914400"/>
          </a:xfrm>
          <a:prstGeom prst="roundRect">
            <a:avLst>
              <a:gd name="adj" fmla="val 12000"/>
            </a:avLst>
          </a:prstGeom>
          <a:solidFill>
            <a:srgbClr val="E8EEF5"/>
          </a:solidFill>
          <a:ln/>
        </p:spPr>
      </p:sp>
      <p:sp>
        <p:nvSpPr>
          <p:cNvPr id="25" name="Shape 22"/>
          <p:cNvSpPr/>
          <p:nvPr/>
        </p:nvSpPr>
        <p:spPr>
          <a:xfrm>
            <a:off x="731520" y="5486400"/>
            <a:ext cx="457200" cy="457200"/>
          </a:xfrm>
          <a:prstGeom prst="ellipse">
            <a:avLst/>
          </a:prstGeom>
          <a:solidFill>
            <a:srgbClr val="134074"/>
          </a:solidFill>
          <a:ln/>
        </p:spPr>
      </p:sp>
      <p:pic>
        <p:nvPicPr>
          <p:cNvPr id="26" name="Image 0" descr="preencoded.png">    </p:cNvPr>
          <p:cNvPicPr>
            <a:picLocks noChangeAspect="1"/>
          </p:cNvPicPr>
          <p:nvPr/>
        </p:nvPicPr>
        <p:blipFill>
          <a:blip r:embed="rId1"/>
          <a:stretch>
            <a:fillRect/>
          </a:stretch>
        </p:blipFill>
        <p:spPr>
          <a:xfrm>
            <a:off x="845820" y="5600700"/>
            <a:ext cx="228600" cy="228600"/>
          </a:xfrm>
          <a:prstGeom prst="rect">
            <a:avLst/>
          </a:prstGeom>
        </p:spPr>
      </p:pic>
      <p:sp>
        <p:nvSpPr>
          <p:cNvPr id="27" name="Text 23"/>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Por qué CSV y Fast Load: </a:t>
            </a:r>
            <a:r>
              <a:rPr lang="en-US" sz="1400" dirty="0">
                <a:solidFill>
                  <a:srgbClr val="1F2933"/>
                </a:solidFill>
                <a:latin typeface="Calibri" pitchFamily="34" charset="0"/>
                <a:ea typeface="Calibri" pitchFamily="34" charset="-122"/>
                <a:cs typeface="Calibri" pitchFamily="34" charset="-120"/>
              </a:rPr>
              <a:t>el formato CSV es el estándar de la industria para cargas batch limpias y sin dependencias de drivers de Office; la opción Fast Load multiplica por diez la velocidad de inserción al trabajar en bloque.</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2715768"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ADMINISTRACIÓN Y OPERACIÓN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Despliegue en SSISDB y Jobs con Agent</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75</a:t>
            </a:r>
            <a:endParaRPr lang="en-US" sz="1000" dirty="0"/>
          </a:p>
        </p:txBody>
      </p:sp>
      <p:sp>
        <p:nvSpPr>
          <p:cNvPr id="7" name="Shape 4"/>
          <p:cNvSpPr/>
          <p:nvPr/>
        </p:nvSpPr>
        <p:spPr>
          <a:xfrm>
            <a:off x="548640" y="1600200"/>
            <a:ext cx="5408676" cy="1554480"/>
          </a:xfrm>
          <a:prstGeom prst="roundRect">
            <a:avLst>
              <a:gd name="adj" fmla="val 705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31520" y="210312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868680" y="2240280"/>
            <a:ext cx="274320" cy="274320"/>
          </a:xfrm>
          <a:prstGeom prst="rect">
            <a:avLst/>
          </a:prstGeom>
        </p:spPr>
      </p:pic>
      <p:sp>
        <p:nvSpPr>
          <p:cNvPr id="10" name="Text 6"/>
          <p:cNvSpPr/>
          <p:nvPr/>
        </p:nvSpPr>
        <p:spPr>
          <a:xfrm>
            <a:off x="1463040" y="1600200"/>
            <a:ext cx="4311396" cy="155448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1. Despliegue del Proyecto (.ispac)</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Compilación en Visual Studio (Project Deployment Model) generando el archivo .ispac. Despliegue en SSISDB mediante el asistente de SSMS, organizando carpetas por aplicación.</a:t>
            </a:r>
            <a:endParaRPr lang="en-US" sz="1600" dirty="0"/>
          </a:p>
        </p:txBody>
      </p:sp>
      <p:sp>
        <p:nvSpPr>
          <p:cNvPr id="11" name="Shape 7"/>
          <p:cNvSpPr/>
          <p:nvPr/>
        </p:nvSpPr>
        <p:spPr>
          <a:xfrm>
            <a:off x="6231636" y="1600200"/>
            <a:ext cx="5408676" cy="1554480"/>
          </a:xfrm>
          <a:prstGeom prst="roundRect">
            <a:avLst>
              <a:gd name="adj" fmla="val 705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2" name="Shape 8"/>
          <p:cNvSpPr/>
          <p:nvPr/>
        </p:nvSpPr>
        <p:spPr>
          <a:xfrm>
            <a:off x="6414516" y="2103120"/>
            <a:ext cx="548640" cy="548640"/>
          </a:xfrm>
          <a:prstGeom prst="ellipse">
            <a:avLst/>
          </a:prstGeom>
          <a:solidFill>
            <a:srgbClr val="134074"/>
          </a:solidFill>
          <a:ln/>
        </p:spPr>
      </p:sp>
      <p:pic>
        <p:nvPicPr>
          <p:cNvPr id="13" name="Image 1" descr="preencoded.png">    </p:cNvPr>
          <p:cNvPicPr>
            <a:picLocks noChangeAspect="1"/>
          </p:cNvPicPr>
          <p:nvPr/>
        </p:nvPicPr>
        <p:blipFill>
          <a:blip r:embed="rId2"/>
          <a:stretch>
            <a:fillRect/>
          </a:stretch>
        </p:blipFill>
        <p:spPr>
          <a:xfrm>
            <a:off x="6551676" y="2240280"/>
            <a:ext cx="274320" cy="274320"/>
          </a:xfrm>
          <a:prstGeom prst="rect">
            <a:avLst/>
          </a:prstGeom>
        </p:spPr>
      </p:pic>
      <p:sp>
        <p:nvSpPr>
          <p:cNvPr id="14" name="Text 9"/>
          <p:cNvSpPr/>
          <p:nvPr/>
        </p:nvSpPr>
        <p:spPr>
          <a:xfrm>
            <a:off x="7146036" y="1600200"/>
            <a:ext cx="4311396" cy="155448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2. Programación en SQL Server Agent</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Creación de un Job con paso (Job Step) de tipo «Integration Services Package». Selección del proyecto y paquete en SSISDB, con horarios (Schedules) y reintentos automáticos.</a:t>
            </a:r>
            <a:endParaRPr lang="en-US" sz="1600" dirty="0"/>
          </a:p>
        </p:txBody>
      </p:sp>
      <p:sp>
        <p:nvSpPr>
          <p:cNvPr id="15" name="Shape 10"/>
          <p:cNvSpPr/>
          <p:nvPr/>
        </p:nvSpPr>
        <p:spPr>
          <a:xfrm>
            <a:off x="548640" y="3383280"/>
            <a:ext cx="5408676" cy="1554480"/>
          </a:xfrm>
          <a:prstGeom prst="roundRect">
            <a:avLst>
              <a:gd name="adj" fmla="val 705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731520" y="3886200"/>
            <a:ext cx="548640" cy="548640"/>
          </a:xfrm>
          <a:prstGeom prst="ellipse">
            <a:avLst/>
          </a:prstGeom>
          <a:solidFill>
            <a:srgbClr val="134074"/>
          </a:solidFill>
          <a:ln/>
        </p:spPr>
      </p:sp>
      <p:pic>
        <p:nvPicPr>
          <p:cNvPr id="17" name="Image 2" descr="preencoded.png">    </p:cNvPr>
          <p:cNvPicPr>
            <a:picLocks noChangeAspect="1"/>
          </p:cNvPicPr>
          <p:nvPr/>
        </p:nvPicPr>
        <p:blipFill>
          <a:blip r:embed="rId3"/>
          <a:stretch>
            <a:fillRect/>
          </a:stretch>
        </p:blipFill>
        <p:spPr>
          <a:xfrm>
            <a:off x="868680" y="4023360"/>
            <a:ext cx="274320" cy="274320"/>
          </a:xfrm>
          <a:prstGeom prst="rect">
            <a:avLst/>
          </a:prstGeom>
        </p:spPr>
      </p:pic>
      <p:sp>
        <p:nvSpPr>
          <p:cNvPr id="18" name="Text 12"/>
          <p:cNvSpPr/>
          <p:nvPr/>
        </p:nvSpPr>
        <p:spPr>
          <a:xfrm>
            <a:off x="1463040" y="3383280"/>
            <a:ext cx="4311396" cy="155448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3. Seguridad y Proxies del Agent</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Regla de oro: nunca ejecutar paquetes bajo la cuenta de servicio de SQL Server ni como sysadmin. Uso de Credential de Windows y Proxy de Agent con acceso NTFS mínimo al recurso de CSVs.</a:t>
            </a:r>
            <a:endParaRPr lang="en-US" sz="1600" dirty="0"/>
          </a:p>
        </p:txBody>
      </p:sp>
      <p:sp>
        <p:nvSpPr>
          <p:cNvPr id="19" name="Shape 13"/>
          <p:cNvSpPr/>
          <p:nvPr/>
        </p:nvSpPr>
        <p:spPr>
          <a:xfrm>
            <a:off x="6231636" y="3383280"/>
            <a:ext cx="5408676" cy="1554480"/>
          </a:xfrm>
          <a:prstGeom prst="roundRect">
            <a:avLst>
              <a:gd name="adj" fmla="val 7059"/>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4"/>
          <p:cNvSpPr/>
          <p:nvPr/>
        </p:nvSpPr>
        <p:spPr>
          <a:xfrm>
            <a:off x="6414516" y="3886200"/>
            <a:ext cx="548640" cy="548640"/>
          </a:xfrm>
          <a:prstGeom prst="ellipse">
            <a:avLst/>
          </a:prstGeom>
          <a:solidFill>
            <a:srgbClr val="134074"/>
          </a:solidFill>
          <a:ln/>
        </p:spPr>
      </p:sp>
      <p:pic>
        <p:nvPicPr>
          <p:cNvPr id="21" name="Image 3" descr="preencoded.png">    </p:cNvPr>
          <p:cNvPicPr>
            <a:picLocks noChangeAspect="1"/>
          </p:cNvPicPr>
          <p:nvPr/>
        </p:nvPicPr>
        <p:blipFill>
          <a:blip r:embed="rId4"/>
          <a:stretch>
            <a:fillRect/>
          </a:stretch>
        </p:blipFill>
        <p:spPr>
          <a:xfrm>
            <a:off x="6551676" y="4023360"/>
            <a:ext cx="274320" cy="274320"/>
          </a:xfrm>
          <a:prstGeom prst="rect">
            <a:avLst/>
          </a:prstGeom>
        </p:spPr>
      </p:pic>
      <p:sp>
        <p:nvSpPr>
          <p:cNvPr id="22" name="Text 15"/>
          <p:cNvSpPr/>
          <p:nvPr/>
        </p:nvSpPr>
        <p:spPr>
          <a:xfrm>
            <a:off x="7146036" y="3383280"/>
            <a:ext cx="4311396" cy="155448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4. Monitorización y Diagnóstico</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Informes nativos en SSMS con clic derecho en SSISDB («All Executions») para analizar duración y filas procesadas. Consulta de vistas catalog.executions y catalog.operation_messages.</a:t>
            </a:r>
            <a:endParaRPr lang="en-US" sz="1600" dirty="0"/>
          </a:p>
        </p:txBody>
      </p:sp>
      <p:sp>
        <p:nvSpPr>
          <p:cNvPr id="23" name="Shape 16"/>
          <p:cNvSpPr/>
          <p:nvPr/>
        </p:nvSpPr>
        <p:spPr>
          <a:xfrm>
            <a:off x="548640" y="5257800"/>
            <a:ext cx="11091672" cy="914400"/>
          </a:xfrm>
          <a:prstGeom prst="roundRect">
            <a:avLst>
              <a:gd name="adj" fmla="val 12000"/>
            </a:avLst>
          </a:prstGeom>
          <a:solidFill>
            <a:srgbClr val="FDEDE8"/>
          </a:solidFill>
          <a:ln/>
        </p:spPr>
      </p:sp>
      <p:sp>
        <p:nvSpPr>
          <p:cNvPr id="24" name="Shape 17"/>
          <p:cNvSpPr/>
          <p:nvPr/>
        </p:nvSpPr>
        <p:spPr>
          <a:xfrm>
            <a:off x="731520" y="5486400"/>
            <a:ext cx="457200" cy="457200"/>
          </a:xfrm>
          <a:prstGeom prst="ellipse">
            <a:avLst/>
          </a:prstGeom>
          <a:solidFill>
            <a:srgbClr val="D95D39"/>
          </a:solidFill>
          <a:ln/>
        </p:spPr>
      </p:sp>
      <p:pic>
        <p:nvPicPr>
          <p:cNvPr id="25" name="Image 4" descr="preencoded.png">    </p:cNvPr>
          <p:cNvPicPr>
            <a:picLocks noChangeAspect="1"/>
          </p:cNvPicPr>
          <p:nvPr/>
        </p:nvPicPr>
        <p:blipFill>
          <a:blip r:embed="rId5"/>
          <a:stretch>
            <a:fillRect/>
          </a:stretch>
        </p:blipFill>
        <p:spPr>
          <a:xfrm>
            <a:off x="845820" y="5600700"/>
            <a:ext cx="228600" cy="228600"/>
          </a:xfrm>
          <a:prstGeom prst="rect">
            <a:avLst/>
          </a:prstGeom>
        </p:spPr>
      </p:pic>
      <p:sp>
        <p:nvSpPr>
          <p:cNvPr id="26" name="Text 18"/>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crítica en producción: </a:t>
            </a:r>
            <a:r>
              <a:rPr lang="en-US" sz="1400" dirty="0">
                <a:solidFill>
                  <a:srgbClr val="1F2933"/>
                </a:solidFill>
                <a:latin typeface="Calibri" pitchFamily="34" charset="0"/>
                <a:ea typeface="Calibri" pitchFamily="34" charset="-122"/>
                <a:cs typeface="Calibri" pitchFamily="34" charset="-120"/>
              </a:rPr>
              <a:t>un paquete que funciona en Visual Studio falla en el Agent si no se usa un Proxy; la cuenta de servicio de SQL Server no suele tener permisos NTFS sobre las carpetas de red compartidas con los CSVs.</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4018788"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LABORATORIO 4 · PREPARACIÓN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Preparar la BD y la cadena de backups</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76</a:t>
            </a:r>
            <a:endParaRPr lang="en-US" sz="1000" dirty="0"/>
          </a:p>
        </p:txBody>
      </p:sp>
      <p:sp>
        <p:nvSpPr>
          <p:cNvPr id="7" name="Shape 4"/>
          <p:cNvSpPr/>
          <p:nvPr/>
        </p:nvSpPr>
        <p:spPr>
          <a:xfrm>
            <a:off x="548640" y="1600200"/>
            <a:ext cx="704088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6675120" cy="41148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master;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ALTER</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 </a:t>
            </a:r>
            <a:r>
              <a:rPr lang="en-US" sz="1200" b="1" dirty="0">
                <a:solidFill>
                  <a:srgbClr val="1D4ED8"/>
                </a:solidFill>
                <a:latin typeface="Consolas" pitchFamily="34" charset="0"/>
                <a:ea typeface="Consolas" pitchFamily="34" charset="-122"/>
                <a:cs typeface="Consolas" pitchFamily="34" charset="-120"/>
              </a:rPr>
              <a:t>SET</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RECOVERY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FULL</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N'/var/opt/mssql/backup/Ventas_L4_FULL.bak'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COMPRESSION</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INIT</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INSERT</a:t>
            </a:r>
            <a:r>
              <a:rPr lang="en-US" sz="1200" dirty="0">
                <a:solidFill>
                  <a:srgbClr val="1F2933"/>
                </a:solidFill>
                <a:latin typeface="Consolas" pitchFamily="34" charset="0"/>
                <a:ea typeface="Consolas" pitchFamily="34" charset="-122"/>
                <a:cs typeface="Consolas" pitchFamily="34" charset="-120"/>
              </a:rPr>
              <a:t> dbo.Cliente (Nombre) </a:t>
            </a:r>
            <a:r>
              <a:rPr lang="en-US" sz="1200" b="1" dirty="0">
                <a:solidFill>
                  <a:srgbClr val="1D4ED8"/>
                </a:solidFill>
                <a:latin typeface="Consolas" pitchFamily="34" charset="0"/>
                <a:ea typeface="Consolas" pitchFamily="34" charset="-122"/>
                <a:cs typeface="Consolas" pitchFamily="34" charset="-120"/>
              </a:rPr>
              <a:t>VALUES</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N'Lab4 A'</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N'/var/opt/mssql/backup/Ventas_L4_LOG1.trn'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INIT</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INSERT</a:t>
            </a:r>
            <a:r>
              <a:rPr lang="en-US" sz="1200" dirty="0">
                <a:solidFill>
                  <a:srgbClr val="1F2933"/>
                </a:solidFill>
                <a:latin typeface="Consolas" pitchFamily="34" charset="0"/>
                <a:ea typeface="Consolas" pitchFamily="34" charset="-122"/>
                <a:cs typeface="Consolas" pitchFamily="34" charset="-120"/>
              </a:rPr>
              <a:t> dbo.Cliente (Nombre) </a:t>
            </a:r>
            <a:r>
              <a:rPr lang="en-US" sz="1200" b="1" dirty="0">
                <a:solidFill>
                  <a:srgbClr val="1D4ED8"/>
                </a:solidFill>
                <a:latin typeface="Consolas" pitchFamily="34" charset="0"/>
                <a:ea typeface="Consolas" pitchFamily="34" charset="-122"/>
                <a:cs typeface="Consolas" pitchFamily="34" charset="-120"/>
              </a:rPr>
              <a:t>VALUES</a:t>
            </a:r>
            <a:r>
              <a:rPr lang="en-US" sz="1200" dirty="0">
                <a:solidFill>
                  <a:srgbClr val="1F2933"/>
                </a:solidFill>
                <a:latin typeface="Consolas" pitchFamily="34" charset="0"/>
                <a:ea typeface="Consolas" pitchFamily="34" charset="-122"/>
                <a:cs typeface="Consolas" pitchFamily="34" charset="-120"/>
              </a:rPr>
              <a:t> (</a:t>
            </a:r>
            <a:r>
              <a:rPr lang="en-US" sz="1200" dirty="0">
                <a:solidFill>
                  <a:srgbClr val="B4441F"/>
                </a:solidFill>
                <a:latin typeface="Consolas" pitchFamily="34" charset="0"/>
                <a:ea typeface="Consolas" pitchFamily="34" charset="-122"/>
                <a:cs typeface="Consolas" pitchFamily="34" charset="-120"/>
              </a:rPr>
              <a:t>N'Lab4 B'</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N'/var/opt/mssql/backup/Ventas_L4_DIFF.bak'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DIFFERENTIAL</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INIT</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7863840" y="1600200"/>
            <a:ext cx="3776472"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Shape 8"/>
          <p:cNvSpPr/>
          <p:nvPr/>
        </p:nvSpPr>
        <p:spPr>
          <a:xfrm>
            <a:off x="8046720" y="1783080"/>
            <a:ext cx="548640" cy="548640"/>
          </a:xfrm>
          <a:prstGeom prst="ellipse">
            <a:avLst/>
          </a:prstGeom>
          <a:solidFill>
            <a:srgbClr val="134074"/>
          </a:solidFill>
          <a:ln/>
        </p:spPr>
      </p:sp>
      <p:sp>
        <p:nvSpPr>
          <p:cNvPr id="12" name="Text 9"/>
          <p:cNvSpPr/>
          <p:nvPr/>
        </p:nvSpPr>
        <p:spPr>
          <a:xfrm>
            <a:off x="804672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0"/>
          <p:cNvSpPr/>
          <p:nvPr/>
        </p:nvSpPr>
        <p:spPr>
          <a:xfrm>
            <a:off x="8778240" y="1600200"/>
            <a:ext cx="2679192"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Full en recovery Full</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ALTER DATABASE y BACKUP DATABASE con CHECKSUM.</a:t>
            </a:r>
            <a:endParaRPr lang="en-US" sz="1600" dirty="0"/>
          </a:p>
        </p:txBody>
      </p:sp>
      <p:sp>
        <p:nvSpPr>
          <p:cNvPr id="14" name="Shape 11"/>
          <p:cNvSpPr/>
          <p:nvPr/>
        </p:nvSpPr>
        <p:spPr>
          <a:xfrm>
            <a:off x="7863840" y="2761488"/>
            <a:ext cx="3776472"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5" name="Shape 12"/>
          <p:cNvSpPr/>
          <p:nvPr/>
        </p:nvSpPr>
        <p:spPr>
          <a:xfrm>
            <a:off x="8046720" y="2944368"/>
            <a:ext cx="548640" cy="548640"/>
          </a:xfrm>
          <a:prstGeom prst="ellipse">
            <a:avLst/>
          </a:prstGeom>
          <a:solidFill>
            <a:srgbClr val="134074"/>
          </a:solidFill>
          <a:ln/>
        </p:spPr>
      </p:sp>
      <p:sp>
        <p:nvSpPr>
          <p:cNvPr id="16" name="Text 13"/>
          <p:cNvSpPr/>
          <p:nvPr/>
        </p:nvSpPr>
        <p:spPr>
          <a:xfrm>
            <a:off x="8046720" y="29443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4"/>
          <p:cNvSpPr/>
          <p:nvPr/>
        </p:nvSpPr>
        <p:spPr>
          <a:xfrm>
            <a:off x="8778240" y="2761488"/>
            <a:ext cx="2679192"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Log backup 1</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Tras insertar datos, inicia la log chain.</a:t>
            </a:r>
            <a:endParaRPr lang="en-US" sz="1600" dirty="0"/>
          </a:p>
        </p:txBody>
      </p:sp>
      <p:sp>
        <p:nvSpPr>
          <p:cNvPr id="18" name="Shape 15"/>
          <p:cNvSpPr/>
          <p:nvPr/>
        </p:nvSpPr>
        <p:spPr>
          <a:xfrm>
            <a:off x="7863840" y="3922776"/>
            <a:ext cx="3776472"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9" name="Shape 16"/>
          <p:cNvSpPr/>
          <p:nvPr/>
        </p:nvSpPr>
        <p:spPr>
          <a:xfrm>
            <a:off x="8046720" y="4105656"/>
            <a:ext cx="548640" cy="548640"/>
          </a:xfrm>
          <a:prstGeom prst="ellipse">
            <a:avLst/>
          </a:prstGeom>
          <a:solidFill>
            <a:srgbClr val="134074"/>
          </a:solidFill>
          <a:ln/>
        </p:spPr>
      </p:sp>
      <p:sp>
        <p:nvSpPr>
          <p:cNvPr id="20" name="Text 17"/>
          <p:cNvSpPr/>
          <p:nvPr/>
        </p:nvSpPr>
        <p:spPr>
          <a:xfrm>
            <a:off x="8046720" y="410565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8"/>
          <p:cNvSpPr/>
          <p:nvPr/>
        </p:nvSpPr>
        <p:spPr>
          <a:xfrm>
            <a:off x="8778240" y="3922776"/>
            <a:ext cx="2679192"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Diferencial</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Tras más actividad: WITH DIFFERENTIAL.</a:t>
            </a:r>
            <a:endParaRPr lang="en-US" sz="1600" dirty="0"/>
          </a:p>
        </p:txBody>
      </p:sp>
      <p:sp>
        <p:nvSpPr>
          <p:cNvPr id="22" name="Shape 19"/>
          <p:cNvSpPr/>
          <p:nvPr/>
        </p:nvSpPr>
        <p:spPr>
          <a:xfrm>
            <a:off x="7863840" y="5084064"/>
            <a:ext cx="3776472"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3" name="Shape 20"/>
          <p:cNvSpPr/>
          <p:nvPr/>
        </p:nvSpPr>
        <p:spPr>
          <a:xfrm>
            <a:off x="8046720" y="5266944"/>
            <a:ext cx="548640" cy="548640"/>
          </a:xfrm>
          <a:prstGeom prst="ellipse">
            <a:avLst/>
          </a:prstGeom>
          <a:solidFill>
            <a:srgbClr val="134074"/>
          </a:solidFill>
          <a:ln/>
        </p:spPr>
      </p:sp>
      <p:sp>
        <p:nvSpPr>
          <p:cNvPr id="24" name="Text 21"/>
          <p:cNvSpPr/>
          <p:nvPr/>
        </p:nvSpPr>
        <p:spPr>
          <a:xfrm>
            <a:off x="8046720" y="52669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2"/>
          <p:cNvSpPr/>
          <p:nvPr/>
        </p:nvSpPr>
        <p:spPr>
          <a:xfrm>
            <a:off x="8778240" y="5084064"/>
            <a:ext cx="2679192"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Segundo log backup</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Un cliente más y BACKUP LOG; anota el COUNT.</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3758184"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LABORATORIO 4 · DESASTRE</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Simular la pérdida de datos y el tail-log</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77</a:t>
            </a:r>
            <a:endParaRPr lang="en-US" sz="1000" dirty="0"/>
          </a:p>
        </p:txBody>
      </p:sp>
      <p:sp>
        <p:nvSpPr>
          <p:cNvPr id="7" name="Shape 4"/>
          <p:cNvSpPr/>
          <p:nvPr/>
        </p:nvSpPr>
        <p:spPr>
          <a:xfrm>
            <a:off x="548640" y="1600200"/>
            <a:ext cx="4572000"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31520" y="1783080"/>
            <a:ext cx="548640" cy="548640"/>
          </a:xfrm>
          <a:prstGeom prst="ellipse">
            <a:avLst/>
          </a:prstGeom>
          <a:solidFill>
            <a:srgbClr val="134074"/>
          </a:solidFill>
          <a:ln/>
        </p:spPr>
      </p:sp>
      <p:sp>
        <p:nvSpPr>
          <p:cNvPr id="9" name="Text 6"/>
          <p:cNvSpPr/>
          <p:nvPr/>
        </p:nvSpPr>
        <p:spPr>
          <a:xfrm>
            <a:off x="73152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1463040" y="1600200"/>
            <a:ext cx="3474720"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Anota HoraOK</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SELECT SYSDATETIME() antes del accidente.</a:t>
            </a:r>
            <a:endParaRPr lang="en-US" sz="1600" dirty="0"/>
          </a:p>
        </p:txBody>
      </p:sp>
      <p:sp>
        <p:nvSpPr>
          <p:cNvPr id="11" name="Shape 8"/>
          <p:cNvSpPr/>
          <p:nvPr/>
        </p:nvSpPr>
        <p:spPr>
          <a:xfrm>
            <a:off x="548640" y="2788920"/>
            <a:ext cx="4572000"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2" name="Shape 9"/>
          <p:cNvSpPr/>
          <p:nvPr/>
        </p:nvSpPr>
        <p:spPr>
          <a:xfrm>
            <a:off x="731520" y="2971800"/>
            <a:ext cx="548640" cy="548640"/>
          </a:xfrm>
          <a:prstGeom prst="ellipse">
            <a:avLst/>
          </a:prstGeom>
          <a:solidFill>
            <a:srgbClr val="134074"/>
          </a:solidFill>
          <a:ln/>
        </p:spPr>
      </p:sp>
      <p:sp>
        <p:nvSpPr>
          <p:cNvPr id="13" name="Text 10"/>
          <p:cNvSpPr/>
          <p:nvPr/>
        </p:nvSpPr>
        <p:spPr>
          <a:xfrm>
            <a:off x="73152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1463040" y="2788920"/>
            <a:ext cx="3474720"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Provoca el error</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DELETE sin WHERE sobre dbo.Pedido.</a:t>
            </a:r>
            <a:endParaRPr lang="en-US" sz="1600" dirty="0"/>
          </a:p>
        </p:txBody>
      </p:sp>
      <p:sp>
        <p:nvSpPr>
          <p:cNvPr id="15" name="Shape 12"/>
          <p:cNvSpPr/>
          <p:nvPr/>
        </p:nvSpPr>
        <p:spPr>
          <a:xfrm>
            <a:off x="548640" y="3977640"/>
            <a:ext cx="4572000" cy="914400"/>
          </a:xfrm>
          <a:prstGeom prst="roundRect">
            <a:avLst>
              <a:gd name="adj" fmla="val 12000"/>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6" name="Shape 13"/>
          <p:cNvSpPr/>
          <p:nvPr/>
        </p:nvSpPr>
        <p:spPr>
          <a:xfrm>
            <a:off x="731520" y="4160520"/>
            <a:ext cx="548640" cy="548640"/>
          </a:xfrm>
          <a:prstGeom prst="ellipse">
            <a:avLst/>
          </a:prstGeom>
          <a:solidFill>
            <a:srgbClr val="134074"/>
          </a:solidFill>
          <a:ln/>
        </p:spPr>
      </p:sp>
      <p:sp>
        <p:nvSpPr>
          <p:cNvPr id="17" name="Text 14"/>
          <p:cNvSpPr/>
          <p:nvPr/>
        </p:nvSpPr>
        <p:spPr>
          <a:xfrm>
            <a:off x="731520" y="4160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5"/>
          <p:cNvSpPr/>
          <p:nvPr/>
        </p:nvSpPr>
        <p:spPr>
          <a:xfrm>
            <a:off x="1463040" y="3977640"/>
            <a:ext cx="3474720" cy="91440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Salva la cola</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Tail-log con NORECOVERY: la BD pasa a RESTORING.</a:t>
            </a:r>
            <a:endParaRPr lang="en-US" sz="1600" dirty="0"/>
          </a:p>
        </p:txBody>
      </p:sp>
      <p:sp>
        <p:nvSpPr>
          <p:cNvPr id="19" name="Shape 16"/>
          <p:cNvSpPr/>
          <p:nvPr/>
        </p:nvSpPr>
        <p:spPr>
          <a:xfrm>
            <a:off x="5394960" y="1600200"/>
            <a:ext cx="6245352" cy="3383280"/>
          </a:xfrm>
          <a:prstGeom prst="roundRect">
            <a:avLst>
              <a:gd name="adj" fmla="val 2703"/>
            </a:avLst>
          </a:prstGeom>
          <a:solidFill>
            <a:srgbClr val="ECEFF3"/>
          </a:solidFill>
          <a:ln w="9525">
            <a:solidFill>
              <a:srgbClr val="D0D7DE"/>
            </a:solidFill>
            <a:prstDash val="solid"/>
          </a:ln>
        </p:spPr>
      </p:sp>
      <p:sp>
        <p:nvSpPr>
          <p:cNvPr id="20" name="Text 17"/>
          <p:cNvSpPr/>
          <p:nvPr/>
        </p:nvSpPr>
        <p:spPr>
          <a:xfrm>
            <a:off x="557784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21" name="Text 18"/>
          <p:cNvSpPr/>
          <p:nvPr/>
        </p:nvSpPr>
        <p:spPr>
          <a:xfrm>
            <a:off x="5577840" y="1965960"/>
            <a:ext cx="5879592" cy="292608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COUNT(*)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Pedidos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SYSDATETIME()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HoraOK;    </a:t>
            </a:r>
            <a:r>
              <a:rPr lang="en-US" sz="1200" i="1" dirty="0">
                <a:solidFill>
                  <a:srgbClr val="6B7280"/>
                </a:solidFill>
                <a:latin typeface="Consolas" pitchFamily="34" charset="0"/>
                <a:ea typeface="Consolas" pitchFamily="34" charset="-122"/>
                <a:cs typeface="Consolas" pitchFamily="34" charset="-120"/>
              </a:rPr>
              <a:t>-- anótala</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WAITFOR DELAY </a:t>
            </a:r>
            <a:r>
              <a:rPr lang="en-US" sz="1200" dirty="0">
                <a:solidFill>
                  <a:srgbClr val="B4441F"/>
                </a:solidFill>
                <a:latin typeface="Consolas" pitchFamily="34" charset="0"/>
                <a:ea typeface="Consolas" pitchFamily="34" charset="-122"/>
                <a:cs typeface="Consolas" pitchFamily="34" charset="-120"/>
              </a:rPr>
              <a:t>'00:00:05'</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DELETE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dbo.Pedido;            </a:t>
            </a:r>
            <a:r>
              <a:rPr lang="en-US" sz="1200" i="1" dirty="0">
                <a:solidFill>
                  <a:srgbClr val="6B7280"/>
                </a:solidFill>
                <a:latin typeface="Consolas" pitchFamily="34" charset="0"/>
                <a:ea typeface="Consolas" pitchFamily="34" charset="-122"/>
                <a:cs typeface="Consolas" pitchFamily="34" charset="-120"/>
              </a:rPr>
              <a:t>-- "accidente"</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master;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BACKUP</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TO DISK = </a:t>
            </a:r>
            <a:r>
              <a:rPr lang="en-US" sz="1200" dirty="0">
                <a:solidFill>
                  <a:srgbClr val="B4441F"/>
                </a:solidFill>
                <a:latin typeface="Consolas" pitchFamily="34" charset="0"/>
                <a:ea typeface="Consolas" pitchFamily="34" charset="-122"/>
                <a:cs typeface="Consolas" pitchFamily="34" charset="-120"/>
              </a:rPr>
              <a:t>N'/var/opt/mssql/backup/Ventas_L4_TAIL.trn'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CHECKSUM</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INIT</a:t>
            </a:r>
            <a:r>
              <a:rPr lang="en-US" sz="1200" dirty="0">
                <a:solidFill>
                  <a:srgbClr val="1F2933"/>
                </a:solidFill>
                <a:latin typeface="Consolas" pitchFamily="34" charset="0"/>
                <a:ea typeface="Consolas" pitchFamily="34" charset="-122"/>
                <a:cs typeface="Consolas" pitchFamily="34" charset="-120"/>
              </a:rPr>
              <a:t>;</a:t>
            </a:r>
            <a:endParaRPr lang="en-US" sz="1200" dirty="0"/>
          </a:p>
        </p:txBody>
      </p:sp>
      <p:sp>
        <p:nvSpPr>
          <p:cNvPr id="22" name="Shape 19"/>
          <p:cNvSpPr/>
          <p:nvPr/>
        </p:nvSpPr>
        <p:spPr>
          <a:xfrm>
            <a:off x="548640" y="5257800"/>
            <a:ext cx="11091672" cy="914400"/>
          </a:xfrm>
          <a:prstGeom prst="roundRect">
            <a:avLst>
              <a:gd name="adj" fmla="val 12000"/>
            </a:avLst>
          </a:prstGeom>
          <a:solidFill>
            <a:srgbClr val="FDEDE8"/>
          </a:solidFill>
          <a:ln/>
        </p:spPr>
      </p:sp>
      <p:sp>
        <p:nvSpPr>
          <p:cNvPr id="23" name="Shape 20"/>
          <p:cNvSpPr/>
          <p:nvPr/>
        </p:nvSpPr>
        <p:spPr>
          <a:xfrm>
            <a:off x="731520" y="5486400"/>
            <a:ext cx="457200" cy="457200"/>
          </a:xfrm>
          <a:prstGeom prst="ellipse">
            <a:avLst/>
          </a:prstGeom>
          <a:solidFill>
            <a:srgbClr val="D95D39"/>
          </a:solidFill>
          <a:ln/>
        </p:spPr>
      </p:sp>
      <p:pic>
        <p:nvPicPr>
          <p:cNvPr id="24" name="Image 0" descr="preencoded.png">    </p:cNvPr>
          <p:cNvPicPr>
            <a:picLocks noChangeAspect="1"/>
          </p:cNvPicPr>
          <p:nvPr/>
        </p:nvPicPr>
        <p:blipFill>
          <a:blip r:embed="rId1"/>
          <a:stretch>
            <a:fillRect/>
          </a:stretch>
        </p:blipFill>
        <p:spPr>
          <a:xfrm>
            <a:off x="845820" y="5600700"/>
            <a:ext cx="228600" cy="228600"/>
          </a:xfrm>
          <a:prstGeom prst="rect">
            <a:avLst/>
          </a:prstGeom>
        </p:spPr>
      </p:pic>
      <p:sp>
        <p:nvSpPr>
          <p:cNvPr id="25" name="Text 21"/>
          <p:cNvSpPr/>
          <p:nvPr/>
        </p:nvSpPr>
        <p:spPr>
          <a:xfrm>
            <a:off x="1371600" y="5257800"/>
            <a:ext cx="10085832" cy="9144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a:t>
            </a:r>
            <a:r>
              <a:rPr lang="en-US" sz="1400" dirty="0">
                <a:solidFill>
                  <a:srgbClr val="1F2933"/>
                </a:solidFill>
                <a:latin typeface="Calibri" pitchFamily="34" charset="0"/>
                <a:ea typeface="Calibri" pitchFamily="34" charset="-122"/>
                <a:cs typeface="Calibri" pitchFamily="34" charset="-120"/>
              </a:rPr>
              <a:t>si hay conexiones abiertas a Ventas, usa ALTER DATABASE … SET SINGLE_USER WITH ROLLBACK IMMEDIATE antes del tail-log.</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4105656"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LABORATORIO 4 · RESTAURACIÓN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Restaurar a un punto en el tiempo</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78</a:t>
            </a:r>
            <a:endParaRPr lang="en-US" sz="1000" dirty="0"/>
          </a:p>
        </p:txBody>
      </p:sp>
      <p:sp>
        <p:nvSpPr>
          <p:cNvPr id="7" name="Shape 4"/>
          <p:cNvSpPr/>
          <p:nvPr/>
        </p:nvSpPr>
        <p:spPr>
          <a:xfrm>
            <a:off x="548640" y="1600200"/>
            <a:ext cx="7040880" cy="4572000"/>
          </a:xfrm>
          <a:prstGeom prst="roundRect">
            <a:avLst>
              <a:gd name="adj" fmla="val 2000"/>
            </a:avLst>
          </a:prstGeom>
          <a:solidFill>
            <a:srgbClr val="ECEFF3"/>
          </a:solidFill>
          <a:ln w="9525">
            <a:solidFill>
              <a:srgbClr val="D0D7DE"/>
            </a:solidFill>
            <a:prstDash val="solid"/>
          </a:ln>
        </p:spPr>
      </p:sp>
      <p:sp>
        <p:nvSpPr>
          <p:cNvPr id="8" name="Text 5"/>
          <p:cNvSpPr/>
          <p:nvPr/>
        </p:nvSpPr>
        <p:spPr>
          <a:xfrm>
            <a:off x="731520" y="1691640"/>
            <a:ext cx="2743200" cy="228600"/>
          </a:xfrm>
          <a:prstGeom prst="rect">
            <a:avLst/>
          </a:prstGeom>
          <a:noFill/>
          <a:ln/>
        </p:spPr>
        <p:txBody>
          <a:bodyPr wrap="square" lIns="0" tIns="0" rIns="0" bIns="0" rtlCol="0" anchor="ctr"/>
          <a:lstStyle/>
          <a:p>
            <a:pPr indent="0" marL="0">
              <a:buNone/>
            </a:pPr>
            <a:r>
              <a:rPr lang="en-US" sz="1000" b="1" spc="100" kern="0" dirty="0">
                <a:solidFill>
                  <a:srgbClr val="134074"/>
                </a:solidFill>
                <a:latin typeface="Calibri" pitchFamily="34" charset="0"/>
                <a:ea typeface="Calibri" pitchFamily="34" charset="-122"/>
                <a:cs typeface="Calibri" pitchFamily="34" charset="-120"/>
              </a:rPr>
              <a:t>T-SQL</a:t>
            </a:r>
            <a:endParaRPr lang="en-US" sz="1000" dirty="0"/>
          </a:p>
        </p:txBody>
      </p:sp>
      <p:sp>
        <p:nvSpPr>
          <p:cNvPr id="9" name="Text 6"/>
          <p:cNvSpPr/>
          <p:nvPr/>
        </p:nvSpPr>
        <p:spPr>
          <a:xfrm>
            <a:off x="731520" y="1965960"/>
            <a:ext cx="6675120" cy="4114800"/>
          </a:xfrm>
          <a:prstGeom prst="rect">
            <a:avLst/>
          </a:prstGeom>
          <a:noFill/>
          <a:ln/>
        </p:spPr>
        <p:txBody>
          <a:bodyPr wrap="none" lIns="0" tIns="0" rIns="0" bIns="0" rtlCol="0" anchor="t"/>
          <a:lstStyle/>
          <a:p>
            <a:pPr indent="0" marL="0">
              <a:buNone/>
            </a:pPr>
            <a:r>
              <a:rPr lang="en-US" sz="1200" b="1" dirty="0">
                <a:solidFill>
                  <a:srgbClr val="1D4ED8"/>
                </a:solidFill>
                <a:latin typeface="Consolas" pitchFamily="34" charset="0"/>
                <a:ea typeface="Consolas" pitchFamily="34" charset="-122"/>
                <a:cs typeface="Consolas" pitchFamily="34" charset="-120"/>
              </a:rPr>
              <a:t>USE</a:t>
            </a:r>
            <a:r>
              <a:rPr lang="en-US" sz="1200" dirty="0">
                <a:solidFill>
                  <a:srgbClr val="1F2933"/>
                </a:solidFill>
                <a:latin typeface="Consolas" pitchFamily="34" charset="0"/>
                <a:ea typeface="Consolas" pitchFamily="34" charset="-122"/>
                <a:cs typeface="Consolas" pitchFamily="34" charset="-120"/>
              </a:rPr>
              <a:t> master;</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N'/var/opt/mssql/backup/Ventas_L4_FULL.bak'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REPLACE</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DATABASE</a:t>
            </a:r>
            <a:r>
              <a:rPr lang="en-US" sz="1200" dirty="0">
                <a:solidFill>
                  <a:srgbClr val="1F2933"/>
                </a:solidFill>
                <a:latin typeface="Consolas" pitchFamily="34" charset="0"/>
                <a:ea typeface="Consolas" pitchFamily="34" charset="-122"/>
                <a:cs typeface="Consolas" pitchFamily="34" charset="-120"/>
              </a:rPr>
              <a:t>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N'/var/opt/mssql/backup/Ventas_L4_DIFF.bak'</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N'/var/opt/mssql/backup/Ventas_L4_LOG1.trn'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NORECOVERY</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RESTORE</a:t>
            </a:r>
            <a:r>
              <a:rPr lang="en-US" sz="1200" dirty="0">
                <a:solidFill>
                  <a:srgbClr val="1F2933"/>
                </a:solidFill>
                <a:latin typeface="Consolas" pitchFamily="34" charset="0"/>
                <a:ea typeface="Consolas" pitchFamily="34" charset="-122"/>
                <a:cs typeface="Consolas" pitchFamily="34" charset="-120"/>
              </a:rPr>
              <a:t> LOG Ventas</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DISK = </a:t>
            </a:r>
            <a:r>
              <a:rPr lang="en-US" sz="1200" dirty="0">
                <a:solidFill>
                  <a:srgbClr val="B4441F"/>
                </a:solidFill>
                <a:latin typeface="Consolas" pitchFamily="34" charset="0"/>
                <a:ea typeface="Consolas" pitchFamily="34" charset="-122"/>
                <a:cs typeface="Consolas" pitchFamily="34" charset="-120"/>
              </a:rPr>
              <a:t>N'/var/opt/mssql/backup/Ventas_L4_TAIL.trn'</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WITH</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STOPAT</a:t>
            </a:r>
            <a:r>
              <a:rPr lang="en-US" sz="1200" dirty="0">
                <a:solidFill>
                  <a:srgbClr val="1F2933"/>
                </a:solidFill>
                <a:latin typeface="Consolas" pitchFamily="34" charset="0"/>
                <a:ea typeface="Consolas" pitchFamily="34" charset="-122"/>
                <a:cs typeface="Consolas" pitchFamily="34" charset="-120"/>
              </a:rPr>
              <a:t> = </a:t>
            </a:r>
            <a:r>
              <a:rPr lang="en-US" sz="1200" dirty="0">
                <a:solidFill>
                  <a:srgbClr val="B4441F"/>
                </a:solidFill>
                <a:latin typeface="Consolas" pitchFamily="34" charset="0"/>
                <a:ea typeface="Consolas" pitchFamily="34" charset="-122"/>
                <a:cs typeface="Consolas" pitchFamily="34" charset="-120"/>
              </a:rPr>
              <a:t>N'2025-03-12T10:36:00'</a:t>
            </a:r>
            <a:r>
              <a:rPr lang="en-US" sz="1200" dirty="0">
                <a:solidFill>
                  <a:srgbClr val="1F2933"/>
                </a:solidFill>
                <a:latin typeface="Consolas" pitchFamily="34" charset="0"/>
                <a:ea typeface="Consolas" pitchFamily="34" charset="-122"/>
                <a:cs typeface="Consolas" pitchFamily="34" charset="-120"/>
              </a:rPr>
              <a:t>, </a:t>
            </a:r>
            <a:r>
              <a:rPr lang="en-US" sz="1200" b="1" dirty="0">
                <a:solidFill>
                  <a:srgbClr val="1D4ED8"/>
                </a:solidFill>
                <a:latin typeface="Consolas" pitchFamily="34" charset="0"/>
                <a:ea typeface="Consolas" pitchFamily="34" charset="-122"/>
                <a:cs typeface="Consolas" pitchFamily="34" charset="-120"/>
              </a:rPr>
              <a:t>RECOVERY</a:t>
            </a:r>
            <a:r>
              <a:rPr lang="en-US" sz="1200" dirty="0">
                <a:solidFill>
                  <a:srgbClr val="1F2933"/>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933"/>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1D4ED8"/>
                </a:solidFill>
                <a:latin typeface="Consolas" pitchFamily="34" charset="0"/>
                <a:ea typeface="Consolas" pitchFamily="34" charset="-122"/>
                <a:cs typeface="Consolas" pitchFamily="34" charset="-120"/>
              </a:rPr>
              <a:t>SELECT</a:t>
            </a:r>
            <a:r>
              <a:rPr lang="en-US" sz="1200" dirty="0">
                <a:solidFill>
                  <a:srgbClr val="1F2933"/>
                </a:solidFill>
                <a:latin typeface="Consolas" pitchFamily="34" charset="0"/>
                <a:ea typeface="Consolas" pitchFamily="34" charset="-122"/>
                <a:cs typeface="Consolas" pitchFamily="34" charset="-120"/>
              </a:rPr>
              <a:t> COUNT(*) </a:t>
            </a:r>
            <a:r>
              <a:rPr lang="en-US" sz="1200" b="1" dirty="0">
                <a:solidFill>
                  <a:srgbClr val="1D4ED8"/>
                </a:solidFill>
                <a:latin typeface="Consolas" pitchFamily="34" charset="0"/>
                <a:ea typeface="Consolas" pitchFamily="34" charset="-122"/>
                <a:cs typeface="Consolas" pitchFamily="34" charset="-120"/>
              </a:rPr>
              <a:t>AS</a:t>
            </a:r>
            <a:r>
              <a:rPr lang="en-US" sz="1200" dirty="0">
                <a:solidFill>
                  <a:srgbClr val="1F2933"/>
                </a:solidFill>
                <a:latin typeface="Consolas" pitchFamily="34" charset="0"/>
                <a:ea typeface="Consolas" pitchFamily="34" charset="-122"/>
                <a:cs typeface="Consolas" pitchFamily="34" charset="-120"/>
              </a:rPr>
              <a:t> Pedidos </a:t>
            </a:r>
            <a:r>
              <a:rPr lang="en-US" sz="1200" b="1" dirty="0">
                <a:solidFill>
                  <a:srgbClr val="1D4ED8"/>
                </a:solidFill>
                <a:latin typeface="Consolas" pitchFamily="34" charset="0"/>
                <a:ea typeface="Consolas" pitchFamily="34" charset="-122"/>
                <a:cs typeface="Consolas" pitchFamily="34" charset="-120"/>
              </a:rPr>
              <a:t>FROM</a:t>
            </a:r>
            <a:r>
              <a:rPr lang="en-US" sz="1200" dirty="0">
                <a:solidFill>
                  <a:srgbClr val="1F2933"/>
                </a:solidFill>
                <a:latin typeface="Consolas" pitchFamily="34" charset="0"/>
                <a:ea typeface="Consolas" pitchFamily="34" charset="-122"/>
                <a:cs typeface="Consolas" pitchFamily="34" charset="-120"/>
              </a:rPr>
              <a:t> Ventas.dbo.Pedido;</a:t>
            </a:r>
            <a:endParaRPr lang="en-US" sz="1200" dirty="0"/>
          </a:p>
        </p:txBody>
      </p:sp>
      <p:sp>
        <p:nvSpPr>
          <p:cNvPr id="10" name="Shape 7"/>
          <p:cNvSpPr/>
          <p:nvPr/>
        </p:nvSpPr>
        <p:spPr>
          <a:xfrm>
            <a:off x="7863840" y="1600200"/>
            <a:ext cx="3776472" cy="2468880"/>
          </a:xfrm>
          <a:prstGeom prst="roundRect">
            <a:avLst>
              <a:gd name="adj" fmla="val 4444"/>
            </a:avLst>
          </a:prstGeom>
          <a:solidFill>
            <a:srgbClr val="E8EEF5"/>
          </a:solidFill>
          <a:ln/>
        </p:spPr>
      </p:sp>
      <p:sp>
        <p:nvSpPr>
          <p:cNvPr id="11" name="Shape 8"/>
          <p:cNvSpPr/>
          <p:nvPr/>
        </p:nvSpPr>
        <p:spPr>
          <a:xfrm>
            <a:off x="8092440" y="1828800"/>
            <a:ext cx="548640" cy="548640"/>
          </a:xfrm>
          <a:prstGeom prst="ellipse">
            <a:avLst/>
          </a:prstGeom>
          <a:solidFill>
            <a:srgbClr val="134074"/>
          </a:solidFill>
          <a:ln/>
        </p:spPr>
      </p:sp>
      <p:pic>
        <p:nvPicPr>
          <p:cNvPr id="12" name="Image 0" descr="preencoded.png">    </p:cNvPr>
          <p:cNvPicPr>
            <a:picLocks noChangeAspect="1"/>
          </p:cNvPicPr>
          <p:nvPr/>
        </p:nvPicPr>
        <p:blipFill>
          <a:blip r:embed="rId1"/>
          <a:stretch>
            <a:fillRect/>
          </a:stretch>
        </p:blipFill>
        <p:spPr>
          <a:xfrm>
            <a:off x="8229600" y="1965960"/>
            <a:ext cx="274320" cy="274320"/>
          </a:xfrm>
          <a:prstGeom prst="rect">
            <a:avLst/>
          </a:prstGeom>
        </p:spPr>
      </p:pic>
      <p:sp>
        <p:nvSpPr>
          <p:cNvPr id="13" name="Text 9"/>
          <p:cNvSpPr/>
          <p:nvPr/>
        </p:nvSpPr>
        <p:spPr>
          <a:xfrm>
            <a:off x="8778240" y="1828800"/>
            <a:ext cx="263347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Verifica el resultado</a:t>
            </a:r>
            <a:endParaRPr lang="en-US" sz="1700" dirty="0"/>
          </a:p>
        </p:txBody>
      </p:sp>
      <p:sp>
        <p:nvSpPr>
          <p:cNvPr id="14" name="Text 10"/>
          <p:cNvSpPr/>
          <p:nvPr/>
        </p:nvSpPr>
        <p:spPr>
          <a:xfrm>
            <a:off x="8092440" y="2560320"/>
            <a:ext cx="3319272" cy="12801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COUNT(*) igual al baseline</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state_desc = ONLINE</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DBCC CHECKDB sin errores</a:t>
            </a:r>
            <a:endParaRPr lang="en-US" sz="1400" dirty="0"/>
          </a:p>
        </p:txBody>
      </p:sp>
      <p:sp>
        <p:nvSpPr>
          <p:cNvPr id="15" name="Shape 11"/>
          <p:cNvSpPr/>
          <p:nvPr/>
        </p:nvSpPr>
        <p:spPr>
          <a:xfrm>
            <a:off x="7863840" y="4343400"/>
            <a:ext cx="3776472" cy="1828800"/>
          </a:xfrm>
          <a:prstGeom prst="roundRect">
            <a:avLst>
              <a:gd name="adj" fmla="val 6000"/>
            </a:avLst>
          </a:prstGeom>
          <a:solidFill>
            <a:srgbClr val="FDEDE8"/>
          </a:solidFill>
          <a:ln/>
        </p:spPr>
      </p:sp>
      <p:sp>
        <p:nvSpPr>
          <p:cNvPr id="16" name="Shape 12"/>
          <p:cNvSpPr/>
          <p:nvPr/>
        </p:nvSpPr>
        <p:spPr>
          <a:xfrm>
            <a:off x="8046720" y="5029200"/>
            <a:ext cx="457200" cy="457200"/>
          </a:xfrm>
          <a:prstGeom prst="ellipse">
            <a:avLst/>
          </a:prstGeom>
          <a:solidFill>
            <a:srgbClr val="D95D39"/>
          </a:solidFill>
          <a:ln/>
        </p:spPr>
      </p:sp>
      <p:pic>
        <p:nvPicPr>
          <p:cNvPr id="17" name="Image 1" descr="preencoded.png">    </p:cNvPr>
          <p:cNvPicPr>
            <a:picLocks noChangeAspect="1"/>
          </p:cNvPicPr>
          <p:nvPr/>
        </p:nvPicPr>
        <p:blipFill>
          <a:blip r:embed="rId2"/>
          <a:stretch>
            <a:fillRect/>
          </a:stretch>
        </p:blipFill>
        <p:spPr>
          <a:xfrm>
            <a:off x="8161020" y="5143500"/>
            <a:ext cx="228600" cy="228600"/>
          </a:xfrm>
          <a:prstGeom prst="rect">
            <a:avLst/>
          </a:prstGeom>
        </p:spPr>
      </p:pic>
      <p:sp>
        <p:nvSpPr>
          <p:cNvPr id="18" name="Text 13"/>
          <p:cNvSpPr/>
          <p:nvPr/>
        </p:nvSpPr>
        <p:spPr>
          <a:xfrm>
            <a:off x="8686800" y="4343400"/>
            <a:ext cx="2770632" cy="1828800"/>
          </a:xfrm>
          <a:prstGeom prst="rect">
            <a:avLst/>
          </a:prstGeom>
          <a:noFill/>
          <a:ln/>
        </p:spPr>
        <p:txBody>
          <a:bodyPr wrap="square" lIns="0" tIns="0" rIns="0" bIns="0" rtlCol="0" anchor="ctr"/>
          <a:lstStyle/>
          <a:p>
            <a:pPr indent="0" marL="0">
              <a:buNone/>
            </a:pPr>
            <a:r>
              <a:rPr lang="en-US" sz="1400" b="1" dirty="0">
                <a:solidFill>
                  <a:srgbClr val="A8431F"/>
                </a:solidFill>
                <a:latin typeface="Calibri" pitchFamily="34" charset="0"/>
                <a:ea typeface="Calibri" pitchFamily="34" charset="-122"/>
                <a:cs typeface="Calibri" pitchFamily="34" charset="-120"/>
              </a:rPr>
              <a:t>Trampa: </a:t>
            </a:r>
            <a:r>
              <a:rPr lang="en-US" sz="1400" dirty="0">
                <a:solidFill>
                  <a:srgbClr val="1F2933"/>
                </a:solidFill>
                <a:latin typeface="Calibri" pitchFamily="34" charset="0"/>
                <a:ea typeface="Calibri" pitchFamily="34" charset="-122"/>
                <a:cs typeface="Calibri" pitchFamily="34" charset="-120"/>
              </a:rPr>
              <a:t>STOPAT va en HoraOK, antes del DELETE, y sin NORECOVERY en el último paso.</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3497580" cy="274320"/>
          </a:xfrm>
          <a:prstGeom prst="roundRect">
            <a:avLst>
              <a:gd name="adj" fmla="val 50000"/>
            </a:avLst>
          </a:prstGeom>
          <a:solidFill>
            <a:srgbClr val="D95D39"/>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LABORATORIO · CASO INTEGRADOR FINAL</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Caso práctico integrador final</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79</a:t>
            </a:r>
            <a:endParaRPr lang="en-US" sz="1000" dirty="0"/>
          </a:p>
        </p:txBody>
      </p:sp>
      <p:sp>
        <p:nvSpPr>
          <p:cNvPr id="7" name="Shape 4"/>
          <p:cNvSpPr/>
          <p:nvPr/>
        </p:nvSpPr>
        <p:spPr>
          <a:xfrm>
            <a:off x="548640" y="1600200"/>
            <a:ext cx="2569464" cy="1325880"/>
          </a:xfrm>
          <a:prstGeom prst="roundRect">
            <a:avLst>
              <a:gd name="adj" fmla="val 827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Text 5"/>
          <p:cNvSpPr/>
          <p:nvPr/>
        </p:nvSpPr>
        <p:spPr>
          <a:xfrm>
            <a:off x="731520" y="1737360"/>
            <a:ext cx="2203704" cy="66294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15 min</a:t>
            </a:r>
            <a:endParaRPr lang="en-US" sz="4000" dirty="0"/>
          </a:p>
        </p:txBody>
      </p:sp>
      <p:sp>
        <p:nvSpPr>
          <p:cNvPr id="9" name="Text 6"/>
          <p:cNvSpPr/>
          <p:nvPr/>
        </p:nvSpPr>
        <p:spPr>
          <a:xfrm>
            <a:off x="731520" y="2329434"/>
            <a:ext cx="2203704" cy="530352"/>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RPO: log backup cada 15 minutos</a:t>
            </a:r>
            <a:endParaRPr lang="en-US" sz="1300" dirty="0"/>
          </a:p>
        </p:txBody>
      </p:sp>
      <p:sp>
        <p:nvSpPr>
          <p:cNvPr id="10" name="Shape 7"/>
          <p:cNvSpPr/>
          <p:nvPr/>
        </p:nvSpPr>
        <p:spPr>
          <a:xfrm>
            <a:off x="3392424" y="1600200"/>
            <a:ext cx="2569464" cy="1325880"/>
          </a:xfrm>
          <a:prstGeom prst="roundRect">
            <a:avLst>
              <a:gd name="adj" fmla="val 827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1" name="Text 8"/>
          <p:cNvSpPr/>
          <p:nvPr/>
        </p:nvSpPr>
        <p:spPr>
          <a:xfrm>
            <a:off x="3575304" y="1737360"/>
            <a:ext cx="2203704" cy="66294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60 min</a:t>
            </a:r>
            <a:endParaRPr lang="en-US" sz="4000" dirty="0"/>
          </a:p>
        </p:txBody>
      </p:sp>
      <p:sp>
        <p:nvSpPr>
          <p:cNvPr id="12" name="Text 9"/>
          <p:cNvSpPr/>
          <p:nvPr/>
        </p:nvSpPr>
        <p:spPr>
          <a:xfrm>
            <a:off x="3575304" y="2329434"/>
            <a:ext cx="2203704" cy="530352"/>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RTO: restaurar y validar en una hora</a:t>
            </a:r>
            <a:endParaRPr lang="en-US" sz="1300" dirty="0"/>
          </a:p>
        </p:txBody>
      </p:sp>
      <p:sp>
        <p:nvSpPr>
          <p:cNvPr id="13" name="Shape 10"/>
          <p:cNvSpPr/>
          <p:nvPr/>
        </p:nvSpPr>
        <p:spPr>
          <a:xfrm>
            <a:off x="6236208" y="1600200"/>
            <a:ext cx="2569464" cy="1325880"/>
          </a:xfrm>
          <a:prstGeom prst="roundRect">
            <a:avLst>
              <a:gd name="adj" fmla="val 827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4" name="Text 11"/>
          <p:cNvSpPr/>
          <p:nvPr/>
        </p:nvSpPr>
        <p:spPr>
          <a:xfrm>
            <a:off x="6419088" y="1737360"/>
            <a:ext cx="2203704" cy="66294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3 roles</a:t>
            </a:r>
            <a:endParaRPr lang="en-US" sz="4000" dirty="0"/>
          </a:p>
        </p:txBody>
      </p:sp>
      <p:sp>
        <p:nvSpPr>
          <p:cNvPr id="15" name="Text 12"/>
          <p:cNvSpPr/>
          <p:nvPr/>
        </p:nvSpPr>
        <p:spPr>
          <a:xfrm>
            <a:off x="6419088" y="2329434"/>
            <a:ext cx="2203704" cy="530352"/>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Mínimo privilegio: app, informes, DBA</a:t>
            </a:r>
            <a:endParaRPr lang="en-US" sz="1300" dirty="0"/>
          </a:p>
        </p:txBody>
      </p:sp>
      <p:sp>
        <p:nvSpPr>
          <p:cNvPr id="16" name="Shape 13"/>
          <p:cNvSpPr/>
          <p:nvPr/>
        </p:nvSpPr>
        <p:spPr>
          <a:xfrm>
            <a:off x="9079992" y="1600200"/>
            <a:ext cx="2569464" cy="1325880"/>
          </a:xfrm>
          <a:prstGeom prst="roundRect">
            <a:avLst>
              <a:gd name="adj" fmla="val 8276"/>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7" name="Text 14"/>
          <p:cNvSpPr/>
          <p:nvPr/>
        </p:nvSpPr>
        <p:spPr>
          <a:xfrm>
            <a:off x="9262872" y="1737360"/>
            <a:ext cx="2203704" cy="662940"/>
          </a:xfrm>
          <a:prstGeom prst="rect">
            <a:avLst/>
          </a:prstGeom>
          <a:noFill/>
          <a:ln/>
        </p:spPr>
        <p:txBody>
          <a:bodyPr wrap="square" lIns="0" tIns="0" rIns="0" bIns="0" rtlCol="0" anchor="ctr"/>
          <a:lstStyle/>
          <a:p>
            <a:pPr algn="ctr" indent="0" marL="0">
              <a:buNone/>
            </a:pPr>
            <a:r>
              <a:rPr lang="en-US" sz="4000" b="1" dirty="0">
                <a:solidFill>
                  <a:srgbClr val="D95D39"/>
                </a:solidFill>
                <a:latin typeface="Calibri" pitchFamily="34" charset="0"/>
                <a:ea typeface="Calibri" pitchFamily="34" charset="-122"/>
                <a:cs typeface="Calibri" pitchFamily="34" charset="-120"/>
              </a:rPr>
              <a:t>1 / sem</a:t>
            </a:r>
            <a:endParaRPr lang="en-US" sz="4000" dirty="0"/>
          </a:p>
        </p:txBody>
      </p:sp>
      <p:sp>
        <p:nvSpPr>
          <p:cNvPr id="18" name="Text 15"/>
          <p:cNvSpPr/>
          <p:nvPr/>
        </p:nvSpPr>
        <p:spPr>
          <a:xfrm>
            <a:off x="9262872" y="2329434"/>
            <a:ext cx="2203704" cy="530352"/>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DBCC CHECKDB semanal con alerta</a:t>
            </a:r>
            <a:endParaRPr lang="en-US" sz="1300" dirty="0"/>
          </a:p>
        </p:txBody>
      </p:sp>
      <p:sp>
        <p:nvSpPr>
          <p:cNvPr id="19" name="Shape 16"/>
          <p:cNvSpPr/>
          <p:nvPr/>
        </p:nvSpPr>
        <p:spPr>
          <a:xfrm>
            <a:off x="548640" y="3200400"/>
            <a:ext cx="6400800" cy="2971800"/>
          </a:xfrm>
          <a:prstGeom prst="roundRect">
            <a:avLst>
              <a:gd name="adj" fmla="val 3692"/>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777240" y="3429000"/>
            <a:ext cx="548640" cy="548640"/>
          </a:xfrm>
          <a:prstGeom prst="ellipse">
            <a:avLst/>
          </a:prstGeom>
          <a:solidFill>
            <a:srgbClr val="134074"/>
          </a:solidFill>
          <a:ln/>
        </p:spPr>
      </p:sp>
      <p:pic>
        <p:nvPicPr>
          <p:cNvPr id="21" name="Image 0" descr="preencoded.png">    </p:cNvPr>
          <p:cNvPicPr>
            <a:picLocks noChangeAspect="1"/>
          </p:cNvPicPr>
          <p:nvPr/>
        </p:nvPicPr>
        <p:blipFill>
          <a:blip r:embed="rId1"/>
          <a:stretch>
            <a:fillRect/>
          </a:stretch>
        </p:blipFill>
        <p:spPr>
          <a:xfrm>
            <a:off x="914400" y="3566160"/>
            <a:ext cx="274320" cy="274320"/>
          </a:xfrm>
          <a:prstGeom prst="rect">
            <a:avLst/>
          </a:prstGeom>
        </p:spPr>
      </p:pic>
      <p:sp>
        <p:nvSpPr>
          <p:cNvPr id="22" name="Text 18"/>
          <p:cNvSpPr/>
          <p:nvPr/>
        </p:nvSpPr>
        <p:spPr>
          <a:xfrm>
            <a:off x="1463040" y="3429000"/>
            <a:ext cx="5257800"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Requisitos de Ventas S.A.</a:t>
            </a:r>
            <a:endParaRPr lang="en-US" sz="1700" dirty="0"/>
          </a:p>
        </p:txBody>
      </p:sp>
      <p:sp>
        <p:nvSpPr>
          <p:cNvPr id="23" name="Text 19"/>
          <p:cNvSpPr/>
          <p:nvPr/>
        </p:nvSpPr>
        <p:spPr>
          <a:xfrm>
            <a:off x="777240" y="4160520"/>
            <a:ext cx="5943600" cy="17830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Seguridad: </a:t>
            </a:r>
            <a:r>
              <a:rPr lang="en-US" sz="1400" dirty="0">
                <a:solidFill>
                  <a:srgbClr val="1F2933"/>
                </a:solidFill>
                <a:latin typeface="Calibri" pitchFamily="34" charset="0"/>
                <a:ea typeface="Calibri" pitchFamily="34" charset="-122"/>
                <a:cs typeface="Calibri" pitchFamily="34" charset="-120"/>
              </a:rPr>
              <a:t>logins y roles sin sysadmin.</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Índices: </a:t>
            </a:r>
            <a:r>
              <a:rPr lang="en-US" sz="1400" dirty="0">
                <a:solidFill>
                  <a:srgbClr val="1F2933"/>
                </a:solidFill>
                <a:latin typeface="Calibri" pitchFamily="34" charset="0"/>
                <a:ea typeface="Calibri" pitchFamily="34" charset="-122"/>
                <a:cs typeface="Calibri" pitchFamily="34" charset="-120"/>
              </a:rPr>
              <a:t>2 justificados con su plan.</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Backups: </a:t>
            </a:r>
            <a:r>
              <a:rPr lang="en-US" sz="1400" dirty="0">
                <a:solidFill>
                  <a:srgbClr val="1F2933"/>
                </a:solidFill>
                <a:latin typeface="Calibri" pitchFamily="34" charset="0"/>
                <a:ea typeface="Calibri" pitchFamily="34" charset="-122"/>
                <a:cs typeface="Calibri" pitchFamily="34" charset="-120"/>
              </a:rPr>
              <a:t>Full, Diff y Log; prueba de restore.</a:t>
            </a:r>
            <a:endParaRPr lang="en-US" sz="1400" dirty="0"/>
          </a:p>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Mantenimiento: </a:t>
            </a:r>
            <a:r>
              <a:rPr lang="en-US" sz="1400" dirty="0">
                <a:solidFill>
                  <a:srgbClr val="1F2933"/>
                </a:solidFill>
                <a:latin typeface="Calibri" pitchFamily="34" charset="0"/>
                <a:ea typeface="Calibri" pitchFamily="34" charset="-122"/>
                <a:cs typeface="Calibri" pitchFamily="34" charset="-120"/>
              </a:rPr>
              <a:t>jobs, CHECKDB y alertas.</a:t>
            </a:r>
            <a:endParaRPr lang="en-US" sz="1400" dirty="0"/>
          </a:p>
        </p:txBody>
      </p:sp>
      <p:sp>
        <p:nvSpPr>
          <p:cNvPr id="24" name="Shape 20"/>
          <p:cNvSpPr/>
          <p:nvPr/>
        </p:nvSpPr>
        <p:spPr>
          <a:xfrm>
            <a:off x="7223760" y="3200400"/>
            <a:ext cx="4416552" cy="2971800"/>
          </a:xfrm>
          <a:prstGeom prst="roundRect">
            <a:avLst>
              <a:gd name="adj" fmla="val 3692"/>
            </a:avLst>
          </a:prstGeom>
          <a:solidFill>
            <a:srgbClr val="E8EEF5"/>
          </a:solidFill>
          <a:ln/>
        </p:spPr>
      </p:sp>
      <p:sp>
        <p:nvSpPr>
          <p:cNvPr id="25" name="Shape 21"/>
          <p:cNvSpPr/>
          <p:nvPr/>
        </p:nvSpPr>
        <p:spPr>
          <a:xfrm>
            <a:off x="7452360" y="3429000"/>
            <a:ext cx="548640" cy="548640"/>
          </a:xfrm>
          <a:prstGeom prst="ellipse">
            <a:avLst/>
          </a:prstGeom>
          <a:solidFill>
            <a:srgbClr val="134074"/>
          </a:solidFill>
          <a:ln/>
        </p:spPr>
      </p:sp>
      <p:pic>
        <p:nvPicPr>
          <p:cNvPr id="26" name="Image 1" descr="preencoded.png">    </p:cNvPr>
          <p:cNvPicPr>
            <a:picLocks noChangeAspect="1"/>
          </p:cNvPicPr>
          <p:nvPr/>
        </p:nvPicPr>
        <p:blipFill>
          <a:blip r:embed="rId2"/>
          <a:stretch>
            <a:fillRect/>
          </a:stretch>
        </p:blipFill>
        <p:spPr>
          <a:xfrm>
            <a:off x="7589520" y="3566160"/>
            <a:ext cx="274320" cy="274320"/>
          </a:xfrm>
          <a:prstGeom prst="rect">
            <a:avLst/>
          </a:prstGeom>
        </p:spPr>
      </p:pic>
      <p:sp>
        <p:nvSpPr>
          <p:cNvPr id="27" name="Text 22"/>
          <p:cNvSpPr/>
          <p:nvPr/>
        </p:nvSpPr>
        <p:spPr>
          <a:xfrm>
            <a:off x="8138160" y="3429000"/>
            <a:ext cx="3273552"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Evaluación y entregables</a:t>
            </a:r>
            <a:endParaRPr lang="en-US" sz="1700" dirty="0"/>
          </a:p>
        </p:txBody>
      </p:sp>
      <p:sp>
        <p:nvSpPr>
          <p:cNvPr id="28" name="Text 23"/>
          <p:cNvSpPr/>
          <p:nvPr/>
        </p:nvSpPr>
        <p:spPr>
          <a:xfrm>
            <a:off x="7452360" y="4160520"/>
            <a:ext cx="3959352" cy="17830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0B2545"/>
                </a:solidFill>
                <a:latin typeface="Calibri" pitchFamily="34" charset="0"/>
                <a:ea typeface="Calibri" pitchFamily="34" charset="-122"/>
                <a:cs typeface="Calibri" pitchFamily="34" charset="-120"/>
              </a:rPr>
              <a:t>Peso: </a:t>
            </a:r>
            <a:r>
              <a:rPr lang="en-US" sz="1400" dirty="0">
                <a:solidFill>
                  <a:srgbClr val="1F2933"/>
                </a:solidFill>
                <a:latin typeface="Calibri" pitchFamily="34" charset="0"/>
                <a:ea typeface="Calibri" pitchFamily="34" charset="-122"/>
                <a:cs typeface="Calibri" pitchFamily="34" charset="-120"/>
              </a:rPr>
              <a:t>25 · 25 · 30 · 20 %.</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Script T-SQL comentado.</a:t>
            </a:r>
            <a:endParaRPr lang="en-US" sz="1400" dirty="0"/>
          </a:p>
          <a:p>
            <a:pPr marL="203200" indent="-2032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Informe con RPO y RTO medidos.</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365760"/>
            <a:ext cx="1463040" cy="274320"/>
          </a:xfrm>
          <a:prstGeom prst="roundRect">
            <a:avLst>
              <a:gd name="adj" fmla="val 50000"/>
            </a:avLst>
          </a:prstGeom>
          <a:solidFill>
            <a:srgbClr val="134074"/>
          </a:solid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RESUMEN</a:t>
            </a:r>
            <a:endParaRPr lang="en-US" sz="1000" dirty="0"/>
          </a:p>
        </p:txBody>
      </p:sp>
      <p:sp>
        <p:nvSpPr>
          <p:cNvPr id="3" name="Text 1"/>
          <p:cNvSpPr/>
          <p:nvPr/>
        </p:nvSpPr>
        <p:spPr>
          <a:xfrm>
            <a:off x="548640" y="731520"/>
            <a:ext cx="11094415" cy="68580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Checklist de buenas prácticas del DBA</a:t>
            </a:r>
            <a:endParaRPr lang="en-US" sz="3400" dirty="0"/>
          </a:p>
        </p:txBody>
      </p:sp>
      <p:sp>
        <p:nvSpPr>
          <p:cNvPr id="4" name="Text 2"/>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Curso de Administración de SQL Server · 25 h</a:t>
            </a:r>
            <a:endParaRPr lang="en-US" sz="1000" dirty="0"/>
          </a:p>
        </p:txBody>
      </p:sp>
      <p:sp>
        <p:nvSpPr>
          <p:cNvPr id="5" name="Text 3"/>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Módulo 4   80</a:t>
            </a:r>
            <a:endParaRPr lang="en-US" sz="1000" dirty="0"/>
          </a:p>
        </p:txBody>
      </p:sp>
      <p:sp>
        <p:nvSpPr>
          <p:cNvPr id="7" name="Shape 4"/>
          <p:cNvSpPr/>
          <p:nvPr/>
        </p:nvSpPr>
        <p:spPr>
          <a:xfrm>
            <a:off x="548640" y="160020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731520" y="1771650"/>
            <a:ext cx="548640" cy="548640"/>
          </a:xfrm>
          <a:prstGeom prst="ellipse">
            <a:avLst/>
          </a:prstGeom>
          <a:solidFill>
            <a:srgbClr val="134074"/>
          </a:solidFill>
          <a:ln/>
        </p:spPr>
      </p:sp>
      <p:pic>
        <p:nvPicPr>
          <p:cNvPr id="9" name="Image 0" descr="preencoded.png">    </p:cNvPr>
          <p:cNvPicPr>
            <a:picLocks noChangeAspect="1"/>
          </p:cNvPicPr>
          <p:nvPr/>
        </p:nvPicPr>
        <p:blipFill>
          <a:blip r:embed="rId1"/>
          <a:stretch>
            <a:fillRect/>
          </a:stretch>
        </p:blipFill>
        <p:spPr>
          <a:xfrm>
            <a:off x="868680" y="1908810"/>
            <a:ext cx="274320" cy="274320"/>
          </a:xfrm>
          <a:prstGeom prst="rect">
            <a:avLst/>
          </a:prstGeom>
        </p:spPr>
      </p:pic>
      <p:sp>
        <p:nvSpPr>
          <p:cNvPr id="10" name="Text 6"/>
          <p:cNvSpPr/>
          <p:nvPr/>
        </p:nvSpPr>
        <p:spPr>
          <a:xfrm>
            <a:off x="1463040" y="160020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Backups probados</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Full + Diff + Log con CHECKSUM, copia externa y restore mensual.</a:t>
            </a:r>
            <a:endParaRPr lang="en-US" sz="1600" dirty="0"/>
          </a:p>
        </p:txBody>
      </p:sp>
      <p:sp>
        <p:nvSpPr>
          <p:cNvPr id="11" name="Shape 7"/>
          <p:cNvSpPr/>
          <p:nvPr/>
        </p:nvSpPr>
        <p:spPr>
          <a:xfrm>
            <a:off x="6231636" y="160020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2" name="Shape 8"/>
          <p:cNvSpPr/>
          <p:nvPr/>
        </p:nvSpPr>
        <p:spPr>
          <a:xfrm>
            <a:off x="6414516" y="1771650"/>
            <a:ext cx="548640" cy="548640"/>
          </a:xfrm>
          <a:prstGeom prst="ellipse">
            <a:avLst/>
          </a:prstGeom>
          <a:solidFill>
            <a:srgbClr val="134074"/>
          </a:solidFill>
          <a:ln/>
        </p:spPr>
      </p:sp>
      <p:pic>
        <p:nvPicPr>
          <p:cNvPr id="13" name="Image 1" descr="preencoded.png">    </p:cNvPr>
          <p:cNvPicPr>
            <a:picLocks noChangeAspect="1"/>
          </p:cNvPicPr>
          <p:nvPr/>
        </p:nvPicPr>
        <p:blipFill>
          <a:blip r:embed="rId2"/>
          <a:stretch>
            <a:fillRect/>
          </a:stretch>
        </p:blipFill>
        <p:spPr>
          <a:xfrm>
            <a:off x="6551676" y="1908810"/>
            <a:ext cx="274320" cy="274320"/>
          </a:xfrm>
          <a:prstGeom prst="rect">
            <a:avLst/>
          </a:prstGeom>
        </p:spPr>
      </p:pic>
      <p:sp>
        <p:nvSpPr>
          <p:cNvPr id="14" name="Text 9"/>
          <p:cNvSpPr/>
          <p:nvPr/>
        </p:nvSpPr>
        <p:spPr>
          <a:xfrm>
            <a:off x="7146036" y="160020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Recovery Full en producción</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Log backups cada 15 min según el RPO.</a:t>
            </a:r>
            <a:endParaRPr lang="en-US" sz="1600" dirty="0"/>
          </a:p>
        </p:txBody>
      </p:sp>
      <p:sp>
        <p:nvSpPr>
          <p:cNvPr id="15" name="Shape 10"/>
          <p:cNvSpPr/>
          <p:nvPr/>
        </p:nvSpPr>
        <p:spPr>
          <a:xfrm>
            <a:off x="548640" y="276606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731520" y="2937510"/>
            <a:ext cx="548640" cy="548640"/>
          </a:xfrm>
          <a:prstGeom prst="ellipse">
            <a:avLst/>
          </a:prstGeom>
          <a:solidFill>
            <a:srgbClr val="134074"/>
          </a:solidFill>
          <a:ln/>
        </p:spPr>
      </p:sp>
      <p:pic>
        <p:nvPicPr>
          <p:cNvPr id="17" name="Image 2" descr="preencoded.png">    </p:cNvPr>
          <p:cNvPicPr>
            <a:picLocks noChangeAspect="1"/>
          </p:cNvPicPr>
          <p:nvPr/>
        </p:nvPicPr>
        <p:blipFill>
          <a:blip r:embed="rId3"/>
          <a:stretch>
            <a:fillRect/>
          </a:stretch>
        </p:blipFill>
        <p:spPr>
          <a:xfrm>
            <a:off x="868680" y="3074670"/>
            <a:ext cx="274320" cy="274320"/>
          </a:xfrm>
          <a:prstGeom prst="rect">
            <a:avLst/>
          </a:prstGeom>
        </p:spPr>
      </p:pic>
      <p:sp>
        <p:nvSpPr>
          <p:cNvPr id="18" name="Text 12"/>
          <p:cNvSpPr/>
          <p:nvPr/>
        </p:nvSpPr>
        <p:spPr>
          <a:xfrm>
            <a:off x="1463040" y="276606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Integridad vigilada</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PAGE_VERIFY CHECKSUM y CHECKDB semanal.</a:t>
            </a:r>
            <a:endParaRPr lang="en-US" sz="1600" dirty="0"/>
          </a:p>
        </p:txBody>
      </p:sp>
      <p:sp>
        <p:nvSpPr>
          <p:cNvPr id="19" name="Shape 13"/>
          <p:cNvSpPr/>
          <p:nvPr/>
        </p:nvSpPr>
        <p:spPr>
          <a:xfrm>
            <a:off x="6231636" y="276606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0" name="Shape 14"/>
          <p:cNvSpPr/>
          <p:nvPr/>
        </p:nvSpPr>
        <p:spPr>
          <a:xfrm>
            <a:off x="6414516" y="2937510"/>
            <a:ext cx="548640" cy="548640"/>
          </a:xfrm>
          <a:prstGeom prst="ellipse">
            <a:avLst/>
          </a:prstGeom>
          <a:solidFill>
            <a:srgbClr val="134074"/>
          </a:solidFill>
          <a:ln/>
        </p:spPr>
      </p:sp>
      <p:pic>
        <p:nvPicPr>
          <p:cNvPr id="21" name="Image 3" descr="preencoded.png">    </p:cNvPr>
          <p:cNvPicPr>
            <a:picLocks noChangeAspect="1"/>
          </p:cNvPicPr>
          <p:nvPr/>
        </p:nvPicPr>
        <p:blipFill>
          <a:blip r:embed="rId4"/>
          <a:stretch>
            <a:fillRect/>
          </a:stretch>
        </p:blipFill>
        <p:spPr>
          <a:xfrm>
            <a:off x="6551676" y="3074670"/>
            <a:ext cx="274320" cy="274320"/>
          </a:xfrm>
          <a:prstGeom prst="rect">
            <a:avLst/>
          </a:prstGeom>
        </p:spPr>
      </p:pic>
      <p:sp>
        <p:nvSpPr>
          <p:cNvPr id="22" name="Text 15"/>
          <p:cNvSpPr/>
          <p:nvPr/>
        </p:nvSpPr>
        <p:spPr>
          <a:xfrm>
            <a:off x="7146036" y="276606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Mantenimiento por umbrales</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Índices y estadísticas con scripts, no a ciegas.</a:t>
            </a:r>
            <a:endParaRPr lang="en-US" sz="1600" dirty="0"/>
          </a:p>
        </p:txBody>
      </p:sp>
      <p:sp>
        <p:nvSpPr>
          <p:cNvPr id="23" name="Shape 16"/>
          <p:cNvSpPr/>
          <p:nvPr/>
        </p:nvSpPr>
        <p:spPr>
          <a:xfrm>
            <a:off x="548640" y="393192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4" name="Shape 17"/>
          <p:cNvSpPr/>
          <p:nvPr/>
        </p:nvSpPr>
        <p:spPr>
          <a:xfrm>
            <a:off x="731520" y="4103370"/>
            <a:ext cx="548640" cy="548640"/>
          </a:xfrm>
          <a:prstGeom prst="ellipse">
            <a:avLst/>
          </a:prstGeom>
          <a:solidFill>
            <a:srgbClr val="134074"/>
          </a:solidFill>
          <a:ln/>
        </p:spPr>
      </p:sp>
      <p:pic>
        <p:nvPicPr>
          <p:cNvPr id="25" name="Image 4" descr="preencoded.png">    </p:cNvPr>
          <p:cNvPicPr>
            <a:picLocks noChangeAspect="1"/>
          </p:cNvPicPr>
          <p:nvPr/>
        </p:nvPicPr>
        <p:blipFill>
          <a:blip r:embed="rId5"/>
          <a:stretch>
            <a:fillRect/>
          </a:stretch>
        </p:blipFill>
        <p:spPr>
          <a:xfrm>
            <a:off x="868680" y="4240530"/>
            <a:ext cx="274320" cy="274320"/>
          </a:xfrm>
          <a:prstGeom prst="rect">
            <a:avLst/>
          </a:prstGeom>
        </p:spPr>
      </p:pic>
      <p:sp>
        <p:nvSpPr>
          <p:cNvPr id="26" name="Text 18"/>
          <p:cNvSpPr/>
          <p:nvPr/>
        </p:nvSpPr>
        <p:spPr>
          <a:xfrm>
            <a:off x="1463040" y="393192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Capacidad controlada</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Autogrowth fijo, tempdb igual y espacio monitorizado.</a:t>
            </a:r>
            <a:endParaRPr lang="en-US" sz="1600" dirty="0"/>
          </a:p>
        </p:txBody>
      </p:sp>
      <p:sp>
        <p:nvSpPr>
          <p:cNvPr id="27" name="Shape 19"/>
          <p:cNvSpPr/>
          <p:nvPr/>
        </p:nvSpPr>
        <p:spPr>
          <a:xfrm>
            <a:off x="6231636" y="393192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28" name="Shape 20"/>
          <p:cNvSpPr/>
          <p:nvPr/>
        </p:nvSpPr>
        <p:spPr>
          <a:xfrm>
            <a:off x="6414516" y="4103370"/>
            <a:ext cx="548640" cy="548640"/>
          </a:xfrm>
          <a:prstGeom prst="ellipse">
            <a:avLst/>
          </a:prstGeom>
          <a:solidFill>
            <a:srgbClr val="134074"/>
          </a:solidFill>
          <a:ln/>
        </p:spPr>
      </p:sp>
      <p:pic>
        <p:nvPicPr>
          <p:cNvPr id="29" name="Image 5" descr="preencoded.png">    </p:cNvPr>
          <p:cNvPicPr>
            <a:picLocks noChangeAspect="1"/>
          </p:cNvPicPr>
          <p:nvPr/>
        </p:nvPicPr>
        <p:blipFill>
          <a:blip r:embed="rId6"/>
          <a:stretch>
            <a:fillRect/>
          </a:stretch>
        </p:blipFill>
        <p:spPr>
          <a:xfrm>
            <a:off x="6551676" y="4240530"/>
            <a:ext cx="274320" cy="274320"/>
          </a:xfrm>
          <a:prstGeom prst="rect">
            <a:avLst/>
          </a:prstGeom>
        </p:spPr>
      </p:pic>
      <p:sp>
        <p:nvSpPr>
          <p:cNvPr id="30" name="Text 21"/>
          <p:cNvSpPr/>
          <p:nvPr/>
        </p:nvSpPr>
        <p:spPr>
          <a:xfrm>
            <a:off x="7146036" y="393192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Alertas operativas</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Errores 823/824/825 y gravedad 19–25 por correo.</a:t>
            </a:r>
            <a:endParaRPr lang="en-US" sz="1600" dirty="0"/>
          </a:p>
        </p:txBody>
      </p:sp>
      <p:sp>
        <p:nvSpPr>
          <p:cNvPr id="31" name="Shape 22"/>
          <p:cNvSpPr/>
          <p:nvPr/>
        </p:nvSpPr>
        <p:spPr>
          <a:xfrm>
            <a:off x="548640" y="509778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2" name="Shape 23"/>
          <p:cNvSpPr/>
          <p:nvPr/>
        </p:nvSpPr>
        <p:spPr>
          <a:xfrm>
            <a:off x="731520" y="5269230"/>
            <a:ext cx="548640" cy="548640"/>
          </a:xfrm>
          <a:prstGeom prst="ellipse">
            <a:avLst/>
          </a:prstGeom>
          <a:solidFill>
            <a:srgbClr val="134074"/>
          </a:solidFill>
          <a:ln/>
        </p:spPr>
      </p:sp>
      <p:pic>
        <p:nvPicPr>
          <p:cNvPr id="33" name="Image 6" descr="preencoded.png">    </p:cNvPr>
          <p:cNvPicPr>
            <a:picLocks noChangeAspect="1"/>
          </p:cNvPicPr>
          <p:nvPr/>
        </p:nvPicPr>
        <p:blipFill>
          <a:blip r:embed="rId7"/>
          <a:stretch>
            <a:fillRect/>
          </a:stretch>
        </p:blipFill>
        <p:spPr>
          <a:xfrm>
            <a:off x="868680" y="5406390"/>
            <a:ext cx="274320" cy="274320"/>
          </a:xfrm>
          <a:prstGeom prst="rect">
            <a:avLst/>
          </a:prstGeom>
        </p:spPr>
      </p:pic>
      <p:sp>
        <p:nvSpPr>
          <p:cNvPr id="34" name="Text 24"/>
          <p:cNvSpPr/>
          <p:nvPr/>
        </p:nvSpPr>
        <p:spPr>
          <a:xfrm>
            <a:off x="1463040" y="509778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Mínimo privilegio</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Roles ajustados y auditoría de sysadmin.</a:t>
            </a:r>
            <a:endParaRPr lang="en-US" sz="1600" dirty="0"/>
          </a:p>
        </p:txBody>
      </p:sp>
      <p:sp>
        <p:nvSpPr>
          <p:cNvPr id="35" name="Shape 25"/>
          <p:cNvSpPr/>
          <p:nvPr/>
        </p:nvSpPr>
        <p:spPr>
          <a:xfrm>
            <a:off x="6231636" y="5097780"/>
            <a:ext cx="5408676" cy="891540"/>
          </a:xfrm>
          <a:prstGeom prst="roundRect">
            <a:avLst>
              <a:gd name="adj" fmla="val 12308"/>
            </a:avLst>
          </a:prstGeom>
          <a:solidFill>
            <a:srgbClr val="FFFFFF"/>
          </a:solidFill>
          <a:ln w="9525">
            <a:solidFill>
              <a:srgbClr val="D0D7DE"/>
            </a:solidFill>
            <a:prstDash val="solid"/>
          </a:ln>
          <a:effectLst>
            <a:outerShdw sx="100000" sy="100000" kx="0" ky="0" algn="bl" rotWithShape="0" blurRad="101600" dist="25400" dir="5400000">
              <a:srgbClr val="000000">
                <a:alpha val="14000"/>
              </a:srgbClr>
            </a:outerShdw>
          </a:effectLst>
        </p:spPr>
      </p:sp>
      <p:sp>
        <p:nvSpPr>
          <p:cNvPr id="36" name="Shape 26"/>
          <p:cNvSpPr/>
          <p:nvPr/>
        </p:nvSpPr>
        <p:spPr>
          <a:xfrm>
            <a:off x="6414516" y="5269230"/>
            <a:ext cx="548640" cy="548640"/>
          </a:xfrm>
          <a:prstGeom prst="ellipse">
            <a:avLst/>
          </a:prstGeom>
          <a:solidFill>
            <a:srgbClr val="134074"/>
          </a:solidFill>
          <a:ln/>
        </p:spPr>
      </p:sp>
      <p:pic>
        <p:nvPicPr>
          <p:cNvPr id="37" name="Image 7" descr="preencoded.png">    </p:cNvPr>
          <p:cNvPicPr>
            <a:picLocks noChangeAspect="1"/>
          </p:cNvPicPr>
          <p:nvPr/>
        </p:nvPicPr>
        <p:blipFill>
          <a:blip r:embed="rId8"/>
          <a:stretch>
            <a:fillRect/>
          </a:stretch>
        </p:blipFill>
        <p:spPr>
          <a:xfrm>
            <a:off x="6551676" y="5406390"/>
            <a:ext cx="274320" cy="274320"/>
          </a:xfrm>
          <a:prstGeom prst="rect">
            <a:avLst/>
          </a:prstGeom>
        </p:spPr>
      </p:pic>
      <p:sp>
        <p:nvSpPr>
          <p:cNvPr id="38" name="Text 27"/>
          <p:cNvSpPr/>
          <p:nvPr/>
        </p:nvSpPr>
        <p:spPr>
          <a:xfrm>
            <a:off x="7146036" y="5097780"/>
            <a:ext cx="4311396" cy="891540"/>
          </a:xfrm>
          <a:prstGeom prst="rect">
            <a:avLst/>
          </a:prstGeom>
          <a:noFill/>
          <a:ln/>
        </p:spPr>
        <p:txBody>
          <a:bodyPr wrap="square" lIns="0" tIns="0" rIns="0" bIns="0" rtlCol="0" anchor="ctr"/>
          <a:lstStyle/>
          <a:p>
            <a:pPr indent="0" marL="0">
              <a:spcAft>
                <a:spcPts val="200"/>
              </a:spcAft>
              <a:buNone/>
            </a:pPr>
            <a:r>
              <a:rPr lang="en-US" sz="1600" b="1" dirty="0">
                <a:solidFill>
                  <a:srgbClr val="0B2545"/>
                </a:solidFill>
                <a:latin typeface="Calibri" pitchFamily="34" charset="0"/>
                <a:ea typeface="Calibri" pitchFamily="34" charset="-122"/>
                <a:cs typeface="Calibri" pitchFamily="34" charset="-120"/>
              </a:rPr>
              <a:t>Runbook y DR</a:t>
            </a:r>
            <a:endParaRPr lang="en-US" sz="1600" dirty="0"/>
          </a:p>
          <a:p>
            <a:pPr indent="0" marL="0">
              <a:buNone/>
            </a:pPr>
            <a:r>
              <a:rPr lang="en-US" sz="1400" dirty="0">
                <a:solidFill>
                  <a:srgbClr val="1F2933"/>
                </a:solidFill>
                <a:latin typeface="Calibri" pitchFamily="34" charset="0"/>
                <a:ea typeface="Calibri" pitchFamily="34" charset="-122"/>
                <a:cs typeface="Calibri" pitchFamily="34" charset="-120"/>
              </a:rPr>
              <a:t>Procedimientos documentados y RPO/RTO medidos.</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81528"/>
        </a:solidFill>
      </p:bgPr>
    </p:bg>
    <p:spTree>
      <p:nvGrpSpPr>
        <p:cNvPr id="1" name=""/>
        <p:cNvGrpSpPr/>
        <p:nvPr/>
      </p:nvGrpSpPr>
      <p:grpSpPr>
        <a:xfrm>
          <a:off x="0" y="0"/>
          <a:ext cx="0" cy="0"/>
          <a:chOff x="0" y="0"/>
          <a:chExt cx="0" cy="0"/>
        </a:xfrm>
      </p:grpSpPr>
      <p:sp>
        <p:nvSpPr>
          <p:cNvPr id="2" name="Text 0"/>
          <p:cNvSpPr/>
          <p:nvPr/>
        </p:nvSpPr>
        <p:spPr>
          <a:xfrm>
            <a:off x="731520" y="73152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Gracias: ahora piensas como un DBA</a:t>
            </a:r>
            <a:endParaRPr lang="en-US" sz="4000" dirty="0"/>
          </a:p>
        </p:txBody>
      </p:sp>
      <p:sp>
        <p:nvSpPr>
          <p:cNvPr id="3" name="Shape 1"/>
          <p:cNvSpPr/>
          <p:nvPr/>
        </p:nvSpPr>
        <p:spPr>
          <a:xfrm>
            <a:off x="731520" y="2103120"/>
            <a:ext cx="2468880" cy="3108960"/>
          </a:xfrm>
          <a:prstGeom prst="roundRect">
            <a:avLst>
              <a:gd name="adj" fmla="val 4444"/>
            </a:avLst>
          </a:prstGeom>
          <a:solidFill>
            <a:srgbClr val="FFFFFF">
              <a:alpha val="10000"/>
            </a:srgbClr>
          </a:solidFill>
          <a:ln/>
        </p:spPr>
      </p:sp>
      <p:sp>
        <p:nvSpPr>
          <p:cNvPr id="4" name="Shape 2"/>
          <p:cNvSpPr/>
          <p:nvPr/>
        </p:nvSpPr>
        <p:spPr>
          <a:xfrm>
            <a:off x="1005840" y="2377440"/>
            <a:ext cx="640080" cy="640080"/>
          </a:xfrm>
          <a:prstGeom prst="ellipse">
            <a:avLst/>
          </a:prstGeom>
          <a:solidFill>
            <a:srgbClr val="D95D39"/>
          </a:solidFill>
          <a:ln/>
        </p:spPr>
      </p:sp>
      <p:pic>
        <p:nvPicPr>
          <p:cNvPr id="5" name="Image 0" descr="preencoded.png">    </p:cNvPr>
          <p:cNvPicPr>
            <a:picLocks noChangeAspect="1"/>
          </p:cNvPicPr>
          <p:nvPr/>
        </p:nvPicPr>
        <p:blipFill>
          <a:blip r:embed="rId1"/>
          <a:stretch>
            <a:fillRect/>
          </a:stretch>
        </p:blipFill>
        <p:spPr>
          <a:xfrm>
            <a:off x="1165860" y="2537460"/>
            <a:ext cx="320040" cy="320040"/>
          </a:xfrm>
          <a:prstGeom prst="rect">
            <a:avLst/>
          </a:prstGeom>
        </p:spPr>
      </p:pic>
      <p:sp>
        <p:nvSpPr>
          <p:cNvPr id="6" name="Text 3"/>
          <p:cNvSpPr/>
          <p:nvPr/>
        </p:nvSpPr>
        <p:spPr>
          <a:xfrm>
            <a:off x="10058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Entiende el motor</a:t>
            </a:r>
            <a:endParaRPr lang="en-US" sz="1800" dirty="0"/>
          </a:p>
        </p:txBody>
      </p:sp>
      <p:sp>
        <p:nvSpPr>
          <p:cNvPr id="7" name="Text 4"/>
          <p:cNvSpPr/>
          <p:nvPr/>
        </p:nvSpPr>
        <p:spPr>
          <a:xfrm>
            <a:off x="10058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Buffer Pool, WAL y VLFs explican rendimiento y recuperación.</a:t>
            </a:r>
            <a:endParaRPr lang="en-US" sz="1400" dirty="0"/>
          </a:p>
        </p:txBody>
      </p:sp>
      <p:sp>
        <p:nvSpPr>
          <p:cNvPr id="8" name="Shape 5"/>
          <p:cNvSpPr/>
          <p:nvPr/>
        </p:nvSpPr>
        <p:spPr>
          <a:xfrm>
            <a:off x="3474720" y="2103120"/>
            <a:ext cx="2468880" cy="3108960"/>
          </a:xfrm>
          <a:prstGeom prst="roundRect">
            <a:avLst>
              <a:gd name="adj" fmla="val 4444"/>
            </a:avLst>
          </a:prstGeom>
          <a:solidFill>
            <a:srgbClr val="FFFFFF">
              <a:alpha val="10000"/>
            </a:srgbClr>
          </a:solidFill>
          <a:ln/>
        </p:spPr>
      </p:sp>
      <p:sp>
        <p:nvSpPr>
          <p:cNvPr id="9" name="Shape 6"/>
          <p:cNvSpPr/>
          <p:nvPr/>
        </p:nvSpPr>
        <p:spPr>
          <a:xfrm>
            <a:off x="3749040" y="2377440"/>
            <a:ext cx="640080" cy="640080"/>
          </a:xfrm>
          <a:prstGeom prst="ellipse">
            <a:avLst/>
          </a:prstGeom>
          <a:solidFill>
            <a:srgbClr val="D95D39"/>
          </a:solidFill>
          <a:ln/>
        </p:spPr>
      </p:sp>
      <p:pic>
        <p:nvPicPr>
          <p:cNvPr id="10" name="Image 1" descr="preencoded.png">    </p:cNvPr>
          <p:cNvPicPr>
            <a:picLocks noChangeAspect="1"/>
          </p:cNvPicPr>
          <p:nvPr/>
        </p:nvPicPr>
        <p:blipFill>
          <a:blip r:embed="rId2"/>
          <a:stretch>
            <a:fillRect/>
          </a:stretch>
        </p:blipFill>
        <p:spPr>
          <a:xfrm>
            <a:off x="3909060" y="2537460"/>
            <a:ext cx="320040" cy="320040"/>
          </a:xfrm>
          <a:prstGeom prst="rect">
            <a:avLst/>
          </a:prstGeom>
        </p:spPr>
      </p:pic>
      <p:sp>
        <p:nvSpPr>
          <p:cNvPr id="11" name="Text 7"/>
          <p:cNvSpPr/>
          <p:nvPr/>
        </p:nvSpPr>
        <p:spPr>
          <a:xfrm>
            <a:off x="37490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Protege los datos</a:t>
            </a:r>
            <a:endParaRPr lang="en-US" sz="1800" dirty="0"/>
          </a:p>
        </p:txBody>
      </p:sp>
      <p:sp>
        <p:nvSpPr>
          <p:cNvPr id="12" name="Text 8"/>
          <p:cNvSpPr/>
          <p:nvPr/>
        </p:nvSpPr>
        <p:spPr>
          <a:xfrm>
            <a:off x="37490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Mínimo privilegio y backups con CHECKSUM, probados.</a:t>
            </a:r>
            <a:endParaRPr lang="en-US" sz="1400" dirty="0"/>
          </a:p>
        </p:txBody>
      </p:sp>
      <p:sp>
        <p:nvSpPr>
          <p:cNvPr id="13" name="Shape 9"/>
          <p:cNvSpPr/>
          <p:nvPr/>
        </p:nvSpPr>
        <p:spPr>
          <a:xfrm>
            <a:off x="6217920" y="2103120"/>
            <a:ext cx="2468880" cy="3108960"/>
          </a:xfrm>
          <a:prstGeom prst="roundRect">
            <a:avLst>
              <a:gd name="adj" fmla="val 4444"/>
            </a:avLst>
          </a:prstGeom>
          <a:solidFill>
            <a:srgbClr val="FFFFFF">
              <a:alpha val="10000"/>
            </a:srgbClr>
          </a:solidFill>
          <a:ln/>
        </p:spPr>
      </p:sp>
      <p:sp>
        <p:nvSpPr>
          <p:cNvPr id="14" name="Shape 10"/>
          <p:cNvSpPr/>
          <p:nvPr/>
        </p:nvSpPr>
        <p:spPr>
          <a:xfrm>
            <a:off x="6492240" y="2377440"/>
            <a:ext cx="640080" cy="640080"/>
          </a:xfrm>
          <a:prstGeom prst="ellipse">
            <a:avLst/>
          </a:prstGeom>
          <a:solidFill>
            <a:srgbClr val="D95D39"/>
          </a:solidFill>
          <a:ln/>
        </p:spPr>
      </p:sp>
      <p:pic>
        <p:nvPicPr>
          <p:cNvPr id="15" name="Image 2" descr="preencoded.png">    </p:cNvPr>
          <p:cNvPicPr>
            <a:picLocks noChangeAspect="1"/>
          </p:cNvPicPr>
          <p:nvPr/>
        </p:nvPicPr>
        <p:blipFill>
          <a:blip r:embed="rId3"/>
          <a:stretch>
            <a:fillRect/>
          </a:stretch>
        </p:blipFill>
        <p:spPr>
          <a:xfrm>
            <a:off x="6652260" y="2537460"/>
            <a:ext cx="320040" cy="320040"/>
          </a:xfrm>
          <a:prstGeom prst="rect">
            <a:avLst/>
          </a:prstGeom>
        </p:spPr>
      </p:pic>
      <p:sp>
        <p:nvSpPr>
          <p:cNvPr id="16" name="Text 11"/>
          <p:cNvSpPr/>
          <p:nvPr/>
        </p:nvSpPr>
        <p:spPr>
          <a:xfrm>
            <a:off x="64922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Optimiza con datos</a:t>
            </a:r>
            <a:endParaRPr lang="en-US" sz="1800" dirty="0"/>
          </a:p>
        </p:txBody>
      </p:sp>
      <p:sp>
        <p:nvSpPr>
          <p:cNvPr id="17" name="Text 12"/>
          <p:cNvSpPr/>
          <p:nvPr/>
        </p:nvSpPr>
        <p:spPr>
          <a:xfrm>
            <a:off x="64922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Índices, estadísticas y DMVs antes de tocar nada.</a:t>
            </a:r>
            <a:endParaRPr lang="en-US" sz="1400" dirty="0"/>
          </a:p>
        </p:txBody>
      </p:sp>
      <p:sp>
        <p:nvSpPr>
          <p:cNvPr id="18" name="Shape 13"/>
          <p:cNvSpPr/>
          <p:nvPr/>
        </p:nvSpPr>
        <p:spPr>
          <a:xfrm>
            <a:off x="8961120" y="2103120"/>
            <a:ext cx="2468880" cy="3108960"/>
          </a:xfrm>
          <a:prstGeom prst="roundRect">
            <a:avLst>
              <a:gd name="adj" fmla="val 4444"/>
            </a:avLst>
          </a:prstGeom>
          <a:solidFill>
            <a:srgbClr val="FFFFFF">
              <a:alpha val="10000"/>
            </a:srgbClr>
          </a:solidFill>
          <a:ln/>
        </p:spPr>
      </p:sp>
      <p:sp>
        <p:nvSpPr>
          <p:cNvPr id="19" name="Shape 14"/>
          <p:cNvSpPr/>
          <p:nvPr/>
        </p:nvSpPr>
        <p:spPr>
          <a:xfrm>
            <a:off x="9235440" y="2377440"/>
            <a:ext cx="640080" cy="640080"/>
          </a:xfrm>
          <a:prstGeom prst="ellipse">
            <a:avLst/>
          </a:prstGeom>
          <a:solidFill>
            <a:srgbClr val="D95D39"/>
          </a:solidFill>
          <a:ln/>
        </p:spPr>
      </p:sp>
      <p:pic>
        <p:nvPicPr>
          <p:cNvPr id="20" name="Image 3" descr="preencoded.png">    </p:cNvPr>
          <p:cNvPicPr>
            <a:picLocks noChangeAspect="1"/>
          </p:cNvPicPr>
          <p:nvPr/>
        </p:nvPicPr>
        <p:blipFill>
          <a:blip r:embed="rId4"/>
          <a:stretch>
            <a:fillRect/>
          </a:stretch>
        </p:blipFill>
        <p:spPr>
          <a:xfrm>
            <a:off x="9395460" y="2537460"/>
            <a:ext cx="320040" cy="320040"/>
          </a:xfrm>
          <a:prstGeom prst="rect">
            <a:avLst/>
          </a:prstGeom>
        </p:spPr>
      </p:pic>
      <p:sp>
        <p:nvSpPr>
          <p:cNvPr id="21" name="Text 15"/>
          <p:cNvSpPr/>
          <p:nvPr/>
        </p:nvSpPr>
        <p:spPr>
          <a:xfrm>
            <a:off x="9235440" y="3200400"/>
            <a:ext cx="1920240"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Automatiza y vigila</a:t>
            </a:r>
            <a:endParaRPr lang="en-US" sz="1800" dirty="0"/>
          </a:p>
        </p:txBody>
      </p:sp>
      <p:sp>
        <p:nvSpPr>
          <p:cNvPr id="22" name="Text 16"/>
          <p:cNvSpPr/>
          <p:nvPr/>
        </p:nvSpPr>
        <p:spPr>
          <a:xfrm>
            <a:off x="9235440" y="3794760"/>
            <a:ext cx="1920240" cy="1280160"/>
          </a:xfrm>
          <a:prstGeom prst="rect">
            <a:avLst/>
          </a:prstGeom>
          <a:noFill/>
          <a:ln/>
        </p:spPr>
        <p:txBody>
          <a:bodyPr wrap="square" lIns="0" tIns="0" rIns="0" bIns="0" rtlCol="0" anchor="t"/>
          <a:lstStyle/>
          <a:p>
            <a:pPr indent="0" marL="0">
              <a:buNone/>
            </a:pPr>
            <a:r>
              <a:rPr lang="en-US" sz="1400" dirty="0">
                <a:solidFill>
                  <a:srgbClr val="DCE6F2"/>
                </a:solidFill>
                <a:latin typeface="Calibri" pitchFamily="34" charset="0"/>
                <a:ea typeface="Calibri" pitchFamily="34" charset="-122"/>
                <a:cs typeface="Calibri" pitchFamily="34" charset="-120"/>
              </a:rPr>
              <a:t>Jobs, alertas y runbooks: menos errores humanos.</a:t>
            </a:r>
            <a:endParaRPr lang="en-US" sz="1400" dirty="0"/>
          </a:p>
        </p:txBody>
      </p:sp>
      <p:sp>
        <p:nvSpPr>
          <p:cNvPr id="23" name="Text 17"/>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DA9C4"/>
                </a:solidFill>
                <a:latin typeface="Calibri" pitchFamily="34" charset="0"/>
                <a:ea typeface="Calibri" pitchFamily="34" charset="-122"/>
                <a:cs typeface="Calibri" pitchFamily="34" charset="-120"/>
              </a:rPr>
              <a:t>Curso de Administración de SQL Server · 25 h</a:t>
            </a:r>
            <a:endParaRPr lang="en-US" sz="1000" dirty="0"/>
          </a:p>
        </p:txBody>
      </p:sp>
      <p:sp>
        <p:nvSpPr>
          <p:cNvPr id="24" name="Text 18"/>
          <p:cNvSpPr/>
          <p:nvPr/>
        </p:nvSpPr>
        <p:spPr>
          <a:xfrm>
            <a:off x="7985455" y="6400800"/>
            <a:ext cx="3657600" cy="274320"/>
          </a:xfrm>
          <a:prstGeom prst="rect">
            <a:avLst/>
          </a:prstGeom>
          <a:noFill/>
          <a:ln/>
        </p:spPr>
        <p:txBody>
          <a:bodyPr wrap="square" lIns="0" tIns="0" rIns="0" bIns="0" rtlCol="0" anchor="ctr"/>
          <a:lstStyle/>
          <a:p>
            <a:pPr algn="r" indent="0" marL="0">
              <a:buNone/>
            </a:pPr>
            <a:r>
              <a:rPr lang="en-US" sz="1000" dirty="0">
                <a:solidFill>
                  <a:srgbClr val="8DA9C4"/>
                </a:solidFill>
                <a:latin typeface="Calibri" pitchFamily="34" charset="0"/>
                <a:ea typeface="Calibri" pitchFamily="34" charset="-122"/>
                <a:cs typeface="Calibri" pitchFamily="34" charset="-120"/>
              </a:rPr>
              <a:t>Módulo 4   81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de Administración de SQL Server (25 h)</dc:title>
  <dc:subject>SQL Server DBA</dc:subject>
  <dc:creator>Formación SQL Server</dc:creator>
  <cp:lastModifiedBy>Formación SQL Server</cp:lastModifiedBy>
  <cp:revision>1</cp:revision>
  <dcterms:created xsi:type="dcterms:W3CDTF">2026-10-13T14:06:34Z</dcterms:created>
  <dcterms:modified xsi:type="dcterms:W3CDTF">2026-10-13T14:06:34Z</dcterms:modified>
</cp:coreProperties>
</file>